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28"/>
  </p:notesMasterIdLst>
  <p:sldIdLst>
    <p:sldId id="256" r:id="rId8"/>
    <p:sldId id="261" r:id="rId9"/>
    <p:sldId id="286" r:id="rId10"/>
    <p:sldId id="300" r:id="rId11"/>
    <p:sldId id="305" r:id="rId12"/>
    <p:sldId id="289" r:id="rId13"/>
    <p:sldId id="308" r:id="rId14"/>
    <p:sldId id="311" r:id="rId15"/>
    <p:sldId id="312" r:id="rId16"/>
    <p:sldId id="313" r:id="rId17"/>
    <p:sldId id="303" r:id="rId18"/>
    <p:sldId id="309" r:id="rId19"/>
    <p:sldId id="310" r:id="rId20"/>
    <p:sldId id="278" r:id="rId21"/>
    <p:sldId id="304" r:id="rId22"/>
    <p:sldId id="316" r:id="rId23"/>
    <p:sldId id="314" r:id="rId24"/>
    <p:sldId id="317" r:id="rId25"/>
    <p:sldId id="318" r:id="rId26"/>
    <p:sldId id="259" r:id="rId2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10_08_classRF_check\&#32080;&#26524;&#12464;&#12521;&#1250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10_08_classRF_check\&#32080;&#26524;&#12464;&#12521;&#12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2CB-4782-A378-A0EA498416DD}"/>
                </c:ext>
                <c:ext xmlns:c15="http://schemas.microsoft.com/office/drawing/2012/chart" uri="{CE6537A1-D6FC-4f65-9D91-7224C49458BB}">
                  <c15:layout>
                    <c:manualLayout>
                      <c:w val="6.5687134502923974E-2"/>
                      <c:h val="7.024104676602945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82CB-4782-A378-A0EA498416DD}"/>
                </c:ex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(OOB!$A$23,OOB!$D$23,OOB!$G$23,OOB!$J$23,OOB!$M$23)</c:f>
              <c:numCache>
                <c:formatCode>General</c:formatCode>
                <c:ptCount val="5"/>
                <c:pt idx="0">
                  <c:v>79.458799999999982</c:v>
                </c:pt>
                <c:pt idx="1">
                  <c:v>82.22199999999998</c:v>
                </c:pt>
                <c:pt idx="2">
                  <c:v>76.100500000000011</c:v>
                </c:pt>
                <c:pt idx="3">
                  <c:v>75.070150000000012</c:v>
                </c:pt>
                <c:pt idx="4">
                  <c:v>91.623800000000017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82CB-4782-A378-A0EA498416DD}"/>
            </c:ext>
          </c:extLst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(OOB!$B$23,OOB!$E$23,OOB!$H$23,OOB!$K$23,OOB!$N$23)</c:f>
              <c:numCache>
                <c:formatCode>General</c:formatCode>
                <c:ptCount val="5"/>
                <c:pt idx="0">
                  <c:v>76.136300000000006</c:v>
                </c:pt>
                <c:pt idx="1">
                  <c:v>82.592500000000001</c:v>
                </c:pt>
                <c:pt idx="2">
                  <c:v>75.320350000000005</c:v>
                </c:pt>
                <c:pt idx="3">
                  <c:v>74.888049999999993</c:v>
                </c:pt>
                <c:pt idx="4">
                  <c:v>91.538550000000015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82CB-4782-A378-A0EA498416DD}"/>
            </c:ext>
          </c:extLst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82CB-4782-A378-A0EA498416D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82CB-4782-A378-A0EA498416DD}"/>
                </c:ex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(OOB!$C$23,OOB!$F$23,OOB!$I$23,OOB!$L$23,OOB!$O$23)</c:f>
              <c:numCache>
                <c:formatCode>General</c:formatCode>
                <c:ptCount val="5"/>
                <c:pt idx="0">
                  <c:v>77.57565000000001</c:v>
                </c:pt>
                <c:pt idx="1">
                  <c:v>81.851800000000011</c:v>
                </c:pt>
                <c:pt idx="2">
                  <c:v>75.58359999999999</c:v>
                </c:pt>
                <c:pt idx="3">
                  <c:v>75.06795000000001</c:v>
                </c:pt>
                <c:pt idx="4">
                  <c:v>91.382900000000035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82CB-4782-A378-A0EA498416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02146544"/>
        <c:axId val="502136744"/>
      </c:barChart>
      <c:catAx>
        <c:axId val="50214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2136744"/>
        <c:crosses val="autoZero"/>
        <c:auto val="1"/>
        <c:lblAlgn val="ctr"/>
        <c:lblOffset val="100"/>
        <c:noMultiLvlLbl val="0"/>
      </c:catAx>
      <c:valAx>
        <c:axId val="50213674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>
                    <a:solidFill>
                      <a:schemeClr val="tx1"/>
                    </a:solidFill>
                  </a:rPr>
                  <a:t>Accuracy[%]</a:t>
                </a:r>
              </a:p>
            </c:rich>
          </c:tx>
          <c:layout>
            <c:manualLayout>
              <c:xMode val="edge"/>
              <c:yMode val="edge"/>
              <c:x val="1.9017329727944371E-2"/>
              <c:y val="0.353137691670120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214654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074987823132459"/>
          <c:y val="2.9007699037620304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92A-475D-B874-57DA907C2F72}"/>
                </c:ex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(Validation!$A$1,Validation!$D$1,Validation!$G$1,Validation!$J$1,Validation!$M$1)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(Validation!$A$23,Validation!$D$23,Validation!$G$23,Validation!$J$23,Validation!$M$23)</c:f>
              <c:numCache>
                <c:formatCode>General</c:formatCode>
                <c:ptCount val="5"/>
                <c:pt idx="0">
                  <c:v>77.835399999999993</c:v>
                </c:pt>
                <c:pt idx="1">
                  <c:v>80.555449999999979</c:v>
                </c:pt>
                <c:pt idx="2">
                  <c:v>76.364500000000007</c:v>
                </c:pt>
                <c:pt idx="3">
                  <c:v>74.000749999999996</c:v>
                </c:pt>
                <c:pt idx="4">
                  <c:v>91.305249999999987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A92A-475D-B874-57DA907C2F72}"/>
            </c:ext>
          </c:extLst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(Validation!$A$1,Validation!$D$1,Validation!$G$1,Validation!$J$1,Validation!$M$1)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(Validation!$B$23,Validation!$E$23,Validation!$H$23,Validation!$K$23,Validation!$N$23)</c:f>
              <c:numCache>
                <c:formatCode>General</c:formatCode>
                <c:ptCount val="5"/>
                <c:pt idx="0">
                  <c:v>77.099499999999992</c:v>
                </c:pt>
                <c:pt idx="1">
                  <c:v>79.629649999999998</c:v>
                </c:pt>
                <c:pt idx="2">
                  <c:v>75.391349999999989</c:v>
                </c:pt>
                <c:pt idx="3">
                  <c:v>75.184100000000001</c:v>
                </c:pt>
                <c:pt idx="4">
                  <c:v>90.815850000000012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A92A-475D-B874-57DA907C2F72}"/>
            </c:ext>
          </c:extLst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A92A-475D-B874-57DA907C2F7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A92A-475D-B874-57DA907C2F72}"/>
                </c:ex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(Validation!$A$1,Validation!$D$1,Validation!$G$1,Validation!$J$1,Validation!$M$1)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(Validation!$C$23,Validation!$F$23,Validation!$I$23,Validation!$L$23,Validation!$O$23)</c:f>
              <c:numCache>
                <c:formatCode>General</c:formatCode>
                <c:ptCount val="5"/>
                <c:pt idx="0">
                  <c:v>78.95004999999999</c:v>
                </c:pt>
                <c:pt idx="1">
                  <c:v>81.296149999999983</c:v>
                </c:pt>
                <c:pt idx="2">
                  <c:v>75.001750000000001</c:v>
                </c:pt>
                <c:pt idx="3">
                  <c:v>74.597400000000007</c:v>
                </c:pt>
                <c:pt idx="4">
                  <c:v>91.072149999999993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A92A-475D-B874-57DA907C2F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19002288"/>
        <c:axId val="619002680"/>
      </c:barChart>
      <c:catAx>
        <c:axId val="61900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9002680"/>
        <c:crosses val="autoZero"/>
        <c:auto val="1"/>
        <c:lblAlgn val="ctr"/>
        <c:lblOffset val="100"/>
        <c:noMultiLvlLbl val="0"/>
      </c:catAx>
      <c:valAx>
        <c:axId val="61900268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>
                    <a:solidFill>
                      <a:schemeClr val="tx1"/>
                    </a:solidFill>
                  </a:rPr>
                  <a:t>Accuracy[%]</a:t>
                </a:r>
              </a:p>
            </c:rich>
          </c:tx>
          <c:layout>
            <c:manualLayout>
              <c:xMode val="edge"/>
              <c:yMode val="edge"/>
              <c:x val="1.9017329727944371E-2"/>
              <c:y val="0.353137691670120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9002288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074987823132459"/>
          <c:y val="2.9007699037620304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2019/10/9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の探索能力は，初期個体の生成方法を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変更しても変わらなかった．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  <p:grpSp>
        <p:nvGrpSpPr>
          <p:cNvPr id="14" name="グループ化 13"/>
          <p:cNvGrpSpPr/>
          <p:nvPr/>
        </p:nvGrpSpPr>
        <p:grpSpPr>
          <a:xfrm>
            <a:off x="495805" y="3192058"/>
            <a:ext cx="4076195" cy="3583220"/>
            <a:chOff x="495805" y="3192058"/>
            <a:chExt cx="4076195" cy="3583220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1023759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Vehicle</a:t>
              </a:r>
            </a:p>
          </p:txBody>
        </p:sp>
        <p:grpSp>
          <p:nvGrpSpPr>
            <p:cNvPr id="12" name="グループ化 11"/>
            <p:cNvGrpSpPr/>
            <p:nvPr/>
          </p:nvGrpSpPr>
          <p:grpSpPr>
            <a:xfrm>
              <a:off x="495805" y="3192058"/>
              <a:ext cx="4076195" cy="3060000"/>
              <a:chOff x="495805" y="3192058"/>
              <a:chExt cx="4076195" cy="3060000"/>
            </a:xfrm>
          </p:grpSpPr>
          <p:pic>
            <p:nvPicPr>
              <p:cNvPr id="6" name="図 5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805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0" name="円/楕円 9"/>
              <p:cNvSpPr/>
              <p:nvPr/>
            </p:nvSpPr>
            <p:spPr>
              <a:xfrm>
                <a:off x="3108960" y="362946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5" name="グループ化 14"/>
          <p:cNvGrpSpPr/>
          <p:nvPr/>
        </p:nvGrpSpPr>
        <p:grpSpPr>
          <a:xfrm>
            <a:off x="4743702" y="3192058"/>
            <a:ext cx="4076195" cy="3583220"/>
            <a:chOff x="4743702" y="3192058"/>
            <a:chExt cx="4076195" cy="3583220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5271656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Pima</a:t>
              </a: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4743702" y="3192058"/>
              <a:ext cx="4076195" cy="3060000"/>
              <a:chOff x="4743702" y="3192058"/>
              <a:chExt cx="4076195" cy="3060000"/>
            </a:xfrm>
          </p:grpSpPr>
          <p:pic>
            <p:nvPicPr>
              <p:cNvPr id="7" name="図 6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3702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1" name="円/楕円 10"/>
              <p:cNvSpPr/>
              <p:nvPr/>
            </p:nvSpPr>
            <p:spPr>
              <a:xfrm>
                <a:off x="7848600" y="350519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094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r>
              <a:rPr lang="ja-JP" altLang="en-US" dirty="0" smtClean="0"/>
              <a:t>貪欲法で評価値の良い個体を探索し，その個体のテストデータへの精度を調査する．</a:t>
            </a:r>
            <a:endParaRPr lang="en-US" altLang="ja-JP" dirty="0" smtClean="0"/>
          </a:p>
          <a:p>
            <a:pPr algn="l"/>
            <a:r>
              <a:rPr kumimoji="1" lang="en-US" altLang="ja-JP" sz="2800" dirty="0" smtClean="0"/>
              <a:t>※</a:t>
            </a:r>
            <a:r>
              <a:rPr kumimoji="1" lang="ja-JP" altLang="en-US" sz="2800" dirty="0" smtClean="0"/>
              <a:t>貪欲法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評価値が最も高くなるよう，決定木を順番に減らしていく．</a:t>
            </a:r>
            <a:endParaRPr lang="en-US" altLang="ja-JP" sz="2800" dirty="0" smtClean="0"/>
          </a:p>
          <a:p>
            <a:pPr algn="l"/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2</a:t>
            </a:r>
          </a:p>
          <a:p>
            <a:r>
              <a:rPr lang="ja-JP" altLang="en-US" dirty="0" smtClean="0"/>
              <a:t>突然変異操作のみで子個体生成を生成し，探索性能と精度を調査する．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993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094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u="sng" dirty="0"/>
              <a:t>実験</a:t>
            </a:r>
            <a:r>
              <a:rPr lang="en-US" altLang="ja-JP" u="sng" dirty="0"/>
              <a:t>1</a:t>
            </a:r>
          </a:p>
          <a:p>
            <a:pPr algn="l"/>
            <a:r>
              <a:rPr lang="ja-JP" altLang="en-US" dirty="0"/>
              <a:t>決定木の本数を</a:t>
            </a:r>
            <a:r>
              <a:rPr lang="en-US" altLang="ja-JP" dirty="0"/>
              <a:t>50</a:t>
            </a:r>
            <a:r>
              <a:rPr lang="ja-JP" altLang="en-US" dirty="0"/>
              <a:t>本に</a:t>
            </a:r>
            <a:r>
              <a:rPr lang="ja-JP" altLang="en-US" dirty="0" smtClean="0"/>
              <a:t>設定</a:t>
            </a:r>
            <a:endParaRPr lang="en-US" altLang="ja-JP" dirty="0" smtClean="0"/>
          </a:p>
          <a:p>
            <a:pPr algn="l"/>
            <a:r>
              <a:rPr lang="en-US" altLang="ja-JP" dirty="0" smtClean="0"/>
              <a:t>10CV×2</a:t>
            </a:r>
            <a:r>
              <a:rPr lang="ja-JP" altLang="en-US" dirty="0" smtClean="0"/>
              <a:t>回試行</a:t>
            </a:r>
            <a:endParaRPr lang="en-US" altLang="ja-JP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dirty="0" smtClean="0"/>
              <a:t>Graph1</a:t>
            </a:r>
          </a:p>
          <a:p>
            <a:pPr marL="450850"/>
            <a:r>
              <a:rPr lang="en-US" altLang="ja-JP" sz="2800" dirty="0" smtClean="0"/>
              <a:t>1</a:t>
            </a:r>
            <a:r>
              <a:rPr lang="ja-JP" altLang="en-US" sz="2800" dirty="0" smtClean="0"/>
              <a:t>回目の試行</a:t>
            </a:r>
            <a:r>
              <a:rPr lang="ja-JP" altLang="en-US" sz="2800" dirty="0" smtClean="0"/>
              <a:t>における，決定木の本数と精度の変化をグラフ化</a:t>
            </a:r>
            <a:endParaRPr lang="en-US" altLang="ja-JP" sz="28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dirty="0" smtClean="0"/>
              <a:t>Graph2</a:t>
            </a:r>
            <a:endParaRPr lang="en-US" altLang="ja-JP" sz="2800" dirty="0"/>
          </a:p>
          <a:p>
            <a:pPr marL="450850"/>
            <a:r>
              <a:rPr lang="ja-JP" altLang="en-US" sz="2800" dirty="0" smtClean="0"/>
              <a:t>すべての試行における，初期値との識別精度の差を平均してグラフ化</a:t>
            </a:r>
            <a:endParaRPr lang="en-US" altLang="ja-JP" sz="28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85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r>
              <a:rPr lang="en-US" altLang="ja-JP" dirty="0"/>
              <a:t>1</a:t>
            </a:r>
            <a:r>
              <a:rPr lang="ja-JP" altLang="en-US" dirty="0"/>
              <a:t>回目の試行</a:t>
            </a:r>
            <a:endParaRPr kumimoji="1" lang="en-US" altLang="ja-JP" u="sng" dirty="0" smtClean="0"/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80885" y="2712727"/>
            <a:ext cx="4452892" cy="3970376"/>
            <a:chOff x="341662" y="2434444"/>
            <a:chExt cx="4452892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62" y="2434444"/>
              <a:ext cx="4452892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Heart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8472" y="2712727"/>
            <a:ext cx="4452893" cy="3970376"/>
            <a:chOff x="341661" y="2434444"/>
            <a:chExt cx="4452893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61" y="2434444"/>
              <a:ext cx="4452893" cy="3349934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Glass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67893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r>
              <a:rPr lang="en-US" altLang="ja-JP" dirty="0"/>
              <a:t>1</a:t>
            </a:r>
            <a:r>
              <a:rPr lang="ja-JP" altLang="en-US" dirty="0"/>
              <a:t>回目の試行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80885" y="2712727"/>
            <a:ext cx="4452892" cy="3970376"/>
            <a:chOff x="341662" y="2434444"/>
            <a:chExt cx="4452892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62" y="2434444"/>
              <a:ext cx="4452892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Vehicle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8473" y="2712727"/>
            <a:ext cx="4452892" cy="3970376"/>
            <a:chOff x="341662" y="2434444"/>
            <a:chExt cx="445289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62" y="2434444"/>
              <a:ext cx="445289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Pima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94187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r>
              <a:rPr lang="en-US" altLang="ja-JP" dirty="0"/>
              <a:t>1</a:t>
            </a:r>
            <a:r>
              <a:rPr lang="ja-JP" altLang="en-US" dirty="0"/>
              <a:t>回目の試行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2345554" y="2712727"/>
            <a:ext cx="4452892" cy="3970376"/>
            <a:chOff x="341662" y="2434444"/>
            <a:chExt cx="445289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62" y="2434444"/>
              <a:ext cx="445289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err="1" smtClean="0"/>
                <a:t>Satimage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70747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r>
              <a:rPr lang="ja-JP" altLang="en-US" dirty="0" smtClean="0"/>
              <a:t>全試行の平均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5" y="2712727"/>
            <a:ext cx="4462412" cy="3970376"/>
            <a:chOff x="336902" y="2434444"/>
            <a:chExt cx="4462412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Heart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71272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4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Glass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31388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r>
              <a:rPr lang="ja-JP" altLang="en-US" dirty="0"/>
              <a:t>全試行の平均</a:t>
            </a:r>
            <a:endParaRPr lang="en-US" altLang="ja-JP" dirty="0"/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6" y="2712727"/>
            <a:ext cx="4462410" cy="3970376"/>
            <a:chOff x="336903" y="2434444"/>
            <a:chExt cx="4462410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3" y="2434444"/>
              <a:ext cx="4462410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Vehicle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71272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Pima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86348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r>
              <a:rPr lang="ja-JP" altLang="en-US" dirty="0"/>
              <a:t>全試行の平均</a:t>
            </a:r>
            <a:endParaRPr lang="en-US" altLang="ja-JP" dirty="0"/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2340794" y="271272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err="1" smtClean="0"/>
                <a:t>Satimage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96144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2</a:t>
            </a:r>
          </a:p>
          <a:p>
            <a:pPr algn="l"/>
            <a:r>
              <a:rPr kumimoji="1" lang="ja-JP" altLang="en-US" dirty="0" smtClean="0"/>
              <a:t>決定木の本数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/>
              <a:t>1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/>
              <a:t>1</a:t>
            </a:r>
            <a:r>
              <a:rPr lang="en-US" altLang="ja-JP" dirty="0" smtClean="0"/>
              <a:t>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検証用データの割合 ： 全データの</a:t>
            </a:r>
            <a:r>
              <a:rPr lang="en-US" altLang="ja-JP" dirty="0" smtClean="0"/>
              <a:t>10</a:t>
            </a:r>
            <a:r>
              <a:rPr lang="ja-JP" altLang="en-US" dirty="0" smtClean="0"/>
              <a:t>％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　　　　　　　　　　　　　　 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学習用データの１</a:t>
            </a:r>
            <a:r>
              <a:rPr lang="en-US" altLang="ja-JP" sz="2800" dirty="0" smtClean="0"/>
              <a:t>/9)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データによる個体評価</a:t>
            </a:r>
            <a:endParaRPr kumimoji="1" lang="ja-JP" altLang="en-US" dirty="0"/>
          </a:p>
        </p:txBody>
      </p:sp>
      <p:graphicFrame>
        <p:nvGraphicFramePr>
          <p:cNvPr id="8" name="グラフ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618844"/>
              </p:ext>
            </p:extLst>
          </p:nvPr>
        </p:nvGraphicFramePr>
        <p:xfrm>
          <a:off x="-219376" y="1097107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テキスト ボックス 1"/>
          <p:cNvSpPr txBox="1"/>
          <p:nvPr/>
        </p:nvSpPr>
        <p:spPr>
          <a:xfrm>
            <a:off x="7749904" y="1259856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2000" dirty="0" smtClean="0"/>
              <a:t>元の</a:t>
            </a:r>
            <a:r>
              <a:rPr kumimoji="1" lang="en-US" altLang="ja-JP" sz="2000" dirty="0" smtClean="0"/>
              <a:t>RF</a:t>
            </a:r>
            <a:endParaRPr kumimoji="1" lang="ja-JP" altLang="en-US" sz="2000" dirty="0" smtClean="0"/>
          </a:p>
        </p:txBody>
      </p:sp>
      <p:sp>
        <p:nvSpPr>
          <p:cNvPr id="10" name="テキスト ボックス 1"/>
          <p:cNvSpPr txBox="1"/>
          <p:nvPr/>
        </p:nvSpPr>
        <p:spPr>
          <a:xfrm>
            <a:off x="7749904" y="1604403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2000" i="1" dirty="0" smtClean="0">
                <a:latin typeface="Symbol" panose="05050102010706020507" pitchFamily="18" charset="2"/>
              </a:rPr>
              <a:t>m</a:t>
            </a:r>
            <a:r>
              <a:rPr kumimoji="1" lang="en-US" altLang="ja-JP" sz="2000" dirty="0" smtClean="0"/>
              <a:t> + </a:t>
            </a:r>
            <a:r>
              <a:rPr kumimoji="1" lang="en-US" altLang="ja-JP" sz="2000" i="1" dirty="0" smtClean="0">
                <a:latin typeface="Symbol" panose="05050102010706020507" pitchFamily="18" charset="2"/>
              </a:rPr>
              <a:t>m</a:t>
            </a:r>
            <a:endParaRPr kumimoji="1" lang="ja-JP" altLang="en-US" sz="2000" i="1" dirty="0" smtClean="0">
              <a:latin typeface="Symbol" panose="05050102010706020507" pitchFamily="18" charset="2"/>
            </a:endParaRPr>
          </a:p>
        </p:txBody>
      </p:sp>
      <p:sp>
        <p:nvSpPr>
          <p:cNvPr id="11" name="テキスト ボックス 1"/>
          <p:cNvSpPr txBox="1"/>
          <p:nvPr/>
        </p:nvSpPr>
        <p:spPr>
          <a:xfrm>
            <a:off x="7749904" y="1994783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000" dirty="0" smtClean="0"/>
              <a:t> + </a:t>
            </a:r>
            <a:r>
              <a:rPr kumimoji="1" lang="en-US" altLang="ja-JP" sz="2000" i="1" dirty="0" smtClean="0">
                <a:latin typeface="Symbol" panose="05050102010706020507" pitchFamily="18" charset="2"/>
              </a:rPr>
              <a:t>l</a:t>
            </a:r>
            <a:endParaRPr kumimoji="1" lang="ja-JP" altLang="en-US" sz="2000" i="1" dirty="0" smtClean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8653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1</a:t>
            </a:r>
            <a:r>
              <a:rPr lang="ja-JP" altLang="en-US" dirty="0" smtClean="0"/>
              <a:t>回目の試行</a:t>
            </a:r>
            <a:r>
              <a:rPr lang="ja-JP" altLang="en-US" dirty="0"/>
              <a:t>の学習曲線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データによる個体評価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73325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検証用</a:t>
            </a:r>
            <a:r>
              <a:rPr lang="ja-JP" altLang="en-US" dirty="0" smtClean="0"/>
              <a:t>データ</a:t>
            </a:r>
            <a:r>
              <a:rPr lang="ja-JP" altLang="en-US" dirty="0"/>
              <a:t>による個体</a:t>
            </a:r>
            <a:r>
              <a:rPr lang="ja-JP" altLang="en-US" dirty="0" smtClean="0"/>
              <a:t>評価</a:t>
            </a:r>
            <a:endParaRPr lang="ja-JP" altLang="en-US" dirty="0"/>
          </a:p>
        </p:txBody>
      </p:sp>
      <p:graphicFrame>
        <p:nvGraphicFramePr>
          <p:cNvPr id="8" name="グラフ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482349"/>
              </p:ext>
            </p:extLst>
          </p:nvPr>
        </p:nvGraphicFramePr>
        <p:xfrm>
          <a:off x="-219600" y="1098000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テキスト ボックス 1"/>
          <p:cNvSpPr txBox="1"/>
          <p:nvPr/>
        </p:nvSpPr>
        <p:spPr>
          <a:xfrm>
            <a:off x="7749904" y="1259856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2000" dirty="0" smtClean="0"/>
              <a:t>元の</a:t>
            </a:r>
            <a:r>
              <a:rPr kumimoji="1" lang="en-US" altLang="ja-JP" sz="2000" dirty="0" smtClean="0"/>
              <a:t>RF</a:t>
            </a:r>
            <a:endParaRPr kumimoji="1" lang="ja-JP" altLang="en-US" sz="2000" dirty="0" smtClean="0"/>
          </a:p>
        </p:txBody>
      </p:sp>
      <p:sp>
        <p:nvSpPr>
          <p:cNvPr id="19" name="テキスト ボックス 1"/>
          <p:cNvSpPr txBox="1"/>
          <p:nvPr/>
        </p:nvSpPr>
        <p:spPr>
          <a:xfrm>
            <a:off x="7749904" y="1604403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2000" i="1" dirty="0" smtClean="0">
                <a:latin typeface="Symbol" panose="05050102010706020507" pitchFamily="18" charset="2"/>
              </a:rPr>
              <a:t>m</a:t>
            </a:r>
            <a:r>
              <a:rPr kumimoji="1" lang="en-US" altLang="ja-JP" sz="2000" dirty="0" smtClean="0"/>
              <a:t> + </a:t>
            </a:r>
            <a:r>
              <a:rPr kumimoji="1" lang="en-US" altLang="ja-JP" sz="2000" i="1" dirty="0" smtClean="0">
                <a:latin typeface="Symbol" panose="05050102010706020507" pitchFamily="18" charset="2"/>
              </a:rPr>
              <a:t>m</a:t>
            </a:r>
            <a:endParaRPr kumimoji="1" lang="ja-JP" altLang="en-US" sz="2000" i="1" dirty="0" smtClean="0">
              <a:latin typeface="Symbol" panose="05050102010706020507" pitchFamily="18" charset="2"/>
            </a:endParaRPr>
          </a:p>
        </p:txBody>
      </p:sp>
      <p:sp>
        <p:nvSpPr>
          <p:cNvPr id="20" name="テキスト ボックス 1"/>
          <p:cNvSpPr txBox="1"/>
          <p:nvPr/>
        </p:nvSpPr>
        <p:spPr>
          <a:xfrm>
            <a:off x="7749904" y="1994783"/>
            <a:ext cx="10810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000" dirty="0" smtClean="0"/>
              <a:t> + </a:t>
            </a:r>
            <a:r>
              <a:rPr kumimoji="1" lang="en-US" altLang="ja-JP" sz="2000" i="1" dirty="0" smtClean="0">
                <a:latin typeface="Symbol" panose="05050102010706020507" pitchFamily="18" charset="2"/>
              </a:rPr>
              <a:t>l</a:t>
            </a:r>
            <a:endParaRPr kumimoji="1" lang="ja-JP" altLang="en-US" sz="2000" i="1" dirty="0" smtClean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45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r>
              <a:rPr lang="ja-JP" altLang="en-US" dirty="0"/>
              <a:t>回目の試行の学習曲線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検証用</a:t>
            </a:r>
            <a:r>
              <a:rPr lang="ja-JP" altLang="en-US" dirty="0" smtClean="0"/>
              <a:t>データ</a:t>
            </a:r>
            <a:r>
              <a:rPr lang="ja-JP" altLang="en-US" dirty="0"/>
              <a:t>による個体</a:t>
            </a:r>
            <a:r>
              <a:rPr lang="ja-JP" altLang="en-US" dirty="0" smtClean="0"/>
              <a:t>評価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5859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ランダム</a:t>
            </a:r>
            <a:r>
              <a:rPr lang="ja-JP" altLang="en-US" dirty="0"/>
              <a:t>フォレスト</a:t>
            </a:r>
            <a:r>
              <a:rPr kumimoji="1" lang="ja-JP" altLang="en-US" dirty="0" smtClean="0"/>
              <a:t>では，データのある部分集合に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最適な弱識別器の組合せは，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異なる</a:t>
            </a:r>
            <a:r>
              <a:rPr lang="ja-JP" altLang="en-US" dirty="0">
                <a:solidFill>
                  <a:schemeClr val="accent1"/>
                </a:solidFill>
              </a:rPr>
              <a:t>部分</a:t>
            </a:r>
            <a:r>
              <a:rPr lang="ja-JP" altLang="en-US" dirty="0" smtClean="0">
                <a:solidFill>
                  <a:schemeClr val="accent1"/>
                </a:solidFill>
              </a:rPr>
              <a:t>集合</a:t>
            </a:r>
            <a:r>
              <a:rPr lang="en-US" altLang="ja-JP" dirty="0" smtClean="0">
                <a:solidFill>
                  <a:schemeClr val="accent1"/>
                </a:solidFill>
              </a:rPr>
              <a:t/>
            </a:r>
            <a:br>
              <a:rPr lang="en-US" altLang="ja-JP" dirty="0" smtClean="0">
                <a:solidFill>
                  <a:schemeClr val="accent1"/>
                </a:solidFill>
              </a:rPr>
            </a:br>
            <a:r>
              <a:rPr lang="ja-JP" altLang="en-US" dirty="0" smtClean="0">
                <a:solidFill>
                  <a:schemeClr val="accent1"/>
                </a:solidFill>
              </a:rPr>
              <a:t>では最適でない</a:t>
            </a:r>
            <a:r>
              <a:rPr lang="ja-JP" altLang="en-US" dirty="0" smtClean="0"/>
              <a:t>可能性が高い．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9775" y="3413784"/>
            <a:ext cx="7604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(</a:t>
            </a:r>
            <a:r>
              <a:rPr kumimoji="1" lang="ja-JP" altLang="en-US" sz="2400" dirty="0" smtClean="0"/>
              <a:t>参考　決定木が</a:t>
            </a:r>
            <a:r>
              <a:rPr kumimoji="1" lang="en-US" altLang="ja-JP" sz="2400" dirty="0" smtClean="0"/>
              <a:t>26</a:t>
            </a:r>
            <a:r>
              <a:rPr kumimoji="1" lang="ja-JP" altLang="en-US" sz="2400" dirty="0" smtClean="0"/>
              <a:t>本のとき，すべての組合せにおける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lang="ja-JP" altLang="en-US" sz="2400" dirty="0" smtClean="0"/>
              <a:t>評価値</a:t>
            </a:r>
            <a:r>
              <a:rPr lang="ja-JP" altLang="en-US" sz="2400" dirty="0"/>
              <a:t>と精度の相関</a:t>
            </a:r>
            <a:r>
              <a:rPr lang="ja-JP" altLang="en-US" sz="2400" dirty="0" smtClean="0"/>
              <a:t>係数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034338"/>
              </p:ext>
            </p:extLst>
          </p:nvPr>
        </p:nvGraphicFramePr>
        <p:xfrm>
          <a:off x="393826" y="4257843"/>
          <a:ext cx="835634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705">
                  <a:extLst>
                    <a:ext uri="{9D8B030D-6E8A-4147-A177-3AD203B41FA5}">
                      <a16:colId xmlns:a16="http://schemas.microsoft.com/office/drawing/2014/main" xmlns="" val="1659427244"/>
                    </a:ext>
                  </a:extLst>
                </a:gridCol>
                <a:gridCol w="1190942">
                  <a:extLst>
                    <a:ext uri="{9D8B030D-6E8A-4147-A177-3AD203B41FA5}">
                      <a16:colId xmlns:a16="http://schemas.microsoft.com/office/drawing/2014/main" xmlns="" val="3442036743"/>
                    </a:ext>
                  </a:extLst>
                </a:gridCol>
                <a:gridCol w="1152842">
                  <a:extLst>
                    <a:ext uri="{9D8B030D-6E8A-4147-A177-3AD203B41FA5}">
                      <a16:colId xmlns:a16="http://schemas.microsoft.com/office/drawing/2014/main" xmlns="" val="3667052779"/>
                    </a:ext>
                  </a:extLst>
                </a:gridCol>
                <a:gridCol w="1092518">
                  <a:extLst>
                    <a:ext uri="{9D8B030D-6E8A-4147-A177-3AD203B41FA5}">
                      <a16:colId xmlns:a16="http://schemas.microsoft.com/office/drawing/2014/main" xmlns="" val="4171073454"/>
                    </a:ext>
                  </a:extLst>
                </a:gridCol>
                <a:gridCol w="1430084">
                  <a:extLst>
                    <a:ext uri="{9D8B030D-6E8A-4147-A177-3AD203B41FA5}">
                      <a16:colId xmlns:a16="http://schemas.microsoft.com/office/drawing/2014/main" xmlns="" val="1336325630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xmlns="" val="233105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88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相関係数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0.217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0.079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0.058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0.303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9729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6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1390</TotalTime>
  <Words>401</Words>
  <Application>Microsoft Office PowerPoint</Application>
  <PresentationFormat>画面に合わせる (4:3)</PresentationFormat>
  <Paragraphs>164</Paragraphs>
  <Slides>20</Slides>
  <Notes>1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20</vt:i4>
      </vt:variant>
    </vt:vector>
  </HeadingPairs>
  <TitlesOfParts>
    <vt:vector size="33" baseType="lpstr">
      <vt:lpstr>ＭＳ P ゴシック</vt:lpstr>
      <vt:lpstr>ＭＳ Ｐゴシック</vt:lpstr>
      <vt:lpstr>Arial</vt:lpstr>
      <vt:lpstr>Calibri</vt:lpstr>
      <vt:lpstr>Symbol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調査内容</vt:lpstr>
      <vt:lpstr>調査内容</vt:lpstr>
      <vt:lpstr>調査内容</vt:lpstr>
      <vt:lpstr>実験パラメータ設定</vt:lpstr>
      <vt:lpstr>実験設定</vt:lpstr>
      <vt:lpstr>実験結果(Graph1)</vt:lpstr>
      <vt:lpstr>実験結果(Graph1)</vt:lpstr>
      <vt:lpstr>実験結果(Graph1)</vt:lpstr>
      <vt:lpstr>実験結果(Graph2)</vt:lpstr>
      <vt:lpstr>実験結果(Graph2)</vt:lpstr>
      <vt:lpstr>実験結果(Graph2)</vt:lpstr>
      <vt:lpstr>実験パラメータ設定</vt:lpstr>
      <vt:lpstr>実験結果</vt:lpstr>
      <vt:lpstr>実験結果</vt:lpstr>
      <vt:lpstr>実験結果</vt:lpstr>
      <vt:lpstr>実験結果</vt:lpstr>
      <vt:lpstr>考察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87</cp:revision>
  <dcterms:created xsi:type="dcterms:W3CDTF">2019-03-03T13:45:30Z</dcterms:created>
  <dcterms:modified xsi:type="dcterms:W3CDTF">2019-10-08T19:47:15Z</dcterms:modified>
</cp:coreProperties>
</file>