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3" autoAdjust="0"/>
    <p:restoredTop sz="94660"/>
  </p:normalViewPr>
  <p:slideViewPr>
    <p:cSldViewPr snapToGrid="0">
      <p:cViewPr varScale="1">
        <p:scale>
          <a:sx n="68" d="100"/>
          <a:sy n="68" d="100"/>
        </p:scale>
        <p:origin x="138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4" name="Rectangle 7"/>
          <p:cNvSpPr>
            <a:spLocks noChangeArrowheads="1"/>
          </p:cNvSpPr>
          <p:nvPr/>
        </p:nvSpPr>
        <p:spPr bwMode="auto">
          <a:xfrm>
            <a:off x="0" y="0"/>
            <a:ext cx="9144000" cy="4114800"/>
          </a:xfrm>
          <a:prstGeom prst="rect">
            <a:avLst/>
          </a:prstGeom>
          <a:solidFill>
            <a:schemeClr val="accent2"/>
          </a:solidFill>
          <a:ln w="9525">
            <a:solidFill>
              <a:schemeClr val="accent2"/>
            </a:solidFill>
            <a:miter lim="800000"/>
            <a:headEnd/>
            <a:tailEnd/>
          </a:ln>
        </p:spPr>
        <p:txBody>
          <a:bodyPr wrap="none"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eaLnBrk="1" hangingPunct="1">
              <a:defRPr/>
            </a:pPr>
            <a:endParaRPr lang="ja-JP" altLang="en-US" sz="1350" dirty="0"/>
          </a:p>
        </p:txBody>
      </p:sp>
      <p:sp>
        <p:nvSpPr>
          <p:cNvPr id="9218" name="Rectangle 2"/>
          <p:cNvSpPr>
            <a:spLocks noGrp="1" noChangeArrowheads="1"/>
          </p:cNvSpPr>
          <p:nvPr>
            <p:ph type="ctrTitle"/>
          </p:nvPr>
        </p:nvSpPr>
        <p:spPr>
          <a:xfrm>
            <a:off x="685800" y="1177637"/>
            <a:ext cx="7772400" cy="2422820"/>
          </a:xfrm>
        </p:spPr>
        <p:txBody>
          <a:bodyPr/>
          <a:lstStyle>
            <a:lvl1pPr algn="ctr">
              <a:defRPr sz="4400"/>
            </a:lvl1pPr>
          </a:lstStyle>
          <a:p>
            <a:r>
              <a:rPr lang="ja-JP" altLang="en-US" smtClean="0"/>
              <a:t>マスター タイトルの書式設定</a:t>
            </a:r>
            <a:endParaRPr lang="ja-JP" altLang="en-US" dirty="0"/>
          </a:p>
        </p:txBody>
      </p:sp>
      <p:sp>
        <p:nvSpPr>
          <p:cNvPr id="9219" name="Rectangle 3"/>
          <p:cNvSpPr>
            <a:spLocks noGrp="1" noChangeArrowheads="1"/>
          </p:cNvSpPr>
          <p:nvPr>
            <p:ph type="subTitle" idx="1"/>
          </p:nvPr>
        </p:nvSpPr>
        <p:spPr>
          <a:xfrm>
            <a:off x="1371600" y="4114800"/>
            <a:ext cx="6400800" cy="2743200"/>
          </a:xfrm>
        </p:spPr>
        <p:txBody>
          <a:bodyPr anchor="ctr"/>
          <a:lstStyle>
            <a:lvl1pPr marL="0" indent="0" algn="ctr">
              <a:buFontTx/>
              <a:buNone/>
              <a:defRPr sz="3200"/>
            </a:lvl1pPr>
          </a:lstStyle>
          <a:p>
            <a:r>
              <a:rPr lang="ja-JP" altLang="en-US" smtClean="0"/>
              <a:t>マスター サブタイトルの書式設定</a:t>
            </a:r>
            <a:endParaRPr lang="ja-JP" altLang="en-US" dirty="0"/>
          </a:p>
        </p:txBody>
      </p:sp>
    </p:spTree>
    <p:extLst>
      <p:ext uri="{BB962C8B-B14F-4D97-AF65-F5344CB8AC3E}">
        <p14:creationId xmlns:p14="http://schemas.microsoft.com/office/powerpoint/2010/main" val="8916319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ユーザー設定レイアウト">
    <p:spTree>
      <p:nvGrpSpPr>
        <p:cNvPr id="1" name=""/>
        <p:cNvGrpSpPr/>
        <p:nvPr/>
      </p:nvGrpSpPr>
      <p:grpSpPr>
        <a:xfrm>
          <a:off x="0" y="0"/>
          <a:ext cx="0" cy="0"/>
          <a:chOff x="0" y="0"/>
          <a:chExt cx="0" cy="0"/>
        </a:xfrm>
      </p:grpSpPr>
      <p:sp>
        <p:nvSpPr>
          <p:cNvPr id="3" name="テキスト ボックス 2"/>
          <p:cNvSpPr txBox="1"/>
          <p:nvPr/>
        </p:nvSpPr>
        <p:spPr>
          <a:xfrm>
            <a:off x="228600" y="1365254"/>
            <a:ext cx="1466850" cy="584775"/>
          </a:xfrm>
          <a:prstGeom prst="rect">
            <a:avLst/>
          </a:prstGeom>
          <a:noFill/>
          <a:ln w="28575">
            <a:solidFill>
              <a:schemeClr val="accent2"/>
            </a:solidFill>
          </a:ln>
        </p:spPr>
        <p:txBody>
          <a:bodyPr wrap="square" rtlCol="0">
            <a:spAutoFit/>
          </a:bodyPr>
          <a:lstStyle/>
          <a:p>
            <a:pPr algn="ctr"/>
            <a:r>
              <a:rPr kumimoji="1" lang="ja-JP" altLang="en-US" sz="3200" dirty="0" smtClean="0"/>
              <a:t>論文名</a:t>
            </a:r>
          </a:p>
        </p:txBody>
      </p:sp>
      <p:sp>
        <p:nvSpPr>
          <p:cNvPr id="4" name="テキスト ボックス 3"/>
          <p:cNvSpPr txBox="1"/>
          <p:nvPr/>
        </p:nvSpPr>
        <p:spPr>
          <a:xfrm>
            <a:off x="228600" y="3125440"/>
            <a:ext cx="1466850" cy="584775"/>
          </a:xfrm>
          <a:prstGeom prst="rect">
            <a:avLst/>
          </a:prstGeom>
          <a:noFill/>
          <a:ln w="28575">
            <a:solidFill>
              <a:schemeClr val="accent2"/>
            </a:solidFill>
          </a:ln>
        </p:spPr>
        <p:txBody>
          <a:bodyPr wrap="square" rtlCol="0">
            <a:spAutoFit/>
          </a:bodyPr>
          <a:lstStyle/>
          <a:p>
            <a:pPr algn="ctr"/>
            <a:r>
              <a:rPr kumimoji="1" lang="ja-JP" altLang="en-US" sz="3200" dirty="0" smtClean="0"/>
              <a:t>著者名</a:t>
            </a:r>
          </a:p>
        </p:txBody>
      </p:sp>
      <p:sp>
        <p:nvSpPr>
          <p:cNvPr id="5" name="テキスト ボックス 4"/>
          <p:cNvSpPr txBox="1"/>
          <p:nvPr/>
        </p:nvSpPr>
        <p:spPr>
          <a:xfrm>
            <a:off x="228600" y="4724400"/>
            <a:ext cx="1466850" cy="584775"/>
          </a:xfrm>
          <a:prstGeom prst="rect">
            <a:avLst/>
          </a:prstGeom>
          <a:noFill/>
          <a:ln w="28575">
            <a:solidFill>
              <a:schemeClr val="accent2"/>
            </a:solidFill>
          </a:ln>
        </p:spPr>
        <p:txBody>
          <a:bodyPr wrap="square" rtlCol="0">
            <a:spAutoFit/>
          </a:bodyPr>
          <a:lstStyle/>
          <a:p>
            <a:pPr algn="ctr"/>
            <a:r>
              <a:rPr lang="ja-JP" altLang="en-US" sz="3200" dirty="0"/>
              <a:t>出典</a:t>
            </a:r>
            <a:endParaRPr kumimoji="1" lang="ja-JP" altLang="en-US" sz="3200" dirty="0" smtClean="0"/>
          </a:p>
        </p:txBody>
      </p:sp>
      <p:sp>
        <p:nvSpPr>
          <p:cNvPr id="6" name="コンテンツ プレースホルダ 2"/>
          <p:cNvSpPr>
            <a:spLocks noGrp="1"/>
          </p:cNvSpPr>
          <p:nvPr>
            <p:ph idx="1" hasCustomPrompt="1"/>
          </p:nvPr>
        </p:nvSpPr>
        <p:spPr>
          <a:xfrm>
            <a:off x="1828800" y="1368795"/>
            <a:ext cx="7086600" cy="1551337"/>
          </a:xfrm>
        </p:spPr>
        <p:txBody>
          <a:bodyPr/>
          <a:lstStyle>
            <a:lvl1pPr marL="0" indent="0" algn="just">
              <a:buNone/>
              <a:defRPr sz="2800"/>
            </a:lvl1pPr>
            <a:lvl2pPr marL="342900" indent="0" algn="just">
              <a:buNone/>
              <a:defRPr sz="2400"/>
            </a:lvl2pPr>
            <a:lvl3pPr marL="685800" indent="0" algn="just">
              <a:buNone/>
              <a:defRPr/>
            </a:lvl3pPr>
            <a:lvl4pPr marL="1028700" indent="0" algn="l">
              <a:buNone/>
              <a:defRPr/>
            </a:lvl4pPr>
            <a:lvl5pPr marL="1371600" indent="0" algn="l">
              <a:buNone/>
              <a:defRPr/>
            </a:lvl5pPr>
          </a:lstStyle>
          <a:p>
            <a:pPr lvl="0"/>
            <a:r>
              <a:rPr lang="ja-JP" altLang="en-US" dirty="0" smtClean="0"/>
              <a:t>論文名</a:t>
            </a:r>
          </a:p>
        </p:txBody>
      </p:sp>
      <p:sp>
        <p:nvSpPr>
          <p:cNvPr id="7" name="コンテンツ プレースホルダ 2"/>
          <p:cNvSpPr>
            <a:spLocks noGrp="1"/>
          </p:cNvSpPr>
          <p:nvPr>
            <p:ph idx="10" hasCustomPrompt="1"/>
          </p:nvPr>
        </p:nvSpPr>
        <p:spPr>
          <a:xfrm>
            <a:off x="1828800" y="3125441"/>
            <a:ext cx="7086600" cy="1391142"/>
          </a:xfrm>
        </p:spPr>
        <p:txBody>
          <a:bodyPr/>
          <a:lstStyle>
            <a:lvl1pPr marL="0" indent="0" algn="just">
              <a:buNone/>
              <a:defRPr sz="2800"/>
            </a:lvl1pPr>
            <a:lvl2pPr marL="342900" indent="0" algn="just">
              <a:buNone/>
              <a:defRPr sz="2400"/>
            </a:lvl2pPr>
            <a:lvl3pPr marL="685800" indent="0" algn="just">
              <a:buNone/>
              <a:defRPr/>
            </a:lvl3pPr>
            <a:lvl4pPr marL="1028700" indent="0" algn="l">
              <a:buNone/>
              <a:defRPr/>
            </a:lvl4pPr>
            <a:lvl5pPr marL="1371600" indent="0" algn="l">
              <a:buNone/>
              <a:defRPr/>
            </a:lvl5pPr>
          </a:lstStyle>
          <a:p>
            <a:pPr lvl="0"/>
            <a:r>
              <a:rPr lang="ja-JP" altLang="en-US" dirty="0" smtClean="0"/>
              <a:t>著者名</a:t>
            </a:r>
          </a:p>
        </p:txBody>
      </p:sp>
      <p:sp>
        <p:nvSpPr>
          <p:cNvPr id="8" name="コンテンツ プレースホルダ 2"/>
          <p:cNvSpPr>
            <a:spLocks noGrp="1"/>
          </p:cNvSpPr>
          <p:nvPr>
            <p:ph idx="11" hasCustomPrompt="1"/>
          </p:nvPr>
        </p:nvSpPr>
        <p:spPr>
          <a:xfrm>
            <a:off x="1828800" y="4724400"/>
            <a:ext cx="7086600" cy="1551337"/>
          </a:xfrm>
        </p:spPr>
        <p:txBody>
          <a:bodyPr/>
          <a:lstStyle>
            <a:lvl1pPr marL="0" indent="0" algn="just">
              <a:buNone/>
              <a:defRPr sz="2800"/>
            </a:lvl1pPr>
            <a:lvl2pPr marL="342900" indent="0" algn="just">
              <a:buNone/>
              <a:defRPr sz="2400"/>
            </a:lvl2pPr>
            <a:lvl3pPr marL="685800" indent="0" algn="just">
              <a:buNone/>
              <a:defRPr/>
            </a:lvl3pPr>
            <a:lvl4pPr marL="1028700" indent="0" algn="l">
              <a:buNone/>
              <a:defRPr/>
            </a:lvl4pPr>
            <a:lvl5pPr marL="1371600" indent="0" algn="l">
              <a:buNone/>
              <a:defRPr/>
            </a:lvl5pPr>
          </a:lstStyle>
          <a:p>
            <a:pPr lvl="0"/>
            <a:r>
              <a:rPr lang="ja-JP" altLang="en-US" dirty="0" smtClean="0"/>
              <a:t>出典</a:t>
            </a:r>
          </a:p>
        </p:txBody>
      </p:sp>
      <p:sp>
        <p:nvSpPr>
          <p:cNvPr id="9" name="テキスト ボックス 8"/>
          <p:cNvSpPr txBox="1"/>
          <p:nvPr/>
        </p:nvSpPr>
        <p:spPr>
          <a:xfrm>
            <a:off x="78798" y="191542"/>
            <a:ext cx="3491346" cy="769441"/>
          </a:xfrm>
          <a:prstGeom prst="rect">
            <a:avLst/>
          </a:prstGeom>
          <a:noFill/>
        </p:spPr>
        <p:txBody>
          <a:bodyPr wrap="square" rtlCol="0">
            <a:spAutoFit/>
          </a:bodyPr>
          <a:lstStyle/>
          <a:p>
            <a:pPr algn="l"/>
            <a:r>
              <a:rPr kumimoji="1" lang="ja-JP" altLang="en-US" sz="4400" b="1" dirty="0" smtClean="0">
                <a:solidFill>
                  <a:schemeClr val="bg1"/>
                </a:solidFill>
              </a:rPr>
              <a:t>論文情報</a:t>
            </a:r>
          </a:p>
        </p:txBody>
      </p:sp>
      <p:sp>
        <p:nvSpPr>
          <p:cNvPr id="10" name="Rectangle 6"/>
          <p:cNvSpPr>
            <a:spLocks noGrp="1" noChangeArrowheads="1"/>
          </p:cNvSpPr>
          <p:nvPr>
            <p:ph type="sldNum" sz="quarter" idx="12"/>
          </p:nvPr>
        </p:nvSpPr>
        <p:spPr bwMode="auto">
          <a:xfrm>
            <a:off x="6781800" y="33337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kumimoji="0" sz="2800" b="1">
                <a:solidFill>
                  <a:srgbClr val="FFFF00"/>
                </a:solidFill>
              </a:defRPr>
            </a:lvl1pPr>
          </a:lstStyle>
          <a:p>
            <a:fld id="{B5C67937-D10B-4F1B-BCB2-26B69D4AE1E2}" type="slidenum">
              <a:rPr kumimoji="1" lang="ja-JP" altLang="en-US" smtClean="0"/>
              <a:pPr/>
              <a:t>‹#›</a:t>
            </a:fld>
            <a:endParaRPr kumimoji="1" lang="ja-JP" altLang="en-US" dirty="0"/>
          </a:p>
        </p:txBody>
      </p:sp>
    </p:spTree>
    <p:extLst>
      <p:ext uri="{BB962C8B-B14F-4D97-AF65-F5344CB8AC3E}">
        <p14:creationId xmlns:p14="http://schemas.microsoft.com/office/powerpoint/2010/main" val="3941812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lgn="l">
              <a:defRPr sz="4400"/>
            </a:lvl1pPr>
          </a:lstStyle>
          <a:p>
            <a:r>
              <a:rPr lang="ja-JP" altLang="en-US" smtClean="0"/>
              <a:t>マスター タイトルの書式設定</a:t>
            </a:r>
            <a:endParaRPr lang="ja-JP" altLang="en-US" dirty="0"/>
          </a:p>
        </p:txBody>
      </p:sp>
      <p:sp>
        <p:nvSpPr>
          <p:cNvPr id="3" name="コンテンツ プレースホルダ 2"/>
          <p:cNvSpPr>
            <a:spLocks noGrp="1"/>
          </p:cNvSpPr>
          <p:nvPr>
            <p:ph idx="1"/>
          </p:nvPr>
        </p:nvSpPr>
        <p:spPr/>
        <p:txBody>
          <a:bodyPr/>
          <a:lstStyle>
            <a:lvl1pPr marL="0" indent="0" algn="just">
              <a:buNone/>
              <a:defRPr sz="3200"/>
            </a:lvl1pPr>
            <a:lvl2pPr marL="342900" indent="0" algn="just">
              <a:buNone/>
              <a:defRPr sz="2400"/>
            </a:lvl2pPr>
            <a:lvl3pPr marL="685800" indent="0" algn="just">
              <a:buNone/>
              <a:defRPr/>
            </a:lvl3pPr>
            <a:lvl4pPr marL="1028700" indent="0" algn="l">
              <a:buNone/>
              <a:defRPr/>
            </a:lvl4pPr>
            <a:lvl5pPr marL="1371600" indent="0" algn="l">
              <a:buNone/>
              <a:defRPr/>
            </a:lvl5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p:txBody>
      </p:sp>
      <p:sp>
        <p:nvSpPr>
          <p:cNvPr id="4" name="Rectangle 6"/>
          <p:cNvSpPr>
            <a:spLocks noGrp="1" noChangeArrowheads="1"/>
          </p:cNvSpPr>
          <p:nvPr>
            <p:ph type="sldNum" sz="quarter" idx="12"/>
          </p:nvPr>
        </p:nvSpPr>
        <p:spPr bwMode="auto">
          <a:xfrm>
            <a:off x="6781800" y="33337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kumimoji="0" sz="2800" b="1">
                <a:solidFill>
                  <a:srgbClr val="FFFF00"/>
                </a:solidFill>
              </a:defRPr>
            </a:lvl1pPr>
          </a:lstStyle>
          <a:p>
            <a:fld id="{B5C67937-D10B-4F1B-BCB2-26B69D4AE1E2}" type="slidenum">
              <a:rPr kumimoji="1" lang="ja-JP" altLang="en-US" smtClean="0"/>
              <a:pPr/>
              <a:t>‹#›</a:t>
            </a:fld>
            <a:endParaRPr kumimoji="1" lang="ja-JP" altLang="en-US" dirty="0"/>
          </a:p>
        </p:txBody>
      </p:sp>
    </p:spTree>
    <p:extLst>
      <p:ext uri="{BB962C8B-B14F-4D97-AF65-F5344CB8AC3E}">
        <p14:creationId xmlns:p14="http://schemas.microsoft.com/office/powerpoint/2010/main" val="117669418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タイトル+サブタイトル">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76200" y="0"/>
            <a:ext cx="9067800" cy="609600"/>
          </a:xfrm>
        </p:spPr>
        <p:txBody>
          <a:bodyPr/>
          <a:lstStyle>
            <a:lvl1pPr algn="l">
              <a:defRPr sz="4400"/>
            </a:lvl1pPr>
          </a:lstStyle>
          <a:p>
            <a:r>
              <a:rPr lang="ja-JP" altLang="en-US" dirty="0" smtClean="0"/>
              <a:t>メインタイトル</a:t>
            </a:r>
            <a:endParaRPr lang="ja-JP" altLang="en-US" dirty="0"/>
          </a:p>
        </p:txBody>
      </p:sp>
      <p:sp>
        <p:nvSpPr>
          <p:cNvPr id="3" name="コンテンツ プレースホルダ 2"/>
          <p:cNvSpPr>
            <a:spLocks noGrp="1"/>
          </p:cNvSpPr>
          <p:nvPr>
            <p:ph idx="1"/>
          </p:nvPr>
        </p:nvSpPr>
        <p:spPr/>
        <p:txBody>
          <a:bodyPr/>
          <a:lstStyle>
            <a:lvl1pPr marL="0" indent="0" algn="just">
              <a:buNone/>
              <a:defRPr sz="3200"/>
            </a:lvl1pPr>
            <a:lvl2pPr marL="342900" indent="0" algn="just">
              <a:buNone/>
              <a:defRPr sz="2400"/>
            </a:lvl2pPr>
            <a:lvl3pPr marL="685800" indent="0" algn="just">
              <a:buNone/>
              <a:defRPr/>
            </a:lvl3pPr>
            <a:lvl4pPr marL="1028700" indent="0" algn="l">
              <a:buNone/>
              <a:defRPr/>
            </a:lvl4pPr>
            <a:lvl5pPr marL="1371600" indent="0" algn="l">
              <a:buNone/>
              <a:defRPr/>
            </a:lvl5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p:txBody>
      </p:sp>
      <p:sp>
        <p:nvSpPr>
          <p:cNvPr id="4" name="Rectangle 6"/>
          <p:cNvSpPr>
            <a:spLocks noGrp="1" noChangeArrowheads="1"/>
          </p:cNvSpPr>
          <p:nvPr>
            <p:ph type="sldNum" sz="quarter" idx="12"/>
          </p:nvPr>
        </p:nvSpPr>
        <p:spPr bwMode="auto">
          <a:xfrm>
            <a:off x="6781800" y="33337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kumimoji="0" sz="2800" b="1">
                <a:solidFill>
                  <a:srgbClr val="FFFF00"/>
                </a:solidFill>
              </a:defRPr>
            </a:lvl1pPr>
          </a:lstStyle>
          <a:p>
            <a:fld id="{B5C67937-D10B-4F1B-BCB2-26B69D4AE1E2}" type="slidenum">
              <a:rPr kumimoji="1" lang="ja-JP" altLang="en-US" smtClean="0"/>
              <a:pPr/>
              <a:t>‹#›</a:t>
            </a:fld>
            <a:endParaRPr kumimoji="1" lang="ja-JP" altLang="en-US" dirty="0"/>
          </a:p>
        </p:txBody>
      </p:sp>
      <p:sp>
        <p:nvSpPr>
          <p:cNvPr id="14" name="テキスト プレースホルダー 13"/>
          <p:cNvSpPr>
            <a:spLocks noGrp="1"/>
          </p:cNvSpPr>
          <p:nvPr>
            <p:ph type="body" sz="quarter" idx="13" hasCustomPrompt="1"/>
          </p:nvPr>
        </p:nvSpPr>
        <p:spPr>
          <a:xfrm>
            <a:off x="76200" y="570780"/>
            <a:ext cx="9067800" cy="573087"/>
          </a:xfrm>
        </p:spPr>
        <p:txBody>
          <a:bodyPr anchor="ctr"/>
          <a:lstStyle>
            <a:lvl1pPr marL="0" indent="0">
              <a:buNone/>
              <a:defRPr sz="3600" b="1" baseline="0">
                <a:solidFill>
                  <a:schemeClr val="accent4"/>
                </a:solidFill>
                <a:latin typeface="+mj-lt"/>
                <a:ea typeface="+mj-ea"/>
              </a:defRPr>
            </a:lvl1pPr>
          </a:lstStyle>
          <a:p>
            <a:pPr lvl="0"/>
            <a:r>
              <a:rPr kumimoji="1" lang="ja-JP" altLang="en-US" dirty="0" smtClean="0"/>
              <a:t>サブタイトル</a:t>
            </a:r>
          </a:p>
        </p:txBody>
      </p:sp>
    </p:spTree>
    <p:extLst>
      <p:ext uri="{BB962C8B-B14F-4D97-AF65-F5344CB8AC3E}">
        <p14:creationId xmlns:p14="http://schemas.microsoft.com/office/powerpoint/2010/main" val="108042690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タイトル+サブタイトルのみ">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76200" y="0"/>
            <a:ext cx="9067800" cy="609600"/>
          </a:xfrm>
        </p:spPr>
        <p:txBody>
          <a:bodyPr/>
          <a:lstStyle>
            <a:lvl1pPr algn="l">
              <a:defRPr sz="4400"/>
            </a:lvl1pPr>
          </a:lstStyle>
          <a:p>
            <a:r>
              <a:rPr lang="ja-JP" altLang="en-US" dirty="0" smtClean="0"/>
              <a:t>メインタイトル</a:t>
            </a:r>
            <a:endParaRPr lang="ja-JP" altLang="en-US" dirty="0"/>
          </a:p>
        </p:txBody>
      </p:sp>
      <p:sp>
        <p:nvSpPr>
          <p:cNvPr id="4" name="Rectangle 6"/>
          <p:cNvSpPr>
            <a:spLocks noGrp="1" noChangeArrowheads="1"/>
          </p:cNvSpPr>
          <p:nvPr>
            <p:ph type="sldNum" sz="quarter" idx="12"/>
          </p:nvPr>
        </p:nvSpPr>
        <p:spPr bwMode="auto">
          <a:xfrm>
            <a:off x="6781800" y="33337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kumimoji="0" sz="2800" b="1">
                <a:solidFill>
                  <a:srgbClr val="FFFF00"/>
                </a:solidFill>
              </a:defRPr>
            </a:lvl1pPr>
          </a:lstStyle>
          <a:p>
            <a:fld id="{B5C67937-D10B-4F1B-BCB2-26B69D4AE1E2}" type="slidenum">
              <a:rPr kumimoji="1" lang="ja-JP" altLang="en-US" smtClean="0"/>
              <a:pPr/>
              <a:t>‹#›</a:t>
            </a:fld>
            <a:endParaRPr kumimoji="1" lang="ja-JP" altLang="en-US" dirty="0"/>
          </a:p>
        </p:txBody>
      </p:sp>
      <p:sp>
        <p:nvSpPr>
          <p:cNvPr id="14" name="テキスト プレースホルダー 13"/>
          <p:cNvSpPr>
            <a:spLocks noGrp="1"/>
          </p:cNvSpPr>
          <p:nvPr>
            <p:ph type="body" sz="quarter" idx="13" hasCustomPrompt="1"/>
          </p:nvPr>
        </p:nvSpPr>
        <p:spPr>
          <a:xfrm>
            <a:off x="76200" y="570780"/>
            <a:ext cx="9067800" cy="573087"/>
          </a:xfrm>
        </p:spPr>
        <p:txBody>
          <a:bodyPr anchor="ctr"/>
          <a:lstStyle>
            <a:lvl1pPr marL="0" indent="0">
              <a:buNone/>
              <a:defRPr sz="3600" b="1" baseline="0">
                <a:solidFill>
                  <a:schemeClr val="accent4"/>
                </a:solidFill>
                <a:latin typeface="+mj-lt"/>
                <a:ea typeface="+mj-ea"/>
              </a:defRPr>
            </a:lvl1pPr>
          </a:lstStyle>
          <a:p>
            <a:pPr lvl="0"/>
            <a:r>
              <a:rPr kumimoji="1" lang="ja-JP" altLang="en-US" dirty="0" smtClean="0"/>
              <a:t>サブタイトル</a:t>
            </a:r>
          </a:p>
        </p:txBody>
      </p:sp>
    </p:spTree>
    <p:extLst>
      <p:ext uri="{BB962C8B-B14F-4D97-AF65-F5344CB8AC3E}">
        <p14:creationId xmlns:p14="http://schemas.microsoft.com/office/powerpoint/2010/main" val="55071551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lgn="l">
              <a:defRPr sz="4400"/>
            </a:lvl1pPr>
          </a:lstStyle>
          <a:p>
            <a:r>
              <a:rPr lang="ja-JP" altLang="en-US" smtClean="0"/>
              <a:t>マスター タイトルの書式設定</a:t>
            </a:r>
            <a:endParaRPr lang="ja-JP" altLang="en-US" dirty="0"/>
          </a:p>
        </p:txBody>
      </p:sp>
      <p:sp>
        <p:nvSpPr>
          <p:cNvPr id="4" name="Rectangle 6"/>
          <p:cNvSpPr>
            <a:spLocks noGrp="1" noChangeArrowheads="1"/>
          </p:cNvSpPr>
          <p:nvPr>
            <p:ph type="sldNum" sz="quarter" idx="12"/>
          </p:nvPr>
        </p:nvSpPr>
        <p:spPr bwMode="auto">
          <a:xfrm>
            <a:off x="6781800" y="333375"/>
            <a:ext cx="21336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a:defRPr kumimoji="0" sz="2800" b="1">
                <a:solidFill>
                  <a:srgbClr val="FFFF00"/>
                </a:solidFill>
              </a:defRPr>
            </a:lvl1pPr>
          </a:lstStyle>
          <a:p>
            <a:fld id="{B5C67937-D10B-4F1B-BCB2-26B69D4AE1E2}" type="slidenum">
              <a:rPr kumimoji="1" lang="ja-JP" altLang="en-US" smtClean="0"/>
              <a:pPr/>
              <a:t>‹#›</a:t>
            </a:fld>
            <a:endParaRPr kumimoji="1" lang="ja-JP" altLang="en-US" dirty="0"/>
          </a:p>
        </p:txBody>
      </p:sp>
    </p:spTree>
    <p:extLst>
      <p:ext uri="{BB962C8B-B14F-4D97-AF65-F5344CB8AC3E}">
        <p14:creationId xmlns:p14="http://schemas.microsoft.com/office/powerpoint/2010/main" val="425025294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作図用">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5877378"/>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終了">
    <p:spTree>
      <p:nvGrpSpPr>
        <p:cNvPr id="1" name=""/>
        <p:cNvGrpSpPr/>
        <p:nvPr/>
      </p:nvGrpSpPr>
      <p:grpSpPr>
        <a:xfrm>
          <a:off x="0" y="0"/>
          <a:ext cx="0" cy="0"/>
          <a:chOff x="0" y="0"/>
          <a:chExt cx="0" cy="0"/>
        </a:xfrm>
      </p:grpSpPr>
      <p:sp>
        <p:nvSpPr>
          <p:cNvPr id="4" name="Rectangle 7"/>
          <p:cNvSpPr>
            <a:spLocks noChangeAspect="1" noChangeArrowheads="1"/>
          </p:cNvSpPr>
          <p:nvPr/>
        </p:nvSpPr>
        <p:spPr bwMode="auto">
          <a:xfrm>
            <a:off x="-19431" y="-102870"/>
            <a:ext cx="9182862" cy="7063740"/>
          </a:xfrm>
          <a:prstGeom prst="rect">
            <a:avLst/>
          </a:prstGeom>
          <a:solidFill>
            <a:schemeClr val="tx1"/>
          </a:solidFill>
          <a:ln w="9525">
            <a:solidFill>
              <a:schemeClr val="accent2"/>
            </a:solidFill>
            <a:miter lim="800000"/>
            <a:headEnd/>
            <a:tailEnd/>
          </a:ln>
        </p:spPr>
        <p:txBody>
          <a:bodyPr wrap="none"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eaLnBrk="1" hangingPunct="1">
              <a:defRPr/>
            </a:pPr>
            <a:endParaRPr lang="ja-JP" altLang="en-US" sz="1350" dirty="0"/>
          </a:p>
        </p:txBody>
      </p:sp>
    </p:spTree>
    <p:extLst>
      <p:ext uri="{BB962C8B-B14F-4D97-AF65-F5344CB8AC3E}">
        <p14:creationId xmlns:p14="http://schemas.microsoft.com/office/powerpoint/2010/main" val="193299197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p:nvSpPr>
        <p:spPr bwMode="auto">
          <a:xfrm>
            <a:off x="0" y="0"/>
            <a:ext cx="9144000" cy="1143000"/>
          </a:xfrm>
          <a:prstGeom prst="rect">
            <a:avLst/>
          </a:prstGeom>
          <a:solidFill>
            <a:schemeClr val="accent2"/>
          </a:solidFill>
          <a:ln w="9525">
            <a:solidFill>
              <a:schemeClr val="accent2"/>
            </a:solidFill>
            <a:miter lim="800000"/>
            <a:headEnd/>
            <a:tailEnd/>
          </a:ln>
        </p:spPr>
        <p:txBody>
          <a:bodyPr wrap="none" anchor="ctr"/>
          <a:lstStyle>
            <a:lvl1pPr eaLnBrk="0" hangingPunct="0">
              <a:defRPr kumimoji="1">
                <a:solidFill>
                  <a:schemeClr val="tx1"/>
                </a:solidFill>
                <a:latin typeface="Arial" pitchFamily="34" charset="0"/>
                <a:ea typeface="ＭＳ Ｐゴシック" pitchFamily="50" charset="-128"/>
              </a:defRPr>
            </a:lvl1pPr>
            <a:lvl2pPr marL="742950" indent="-285750" eaLnBrk="0" hangingPunct="0">
              <a:defRPr kumimoji="1">
                <a:solidFill>
                  <a:schemeClr val="tx1"/>
                </a:solidFill>
                <a:latin typeface="Arial" pitchFamily="34" charset="0"/>
                <a:ea typeface="ＭＳ Ｐゴシック" pitchFamily="50" charset="-128"/>
              </a:defRPr>
            </a:lvl2pPr>
            <a:lvl3pPr marL="1143000" indent="-228600" eaLnBrk="0" hangingPunct="0">
              <a:defRPr kumimoji="1">
                <a:solidFill>
                  <a:schemeClr val="tx1"/>
                </a:solidFill>
                <a:latin typeface="Arial" pitchFamily="34" charset="0"/>
                <a:ea typeface="ＭＳ Ｐゴシック" pitchFamily="50" charset="-128"/>
              </a:defRPr>
            </a:lvl3pPr>
            <a:lvl4pPr marL="1600200" indent="-228600" eaLnBrk="0" hangingPunct="0">
              <a:defRPr kumimoji="1">
                <a:solidFill>
                  <a:schemeClr val="tx1"/>
                </a:solidFill>
                <a:latin typeface="Arial" pitchFamily="34" charset="0"/>
                <a:ea typeface="ＭＳ Ｐゴシック" pitchFamily="50" charset="-128"/>
              </a:defRPr>
            </a:lvl4pPr>
            <a:lvl5pPr marL="2057400" indent="-228600" eaLnBrk="0" hangingPunct="0">
              <a:defRPr kumimoji="1">
                <a:solidFill>
                  <a:schemeClr val="tx1"/>
                </a:solidFill>
                <a:latin typeface="Arial" pitchFamily="34" charset="0"/>
                <a:ea typeface="ＭＳ Ｐゴシック" pitchFamily="50" charset="-128"/>
              </a:defRPr>
            </a:lvl5pPr>
            <a:lvl6pPr marL="25146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6pPr>
            <a:lvl7pPr marL="29718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7pPr>
            <a:lvl8pPr marL="34290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8pPr>
            <a:lvl9pPr marL="3886200" indent="-228600" eaLnBrk="0" fontAlgn="base" hangingPunct="0">
              <a:spcBef>
                <a:spcPct val="0"/>
              </a:spcBef>
              <a:spcAft>
                <a:spcPct val="0"/>
              </a:spcAft>
              <a:defRPr kumimoji="1">
                <a:solidFill>
                  <a:schemeClr val="tx1"/>
                </a:solidFill>
                <a:latin typeface="Arial" pitchFamily="34" charset="0"/>
                <a:ea typeface="ＭＳ Ｐゴシック" pitchFamily="50" charset="-128"/>
              </a:defRPr>
            </a:lvl9pPr>
          </a:lstStyle>
          <a:p>
            <a:pPr eaLnBrk="1" hangingPunct="1">
              <a:defRPr/>
            </a:pPr>
            <a:endParaRPr lang="ja-JP" altLang="en-US" sz="1350" dirty="0"/>
          </a:p>
        </p:txBody>
      </p:sp>
      <p:sp>
        <p:nvSpPr>
          <p:cNvPr id="1027" name="Rectangle 2"/>
          <p:cNvSpPr>
            <a:spLocks noGrp="1" noChangeArrowheads="1"/>
          </p:cNvSpPr>
          <p:nvPr>
            <p:ph type="title"/>
          </p:nvPr>
        </p:nvSpPr>
        <p:spPr bwMode="auto">
          <a:xfrm>
            <a:off x="76200" y="0"/>
            <a:ext cx="9067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dirty="0"/>
              <a:t>マスタ タイトルの書式設定</a:t>
            </a:r>
          </a:p>
        </p:txBody>
      </p:sp>
      <p:sp>
        <p:nvSpPr>
          <p:cNvPr id="1028" name="Rectangle 3"/>
          <p:cNvSpPr>
            <a:spLocks noGrp="1" noChangeArrowheads="1"/>
          </p:cNvSpPr>
          <p:nvPr>
            <p:ph type="body" idx="1"/>
          </p:nvPr>
        </p:nvSpPr>
        <p:spPr bwMode="auto">
          <a:xfrm>
            <a:off x="228600" y="1371600"/>
            <a:ext cx="86868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Tree>
    <p:extLst>
      <p:ext uri="{BB962C8B-B14F-4D97-AF65-F5344CB8AC3E}">
        <p14:creationId xmlns:p14="http://schemas.microsoft.com/office/powerpoint/2010/main" val="3689500998"/>
      </p:ext>
    </p:extLst>
  </p:cSld>
  <p:clrMap bg1="lt1" tx1="dk1" bg2="lt2" tx2="dk2" accent1="accent1" accent2="accent2" accent3="accent3" accent4="accent4" accent5="accent5" accent6="accent6" hlink="hlink" folHlink="folHlink"/>
  <p:sldLayoutIdLst>
    <p:sldLayoutId id="2147483667" r:id="rId1"/>
    <p:sldLayoutId id="2147483674" r:id="rId2"/>
    <p:sldLayoutId id="2147483668" r:id="rId3"/>
    <p:sldLayoutId id="2147483669" r:id="rId4"/>
    <p:sldLayoutId id="2147483673" r:id="rId5"/>
    <p:sldLayoutId id="2147483670" r:id="rId6"/>
    <p:sldLayoutId id="2147483671" r:id="rId7"/>
    <p:sldLayoutId id="2147483672" r:id="rId8"/>
  </p:sldLayoutIdLst>
  <p:timing>
    <p:tnLst>
      <p:par>
        <p:cTn id="1" dur="indefinite" restart="never" nodeType="tmRoot"/>
      </p:par>
    </p:tnLst>
  </p:timing>
  <p:hf hdr="0" ftr="0" dt="0"/>
  <p:txStyles>
    <p:titleStyle>
      <a:lvl1pPr algn="just" rtl="0" eaLnBrk="1" fontAlgn="base" hangingPunct="1">
        <a:spcBef>
          <a:spcPct val="0"/>
        </a:spcBef>
        <a:spcAft>
          <a:spcPct val="0"/>
        </a:spcAft>
        <a:defRPr kumimoji="1" sz="3300" b="1">
          <a:solidFill>
            <a:schemeClr val="bg1"/>
          </a:solidFill>
          <a:latin typeface="+mj-lt"/>
          <a:ea typeface="+mj-ea"/>
          <a:cs typeface="+mj-cs"/>
        </a:defRPr>
      </a:lvl1pPr>
      <a:lvl2pPr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2pPr>
      <a:lvl3pPr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3pPr>
      <a:lvl4pPr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4pPr>
      <a:lvl5pPr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5pPr>
      <a:lvl6pPr marL="342900"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6pPr>
      <a:lvl7pPr marL="685800"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7pPr>
      <a:lvl8pPr marL="1028700"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8pPr>
      <a:lvl9pPr marL="1371600" algn="just" rtl="0" eaLnBrk="1" fontAlgn="base" hangingPunct="1">
        <a:spcBef>
          <a:spcPct val="0"/>
        </a:spcBef>
        <a:spcAft>
          <a:spcPct val="0"/>
        </a:spcAft>
        <a:defRPr kumimoji="1" sz="3300" b="1">
          <a:solidFill>
            <a:schemeClr val="bg1"/>
          </a:solidFill>
          <a:latin typeface="Times New Roman" pitchFamily="18" charset="0"/>
          <a:ea typeface="ＭＳ Ｐゴシック" pitchFamily="50" charset="-128"/>
        </a:defRPr>
      </a:lvl9pPr>
    </p:titleStyle>
    <p:bodyStyle>
      <a:lvl1pPr marL="257175" indent="-257175" algn="l" rtl="0" eaLnBrk="1" fontAlgn="base" hangingPunct="1">
        <a:spcBef>
          <a:spcPct val="20000"/>
        </a:spcBef>
        <a:spcAft>
          <a:spcPct val="0"/>
        </a:spcAft>
        <a:buChar char="•"/>
        <a:defRPr kumimoji="1" sz="2400">
          <a:solidFill>
            <a:schemeClr val="tx1"/>
          </a:solidFill>
          <a:latin typeface="+mn-lt"/>
          <a:ea typeface="+mn-ea"/>
          <a:cs typeface="+mn-cs"/>
        </a:defRPr>
      </a:lvl1pPr>
      <a:lvl2pPr marL="557213" indent="-214313" algn="l" rtl="0" eaLnBrk="1" fontAlgn="base" hangingPunct="1">
        <a:spcBef>
          <a:spcPct val="20000"/>
        </a:spcBef>
        <a:spcAft>
          <a:spcPct val="0"/>
        </a:spcAft>
        <a:buChar char="–"/>
        <a:defRPr kumimoji="1" sz="2100">
          <a:solidFill>
            <a:schemeClr val="tx1"/>
          </a:solidFill>
          <a:latin typeface="+mn-lt"/>
          <a:ea typeface="+mn-ea"/>
        </a:defRPr>
      </a:lvl2pPr>
      <a:lvl3pPr marL="857250" indent="-171450" algn="l" rtl="0" eaLnBrk="1" fontAlgn="base" hangingPunct="1">
        <a:spcBef>
          <a:spcPct val="20000"/>
        </a:spcBef>
        <a:spcAft>
          <a:spcPct val="0"/>
        </a:spcAft>
        <a:buChar char="•"/>
        <a:defRPr kumimoji="1" sz="1800">
          <a:solidFill>
            <a:schemeClr val="tx1"/>
          </a:solidFill>
          <a:latin typeface="+mn-lt"/>
          <a:ea typeface="+mn-ea"/>
        </a:defRPr>
      </a:lvl3pPr>
      <a:lvl4pPr marL="1200150" indent="-171450" algn="l" rtl="0" eaLnBrk="1" fontAlgn="base" hangingPunct="1">
        <a:spcBef>
          <a:spcPct val="20000"/>
        </a:spcBef>
        <a:spcAft>
          <a:spcPct val="0"/>
        </a:spcAft>
        <a:buChar char="–"/>
        <a:defRPr kumimoji="1" sz="1500">
          <a:solidFill>
            <a:schemeClr val="tx1"/>
          </a:solidFill>
          <a:latin typeface="+mn-lt"/>
          <a:ea typeface="+mn-ea"/>
        </a:defRPr>
      </a:lvl4pPr>
      <a:lvl5pPr marL="1543050" indent="-171450" algn="l" rtl="0" eaLnBrk="1" fontAlgn="base" hangingPunct="1">
        <a:spcBef>
          <a:spcPct val="20000"/>
        </a:spcBef>
        <a:spcAft>
          <a:spcPct val="0"/>
        </a:spcAft>
        <a:buChar char="»"/>
        <a:defRPr kumimoji="1" sz="1500">
          <a:solidFill>
            <a:schemeClr val="tx1"/>
          </a:solidFill>
          <a:latin typeface="+mn-lt"/>
          <a:ea typeface="+mn-ea"/>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en-US" altLang="ja-JP" dirty="0" smtClean="0"/>
              <a:t>CEC2020</a:t>
            </a:r>
            <a:r>
              <a:rPr kumimoji="1" lang="ja-JP" altLang="en-US" dirty="0" smtClean="0"/>
              <a:t>査読コメントについて</a:t>
            </a:r>
            <a:endParaRPr kumimoji="1" lang="ja-JP" altLang="en-US" dirty="0"/>
          </a:p>
        </p:txBody>
      </p:sp>
      <p:sp>
        <p:nvSpPr>
          <p:cNvPr id="3" name="サブタイトル 2"/>
          <p:cNvSpPr>
            <a:spLocks noGrp="1"/>
          </p:cNvSpPr>
          <p:nvPr>
            <p:ph type="subTitle" idx="1"/>
          </p:nvPr>
        </p:nvSpPr>
        <p:spPr/>
        <p:txBody>
          <a:bodyPr/>
          <a:lstStyle/>
          <a:p>
            <a:r>
              <a:rPr kumimoji="1" lang="ja-JP" altLang="en-US" dirty="0" smtClean="0"/>
              <a:t>瓜田　俊貴</a:t>
            </a:r>
            <a:endParaRPr kumimoji="1" lang="ja-JP" altLang="en-US" dirty="0"/>
          </a:p>
        </p:txBody>
      </p:sp>
    </p:spTree>
    <p:extLst>
      <p:ext uri="{BB962C8B-B14F-4D97-AF65-F5344CB8AC3E}">
        <p14:creationId xmlns:p14="http://schemas.microsoft.com/office/powerpoint/2010/main" val="212404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タイトル 8"/>
          <p:cNvSpPr>
            <a:spLocks noGrp="1"/>
          </p:cNvSpPr>
          <p:nvPr>
            <p:ph type="title"/>
          </p:nvPr>
        </p:nvSpPr>
        <p:spPr/>
        <p:txBody>
          <a:bodyPr/>
          <a:lstStyle/>
          <a:p>
            <a:r>
              <a:rPr kumimoji="1" lang="ja-JP" altLang="en-US" dirty="0" smtClean="0"/>
              <a:t>論文概要</a:t>
            </a:r>
            <a:endParaRPr kumimoji="1" lang="ja-JP" altLang="en-US" dirty="0"/>
          </a:p>
        </p:txBody>
      </p:sp>
      <p:sp>
        <p:nvSpPr>
          <p:cNvPr id="10" name="コンテンツ プレースホルダー 9"/>
          <p:cNvSpPr>
            <a:spLocks noGrp="1"/>
          </p:cNvSpPr>
          <p:nvPr>
            <p:ph idx="1"/>
          </p:nvPr>
        </p:nvSpPr>
        <p:spPr/>
        <p:txBody>
          <a:bodyPr/>
          <a:lstStyle/>
          <a:p>
            <a:r>
              <a:rPr kumimoji="1" lang="en-US" altLang="ja-JP" dirty="0" smtClean="0"/>
              <a:t>MOEA/D</a:t>
            </a:r>
            <a:r>
              <a:rPr kumimoji="1" lang="ja-JP" altLang="en-US" dirty="0" smtClean="0"/>
              <a:t>をマルチタスク用に拡張し，タスク間</a:t>
            </a:r>
            <a:r>
              <a:rPr kumimoji="1" lang="en-US" altLang="ja-JP" dirty="0" smtClean="0"/>
              <a:t/>
            </a:r>
            <a:br>
              <a:rPr kumimoji="1" lang="en-US" altLang="ja-JP" dirty="0" smtClean="0"/>
            </a:br>
            <a:r>
              <a:rPr kumimoji="1" lang="ja-JP" altLang="en-US" dirty="0" smtClean="0"/>
              <a:t>交叉の方法を</a:t>
            </a:r>
            <a:r>
              <a:rPr lang="ja-JP" altLang="en-US" dirty="0"/>
              <a:t>工夫</a:t>
            </a:r>
            <a:r>
              <a:rPr kumimoji="1" lang="ja-JP" altLang="en-US" dirty="0" smtClean="0"/>
              <a:t>した新たなアルゴリズムの提案</a:t>
            </a:r>
            <a:endParaRPr kumimoji="1" lang="en-US" altLang="ja-JP" dirty="0" smtClean="0"/>
          </a:p>
          <a:p>
            <a:r>
              <a:rPr lang="en-US" altLang="ja-JP" dirty="0" smtClean="0"/>
              <a:t>DE</a:t>
            </a:r>
            <a:r>
              <a:rPr lang="ja-JP" altLang="en-US" dirty="0" smtClean="0"/>
              <a:t>を適用する際に，どの個体に差分ベクトルを</a:t>
            </a:r>
            <a:r>
              <a:rPr lang="en-US" altLang="ja-JP" dirty="0" smtClean="0"/>
              <a:t/>
            </a:r>
            <a:br>
              <a:rPr lang="en-US" altLang="ja-JP" dirty="0" smtClean="0"/>
            </a:br>
            <a:r>
              <a:rPr lang="ja-JP" altLang="en-US" dirty="0" smtClean="0"/>
              <a:t>加えるかによって探索性能が変化</a:t>
            </a:r>
            <a:endParaRPr kumimoji="1" lang="en-US" altLang="ja-JP" dirty="0" smtClean="0"/>
          </a:p>
          <a:p>
            <a:endParaRPr kumimoji="1" lang="ja-JP" altLang="en-US" dirty="0"/>
          </a:p>
        </p:txBody>
      </p:sp>
      <p:sp>
        <p:nvSpPr>
          <p:cNvPr id="5" name="スライド番号プレースホルダー 4"/>
          <p:cNvSpPr>
            <a:spLocks noGrp="1"/>
          </p:cNvSpPr>
          <p:nvPr>
            <p:ph type="sldNum" sz="quarter" idx="12"/>
          </p:nvPr>
        </p:nvSpPr>
        <p:spPr/>
        <p:txBody>
          <a:bodyPr/>
          <a:lstStyle/>
          <a:p>
            <a:fld id="{B5C67937-D10B-4F1B-BCB2-26B69D4AE1E2}" type="slidenum">
              <a:rPr kumimoji="1" lang="ja-JP" altLang="en-US" smtClean="0"/>
              <a:pPr/>
              <a:t>2</a:t>
            </a:fld>
            <a:endParaRPr kumimoji="1" lang="ja-JP" altLang="en-US" dirty="0"/>
          </a:p>
        </p:txBody>
      </p:sp>
    </p:spTree>
    <p:extLst>
      <p:ext uri="{BB962C8B-B14F-4D97-AF65-F5344CB8AC3E}">
        <p14:creationId xmlns:p14="http://schemas.microsoft.com/office/powerpoint/2010/main" val="2864295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査読コメント</a:t>
            </a:r>
            <a:endParaRPr kumimoji="1" lang="ja-JP" altLang="en-US" dirty="0"/>
          </a:p>
        </p:txBody>
      </p:sp>
      <p:sp>
        <p:nvSpPr>
          <p:cNvPr id="3" name="コンテンツ プレースホルダー 2"/>
          <p:cNvSpPr>
            <a:spLocks noGrp="1"/>
          </p:cNvSpPr>
          <p:nvPr>
            <p:ph idx="1"/>
          </p:nvPr>
        </p:nvSpPr>
        <p:spPr/>
        <p:txBody>
          <a:bodyPr/>
          <a:lstStyle/>
          <a:p>
            <a:r>
              <a:rPr kumimoji="1" lang="en-US" altLang="ja-JP" b="1" dirty="0" smtClean="0"/>
              <a:t>REVIEW</a:t>
            </a:r>
            <a:r>
              <a:rPr kumimoji="1" lang="ja-JP" altLang="en-US" b="1" dirty="0" smtClean="0"/>
              <a:t> </a:t>
            </a:r>
            <a:r>
              <a:rPr kumimoji="1" lang="en-US" altLang="ja-JP" b="1" dirty="0" smtClean="0"/>
              <a:t>NO.1</a:t>
            </a:r>
          </a:p>
          <a:p>
            <a:r>
              <a:rPr lang="ja-JP" altLang="en-US" dirty="0" smtClean="0"/>
              <a:t>　文章の修正点や，明瞭でない表現の指摘</a:t>
            </a:r>
            <a:endParaRPr lang="en-US" altLang="ja-JP" dirty="0" smtClean="0"/>
          </a:p>
          <a:p>
            <a:r>
              <a:rPr kumimoji="1" lang="en-US" altLang="ja-JP" b="1" dirty="0" smtClean="0"/>
              <a:t>RE</a:t>
            </a:r>
            <a:r>
              <a:rPr kumimoji="1" lang="en-US" altLang="ja-JP" b="1" dirty="0"/>
              <a:t>VIEW </a:t>
            </a:r>
            <a:r>
              <a:rPr kumimoji="1" lang="en-US" altLang="ja-JP" b="1" dirty="0" smtClean="0"/>
              <a:t>NO.</a:t>
            </a:r>
            <a:r>
              <a:rPr lang="en-US" altLang="ja-JP" b="1" dirty="0"/>
              <a:t>2</a:t>
            </a:r>
            <a:endParaRPr kumimoji="1" lang="en-US" altLang="ja-JP" b="1" dirty="0" smtClean="0"/>
          </a:p>
          <a:p>
            <a:r>
              <a:rPr lang="ja-JP" altLang="en-US" dirty="0" smtClean="0"/>
              <a:t>　類似度の高い問題では，タスク間交叉で個体群</a:t>
            </a:r>
            <a:r>
              <a:rPr lang="en-US" altLang="ja-JP" dirty="0" smtClean="0"/>
              <a:t/>
            </a:r>
            <a:br>
              <a:rPr lang="en-US" altLang="ja-JP" dirty="0" smtClean="0"/>
            </a:br>
            <a:r>
              <a:rPr lang="ja-JP" altLang="en-US" dirty="0" smtClean="0"/>
              <a:t>サイズが</a:t>
            </a:r>
            <a:r>
              <a:rPr lang="en-US" altLang="ja-JP" dirty="0" smtClean="0"/>
              <a:t>(</a:t>
            </a:r>
            <a:r>
              <a:rPr lang="ja-JP" altLang="en-US" dirty="0" smtClean="0"/>
              <a:t>疑似的に</a:t>
            </a:r>
            <a:r>
              <a:rPr lang="en-US" altLang="ja-JP" dirty="0" smtClean="0"/>
              <a:t>)</a:t>
            </a:r>
            <a:r>
              <a:rPr lang="ja-JP" altLang="en-US" dirty="0" smtClean="0"/>
              <a:t>増加するため性能が向上</a:t>
            </a:r>
            <a:r>
              <a:rPr lang="en-US" altLang="ja-JP" dirty="0" smtClean="0"/>
              <a:t/>
            </a:r>
            <a:br>
              <a:rPr lang="en-US" altLang="ja-JP" dirty="0" smtClean="0"/>
            </a:br>
            <a:r>
              <a:rPr lang="ja-JP" altLang="en-US" dirty="0" smtClean="0"/>
              <a:t>することは驚くことではないが，類似度が低い問題では同様のことが起きるのかは明らかではない．</a:t>
            </a:r>
            <a:endParaRPr lang="en-US" altLang="ja-JP" dirty="0" smtClean="0"/>
          </a:p>
          <a:p>
            <a:r>
              <a:rPr kumimoji="1" lang="ja-JP" altLang="en-US" dirty="0" smtClean="0"/>
              <a:t>　類似度の低い問題では，タスク間交叉は</a:t>
            </a:r>
            <a:r>
              <a:rPr kumimoji="1" lang="en-US" altLang="ja-JP" dirty="0" smtClean="0"/>
              <a:t/>
            </a:r>
            <a:br>
              <a:rPr kumimoji="1" lang="en-US" altLang="ja-JP" dirty="0" smtClean="0"/>
            </a:br>
            <a:r>
              <a:rPr kumimoji="1" lang="ja-JP" altLang="en-US" dirty="0" smtClean="0"/>
              <a:t>ランダム探索になり優れた解が見つかるのでは</a:t>
            </a:r>
            <a:r>
              <a:rPr kumimoji="1" lang="en-US" altLang="ja-JP" dirty="0" smtClean="0"/>
              <a:t/>
            </a:r>
            <a:br>
              <a:rPr kumimoji="1" lang="en-US" altLang="ja-JP" dirty="0" smtClean="0"/>
            </a:br>
            <a:r>
              <a:rPr kumimoji="1" lang="ja-JP" altLang="en-US" dirty="0" smtClean="0"/>
              <a:t>ないだろうか．</a:t>
            </a:r>
            <a:endParaRPr kumimoji="1" lang="ja-JP" altLang="en-US" dirty="0"/>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3</a:t>
            </a:fld>
            <a:endParaRPr kumimoji="1" lang="ja-JP" altLang="en-US" dirty="0"/>
          </a:p>
        </p:txBody>
      </p:sp>
    </p:spTree>
    <p:extLst>
      <p:ext uri="{BB962C8B-B14F-4D97-AF65-F5344CB8AC3E}">
        <p14:creationId xmlns:p14="http://schemas.microsoft.com/office/powerpoint/2010/main" val="3396843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査読コメント</a:t>
            </a:r>
            <a:endParaRPr kumimoji="1" lang="ja-JP" altLang="en-US" dirty="0"/>
          </a:p>
        </p:txBody>
      </p:sp>
      <p:sp>
        <p:nvSpPr>
          <p:cNvPr id="3" name="コンテンツ プレースホルダー 2"/>
          <p:cNvSpPr>
            <a:spLocks noGrp="1"/>
          </p:cNvSpPr>
          <p:nvPr>
            <p:ph idx="1"/>
          </p:nvPr>
        </p:nvSpPr>
        <p:spPr/>
        <p:txBody>
          <a:bodyPr/>
          <a:lstStyle/>
          <a:p>
            <a:r>
              <a:rPr kumimoji="1" lang="en-US" altLang="ja-JP" b="1" dirty="0" smtClean="0"/>
              <a:t>REVIEW NO.</a:t>
            </a:r>
            <a:r>
              <a:rPr lang="en-US" altLang="ja-JP" b="1" dirty="0" smtClean="0"/>
              <a:t>3</a:t>
            </a:r>
          </a:p>
          <a:p>
            <a:r>
              <a:rPr kumimoji="1" lang="ja-JP" altLang="en-US" dirty="0"/>
              <a:t>　</a:t>
            </a:r>
            <a:r>
              <a:rPr kumimoji="1" lang="ja-JP" altLang="en-US" dirty="0" smtClean="0"/>
              <a:t>実用的な観点から，マルチタスク手法の正当性をもう少し説明する必要がある．マルチタスクは</a:t>
            </a:r>
            <a:r>
              <a:rPr kumimoji="1" lang="en-US" altLang="ja-JP" dirty="0" smtClean="0"/>
              <a:t/>
            </a:r>
            <a:br>
              <a:rPr kumimoji="1" lang="en-US" altLang="ja-JP" dirty="0" smtClean="0"/>
            </a:br>
            <a:r>
              <a:rPr kumimoji="1" lang="ja-JP" altLang="en-US" dirty="0" smtClean="0"/>
              <a:t>比較的新しい概念であるため，読者が実際に</a:t>
            </a:r>
            <a:r>
              <a:rPr kumimoji="1" lang="en-US" altLang="ja-JP" dirty="0" smtClean="0"/>
              <a:t/>
            </a:r>
            <a:br>
              <a:rPr kumimoji="1" lang="en-US" altLang="ja-JP" dirty="0" smtClean="0"/>
            </a:br>
            <a:r>
              <a:rPr kumimoji="1" lang="ja-JP" altLang="en-US" dirty="0" smtClean="0"/>
              <a:t>マルチタスクが必要になる場面を理解するための説明が必要だろう．</a:t>
            </a:r>
            <a:endParaRPr kumimoji="1" lang="en-US" altLang="ja-JP" dirty="0" smtClean="0"/>
          </a:p>
          <a:p>
            <a:r>
              <a:rPr lang="ja-JP" altLang="en-US" dirty="0"/>
              <a:t>　</a:t>
            </a:r>
            <a:r>
              <a:rPr lang="ja-JP" altLang="en-US" dirty="0" smtClean="0"/>
              <a:t>数値実験に関して，どのようなチューニングが行われたのかの情報がない</a:t>
            </a:r>
            <a:r>
              <a:rPr lang="en-US" altLang="ja-JP" dirty="0" smtClean="0"/>
              <a:t>(</a:t>
            </a:r>
            <a:r>
              <a:rPr lang="ja-JP" altLang="en-US" dirty="0" smtClean="0"/>
              <a:t>恐らくハイパーパラメータの設定に関して</a:t>
            </a:r>
            <a:r>
              <a:rPr lang="en-US" altLang="ja-JP" dirty="0" smtClean="0"/>
              <a:t>)</a:t>
            </a:r>
            <a:r>
              <a:rPr lang="ja-JP" altLang="en-US" dirty="0" err="1" smtClean="0"/>
              <a:t>．</a:t>
            </a:r>
            <a:endParaRPr kumimoji="1" lang="ja-JP" altLang="en-US" dirty="0"/>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4</a:t>
            </a:fld>
            <a:endParaRPr kumimoji="1" lang="ja-JP" altLang="en-US" dirty="0"/>
          </a:p>
        </p:txBody>
      </p:sp>
    </p:spTree>
    <p:extLst>
      <p:ext uri="{BB962C8B-B14F-4D97-AF65-F5344CB8AC3E}">
        <p14:creationId xmlns:p14="http://schemas.microsoft.com/office/powerpoint/2010/main" val="3752009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査読コメント</a:t>
            </a:r>
            <a:endParaRPr kumimoji="1" lang="ja-JP" altLang="en-US" dirty="0"/>
          </a:p>
        </p:txBody>
      </p:sp>
      <p:sp>
        <p:nvSpPr>
          <p:cNvPr id="3" name="コンテンツ プレースホルダー 2"/>
          <p:cNvSpPr>
            <a:spLocks noGrp="1"/>
          </p:cNvSpPr>
          <p:nvPr>
            <p:ph idx="1"/>
          </p:nvPr>
        </p:nvSpPr>
        <p:spPr/>
        <p:txBody>
          <a:bodyPr/>
          <a:lstStyle/>
          <a:p>
            <a:r>
              <a:rPr lang="en-US" altLang="ja-JP" b="1" dirty="0" smtClean="0"/>
              <a:t>REVIEW NO.3</a:t>
            </a:r>
          </a:p>
          <a:p>
            <a:r>
              <a:rPr lang="ja-JP" altLang="en-US" dirty="0" smtClean="0"/>
              <a:t>　論文の</a:t>
            </a:r>
            <a:r>
              <a:rPr lang="ja-JP" altLang="en-US" dirty="0"/>
              <a:t>検定では，「ベンチマーク問題以外</a:t>
            </a:r>
            <a:r>
              <a:rPr lang="ja-JP" altLang="en-US" dirty="0" smtClean="0"/>
              <a:t>に</a:t>
            </a:r>
            <a:r>
              <a:rPr lang="en-US" altLang="ja-JP" dirty="0" smtClean="0"/>
              <a:t/>
            </a:r>
            <a:br>
              <a:rPr lang="en-US" altLang="ja-JP" dirty="0" smtClean="0"/>
            </a:br>
            <a:r>
              <a:rPr lang="ja-JP" altLang="en-US" dirty="0" smtClean="0"/>
              <a:t>各アルゴリズム</a:t>
            </a:r>
            <a:r>
              <a:rPr lang="ja-JP" altLang="en-US" dirty="0"/>
              <a:t>を適用した際に</a:t>
            </a:r>
            <a:r>
              <a:rPr lang="ja-JP" altLang="en-US" dirty="0" smtClean="0"/>
              <a:t>，各アルゴリズム</a:t>
            </a:r>
            <a:r>
              <a:rPr lang="ja-JP" altLang="en-US" dirty="0"/>
              <a:t>の性能差はどうなっているか</a:t>
            </a:r>
            <a:r>
              <a:rPr lang="ja-JP" altLang="en-US" dirty="0" smtClean="0"/>
              <a:t>」がわからない．すべての問題を通しての検定が必要ではないか．</a:t>
            </a:r>
            <a:endParaRPr lang="en-US" altLang="ja-JP" dirty="0" smtClean="0"/>
          </a:p>
          <a:p>
            <a:r>
              <a:rPr lang="ja-JP" altLang="en-US" dirty="0"/>
              <a:t>　</a:t>
            </a:r>
            <a:r>
              <a:rPr lang="ja-JP" altLang="en-US" dirty="0" smtClean="0"/>
              <a:t>以下の参考文献で適切な実験結果の比較の議論が行われている．</a:t>
            </a:r>
            <a:endParaRPr lang="en-US" altLang="ja-JP" dirty="0" smtClean="0"/>
          </a:p>
          <a:p>
            <a:endParaRPr lang="ja-JP" altLang="en-US" dirty="0"/>
          </a:p>
          <a:p>
            <a:endParaRPr kumimoji="1" lang="ja-JP" altLang="en-US" dirty="0"/>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5</a:t>
            </a:fld>
            <a:endParaRPr kumimoji="1" lang="ja-JP" altLang="en-US" dirty="0"/>
          </a:p>
        </p:txBody>
      </p:sp>
      <p:sp>
        <p:nvSpPr>
          <p:cNvPr id="5" name="テキスト ボックス 4"/>
          <p:cNvSpPr txBox="1"/>
          <p:nvPr/>
        </p:nvSpPr>
        <p:spPr>
          <a:xfrm>
            <a:off x="228600" y="5150584"/>
            <a:ext cx="8686800" cy="1631216"/>
          </a:xfrm>
          <a:prstGeom prst="rect">
            <a:avLst/>
          </a:prstGeom>
          <a:noFill/>
          <a:ln w="28575">
            <a:solidFill>
              <a:schemeClr val="tx1"/>
            </a:solidFill>
            <a:prstDash val="sysDash"/>
          </a:ln>
        </p:spPr>
        <p:txBody>
          <a:bodyPr wrap="square" rtlCol="0">
            <a:spAutoFit/>
          </a:bodyPr>
          <a:lstStyle/>
          <a:p>
            <a:pPr algn="just"/>
            <a:r>
              <a:rPr lang="en-US" altLang="ja-JP" sz="2000" b="1" dirty="0"/>
              <a:t> [1] J. </a:t>
            </a:r>
            <a:r>
              <a:rPr lang="en-US" altLang="ja-JP" sz="2000" b="1" dirty="0" err="1"/>
              <a:t>Demsar</a:t>
            </a:r>
            <a:r>
              <a:rPr lang="en-US" altLang="ja-JP" sz="2000" b="1" dirty="0"/>
              <a:t>, "Statistical Comparisons of </a:t>
            </a:r>
            <a:r>
              <a:rPr lang="en-US" altLang="ja-JP" sz="2000" b="1" dirty="0" err="1"/>
              <a:t>Classifiersover</a:t>
            </a:r>
            <a:r>
              <a:rPr lang="en-US" altLang="ja-JP" sz="2000" b="1" dirty="0"/>
              <a:t> Multiple Data Sets", J. Machine Learning Research 7(1):1-30, 2006.</a:t>
            </a:r>
            <a:endParaRPr lang="ja-JP" altLang="ja-JP" sz="2000" b="1" dirty="0"/>
          </a:p>
          <a:p>
            <a:pPr algn="just"/>
            <a:r>
              <a:rPr lang="en-US" altLang="ja-JP" sz="2000" b="1" dirty="0"/>
              <a:t> [2] F. </a:t>
            </a:r>
            <a:r>
              <a:rPr lang="en-US" altLang="ja-JP" sz="2000" b="1" dirty="0" err="1"/>
              <a:t>Campelo</a:t>
            </a:r>
            <a:r>
              <a:rPr lang="en-US" altLang="ja-JP" sz="2000" b="1" dirty="0"/>
              <a:t> and F. Takahashi, "Sample size estimation for power and accuracy in the experimental comparison of algorithms", J. Heuristics 25(1):305-338, 2019</a:t>
            </a:r>
            <a:endParaRPr lang="ja-JP" altLang="en-US" sz="2000" b="1" dirty="0"/>
          </a:p>
        </p:txBody>
      </p:sp>
    </p:spTree>
    <p:extLst>
      <p:ext uri="{BB962C8B-B14F-4D97-AF65-F5344CB8AC3E}">
        <p14:creationId xmlns:p14="http://schemas.microsoft.com/office/powerpoint/2010/main" val="31538151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査読コメント原文</a:t>
            </a:r>
            <a:r>
              <a:rPr kumimoji="1" lang="en-US" altLang="ja-JP" dirty="0" smtClean="0"/>
              <a:t>(NO.1)</a:t>
            </a:r>
            <a:endParaRPr kumimoji="1" lang="ja-JP" altLang="en-US" dirty="0"/>
          </a:p>
        </p:txBody>
      </p:sp>
      <p:sp>
        <p:nvSpPr>
          <p:cNvPr id="3" name="コンテンツ プレースホルダー 2"/>
          <p:cNvSpPr>
            <a:spLocks noGrp="1"/>
          </p:cNvSpPr>
          <p:nvPr>
            <p:ph idx="1"/>
          </p:nvPr>
        </p:nvSpPr>
        <p:spPr/>
        <p:txBody>
          <a:bodyPr/>
          <a:lstStyle/>
          <a:p>
            <a:r>
              <a:rPr lang="en-US" altLang="ja-JP" sz="2400" b="1" dirty="0" smtClean="0"/>
              <a:t> The </a:t>
            </a:r>
            <a:r>
              <a:rPr lang="en-US" altLang="ja-JP" sz="2400" b="1" dirty="0"/>
              <a:t>paper deals with an interesting and rather novel type of problem </a:t>
            </a:r>
            <a:r>
              <a:rPr lang="en-US" altLang="ja-JP" sz="2400" b="1" dirty="0" smtClean="0"/>
              <a:t>and</a:t>
            </a:r>
            <a:r>
              <a:rPr lang="ja-JP" altLang="en-US" sz="2400" b="1" dirty="0"/>
              <a:t> </a:t>
            </a:r>
            <a:r>
              <a:rPr lang="en-US" altLang="ja-JP" sz="2400" b="1" dirty="0" smtClean="0"/>
              <a:t>presents </a:t>
            </a:r>
            <a:r>
              <a:rPr lang="en-US" altLang="ja-JP" sz="2400" b="1" dirty="0"/>
              <a:t>an original algorithm. During a number of carefully conducted </a:t>
            </a:r>
            <a:r>
              <a:rPr lang="en-US" altLang="ja-JP" sz="2400" b="1" dirty="0" smtClean="0"/>
              <a:t>computer </a:t>
            </a:r>
            <a:r>
              <a:rPr lang="en-US" altLang="ja-JP" sz="2400" b="1" dirty="0"/>
              <a:t>experiments, several variants of the new algorithm are tested.</a:t>
            </a:r>
            <a:endParaRPr lang="ja-JP" altLang="ja-JP" sz="2400" b="1" dirty="0"/>
          </a:p>
          <a:p>
            <a:r>
              <a:rPr lang="en-US" altLang="ja-JP" sz="2400" b="1" dirty="0"/>
              <a:t> </a:t>
            </a:r>
            <a:r>
              <a:rPr lang="en-US" altLang="ja-JP" sz="2400" b="1" dirty="0" smtClean="0"/>
              <a:t>It </a:t>
            </a:r>
            <a:r>
              <a:rPr lang="en-US" altLang="ja-JP" sz="2400" b="1" dirty="0"/>
              <a:t>is suggested to accept the paper for the conference after a few minor changes:</a:t>
            </a:r>
            <a:endParaRPr lang="ja-JP" altLang="ja-JP" sz="2400" b="1" dirty="0"/>
          </a:p>
          <a:p>
            <a:r>
              <a:rPr lang="en-US" altLang="ja-JP" sz="2400" b="1" dirty="0" smtClean="0"/>
              <a:t> </a:t>
            </a:r>
            <a:r>
              <a:rPr lang="en-US" altLang="ja-JP" sz="2400" b="1" dirty="0"/>
              <a:t>p. 2, left, l. 4: Insert "The" at the beginning of the sentence</a:t>
            </a:r>
            <a:r>
              <a:rPr lang="en-US" altLang="ja-JP" sz="2400" b="1" dirty="0" smtClean="0"/>
              <a:t>. l</a:t>
            </a:r>
            <a:r>
              <a:rPr lang="en-US" altLang="ja-JP" sz="2400" b="1" dirty="0"/>
              <a:t>. 18: "... any EMMO algorithm which applies ... has not been proposed yet</a:t>
            </a:r>
            <a:r>
              <a:rPr lang="en-US" altLang="ja-JP" sz="2400" b="1" dirty="0" smtClean="0"/>
              <a:t>" </a:t>
            </a:r>
            <a:r>
              <a:rPr lang="en-US" altLang="ja-JP" sz="2400" b="1" dirty="0"/>
              <a:t>l. 24: Insert "algorithm" after "EMMO</a:t>
            </a:r>
            <a:r>
              <a:rPr lang="en-US" altLang="ja-JP" sz="2400" b="1" dirty="0" smtClean="0"/>
              <a:t>".</a:t>
            </a:r>
            <a:endParaRPr lang="en-US" altLang="ja-JP" sz="2400" b="1" dirty="0"/>
          </a:p>
          <a:p>
            <a:r>
              <a:rPr lang="en-US" altLang="ja-JP" sz="2400" b="1" dirty="0" smtClean="0"/>
              <a:t> </a:t>
            </a:r>
            <a:r>
              <a:rPr lang="en-US" altLang="ja-JP" sz="2400" b="1" dirty="0"/>
              <a:t>p. 2, right, l. 20f from below: This sentence is not clear enough, Are </a:t>
            </a:r>
            <a:r>
              <a:rPr lang="en-US" altLang="ja-JP" sz="2400" b="1" dirty="0" smtClean="0"/>
              <a:t>solutions </a:t>
            </a:r>
            <a:r>
              <a:rPr lang="en-US" altLang="ja-JP" sz="2400" b="1" dirty="0"/>
              <a:t>really selected from a weight set or rather correspond to such weights</a:t>
            </a:r>
            <a:r>
              <a:rPr lang="en-US" altLang="ja-JP" sz="2400" b="1" dirty="0" smtClean="0"/>
              <a:t>?</a:t>
            </a:r>
            <a:endParaRPr lang="ja-JP" altLang="ja-JP" sz="2400" b="1" dirty="0"/>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6</a:t>
            </a:fld>
            <a:endParaRPr kumimoji="1" lang="ja-JP" altLang="en-US" dirty="0"/>
          </a:p>
        </p:txBody>
      </p:sp>
    </p:spTree>
    <p:extLst>
      <p:ext uri="{BB962C8B-B14F-4D97-AF65-F5344CB8AC3E}">
        <p14:creationId xmlns:p14="http://schemas.microsoft.com/office/powerpoint/2010/main" val="24707750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査読コメント原文</a:t>
            </a:r>
            <a:r>
              <a:rPr kumimoji="1" lang="en-US" altLang="ja-JP" dirty="0" smtClean="0"/>
              <a:t>(NO.1)</a:t>
            </a:r>
            <a:endParaRPr kumimoji="1" lang="ja-JP" altLang="en-US" dirty="0"/>
          </a:p>
        </p:txBody>
      </p:sp>
      <p:sp>
        <p:nvSpPr>
          <p:cNvPr id="3" name="コンテンツ プレースホルダー 2"/>
          <p:cNvSpPr>
            <a:spLocks noGrp="1"/>
          </p:cNvSpPr>
          <p:nvPr>
            <p:ph idx="1"/>
          </p:nvPr>
        </p:nvSpPr>
        <p:spPr/>
        <p:txBody>
          <a:bodyPr/>
          <a:lstStyle/>
          <a:p>
            <a:r>
              <a:rPr lang="en-US" altLang="ja-JP" sz="2400" b="1" dirty="0" smtClean="0"/>
              <a:t>l</a:t>
            </a:r>
            <a:r>
              <a:rPr lang="en-US" altLang="ja-JP" sz="2400" b="1" dirty="0"/>
              <a:t>. 14f from below: Sentence not clear </a:t>
            </a:r>
            <a:r>
              <a:rPr lang="en-US" altLang="ja-JP" sz="2400" b="1" dirty="0" smtClean="0"/>
              <a:t>enough.</a:t>
            </a:r>
            <a:endParaRPr lang="en-US" altLang="ja-JP" sz="2400" b="1" dirty="0"/>
          </a:p>
          <a:p>
            <a:r>
              <a:rPr lang="en-US" altLang="ja-JP" sz="2400" b="1" dirty="0"/>
              <a:t> </a:t>
            </a:r>
            <a:r>
              <a:rPr lang="en-US" altLang="ja-JP" sz="2400" b="1" dirty="0" smtClean="0"/>
              <a:t>p.3</a:t>
            </a:r>
            <a:r>
              <a:rPr lang="en-US" altLang="ja-JP" sz="2400" b="1" dirty="0"/>
              <a:t>, left, l. 18: Replace "same as" by "as in".</a:t>
            </a:r>
            <a:endParaRPr lang="ja-JP" altLang="ja-JP" sz="2400" b="1" dirty="0"/>
          </a:p>
          <a:p>
            <a:r>
              <a:rPr lang="en-US" altLang="ja-JP" sz="2400" b="1" dirty="0" smtClean="0"/>
              <a:t> </a:t>
            </a:r>
            <a:r>
              <a:rPr lang="en-US" altLang="ja-JP" sz="2400" b="1" dirty="0"/>
              <a:t>p. 4, left, l. 12ff: How is the probability r set in the algorithm or </a:t>
            </a:r>
            <a:r>
              <a:rPr lang="en-US" altLang="ja-JP" sz="2400" b="1" dirty="0" smtClean="0"/>
              <a:t>controlled </a:t>
            </a:r>
            <a:r>
              <a:rPr lang="en-US" altLang="ja-JP" sz="2400" b="1" dirty="0"/>
              <a:t>during its run?</a:t>
            </a:r>
            <a:endParaRPr lang="ja-JP" altLang="ja-JP" sz="2400" b="1" dirty="0"/>
          </a:p>
          <a:p>
            <a:r>
              <a:rPr lang="en-US" altLang="ja-JP" sz="2400" b="1" dirty="0" smtClean="0"/>
              <a:t> </a:t>
            </a:r>
            <a:r>
              <a:rPr lang="en-US" altLang="ja-JP" sz="2400" b="1" dirty="0"/>
              <a:t>p. 6, left, l. 14 and 17: How can this information about 8 of 18 or 10 of 18 </a:t>
            </a:r>
            <a:r>
              <a:rPr lang="en-US" altLang="ja-JP" sz="2400" b="1" dirty="0" smtClean="0"/>
              <a:t>be </a:t>
            </a:r>
            <a:r>
              <a:rPr lang="en-US" altLang="ja-JP" sz="2400" b="1" dirty="0"/>
              <a:t>found in the respective table?</a:t>
            </a:r>
            <a:endParaRPr lang="ja-JP" altLang="ja-JP" sz="2400" b="1" dirty="0"/>
          </a:p>
          <a:p>
            <a:r>
              <a:rPr lang="en-US" altLang="ja-JP" sz="2400" b="1" dirty="0" smtClean="0"/>
              <a:t> </a:t>
            </a:r>
            <a:r>
              <a:rPr lang="en-US" altLang="ja-JP" sz="2400" b="1" dirty="0"/>
              <a:t>p. 6, right, l. 8 below table: Insert "as" after "problems".</a:t>
            </a:r>
            <a:endParaRPr lang="ja-JP" altLang="ja-JP" sz="2400" b="1" dirty="0"/>
          </a:p>
          <a:p>
            <a:r>
              <a:rPr lang="en-US" altLang="ja-JP" sz="2400" b="1" dirty="0" smtClean="0"/>
              <a:t> </a:t>
            </a:r>
            <a:r>
              <a:rPr lang="en-US" altLang="ja-JP" sz="2400" b="1" dirty="0"/>
              <a:t>p. 8, left, l. 1: Replace "an" by "a".</a:t>
            </a:r>
            <a:endParaRPr lang="ja-JP" altLang="ja-JP" sz="2400" b="1" dirty="0"/>
          </a:p>
          <a:p>
            <a:r>
              <a:rPr lang="en-US" altLang="ja-JP" sz="2400" b="1" dirty="0" smtClean="0"/>
              <a:t> </a:t>
            </a:r>
            <a:r>
              <a:rPr lang="en-US" altLang="ja-JP" sz="2400" b="1" dirty="0"/>
              <a:t>l. 15: Replace "be" by "show".</a:t>
            </a:r>
            <a:endParaRPr lang="ja-JP" altLang="ja-JP" sz="2400" b="1" dirty="0"/>
          </a:p>
          <a:p>
            <a:endParaRPr kumimoji="1" lang="ja-JP" altLang="en-US" sz="2400" b="1" dirty="0"/>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7</a:t>
            </a:fld>
            <a:endParaRPr kumimoji="1" lang="ja-JP" altLang="en-US" dirty="0"/>
          </a:p>
        </p:txBody>
      </p:sp>
    </p:spTree>
    <p:extLst>
      <p:ext uri="{BB962C8B-B14F-4D97-AF65-F5344CB8AC3E}">
        <p14:creationId xmlns:p14="http://schemas.microsoft.com/office/powerpoint/2010/main" val="10546283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査読</a:t>
            </a:r>
            <a:r>
              <a:rPr lang="ja-JP" altLang="en-US" dirty="0" smtClean="0"/>
              <a:t>コメント原文</a:t>
            </a:r>
            <a:r>
              <a:rPr lang="en-US" altLang="ja-JP" dirty="0" smtClean="0"/>
              <a:t>(NO.2)</a:t>
            </a:r>
            <a:endParaRPr kumimoji="1" lang="ja-JP" altLang="en-US" dirty="0"/>
          </a:p>
        </p:txBody>
      </p:sp>
      <p:sp>
        <p:nvSpPr>
          <p:cNvPr id="3" name="コンテンツ プレースホルダー 2"/>
          <p:cNvSpPr>
            <a:spLocks noGrp="1"/>
          </p:cNvSpPr>
          <p:nvPr>
            <p:ph idx="1"/>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ja-JP" sz="2400" b="1" dirty="0"/>
              <a:t> This paper analyzes the effect of local (inside the population) mating in an algorithm that is designed to run using only inter-population mating to solve multiple </a:t>
            </a:r>
            <a:r>
              <a:rPr lang="en-US" altLang="ja-JP" sz="2400" b="1" dirty="0" err="1"/>
              <a:t>multiobjective</a:t>
            </a:r>
            <a:r>
              <a:rPr lang="en-US" altLang="ja-JP" sz="2400" b="1" dirty="0"/>
              <a:t> problems</a:t>
            </a:r>
            <a:r>
              <a:rPr lang="en-US" altLang="ja-JP" sz="2400" b="1" dirty="0" smtClean="0"/>
              <a:t>.</a:t>
            </a:r>
            <a:endParaRPr lang="en-US" altLang="ja-JP" sz="2400" b="1" dirty="0"/>
          </a:p>
          <a:p>
            <a:r>
              <a:rPr lang="en-US" altLang="ja-JP" sz="2400" b="1" dirty="0" smtClean="0"/>
              <a:t> </a:t>
            </a:r>
            <a:r>
              <a:rPr lang="en-US" altLang="ja-JP" sz="2400" b="1" dirty="0"/>
              <a:t>The paper uses MOEA/D as the reference framework, augmented with inter-population mating during the evolutionary process. It also considers problems with different degrees of similarity</a:t>
            </a:r>
            <a:r>
              <a:rPr lang="en-US" altLang="ja-JP" sz="2400" b="1" dirty="0" smtClean="0"/>
              <a:t>.</a:t>
            </a:r>
            <a:endParaRPr lang="ja-JP" altLang="ja-JP" sz="2400" b="1" dirty="0"/>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8</a:t>
            </a:fld>
            <a:endParaRPr kumimoji="1" lang="ja-JP" altLang="en-US" dirty="0"/>
          </a:p>
        </p:txBody>
      </p:sp>
    </p:spTree>
    <p:extLst>
      <p:ext uri="{BB962C8B-B14F-4D97-AF65-F5344CB8AC3E}">
        <p14:creationId xmlns:p14="http://schemas.microsoft.com/office/powerpoint/2010/main" val="2604521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査読</a:t>
            </a:r>
            <a:r>
              <a:rPr lang="ja-JP" altLang="en-US" dirty="0" smtClean="0"/>
              <a:t>コメント原文</a:t>
            </a:r>
            <a:r>
              <a:rPr lang="en-US" altLang="ja-JP" dirty="0" smtClean="0"/>
              <a:t>(NO.2)</a:t>
            </a:r>
            <a:endParaRPr kumimoji="1" lang="ja-JP" altLang="en-US" dirty="0"/>
          </a:p>
        </p:txBody>
      </p:sp>
      <p:sp>
        <p:nvSpPr>
          <p:cNvPr id="3" name="コンテンツ プレースホルダー 2"/>
          <p:cNvSpPr>
            <a:spLocks noGrp="1"/>
          </p:cNvSpPr>
          <p:nvPr>
            <p:ph idx="1"/>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ja-JP" altLang="en-US" sz="2400" b="1" dirty="0"/>
              <a:t> </a:t>
            </a:r>
            <a:r>
              <a:rPr lang="en-US" altLang="ja-JP" sz="2400" b="1" dirty="0" smtClean="0"/>
              <a:t>The </a:t>
            </a:r>
            <a:r>
              <a:rPr lang="en-US" altLang="ja-JP" sz="2400" b="1" dirty="0"/>
              <a:t>results are interesting, especially regarding the problems with a low similarity level, from the exactly opposite perspective with respect to the authors. </a:t>
            </a:r>
            <a:r>
              <a:rPr lang="en-US" altLang="ja-JP" sz="2400" b="1" dirty="0"/>
              <a:t>While it is not surprising that the combination of intra- and inter-population mating enhances the optimization outcome, by effectively increasing the population size for each problem, it is not immediately apparent that the same should happen for very different problems. A solution in the neighborhood of a local optimum for a different problem is probably irrelevant for the current one. One possible hypothesis is that the inter-population mating provides an additional amount of random sampling of the local search space, allowing to find better solutions.</a:t>
            </a:r>
            <a:endParaRPr lang="ja-JP" altLang="en-US" sz="2400" b="1" dirty="0"/>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9</a:t>
            </a:fld>
            <a:endParaRPr kumimoji="1" lang="ja-JP" altLang="en-US" dirty="0"/>
          </a:p>
        </p:txBody>
      </p:sp>
    </p:spTree>
    <p:extLst>
      <p:ext uri="{BB962C8B-B14F-4D97-AF65-F5344CB8AC3E}">
        <p14:creationId xmlns:p14="http://schemas.microsoft.com/office/powerpoint/2010/main" val="1740899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査読</a:t>
            </a:r>
            <a:r>
              <a:rPr lang="ja-JP" altLang="en-US" dirty="0" smtClean="0"/>
              <a:t>コメント原文</a:t>
            </a:r>
            <a:r>
              <a:rPr lang="en-US" altLang="ja-JP" dirty="0" smtClean="0"/>
              <a:t>(NO.3)</a:t>
            </a:r>
            <a:endParaRPr kumimoji="1" lang="ja-JP" altLang="en-US" dirty="0"/>
          </a:p>
        </p:txBody>
      </p:sp>
      <p:sp>
        <p:nvSpPr>
          <p:cNvPr id="3" name="コンテンツ プレースホルダー 2"/>
          <p:cNvSpPr>
            <a:spLocks noGrp="1"/>
          </p:cNvSpPr>
          <p:nvPr>
            <p:ph idx="1"/>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ja-JP" sz="2400" b="1" dirty="0"/>
              <a:t> The paper proposes an interesting adaptation of the MOEA/D framework for the solution of </a:t>
            </a:r>
            <a:r>
              <a:rPr lang="en-US" altLang="ja-JP" sz="2400" b="1" dirty="0" err="1"/>
              <a:t>Multiobjective</a:t>
            </a:r>
            <a:r>
              <a:rPr lang="en-US" altLang="ja-JP" sz="2400" b="1" dirty="0"/>
              <a:t> Multitask Optimization Problems (MMOPs). The idea is interesting and draws from the established literature on decomposition-based methods. </a:t>
            </a:r>
            <a:r>
              <a:rPr lang="en-US" altLang="ja-JP" sz="2400" b="1" dirty="0"/>
              <a:t>I feel however that the paper should do a better job at justifying the need for MMOPs from a practical perspective - this being a relatively new concept, it would help the reader to understand where exactly these problems could emerge in practice. </a:t>
            </a:r>
            <a:endParaRPr lang="ja-JP" altLang="ja-JP" sz="2400" b="1" dirty="0"/>
          </a:p>
          <a:p>
            <a:r>
              <a:rPr lang="en-US" altLang="ja-JP" sz="2400" b="1" dirty="0" smtClean="0"/>
              <a:t> </a:t>
            </a:r>
            <a:endParaRPr lang="ja-JP" altLang="en-US" sz="2400" b="1" dirty="0"/>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10</a:t>
            </a:fld>
            <a:endParaRPr kumimoji="1" lang="ja-JP" altLang="en-US" dirty="0"/>
          </a:p>
        </p:txBody>
      </p:sp>
    </p:spTree>
    <p:extLst>
      <p:ext uri="{BB962C8B-B14F-4D97-AF65-F5344CB8AC3E}">
        <p14:creationId xmlns:p14="http://schemas.microsoft.com/office/powerpoint/2010/main" val="191873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査読</a:t>
            </a:r>
            <a:r>
              <a:rPr lang="ja-JP" altLang="en-US" dirty="0" smtClean="0"/>
              <a:t>コメント原文</a:t>
            </a:r>
            <a:r>
              <a:rPr lang="en-US" altLang="ja-JP" dirty="0" smtClean="0"/>
              <a:t>(NO.3)</a:t>
            </a:r>
            <a:endParaRPr kumimoji="1" lang="ja-JP" altLang="en-US" dirty="0"/>
          </a:p>
        </p:txBody>
      </p:sp>
      <p:sp>
        <p:nvSpPr>
          <p:cNvPr id="3" name="コンテンツ プレースホルダー 2"/>
          <p:cNvSpPr>
            <a:spLocks noGrp="1"/>
          </p:cNvSpPr>
          <p:nvPr>
            <p:ph idx="1"/>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ja-JP" altLang="en-US" sz="2400" b="1" dirty="0"/>
              <a:t> </a:t>
            </a:r>
            <a:r>
              <a:rPr lang="en-US" altLang="ja-JP" sz="2400" b="1" dirty="0" smtClean="0"/>
              <a:t>The </a:t>
            </a:r>
            <a:r>
              <a:rPr lang="en-US" altLang="ja-JP" sz="2400" b="1" dirty="0"/>
              <a:t>experimental validation is interesting, but could be improved. </a:t>
            </a:r>
            <a:r>
              <a:rPr lang="en-US" altLang="ja-JP" sz="2400" b="1" dirty="0"/>
              <a:t>There is little information on which tuning efforts were used, if any. </a:t>
            </a:r>
            <a:r>
              <a:rPr lang="en-US" altLang="ja-JP" sz="2400" b="1" dirty="0"/>
              <a:t>Also, the comparison of algorithms on multiple test problems by means of individual Wilcoxon tests on each problem does not provide information on the actual question of interest, which should be "what does the information gathered on this small test set tell me about the expected differences in performance of these algorithms when run on other problems sharing similar characteristics". </a:t>
            </a:r>
            <a:endParaRPr lang="ja-JP" altLang="en-US" sz="2400" b="1" dirty="0"/>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11</a:t>
            </a:fld>
            <a:endParaRPr kumimoji="1" lang="ja-JP" altLang="en-US" dirty="0"/>
          </a:p>
        </p:txBody>
      </p:sp>
    </p:spTree>
    <p:extLst>
      <p:ext uri="{BB962C8B-B14F-4D97-AF65-F5344CB8AC3E}">
        <p14:creationId xmlns:p14="http://schemas.microsoft.com/office/powerpoint/2010/main" val="939684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査読</a:t>
            </a:r>
            <a:r>
              <a:rPr lang="ja-JP" altLang="en-US" dirty="0" smtClean="0"/>
              <a:t>コメント原文</a:t>
            </a:r>
            <a:r>
              <a:rPr lang="en-US" altLang="ja-JP" dirty="0" smtClean="0"/>
              <a:t>(NO.3)</a:t>
            </a:r>
            <a:endParaRPr kumimoji="1" lang="ja-JP" altLang="en-US" dirty="0"/>
          </a:p>
        </p:txBody>
      </p:sp>
      <p:sp>
        <p:nvSpPr>
          <p:cNvPr id="3" name="コンテンツ プレースホルダー 2"/>
          <p:cNvSpPr>
            <a:spLocks noGrp="1"/>
          </p:cNvSpPr>
          <p:nvPr>
            <p:ph idx="1"/>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r>
              <a:rPr lang="en-US" altLang="ja-JP" sz="2400" b="1" dirty="0" smtClean="0"/>
              <a:t> My </a:t>
            </a:r>
            <a:r>
              <a:rPr lang="en-US" altLang="ja-JP" sz="2400" b="1" dirty="0"/>
              <a:t>suggestion is performing an adequate paired analysis across problems, e.g. using paired t-tests or paired Wilcoxon tests, where the observed difference in mean performances of each problem represents one observation. References [1,2] below provide good discussion on how to adequately perform experimental comparisons of algorithms in this scenario.</a:t>
            </a:r>
            <a:endParaRPr lang="ja-JP" altLang="ja-JP" sz="2400" b="1" dirty="0"/>
          </a:p>
          <a:p>
            <a:r>
              <a:rPr lang="en-US" altLang="ja-JP" sz="2400" b="1" dirty="0"/>
              <a:t>      </a:t>
            </a:r>
            <a:endParaRPr lang="ja-JP" altLang="ja-JP" sz="2400" b="1" dirty="0"/>
          </a:p>
          <a:p>
            <a:r>
              <a:rPr lang="en-US" altLang="ja-JP" sz="2400" b="1" dirty="0" smtClean="0"/>
              <a:t> </a:t>
            </a:r>
            <a:r>
              <a:rPr lang="en-US" altLang="ja-JP" sz="2400" b="1" dirty="0"/>
              <a:t>[1] J. </a:t>
            </a:r>
            <a:r>
              <a:rPr lang="en-US" altLang="ja-JP" sz="2400" b="1" dirty="0" err="1"/>
              <a:t>Demsar</a:t>
            </a:r>
            <a:r>
              <a:rPr lang="en-US" altLang="ja-JP" sz="2400" b="1" dirty="0"/>
              <a:t>, "Statistical Comparisons of </a:t>
            </a:r>
            <a:r>
              <a:rPr lang="en-US" altLang="ja-JP" sz="2400" b="1" dirty="0" err="1"/>
              <a:t>Classifiersover</a:t>
            </a:r>
            <a:r>
              <a:rPr lang="en-US" altLang="ja-JP" sz="2400" b="1" dirty="0"/>
              <a:t> Multiple Data Sets", J. Machine Learning Research 7(1):1-30, 2006.</a:t>
            </a:r>
            <a:endParaRPr lang="ja-JP" altLang="ja-JP" sz="2400" b="1" dirty="0"/>
          </a:p>
          <a:p>
            <a:r>
              <a:rPr lang="en-US" altLang="ja-JP" sz="2400" b="1" dirty="0" smtClean="0"/>
              <a:t> </a:t>
            </a:r>
            <a:r>
              <a:rPr lang="en-US" altLang="ja-JP" sz="2400" b="1" dirty="0"/>
              <a:t>[2] F. </a:t>
            </a:r>
            <a:r>
              <a:rPr lang="en-US" altLang="ja-JP" sz="2400" b="1" dirty="0" err="1"/>
              <a:t>Campelo</a:t>
            </a:r>
            <a:r>
              <a:rPr lang="en-US" altLang="ja-JP" sz="2400" b="1" dirty="0"/>
              <a:t> and F. Takahashi, "Sample size estimation for power and accuracy in the experimental comparison of algorithms", J. Heuristics 25(1):305-338, 2019</a:t>
            </a:r>
            <a:endParaRPr lang="ja-JP" altLang="en-US" sz="2400" b="1" dirty="0"/>
          </a:p>
        </p:txBody>
      </p:sp>
      <p:sp>
        <p:nvSpPr>
          <p:cNvPr id="4" name="スライド番号プレースホルダー 3"/>
          <p:cNvSpPr>
            <a:spLocks noGrp="1"/>
          </p:cNvSpPr>
          <p:nvPr>
            <p:ph type="sldNum" sz="quarter" idx="12"/>
          </p:nvPr>
        </p:nvSpPr>
        <p:spPr/>
        <p:txBody>
          <a:bodyPr/>
          <a:lstStyle/>
          <a:p>
            <a:fld id="{B5C67937-D10B-4F1B-BCB2-26B69D4AE1E2}" type="slidenum">
              <a:rPr kumimoji="1" lang="ja-JP" altLang="en-US" smtClean="0"/>
              <a:pPr/>
              <a:t>12</a:t>
            </a:fld>
            <a:endParaRPr kumimoji="1" lang="ja-JP" altLang="en-US" dirty="0"/>
          </a:p>
        </p:txBody>
      </p:sp>
    </p:spTree>
    <p:extLst>
      <p:ext uri="{BB962C8B-B14F-4D97-AF65-F5344CB8AC3E}">
        <p14:creationId xmlns:p14="http://schemas.microsoft.com/office/powerpoint/2010/main" val="2237730985"/>
      </p:ext>
    </p:extLst>
  </p:cSld>
  <p:clrMapOvr>
    <a:masterClrMapping/>
  </p:clrMapOvr>
</p:sld>
</file>

<file path=ppt/theme/theme1.xml><?xml version="1.0" encoding="utf-8"?>
<a:theme xmlns:a="http://schemas.openxmlformats.org/drawingml/2006/main" name="Theme_Lab">
  <a:themeElements>
    <a:clrScheme name="ユーザー定義 1">
      <a:dk1>
        <a:srgbClr val="000000"/>
      </a:dk1>
      <a:lt1>
        <a:srgbClr val="FFFAF5"/>
      </a:lt1>
      <a:dk2>
        <a:srgbClr val="000000"/>
      </a:dk2>
      <a:lt2>
        <a:srgbClr val="808080"/>
      </a:lt2>
      <a:accent1>
        <a:srgbClr val="FF1D38"/>
      </a:accent1>
      <a:accent2>
        <a:srgbClr val="333399"/>
      </a:accent2>
      <a:accent3>
        <a:srgbClr val="34ADFD"/>
      </a:accent3>
      <a:accent4>
        <a:srgbClr val="FFFF00"/>
      </a:accent4>
      <a:accent5>
        <a:srgbClr val="00B050"/>
      </a:accent5>
      <a:accent6>
        <a:srgbClr val="F93DD5"/>
      </a:accent6>
      <a:hlink>
        <a:srgbClr val="009999"/>
      </a:hlink>
      <a:folHlink>
        <a:srgbClr val="99CC00"/>
      </a:folHlink>
    </a:clrScheme>
    <a:fontScheme name="ユーザー定義 1">
      <a:majorFont>
        <a:latin typeface="Arial"/>
        <a:ea typeface="ＭＳ Ｐゴシック"/>
        <a:cs typeface=""/>
      </a:majorFont>
      <a:minorFont>
        <a:latin typeface="Arial"/>
        <a:ea typeface="ＭＳ P 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76200">
          <a:solidFill>
            <a:schemeClr val="tx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ln w="19050">
          <a:noFill/>
        </a:ln>
      </a:spPr>
      <a:bodyPr wrap="square" rtlCol="0">
        <a:spAutoFit/>
      </a:bodyPr>
      <a:lstStyle>
        <a:defPPr algn="ctr">
          <a:defRPr kumimoji="1" sz="2800" dirty="0" smtClean="0"/>
        </a:defPPr>
      </a:lstStyle>
    </a:txDef>
  </a:objectDefaults>
  <a:extraClrSchemeLst>
    <a:extraClrScheme>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_Lab" id="{3E27F71A-09F3-40FE-8C2D-54B13A3AB99C}" vid="{9AAC496F-98CF-44D0-8969-8E95277F1232}"/>
    </a:ext>
  </a:extLst>
</a:theme>
</file>

<file path=docProps/app.xml><?xml version="1.0" encoding="utf-8"?>
<Properties xmlns="http://schemas.openxmlformats.org/officeDocument/2006/extended-properties" xmlns:vt="http://schemas.openxmlformats.org/officeDocument/2006/docPropsVTypes">
  <Template>Theme_lab</Template>
  <TotalTime>49</TotalTime>
  <Words>897</Words>
  <Application>Microsoft Office PowerPoint</Application>
  <PresentationFormat>画面に合わせる (4:3)</PresentationFormat>
  <Paragraphs>60</Paragraphs>
  <Slides>12</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12</vt:i4>
      </vt:variant>
    </vt:vector>
  </HeadingPairs>
  <TitlesOfParts>
    <vt:vector size="17" baseType="lpstr">
      <vt:lpstr>ＭＳ P ゴシック</vt:lpstr>
      <vt:lpstr>ＭＳ Ｐゴシック</vt:lpstr>
      <vt:lpstr>Arial</vt:lpstr>
      <vt:lpstr>Times New Roman</vt:lpstr>
      <vt:lpstr>Theme_Lab</vt:lpstr>
      <vt:lpstr>CEC2020査読コメントについて</vt:lpstr>
      <vt:lpstr>論文概要</vt:lpstr>
      <vt:lpstr>査読コメント</vt:lpstr>
      <vt:lpstr>査読コメント</vt:lpstr>
      <vt:lpstr>査読コメント</vt:lpstr>
      <vt:lpstr>査読コメント原文(NO.1)</vt:lpstr>
      <vt:lpstr>査読コメント原文(NO.1)</vt:lpstr>
      <vt:lpstr>査読コメント原文(NO.2)</vt:lpstr>
      <vt:lpstr>査読コメント原文(NO.2)</vt:lpstr>
      <vt:lpstr>査読コメント原文(NO.3)</vt:lpstr>
      <vt:lpstr>査読コメント原文(NO.3)</vt:lpstr>
      <vt:lpstr>査読コメント原文(NO.3)</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CEC2020査読コメントについて</dc:title>
  <dc:creator>瓜田 俊貴</dc:creator>
  <cp:lastModifiedBy>瓜田 俊貴</cp:lastModifiedBy>
  <cp:revision>7</cp:revision>
  <dcterms:created xsi:type="dcterms:W3CDTF">2020-03-24T08:30:18Z</dcterms:created>
  <dcterms:modified xsi:type="dcterms:W3CDTF">2020-03-24T09:20:02Z</dcterms:modified>
</cp:coreProperties>
</file>