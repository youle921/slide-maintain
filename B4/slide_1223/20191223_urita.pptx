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56" r:id="rId2"/>
    <p:sldId id="262" r:id="rId3"/>
    <p:sldId id="257" r:id="rId4"/>
    <p:sldId id="259" r:id="rId5"/>
    <p:sldId id="258" r:id="rId6"/>
    <p:sldId id="260" r:id="rId7"/>
    <p:sldId id="261" r:id="rId8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152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kumimoji="1" lang="ja-JP" altLang="en-US" dirty="0" smtClean="0"/>
              <a:t>論文情報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28600" y="1323977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23977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多目的マルチタスク</a:t>
            </a:r>
            <a:r>
              <a:rPr lang="ja-JP" altLang="en-US" dirty="0" smtClean="0"/>
              <a:t>最適化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ナップサック</a:t>
            </a:r>
            <a:r>
              <a:rPr kumimoji="1" lang="ja-JP" altLang="en-US" dirty="0" smtClean="0"/>
              <a:t>問題の提案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40880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タイトル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提案する問題</a:t>
            </a:r>
            <a:endParaRPr lang="ja-JP" altLang="en-US" dirty="0" smtClean="0"/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下記のパラメータを</a:t>
            </a:r>
            <a:r>
              <a:rPr lang="ja-JP" altLang="en-US" dirty="0" smtClean="0"/>
              <a:t>用いてナップサック</a:t>
            </a:r>
            <a:r>
              <a:rPr lang="ja-JP" altLang="en-US" dirty="0"/>
              <a:t>問題</a:t>
            </a:r>
            <a:r>
              <a:rPr lang="ja-JP" altLang="en-US" dirty="0" smtClean="0"/>
              <a:t>を作成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6147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fld id="{B3E09C8F-164A-4527-82A3-08940CF398CC}" type="slidenum">
              <a:rPr kumimoji="0" lang="en-US" altLang="ja-JP" smtClean="0">
                <a:solidFill>
                  <a:srgbClr val="FFFF00"/>
                </a:solidFill>
              </a:rPr>
              <a:pPr/>
              <a:t>2</a:t>
            </a:fld>
            <a:endParaRPr kumimoji="0" lang="en-US" altLang="ja-JP" smtClean="0">
              <a:solidFill>
                <a:srgbClr val="FFFF00"/>
              </a:solidFill>
            </a:endParaRPr>
          </a:p>
        </p:txBody>
      </p:sp>
      <p:sp>
        <p:nvSpPr>
          <p:cNvPr id="6148" name="テキスト ボックス 3"/>
          <p:cNvSpPr txBox="1">
            <a:spLocks noChangeArrowheads="1"/>
          </p:cNvSpPr>
          <p:nvPr/>
        </p:nvSpPr>
        <p:spPr bwMode="auto">
          <a:xfrm>
            <a:off x="342900" y="5689600"/>
            <a:ext cx="8458200" cy="101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just"/>
            <a:r>
              <a:rPr lang="en-US" altLang="ja-JP" sz="2000"/>
              <a:t>H. Ishibuchi, N. Akedo, and Y. Nojima, “Behavior of multiobjective evolutionary algorithm on many-objective knapsack problems,” </a:t>
            </a:r>
            <a:r>
              <a:rPr lang="en-US" altLang="ja-JP" sz="2000" i="1"/>
              <a:t>IEEE Transactions on Evolutionary Computation, </a:t>
            </a:r>
            <a:r>
              <a:rPr lang="en-US" altLang="ja-JP" sz="2000"/>
              <a:t>vol. 19, no. 2, Apr. 2015.</a:t>
            </a:r>
            <a:endParaRPr lang="ja-JP" altLang="en-US" sz="2000"/>
          </a:p>
        </p:txBody>
      </p:sp>
      <p:sp>
        <p:nvSpPr>
          <p:cNvPr id="6149" name="テキスト ボックス 1"/>
          <p:cNvSpPr txBox="1">
            <a:spLocks noChangeArrowheads="1"/>
          </p:cNvSpPr>
          <p:nvPr/>
        </p:nvSpPr>
        <p:spPr bwMode="auto">
          <a:xfrm>
            <a:off x="342900" y="2036616"/>
            <a:ext cx="710438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r>
              <a:rPr lang="ja-JP" altLang="en-US" sz="2800" dirty="0" smtClean="0"/>
              <a:t>重さ </a:t>
            </a:r>
            <a:r>
              <a:rPr lang="en-US" altLang="ja-JP" sz="2800" dirty="0" smtClean="0"/>
              <a:t>: </a:t>
            </a:r>
            <a:r>
              <a:rPr lang="en-US" altLang="ja-JP" sz="2800" dirty="0"/>
              <a:t>[10, 100]</a:t>
            </a:r>
            <a:r>
              <a:rPr lang="ja-JP" altLang="en-US" sz="2800" dirty="0" err="1"/>
              <a:t>の整</a:t>
            </a:r>
            <a:r>
              <a:rPr lang="ja-JP" altLang="en-US" sz="2800" dirty="0"/>
              <a:t>数値</a:t>
            </a:r>
            <a:endParaRPr lang="en-US" altLang="ja-JP" sz="2800" dirty="0"/>
          </a:p>
          <a:p>
            <a:r>
              <a:rPr lang="ja-JP" altLang="en-US" sz="2800" dirty="0" smtClean="0"/>
              <a:t>価値 </a:t>
            </a:r>
            <a:r>
              <a:rPr lang="en-US" altLang="ja-JP" sz="2800" dirty="0" smtClean="0"/>
              <a:t>:  </a:t>
            </a:r>
            <a:r>
              <a:rPr lang="en-US" altLang="ja-JP" sz="2800" dirty="0"/>
              <a:t>[10, 100]</a:t>
            </a:r>
            <a:r>
              <a:rPr lang="ja-JP" altLang="en-US" sz="2800" dirty="0" err="1"/>
              <a:t>の整</a:t>
            </a:r>
            <a:r>
              <a:rPr lang="ja-JP" altLang="en-US" sz="2800" dirty="0"/>
              <a:t>数値</a:t>
            </a:r>
            <a:endParaRPr lang="en-US" altLang="ja-JP" sz="2800" dirty="0"/>
          </a:p>
          <a:p>
            <a:r>
              <a:rPr lang="ja-JP" altLang="en-US" sz="2800" dirty="0"/>
              <a:t>ナップサック許容量</a:t>
            </a:r>
            <a:r>
              <a:rPr lang="en-US" altLang="ja-JP" sz="2800" dirty="0">
                <a:sym typeface="Wingdings" panose="05000000000000000000" pitchFamily="2" charset="2"/>
              </a:rPr>
              <a:t>: (</a:t>
            </a:r>
            <a:r>
              <a:rPr lang="ja-JP" altLang="en-US" sz="2800" dirty="0">
                <a:sym typeface="Wingdings" panose="05000000000000000000" pitchFamily="2" charset="2"/>
              </a:rPr>
              <a:t>アイテムの総重量</a:t>
            </a:r>
            <a:r>
              <a:rPr lang="en-US" altLang="ja-JP" sz="2800" dirty="0">
                <a:sym typeface="Wingdings" panose="05000000000000000000" pitchFamily="2" charset="2"/>
              </a:rPr>
              <a:t>)/2</a:t>
            </a:r>
            <a:endParaRPr lang="en-US" altLang="ja-JP" sz="2800" dirty="0"/>
          </a:p>
        </p:txBody>
      </p:sp>
      <p:grpSp>
        <p:nvGrpSpPr>
          <p:cNvPr id="3" name="グループ化 2"/>
          <p:cNvGrpSpPr/>
          <p:nvPr/>
        </p:nvGrpSpPr>
        <p:grpSpPr>
          <a:xfrm>
            <a:off x="2606675" y="3911737"/>
            <a:ext cx="3930650" cy="1590675"/>
            <a:chOff x="412750" y="3600450"/>
            <a:chExt cx="3930650" cy="1590675"/>
          </a:xfrm>
        </p:grpSpPr>
        <p:pic>
          <p:nvPicPr>
            <p:cNvPr id="6152" name="Picture 6" descr="ãããããµãã¯åé¡ãã®ç»åæ¤ç´¢çµæ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013" y="3678238"/>
              <a:ext cx="1744662" cy="151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53" name="Picture 6" descr="ãããããµãã¯åé¡ãã®ç»åæ¤ç´¢çµæ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6188" y="3775075"/>
              <a:ext cx="1522412" cy="1319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56" name="テキスト ボックス 13"/>
            <p:cNvSpPr txBox="1">
              <a:spLocks noChangeArrowheads="1"/>
            </p:cNvSpPr>
            <p:nvPr/>
          </p:nvSpPr>
          <p:spPr bwMode="auto">
            <a:xfrm>
              <a:off x="412750" y="3600450"/>
              <a:ext cx="3930650" cy="15906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33759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</a:t>
            </a:r>
            <a:r>
              <a:rPr lang="ja-JP" altLang="en-US" dirty="0" smtClean="0"/>
              <a:t>する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アイテム集合には</a:t>
            </a:r>
            <a:r>
              <a:rPr lang="ja-JP" altLang="en-US" dirty="0"/>
              <a:t>変化</a:t>
            </a:r>
            <a:r>
              <a:rPr lang="ja-JP" altLang="en-US" dirty="0" smtClean="0"/>
              <a:t>を加えず，制約のみを変化させたタスクを作成する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テキスト ボックス 1"/>
              <p:cNvSpPr txBox="1"/>
              <p:nvPr/>
            </p:nvSpPr>
            <p:spPr>
              <a:xfrm>
                <a:off x="3283961" y="2560320"/>
                <a:ext cx="2079607" cy="12547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 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ij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&lt;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j</m:t>
                          </m:r>
                        </m:e>
                      </m:nary>
                    </m:oMath>
                  </m:oMathPara>
                </a14:m>
                <a:endParaRPr kumimoji="1" lang="ja-JP" altLang="en-US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テキスト ボックス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3961" y="2560320"/>
                <a:ext cx="2079607" cy="12547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テキスト ボックス 9"/>
              <p:cNvSpPr txBox="1"/>
              <p:nvPr/>
            </p:nvSpPr>
            <p:spPr>
              <a:xfrm>
                <a:off x="3140492" y="4719930"/>
                <a:ext cx="2366545" cy="12547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 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ij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&lt;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solidFill>
                                <a:srgbClr val="FF0000"/>
                              </a:solidFill>
                              <a:latin typeface="Symbol" panose="05050102010706020507" pitchFamily="18" charset="2"/>
                              <a:cs typeface="Times New Roman" panose="020206030504050203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j</m:t>
                          </m:r>
                        </m:e>
                      </m:nary>
                    </m:oMath>
                  </m:oMathPara>
                </a14:m>
                <a:endParaRPr kumimoji="1" lang="ja-JP" altLang="en-US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テキスト ボックス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492" y="4719930"/>
                <a:ext cx="2366545" cy="12547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/>
          <p:cNvGrpSpPr/>
          <p:nvPr/>
        </p:nvGrpSpPr>
        <p:grpSpPr>
          <a:xfrm>
            <a:off x="5896540" y="4408155"/>
            <a:ext cx="3131401" cy="2126740"/>
            <a:chOff x="6752494" y="5188013"/>
            <a:chExt cx="3131401" cy="1154036"/>
          </a:xfrm>
        </p:grpSpPr>
        <p:sp>
          <p:nvSpPr>
            <p:cNvPr id="3" name="テキスト ボックス 2"/>
            <p:cNvSpPr txBox="1"/>
            <p:nvPr/>
          </p:nvSpPr>
          <p:spPr>
            <a:xfrm>
              <a:off x="6752494" y="5188013"/>
              <a:ext cx="2990724" cy="450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kumimoji="1" lang="en-US" altLang="ja-JP" sz="2400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ij</a:t>
              </a:r>
              <a:r>
                <a:rPr lang="ja-JP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タスク</a:t>
              </a:r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kumimoji="1" lang="ja-JP" altLang="en-US" sz="2400" dirty="0" smtClean="0"/>
                <a:t>における</a:t>
              </a:r>
              <a:endParaRPr lang="en-US" altLang="ja-JP" sz="2400" dirty="0"/>
            </a:p>
            <a:p>
              <a:pPr indent="536575"/>
              <a:r>
                <a:rPr kumimoji="1" lang="ja-JP" altLang="en-US" sz="2400" dirty="0" smtClean="0"/>
                <a:t>アイテム</a:t>
              </a:r>
              <a:r>
                <a:rPr kumimoji="1"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ja-JP" altLang="en-US" sz="2400" dirty="0" smtClean="0"/>
                <a:t>の重み</a:t>
              </a:r>
            </a:p>
          </p:txBody>
        </p:sp>
        <p:sp>
          <p:nvSpPr>
            <p:cNvPr id="9" name="テキスト ボックス 8"/>
            <p:cNvSpPr txBox="1"/>
            <p:nvPr/>
          </p:nvSpPr>
          <p:spPr>
            <a:xfrm>
              <a:off x="6752494" y="5639774"/>
              <a:ext cx="3131401" cy="450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kumimoji="1" lang="en-US" altLang="ja-JP" sz="2400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ja-JP" alt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タスク</a:t>
              </a:r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kumimoji="1" lang="ja-JP" alt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における</a:t>
              </a:r>
              <a:endPara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450850"/>
              <a:r>
                <a:rPr kumimoji="1" lang="ja-JP" altLang="en-US" sz="2400" dirty="0" smtClean="0"/>
                <a:t>ナップサックの容量</a:t>
              </a:r>
            </a:p>
          </p:txBody>
        </p:sp>
        <p:sp>
          <p:nvSpPr>
            <p:cNvPr id="11" name="テキスト ボックス 10"/>
            <p:cNvSpPr txBox="1"/>
            <p:nvPr/>
          </p:nvSpPr>
          <p:spPr>
            <a:xfrm>
              <a:off x="6752494" y="6091535"/>
              <a:ext cx="1900214" cy="2505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縮小率</a:t>
              </a:r>
            </a:p>
          </p:txBody>
        </p:sp>
      </p:grpSp>
      <p:sp>
        <p:nvSpPr>
          <p:cNvPr id="4" name="下矢印 3"/>
          <p:cNvSpPr/>
          <p:nvPr/>
        </p:nvSpPr>
        <p:spPr>
          <a:xfrm>
            <a:off x="4112749" y="4046332"/>
            <a:ext cx="422031" cy="69551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2207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予備実験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アイテム数が少ない場合で，</a:t>
            </a:r>
            <a:r>
              <a:rPr kumimoji="1" lang="en-US" altLang="ja-JP" dirty="0" smtClean="0"/>
              <a:t>PF</a:t>
            </a:r>
            <a:r>
              <a:rPr kumimoji="1" lang="ja-JP" altLang="en-US" dirty="0" smtClean="0"/>
              <a:t>がどのように変化するかを調査</a:t>
            </a:r>
            <a:endParaRPr kumimoji="1" lang="en-US" altLang="ja-JP" dirty="0" smtClean="0"/>
          </a:p>
          <a:p>
            <a:pPr algn="l"/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目的数：</a:t>
            </a:r>
            <a:r>
              <a:rPr lang="en-US" altLang="ja-JP" dirty="0" smtClean="0"/>
              <a:t>2</a:t>
            </a:r>
            <a:br>
              <a:rPr lang="en-US" altLang="ja-JP" dirty="0" smtClean="0"/>
            </a:br>
            <a:r>
              <a:rPr lang="ja-JP" altLang="en-US" dirty="0" smtClean="0"/>
              <a:t>アイテム数：</a:t>
            </a:r>
            <a:r>
              <a:rPr lang="en-US" altLang="ja-JP" dirty="0" smtClean="0"/>
              <a:t>15</a:t>
            </a:r>
            <a:br>
              <a:rPr lang="en-US" altLang="ja-JP" dirty="0" smtClean="0"/>
            </a:br>
            <a:r>
              <a:rPr lang="ja-JP" altLang="en-US" dirty="0" smtClean="0"/>
              <a:t>縮小率：</a:t>
            </a:r>
            <a:r>
              <a:rPr lang="en-US" altLang="ja-JP" dirty="0" smtClean="0"/>
              <a:t>[0.6, 0.8, 1.0, 1.2, 1.4]</a:t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修復操作は，</a:t>
            </a:r>
            <a:r>
              <a:rPr lang="en-US" altLang="ja-JP" dirty="0" smtClean="0"/>
              <a:t>Greedy</a:t>
            </a:r>
            <a:r>
              <a:rPr lang="ja-JP" altLang="en-US" dirty="0" smtClean="0"/>
              <a:t> </a:t>
            </a:r>
            <a:r>
              <a:rPr lang="en-US" altLang="ja-JP" dirty="0" smtClean="0"/>
              <a:t>Repair</a:t>
            </a:r>
            <a:r>
              <a:rPr lang="ja-JP" altLang="en-US" dirty="0" smtClean="0"/>
              <a:t>を使用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2771339"/>
            <a:ext cx="189913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実験設定</a:t>
            </a:r>
          </a:p>
        </p:txBody>
      </p:sp>
    </p:spTree>
    <p:extLst>
      <p:ext uri="{BB962C8B-B14F-4D97-AF65-F5344CB8AC3E}">
        <p14:creationId xmlns:p14="http://schemas.microsoft.com/office/powerpoint/2010/main" val="291125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予備</a:t>
            </a:r>
            <a:r>
              <a:rPr lang="ja-JP" altLang="en-US" dirty="0"/>
              <a:t>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各縮小率における</a:t>
            </a:r>
            <a:r>
              <a:rPr kumimoji="1" lang="en-US" altLang="ja-JP" dirty="0" smtClean="0"/>
              <a:t>PF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69" y="2023897"/>
            <a:ext cx="7728062" cy="4359506"/>
          </a:xfrm>
          <a:prstGeom prst="rect">
            <a:avLst/>
          </a:prstGeom>
        </p:spPr>
      </p:pic>
      <p:sp>
        <p:nvSpPr>
          <p:cNvPr id="13" name="テキスト ボックス 12"/>
          <p:cNvSpPr txBox="1"/>
          <p:nvPr/>
        </p:nvSpPr>
        <p:spPr>
          <a:xfrm>
            <a:off x="7277468" y="2182363"/>
            <a:ext cx="429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i="1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ja-JP" altLang="en-US" sz="2400" dirty="0" smtClean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7277468" y="2491050"/>
            <a:ext cx="429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i="1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ja-JP" altLang="en-US" sz="2400" dirty="0" smtClean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7277468" y="2799737"/>
            <a:ext cx="429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i="1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ja-JP" altLang="en-US" sz="2400" dirty="0" smtClean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7277468" y="3108424"/>
            <a:ext cx="429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i="1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ja-JP" altLang="en-US" sz="2400" dirty="0" smtClean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7277468" y="3417110"/>
            <a:ext cx="429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i="1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ja-JP" altLang="en-US" sz="2400" dirty="0" smtClean="0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283968" y="6237469"/>
            <a:ext cx="1474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ja-JP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ja-JP" altLang="en-US" sz="2400" dirty="0" smtClean="0"/>
          </a:p>
        </p:txBody>
      </p:sp>
      <p:sp>
        <p:nvSpPr>
          <p:cNvPr id="19" name="テキスト ボックス 18"/>
          <p:cNvSpPr txBox="1"/>
          <p:nvPr/>
        </p:nvSpPr>
        <p:spPr>
          <a:xfrm rot="16200000">
            <a:off x="-169035" y="3683914"/>
            <a:ext cx="1474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ja-JP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ja-JP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036826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予備</a:t>
            </a:r>
            <a:r>
              <a:rPr lang="ja-JP" altLang="en-US" dirty="0"/>
              <a:t>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sz="3000" dirty="0" smtClean="0"/>
              <a:t>元タスクでの，異なるタスクのパレート最適解の評価</a:t>
            </a:r>
            <a:endParaRPr kumimoji="1" lang="ja-JP" altLang="en-US" sz="30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755" y="2023897"/>
            <a:ext cx="7728228" cy="4359600"/>
          </a:xfrm>
          <a:prstGeom prst="rect">
            <a:avLst/>
          </a:prstGeom>
        </p:spPr>
      </p:pic>
      <p:sp>
        <p:nvSpPr>
          <p:cNvPr id="11" name="テキスト ボックス 10"/>
          <p:cNvSpPr txBox="1"/>
          <p:nvPr/>
        </p:nvSpPr>
        <p:spPr>
          <a:xfrm>
            <a:off x="7277468" y="2182363"/>
            <a:ext cx="429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i="1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ja-JP" altLang="en-US" sz="2400" dirty="0" smtClean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7277468" y="2491050"/>
            <a:ext cx="429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i="1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ja-JP" altLang="en-US" sz="2400" dirty="0" smtClean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7277468" y="2799737"/>
            <a:ext cx="429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i="1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ja-JP" altLang="en-US" sz="2400" dirty="0" smtClean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7277468" y="3108424"/>
            <a:ext cx="429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i="1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ja-JP" altLang="en-US" sz="2400" dirty="0" smtClean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7277468" y="3417110"/>
            <a:ext cx="429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i="1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ja-JP" altLang="en-US" sz="2400" dirty="0" smtClean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3283968" y="6237469"/>
            <a:ext cx="1474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ja-JP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ja-JP" altLang="en-US" sz="2400" dirty="0" smtClean="0"/>
          </a:p>
        </p:txBody>
      </p:sp>
      <p:sp>
        <p:nvSpPr>
          <p:cNvPr id="17" name="テキスト ボックス 16"/>
          <p:cNvSpPr txBox="1"/>
          <p:nvPr/>
        </p:nvSpPr>
        <p:spPr>
          <a:xfrm rot="16200000">
            <a:off x="-169035" y="3683914"/>
            <a:ext cx="1474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ja-JP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ja-JP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896406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4294967295"/>
          </p:nvPr>
        </p:nvSpPr>
        <p:spPr>
          <a:xfrm>
            <a:off x="7010400" y="333375"/>
            <a:ext cx="2133600" cy="476250"/>
          </a:xfrm>
          <a:prstGeom prst="rect">
            <a:avLst/>
          </a:prstGeom>
        </p:spPr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83606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240EDE69-6004-490A-8851-241177012245}" vid="{3655978B-9A6C-48D2-A3CA-A8F52A96FD4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115</TotalTime>
  <Words>193</Words>
  <Application>Microsoft Office PowerPoint</Application>
  <PresentationFormat>画面に合わせる (4:3)</PresentationFormat>
  <Paragraphs>44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5" baseType="lpstr">
      <vt:lpstr>ＭＳ P ゴシック</vt:lpstr>
      <vt:lpstr>ＭＳ Ｐゴシック</vt:lpstr>
      <vt:lpstr>Arial</vt:lpstr>
      <vt:lpstr>Cambria Math</vt:lpstr>
      <vt:lpstr>Symbol</vt:lpstr>
      <vt:lpstr>Times New Roman</vt:lpstr>
      <vt:lpstr>Wingdings</vt:lpstr>
      <vt:lpstr>Theme_Lab</vt:lpstr>
      <vt:lpstr>多目的マルチタスク最適化 ナップサック問題の提案</vt:lpstr>
      <vt:lpstr>提案する問題</vt:lpstr>
      <vt:lpstr>提案する問題</vt:lpstr>
      <vt:lpstr>予備実験</vt:lpstr>
      <vt:lpstr>予備実験</vt:lpstr>
      <vt:lpstr>予備実験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Multitask</dc:title>
  <dc:creator>瓜田 俊貴</dc:creator>
  <cp:lastModifiedBy>俊貴 瓜田</cp:lastModifiedBy>
  <cp:revision>13</cp:revision>
  <dcterms:created xsi:type="dcterms:W3CDTF">2019-12-22T18:07:24Z</dcterms:created>
  <dcterms:modified xsi:type="dcterms:W3CDTF">2019-12-25T05:18:11Z</dcterms:modified>
</cp:coreProperties>
</file>