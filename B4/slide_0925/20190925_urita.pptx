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2" r:id="rId2"/>
    <p:sldMasterId id="2147483689" r:id="rId3"/>
    <p:sldMasterId id="2147483696" r:id="rId4"/>
    <p:sldMasterId id="2147483703" r:id="rId5"/>
    <p:sldMasterId id="2147483710" r:id="rId6"/>
    <p:sldMasterId id="2147483719" r:id="rId7"/>
  </p:sldMasterIdLst>
  <p:notesMasterIdLst>
    <p:notesMasterId r:id="rId19"/>
  </p:notesMasterIdLst>
  <p:sldIdLst>
    <p:sldId id="256" r:id="rId8"/>
    <p:sldId id="261" r:id="rId9"/>
    <p:sldId id="286" r:id="rId10"/>
    <p:sldId id="300" r:id="rId11"/>
    <p:sldId id="301" r:id="rId12"/>
    <p:sldId id="302" r:id="rId13"/>
    <p:sldId id="278" r:id="rId14"/>
    <p:sldId id="289" r:id="rId15"/>
    <p:sldId id="303" r:id="rId16"/>
    <p:sldId id="304" r:id="rId17"/>
    <p:sldId id="259" r:id="rId1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1176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research_b4\rf_ga\result_change_init_pop\&#32080;&#26524;&#12464;&#12521;&#12501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research_b4\rf_ga\result_change_init_pop\&#32080;&#26524;&#12464;&#12521;&#12501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23186904268545"/>
          <c:y val="0.26635730533683283"/>
          <c:w val="0.70594618232709716"/>
          <c:h val="0.64446649168853898"/>
        </c:manualLayout>
      </c:layout>
      <c:barChart>
        <c:barDir val="col"/>
        <c:grouping val="clustered"/>
        <c:varyColors val="0"/>
        <c:ser>
          <c:idx val="0"/>
          <c:order val="0"/>
          <c:tx>
            <c:v>従来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65428729753242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1.2883823686506819E-2"/>
                  <c:y val="-2.353417746289379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1.0233918128655024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1.273754327736415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5687134502923974E-2"/>
                      <c:h val="7.024104676602945E-2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2.096124091431005E-2"/>
                  <c:y val="-2.1572746797440373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1.0233918128655078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(OOB!$A$1,OOB!$D$1,OOB!$G$1,OOB!$J$1,OOB!$M$1)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(OOB!$A$23,OOB!$D$23,OOB!$G$23,OOB!$J$23,OOB!$M$23)</c:f>
              <c:numCache>
                <c:formatCode>General</c:formatCode>
                <c:ptCount val="5"/>
                <c:pt idx="0">
                  <c:v>77.207599999999985</c:v>
                </c:pt>
                <c:pt idx="1">
                  <c:v>80.740600000000001</c:v>
                </c:pt>
                <c:pt idx="2">
                  <c:v>74.095300000000009</c:v>
                </c:pt>
                <c:pt idx="3">
                  <c:v>74.056000000000012</c:v>
                </c:pt>
                <c:pt idx="4">
                  <c:v>91.437399999999997</c:v>
                </c:pt>
              </c:numCache>
            </c:numRef>
          </c:val>
        </c:ser>
        <c:ser>
          <c:idx val="2"/>
          <c:order val="1"/>
          <c:tx>
            <c:v>新規1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0437180806875331E-17"/>
                  <c:y val="-2.824101295547203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1147681944871583E-3"/>
                  <c:y val="-4.000810168691872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8.1748723227501325E-17"/>
                  <c:y val="-4.706835492578677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1147681944871175E-3"/>
                  <c:y val="-4.23615194332081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2.2295363889744801E-3"/>
                  <c:y val="-1.647392422402537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(OOB!$A$1,OOB!$D$1,OOB!$G$1,OOB!$J$1,OOB!$M$1)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(OOB!$B$23,OOB!$E$23,OOB!$H$23,OOB!$K$23,OOB!$N$23)</c:f>
              <c:numCache>
                <c:formatCode>General</c:formatCode>
                <c:ptCount val="5"/>
                <c:pt idx="0">
                  <c:v>77.618900000000011</c:v>
                </c:pt>
                <c:pt idx="1">
                  <c:v>80.925749999999994</c:v>
                </c:pt>
                <c:pt idx="2">
                  <c:v>74.940149999999988</c:v>
                </c:pt>
                <c:pt idx="3">
                  <c:v>74.592500000000001</c:v>
                </c:pt>
                <c:pt idx="4">
                  <c:v>91.398399999999995</c:v>
                </c:pt>
              </c:numCache>
            </c:numRef>
          </c:val>
        </c:ser>
        <c:ser>
          <c:idx val="1"/>
          <c:order val="2"/>
          <c:tx>
            <c:v>新規2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7719090352664387E-3"/>
                  <c:y val="1.1767088731446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6081871345029239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1.3084745292584079E-2"/>
                  <c:y val="-4.314549359488074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1001445424240835E-2"/>
                  <c:y val="2.353417746289293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1.657528639667683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8.77192982456140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(OOB!$A$1,OOB!$D$1,OOB!$G$1,OOB!$J$1,OOB!$M$1)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(OOB!$C$23,OOB!$F$23,OOB!$I$23,OOB!$L$23,OOB!$O$23)</c:f>
              <c:numCache>
                <c:formatCode>General</c:formatCode>
                <c:ptCount val="5"/>
                <c:pt idx="0">
                  <c:v>77.153500000000008</c:v>
                </c:pt>
                <c:pt idx="1">
                  <c:v>82.222049999999996</c:v>
                </c:pt>
                <c:pt idx="2">
                  <c:v>75.008499999999984</c:v>
                </c:pt>
                <c:pt idx="3">
                  <c:v>74.831250000000011</c:v>
                </c:pt>
                <c:pt idx="4">
                  <c:v>91.507049999999992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0414448"/>
        <c:axId val="412556592"/>
      </c:barChart>
      <c:catAx>
        <c:axId val="47041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12556592"/>
        <c:crosses val="autoZero"/>
        <c:auto val="1"/>
        <c:lblAlgn val="ctr"/>
        <c:lblOffset val="100"/>
        <c:noMultiLvlLbl val="0"/>
      </c:catAx>
      <c:valAx>
        <c:axId val="412556592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2400"/>
                  <a:t>Accuracy[%]</a:t>
                </a:r>
              </a:p>
            </c:rich>
          </c:tx>
          <c:layout>
            <c:manualLayout>
              <c:xMode val="edge"/>
              <c:yMode val="edge"/>
              <c:x val="3.0213114712368299E-2"/>
              <c:y val="0.3531377451700733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70414448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17570142399787"/>
          <c:y val="2.011881014873141E-2"/>
          <c:w val="0.10315011547506285"/>
          <c:h val="0.200456692913385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23186904268545"/>
          <c:y val="0.26635730533683283"/>
          <c:w val="0.70594618232709716"/>
          <c:h val="0.64446649168853898"/>
        </c:manualLayout>
      </c:layout>
      <c:barChart>
        <c:barDir val="col"/>
        <c:grouping val="clustered"/>
        <c:varyColors val="0"/>
        <c:ser>
          <c:idx val="0"/>
          <c:order val="0"/>
          <c:tx>
            <c:v>従来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65428729753242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1.2883823686506819E-2"/>
                  <c:y val="-2.353417746289379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1.0233918128655024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1.273754327736415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5687134502923974E-2"/>
                      <c:h val="7.024104676602945E-2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2.096124091431005E-2"/>
                  <c:y val="-2.1572746797440373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1.0233918128655078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('OOB (2)'!$A$1,'OOB (2)'!$D$1,'OOB (2)'!$G$1,'OOB (2)'!$J$1,'OOB (2)'!$M$1)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('OOB (2)'!$A$23,'OOB (2)'!$D$23,'OOB (2)'!$G$23,'OOB (2)'!$J$23,'OOB (2)'!$M$23)</c:f>
              <c:numCache>
                <c:formatCode>General</c:formatCode>
                <c:ptCount val="5"/>
                <c:pt idx="0">
                  <c:v>76.212050000000005</c:v>
                </c:pt>
                <c:pt idx="1">
                  <c:v>81.296199999999999</c:v>
                </c:pt>
                <c:pt idx="2">
                  <c:v>74.943550000000002</c:v>
                </c:pt>
                <c:pt idx="3">
                  <c:v>74</c:v>
                </c:pt>
                <c:pt idx="4">
                  <c:v>90.753700000000009</c:v>
                </c:pt>
              </c:numCache>
            </c:numRef>
          </c:val>
        </c:ser>
        <c:ser>
          <c:idx val="2"/>
          <c:order val="1"/>
          <c:tx>
            <c:v>新規1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0437180806875331E-17"/>
                  <c:y val="-2.824101295547203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1147681944871583E-3"/>
                  <c:y val="-4.000810168691872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8.1748723227501325E-17"/>
                  <c:y val="-4.706835492578677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1147681944871175E-3"/>
                  <c:y val="-4.23615194332081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2.2295363889744801E-3"/>
                  <c:y val="-1.647392422402537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('OOB (2)'!$A$1,'OOB (2)'!$D$1,'OOB (2)'!$G$1,'OOB (2)'!$J$1,'OOB (2)'!$M$1)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('OOB (2)'!$B$23,'OOB (2)'!$E$23,'OOB (2)'!$H$23,'OOB (2)'!$K$23,'OOB (2)'!$N$23)</c:f>
              <c:numCache>
                <c:formatCode>General</c:formatCode>
                <c:ptCount val="5"/>
                <c:pt idx="0">
                  <c:v>76.47175</c:v>
                </c:pt>
                <c:pt idx="1">
                  <c:v>82.036799999999999</c:v>
                </c:pt>
                <c:pt idx="2">
                  <c:v>74.618149999999986</c:v>
                </c:pt>
                <c:pt idx="3">
                  <c:v>73.7654</c:v>
                </c:pt>
                <c:pt idx="4">
                  <c:v>90.924399999999991</c:v>
                </c:pt>
              </c:numCache>
            </c:numRef>
          </c:val>
        </c:ser>
        <c:ser>
          <c:idx val="1"/>
          <c:order val="2"/>
          <c:tx>
            <c:v>新規2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7719090352664387E-3"/>
                  <c:y val="1.1767088731446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6081871345029239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1.3084745292584079E-2"/>
                  <c:y val="-4.314549359488074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1001445424240835E-2"/>
                  <c:y val="2.353417746289293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1.657528639667683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8.77192982456140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('OOB (2)'!$A$1,'OOB (2)'!$D$1,'OOB (2)'!$G$1,'OOB (2)'!$J$1,'OOB (2)'!$M$1)</c:f>
              <c:strCache>
                <c:ptCount val="5"/>
                <c:pt idx="0">
                  <c:v>Glass</c:v>
                </c:pt>
                <c:pt idx="1">
                  <c:v>Heart</c:v>
                </c:pt>
                <c:pt idx="2">
                  <c:v>Pima</c:v>
                </c:pt>
                <c:pt idx="3">
                  <c:v>Vehicle</c:v>
                </c:pt>
                <c:pt idx="4">
                  <c:v>Satimage</c:v>
                </c:pt>
              </c:strCache>
            </c:strRef>
          </c:cat>
          <c:val>
            <c:numRef>
              <c:f>('OOB (2)'!$C$23,'OOB (2)'!$F$23,'OOB (2)'!$I$23,'OOB (2)'!$L$23,'OOB (2)'!$O$23)</c:f>
              <c:numCache>
                <c:formatCode>General</c:formatCode>
                <c:ptCount val="5"/>
                <c:pt idx="0">
                  <c:v>75.952250000000006</c:v>
                </c:pt>
                <c:pt idx="1">
                  <c:v>82.222200000000001</c:v>
                </c:pt>
                <c:pt idx="2">
                  <c:v>74.161799999999999</c:v>
                </c:pt>
                <c:pt idx="3">
                  <c:v>73.65055000000001</c:v>
                </c:pt>
                <c:pt idx="4">
                  <c:v>90.730400000000017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4828512"/>
        <c:axId val="414831648"/>
      </c:barChart>
      <c:catAx>
        <c:axId val="414828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14831648"/>
        <c:crosses val="autoZero"/>
        <c:auto val="1"/>
        <c:lblAlgn val="ctr"/>
        <c:lblOffset val="100"/>
        <c:noMultiLvlLbl val="0"/>
      </c:catAx>
      <c:valAx>
        <c:axId val="414831648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2400"/>
                  <a:t>Accuracy[%]</a:t>
                </a:r>
              </a:p>
            </c:rich>
          </c:tx>
          <c:layout>
            <c:manualLayout>
              <c:xMode val="edge"/>
              <c:yMode val="edge"/>
              <c:x val="3.0213114712368299E-2"/>
              <c:y val="0.3531377451700733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14828512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17570142399787"/>
          <c:y val="2.011881014873141E-2"/>
          <c:w val="0.10315011547506285"/>
          <c:h val="0.200456692913385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B5556-BCC9-4B19-BEF2-1B111DE5EE18}" type="datetimeFigureOut">
              <a:rPr kumimoji="1" lang="ja-JP" altLang="en-US" smtClean="0"/>
              <a:t>2019/9/24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53AC-7D74-400F-BB06-95EAE7026D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70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953AC-7D74-400F-BB06-95EAE7026D6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495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134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12388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606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 userDrawn="1"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17806014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849333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2022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52027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77692265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471371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0131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495902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477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0477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37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303068004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7511752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1395700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4644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83143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4062326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532299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291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576082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75393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3263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71408411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727399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745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732230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460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9555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896381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55795783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2898507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273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0444810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41863209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4700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721022278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3378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3354795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3958119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9887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847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279668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9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232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1" r:id="rId3"/>
    <p:sldLayoutId id="2147483679" r:id="rId4"/>
    <p:sldLayoutId id="2147483675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6235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7304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4161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0111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0048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9639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67782"/>
            <a:ext cx="7772400" cy="1470025"/>
          </a:xfrm>
        </p:spPr>
        <p:txBody>
          <a:bodyPr/>
          <a:lstStyle/>
          <a:p>
            <a:pPr algn="ctr"/>
            <a:r>
              <a:rPr kumimoji="1" lang="en-US" altLang="ja-JP" dirty="0" smtClean="0"/>
              <a:t>GA</a:t>
            </a:r>
            <a:r>
              <a:rPr kumimoji="1" lang="ja-JP" altLang="en-US" dirty="0" smtClean="0"/>
              <a:t>を用いたランダムフォレストにおける</a:t>
            </a:r>
            <a:r>
              <a:rPr lang="ja-JP" altLang="en-US" dirty="0" smtClean="0"/>
              <a:t>弱識別器の選択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948136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53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これまでの実験概要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 smtClean="0"/>
              <a:t>GA</a:t>
            </a:r>
            <a:r>
              <a:rPr lang="ja-JP" altLang="en-US" dirty="0" smtClean="0"/>
              <a:t>を用いて，</a:t>
            </a:r>
            <a:r>
              <a:rPr lang="ja-JP" altLang="en-US" dirty="0"/>
              <a:t>ランダムフォレストの弱識別器を抽出し</a:t>
            </a:r>
            <a:r>
              <a:rPr lang="ja-JP" altLang="en-US" dirty="0" smtClean="0"/>
              <a:t>，</a:t>
            </a:r>
            <a:r>
              <a:rPr lang="ja-JP" altLang="en-US" dirty="0"/>
              <a:t>優</a:t>
            </a:r>
            <a:r>
              <a:rPr lang="ja-JP" altLang="en-US" dirty="0" smtClean="0"/>
              <a:t>れたアンサンブル</a:t>
            </a:r>
            <a:r>
              <a:rPr lang="ja-JP" altLang="en-US" dirty="0"/>
              <a:t>識別器を獲得する．</a:t>
            </a: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個体評価には，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データ・検証用データを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用いて探索を行う．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 smtClean="0"/>
              <a:t>GA</a:t>
            </a:r>
            <a:r>
              <a:rPr lang="ja-JP" altLang="en-US" dirty="0" smtClean="0"/>
              <a:t>により，評価値の良い個体は獲得できるが，テストデータの識別率は向上していない．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727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調査内容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ja-JP" altLang="en-US" dirty="0" smtClean="0"/>
              <a:t>元のランダムフォレストより識別</a:t>
            </a:r>
            <a:r>
              <a:rPr lang="ja-JP" altLang="en-US" dirty="0"/>
              <a:t>精度</a:t>
            </a:r>
            <a:r>
              <a:rPr lang="ja-JP" altLang="en-US" dirty="0" smtClean="0"/>
              <a:t>の高い，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決定木の組合せは存在している．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1371600"/>
            <a:ext cx="102694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前提</a:t>
            </a:r>
          </a:p>
        </p:txBody>
      </p:sp>
    </p:spTree>
    <p:extLst>
      <p:ext uri="{BB962C8B-B14F-4D97-AF65-F5344CB8AC3E}">
        <p14:creationId xmlns:p14="http://schemas.microsoft.com/office/powerpoint/2010/main" val="2522362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調査内容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ja-JP" altLang="en-US" dirty="0" smtClean="0"/>
              <a:t>元のランダムフォレストより識別</a:t>
            </a:r>
            <a:r>
              <a:rPr lang="ja-JP" altLang="en-US" dirty="0"/>
              <a:t>精度</a:t>
            </a:r>
            <a:r>
              <a:rPr lang="ja-JP" altLang="en-US" dirty="0" smtClean="0"/>
              <a:t>の高い，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決定木の組合せは存在している．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1371600"/>
            <a:ext cx="102694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前提</a:t>
            </a:r>
          </a:p>
        </p:txBody>
      </p:sp>
      <p:grpSp>
        <p:nvGrpSpPr>
          <p:cNvPr id="14" name="グループ化 13"/>
          <p:cNvGrpSpPr/>
          <p:nvPr/>
        </p:nvGrpSpPr>
        <p:grpSpPr>
          <a:xfrm>
            <a:off x="495805" y="3192058"/>
            <a:ext cx="4076195" cy="3583220"/>
            <a:chOff x="495805" y="3192058"/>
            <a:chExt cx="4076195" cy="3583220"/>
          </a:xfrm>
        </p:grpSpPr>
        <p:sp>
          <p:nvSpPr>
            <p:cNvPr id="8" name="テキスト ボックス 7"/>
            <p:cNvSpPr txBox="1"/>
            <p:nvPr/>
          </p:nvSpPr>
          <p:spPr>
            <a:xfrm>
              <a:off x="1023759" y="6252058"/>
              <a:ext cx="30202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Vehicle</a:t>
              </a:r>
            </a:p>
          </p:txBody>
        </p:sp>
        <p:grpSp>
          <p:nvGrpSpPr>
            <p:cNvPr id="12" name="グループ化 11"/>
            <p:cNvGrpSpPr/>
            <p:nvPr/>
          </p:nvGrpSpPr>
          <p:grpSpPr>
            <a:xfrm>
              <a:off x="495805" y="3192058"/>
              <a:ext cx="4076195" cy="3060000"/>
              <a:chOff x="495805" y="3192058"/>
              <a:chExt cx="4076195" cy="3060000"/>
            </a:xfrm>
          </p:grpSpPr>
          <p:pic>
            <p:nvPicPr>
              <p:cNvPr id="6" name="図 5"/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5805" y="3192058"/>
                <a:ext cx="4076195" cy="3060000"/>
              </a:xfrm>
              <a:prstGeom prst="rect">
                <a:avLst/>
              </a:prstGeom>
            </p:spPr>
          </p:pic>
          <p:sp>
            <p:nvSpPr>
              <p:cNvPr id="10" name="円/楕円 9"/>
              <p:cNvSpPr/>
              <p:nvPr/>
            </p:nvSpPr>
            <p:spPr>
              <a:xfrm>
                <a:off x="3108960" y="3629465"/>
                <a:ext cx="520505" cy="52050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15" name="グループ化 14"/>
          <p:cNvGrpSpPr/>
          <p:nvPr/>
        </p:nvGrpSpPr>
        <p:grpSpPr>
          <a:xfrm>
            <a:off x="4743702" y="3192058"/>
            <a:ext cx="4076195" cy="3583220"/>
            <a:chOff x="4743702" y="3192058"/>
            <a:chExt cx="4076195" cy="3583220"/>
          </a:xfrm>
        </p:grpSpPr>
        <p:sp>
          <p:nvSpPr>
            <p:cNvPr id="9" name="テキスト ボックス 8"/>
            <p:cNvSpPr txBox="1"/>
            <p:nvPr/>
          </p:nvSpPr>
          <p:spPr>
            <a:xfrm>
              <a:off x="5271656" y="6252058"/>
              <a:ext cx="30202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Pima</a:t>
              </a:r>
            </a:p>
          </p:txBody>
        </p:sp>
        <p:grpSp>
          <p:nvGrpSpPr>
            <p:cNvPr id="13" name="グループ化 12"/>
            <p:cNvGrpSpPr/>
            <p:nvPr/>
          </p:nvGrpSpPr>
          <p:grpSpPr>
            <a:xfrm>
              <a:off x="4743702" y="3192058"/>
              <a:ext cx="4076195" cy="3060000"/>
              <a:chOff x="4743702" y="3192058"/>
              <a:chExt cx="4076195" cy="3060000"/>
            </a:xfrm>
          </p:grpSpPr>
          <p:pic>
            <p:nvPicPr>
              <p:cNvPr id="7" name="図 6"/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43702" y="3192058"/>
                <a:ext cx="4076195" cy="3060000"/>
              </a:xfrm>
              <a:prstGeom prst="rect">
                <a:avLst/>
              </a:prstGeom>
            </p:spPr>
          </p:pic>
          <p:sp>
            <p:nvSpPr>
              <p:cNvPr id="11" name="円/楕円 10"/>
              <p:cNvSpPr/>
              <p:nvPr/>
            </p:nvSpPr>
            <p:spPr>
              <a:xfrm>
                <a:off x="7848600" y="3505195"/>
                <a:ext cx="520505" cy="52050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094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調査内容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ja-JP" altLang="en-US" dirty="0" smtClean="0"/>
              <a:t>元のランダムフォレストより識別</a:t>
            </a:r>
            <a:r>
              <a:rPr lang="ja-JP" altLang="en-US" dirty="0"/>
              <a:t>精度</a:t>
            </a:r>
            <a:r>
              <a:rPr lang="ja-JP" altLang="en-US" dirty="0" smtClean="0"/>
              <a:t>の高い，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決定木の組合せは存在している．</a:t>
            </a:r>
            <a:endParaRPr lang="en-US" altLang="ja-JP" dirty="0" smtClean="0"/>
          </a:p>
          <a:p>
            <a:r>
              <a:rPr lang="ja-JP" altLang="en-US" dirty="0" smtClean="0"/>
              <a:t>現状の</a:t>
            </a:r>
            <a:r>
              <a:rPr lang="en-US" altLang="ja-JP" dirty="0" smtClean="0"/>
              <a:t>GA</a:t>
            </a:r>
            <a:r>
              <a:rPr lang="ja-JP" altLang="en-US" dirty="0" smtClean="0"/>
              <a:t>では，適切な組合せを発見していない．</a:t>
            </a:r>
            <a:endParaRPr lang="en-US" altLang="ja-JP" dirty="0"/>
          </a:p>
          <a:p>
            <a:endParaRPr lang="en-US" altLang="ja-JP" dirty="0" smtClean="0"/>
          </a:p>
          <a:p>
            <a:r>
              <a:rPr lang="en-US" altLang="ja-JP" dirty="0" smtClean="0"/>
              <a:t>GA</a:t>
            </a:r>
            <a:r>
              <a:rPr lang="ja-JP" altLang="en-US" dirty="0" smtClean="0"/>
              <a:t>の探索において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 smtClean="0"/>
              <a:t>初期個体</a:t>
            </a:r>
            <a:r>
              <a:rPr lang="en-US" altLang="ja-JP" dirty="0" smtClean="0"/>
              <a:t>(</a:t>
            </a:r>
            <a:r>
              <a:rPr lang="ja-JP" altLang="en-US" dirty="0" smtClean="0"/>
              <a:t>ランダムに生成</a:t>
            </a:r>
            <a:r>
              <a:rPr lang="en-US" altLang="ja-JP" dirty="0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 smtClean="0"/>
              <a:t>個体表現</a:t>
            </a:r>
            <a:r>
              <a:rPr lang="en-US" altLang="ja-JP" dirty="0" smtClean="0"/>
              <a:t>(0</a:t>
            </a:r>
            <a:r>
              <a:rPr lang="ja-JP" altLang="en-US" dirty="0" err="1" smtClean="0"/>
              <a:t>，</a:t>
            </a:r>
            <a:r>
              <a:rPr lang="en-US" altLang="ja-JP" dirty="0" smtClean="0"/>
              <a:t>1</a:t>
            </a:r>
            <a:r>
              <a:rPr lang="ja-JP" altLang="en-US" dirty="0" smtClean="0"/>
              <a:t>の二値表現</a:t>
            </a:r>
            <a:r>
              <a:rPr lang="en-US" altLang="ja-JP" dirty="0" smtClean="0"/>
              <a:t>)</a:t>
            </a:r>
            <a:endParaRPr lang="en-US" altLang="ja-JP" dirty="0"/>
          </a:p>
          <a:p>
            <a:r>
              <a:rPr lang="ja-JP" altLang="en-US" dirty="0"/>
              <a:t>が</a:t>
            </a:r>
            <a:r>
              <a:rPr lang="ja-JP" altLang="en-US" dirty="0" smtClean="0"/>
              <a:t>問題で，探索がうまくいっていないと仮定する．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1371600"/>
            <a:ext cx="102694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前提</a:t>
            </a:r>
          </a:p>
        </p:txBody>
      </p:sp>
    </p:spTree>
    <p:extLst>
      <p:ext uri="{BB962C8B-B14F-4D97-AF65-F5344CB8AC3E}">
        <p14:creationId xmlns:p14="http://schemas.microsoft.com/office/powerpoint/2010/main" val="421222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調査内容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初期個体の生成</a:t>
            </a:r>
            <a:r>
              <a:rPr kumimoji="1" lang="ja-JP" altLang="en-US" dirty="0" smtClean="0"/>
              <a:t>手法の影響を調査する．</a:t>
            </a:r>
            <a:endParaRPr kumimoji="1" lang="ja-JP" altLang="en-US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従来手法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ランダムに決定木を選択</a:t>
            </a:r>
            <a:endParaRPr kumimoji="1" lang="en-US" altLang="ja-JP" dirty="0" smtClean="0"/>
          </a:p>
          <a:p>
            <a:pPr lvl="1" algn="l"/>
            <a:r>
              <a:rPr lang="ja-JP" altLang="en-US" dirty="0" smtClean="0"/>
              <a:t>ある決定木がいずれの個体にも含まれない可能性あり</a:t>
            </a:r>
            <a:endParaRPr lang="en-US" altLang="ja-JP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 smtClean="0"/>
              <a:t>新規手法</a:t>
            </a:r>
            <a:r>
              <a:rPr lang="en-US" altLang="ja-JP" dirty="0" smtClean="0"/>
              <a:t>1</a:t>
            </a:r>
          </a:p>
          <a:p>
            <a:pPr lvl="1"/>
            <a:r>
              <a:rPr lang="ja-JP" altLang="en-US" dirty="0" smtClean="0"/>
              <a:t>すべての決定木を含む個体を最初に</a:t>
            </a:r>
            <a:r>
              <a:rPr lang="en-US" altLang="ja-JP" dirty="0" smtClean="0"/>
              <a:t>1</a:t>
            </a:r>
            <a:r>
              <a:rPr lang="ja-JP" altLang="en-US" dirty="0" smtClean="0"/>
              <a:t>つ生成</a:t>
            </a:r>
            <a:endParaRPr lang="en-US" altLang="ja-JP" dirty="0" smtClean="0"/>
          </a:p>
          <a:p>
            <a:pPr lvl="1" algn="l"/>
            <a:r>
              <a:rPr lang="ja-JP" altLang="en-US" dirty="0" smtClean="0"/>
              <a:t>残りの個体は，ランダムに決定木を選択</a:t>
            </a:r>
            <a:endParaRPr lang="en-US" altLang="ja-JP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 smtClean="0"/>
              <a:t>新規手法</a:t>
            </a:r>
            <a:r>
              <a:rPr lang="en-US" altLang="ja-JP" dirty="0" smtClean="0"/>
              <a:t>2</a:t>
            </a:r>
          </a:p>
          <a:p>
            <a:pPr lvl="1"/>
            <a:r>
              <a:rPr lang="ja-JP" altLang="en-US" dirty="0" smtClean="0"/>
              <a:t>各個体の決定木の本数ができるだけ重複しないよう生成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すべて</a:t>
            </a:r>
            <a:r>
              <a:rPr lang="ja-JP" altLang="en-US" dirty="0" smtClean="0"/>
              <a:t>の</a:t>
            </a:r>
            <a:r>
              <a:rPr lang="ja-JP" altLang="en-US" dirty="0" smtClean="0"/>
              <a:t>組</a:t>
            </a:r>
            <a:r>
              <a:rPr lang="ja-JP" altLang="en-US" dirty="0"/>
              <a:t>合</a:t>
            </a:r>
            <a:r>
              <a:rPr lang="ja-JP" altLang="en-US" dirty="0" smtClean="0"/>
              <a:t>せ</a:t>
            </a:r>
            <a:r>
              <a:rPr lang="ja-JP" altLang="en-US" dirty="0" smtClean="0"/>
              <a:t>の</a:t>
            </a:r>
            <a:r>
              <a:rPr lang="ja-JP" altLang="en-US" dirty="0" smtClean="0"/>
              <a:t>生成確率</a:t>
            </a:r>
            <a:r>
              <a:rPr lang="ja-JP" altLang="en-US" dirty="0"/>
              <a:t>は</a:t>
            </a:r>
            <a:r>
              <a:rPr lang="ja-JP" altLang="en-US" dirty="0" smtClean="0"/>
              <a:t>一様ではない</a:t>
            </a:r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06107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ja-JP" altLang="en-US" dirty="0" smtClean="0"/>
              <a:t>決定木の本数 ： </a:t>
            </a:r>
            <a:r>
              <a:rPr lang="en-US" altLang="ja-JP" dirty="0" smtClean="0"/>
              <a:t>50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個体群サイズ ： </a:t>
            </a:r>
            <a:r>
              <a:rPr lang="en-US" altLang="ja-JP" dirty="0" smtClean="0"/>
              <a:t>50</a:t>
            </a:r>
            <a:br>
              <a:rPr lang="en-US" altLang="ja-JP" dirty="0" smtClean="0"/>
            </a:br>
            <a:r>
              <a:rPr lang="ja-JP" altLang="en-US" dirty="0" smtClean="0"/>
              <a:t>子個体数 ： </a:t>
            </a:r>
            <a:r>
              <a:rPr lang="en-US" altLang="ja-JP" dirty="0" smtClean="0"/>
              <a:t>50</a:t>
            </a:r>
            <a:br>
              <a:rPr lang="en-US" altLang="ja-JP" dirty="0" smtClean="0"/>
            </a:br>
            <a:r>
              <a:rPr kumimoji="1" lang="ja-JP" altLang="en-US" dirty="0" smtClean="0"/>
              <a:t>世代数 ： </a:t>
            </a:r>
            <a:r>
              <a:rPr kumimoji="1" lang="en-US" altLang="ja-JP" dirty="0" smtClean="0"/>
              <a:t>1000</a:t>
            </a:r>
          </a:p>
          <a:p>
            <a:pPr algn="l"/>
            <a:r>
              <a:rPr lang="ja-JP" altLang="en-US" dirty="0" smtClean="0"/>
              <a:t>交叉方法 ： 一様交叉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kumimoji="1" lang="ja-JP" altLang="en-US" dirty="0" smtClean="0"/>
              <a:t>突然変異確率 ： </a:t>
            </a:r>
            <a:r>
              <a:rPr lang="en-US" altLang="ja-JP" dirty="0" smtClean="0"/>
              <a:t>2 </a:t>
            </a:r>
            <a:r>
              <a:rPr kumimoji="1" lang="en-US" altLang="ja-JP" dirty="0" smtClean="0"/>
              <a:t>/</a:t>
            </a:r>
            <a:r>
              <a:rPr lang="ja-JP" altLang="en-US" dirty="0" smtClean="0"/>
              <a:t> 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決定木の本数</a:t>
            </a:r>
            <a:r>
              <a:rPr kumimoji="1" lang="en-US" altLang="ja-JP" dirty="0" smtClean="0"/>
              <a:t>)</a:t>
            </a:r>
          </a:p>
          <a:p>
            <a:pPr algn="l"/>
            <a:r>
              <a:rPr lang="ja-JP" altLang="en-US" dirty="0" smtClean="0"/>
              <a:t>検証用データの割合 ： 全データの</a:t>
            </a:r>
            <a:r>
              <a:rPr lang="en-US" altLang="ja-JP" dirty="0" smtClean="0"/>
              <a:t>10</a:t>
            </a:r>
            <a:r>
              <a:rPr lang="ja-JP" altLang="en-US" dirty="0" smtClean="0"/>
              <a:t>％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　　　　　　　　　　　　　　 </a:t>
            </a:r>
            <a:r>
              <a:rPr lang="en-US" altLang="ja-JP" sz="2800" dirty="0" smtClean="0"/>
              <a:t>(</a:t>
            </a:r>
            <a:r>
              <a:rPr lang="ja-JP" altLang="en-US" sz="2800" dirty="0" smtClean="0"/>
              <a:t>学習用データの１</a:t>
            </a:r>
            <a:r>
              <a:rPr lang="en-US" altLang="ja-JP" sz="2800" dirty="0" smtClean="0"/>
              <a:t>/9)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9599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 smtClean="0"/>
              <a:t>使用するデータセット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609453"/>
              </p:ext>
            </p:extLst>
          </p:nvPr>
        </p:nvGraphicFramePr>
        <p:xfrm>
          <a:off x="1455179" y="2148840"/>
          <a:ext cx="623364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4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373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62991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データセット名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パターン数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クラス数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Glass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214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Heart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270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Pima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768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Vehicle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846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Satimage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6435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05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個体評価に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データを使用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graphicFrame>
        <p:nvGraphicFramePr>
          <p:cNvPr id="6" name="グラフ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1278062"/>
              </p:ext>
            </p:extLst>
          </p:nvPr>
        </p:nvGraphicFramePr>
        <p:xfrm>
          <a:off x="-335093" y="1143001"/>
          <a:ext cx="11392503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1388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個体評価に</a:t>
            </a:r>
            <a:r>
              <a:rPr lang="ja-JP" altLang="en-US" dirty="0" smtClean="0"/>
              <a:t>検証</a:t>
            </a:r>
            <a:r>
              <a:rPr lang="ja-JP" altLang="en-US" dirty="0"/>
              <a:t>用</a:t>
            </a:r>
            <a:r>
              <a:rPr kumimoji="1" lang="ja-JP" altLang="en-US" dirty="0" smtClean="0"/>
              <a:t>データを使用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graphicFrame>
        <p:nvGraphicFramePr>
          <p:cNvPr id="7" name="グラフ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9028248"/>
              </p:ext>
            </p:extLst>
          </p:nvPr>
        </p:nvGraphicFramePr>
        <p:xfrm>
          <a:off x="-334800" y="1144800"/>
          <a:ext cx="11392503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8653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5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4D38140-AADE-46F7-98CF-5E4690A718E3}" vid="{874C1EA0-1478-47AB-BF22-3AD5DBD3FCFB}"/>
    </a:ext>
  </a:extLst>
</a:theme>
</file>

<file path=ppt/theme/theme2.xml><?xml version="1.0" encoding="utf-8"?>
<a:theme xmlns:a="http://schemas.openxmlformats.org/drawingml/2006/main" name="1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3.xml><?xml version="1.0" encoding="utf-8"?>
<a:theme xmlns:a="http://schemas.openxmlformats.org/drawingml/2006/main" name="2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B0B4D299-C3BD-44F5-9666-E361C8B677F1}" vid="{958EF22C-0703-4AA8-A4F5-39EE8C6B158B}"/>
    </a:ext>
  </a:extLst>
</a:theme>
</file>

<file path=ppt/theme/theme4.xml><?xml version="1.0" encoding="utf-8"?>
<a:theme xmlns:a="http://schemas.openxmlformats.org/drawingml/2006/main" name="3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5.xml><?xml version="1.0" encoding="utf-8"?>
<a:theme xmlns:a="http://schemas.openxmlformats.org/drawingml/2006/main" name="4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6.xml><?xml version="1.0" encoding="utf-8"?>
<a:theme xmlns:a="http://schemas.openxmlformats.org/drawingml/2006/main" name="5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C405CB98-E9EC-480B-BAC0-9B6A0B9BE441}" vid="{80D153D3-64A8-4419-B988-8E4507248DD7}"/>
    </a:ext>
  </a:extLst>
</a:theme>
</file>

<file path=ppt/theme/theme7.xml><?xml version="1.0" encoding="utf-8"?>
<a:theme xmlns:a="http://schemas.openxmlformats.org/drawingml/2006/main" name="6_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9487F93B-4106-4629-85FC-8E1BB021CAD6}" vid="{65E8ECE0-E354-435F-95E2-6CB9CEF06008}"/>
    </a:ext>
  </a:extLst>
</a:theme>
</file>

<file path=ppt/theme/theme8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1090</TotalTime>
  <Words>265</Words>
  <Application>Microsoft Office PowerPoint</Application>
  <PresentationFormat>画面に合わせる (4:3)</PresentationFormat>
  <Paragraphs>107</Paragraphs>
  <Slides>11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7</vt:i4>
      </vt:variant>
      <vt:variant>
        <vt:lpstr>スライド タイトル</vt:lpstr>
      </vt:variant>
      <vt:variant>
        <vt:i4>11</vt:i4>
      </vt:variant>
    </vt:vector>
  </HeadingPairs>
  <TitlesOfParts>
    <vt:vector size="23" baseType="lpstr">
      <vt:lpstr>ＭＳ P ゴシック</vt:lpstr>
      <vt:lpstr>ＭＳ Ｐゴシック</vt:lpstr>
      <vt:lpstr>Arial</vt:lpstr>
      <vt:lpstr>Calibri</vt:lpstr>
      <vt:lpstr>Times New Roman</vt:lpstr>
      <vt:lpstr>Theme_lab</vt:lpstr>
      <vt:lpstr>1_Theme_Lab</vt:lpstr>
      <vt:lpstr>2_Theme_Lab</vt:lpstr>
      <vt:lpstr>3_Theme_Lab</vt:lpstr>
      <vt:lpstr>4_Theme_Lab</vt:lpstr>
      <vt:lpstr>5_Theme_Lab</vt:lpstr>
      <vt:lpstr>6_Theme_Lab</vt:lpstr>
      <vt:lpstr>GAを用いたランダムフォレストにおける弱識別器の選択</vt:lpstr>
      <vt:lpstr>これまでの実験概要</vt:lpstr>
      <vt:lpstr>調査内容</vt:lpstr>
      <vt:lpstr>調査内容</vt:lpstr>
      <vt:lpstr>調査内容</vt:lpstr>
      <vt:lpstr>調査内容</vt:lpstr>
      <vt:lpstr>実験パラメータ設定</vt:lpstr>
      <vt:lpstr>実験パラメータ設定</vt:lpstr>
      <vt:lpstr>実験結果</vt:lpstr>
      <vt:lpstr>実験結果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瓜田 俊貴</cp:lastModifiedBy>
  <cp:revision>75</cp:revision>
  <dcterms:created xsi:type="dcterms:W3CDTF">2019-03-03T13:45:30Z</dcterms:created>
  <dcterms:modified xsi:type="dcterms:W3CDTF">2019-09-24T14:29:50Z</dcterms:modified>
</cp:coreProperties>
</file>