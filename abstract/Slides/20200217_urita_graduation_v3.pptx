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6" r:id="rId1"/>
  </p:sldMasterIdLst>
  <p:notesMasterIdLst>
    <p:notesMasterId r:id="rId30"/>
  </p:notesMasterIdLst>
  <p:sldIdLst>
    <p:sldId id="256" r:id="rId2"/>
    <p:sldId id="257" r:id="rId3"/>
    <p:sldId id="284" r:id="rId4"/>
    <p:sldId id="314" r:id="rId5"/>
    <p:sldId id="306" r:id="rId6"/>
    <p:sldId id="307" r:id="rId7"/>
    <p:sldId id="315" r:id="rId8"/>
    <p:sldId id="260" r:id="rId9"/>
    <p:sldId id="276" r:id="rId10"/>
    <p:sldId id="288" r:id="rId11"/>
    <p:sldId id="277" r:id="rId12"/>
    <p:sldId id="269" r:id="rId13"/>
    <p:sldId id="270" r:id="rId14"/>
    <p:sldId id="292" r:id="rId15"/>
    <p:sldId id="308" r:id="rId16"/>
    <p:sldId id="310" r:id="rId17"/>
    <p:sldId id="309" r:id="rId18"/>
    <p:sldId id="312" r:id="rId19"/>
    <p:sldId id="313" r:id="rId20"/>
    <p:sldId id="291" r:id="rId21"/>
    <p:sldId id="294" r:id="rId22"/>
    <p:sldId id="311" r:id="rId23"/>
    <p:sldId id="299" r:id="rId24"/>
    <p:sldId id="265" r:id="rId25"/>
    <p:sldId id="316" r:id="rId26"/>
    <p:sldId id="274" r:id="rId27"/>
    <p:sldId id="262" r:id="rId28"/>
    <p:sldId id="283" r:id="rId29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瓜田 俊貴" initials="瓜田" lastIdx="0" clrIdx="0">
    <p:extLst>
      <p:ext uri="{19B8F6BF-5375-455C-9EA6-DF929625EA0E}">
        <p15:presenceInfo xmlns:p15="http://schemas.microsoft.com/office/powerpoint/2012/main" userId="6da0c281fe3edd2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3A3E0"/>
    <a:srgbClr val="FFFAF5"/>
    <a:srgbClr val="FF1D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542" autoAdjust="0"/>
    <p:restoredTop sz="94660"/>
  </p:normalViewPr>
  <p:slideViewPr>
    <p:cSldViewPr snapToGrid="0">
      <p:cViewPr varScale="1">
        <p:scale>
          <a:sx n="68" d="100"/>
          <a:sy n="68" d="100"/>
        </p:scale>
        <p:origin x="160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/Relationships>
</file>

<file path=ppt/drawings/_rels/vmlDrawing1.vml.rels><?xml version="1.0" encoding="UTF-8" standalone="yes"?>
<Relationships xmlns="http://schemas.openxmlformats.org/package/2006/relationships"><Relationship Id="rId2" Type="http://schemas.openxmlformats.org/officeDocument/2006/relationships/image" Target="../media/image14.wmf"/><Relationship Id="rId1" Type="http://schemas.openxmlformats.org/officeDocument/2006/relationships/image" Target="../media/image13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27171E-D003-4928-A895-08BB84F8FF99}" type="datetimeFigureOut">
              <a:rPr kumimoji="1" lang="ja-JP" altLang="en-US" smtClean="0"/>
              <a:t>2020/2/18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E448EF-D49C-48B3-BF1D-D5E1470A87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7344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-1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680720"/>
            <a:ext cx="7772400" cy="3434079"/>
          </a:xfrm>
        </p:spPr>
        <p:txBody>
          <a:bodyPr/>
          <a:lstStyle>
            <a:lvl1pPr algn="ctr">
              <a:defRPr sz="4400"/>
            </a:lvl1pPr>
          </a:lstStyle>
          <a:p>
            <a:r>
              <a:rPr lang="ja-JP" altLang="en-US" dirty="0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114799"/>
            <a:ext cx="6400800" cy="2743201"/>
          </a:xfrm>
        </p:spPr>
        <p:txBody>
          <a:bodyPr anchor="ctr"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91631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/>
          <p:cNvSpPr txBox="1"/>
          <p:nvPr/>
        </p:nvSpPr>
        <p:spPr>
          <a:xfrm>
            <a:off x="228600" y="1365254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論文名</a:t>
            </a: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28600" y="312544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著者名</a:t>
            </a:r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28600" y="472440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出典</a:t>
            </a:r>
            <a:endParaRPr kumimoji="1" lang="ja-JP" altLang="en-US" sz="3200" dirty="0" smtClean="0"/>
          </a:p>
        </p:txBody>
      </p:sp>
      <p:sp>
        <p:nvSpPr>
          <p:cNvPr id="6" name="コンテンツ プレースホルダ 2"/>
          <p:cNvSpPr>
            <a:spLocks noGrp="1"/>
          </p:cNvSpPr>
          <p:nvPr>
            <p:ph idx="1" hasCustomPrompt="1"/>
          </p:nvPr>
        </p:nvSpPr>
        <p:spPr>
          <a:xfrm>
            <a:off x="1828800" y="1368795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論文名</a:t>
            </a:r>
          </a:p>
        </p:txBody>
      </p:sp>
      <p:sp>
        <p:nvSpPr>
          <p:cNvPr id="7" name="コンテンツ プレースホルダ 2"/>
          <p:cNvSpPr>
            <a:spLocks noGrp="1"/>
          </p:cNvSpPr>
          <p:nvPr>
            <p:ph idx="10" hasCustomPrompt="1"/>
          </p:nvPr>
        </p:nvSpPr>
        <p:spPr>
          <a:xfrm>
            <a:off x="1828800" y="3125441"/>
            <a:ext cx="7086600" cy="1391142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著者名</a:t>
            </a:r>
          </a:p>
        </p:txBody>
      </p:sp>
      <p:sp>
        <p:nvSpPr>
          <p:cNvPr id="8" name="コンテンツ プレースホルダ 2"/>
          <p:cNvSpPr>
            <a:spLocks noGrp="1"/>
          </p:cNvSpPr>
          <p:nvPr>
            <p:ph idx="11" hasCustomPrompt="1"/>
          </p:nvPr>
        </p:nvSpPr>
        <p:spPr>
          <a:xfrm>
            <a:off x="1828800" y="4724400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出典</a:t>
            </a:r>
          </a:p>
        </p:txBody>
      </p:sp>
      <p:sp>
        <p:nvSpPr>
          <p:cNvPr id="9" name="テキスト ボックス 8"/>
          <p:cNvSpPr txBox="1"/>
          <p:nvPr/>
        </p:nvSpPr>
        <p:spPr>
          <a:xfrm>
            <a:off x="78798" y="191542"/>
            <a:ext cx="349134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4400" b="1" dirty="0" smtClean="0">
                <a:solidFill>
                  <a:schemeClr val="bg1"/>
                </a:solidFill>
              </a:rPr>
              <a:t>論文情報</a:t>
            </a:r>
          </a:p>
        </p:txBody>
      </p:sp>
      <p:sp>
        <p:nvSpPr>
          <p:cNvPr id="10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41812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7669418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 baseline="0">
                <a:latin typeface="+mn-lt"/>
                <a:ea typeface="+mn-ea"/>
              </a:defRPr>
            </a:lvl1pPr>
            <a:lvl2pPr marL="342900" indent="0" algn="just">
              <a:buNone/>
              <a:defRPr sz="2400" baseline="0">
                <a:latin typeface="+mn-lt"/>
                <a:ea typeface="+mn-ea"/>
              </a:defRPr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マスター テキストの書式設定</a:t>
            </a:r>
          </a:p>
          <a:p>
            <a:pPr lvl="1"/>
            <a:r>
              <a:rPr lang="ja-JP" altLang="en-US" dirty="0" smtClean="0"/>
              <a:t>第 </a:t>
            </a:r>
            <a:r>
              <a:rPr lang="en-US" altLang="ja-JP" dirty="0" smtClean="0"/>
              <a:t>2 </a:t>
            </a:r>
            <a:r>
              <a:rPr lang="ja-JP" altLang="en-US" dirty="0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70780"/>
            <a:ext cx="9067800" cy="573087"/>
          </a:xfrm>
        </p:spPr>
        <p:txBody>
          <a:bodyPr anchor="ctr"/>
          <a:lstStyle>
            <a:lvl1pPr marL="0" indent="0">
              <a:buNone/>
              <a:defRPr sz="3600" b="1" baseline="0">
                <a:solidFill>
                  <a:schemeClr val="accent4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8042690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70780"/>
            <a:ext cx="9067800" cy="573087"/>
          </a:xfrm>
        </p:spPr>
        <p:txBody>
          <a:bodyPr anchor="ctr"/>
          <a:lstStyle>
            <a:lvl1pPr marL="0" indent="0">
              <a:buNone/>
              <a:defRPr sz="3600" b="1" baseline="0">
                <a:solidFill>
                  <a:schemeClr val="accent4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55071551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5025294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58773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</p:spTree>
    <p:extLst>
      <p:ext uri="{BB962C8B-B14F-4D97-AF65-F5344CB8AC3E}">
        <p14:creationId xmlns:p14="http://schemas.microsoft.com/office/powerpoint/2010/main" val="193299197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689500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4" r:id="rId2"/>
    <p:sldLayoutId id="2147483668" r:id="rId3"/>
    <p:sldLayoutId id="2147483669" r:id="rId4"/>
    <p:sldLayoutId id="2147483673" r:id="rId5"/>
    <p:sldLayoutId id="2147483670" r:id="rId6"/>
    <p:sldLayoutId id="2147483671" r:id="rId7"/>
    <p:sldLayoutId id="2147483672" r:id="rId8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3" Type="http://schemas.openxmlformats.org/officeDocument/2006/relationships/image" Target="../media/image4.emf"/><Relationship Id="rId7" Type="http://schemas.openxmlformats.org/officeDocument/2006/relationships/image" Target="../media/image8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emf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14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13.wmf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ja-JP" dirty="0" smtClean="0"/>
              <a:t>多目的マルチタスク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ja-JP" dirty="0" smtClean="0"/>
              <a:t>ナップサック</a:t>
            </a:r>
            <a:r>
              <a:rPr lang="ja-JP" altLang="ja-JP" dirty="0"/>
              <a:t>問題の</a:t>
            </a:r>
            <a:r>
              <a:rPr lang="ja-JP" altLang="ja-JP" dirty="0" smtClean="0"/>
              <a:t>提案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371600" y="4685491"/>
            <a:ext cx="6400800" cy="1371600"/>
          </a:xfrm>
        </p:spPr>
        <p:txBody>
          <a:bodyPr/>
          <a:lstStyle/>
          <a:p>
            <a:r>
              <a:rPr kumimoji="1" lang="ja-JP" altLang="en-US" dirty="0" smtClean="0"/>
              <a:t>瓜田　俊貴</a:t>
            </a:r>
            <a:endParaRPr kumimoji="1" lang="en-US" altLang="ja-JP" dirty="0" smtClean="0"/>
          </a:p>
          <a:p>
            <a:r>
              <a:rPr lang="ja-JP" altLang="en-US" dirty="0" smtClean="0"/>
              <a:t>計算知能</a:t>
            </a:r>
            <a:r>
              <a:rPr lang="ja-JP" altLang="en-US" dirty="0"/>
              <a:t>工</a:t>
            </a:r>
            <a:r>
              <a:rPr lang="ja-JP" altLang="en-US" dirty="0" smtClean="0"/>
              <a:t>学</a:t>
            </a:r>
            <a:r>
              <a:rPr lang="ja-JP" altLang="en-US" dirty="0"/>
              <a:t>研究室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2858732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マルチタスク最適化</a:t>
            </a:r>
            <a:r>
              <a:rPr lang="ja-JP" altLang="en-US" dirty="0" smtClean="0"/>
              <a:t>につい</a:t>
            </a:r>
            <a:r>
              <a:rPr lang="ja-JP" altLang="en-US" dirty="0"/>
              <a:t>て</a:t>
            </a:r>
            <a:endParaRPr kumimoji="1" lang="ja-JP" altLang="en-US" dirty="0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マルチタスク最適化とは，</a:t>
            </a:r>
            <a:r>
              <a:rPr kumimoji="1" lang="ja-JP" altLang="en-US" u="sng" dirty="0" smtClean="0"/>
              <a:t>複数の最適化問題</a:t>
            </a:r>
            <a:r>
              <a:rPr kumimoji="1" lang="ja-JP" altLang="en-US" dirty="0" smtClean="0"/>
              <a:t>を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b="1" dirty="0" smtClean="0">
                <a:solidFill>
                  <a:schemeClr val="accent1"/>
                </a:solidFill>
              </a:rPr>
              <a:t>同時に解く</a:t>
            </a:r>
            <a:r>
              <a:rPr kumimoji="1" lang="ja-JP" altLang="en-US" dirty="0" smtClean="0"/>
              <a:t>というものである</a:t>
            </a:r>
            <a:r>
              <a:rPr kumimoji="1" lang="ja-JP" altLang="en-US" b="1" dirty="0" smtClean="0"/>
              <a:t>．</a:t>
            </a:r>
            <a:endParaRPr kumimoji="1" lang="ja-JP" altLang="en-US" b="1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</a:t>
            </a:fld>
            <a:endParaRPr kumimoji="1" lang="ja-JP" altLang="en-US" dirty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228600" y="2474511"/>
            <a:ext cx="1155894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800" dirty="0" smtClean="0"/>
              <a:t>例</a:t>
            </a:r>
            <a:r>
              <a:rPr kumimoji="1" lang="en-US" altLang="ja-JP" sz="2800" dirty="0" smtClean="0"/>
              <a:t>)</a:t>
            </a:r>
            <a:endParaRPr kumimoji="1" lang="ja-JP" altLang="en-US" sz="2800" dirty="0" smtClean="0"/>
          </a:p>
        </p:txBody>
      </p:sp>
      <p:sp>
        <p:nvSpPr>
          <p:cNvPr id="34" name="テキスト ボックス 33"/>
          <p:cNvSpPr txBox="1"/>
          <p:nvPr/>
        </p:nvSpPr>
        <p:spPr>
          <a:xfrm>
            <a:off x="724986" y="3050983"/>
            <a:ext cx="1626920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endParaRPr kumimoji="1" lang="ja-JP" altLang="en-US" sz="3200" dirty="0" smtClean="0"/>
          </a:p>
        </p:txBody>
      </p:sp>
      <p:sp>
        <p:nvSpPr>
          <p:cNvPr id="36" name="テキスト ボックス 35"/>
          <p:cNvSpPr txBox="1"/>
          <p:nvPr/>
        </p:nvSpPr>
        <p:spPr>
          <a:xfrm>
            <a:off x="5325747" y="3050983"/>
            <a:ext cx="1626920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lang="en-US" altLang="ja-JP" sz="3200" dirty="0"/>
              <a:t>2</a:t>
            </a:r>
            <a:endParaRPr kumimoji="1" lang="ja-JP" altLang="en-US" sz="3200" dirty="0" smtClean="0"/>
          </a:p>
        </p:txBody>
      </p:sp>
      <p:grpSp>
        <p:nvGrpSpPr>
          <p:cNvPr id="8" name="グループ化 7"/>
          <p:cNvGrpSpPr/>
          <p:nvPr/>
        </p:nvGrpSpPr>
        <p:grpSpPr>
          <a:xfrm>
            <a:off x="1176399" y="3751889"/>
            <a:ext cx="2551813" cy="2698187"/>
            <a:chOff x="1176399" y="3704389"/>
            <a:chExt cx="2551813" cy="2698187"/>
          </a:xfrm>
        </p:grpSpPr>
        <p:pic>
          <p:nvPicPr>
            <p:cNvPr id="2" name="図 1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9858"/>
            <a:stretch/>
          </p:blipFill>
          <p:spPr>
            <a:xfrm rot="10800000" flipV="1">
              <a:off x="1250939" y="4706121"/>
              <a:ext cx="2402734" cy="1696455"/>
            </a:xfrm>
            <a:prstGeom prst="rect">
              <a:avLst/>
            </a:prstGeom>
          </p:spPr>
        </p:pic>
        <p:sp>
          <p:nvSpPr>
            <p:cNvPr id="10" name="テキスト ボックス 9"/>
            <p:cNvSpPr txBox="1"/>
            <p:nvPr/>
          </p:nvSpPr>
          <p:spPr>
            <a:xfrm>
              <a:off x="1176399" y="3704389"/>
              <a:ext cx="2551813" cy="954107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 smtClean="0"/>
                <a:t>乗用車</a:t>
              </a:r>
              <a:r>
                <a:rPr lang="en-US" altLang="ja-JP" sz="2800" dirty="0" smtClean="0"/>
                <a:t>A</a:t>
              </a:r>
              <a:r>
                <a:rPr kumimoji="1" lang="ja-JP" altLang="en-US" sz="2800" dirty="0" smtClean="0"/>
                <a:t>の</a:t>
              </a:r>
              <a:r>
                <a:rPr kumimoji="1" lang="en-US" altLang="ja-JP" sz="2800" dirty="0" smtClean="0"/>
                <a:t/>
              </a:r>
              <a:br>
                <a:rPr kumimoji="1" lang="en-US" altLang="ja-JP" sz="2800" dirty="0" smtClean="0"/>
              </a:br>
              <a:r>
                <a:rPr kumimoji="1" lang="ja-JP" altLang="en-US" sz="2800" dirty="0" smtClean="0"/>
                <a:t>構造最適化</a:t>
              </a:r>
            </a:p>
          </p:txBody>
        </p:sp>
      </p:grpSp>
      <p:sp>
        <p:nvSpPr>
          <p:cNvPr id="3" name="テキスト ボックス 2"/>
          <p:cNvSpPr txBox="1"/>
          <p:nvPr/>
        </p:nvSpPr>
        <p:spPr>
          <a:xfrm>
            <a:off x="5804172" y="3683258"/>
            <a:ext cx="2551813" cy="954107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乗用車</a:t>
            </a:r>
            <a:r>
              <a:rPr kumimoji="1" lang="en-US" altLang="ja-JP" sz="2800" dirty="0" smtClean="0"/>
              <a:t>B</a:t>
            </a:r>
            <a:r>
              <a:rPr kumimoji="1" lang="ja-JP" altLang="en-US" sz="2800" dirty="0" smtClean="0"/>
              <a:t>の</a:t>
            </a:r>
            <a:r>
              <a:rPr kumimoji="1" lang="en-US" altLang="ja-JP" sz="2800" dirty="0" smtClean="0"/>
              <a:t/>
            </a:r>
            <a:br>
              <a:rPr kumimoji="1" lang="en-US" altLang="ja-JP" sz="2800" dirty="0" smtClean="0"/>
            </a:br>
            <a:r>
              <a:rPr kumimoji="1" lang="ja-JP" altLang="en-US" sz="2800" dirty="0" smtClean="0"/>
              <a:t>構造最適化</a:t>
            </a:r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759" b="34042"/>
          <a:stretch/>
        </p:blipFill>
        <p:spPr>
          <a:xfrm>
            <a:off x="5737661" y="4751471"/>
            <a:ext cx="2684834" cy="176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530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34" grpId="0" animBg="1"/>
      <p:bldP spid="36" grpId="0" animBg="1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タスク間の関係性の分類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1"/>
            <a:r>
              <a:rPr lang="ja-JP" altLang="en-US" sz="3200" dirty="0" smtClean="0"/>
              <a:t>タスク間の関係性は，以下の</a:t>
            </a:r>
            <a:r>
              <a:rPr lang="en-US" altLang="ja-JP" sz="3200" dirty="0" smtClean="0"/>
              <a:t>3</a:t>
            </a:r>
            <a:r>
              <a:rPr lang="ja-JP" altLang="en-US" sz="3200" dirty="0" err="1" smtClean="0"/>
              <a:t>つに</a:t>
            </a:r>
            <a:r>
              <a:rPr lang="ja-JP" altLang="en-US" sz="3200" dirty="0" smtClean="0"/>
              <a:t>分類される．</a:t>
            </a:r>
            <a:endParaRPr lang="en-US" altLang="ja-JP" sz="3200" dirty="0" smtClean="0"/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US" altLang="ja-JP" sz="3200" dirty="0" smtClean="0"/>
              <a:t>Case </a:t>
            </a:r>
            <a:r>
              <a:rPr lang="en-US" altLang="ja-JP" sz="3200" dirty="0" smtClean="0"/>
              <a:t>1: </a:t>
            </a:r>
            <a:r>
              <a:rPr lang="ja-JP" altLang="en-US" sz="3200" dirty="0"/>
              <a:t>独立</a:t>
            </a:r>
            <a:r>
              <a:rPr lang="ja-JP" altLang="en-US" sz="3200" dirty="0" smtClean="0"/>
              <a:t>関係</a:t>
            </a:r>
            <a:endParaRPr lang="en-US" altLang="ja-JP" sz="3200" dirty="0" smtClean="0"/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US" altLang="ja-JP" sz="3200" dirty="0" smtClean="0"/>
              <a:t>Case </a:t>
            </a:r>
            <a:r>
              <a:rPr lang="en-US" altLang="ja-JP" sz="3200" dirty="0" smtClean="0"/>
              <a:t>2: </a:t>
            </a:r>
            <a:r>
              <a:rPr lang="ja-JP" altLang="en-US" sz="3200" dirty="0" smtClean="0"/>
              <a:t>部分共有関係</a:t>
            </a:r>
            <a:endParaRPr lang="en-US" altLang="ja-JP" sz="3200" dirty="0" smtClean="0"/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US" altLang="ja-JP" sz="3200" dirty="0" smtClean="0"/>
              <a:t>Case</a:t>
            </a:r>
            <a:r>
              <a:rPr lang="ja-JP" altLang="en-US" sz="3200" dirty="0" smtClean="0"/>
              <a:t> </a:t>
            </a:r>
            <a:r>
              <a:rPr lang="en-US" altLang="ja-JP" sz="3200" dirty="0" smtClean="0"/>
              <a:t>3: </a:t>
            </a:r>
            <a:r>
              <a:rPr lang="ja-JP" altLang="en-US" sz="3200" dirty="0" smtClean="0"/>
              <a:t>包含関係</a:t>
            </a:r>
            <a:endParaRPr lang="en-US" altLang="ja-JP" sz="32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551244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タスク間の関係性の分類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1"/>
            <a:r>
              <a:rPr lang="ja-JP" altLang="en-US" sz="3200" dirty="0" smtClean="0"/>
              <a:t>タスク間の関係性は，以下の</a:t>
            </a:r>
            <a:r>
              <a:rPr lang="en-US" altLang="ja-JP" sz="3200" dirty="0" smtClean="0"/>
              <a:t>3</a:t>
            </a:r>
            <a:r>
              <a:rPr lang="ja-JP" altLang="en-US" sz="3200" dirty="0" err="1" smtClean="0"/>
              <a:t>つに</a:t>
            </a:r>
            <a:r>
              <a:rPr lang="ja-JP" altLang="en-US" sz="3200" dirty="0" smtClean="0"/>
              <a:t>分類される．</a:t>
            </a:r>
            <a:endParaRPr lang="en-US" altLang="ja-JP" sz="3200" dirty="0" smtClean="0"/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US" altLang="ja-JP" sz="3200" dirty="0"/>
              <a:t>Case </a:t>
            </a:r>
            <a:r>
              <a:rPr lang="en-US" altLang="ja-JP" sz="3200" dirty="0" smtClean="0"/>
              <a:t>1: </a:t>
            </a:r>
            <a:r>
              <a:rPr lang="ja-JP" altLang="en-US" sz="3200" dirty="0"/>
              <a:t>独立</a:t>
            </a:r>
            <a:r>
              <a:rPr lang="ja-JP" altLang="en-US" sz="3200" dirty="0" smtClean="0"/>
              <a:t>関係</a:t>
            </a:r>
            <a:endParaRPr lang="en-US" altLang="ja-JP" sz="3200" dirty="0"/>
          </a:p>
          <a:p>
            <a:pPr marL="342900" lvl="2"/>
            <a:r>
              <a:rPr lang="ja-JP" altLang="en-US" sz="2600" dirty="0" smtClean="0"/>
              <a:t>タスク間に全く関係性がない</a:t>
            </a:r>
            <a:endParaRPr lang="en-US" altLang="ja-JP" sz="2600" dirty="0"/>
          </a:p>
          <a:p>
            <a:pPr marL="457200" lvl="1" indent="-457200">
              <a:buFont typeface="Arial" panose="020B0604020202020204" pitchFamily="34" charset="0"/>
              <a:buChar char="•"/>
            </a:pPr>
            <a:endParaRPr lang="en-US" altLang="ja-JP" sz="3200" dirty="0" smtClean="0"/>
          </a:p>
          <a:p>
            <a:pPr marL="457200" lvl="1" indent="-457200">
              <a:buFont typeface="Arial" panose="020B0604020202020204" pitchFamily="34" charset="0"/>
              <a:buChar char="•"/>
            </a:pPr>
            <a:endParaRPr lang="en-US" altLang="ja-JP" sz="3200" dirty="0"/>
          </a:p>
          <a:p>
            <a:pPr marL="457200" lvl="1" indent="-457200">
              <a:buFont typeface="Arial" panose="020B0604020202020204" pitchFamily="34" charset="0"/>
              <a:buChar char="•"/>
            </a:pPr>
            <a:endParaRPr lang="en-US" altLang="ja-JP" sz="3200" dirty="0" smtClean="0"/>
          </a:p>
          <a:p>
            <a:pPr marL="457200" lvl="1" indent="-457200">
              <a:buFont typeface="Arial" panose="020B0604020202020204" pitchFamily="34" charset="0"/>
              <a:buChar char="•"/>
            </a:pPr>
            <a:endParaRPr lang="en-US" altLang="ja-JP" sz="3200" dirty="0" smtClean="0"/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US" altLang="ja-JP" sz="3200" dirty="0">
                <a:solidFill>
                  <a:schemeClr val="bg2"/>
                </a:solidFill>
              </a:rPr>
              <a:t>Case </a:t>
            </a:r>
            <a:r>
              <a:rPr lang="en-US" altLang="ja-JP" sz="3200" dirty="0" smtClean="0">
                <a:solidFill>
                  <a:schemeClr val="bg2"/>
                </a:solidFill>
              </a:rPr>
              <a:t>2: </a:t>
            </a:r>
            <a:r>
              <a:rPr lang="ja-JP" altLang="en-US" sz="3200" dirty="0">
                <a:solidFill>
                  <a:schemeClr val="bg2"/>
                </a:solidFill>
              </a:rPr>
              <a:t>部分共有関係</a:t>
            </a:r>
            <a:endParaRPr lang="en-US" altLang="ja-JP" sz="3200" dirty="0">
              <a:solidFill>
                <a:schemeClr val="bg2"/>
              </a:solidFill>
            </a:endParaRP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US" altLang="ja-JP" sz="3200" dirty="0">
                <a:solidFill>
                  <a:schemeClr val="bg2"/>
                </a:solidFill>
              </a:rPr>
              <a:t>Case</a:t>
            </a:r>
            <a:r>
              <a:rPr lang="ja-JP" altLang="en-US" sz="3200" dirty="0">
                <a:solidFill>
                  <a:schemeClr val="bg2"/>
                </a:solidFill>
              </a:rPr>
              <a:t> </a:t>
            </a:r>
            <a:r>
              <a:rPr lang="en-US" altLang="ja-JP" sz="3200" dirty="0" smtClean="0">
                <a:solidFill>
                  <a:schemeClr val="bg2"/>
                </a:solidFill>
              </a:rPr>
              <a:t>3: </a:t>
            </a:r>
            <a:r>
              <a:rPr lang="ja-JP" altLang="en-US" sz="3200" dirty="0">
                <a:solidFill>
                  <a:schemeClr val="bg2"/>
                </a:solidFill>
              </a:rPr>
              <a:t>包含関係</a:t>
            </a:r>
            <a:endParaRPr lang="en-US" altLang="ja-JP" sz="3200" dirty="0">
              <a:solidFill>
                <a:schemeClr val="bg2"/>
              </a:solidFill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</a:t>
            </a:fld>
            <a:endParaRPr kumimoji="1" lang="ja-JP" altLang="en-US" dirty="0"/>
          </a:p>
        </p:txBody>
      </p:sp>
      <p:grpSp>
        <p:nvGrpSpPr>
          <p:cNvPr id="17" name="グループ化 16"/>
          <p:cNvGrpSpPr/>
          <p:nvPr/>
        </p:nvGrpSpPr>
        <p:grpSpPr>
          <a:xfrm>
            <a:off x="1403747" y="3143322"/>
            <a:ext cx="6336506" cy="2085976"/>
            <a:chOff x="1533525" y="3240602"/>
            <a:chExt cx="6336506" cy="2085976"/>
          </a:xfrm>
        </p:grpSpPr>
        <p:grpSp>
          <p:nvGrpSpPr>
            <p:cNvPr id="7" name="グループ化 6"/>
            <p:cNvGrpSpPr/>
            <p:nvPr/>
          </p:nvGrpSpPr>
          <p:grpSpPr>
            <a:xfrm>
              <a:off x="1533525" y="3240603"/>
              <a:ext cx="2800350" cy="2085975"/>
              <a:chOff x="1533525" y="3133725"/>
              <a:chExt cx="2800350" cy="2085975"/>
            </a:xfrm>
            <a:solidFill>
              <a:schemeClr val="accent1">
                <a:lumMod val="60000"/>
                <a:lumOff val="40000"/>
              </a:schemeClr>
            </a:solidFill>
          </p:grpSpPr>
          <p:sp>
            <p:nvSpPr>
              <p:cNvPr id="5" name="円/楕円 4"/>
              <p:cNvSpPr/>
              <p:nvPr/>
            </p:nvSpPr>
            <p:spPr>
              <a:xfrm>
                <a:off x="1533525" y="3133725"/>
                <a:ext cx="2800350" cy="2085975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" name="テキスト ボックス 5"/>
              <p:cNvSpPr txBox="1"/>
              <p:nvPr/>
            </p:nvSpPr>
            <p:spPr>
              <a:xfrm>
                <a:off x="2243138" y="3333750"/>
                <a:ext cx="1381125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800" dirty="0" smtClean="0"/>
                  <a:t>タスク</a:t>
                </a:r>
                <a:r>
                  <a:rPr lang="en-US" altLang="ja-JP" sz="2800" dirty="0"/>
                  <a:t>1</a:t>
                </a:r>
                <a:endParaRPr kumimoji="1" lang="ja-JP" altLang="en-US" sz="2800" dirty="0" smtClean="0"/>
              </a:p>
            </p:txBody>
          </p:sp>
        </p:grpSp>
        <p:grpSp>
          <p:nvGrpSpPr>
            <p:cNvPr id="14" name="グループ化 13"/>
            <p:cNvGrpSpPr/>
            <p:nvPr/>
          </p:nvGrpSpPr>
          <p:grpSpPr>
            <a:xfrm>
              <a:off x="5069681" y="3240602"/>
              <a:ext cx="2800350" cy="2085975"/>
              <a:chOff x="1533525" y="3133725"/>
              <a:chExt cx="2800350" cy="2085975"/>
            </a:xfrm>
            <a:noFill/>
          </p:grpSpPr>
          <p:sp>
            <p:nvSpPr>
              <p:cNvPr id="15" name="円/楕円 14"/>
              <p:cNvSpPr/>
              <p:nvPr/>
            </p:nvSpPr>
            <p:spPr>
              <a:xfrm>
                <a:off x="1533525" y="3133725"/>
                <a:ext cx="2800350" cy="2085975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  <a:alpha val="4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6" name="テキスト ボックス 15"/>
              <p:cNvSpPr txBox="1"/>
              <p:nvPr/>
            </p:nvSpPr>
            <p:spPr>
              <a:xfrm>
                <a:off x="2243138" y="3333750"/>
                <a:ext cx="1381125" cy="523220"/>
              </a:xfrm>
              <a:prstGeom prst="rect">
                <a:avLst/>
              </a:prstGeom>
              <a:grp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800" dirty="0" smtClean="0"/>
                  <a:t>タスク</a:t>
                </a:r>
                <a:r>
                  <a:rPr lang="en-US" altLang="ja-JP" sz="2800" dirty="0" smtClean="0"/>
                  <a:t>2</a:t>
                </a:r>
                <a:endParaRPr kumimoji="1" lang="ja-JP" altLang="en-US" sz="2800" dirty="0" smtClean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868763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タスク間の関係性の分類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1"/>
            <a:r>
              <a:rPr lang="ja-JP" altLang="en-US" sz="3200" dirty="0" smtClean="0"/>
              <a:t>タスク間の関係性は，以下の</a:t>
            </a:r>
            <a:r>
              <a:rPr lang="en-US" altLang="ja-JP" sz="3200" dirty="0" smtClean="0"/>
              <a:t>3</a:t>
            </a:r>
            <a:r>
              <a:rPr lang="ja-JP" altLang="en-US" sz="3200" dirty="0" err="1" smtClean="0"/>
              <a:t>つに</a:t>
            </a:r>
            <a:r>
              <a:rPr lang="ja-JP" altLang="en-US" sz="3200" dirty="0" smtClean="0"/>
              <a:t>分類される．</a:t>
            </a:r>
            <a:endParaRPr lang="en-US" altLang="ja-JP" sz="3200" dirty="0" smtClean="0"/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US" altLang="ja-JP" sz="3200" dirty="0">
                <a:solidFill>
                  <a:schemeClr val="bg2"/>
                </a:solidFill>
              </a:rPr>
              <a:t>Case </a:t>
            </a:r>
            <a:r>
              <a:rPr lang="en-US" altLang="ja-JP" sz="3200" dirty="0" smtClean="0">
                <a:solidFill>
                  <a:schemeClr val="bg2"/>
                </a:solidFill>
              </a:rPr>
              <a:t>1: </a:t>
            </a:r>
            <a:r>
              <a:rPr lang="ja-JP" altLang="en-US" sz="3200" dirty="0" smtClean="0">
                <a:solidFill>
                  <a:schemeClr val="bg2"/>
                </a:solidFill>
              </a:rPr>
              <a:t>独立関係</a:t>
            </a:r>
            <a:endParaRPr lang="en-US" altLang="ja-JP" sz="3200" dirty="0">
              <a:solidFill>
                <a:schemeClr val="bg2"/>
              </a:solidFill>
            </a:endParaRP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US" altLang="ja-JP" sz="3200" dirty="0"/>
              <a:t>Case </a:t>
            </a:r>
            <a:r>
              <a:rPr lang="en-US" altLang="ja-JP" sz="3200" dirty="0" smtClean="0"/>
              <a:t>2: </a:t>
            </a:r>
            <a:r>
              <a:rPr lang="ja-JP" altLang="en-US" sz="3200" dirty="0"/>
              <a:t>部分共有関係</a:t>
            </a:r>
            <a:endParaRPr lang="en-US" altLang="ja-JP" sz="3200" dirty="0"/>
          </a:p>
          <a:p>
            <a:pPr marL="342900" lvl="2"/>
            <a:r>
              <a:rPr lang="ja-JP" altLang="en-US" sz="2600" dirty="0" smtClean="0"/>
              <a:t>タスクの一部で関係性がある</a:t>
            </a:r>
            <a:endParaRPr lang="en-US" altLang="ja-JP" sz="2600" dirty="0" smtClean="0"/>
          </a:p>
          <a:p>
            <a:pPr marL="457200" lvl="1" indent="-457200">
              <a:buFont typeface="Arial" panose="020B0604020202020204" pitchFamily="34" charset="0"/>
              <a:buChar char="•"/>
            </a:pPr>
            <a:endParaRPr lang="en-US" altLang="ja-JP" sz="3200" dirty="0"/>
          </a:p>
          <a:p>
            <a:pPr marL="457200" lvl="1" indent="-457200">
              <a:buFont typeface="Arial" panose="020B0604020202020204" pitchFamily="34" charset="0"/>
              <a:buChar char="•"/>
            </a:pPr>
            <a:endParaRPr lang="en-US" altLang="ja-JP" sz="3200" dirty="0" smtClean="0"/>
          </a:p>
          <a:p>
            <a:pPr marL="457200" lvl="1" indent="-457200">
              <a:buFont typeface="Arial" panose="020B0604020202020204" pitchFamily="34" charset="0"/>
              <a:buChar char="•"/>
            </a:pPr>
            <a:endParaRPr lang="en-US" altLang="ja-JP" sz="3200" dirty="0"/>
          </a:p>
          <a:p>
            <a:pPr marL="0" lvl="1"/>
            <a:endParaRPr lang="en-US" altLang="ja-JP" sz="3200" dirty="0"/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US" altLang="ja-JP" sz="3200" dirty="0">
                <a:solidFill>
                  <a:schemeClr val="bg2"/>
                </a:solidFill>
              </a:rPr>
              <a:t>Case</a:t>
            </a:r>
            <a:r>
              <a:rPr lang="ja-JP" altLang="en-US" sz="3200" dirty="0">
                <a:solidFill>
                  <a:schemeClr val="bg2"/>
                </a:solidFill>
              </a:rPr>
              <a:t> </a:t>
            </a:r>
            <a:r>
              <a:rPr lang="en-US" altLang="ja-JP" sz="3200" dirty="0" smtClean="0">
                <a:solidFill>
                  <a:schemeClr val="bg2"/>
                </a:solidFill>
              </a:rPr>
              <a:t>3: </a:t>
            </a:r>
            <a:r>
              <a:rPr lang="ja-JP" altLang="en-US" sz="3200" dirty="0">
                <a:solidFill>
                  <a:schemeClr val="bg2"/>
                </a:solidFill>
              </a:rPr>
              <a:t>包含関係</a:t>
            </a:r>
            <a:endParaRPr lang="en-US" altLang="ja-JP" sz="3200" dirty="0">
              <a:solidFill>
                <a:schemeClr val="bg2"/>
              </a:solidFill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4</a:t>
            </a:fld>
            <a:endParaRPr kumimoji="1" lang="ja-JP" altLang="en-US" dirty="0"/>
          </a:p>
        </p:txBody>
      </p:sp>
      <p:grpSp>
        <p:nvGrpSpPr>
          <p:cNvPr id="11" name="グループ化 10"/>
          <p:cNvGrpSpPr/>
          <p:nvPr/>
        </p:nvGrpSpPr>
        <p:grpSpPr>
          <a:xfrm>
            <a:off x="2116247" y="3786867"/>
            <a:ext cx="4911506" cy="2085976"/>
            <a:chOff x="2246025" y="3786867"/>
            <a:chExt cx="4911506" cy="2085976"/>
          </a:xfrm>
        </p:grpSpPr>
        <p:grpSp>
          <p:nvGrpSpPr>
            <p:cNvPr id="7" name="グループ化 6"/>
            <p:cNvGrpSpPr/>
            <p:nvPr/>
          </p:nvGrpSpPr>
          <p:grpSpPr>
            <a:xfrm>
              <a:off x="2246025" y="3786868"/>
              <a:ext cx="2800350" cy="2085975"/>
              <a:chOff x="1533525" y="3133725"/>
              <a:chExt cx="2800350" cy="2085975"/>
            </a:xfrm>
            <a:noFill/>
          </p:grpSpPr>
          <p:sp>
            <p:nvSpPr>
              <p:cNvPr id="5" name="円/楕円 4"/>
              <p:cNvSpPr/>
              <p:nvPr/>
            </p:nvSpPr>
            <p:spPr>
              <a:xfrm>
                <a:off x="1533525" y="3133725"/>
                <a:ext cx="2800350" cy="2085975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" name="テキスト ボックス 5"/>
              <p:cNvSpPr txBox="1"/>
              <p:nvPr/>
            </p:nvSpPr>
            <p:spPr>
              <a:xfrm>
                <a:off x="2243138" y="3333750"/>
                <a:ext cx="1381125" cy="523220"/>
              </a:xfrm>
              <a:prstGeom prst="rect">
                <a:avLst/>
              </a:prstGeom>
              <a:grp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800" dirty="0" smtClean="0"/>
                  <a:t>タスク</a:t>
                </a:r>
                <a:r>
                  <a:rPr lang="en-US" altLang="ja-JP" sz="2800" dirty="0"/>
                  <a:t>1</a:t>
                </a:r>
                <a:endParaRPr kumimoji="1" lang="ja-JP" altLang="en-US" sz="2800" dirty="0" smtClean="0"/>
              </a:p>
            </p:txBody>
          </p:sp>
        </p:grpSp>
        <p:grpSp>
          <p:nvGrpSpPr>
            <p:cNvPr id="8" name="グループ化 7"/>
            <p:cNvGrpSpPr/>
            <p:nvPr/>
          </p:nvGrpSpPr>
          <p:grpSpPr>
            <a:xfrm>
              <a:off x="4357181" y="3786867"/>
              <a:ext cx="2800350" cy="2085975"/>
              <a:chOff x="1533525" y="3133725"/>
              <a:chExt cx="2800350" cy="2085975"/>
            </a:xfrm>
            <a:noFill/>
          </p:grpSpPr>
          <p:sp>
            <p:nvSpPr>
              <p:cNvPr id="9" name="円/楕円 8"/>
              <p:cNvSpPr/>
              <p:nvPr/>
            </p:nvSpPr>
            <p:spPr>
              <a:xfrm>
                <a:off x="1533525" y="3133725"/>
                <a:ext cx="2800350" cy="2085975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  <a:alpha val="4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" name="テキスト ボックス 9"/>
              <p:cNvSpPr txBox="1"/>
              <p:nvPr/>
            </p:nvSpPr>
            <p:spPr>
              <a:xfrm>
                <a:off x="2243138" y="3333750"/>
                <a:ext cx="1381125" cy="523220"/>
              </a:xfrm>
              <a:prstGeom prst="rect">
                <a:avLst/>
              </a:prstGeom>
              <a:grp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800" dirty="0" smtClean="0"/>
                  <a:t>タスク</a:t>
                </a:r>
                <a:r>
                  <a:rPr lang="en-US" altLang="ja-JP" sz="2800" dirty="0" smtClean="0"/>
                  <a:t>2</a:t>
                </a:r>
                <a:endParaRPr kumimoji="1" lang="ja-JP" altLang="en-US" sz="2800" dirty="0" smtClean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50594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タスク間の関係性の分類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1"/>
            <a:r>
              <a:rPr lang="ja-JP" altLang="en-US" sz="3200" dirty="0" smtClean="0"/>
              <a:t>タスク間の関係性は，以下の</a:t>
            </a:r>
            <a:r>
              <a:rPr lang="en-US" altLang="ja-JP" sz="3200" dirty="0" smtClean="0"/>
              <a:t>3</a:t>
            </a:r>
            <a:r>
              <a:rPr lang="ja-JP" altLang="en-US" sz="3200" dirty="0" err="1" smtClean="0"/>
              <a:t>つに</a:t>
            </a:r>
            <a:r>
              <a:rPr lang="ja-JP" altLang="en-US" sz="3200" dirty="0" smtClean="0"/>
              <a:t>分類される．</a:t>
            </a:r>
            <a:endParaRPr lang="en-US" altLang="ja-JP" sz="3200" dirty="0" smtClean="0"/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US" altLang="ja-JP" sz="3200" dirty="0" smtClean="0">
                <a:solidFill>
                  <a:schemeClr val="bg2"/>
                </a:solidFill>
              </a:rPr>
              <a:t>Case </a:t>
            </a:r>
            <a:r>
              <a:rPr lang="en-US" altLang="ja-JP" sz="3200" dirty="0" smtClean="0">
                <a:solidFill>
                  <a:schemeClr val="bg2"/>
                </a:solidFill>
              </a:rPr>
              <a:t>1: </a:t>
            </a:r>
            <a:r>
              <a:rPr lang="ja-JP" altLang="en-US" sz="3200" dirty="0" smtClean="0">
                <a:solidFill>
                  <a:schemeClr val="bg2"/>
                </a:solidFill>
              </a:rPr>
              <a:t>独立関係</a:t>
            </a:r>
            <a:endParaRPr lang="en-US" altLang="ja-JP" sz="3200" dirty="0" smtClean="0">
              <a:solidFill>
                <a:schemeClr val="bg2"/>
              </a:solidFill>
            </a:endParaRP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US" altLang="ja-JP" sz="3200" dirty="0">
                <a:solidFill>
                  <a:schemeClr val="bg2"/>
                </a:solidFill>
              </a:rPr>
              <a:t>Case </a:t>
            </a:r>
            <a:r>
              <a:rPr lang="en-US" altLang="ja-JP" sz="3200" dirty="0" smtClean="0">
                <a:solidFill>
                  <a:schemeClr val="bg2"/>
                </a:solidFill>
              </a:rPr>
              <a:t>2: </a:t>
            </a:r>
            <a:r>
              <a:rPr lang="ja-JP" altLang="en-US" sz="3200" dirty="0">
                <a:solidFill>
                  <a:schemeClr val="bg2"/>
                </a:solidFill>
              </a:rPr>
              <a:t>部分共有関係</a:t>
            </a:r>
            <a:endParaRPr lang="en-US" altLang="ja-JP" sz="3200" dirty="0">
              <a:solidFill>
                <a:schemeClr val="bg2"/>
              </a:solidFill>
            </a:endParaRP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US" altLang="ja-JP" sz="3200" dirty="0"/>
              <a:t>Case</a:t>
            </a:r>
            <a:r>
              <a:rPr lang="ja-JP" altLang="en-US" sz="3200" dirty="0"/>
              <a:t> </a:t>
            </a:r>
            <a:r>
              <a:rPr lang="en-US" altLang="ja-JP" sz="3200" dirty="0" smtClean="0"/>
              <a:t>3: </a:t>
            </a:r>
            <a:r>
              <a:rPr lang="ja-JP" altLang="en-US" sz="3200" dirty="0"/>
              <a:t>包含関係</a:t>
            </a:r>
            <a:endParaRPr lang="en-US" altLang="ja-JP" sz="3200" dirty="0"/>
          </a:p>
          <a:p>
            <a:pPr marL="342900" lvl="2"/>
            <a:r>
              <a:rPr lang="ja-JP" altLang="en-US" sz="2600" dirty="0" smtClean="0"/>
              <a:t>一方のタスクが他のタスクを包含する</a:t>
            </a:r>
            <a:endParaRPr lang="en-US" altLang="ja-JP" sz="26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5</a:t>
            </a:fld>
            <a:endParaRPr kumimoji="1" lang="ja-JP" altLang="en-US" dirty="0"/>
          </a:p>
        </p:txBody>
      </p:sp>
      <p:grpSp>
        <p:nvGrpSpPr>
          <p:cNvPr id="7" name="グループ化 6"/>
          <p:cNvGrpSpPr/>
          <p:nvPr/>
        </p:nvGrpSpPr>
        <p:grpSpPr>
          <a:xfrm>
            <a:off x="3171825" y="4363316"/>
            <a:ext cx="2800350" cy="2085975"/>
            <a:chOff x="1533525" y="3133725"/>
            <a:chExt cx="2800350" cy="2085975"/>
          </a:xfrm>
          <a:solidFill>
            <a:schemeClr val="accent1">
              <a:lumMod val="60000"/>
              <a:lumOff val="40000"/>
            </a:schemeClr>
          </a:solidFill>
        </p:grpSpPr>
        <p:sp>
          <p:nvSpPr>
            <p:cNvPr id="5" name="円/楕円 4"/>
            <p:cNvSpPr/>
            <p:nvPr/>
          </p:nvSpPr>
          <p:spPr>
            <a:xfrm>
              <a:off x="1533525" y="3133725"/>
              <a:ext cx="2800350" cy="20859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テキスト ボックス 5"/>
            <p:cNvSpPr txBox="1"/>
            <p:nvPr/>
          </p:nvSpPr>
          <p:spPr>
            <a:xfrm>
              <a:off x="2243138" y="3333750"/>
              <a:ext cx="1381125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800" dirty="0" smtClean="0"/>
                <a:t>タスク</a:t>
              </a:r>
              <a:r>
                <a:rPr lang="en-US" altLang="ja-JP" sz="2800" dirty="0"/>
                <a:t>1</a:t>
              </a:r>
              <a:endParaRPr kumimoji="1" lang="ja-JP" altLang="en-US" sz="2800" dirty="0" smtClean="0"/>
            </a:p>
          </p:txBody>
        </p:sp>
      </p:grpSp>
      <p:grpSp>
        <p:nvGrpSpPr>
          <p:cNvPr id="8" name="グループ化 7"/>
          <p:cNvGrpSpPr/>
          <p:nvPr/>
        </p:nvGrpSpPr>
        <p:grpSpPr>
          <a:xfrm>
            <a:off x="3702602" y="5086561"/>
            <a:ext cx="1738797" cy="1087459"/>
            <a:chOff x="2064302" y="3133725"/>
            <a:chExt cx="1738797" cy="1087459"/>
          </a:xfrm>
        </p:grpSpPr>
        <p:sp>
          <p:nvSpPr>
            <p:cNvPr id="9" name="円/楕円 8"/>
            <p:cNvSpPr/>
            <p:nvPr/>
          </p:nvSpPr>
          <p:spPr>
            <a:xfrm>
              <a:off x="2064302" y="3133725"/>
              <a:ext cx="1738797" cy="108745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テキスト ボックス 9"/>
            <p:cNvSpPr txBox="1"/>
            <p:nvPr/>
          </p:nvSpPr>
          <p:spPr>
            <a:xfrm>
              <a:off x="2243138" y="3415844"/>
              <a:ext cx="1381125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800" dirty="0" smtClean="0"/>
                <a:t>タスク</a:t>
              </a:r>
              <a:r>
                <a:rPr lang="en-US" altLang="ja-JP" sz="2800" dirty="0" smtClean="0"/>
                <a:t>2</a:t>
              </a:r>
              <a:endParaRPr kumimoji="1" lang="ja-JP" altLang="en-US" sz="2800" dirty="0" smtClean="0"/>
            </a:p>
          </p:txBody>
        </p:sp>
      </p:grpSp>
    </p:spTree>
    <p:extLst>
      <p:ext uri="{BB962C8B-B14F-4D97-AF65-F5344CB8AC3E}">
        <p14:creationId xmlns:p14="http://schemas.microsoft.com/office/powerpoint/2010/main" val="22496522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本研究の目的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 smtClean="0"/>
              <a:t>既存</a:t>
            </a:r>
            <a:r>
              <a:rPr lang="ja-JP" altLang="en-US" dirty="0" smtClean="0"/>
              <a:t>のベンチマーク問題</a:t>
            </a:r>
            <a:r>
              <a:rPr lang="en-US" altLang="ja-JP" sz="2400" dirty="0" smtClean="0"/>
              <a:t>[</a:t>
            </a:r>
            <a:r>
              <a:rPr lang="en-US" altLang="ja-JP" sz="2400" dirty="0"/>
              <a:t>Yuan et al., 2017]</a:t>
            </a:r>
            <a:r>
              <a:rPr lang="ja-JP" altLang="en-US" dirty="0"/>
              <a:t>では</a:t>
            </a:r>
            <a:r>
              <a:rPr lang="ja-JP" altLang="en-US" dirty="0" smtClean="0"/>
              <a:t>，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各タスク</a:t>
            </a:r>
            <a:r>
              <a:rPr lang="ja-JP" altLang="en-US" dirty="0" smtClean="0"/>
              <a:t>は複雑</a:t>
            </a:r>
            <a:r>
              <a:rPr lang="ja-JP" altLang="en-US" dirty="0"/>
              <a:t>な高次方程式</a:t>
            </a:r>
            <a:r>
              <a:rPr lang="ja-JP" altLang="en-US" dirty="0" smtClean="0"/>
              <a:t>で</a:t>
            </a:r>
            <a:r>
              <a:rPr lang="ja-JP" altLang="en-US" dirty="0"/>
              <a:t>構成</a:t>
            </a:r>
            <a:r>
              <a:rPr lang="ja-JP" altLang="en-US" dirty="0" smtClean="0"/>
              <a:t>される</a:t>
            </a:r>
            <a:r>
              <a:rPr lang="ja-JP" altLang="en-US" dirty="0" smtClean="0"/>
              <a:t>．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その</a:t>
            </a:r>
            <a:r>
              <a:rPr lang="ja-JP" altLang="en-US" dirty="0"/>
              <a:t>ため</a:t>
            </a:r>
            <a:r>
              <a:rPr lang="ja-JP" altLang="en-US" dirty="0" smtClean="0"/>
              <a:t>，タスク間</a:t>
            </a:r>
            <a:r>
              <a:rPr lang="ja-JP" altLang="en-US" dirty="0"/>
              <a:t>の</a:t>
            </a:r>
            <a:r>
              <a:rPr lang="ja-JP" altLang="en-US" b="1" dirty="0">
                <a:solidFill>
                  <a:schemeClr val="accent2"/>
                </a:solidFill>
              </a:rPr>
              <a:t>関係性</a:t>
            </a:r>
            <a:r>
              <a:rPr lang="ja-JP" altLang="en-US" b="1" dirty="0" smtClean="0">
                <a:solidFill>
                  <a:schemeClr val="accent2"/>
                </a:solidFill>
              </a:rPr>
              <a:t>が不明瞭</a:t>
            </a:r>
            <a:r>
              <a:rPr lang="ja-JP" altLang="en-US" dirty="0" smtClean="0"/>
              <a:t>である．</a:t>
            </a:r>
            <a:endParaRPr lang="en-US" altLang="ja-JP" dirty="0"/>
          </a:p>
          <a:p>
            <a:endParaRPr lang="en-US" altLang="ja-JP" dirty="0" smtClean="0"/>
          </a:p>
          <a:p>
            <a:r>
              <a:rPr lang="ja-JP" altLang="en-US" dirty="0" smtClean="0"/>
              <a:t>本研究では，各タスクが単純な問題で構成され，タスク間の</a:t>
            </a:r>
            <a:r>
              <a:rPr lang="ja-JP" altLang="en-US" b="1" dirty="0" smtClean="0">
                <a:solidFill>
                  <a:schemeClr val="accent1"/>
                </a:solidFill>
              </a:rPr>
              <a:t>関係性が明瞭</a:t>
            </a:r>
            <a:r>
              <a:rPr lang="ja-JP" altLang="en-US" dirty="0" smtClean="0"/>
              <a:t>な，新た</a:t>
            </a:r>
            <a:r>
              <a:rPr lang="ja-JP" altLang="en-US" dirty="0" smtClean="0"/>
              <a:t>なベンチマーク問題を</a:t>
            </a:r>
            <a:r>
              <a:rPr lang="ja-JP" altLang="en-US" dirty="0" smtClean="0"/>
              <a:t>提案する．</a:t>
            </a:r>
            <a:endParaRPr lang="en-US" altLang="ja-JP" dirty="0" smtClean="0"/>
          </a:p>
          <a:p>
            <a:r>
              <a:rPr kumimoji="1" lang="ja-JP" altLang="en-US" dirty="0" smtClean="0"/>
              <a:t>また，提案問題では，パラメータによりタスク間の</a:t>
            </a:r>
            <a:r>
              <a:rPr kumimoji="1" lang="ja-JP" altLang="en-US" b="1" dirty="0" smtClean="0">
                <a:solidFill>
                  <a:schemeClr val="accent1"/>
                </a:solidFill>
              </a:rPr>
              <a:t>関係性を調整可能</a:t>
            </a:r>
            <a:r>
              <a:rPr kumimoji="1" lang="ja-JP" altLang="en-US" dirty="0" smtClean="0"/>
              <a:t>な問題にする．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6</a:t>
            </a:fld>
            <a:endParaRPr kumimoji="1" lang="ja-JP" altLang="en-US" dirty="0"/>
          </a:p>
        </p:txBody>
      </p:sp>
      <p:sp>
        <p:nvSpPr>
          <p:cNvPr id="6" name="下矢印 5"/>
          <p:cNvSpPr/>
          <p:nvPr/>
        </p:nvSpPr>
        <p:spPr>
          <a:xfrm>
            <a:off x="4331907" y="2977774"/>
            <a:ext cx="480186" cy="550027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8999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本研究の目的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b="1" dirty="0" smtClean="0"/>
              <a:t>&lt;</a:t>
            </a:r>
            <a:r>
              <a:rPr kumimoji="1" lang="ja-JP" altLang="en-US" b="1" dirty="0" smtClean="0"/>
              <a:t>目的</a:t>
            </a:r>
            <a:r>
              <a:rPr kumimoji="1" lang="en-US" altLang="ja-JP" b="1" dirty="0" smtClean="0"/>
              <a:t>&gt;</a:t>
            </a:r>
          </a:p>
          <a:p>
            <a:r>
              <a:rPr lang="ja-JP" altLang="en-US" dirty="0" smtClean="0"/>
              <a:t>タスク間の</a:t>
            </a:r>
            <a:r>
              <a:rPr lang="ja-JP" altLang="en-US" b="1" dirty="0" smtClean="0">
                <a:solidFill>
                  <a:schemeClr val="accent1"/>
                </a:solidFill>
              </a:rPr>
              <a:t>関係性が明瞭</a:t>
            </a:r>
            <a:r>
              <a:rPr lang="ja-JP" altLang="en-US" dirty="0" smtClean="0"/>
              <a:t>であり，</a:t>
            </a:r>
            <a:r>
              <a:rPr lang="ja-JP" altLang="en-US" dirty="0" smtClean="0"/>
              <a:t>関係性が</a:t>
            </a:r>
            <a:r>
              <a:rPr lang="ja-JP" altLang="en-US" b="1" dirty="0" smtClean="0">
                <a:solidFill>
                  <a:schemeClr val="accent1"/>
                </a:solidFill>
              </a:rPr>
              <a:t>調整</a:t>
            </a:r>
            <a:r>
              <a:rPr lang="en-US" altLang="ja-JP" b="1" dirty="0" smtClean="0">
                <a:solidFill>
                  <a:schemeClr val="accent1"/>
                </a:solidFill>
              </a:rPr>
              <a:t/>
            </a:r>
            <a:br>
              <a:rPr lang="en-US" altLang="ja-JP" b="1" dirty="0" smtClean="0">
                <a:solidFill>
                  <a:schemeClr val="accent1"/>
                </a:solidFill>
              </a:rPr>
            </a:br>
            <a:r>
              <a:rPr lang="ja-JP" altLang="en-US" b="1" dirty="0" smtClean="0">
                <a:solidFill>
                  <a:schemeClr val="accent1"/>
                </a:solidFill>
              </a:rPr>
              <a:t>可能</a:t>
            </a:r>
            <a:r>
              <a:rPr lang="ja-JP" altLang="en-US" dirty="0" smtClean="0"/>
              <a:t>な新たな</a:t>
            </a:r>
            <a:r>
              <a:rPr lang="ja-JP" altLang="en-US" dirty="0" smtClean="0"/>
              <a:t>マルチタスクベンチマーク問題を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提案</a:t>
            </a:r>
            <a:r>
              <a:rPr lang="ja-JP" altLang="en-US" dirty="0" smtClean="0"/>
              <a:t>する．</a:t>
            </a:r>
            <a:endParaRPr lang="en-US" altLang="ja-JP" dirty="0" smtClean="0"/>
          </a:p>
          <a:p>
            <a:endParaRPr lang="en-US" altLang="ja-JP" dirty="0" smtClean="0"/>
          </a:p>
          <a:p>
            <a:r>
              <a:rPr lang="en-US" altLang="ja-JP" b="1" dirty="0" smtClean="0"/>
              <a:t>&lt;</a:t>
            </a:r>
            <a:r>
              <a:rPr lang="ja-JP" altLang="en-US" b="1" dirty="0" smtClean="0"/>
              <a:t>アプローチ</a:t>
            </a:r>
            <a:r>
              <a:rPr lang="en-US" altLang="ja-JP" b="1" dirty="0" smtClean="0"/>
              <a:t>&gt;</a:t>
            </a:r>
          </a:p>
          <a:p>
            <a:r>
              <a:rPr kumimoji="1" lang="ja-JP" altLang="en-US" dirty="0" smtClean="0"/>
              <a:t>各タスクに</a:t>
            </a:r>
            <a:r>
              <a:rPr kumimoji="1" lang="ja-JP" altLang="en-US" b="1" dirty="0" smtClean="0">
                <a:solidFill>
                  <a:schemeClr val="accent1"/>
                </a:solidFill>
              </a:rPr>
              <a:t>多目的ナップサック問題</a:t>
            </a:r>
            <a:r>
              <a:rPr lang="ja-JP" altLang="en-US" dirty="0" smtClean="0"/>
              <a:t>を利用して，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kumimoji="1" lang="ja-JP" altLang="en-US" dirty="0" smtClean="0"/>
              <a:t>ベンチマーク問題</a:t>
            </a:r>
            <a:r>
              <a:rPr lang="ja-JP" altLang="en-US" dirty="0" smtClean="0"/>
              <a:t>を</a:t>
            </a:r>
            <a:r>
              <a:rPr lang="ja-JP" altLang="en-US" dirty="0"/>
              <a:t>作成</a:t>
            </a:r>
            <a:r>
              <a:rPr lang="ja-JP" altLang="en-US" dirty="0" smtClean="0"/>
              <a:t>する．</a:t>
            </a:r>
            <a:endParaRPr lang="en-US" altLang="ja-JP" dirty="0" smtClean="0"/>
          </a:p>
          <a:p>
            <a:r>
              <a:rPr lang="ja-JP" altLang="en-US" dirty="0"/>
              <a:t>タスク</a:t>
            </a:r>
            <a:r>
              <a:rPr lang="en-US" altLang="ja-JP" dirty="0" smtClean="0"/>
              <a:t>1</a:t>
            </a:r>
            <a:r>
              <a:rPr lang="ja-JP" altLang="en-US" dirty="0" smtClean="0"/>
              <a:t>に変更を加えた問題をタスク</a:t>
            </a:r>
            <a:r>
              <a:rPr lang="en-US" altLang="ja-JP" dirty="0" smtClean="0"/>
              <a:t>2</a:t>
            </a:r>
            <a:r>
              <a:rPr lang="ja-JP" altLang="en-US" dirty="0" smtClean="0"/>
              <a:t>に設定する．</a:t>
            </a:r>
            <a:endParaRPr kumimoji="1" lang="en-US" altLang="ja-JP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7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30229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多目的ナップサック問題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 smtClean="0"/>
              <a:t>(</a:t>
            </a:r>
            <a:r>
              <a:rPr lang="ja-JP" altLang="en-US" dirty="0"/>
              <a:t>単</a:t>
            </a:r>
            <a:r>
              <a:rPr lang="ja-JP" altLang="en-US" dirty="0" smtClean="0"/>
              <a:t>目的</a:t>
            </a:r>
            <a:r>
              <a:rPr kumimoji="1" lang="en-US" altLang="ja-JP" dirty="0" smtClean="0"/>
              <a:t>)</a:t>
            </a:r>
            <a:r>
              <a:rPr kumimoji="1" lang="ja-JP" altLang="en-US" dirty="0" smtClean="0"/>
              <a:t>ナップサック問題を多目的化した問題</a:t>
            </a:r>
            <a:endParaRPr kumimoji="1" lang="en-US" altLang="ja-JP" dirty="0" smtClean="0"/>
          </a:p>
          <a:p>
            <a:pPr algn="r"/>
            <a:r>
              <a:rPr lang="ja-JP" altLang="en-US" sz="2800" dirty="0" smtClean="0"/>
              <a:t>ナップサック問題： ナップサック内にアイテムを詰め込み，アイテムの価値の総和を最大化する．</a:t>
            </a:r>
            <a:endParaRPr kumimoji="1" lang="ja-JP" altLang="en-US" sz="28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8</a:t>
            </a:fld>
            <a:endParaRPr kumimoji="1" lang="ja-JP" altLang="en-US" dirty="0"/>
          </a:p>
        </p:txBody>
      </p:sp>
      <p:grpSp>
        <p:nvGrpSpPr>
          <p:cNvPr id="15" name="グループ化 14"/>
          <p:cNvGrpSpPr/>
          <p:nvPr/>
        </p:nvGrpSpPr>
        <p:grpSpPr>
          <a:xfrm>
            <a:off x="1837217" y="3412792"/>
            <a:ext cx="6677507" cy="1432412"/>
            <a:chOff x="1837217" y="3412792"/>
            <a:chExt cx="6677507" cy="1432412"/>
          </a:xfrm>
        </p:grpSpPr>
        <p:pic>
          <p:nvPicPr>
            <p:cNvPr id="5" name="図 4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r="332" b="26611"/>
            <a:stretch/>
          </p:blipFill>
          <p:spPr>
            <a:xfrm>
              <a:off x="1837217" y="3653863"/>
              <a:ext cx="899281" cy="1191341"/>
            </a:xfrm>
            <a:prstGeom prst="rect">
              <a:avLst/>
            </a:prstGeom>
          </p:spPr>
        </p:pic>
        <p:grpSp>
          <p:nvGrpSpPr>
            <p:cNvPr id="6" name="グループ化 5"/>
            <p:cNvGrpSpPr/>
            <p:nvPr/>
          </p:nvGrpSpPr>
          <p:grpSpPr>
            <a:xfrm>
              <a:off x="4476124" y="3412792"/>
              <a:ext cx="4038600" cy="1432412"/>
              <a:chOff x="2400301" y="1802131"/>
              <a:chExt cx="4038600" cy="1432412"/>
            </a:xfrm>
          </p:grpSpPr>
          <p:grpSp>
            <p:nvGrpSpPr>
              <p:cNvPr id="7" name="グループ化 6"/>
              <p:cNvGrpSpPr/>
              <p:nvPr/>
            </p:nvGrpSpPr>
            <p:grpSpPr>
              <a:xfrm>
                <a:off x="2400301" y="1802131"/>
                <a:ext cx="4038600" cy="1432412"/>
                <a:chOff x="2400301" y="1802131"/>
                <a:chExt cx="4038600" cy="1432412"/>
              </a:xfrm>
            </p:grpSpPr>
            <p:sp>
              <p:nvSpPr>
                <p:cNvPr id="12" name="テキスト ボックス 11"/>
                <p:cNvSpPr txBox="1"/>
                <p:nvPr/>
              </p:nvSpPr>
              <p:spPr>
                <a:xfrm>
                  <a:off x="2400301" y="2156607"/>
                  <a:ext cx="4038600" cy="1077936"/>
                </a:xfrm>
                <a:prstGeom prst="rect">
                  <a:avLst/>
                </a:prstGeom>
                <a:noFill/>
                <a:ln w="381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endParaRPr kumimoji="1" lang="ja-JP" altLang="en-US" sz="2800" dirty="0" smtClean="0"/>
                </a:p>
              </p:txBody>
            </p:sp>
            <p:sp>
              <p:nvSpPr>
                <p:cNvPr id="13" name="テキスト ボックス 12"/>
                <p:cNvSpPr txBox="1"/>
                <p:nvPr/>
              </p:nvSpPr>
              <p:spPr>
                <a:xfrm>
                  <a:off x="2666595" y="1802131"/>
                  <a:ext cx="2403086" cy="523220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ja-JP" altLang="en-US" sz="2800" dirty="0" smtClean="0"/>
                    <a:t>アイテム集合</a:t>
                  </a:r>
                  <a:r>
                    <a:rPr kumimoji="1" lang="en-US" altLang="ja-JP" sz="2800" dirty="0" smtClean="0"/>
                    <a:t>1</a:t>
                  </a:r>
                  <a:endParaRPr kumimoji="1" lang="ja-JP" altLang="en-US" sz="2800" dirty="0" smtClean="0"/>
                </a:p>
              </p:txBody>
            </p:sp>
          </p:grpSp>
          <p:grpSp>
            <p:nvGrpSpPr>
              <p:cNvPr id="8" name="グループ化 7"/>
              <p:cNvGrpSpPr/>
              <p:nvPr/>
            </p:nvGrpSpPr>
            <p:grpSpPr>
              <a:xfrm>
                <a:off x="2663704" y="2290762"/>
                <a:ext cx="2929018" cy="809626"/>
                <a:chOff x="2663704" y="2290762"/>
                <a:chExt cx="2929018" cy="809626"/>
              </a:xfrm>
            </p:grpSpPr>
            <p:pic>
              <p:nvPicPr>
                <p:cNvPr id="9" name="図 8"/>
                <p:cNvPicPr>
                  <a:picLocks noChangeAspect="1"/>
                </p:cNvPicPr>
                <p:nvPr/>
              </p:nvPicPr>
              <p:blipFill rotWithShape="1">
                <a:blip r:embed="rId3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9965" t="3726" r="14240" b="24760"/>
                <a:stretch/>
              </p:blipFill>
              <p:spPr>
                <a:xfrm>
                  <a:off x="3713075" y="2290762"/>
                  <a:ext cx="663350" cy="809626"/>
                </a:xfrm>
                <a:prstGeom prst="rect">
                  <a:avLst/>
                </a:prstGeom>
              </p:spPr>
            </p:pic>
            <p:pic>
              <p:nvPicPr>
                <p:cNvPr id="10" name="図 9"/>
                <p:cNvPicPr>
                  <a:picLocks noChangeAspect="1"/>
                </p:cNvPicPr>
                <p:nvPr/>
              </p:nvPicPr>
              <p:blipFill rotWithShape="1">
                <a:blip r:embed="rId4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2063" r="4202" b="23007"/>
                <a:stretch/>
              </p:blipFill>
              <p:spPr>
                <a:xfrm>
                  <a:off x="2663704" y="2290762"/>
                  <a:ext cx="827773" cy="809626"/>
                </a:xfrm>
                <a:prstGeom prst="rect">
                  <a:avLst/>
                </a:prstGeom>
              </p:spPr>
            </p:pic>
            <p:sp>
              <p:nvSpPr>
                <p:cNvPr id="11" name="テキスト ボックス 10"/>
                <p:cNvSpPr txBox="1"/>
                <p:nvPr/>
              </p:nvSpPr>
              <p:spPr>
                <a:xfrm>
                  <a:off x="4332475" y="2433965"/>
                  <a:ext cx="1260247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ja-JP" altLang="en-US" sz="2800" dirty="0" smtClean="0"/>
                    <a:t>･･･</a:t>
                  </a:r>
                </a:p>
              </p:txBody>
            </p:sp>
          </p:grpSp>
        </p:grpSp>
        <p:sp>
          <p:nvSpPr>
            <p:cNvPr id="14" name="円弧 13"/>
            <p:cNvSpPr/>
            <p:nvPr/>
          </p:nvSpPr>
          <p:spPr>
            <a:xfrm flipH="1">
              <a:off x="2637687" y="3499379"/>
              <a:ext cx="1883584" cy="1124832"/>
            </a:xfrm>
            <a:prstGeom prst="arc">
              <a:avLst>
                <a:gd name="adj1" fmla="val 11755284"/>
                <a:gd name="adj2" fmla="val 20753704"/>
              </a:avLst>
            </a:prstGeom>
            <a:ln w="762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 b="1" dirty="0"/>
            </a:p>
          </p:txBody>
        </p:sp>
      </p:grpSp>
      <p:grpSp>
        <p:nvGrpSpPr>
          <p:cNvPr id="16" name="グループ化 15"/>
          <p:cNvGrpSpPr/>
          <p:nvPr/>
        </p:nvGrpSpPr>
        <p:grpSpPr>
          <a:xfrm>
            <a:off x="1837217" y="5236258"/>
            <a:ext cx="6677507" cy="1432412"/>
            <a:chOff x="1837217" y="5236258"/>
            <a:chExt cx="6677507" cy="1432412"/>
          </a:xfrm>
        </p:grpSpPr>
        <p:pic>
          <p:nvPicPr>
            <p:cNvPr id="18" name="図 17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r="332" b="26611"/>
            <a:stretch/>
          </p:blipFill>
          <p:spPr>
            <a:xfrm>
              <a:off x="1837217" y="5432066"/>
              <a:ext cx="899281" cy="1191341"/>
            </a:xfrm>
            <a:prstGeom prst="rect">
              <a:avLst/>
            </a:prstGeom>
          </p:spPr>
        </p:pic>
        <p:grpSp>
          <p:nvGrpSpPr>
            <p:cNvPr id="26" name="グループ化 25"/>
            <p:cNvGrpSpPr/>
            <p:nvPr/>
          </p:nvGrpSpPr>
          <p:grpSpPr>
            <a:xfrm>
              <a:off x="4476124" y="5236258"/>
              <a:ext cx="4038600" cy="1432412"/>
              <a:chOff x="4211280" y="5010628"/>
              <a:chExt cx="4038600" cy="1432412"/>
            </a:xfrm>
          </p:grpSpPr>
          <p:grpSp>
            <p:nvGrpSpPr>
              <p:cNvPr id="25" name="グループ化 24"/>
              <p:cNvGrpSpPr/>
              <p:nvPr/>
            </p:nvGrpSpPr>
            <p:grpSpPr>
              <a:xfrm>
                <a:off x="4211280" y="5010628"/>
                <a:ext cx="4038600" cy="1432412"/>
                <a:chOff x="4211280" y="5010628"/>
                <a:chExt cx="4038600" cy="1432412"/>
              </a:xfrm>
            </p:grpSpPr>
            <p:sp>
              <p:nvSpPr>
                <p:cNvPr id="20" name="テキスト ボックス 19"/>
                <p:cNvSpPr txBox="1"/>
                <p:nvPr/>
              </p:nvSpPr>
              <p:spPr>
                <a:xfrm>
                  <a:off x="4211280" y="5365104"/>
                  <a:ext cx="4038600" cy="1077936"/>
                </a:xfrm>
                <a:prstGeom prst="rect">
                  <a:avLst/>
                </a:prstGeom>
                <a:noFill/>
                <a:ln w="381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endParaRPr kumimoji="1" lang="ja-JP" altLang="en-US" sz="2800" dirty="0" smtClean="0"/>
                </a:p>
              </p:txBody>
            </p:sp>
            <p:sp>
              <p:nvSpPr>
                <p:cNvPr id="21" name="テキスト ボックス 20"/>
                <p:cNvSpPr txBox="1"/>
                <p:nvPr/>
              </p:nvSpPr>
              <p:spPr>
                <a:xfrm>
                  <a:off x="4477574" y="5010628"/>
                  <a:ext cx="2403086" cy="523220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ja-JP" altLang="en-US" sz="2800" dirty="0" smtClean="0"/>
                    <a:t>アイテム集合</a:t>
                  </a:r>
                  <a:r>
                    <a:rPr lang="en-US" altLang="ja-JP" sz="2800" dirty="0"/>
                    <a:t>2</a:t>
                  </a:r>
                  <a:endParaRPr kumimoji="1" lang="ja-JP" altLang="en-US" sz="2800" dirty="0" smtClean="0"/>
                </a:p>
              </p:txBody>
            </p:sp>
          </p:grpSp>
          <p:grpSp>
            <p:nvGrpSpPr>
              <p:cNvPr id="24" name="グループ化 23"/>
              <p:cNvGrpSpPr/>
              <p:nvPr/>
            </p:nvGrpSpPr>
            <p:grpSpPr>
              <a:xfrm>
                <a:off x="4435313" y="5530209"/>
                <a:ext cx="2968389" cy="747727"/>
                <a:chOff x="4435313" y="5530209"/>
                <a:chExt cx="2968389" cy="747727"/>
              </a:xfrm>
            </p:grpSpPr>
            <p:pic>
              <p:nvPicPr>
                <p:cNvPr id="17" name="コンテンツ プレースホルダー 6"/>
                <p:cNvPicPr>
                  <a:picLocks noChangeAspect="1"/>
                </p:cNvPicPr>
                <p:nvPr/>
              </p:nvPicPr>
              <p:blipFill rotWithShape="1">
                <a:blip r:embed="rId5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b="16245"/>
                <a:stretch/>
              </p:blipFill>
              <p:spPr bwMode="auto">
                <a:xfrm>
                  <a:off x="5371916" y="5740508"/>
                  <a:ext cx="1019359" cy="49932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9" name="図 18"/>
                <p:cNvPicPr>
                  <a:picLocks noChangeAspect="1"/>
                </p:cNvPicPr>
                <p:nvPr/>
              </p:nvPicPr>
              <p:blipFill rotWithShape="1">
                <a:blip r:embed="rId6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-198" t="6421" r="2853" b="25476"/>
                <a:stretch/>
              </p:blipFill>
              <p:spPr>
                <a:xfrm>
                  <a:off x="4435313" y="5530209"/>
                  <a:ext cx="855833" cy="747727"/>
                </a:xfrm>
                <a:prstGeom prst="rect">
                  <a:avLst/>
                </a:prstGeom>
              </p:spPr>
            </p:pic>
            <p:sp>
              <p:nvSpPr>
                <p:cNvPr id="22" name="テキスト ボックス 21"/>
                <p:cNvSpPr txBox="1"/>
                <p:nvPr/>
              </p:nvSpPr>
              <p:spPr>
                <a:xfrm>
                  <a:off x="6143455" y="5642462"/>
                  <a:ext cx="1260247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ja-JP" altLang="en-US" sz="2800" dirty="0" smtClean="0"/>
                    <a:t>･･･</a:t>
                  </a:r>
                </a:p>
              </p:txBody>
            </p:sp>
          </p:grpSp>
        </p:grpSp>
        <p:sp>
          <p:nvSpPr>
            <p:cNvPr id="28" name="円弧 27"/>
            <p:cNvSpPr/>
            <p:nvPr/>
          </p:nvSpPr>
          <p:spPr>
            <a:xfrm flipH="1">
              <a:off x="2637687" y="5299434"/>
              <a:ext cx="1883584" cy="1124832"/>
            </a:xfrm>
            <a:prstGeom prst="arc">
              <a:avLst>
                <a:gd name="adj1" fmla="val 11755284"/>
                <a:gd name="adj2" fmla="val 20753704"/>
              </a:avLst>
            </a:prstGeom>
            <a:ln w="762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 b="1" dirty="0"/>
            </a:p>
          </p:txBody>
        </p:sp>
      </p:grpSp>
      <p:sp>
        <p:nvSpPr>
          <p:cNvPr id="29" name="テキスト ボックス 28"/>
          <p:cNvSpPr txBox="1"/>
          <p:nvPr/>
        </p:nvSpPr>
        <p:spPr>
          <a:xfrm>
            <a:off x="228600" y="3050983"/>
            <a:ext cx="1305695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目的</a:t>
            </a:r>
            <a:r>
              <a:rPr kumimoji="1" lang="en-US" altLang="ja-JP" sz="3200" dirty="0" smtClean="0"/>
              <a:t>1</a:t>
            </a:r>
            <a:endParaRPr kumimoji="1" lang="ja-JP" altLang="en-US" sz="3200" dirty="0" smtClean="0"/>
          </a:p>
        </p:txBody>
      </p:sp>
      <p:sp>
        <p:nvSpPr>
          <p:cNvPr id="33" name="テキスト ボックス 32"/>
          <p:cNvSpPr txBox="1"/>
          <p:nvPr/>
        </p:nvSpPr>
        <p:spPr>
          <a:xfrm>
            <a:off x="228600" y="4936679"/>
            <a:ext cx="1305695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 smtClean="0"/>
              <a:t>目的</a:t>
            </a:r>
            <a:r>
              <a:rPr lang="en-US" altLang="ja-JP" sz="3200" dirty="0"/>
              <a:t>2</a:t>
            </a:r>
            <a:endParaRPr kumimoji="1" lang="ja-JP" altLang="en-US" sz="3200" dirty="0" smtClean="0"/>
          </a:p>
        </p:txBody>
      </p:sp>
      <p:pic>
        <p:nvPicPr>
          <p:cNvPr id="23" name="図 22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120"/>
          <a:stretch/>
        </p:blipFill>
        <p:spPr>
          <a:xfrm>
            <a:off x="7446128" y="5625426"/>
            <a:ext cx="972286" cy="1002653"/>
          </a:xfrm>
          <a:prstGeom prst="rect">
            <a:avLst/>
          </a:prstGeom>
        </p:spPr>
      </p:pic>
      <p:pic>
        <p:nvPicPr>
          <p:cNvPr id="27" name="図 26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715"/>
          <a:stretch/>
        </p:blipFill>
        <p:spPr>
          <a:xfrm>
            <a:off x="7529943" y="3936012"/>
            <a:ext cx="804657" cy="854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935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</a:t>
            </a:r>
            <a:r>
              <a:rPr kumimoji="1" lang="ja-JP" altLang="en-US" dirty="0" smtClean="0"/>
              <a:t>するベンチマーク問題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 smtClean="0"/>
              <a:t>異なる多目的ナップサック問題を各タスクとした，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ベンチマーク問題を</a:t>
            </a:r>
            <a:r>
              <a:rPr lang="ja-JP" altLang="en-US" dirty="0" smtClean="0"/>
              <a:t>作成する</a:t>
            </a:r>
            <a:r>
              <a:rPr lang="ja-JP" altLang="en-US" dirty="0"/>
              <a:t>．</a:t>
            </a:r>
            <a:endParaRPr lang="en-US" altLang="ja-JP" dirty="0"/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9</a:t>
            </a:fld>
            <a:endParaRPr kumimoji="1" lang="ja-JP" altLang="en-US" dirty="0"/>
          </a:p>
        </p:txBody>
      </p:sp>
      <p:grpSp>
        <p:nvGrpSpPr>
          <p:cNvPr id="13" name="グループ化 12"/>
          <p:cNvGrpSpPr/>
          <p:nvPr/>
        </p:nvGrpSpPr>
        <p:grpSpPr>
          <a:xfrm>
            <a:off x="352507" y="2789373"/>
            <a:ext cx="3878862" cy="3834034"/>
            <a:chOff x="352507" y="2789373"/>
            <a:chExt cx="3878862" cy="3834034"/>
          </a:xfrm>
        </p:grpSpPr>
        <p:grpSp>
          <p:nvGrpSpPr>
            <p:cNvPr id="11" name="グループ化 10"/>
            <p:cNvGrpSpPr/>
            <p:nvPr/>
          </p:nvGrpSpPr>
          <p:grpSpPr>
            <a:xfrm>
              <a:off x="715623" y="3495383"/>
              <a:ext cx="2733530" cy="2990568"/>
              <a:chOff x="786742" y="3546987"/>
              <a:chExt cx="2733530" cy="2990568"/>
            </a:xfrm>
          </p:grpSpPr>
          <p:pic>
            <p:nvPicPr>
              <p:cNvPr id="5" name="図 4"/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" r="332" b="26611"/>
              <a:stretch/>
            </p:blipFill>
            <p:spPr>
              <a:xfrm>
                <a:off x="2620991" y="3635887"/>
                <a:ext cx="899281" cy="1191341"/>
              </a:xfrm>
              <a:prstGeom prst="rect">
                <a:avLst/>
              </a:prstGeom>
            </p:spPr>
          </p:pic>
          <p:pic>
            <p:nvPicPr>
              <p:cNvPr id="6" name="図 5"/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" r="332" b="26611"/>
              <a:stretch/>
            </p:blipFill>
            <p:spPr>
              <a:xfrm>
                <a:off x="2620991" y="5346214"/>
                <a:ext cx="899281" cy="1191341"/>
              </a:xfrm>
              <a:prstGeom prst="rect">
                <a:avLst/>
              </a:prstGeom>
            </p:spPr>
          </p:pic>
          <p:sp>
            <p:nvSpPr>
              <p:cNvPr id="7" name="テキスト ボックス 6"/>
              <p:cNvSpPr txBox="1"/>
              <p:nvPr/>
            </p:nvSpPr>
            <p:spPr>
              <a:xfrm>
                <a:off x="786742" y="3546987"/>
                <a:ext cx="1305695" cy="584775"/>
              </a:xfrm>
              <a:prstGeom prst="rect">
                <a:avLst/>
              </a:prstGeom>
              <a:noFill/>
              <a:ln w="38100"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3200" dirty="0"/>
                  <a:t>目的</a:t>
                </a:r>
                <a:r>
                  <a:rPr kumimoji="1" lang="en-US" altLang="ja-JP" sz="3200" dirty="0" smtClean="0"/>
                  <a:t>1</a:t>
                </a:r>
                <a:endParaRPr kumimoji="1" lang="ja-JP" altLang="en-US" sz="3200" dirty="0" smtClean="0"/>
              </a:p>
            </p:txBody>
          </p:sp>
          <p:sp>
            <p:nvSpPr>
              <p:cNvPr id="8" name="テキスト ボックス 7"/>
              <p:cNvSpPr txBox="1"/>
              <p:nvPr/>
            </p:nvSpPr>
            <p:spPr>
              <a:xfrm>
                <a:off x="786742" y="5257314"/>
                <a:ext cx="1305695" cy="584775"/>
              </a:xfrm>
              <a:prstGeom prst="rect">
                <a:avLst/>
              </a:prstGeom>
              <a:noFill/>
              <a:ln w="38100"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3200" dirty="0" smtClean="0"/>
                  <a:t>目的</a:t>
                </a:r>
                <a:r>
                  <a:rPr lang="en-US" altLang="ja-JP" sz="3200" dirty="0"/>
                  <a:t>2</a:t>
                </a:r>
                <a:endParaRPr kumimoji="1" lang="ja-JP" altLang="en-US" sz="3200" dirty="0" smtClean="0"/>
              </a:p>
            </p:txBody>
          </p:sp>
        </p:grpSp>
        <p:sp>
          <p:nvSpPr>
            <p:cNvPr id="9" name="角丸四角形 8"/>
            <p:cNvSpPr/>
            <p:nvPr/>
          </p:nvSpPr>
          <p:spPr>
            <a:xfrm>
              <a:off x="352507" y="3031528"/>
              <a:ext cx="3878862" cy="3591879"/>
            </a:xfrm>
            <a:prstGeom prst="roundRect">
              <a:avLst/>
            </a:prstGeom>
            <a:noFill/>
            <a:ln w="571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kumimoji="1" lang="en-US" altLang="ja-JP" sz="28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10" name="テキスト ボックス 9"/>
            <p:cNvSpPr txBox="1"/>
            <p:nvPr/>
          </p:nvSpPr>
          <p:spPr>
            <a:xfrm>
              <a:off x="1162879" y="2789373"/>
              <a:ext cx="2258119" cy="523220"/>
            </a:xfrm>
            <a:prstGeom prst="rect">
              <a:avLst/>
            </a:prstGeom>
            <a:solidFill>
              <a:schemeClr val="bg1"/>
            </a:solidFill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 smtClean="0"/>
                <a:t>タスク</a:t>
              </a:r>
              <a:r>
                <a:rPr lang="en-US" altLang="ja-JP" sz="2800" dirty="0" smtClean="0"/>
                <a:t>1</a:t>
              </a:r>
              <a:endParaRPr kumimoji="1" lang="ja-JP" altLang="en-US" sz="2800" dirty="0" smtClean="0"/>
            </a:p>
          </p:txBody>
        </p:sp>
      </p:grpSp>
      <p:pic>
        <p:nvPicPr>
          <p:cNvPr id="12" name="図 1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25" t="1746" r="19123" b="26198"/>
          <a:stretch/>
        </p:blipFill>
        <p:spPr>
          <a:xfrm>
            <a:off x="7206900" y="3495383"/>
            <a:ext cx="958488" cy="1191600"/>
          </a:xfrm>
          <a:prstGeom prst="rect">
            <a:avLst/>
          </a:prstGeom>
        </p:spPr>
      </p:pic>
      <p:grpSp>
        <p:nvGrpSpPr>
          <p:cNvPr id="14" name="グループ化 13"/>
          <p:cNvGrpSpPr/>
          <p:nvPr/>
        </p:nvGrpSpPr>
        <p:grpSpPr>
          <a:xfrm>
            <a:off x="5039139" y="2789373"/>
            <a:ext cx="3878862" cy="3834034"/>
            <a:chOff x="352507" y="2789373"/>
            <a:chExt cx="3878862" cy="3834034"/>
          </a:xfrm>
        </p:grpSpPr>
        <p:grpSp>
          <p:nvGrpSpPr>
            <p:cNvPr id="15" name="グループ化 14"/>
            <p:cNvGrpSpPr/>
            <p:nvPr/>
          </p:nvGrpSpPr>
          <p:grpSpPr>
            <a:xfrm>
              <a:off x="715623" y="3495383"/>
              <a:ext cx="1305695" cy="2295102"/>
              <a:chOff x="786742" y="3546987"/>
              <a:chExt cx="1305695" cy="2295102"/>
            </a:xfrm>
          </p:grpSpPr>
          <p:sp>
            <p:nvSpPr>
              <p:cNvPr id="20" name="テキスト ボックス 19"/>
              <p:cNvSpPr txBox="1"/>
              <p:nvPr/>
            </p:nvSpPr>
            <p:spPr>
              <a:xfrm>
                <a:off x="786742" y="3546987"/>
                <a:ext cx="1305695" cy="584775"/>
              </a:xfrm>
              <a:prstGeom prst="rect">
                <a:avLst/>
              </a:prstGeom>
              <a:noFill/>
              <a:ln w="38100"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3200" dirty="0"/>
                  <a:t>目的</a:t>
                </a:r>
                <a:r>
                  <a:rPr kumimoji="1" lang="en-US" altLang="ja-JP" sz="3200" dirty="0" smtClean="0"/>
                  <a:t>1</a:t>
                </a:r>
                <a:endParaRPr kumimoji="1" lang="ja-JP" altLang="en-US" sz="3200" dirty="0" smtClean="0"/>
              </a:p>
            </p:txBody>
          </p:sp>
          <p:sp>
            <p:nvSpPr>
              <p:cNvPr id="21" name="テキスト ボックス 20"/>
              <p:cNvSpPr txBox="1"/>
              <p:nvPr/>
            </p:nvSpPr>
            <p:spPr>
              <a:xfrm>
                <a:off x="786742" y="5257314"/>
                <a:ext cx="1305695" cy="584775"/>
              </a:xfrm>
              <a:prstGeom prst="rect">
                <a:avLst/>
              </a:prstGeom>
              <a:noFill/>
              <a:ln w="38100"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3200" dirty="0" smtClean="0"/>
                  <a:t>目的</a:t>
                </a:r>
                <a:r>
                  <a:rPr lang="en-US" altLang="ja-JP" sz="3200" dirty="0"/>
                  <a:t>2</a:t>
                </a:r>
                <a:endParaRPr kumimoji="1" lang="ja-JP" altLang="en-US" sz="3200" dirty="0" smtClean="0"/>
              </a:p>
            </p:txBody>
          </p:sp>
        </p:grpSp>
        <p:sp>
          <p:nvSpPr>
            <p:cNvPr id="16" name="角丸四角形 15"/>
            <p:cNvSpPr/>
            <p:nvPr/>
          </p:nvSpPr>
          <p:spPr>
            <a:xfrm>
              <a:off x="352507" y="3031528"/>
              <a:ext cx="3878862" cy="3591879"/>
            </a:xfrm>
            <a:prstGeom prst="roundRect">
              <a:avLst/>
            </a:prstGeom>
            <a:noFill/>
            <a:ln w="571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kumimoji="1" lang="en-US" altLang="ja-JP" sz="28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17" name="テキスト ボックス 16"/>
            <p:cNvSpPr txBox="1"/>
            <p:nvPr/>
          </p:nvSpPr>
          <p:spPr>
            <a:xfrm>
              <a:off x="1162879" y="2789373"/>
              <a:ext cx="2258119" cy="523220"/>
            </a:xfrm>
            <a:prstGeom prst="rect">
              <a:avLst/>
            </a:prstGeom>
            <a:solidFill>
              <a:schemeClr val="bg1"/>
            </a:solidFill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 smtClean="0"/>
                <a:t>タスク</a:t>
              </a:r>
              <a:r>
                <a:rPr lang="en-US" altLang="ja-JP" sz="2800" dirty="0"/>
                <a:t>2</a:t>
              </a:r>
              <a:endParaRPr kumimoji="1" lang="ja-JP" altLang="en-US" sz="2800" dirty="0" smtClean="0"/>
            </a:p>
          </p:txBody>
        </p:sp>
      </p:grpSp>
      <p:pic>
        <p:nvPicPr>
          <p:cNvPr id="22" name="図 2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25" t="1746" r="19123" b="26198"/>
          <a:stretch/>
        </p:blipFill>
        <p:spPr>
          <a:xfrm>
            <a:off x="7206900" y="5205580"/>
            <a:ext cx="958488" cy="119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4489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</a:t>
            </a:r>
            <a:r>
              <a:rPr kumimoji="1" lang="ja-JP" altLang="en-US" dirty="0" smtClean="0"/>
              <a:t>するベンチマーク問題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異なる多目的ナップサック問題を各タスクと</a:t>
            </a:r>
            <a:r>
              <a:rPr lang="ja-JP" altLang="en-US" dirty="0" smtClean="0"/>
              <a:t>した，</a:t>
            </a:r>
            <a:r>
              <a:rPr lang="en-US" altLang="ja-JP" dirty="0"/>
              <a:t/>
            </a:r>
            <a:br>
              <a:rPr lang="en-US" altLang="ja-JP" dirty="0"/>
            </a:br>
            <a:r>
              <a:rPr lang="ja-JP" altLang="en-US" dirty="0" smtClean="0"/>
              <a:t>ベンチマーク問題を</a:t>
            </a:r>
            <a:r>
              <a:rPr lang="ja-JP" altLang="en-US" dirty="0"/>
              <a:t>作成する．</a:t>
            </a:r>
            <a:endParaRPr lang="en-US" altLang="ja-JP" dirty="0"/>
          </a:p>
          <a:p>
            <a:r>
              <a:rPr lang="ja-JP" altLang="en-US" b="1" dirty="0" smtClean="0">
                <a:solidFill>
                  <a:schemeClr val="accent1"/>
                </a:solidFill>
              </a:rPr>
              <a:t>タスク</a:t>
            </a:r>
            <a:r>
              <a:rPr lang="en-US" altLang="ja-JP" b="1" dirty="0">
                <a:solidFill>
                  <a:schemeClr val="accent1"/>
                </a:solidFill>
              </a:rPr>
              <a:t>2</a:t>
            </a:r>
            <a:r>
              <a:rPr lang="ja-JP" altLang="en-US" b="1" dirty="0">
                <a:solidFill>
                  <a:schemeClr val="accent1"/>
                </a:solidFill>
              </a:rPr>
              <a:t>の作成方法が異なる</a:t>
            </a:r>
            <a:r>
              <a:rPr lang="ja-JP" altLang="en-US" dirty="0"/>
              <a:t>，以下の</a:t>
            </a:r>
            <a:r>
              <a:rPr lang="en-US" altLang="ja-JP" dirty="0"/>
              <a:t>2</a:t>
            </a:r>
            <a:r>
              <a:rPr lang="ja-JP" altLang="en-US" dirty="0" err="1"/>
              <a:t>つの</a:t>
            </a:r>
            <a:r>
              <a:rPr lang="en-US" altLang="ja-JP" dirty="0"/>
              <a:t/>
            </a:r>
            <a:br>
              <a:rPr lang="en-US" altLang="ja-JP" dirty="0"/>
            </a:br>
            <a:r>
              <a:rPr lang="ja-JP" altLang="en-US" dirty="0" smtClean="0"/>
              <a:t>ベンチマーク問題を</a:t>
            </a:r>
            <a:r>
              <a:rPr lang="ja-JP" altLang="en-US" dirty="0"/>
              <a:t>提案する</a:t>
            </a:r>
            <a:r>
              <a:rPr lang="ja-JP" altLang="en-US" dirty="0" smtClean="0"/>
              <a:t>．</a:t>
            </a:r>
            <a:endParaRPr lang="en-US" altLang="ja-JP" dirty="0" smtClean="0"/>
          </a:p>
          <a:p>
            <a:pPr marL="444500" indent="-444500">
              <a:buFont typeface="+mj-lt"/>
              <a:buAutoNum type="arabicPeriod"/>
            </a:pPr>
            <a:r>
              <a:rPr lang="en-US" altLang="ja-JP" b="1" dirty="0" smtClean="0"/>
              <a:t>Scaling</a:t>
            </a:r>
            <a:r>
              <a:rPr lang="ja-JP" altLang="en-US" b="1" dirty="0"/>
              <a:t> </a:t>
            </a:r>
            <a:r>
              <a:rPr lang="en-US" altLang="ja-JP" b="1" dirty="0"/>
              <a:t>Knapsack </a:t>
            </a:r>
            <a:r>
              <a:rPr lang="ja-JP" altLang="en-US" b="1" dirty="0" smtClean="0"/>
              <a:t>問題</a:t>
            </a:r>
            <a:endParaRPr lang="en-US" altLang="ja-JP" b="1" dirty="0" smtClean="0"/>
          </a:p>
          <a:p>
            <a:pPr lvl="1"/>
            <a:r>
              <a:rPr lang="ja-JP" altLang="en-US" dirty="0" smtClean="0"/>
              <a:t>タスク</a:t>
            </a:r>
            <a:r>
              <a:rPr lang="en-US" altLang="ja-JP" dirty="0" smtClean="0"/>
              <a:t>1</a:t>
            </a:r>
            <a:r>
              <a:rPr lang="ja-JP" altLang="en-US" dirty="0" smtClean="0"/>
              <a:t>のナップサックの</a:t>
            </a:r>
            <a:r>
              <a:rPr lang="ja-JP" altLang="en-US" b="1" u="sng" dirty="0" smtClean="0"/>
              <a:t>容量を変更</a:t>
            </a:r>
            <a:r>
              <a:rPr lang="ja-JP" altLang="en-US" dirty="0" smtClean="0"/>
              <a:t>してタスク</a:t>
            </a:r>
            <a:r>
              <a:rPr lang="en-US" altLang="ja-JP" dirty="0" smtClean="0"/>
              <a:t>2</a:t>
            </a:r>
            <a:r>
              <a:rPr lang="ja-JP" altLang="en-US" dirty="0" smtClean="0"/>
              <a:t>を作成</a:t>
            </a:r>
            <a:endParaRPr lang="en-US" altLang="ja-JP" dirty="0" smtClean="0"/>
          </a:p>
          <a:p>
            <a:pPr marL="444500" indent="-444500">
              <a:buFont typeface="+mj-lt"/>
              <a:buAutoNum type="arabicPeriod"/>
            </a:pPr>
            <a:r>
              <a:rPr lang="en-US" altLang="ja-JP" b="1" dirty="0" smtClean="0"/>
              <a:t>Inversion Profit </a:t>
            </a:r>
            <a:r>
              <a:rPr lang="ja-JP" altLang="en-US" b="1" dirty="0" smtClean="0"/>
              <a:t>問題</a:t>
            </a:r>
            <a:endParaRPr lang="en-US" altLang="ja-JP" b="1" dirty="0" smtClean="0"/>
          </a:p>
          <a:p>
            <a:pPr lvl="1"/>
            <a:r>
              <a:rPr lang="ja-JP" altLang="en-US" dirty="0" smtClean="0"/>
              <a:t>タスク</a:t>
            </a:r>
            <a:r>
              <a:rPr lang="en-US" altLang="ja-JP" dirty="0" smtClean="0"/>
              <a:t>1</a:t>
            </a:r>
            <a:r>
              <a:rPr lang="ja-JP" altLang="en-US" dirty="0" smtClean="0"/>
              <a:t>の一部のアイテムの</a:t>
            </a:r>
            <a:r>
              <a:rPr lang="ja-JP" altLang="en-US" b="1" u="sng" dirty="0" smtClean="0"/>
              <a:t>価値を変更</a:t>
            </a:r>
            <a:r>
              <a:rPr lang="ja-JP" altLang="en-US" dirty="0" smtClean="0"/>
              <a:t>してタスク</a:t>
            </a:r>
            <a:r>
              <a:rPr lang="en-US" altLang="ja-JP" dirty="0" smtClean="0"/>
              <a:t>2</a:t>
            </a:r>
            <a:r>
              <a:rPr lang="ja-JP" altLang="en-US" dirty="0" smtClean="0"/>
              <a:t>を作成</a:t>
            </a:r>
            <a:endParaRPr lang="en-US" altLang="ja-JP" dirty="0" smtClean="0"/>
          </a:p>
          <a:p>
            <a:endParaRPr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10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71342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</a:t>
            </a:r>
            <a:r>
              <a:rPr kumimoji="1" lang="ja-JP" altLang="en-US" dirty="0" smtClean="0"/>
              <a:t>するベンチマーク問題</a:t>
            </a:r>
            <a:endParaRPr kumimoji="1"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タスク</a:t>
            </a:r>
            <a:r>
              <a:rPr kumimoji="1" lang="en-US" altLang="ja-JP" dirty="0" smtClean="0"/>
              <a:t>1</a:t>
            </a:r>
            <a:r>
              <a:rPr kumimoji="1" lang="ja-JP" altLang="en-US" dirty="0" smtClean="0"/>
              <a:t>のナップサックの</a:t>
            </a:r>
            <a:r>
              <a:rPr kumimoji="1" lang="ja-JP" altLang="en-US" b="1" dirty="0" smtClean="0">
                <a:solidFill>
                  <a:schemeClr val="accent1"/>
                </a:solidFill>
              </a:rPr>
              <a:t>容量を</a:t>
            </a:r>
            <a:r>
              <a:rPr kumimoji="1" lang="en-US" altLang="ja-JP" b="1" i="1" dirty="0" smtClean="0">
                <a:solidFill>
                  <a:schemeClr val="accent1"/>
                </a:solidFill>
                <a:latin typeface="Symbol" panose="05050102010706020507" pitchFamily="18" charset="2"/>
              </a:rPr>
              <a:t>a</a:t>
            </a:r>
            <a:r>
              <a:rPr kumimoji="1" lang="ja-JP" altLang="en-US" b="1" dirty="0" smtClean="0">
                <a:solidFill>
                  <a:schemeClr val="accent1"/>
                </a:solidFill>
              </a:rPr>
              <a:t>倍に拡張</a:t>
            </a:r>
            <a:r>
              <a:rPr lang="ja-JP" altLang="en-US" dirty="0" smtClean="0"/>
              <a:t>して，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タスク</a:t>
            </a:r>
            <a:r>
              <a:rPr lang="en-US" altLang="ja-JP" dirty="0" smtClean="0"/>
              <a:t>2</a:t>
            </a:r>
            <a:r>
              <a:rPr lang="ja-JP" altLang="en-US" dirty="0" smtClean="0"/>
              <a:t>を作成する</a:t>
            </a:r>
            <a:r>
              <a:rPr kumimoji="1" lang="ja-JP" altLang="en-US" dirty="0" smtClean="0"/>
              <a:t>．</a:t>
            </a:r>
            <a:endParaRPr kumimoji="1" lang="en-US" altLang="ja-JP" dirty="0" smtClean="0"/>
          </a:p>
          <a:p>
            <a:r>
              <a:rPr lang="ja-JP" altLang="en-US" dirty="0"/>
              <a:t>タスク</a:t>
            </a:r>
            <a:r>
              <a:rPr lang="en-US" altLang="ja-JP" dirty="0"/>
              <a:t>2</a:t>
            </a:r>
            <a:r>
              <a:rPr lang="ja-JP" altLang="en-US" dirty="0"/>
              <a:t>がタスク</a:t>
            </a:r>
            <a:r>
              <a:rPr lang="en-US" altLang="ja-JP" dirty="0"/>
              <a:t>1</a:t>
            </a:r>
            <a:r>
              <a:rPr lang="ja-JP" altLang="en-US" dirty="0"/>
              <a:t>を</a:t>
            </a:r>
            <a:r>
              <a:rPr lang="ja-JP" altLang="en-US" b="1" dirty="0">
                <a:solidFill>
                  <a:schemeClr val="accent1"/>
                </a:solidFill>
              </a:rPr>
              <a:t>包含する</a:t>
            </a:r>
            <a:r>
              <a:rPr lang="ja-JP" altLang="en-US" dirty="0"/>
              <a:t>ことが予想される．</a:t>
            </a:r>
            <a:endParaRPr lang="en-US" altLang="ja-JP" dirty="0"/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11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1. Scaling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Knapsack </a:t>
            </a:r>
            <a:r>
              <a:rPr kumimoji="1" lang="ja-JP" altLang="en-US" dirty="0" smtClean="0"/>
              <a:t>問題</a:t>
            </a:r>
            <a:endParaRPr kumimoji="1" lang="ja-JP" altLang="en-US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382977" y="3228505"/>
            <a:ext cx="1469571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endParaRPr kumimoji="1" lang="ja-JP" altLang="en-US" sz="3200" dirty="0" smtClean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5133274" y="3228505"/>
            <a:ext cx="1479018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lang="en-US" altLang="ja-JP" sz="3200" dirty="0"/>
              <a:t>2</a:t>
            </a:r>
            <a:endParaRPr kumimoji="1" lang="ja-JP" altLang="en-US" sz="3200" dirty="0" smtClean="0"/>
          </a:p>
        </p:txBody>
      </p:sp>
      <p:grpSp>
        <p:nvGrpSpPr>
          <p:cNvPr id="2" name="グループ化 1"/>
          <p:cNvGrpSpPr/>
          <p:nvPr/>
        </p:nvGrpSpPr>
        <p:grpSpPr>
          <a:xfrm>
            <a:off x="6067279" y="4030981"/>
            <a:ext cx="857778" cy="2604177"/>
            <a:chOff x="5431324" y="3645726"/>
            <a:chExt cx="857778" cy="2604177"/>
          </a:xfrm>
        </p:grpSpPr>
        <p:pic>
          <p:nvPicPr>
            <p:cNvPr id="14" name="図 13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r="332" b="26611"/>
            <a:stretch/>
          </p:blipFill>
          <p:spPr>
            <a:xfrm>
              <a:off x="5431324" y="3645726"/>
              <a:ext cx="857778" cy="1136358"/>
            </a:xfrm>
            <a:prstGeom prst="rect">
              <a:avLst/>
            </a:prstGeom>
          </p:spPr>
        </p:pic>
        <p:pic>
          <p:nvPicPr>
            <p:cNvPr id="15" name="図 14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r="332" b="26611"/>
            <a:stretch/>
          </p:blipFill>
          <p:spPr>
            <a:xfrm>
              <a:off x="5431324" y="5113545"/>
              <a:ext cx="857778" cy="1136358"/>
            </a:xfrm>
            <a:prstGeom prst="rect">
              <a:avLst/>
            </a:prstGeom>
          </p:spPr>
        </p:pic>
      </p:grpSp>
      <p:grpSp>
        <p:nvGrpSpPr>
          <p:cNvPr id="11" name="グループ化 10"/>
          <p:cNvGrpSpPr/>
          <p:nvPr/>
        </p:nvGrpSpPr>
        <p:grpSpPr>
          <a:xfrm>
            <a:off x="1287530" y="4301722"/>
            <a:ext cx="573571" cy="2288208"/>
            <a:chOff x="1287530" y="4385542"/>
            <a:chExt cx="573571" cy="2288208"/>
          </a:xfrm>
        </p:grpSpPr>
        <p:pic>
          <p:nvPicPr>
            <p:cNvPr id="16" name="図 15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r="332" b="26611"/>
            <a:stretch/>
          </p:blipFill>
          <p:spPr>
            <a:xfrm>
              <a:off x="1287530" y="4385542"/>
              <a:ext cx="573571" cy="759847"/>
            </a:xfrm>
            <a:prstGeom prst="rect">
              <a:avLst/>
            </a:prstGeom>
          </p:spPr>
        </p:pic>
        <p:pic>
          <p:nvPicPr>
            <p:cNvPr id="17" name="図 16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r="332" b="26611"/>
            <a:stretch/>
          </p:blipFill>
          <p:spPr>
            <a:xfrm>
              <a:off x="1287530" y="5913903"/>
              <a:ext cx="573571" cy="759847"/>
            </a:xfrm>
            <a:prstGeom prst="rect">
              <a:avLst/>
            </a:prstGeom>
          </p:spPr>
        </p:pic>
      </p:grpSp>
      <p:grpSp>
        <p:nvGrpSpPr>
          <p:cNvPr id="20" name="グループ化 19"/>
          <p:cNvGrpSpPr/>
          <p:nvPr/>
        </p:nvGrpSpPr>
        <p:grpSpPr>
          <a:xfrm>
            <a:off x="2795106" y="4022399"/>
            <a:ext cx="2338168" cy="2601858"/>
            <a:chOff x="2784609" y="4106219"/>
            <a:chExt cx="2338168" cy="2601858"/>
          </a:xfrm>
        </p:grpSpPr>
        <p:grpSp>
          <p:nvGrpSpPr>
            <p:cNvPr id="12" name="グループ化 11"/>
            <p:cNvGrpSpPr/>
            <p:nvPr/>
          </p:nvGrpSpPr>
          <p:grpSpPr>
            <a:xfrm>
              <a:off x="2784609" y="4106219"/>
              <a:ext cx="2338168" cy="1152810"/>
              <a:chOff x="2830329" y="3530464"/>
              <a:chExt cx="2338168" cy="1152810"/>
            </a:xfrm>
          </p:grpSpPr>
          <p:sp>
            <p:nvSpPr>
              <p:cNvPr id="13" name="右矢印 12"/>
              <p:cNvSpPr/>
              <p:nvPr/>
            </p:nvSpPr>
            <p:spPr>
              <a:xfrm>
                <a:off x="2830329" y="4045614"/>
                <a:ext cx="2338168" cy="637660"/>
              </a:xfrm>
              <a:prstGeom prst="rightArrow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" name="テキスト ボックス 2"/>
              <p:cNvSpPr txBox="1"/>
              <p:nvPr/>
            </p:nvSpPr>
            <p:spPr>
              <a:xfrm>
                <a:off x="3197829" y="3530464"/>
                <a:ext cx="1603169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sz="2800" i="1" dirty="0">
                    <a:latin typeface="Symbol" panose="05050102010706020507" pitchFamily="18" charset="2"/>
                  </a:rPr>
                  <a:t>a</a:t>
                </a:r>
                <a:r>
                  <a:rPr lang="ja-JP" altLang="en-US" sz="2800" dirty="0" smtClean="0"/>
                  <a:t>倍</a:t>
                </a:r>
                <a:endParaRPr kumimoji="1" lang="ja-JP" altLang="en-US" sz="2800" dirty="0" smtClean="0"/>
              </a:p>
            </p:txBody>
          </p:sp>
        </p:grpSp>
        <p:grpSp>
          <p:nvGrpSpPr>
            <p:cNvPr id="10" name="グループ化 9"/>
            <p:cNvGrpSpPr/>
            <p:nvPr/>
          </p:nvGrpSpPr>
          <p:grpSpPr>
            <a:xfrm>
              <a:off x="2784609" y="5555267"/>
              <a:ext cx="2338168" cy="1152810"/>
              <a:chOff x="2830329" y="5799107"/>
              <a:chExt cx="2338168" cy="1152810"/>
            </a:xfrm>
          </p:grpSpPr>
          <p:sp>
            <p:nvSpPr>
              <p:cNvPr id="18" name="右矢印 17"/>
              <p:cNvSpPr/>
              <p:nvPr/>
            </p:nvSpPr>
            <p:spPr>
              <a:xfrm>
                <a:off x="2830329" y="6314257"/>
                <a:ext cx="2338168" cy="637660"/>
              </a:xfrm>
              <a:prstGeom prst="rightArrow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9" name="テキスト ボックス 18"/>
              <p:cNvSpPr txBox="1"/>
              <p:nvPr/>
            </p:nvSpPr>
            <p:spPr>
              <a:xfrm>
                <a:off x="3197829" y="5799107"/>
                <a:ext cx="1603169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sz="2800" i="1" dirty="0">
                    <a:latin typeface="Symbol" panose="05050102010706020507" pitchFamily="18" charset="2"/>
                  </a:rPr>
                  <a:t>a</a:t>
                </a:r>
                <a:r>
                  <a:rPr lang="ja-JP" altLang="en-US" sz="2800" dirty="0" smtClean="0"/>
                  <a:t>倍</a:t>
                </a:r>
                <a:endParaRPr kumimoji="1" lang="ja-JP" altLang="en-US" sz="2800" dirty="0" smtClean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469704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</a:t>
            </a:r>
            <a:r>
              <a:rPr kumimoji="1" lang="ja-JP" altLang="en-US" dirty="0" smtClean="0"/>
              <a:t>するベンチマーク問題</a:t>
            </a:r>
            <a:endParaRPr kumimoji="1"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タスク</a:t>
            </a:r>
            <a:r>
              <a:rPr kumimoji="1" lang="en-US" altLang="ja-JP" dirty="0" smtClean="0"/>
              <a:t>1</a:t>
            </a:r>
            <a:r>
              <a:rPr kumimoji="1" lang="ja-JP" altLang="en-US" dirty="0" smtClean="0"/>
              <a:t>のアイテム集合</a:t>
            </a:r>
            <a:r>
              <a:rPr kumimoji="1" lang="en-US" altLang="ja-JP" dirty="0" smtClean="0"/>
              <a:t>2</a:t>
            </a:r>
            <a:r>
              <a:rPr kumimoji="1" lang="ja-JP" altLang="en-US" dirty="0" smtClean="0"/>
              <a:t>の，</a:t>
            </a:r>
            <a:r>
              <a:rPr lang="en-US" altLang="ja-JP" b="1" i="1" dirty="0" smtClean="0">
                <a:solidFill>
                  <a:schemeClr val="accent1"/>
                </a:solidFill>
                <a:latin typeface="Symbol" panose="05050102010706020507" pitchFamily="18" charset="2"/>
              </a:rPr>
              <a:t>b </a:t>
            </a:r>
            <a:r>
              <a:rPr lang="en-US" altLang="ja-JP" b="1" dirty="0" smtClean="0">
                <a:solidFill>
                  <a:schemeClr val="accent1"/>
                </a:solidFill>
              </a:rPr>
              <a:t>%</a:t>
            </a:r>
            <a:r>
              <a:rPr lang="ja-JP" altLang="en-US" b="1" dirty="0" smtClean="0">
                <a:solidFill>
                  <a:schemeClr val="accent1"/>
                </a:solidFill>
                <a:latin typeface="Symbol" panose="05050102010706020507" pitchFamily="18" charset="2"/>
              </a:rPr>
              <a:t>のアイテム</a:t>
            </a:r>
            <a:r>
              <a:rPr lang="ja-JP" altLang="en-US" b="1" dirty="0">
                <a:solidFill>
                  <a:schemeClr val="accent1"/>
                </a:solidFill>
                <a:latin typeface="Symbol" panose="05050102010706020507" pitchFamily="18" charset="2"/>
              </a:rPr>
              <a:t>の</a:t>
            </a:r>
            <a:r>
              <a:rPr lang="en-US" altLang="ja-JP" b="1" dirty="0" smtClean="0">
                <a:solidFill>
                  <a:schemeClr val="accent1"/>
                </a:solidFill>
                <a:latin typeface="Symbol" panose="05050102010706020507" pitchFamily="18" charset="2"/>
              </a:rPr>
              <a:t/>
            </a:r>
            <a:br>
              <a:rPr lang="en-US" altLang="ja-JP" b="1" dirty="0" smtClean="0">
                <a:solidFill>
                  <a:schemeClr val="accent1"/>
                </a:solidFill>
                <a:latin typeface="Symbol" panose="05050102010706020507" pitchFamily="18" charset="2"/>
              </a:rPr>
            </a:br>
            <a:r>
              <a:rPr kumimoji="1" lang="ja-JP" altLang="en-US" b="1" dirty="0" smtClean="0">
                <a:solidFill>
                  <a:schemeClr val="accent1"/>
                </a:solidFill>
              </a:rPr>
              <a:t>価値を</a:t>
            </a:r>
            <a:r>
              <a:rPr lang="ja-JP" altLang="en-US" b="1" dirty="0" smtClean="0">
                <a:solidFill>
                  <a:schemeClr val="accent1"/>
                </a:solidFill>
              </a:rPr>
              <a:t>反転</a:t>
            </a:r>
            <a:r>
              <a:rPr lang="ja-JP" altLang="en-US" dirty="0" smtClean="0"/>
              <a:t>して，タスク</a:t>
            </a:r>
            <a:r>
              <a:rPr lang="en-US" altLang="ja-JP" dirty="0" smtClean="0"/>
              <a:t>2</a:t>
            </a:r>
            <a:r>
              <a:rPr lang="ja-JP" altLang="en-US" dirty="0" smtClean="0"/>
              <a:t>を作成する．</a:t>
            </a:r>
            <a:endParaRPr lang="en-US" altLang="ja-JP" dirty="0" smtClean="0"/>
          </a:p>
          <a:p>
            <a:r>
              <a:rPr lang="ja-JP" altLang="en-US" dirty="0"/>
              <a:t>タスク間</a:t>
            </a:r>
            <a:r>
              <a:rPr lang="ja-JP" altLang="en-US" dirty="0" smtClean="0"/>
              <a:t>で</a:t>
            </a:r>
            <a:r>
              <a:rPr lang="ja-JP" altLang="en-US" b="1" dirty="0" smtClean="0">
                <a:solidFill>
                  <a:schemeClr val="accent1"/>
                </a:solidFill>
              </a:rPr>
              <a:t>共有する部分</a:t>
            </a:r>
            <a:r>
              <a:rPr lang="ja-JP" altLang="en-US" dirty="0"/>
              <a:t>があると予想される．</a:t>
            </a:r>
          </a:p>
          <a:p>
            <a:endParaRPr lang="en-US" altLang="ja-JP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12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2</a:t>
            </a:r>
            <a:r>
              <a:rPr kumimoji="1" lang="en-US" altLang="ja-JP" dirty="0" smtClean="0"/>
              <a:t>. Inversion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Profit </a:t>
            </a:r>
            <a:r>
              <a:rPr kumimoji="1" lang="ja-JP" altLang="en-US" dirty="0" smtClean="0"/>
              <a:t>問題</a:t>
            </a:r>
            <a:endParaRPr kumimoji="1" lang="ja-JP" altLang="en-US" dirty="0"/>
          </a:p>
        </p:txBody>
      </p:sp>
      <p:graphicFrame>
        <p:nvGraphicFramePr>
          <p:cNvPr id="10" name="表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1550780"/>
              </p:ext>
            </p:extLst>
          </p:nvPr>
        </p:nvGraphicFramePr>
        <p:xfrm>
          <a:off x="819900" y="4344629"/>
          <a:ext cx="28803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">
                  <a:extLst>
                    <a:ext uri="{9D8B030D-6E8A-4147-A177-3AD203B41FA5}">
                      <a16:colId xmlns:a16="http://schemas.microsoft.com/office/drawing/2014/main" xmlns="" val="1322717240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xmlns="" val="4013610060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xmlns="" val="4120775698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xmlns="" val="2398927270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xmlns="" val="578282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544127792"/>
                  </a:ext>
                </a:extLst>
              </a:tr>
            </a:tbl>
          </a:graphicData>
        </a:graphic>
      </p:graphicFrame>
      <p:graphicFrame>
        <p:nvGraphicFramePr>
          <p:cNvPr id="11" name="表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8815697"/>
              </p:ext>
            </p:extLst>
          </p:nvPr>
        </p:nvGraphicFramePr>
        <p:xfrm>
          <a:off x="819900" y="5594570"/>
          <a:ext cx="28800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00">
                  <a:extLst>
                    <a:ext uri="{9D8B030D-6E8A-4147-A177-3AD203B41FA5}">
                      <a16:colId xmlns:a16="http://schemas.microsoft.com/office/drawing/2014/main" xmlns="" val="1322717240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xmlns="" val="4013610060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xmlns="" val="4120775698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xmlns="" val="2398927270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xmlns="" val="578282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544127792"/>
                  </a:ext>
                </a:extLst>
              </a:tr>
            </a:tbl>
          </a:graphicData>
        </a:graphic>
      </p:graphicFrame>
      <p:graphicFrame>
        <p:nvGraphicFramePr>
          <p:cNvPr id="12" name="表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206873"/>
              </p:ext>
            </p:extLst>
          </p:nvPr>
        </p:nvGraphicFramePr>
        <p:xfrm>
          <a:off x="5453117" y="4344629"/>
          <a:ext cx="28803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">
                  <a:extLst>
                    <a:ext uri="{9D8B030D-6E8A-4147-A177-3AD203B41FA5}">
                      <a16:colId xmlns:a16="http://schemas.microsoft.com/office/drawing/2014/main" xmlns="" val="1322717240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xmlns="" val="4013610060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xmlns="" val="4120775698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xmlns="" val="2398927270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xmlns="" val="578282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544127792"/>
                  </a:ext>
                </a:extLst>
              </a:tr>
            </a:tbl>
          </a:graphicData>
        </a:graphic>
      </p:graphicFrame>
      <p:graphicFrame>
        <p:nvGraphicFramePr>
          <p:cNvPr id="13" name="表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744534"/>
              </p:ext>
            </p:extLst>
          </p:nvPr>
        </p:nvGraphicFramePr>
        <p:xfrm>
          <a:off x="5453117" y="5594570"/>
          <a:ext cx="28800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00">
                  <a:extLst>
                    <a:ext uri="{9D8B030D-6E8A-4147-A177-3AD203B41FA5}">
                      <a16:colId xmlns:a16="http://schemas.microsoft.com/office/drawing/2014/main" xmlns="" val="1322717240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xmlns="" val="4013610060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xmlns="" val="4120775698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xmlns="" val="2398927270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xmlns="" val="578282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1" dirty="0" smtClean="0">
                          <a:solidFill>
                            <a:schemeClr val="accent1"/>
                          </a:solidFill>
                        </a:rPr>
                        <a:t>5</a:t>
                      </a:r>
                      <a:endParaRPr kumimoji="1" lang="ja-JP" altLang="en-US" sz="2800" b="1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1" dirty="0" smtClean="0">
                          <a:solidFill>
                            <a:schemeClr val="accent1"/>
                          </a:solidFill>
                        </a:rPr>
                        <a:t>1</a:t>
                      </a:r>
                      <a:endParaRPr kumimoji="1" lang="ja-JP" altLang="en-US" sz="2800" b="1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1" dirty="0" smtClean="0">
                          <a:solidFill>
                            <a:schemeClr val="accent1"/>
                          </a:solidFill>
                        </a:rPr>
                        <a:t>2</a:t>
                      </a:r>
                      <a:endParaRPr kumimoji="1" lang="ja-JP" altLang="en-US" sz="2800" b="1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544127792"/>
                  </a:ext>
                </a:extLst>
              </a:tr>
            </a:tbl>
          </a:graphicData>
        </a:graphic>
      </p:graphicFrame>
      <p:grpSp>
        <p:nvGrpSpPr>
          <p:cNvPr id="2" name="グループ化 1"/>
          <p:cNvGrpSpPr/>
          <p:nvPr/>
        </p:nvGrpSpPr>
        <p:grpSpPr>
          <a:xfrm>
            <a:off x="3775104" y="3843153"/>
            <a:ext cx="1603169" cy="947526"/>
            <a:chOff x="3909318" y="3180445"/>
            <a:chExt cx="1603169" cy="947526"/>
          </a:xfrm>
        </p:grpSpPr>
        <p:sp>
          <p:nvSpPr>
            <p:cNvPr id="14" name="右矢印 13"/>
            <p:cNvSpPr/>
            <p:nvPr/>
          </p:nvSpPr>
          <p:spPr>
            <a:xfrm>
              <a:off x="4286677" y="3754031"/>
              <a:ext cx="848450" cy="37394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テキスト ボックス 14"/>
            <p:cNvSpPr txBox="1"/>
            <p:nvPr/>
          </p:nvSpPr>
          <p:spPr>
            <a:xfrm>
              <a:off x="3909318" y="3180445"/>
              <a:ext cx="1603169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 smtClean="0">
                  <a:latin typeface="Symbol" panose="05050102010706020507" pitchFamily="18" charset="2"/>
                </a:rPr>
                <a:t>反転なし</a:t>
              </a:r>
              <a:endParaRPr kumimoji="1" lang="ja-JP" altLang="en-US" sz="2800" dirty="0" smtClean="0"/>
            </a:p>
          </p:txBody>
        </p:sp>
      </p:grpSp>
      <p:grpSp>
        <p:nvGrpSpPr>
          <p:cNvPr id="16" name="グループ化 15"/>
          <p:cNvGrpSpPr/>
          <p:nvPr/>
        </p:nvGrpSpPr>
        <p:grpSpPr>
          <a:xfrm>
            <a:off x="3760888" y="5080447"/>
            <a:ext cx="1631601" cy="947526"/>
            <a:chOff x="3880886" y="3180445"/>
            <a:chExt cx="1631601" cy="947526"/>
          </a:xfrm>
        </p:grpSpPr>
        <p:sp>
          <p:nvSpPr>
            <p:cNvPr id="17" name="右矢印 16"/>
            <p:cNvSpPr/>
            <p:nvPr/>
          </p:nvSpPr>
          <p:spPr>
            <a:xfrm>
              <a:off x="4272461" y="3754031"/>
              <a:ext cx="848450" cy="37394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テキスト ボックス 17"/>
            <p:cNvSpPr txBox="1"/>
            <p:nvPr/>
          </p:nvSpPr>
          <p:spPr>
            <a:xfrm>
              <a:off x="3880886" y="3180445"/>
              <a:ext cx="1631601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800" dirty="0" smtClean="0"/>
                <a:t>6</a:t>
              </a:r>
              <a:r>
                <a:rPr lang="en-US" altLang="ja-JP" sz="2800" dirty="0"/>
                <a:t>0</a:t>
              </a:r>
              <a:r>
                <a:rPr lang="en-US" altLang="ja-JP" sz="2800" dirty="0" smtClean="0"/>
                <a:t>%</a:t>
              </a:r>
              <a:r>
                <a:rPr lang="ja-JP" altLang="en-US" sz="2800" dirty="0" smtClean="0">
                  <a:latin typeface="Symbol" panose="05050102010706020507" pitchFamily="18" charset="2"/>
                </a:rPr>
                <a:t>反転</a:t>
              </a:r>
              <a:endParaRPr kumimoji="1" lang="ja-JP" altLang="en-US" sz="2800" dirty="0" smtClean="0"/>
            </a:p>
          </p:txBody>
        </p:sp>
      </p:grpSp>
      <p:sp>
        <p:nvSpPr>
          <p:cNvPr id="22" name="テキスト ボックス 21"/>
          <p:cNvSpPr txBox="1"/>
          <p:nvPr/>
        </p:nvSpPr>
        <p:spPr>
          <a:xfrm>
            <a:off x="314893" y="3844137"/>
            <a:ext cx="3075309" cy="461665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 smtClean="0"/>
              <a:t>アイテム集合</a:t>
            </a:r>
            <a:r>
              <a:rPr lang="en-US" altLang="ja-JP" sz="2400" dirty="0" smtClean="0"/>
              <a:t>1</a:t>
            </a:r>
            <a:r>
              <a:rPr lang="ja-JP" altLang="en-US" sz="2400" dirty="0" smtClean="0"/>
              <a:t>の価値</a:t>
            </a:r>
            <a:endParaRPr kumimoji="1" lang="ja-JP" altLang="en-US" sz="2400" dirty="0" smtClean="0"/>
          </a:p>
        </p:txBody>
      </p:sp>
      <p:sp>
        <p:nvSpPr>
          <p:cNvPr id="23" name="テキスト ボックス 22"/>
          <p:cNvSpPr txBox="1"/>
          <p:nvPr/>
        </p:nvSpPr>
        <p:spPr>
          <a:xfrm>
            <a:off x="314893" y="5074455"/>
            <a:ext cx="3075309" cy="461665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 smtClean="0"/>
              <a:t>アイテム集合</a:t>
            </a:r>
            <a:r>
              <a:rPr lang="en-US" altLang="ja-JP" sz="2400" dirty="0"/>
              <a:t>2</a:t>
            </a:r>
            <a:r>
              <a:rPr lang="ja-JP" altLang="en-US" sz="2400" dirty="0" smtClean="0"/>
              <a:t>の価値</a:t>
            </a:r>
            <a:endParaRPr kumimoji="1" lang="ja-JP" altLang="en-US" sz="2400" dirty="0" smtClean="0"/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382977" y="3228505"/>
            <a:ext cx="1469571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endParaRPr kumimoji="1" lang="ja-JP" altLang="en-US" sz="3200" dirty="0" smtClean="0"/>
          </a:p>
        </p:txBody>
      </p:sp>
      <p:sp>
        <p:nvSpPr>
          <p:cNvPr id="25" name="テキスト ボックス 24"/>
          <p:cNvSpPr txBox="1"/>
          <p:nvPr/>
        </p:nvSpPr>
        <p:spPr>
          <a:xfrm>
            <a:off x="5133274" y="3228505"/>
            <a:ext cx="1479018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lang="en-US" altLang="ja-JP" sz="3200" dirty="0"/>
              <a:t>2</a:t>
            </a:r>
            <a:endParaRPr kumimoji="1" lang="ja-JP" altLang="en-US" sz="3200" dirty="0" smtClean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6029516" y="6233961"/>
            <a:ext cx="2885884" cy="461665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400" dirty="0" smtClean="0"/>
              <a:t>価値</a:t>
            </a:r>
            <a:r>
              <a:rPr lang="ja-JP" altLang="en-US" sz="2400" dirty="0"/>
              <a:t>が</a:t>
            </a:r>
            <a:r>
              <a:rPr lang="en-US" altLang="ja-JP" sz="2400" dirty="0" smtClean="0"/>
              <a:t>[1</a:t>
            </a:r>
            <a:r>
              <a:rPr lang="ja-JP" altLang="en-US" sz="2400" dirty="0" smtClean="0"/>
              <a:t>～</a:t>
            </a:r>
            <a:r>
              <a:rPr lang="en-US" altLang="ja-JP" sz="2400" dirty="0" smtClean="0"/>
              <a:t>5]</a:t>
            </a:r>
            <a:r>
              <a:rPr lang="ja-JP" altLang="en-US" sz="2400" dirty="0" smtClean="0"/>
              <a:t>の場合</a:t>
            </a:r>
            <a:endParaRPr lang="en-US" altLang="ja-JP" sz="2400" dirty="0" smtClean="0"/>
          </a:p>
        </p:txBody>
      </p:sp>
    </p:spTree>
    <p:extLst>
      <p:ext uri="{BB962C8B-B14F-4D97-AF65-F5344CB8AC3E}">
        <p14:creationId xmlns:p14="http://schemas.microsoft.com/office/powerpoint/2010/main" val="25172244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タスク間の</a:t>
            </a:r>
            <a:r>
              <a:rPr lang="ja-JP" altLang="en-US" dirty="0"/>
              <a:t>関係性</a:t>
            </a:r>
            <a:r>
              <a:rPr lang="ja-JP" altLang="en-US" dirty="0" smtClean="0"/>
              <a:t>の調査</a:t>
            </a:r>
            <a:endParaRPr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タスク間の関係性を調べるため，各タスクの</a:t>
            </a:r>
            <a:r>
              <a:rPr kumimoji="1" lang="en-US" altLang="ja-JP" dirty="0" smtClean="0"/>
              <a:t>(</a:t>
            </a:r>
            <a:r>
              <a:rPr kumimoji="1" lang="ja-JP" altLang="en-US" dirty="0" smtClean="0"/>
              <a:t>近似</a:t>
            </a:r>
            <a:r>
              <a:rPr kumimoji="1" lang="en-US" altLang="ja-JP" dirty="0" smtClean="0"/>
              <a:t>)</a:t>
            </a:r>
            <a:r>
              <a:rPr kumimoji="1" lang="ja-JP" altLang="en-US" dirty="0" smtClean="0"/>
              <a:t>最適解の比較を行う．</a:t>
            </a:r>
            <a:endParaRPr kumimoji="1" lang="en-US" altLang="ja-JP" dirty="0" smtClean="0"/>
          </a:p>
          <a:p>
            <a:endParaRPr lang="en-US" altLang="ja-JP" b="1" dirty="0"/>
          </a:p>
          <a:p>
            <a:r>
              <a:rPr kumimoji="1" lang="en-US" altLang="ja-JP" b="1" dirty="0" smtClean="0"/>
              <a:t>&lt;</a:t>
            </a:r>
            <a:r>
              <a:rPr kumimoji="1" lang="ja-JP" altLang="en-US" b="1" dirty="0" smtClean="0"/>
              <a:t>実験方法</a:t>
            </a:r>
            <a:r>
              <a:rPr kumimoji="1" lang="en-US" altLang="ja-JP" b="1" dirty="0" smtClean="0"/>
              <a:t>&gt;</a:t>
            </a:r>
          </a:p>
          <a:p>
            <a:pPr marL="514350" indent="-514350">
              <a:buFont typeface="+mj-lt"/>
              <a:buAutoNum type="arabicPeriod"/>
            </a:pPr>
            <a:r>
              <a:rPr kumimoji="1" lang="ja-JP" altLang="en-US" sz="2800" dirty="0" smtClean="0"/>
              <a:t>各タスクで独立探索を行い，最適解集合を</a:t>
            </a:r>
            <a:r>
              <a:rPr lang="ja-JP" altLang="en-US" sz="2800" dirty="0"/>
              <a:t>獲得</a:t>
            </a:r>
            <a:r>
              <a:rPr kumimoji="1" lang="ja-JP" altLang="en-US" sz="2800" dirty="0" smtClean="0"/>
              <a:t>する．</a:t>
            </a:r>
            <a:endParaRPr kumimoji="1" lang="en-US" altLang="ja-JP" sz="2800" dirty="0" smtClean="0"/>
          </a:p>
          <a:p>
            <a:pPr marL="514350" indent="-514350">
              <a:buFont typeface="+mj-lt"/>
              <a:buAutoNum type="arabicPeriod"/>
            </a:pPr>
            <a:r>
              <a:rPr lang="ja-JP" altLang="en-US" sz="2800" dirty="0" smtClean="0"/>
              <a:t>得られた最適解集合の間で，選択されるアイテム</a:t>
            </a:r>
            <a:r>
              <a:rPr lang="en-US" altLang="ja-JP" sz="2800" dirty="0" smtClean="0"/>
              <a:t/>
            </a:r>
            <a:br>
              <a:rPr lang="en-US" altLang="ja-JP" sz="2800" dirty="0" smtClean="0"/>
            </a:br>
            <a:r>
              <a:rPr lang="ja-JP" altLang="en-US" sz="2800" dirty="0" smtClean="0"/>
              <a:t>集合がどのように異なるか比較する．</a:t>
            </a:r>
            <a:endParaRPr lang="en-US" altLang="ja-JP" sz="2800" dirty="0" smtClean="0"/>
          </a:p>
          <a:p>
            <a:endParaRPr kumimoji="1" lang="en-US" altLang="ja-JP" sz="2800" dirty="0"/>
          </a:p>
          <a:p>
            <a:r>
              <a:rPr lang="ja-JP" altLang="en-US" dirty="0" smtClean="0"/>
              <a:t>本実験では，タスク</a:t>
            </a:r>
            <a:r>
              <a:rPr lang="en-US" altLang="ja-JP" dirty="0" smtClean="0"/>
              <a:t>2</a:t>
            </a:r>
            <a:r>
              <a:rPr lang="ja-JP" altLang="en-US" dirty="0" smtClean="0"/>
              <a:t>の各解について，最も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類似するタスク</a:t>
            </a:r>
            <a:r>
              <a:rPr lang="en-US" altLang="ja-JP" dirty="0" smtClean="0"/>
              <a:t>1</a:t>
            </a:r>
            <a:r>
              <a:rPr lang="ja-JP" altLang="en-US" dirty="0" smtClean="0"/>
              <a:t>の解との差異を調査する．</a:t>
            </a:r>
            <a:endParaRPr lang="en-US" altLang="ja-JP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13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160522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最適解の類似性調査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b="1" dirty="0"/>
              <a:t>&lt;</a:t>
            </a:r>
            <a:r>
              <a:rPr lang="ja-JP" altLang="en-US" b="1" dirty="0"/>
              <a:t>解の類似性の比較方法</a:t>
            </a:r>
            <a:r>
              <a:rPr lang="en-US" altLang="ja-JP" b="1" dirty="0"/>
              <a:t>&gt;</a:t>
            </a:r>
            <a:endParaRPr lang="ja-JP" altLang="en-US" b="1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14</a:t>
            </a:fld>
            <a:endParaRPr kumimoji="1" lang="ja-JP" altLang="en-US" dirty="0"/>
          </a:p>
        </p:txBody>
      </p:sp>
      <p:graphicFrame>
        <p:nvGraphicFramePr>
          <p:cNvPr id="5" name="表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689797"/>
              </p:ext>
            </p:extLst>
          </p:nvPr>
        </p:nvGraphicFramePr>
        <p:xfrm>
          <a:off x="1330539" y="3555418"/>
          <a:ext cx="246888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xmlns="" val="132271724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401361006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4120775698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39892727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544127792"/>
                  </a:ext>
                </a:extLst>
              </a:tr>
            </a:tbl>
          </a:graphicData>
        </a:graphic>
      </p:graphicFrame>
      <p:sp>
        <p:nvSpPr>
          <p:cNvPr id="6" name="テキスト ボックス 5"/>
          <p:cNvSpPr txBox="1"/>
          <p:nvPr/>
        </p:nvSpPr>
        <p:spPr>
          <a:xfrm>
            <a:off x="382977" y="2104014"/>
            <a:ext cx="3048992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lang="en-US" altLang="ja-JP" sz="3200" dirty="0"/>
              <a:t>2</a:t>
            </a:r>
            <a:r>
              <a:rPr kumimoji="1" lang="ja-JP" altLang="en-US" sz="3200" dirty="0" smtClean="0"/>
              <a:t>の最適解</a:t>
            </a:r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5215057" y="2104014"/>
            <a:ext cx="3048992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r>
              <a:rPr kumimoji="1" lang="ja-JP" altLang="en-US" sz="3200" dirty="0" smtClean="0"/>
              <a:t>の最適解</a:t>
            </a:r>
          </a:p>
        </p:txBody>
      </p:sp>
      <p:graphicFrame>
        <p:nvGraphicFramePr>
          <p:cNvPr id="13" name="表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6585609"/>
              </p:ext>
            </p:extLst>
          </p:nvPr>
        </p:nvGraphicFramePr>
        <p:xfrm>
          <a:off x="1330539" y="4681127"/>
          <a:ext cx="246888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xmlns="" val="132271724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401361006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4120775698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39892727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544127792"/>
                  </a:ext>
                </a:extLst>
              </a:tr>
            </a:tbl>
          </a:graphicData>
        </a:graphic>
      </p:graphicFrame>
      <p:graphicFrame>
        <p:nvGraphicFramePr>
          <p:cNvPr id="15" name="表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5471153"/>
              </p:ext>
            </p:extLst>
          </p:nvPr>
        </p:nvGraphicFramePr>
        <p:xfrm>
          <a:off x="6133013" y="4683657"/>
          <a:ext cx="246888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xmlns="" val="132271724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401361006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4120775698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39892727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544127792"/>
                  </a:ext>
                </a:extLst>
              </a:tr>
            </a:tbl>
          </a:graphicData>
        </a:graphic>
      </p:graphicFrame>
      <p:sp>
        <p:nvSpPr>
          <p:cNvPr id="17" name="テキスト ボックス 16"/>
          <p:cNvSpPr txBox="1"/>
          <p:nvPr/>
        </p:nvSpPr>
        <p:spPr>
          <a:xfrm>
            <a:off x="382977" y="3550358"/>
            <a:ext cx="102127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解</a:t>
            </a:r>
            <a:r>
              <a:rPr kumimoji="1" lang="en-US" altLang="ja-JP" sz="2800" dirty="0" smtClean="0"/>
              <a:t>1</a:t>
            </a:r>
            <a:r>
              <a:rPr kumimoji="1" lang="ja-JP" altLang="en-US" sz="2800" dirty="0" smtClean="0"/>
              <a:t>：</a:t>
            </a:r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382977" y="4681127"/>
            <a:ext cx="102127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解</a:t>
            </a:r>
            <a:r>
              <a:rPr lang="en-US" altLang="ja-JP" sz="2800" dirty="0"/>
              <a:t>2</a:t>
            </a:r>
            <a:r>
              <a:rPr kumimoji="1" lang="ja-JP" altLang="en-US" sz="2800" dirty="0" smtClean="0"/>
              <a:t>：</a:t>
            </a:r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5221295" y="3550358"/>
            <a:ext cx="102127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解</a:t>
            </a:r>
            <a:r>
              <a:rPr kumimoji="1" lang="en-US" altLang="ja-JP" sz="2800" dirty="0" smtClean="0"/>
              <a:t>1</a:t>
            </a:r>
            <a:r>
              <a:rPr kumimoji="1" lang="ja-JP" altLang="en-US" sz="2800" dirty="0" smtClean="0"/>
              <a:t>：</a:t>
            </a:r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5221295" y="4681127"/>
            <a:ext cx="102127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解</a:t>
            </a:r>
            <a:r>
              <a:rPr lang="en-US" altLang="ja-JP" sz="2800" dirty="0"/>
              <a:t>2</a:t>
            </a:r>
            <a:r>
              <a:rPr kumimoji="1" lang="ja-JP" altLang="en-US" sz="2800" dirty="0" smtClean="0"/>
              <a:t>：</a:t>
            </a:r>
          </a:p>
        </p:txBody>
      </p:sp>
      <p:graphicFrame>
        <p:nvGraphicFramePr>
          <p:cNvPr id="25" name="表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6364074"/>
              </p:ext>
            </p:extLst>
          </p:nvPr>
        </p:nvGraphicFramePr>
        <p:xfrm>
          <a:off x="6133013" y="3550358"/>
          <a:ext cx="246888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xmlns="" val="132271724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401361006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4120775698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39892727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5441277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8444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最適解の類似性調査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b="1" dirty="0" smtClean="0"/>
              <a:t>&lt;</a:t>
            </a:r>
            <a:r>
              <a:rPr kumimoji="1" lang="ja-JP" altLang="en-US" b="1" dirty="0" smtClean="0"/>
              <a:t>解の類似性の比較方法</a:t>
            </a:r>
            <a:r>
              <a:rPr lang="en-US" altLang="ja-JP" b="1" dirty="0"/>
              <a:t>&gt;</a:t>
            </a:r>
            <a:endParaRPr kumimoji="1" lang="ja-JP" altLang="en-US" b="1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15</a:t>
            </a:fld>
            <a:endParaRPr kumimoji="1" lang="ja-JP" altLang="en-US" dirty="0"/>
          </a:p>
        </p:txBody>
      </p:sp>
      <p:graphicFrame>
        <p:nvGraphicFramePr>
          <p:cNvPr id="5" name="表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136823"/>
              </p:ext>
            </p:extLst>
          </p:nvPr>
        </p:nvGraphicFramePr>
        <p:xfrm>
          <a:off x="1330539" y="3555418"/>
          <a:ext cx="246888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xmlns="" val="132271724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401361006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4120775698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39892727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1" dirty="0" smtClean="0">
                          <a:solidFill>
                            <a:schemeClr val="accent2"/>
                          </a:solidFill>
                        </a:rPr>
                        <a:t>1</a:t>
                      </a:r>
                      <a:endParaRPr kumimoji="1" lang="ja-JP" altLang="en-US" sz="28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1" dirty="0" smtClean="0">
                          <a:solidFill>
                            <a:schemeClr val="accent1"/>
                          </a:solidFill>
                        </a:rPr>
                        <a:t>0</a:t>
                      </a:r>
                      <a:endParaRPr kumimoji="1" lang="ja-JP" altLang="en-US" sz="2800" b="1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1" dirty="0" smtClean="0">
                          <a:solidFill>
                            <a:schemeClr val="accent2"/>
                          </a:solidFill>
                        </a:rPr>
                        <a:t>1</a:t>
                      </a:r>
                      <a:endParaRPr kumimoji="1" lang="ja-JP" altLang="en-US" sz="28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544127792"/>
                  </a:ext>
                </a:extLst>
              </a:tr>
            </a:tbl>
          </a:graphicData>
        </a:graphic>
      </p:graphicFrame>
      <p:sp>
        <p:nvSpPr>
          <p:cNvPr id="6" name="テキスト ボックス 5"/>
          <p:cNvSpPr txBox="1"/>
          <p:nvPr/>
        </p:nvSpPr>
        <p:spPr>
          <a:xfrm>
            <a:off x="382977" y="2104014"/>
            <a:ext cx="3048992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lang="en-US" altLang="ja-JP" sz="3200" dirty="0"/>
              <a:t>2</a:t>
            </a:r>
            <a:r>
              <a:rPr kumimoji="1" lang="ja-JP" altLang="en-US" sz="3200" dirty="0" smtClean="0"/>
              <a:t>の最適解</a:t>
            </a:r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5215057" y="2104014"/>
            <a:ext cx="3048992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r>
              <a:rPr kumimoji="1" lang="ja-JP" altLang="en-US" sz="3200" dirty="0" smtClean="0"/>
              <a:t>の最適解</a:t>
            </a:r>
          </a:p>
        </p:txBody>
      </p:sp>
      <p:graphicFrame>
        <p:nvGraphicFramePr>
          <p:cNvPr id="13" name="表 12"/>
          <p:cNvGraphicFramePr>
            <a:graphicFrameLocks noGrp="1"/>
          </p:cNvGraphicFramePr>
          <p:nvPr>
            <p:extLst/>
          </p:nvPr>
        </p:nvGraphicFramePr>
        <p:xfrm>
          <a:off x="1330539" y="4681127"/>
          <a:ext cx="246888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xmlns="" val="132271724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401361006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4120775698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39892727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544127792"/>
                  </a:ext>
                </a:extLst>
              </a:tr>
            </a:tbl>
          </a:graphicData>
        </a:graphic>
      </p:graphicFrame>
      <p:graphicFrame>
        <p:nvGraphicFramePr>
          <p:cNvPr id="15" name="表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7439709"/>
              </p:ext>
            </p:extLst>
          </p:nvPr>
        </p:nvGraphicFramePr>
        <p:xfrm>
          <a:off x="6133013" y="4683657"/>
          <a:ext cx="246888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xmlns="" val="132271724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401361006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4120775698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39892727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1" dirty="0" smtClean="0">
                          <a:solidFill>
                            <a:schemeClr val="accent2"/>
                          </a:solidFill>
                        </a:rPr>
                        <a:t>0</a:t>
                      </a:r>
                      <a:endParaRPr kumimoji="1" lang="ja-JP" altLang="en-US" sz="28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1" dirty="0" smtClean="0">
                          <a:solidFill>
                            <a:schemeClr val="accent1"/>
                          </a:solidFill>
                        </a:rPr>
                        <a:t>1</a:t>
                      </a:r>
                      <a:endParaRPr kumimoji="1" lang="ja-JP" altLang="en-US" sz="2800" b="1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1" dirty="0" smtClean="0">
                          <a:solidFill>
                            <a:schemeClr val="accent2"/>
                          </a:solidFill>
                        </a:rPr>
                        <a:t>0</a:t>
                      </a:r>
                      <a:endParaRPr kumimoji="1" lang="ja-JP" altLang="en-US" sz="28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544127792"/>
                  </a:ext>
                </a:extLst>
              </a:tr>
            </a:tbl>
          </a:graphicData>
        </a:graphic>
      </p:graphicFrame>
      <p:sp>
        <p:nvSpPr>
          <p:cNvPr id="17" name="テキスト ボックス 16"/>
          <p:cNvSpPr txBox="1"/>
          <p:nvPr/>
        </p:nvSpPr>
        <p:spPr>
          <a:xfrm>
            <a:off x="382977" y="3550358"/>
            <a:ext cx="102127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b="1" dirty="0" smtClean="0">
                <a:solidFill>
                  <a:schemeClr val="accent1"/>
                </a:solidFill>
              </a:rPr>
              <a:t>解</a:t>
            </a:r>
            <a:r>
              <a:rPr kumimoji="1" lang="en-US" altLang="ja-JP" sz="2800" b="1" dirty="0" smtClean="0">
                <a:solidFill>
                  <a:schemeClr val="accent1"/>
                </a:solidFill>
              </a:rPr>
              <a:t>1</a:t>
            </a:r>
            <a:r>
              <a:rPr kumimoji="1" lang="ja-JP" altLang="en-US" sz="2800" b="1" dirty="0" smtClean="0">
                <a:solidFill>
                  <a:schemeClr val="accent1"/>
                </a:solidFill>
              </a:rPr>
              <a:t>：</a:t>
            </a:r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382977" y="4681127"/>
            <a:ext cx="102127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解</a:t>
            </a:r>
            <a:r>
              <a:rPr lang="en-US" altLang="ja-JP" sz="2800" dirty="0"/>
              <a:t>2</a:t>
            </a:r>
            <a:r>
              <a:rPr kumimoji="1" lang="ja-JP" altLang="en-US" sz="2800" dirty="0" smtClean="0"/>
              <a:t>：</a:t>
            </a:r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5221295" y="3550358"/>
            <a:ext cx="102127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解</a:t>
            </a:r>
            <a:r>
              <a:rPr kumimoji="1" lang="en-US" altLang="ja-JP" sz="2800" dirty="0" smtClean="0"/>
              <a:t>1</a:t>
            </a:r>
            <a:r>
              <a:rPr kumimoji="1" lang="ja-JP" altLang="en-US" sz="2800" dirty="0" smtClean="0"/>
              <a:t>：</a:t>
            </a:r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5221295" y="4681127"/>
            <a:ext cx="102127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b="1" dirty="0" smtClean="0">
                <a:solidFill>
                  <a:schemeClr val="accent1"/>
                </a:solidFill>
              </a:rPr>
              <a:t>解</a:t>
            </a:r>
            <a:r>
              <a:rPr lang="en-US" altLang="ja-JP" sz="2800" b="1" dirty="0">
                <a:solidFill>
                  <a:schemeClr val="accent1"/>
                </a:solidFill>
              </a:rPr>
              <a:t>2</a:t>
            </a:r>
            <a:r>
              <a:rPr kumimoji="1" lang="ja-JP" altLang="en-US" sz="2800" b="1" dirty="0" smtClean="0">
                <a:solidFill>
                  <a:schemeClr val="accent1"/>
                </a:solidFill>
              </a:rPr>
              <a:t>：</a:t>
            </a:r>
          </a:p>
        </p:txBody>
      </p:sp>
      <p:cxnSp>
        <p:nvCxnSpPr>
          <p:cNvPr id="24" name="直線矢印コネクタ 23"/>
          <p:cNvCxnSpPr/>
          <p:nvPr/>
        </p:nvCxnSpPr>
        <p:spPr>
          <a:xfrm>
            <a:off x="4049586" y="3865697"/>
            <a:ext cx="1057809" cy="107451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5" name="表 24"/>
          <p:cNvGraphicFramePr>
            <a:graphicFrameLocks noGrp="1"/>
          </p:cNvGraphicFramePr>
          <p:nvPr>
            <p:extLst/>
          </p:nvPr>
        </p:nvGraphicFramePr>
        <p:xfrm>
          <a:off x="6133013" y="3550358"/>
          <a:ext cx="246888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xmlns="" val="132271724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401361006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4120775698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39892727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544127792"/>
                  </a:ext>
                </a:extLst>
              </a:tr>
            </a:tbl>
          </a:graphicData>
        </a:graphic>
      </p:graphicFrame>
      <p:sp>
        <p:nvSpPr>
          <p:cNvPr id="28" name="テキスト ボックス 27"/>
          <p:cNvSpPr txBox="1"/>
          <p:nvPr/>
        </p:nvSpPr>
        <p:spPr>
          <a:xfrm>
            <a:off x="3941923" y="3159593"/>
            <a:ext cx="1273134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比較</a:t>
            </a:r>
          </a:p>
        </p:txBody>
      </p:sp>
      <p:sp>
        <p:nvSpPr>
          <p:cNvPr id="26" name="テキスト ボックス 25"/>
          <p:cNvSpPr txBox="1"/>
          <p:nvPr/>
        </p:nvSpPr>
        <p:spPr>
          <a:xfrm>
            <a:off x="1704884" y="5524680"/>
            <a:ext cx="5734232" cy="954107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タスク</a:t>
            </a:r>
            <a:r>
              <a:rPr lang="en-US" altLang="ja-JP" sz="2800" dirty="0"/>
              <a:t>2</a:t>
            </a:r>
            <a:r>
              <a:rPr lang="ja-JP" altLang="en-US" sz="2800" dirty="0" smtClean="0"/>
              <a:t>にのみ含まれるアイテム数：</a:t>
            </a:r>
            <a:r>
              <a:rPr lang="en-US" altLang="ja-JP" sz="2800" b="1" dirty="0" smtClean="0">
                <a:solidFill>
                  <a:schemeClr val="accent2"/>
                </a:solidFill>
              </a:rPr>
              <a:t>2</a:t>
            </a:r>
          </a:p>
          <a:p>
            <a:pPr algn="ctr"/>
            <a:r>
              <a:rPr lang="ja-JP" altLang="en-US" sz="2800" dirty="0"/>
              <a:t>タスク</a:t>
            </a:r>
            <a:r>
              <a:rPr lang="en-US" altLang="ja-JP" sz="2800" dirty="0"/>
              <a:t>1</a:t>
            </a:r>
            <a:r>
              <a:rPr lang="ja-JP" altLang="en-US" sz="2800" dirty="0"/>
              <a:t>にのみ含まれるアイテム数：</a:t>
            </a:r>
            <a:r>
              <a:rPr lang="en-US" altLang="ja-JP" sz="2800" b="1" dirty="0" smtClean="0">
                <a:solidFill>
                  <a:schemeClr val="accent1"/>
                </a:solidFill>
              </a:rPr>
              <a:t>1</a:t>
            </a:r>
            <a:endParaRPr lang="en-US" altLang="ja-JP" sz="28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8630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最適解の類似性調査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b="1" dirty="0"/>
              <a:t>&lt;</a:t>
            </a:r>
            <a:r>
              <a:rPr lang="ja-JP" altLang="en-US" b="1" dirty="0"/>
              <a:t>解の類似性の比較方法</a:t>
            </a:r>
            <a:r>
              <a:rPr lang="en-US" altLang="ja-JP" b="1" dirty="0"/>
              <a:t>&gt;</a:t>
            </a:r>
            <a:endParaRPr lang="ja-JP" altLang="en-US" b="1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16</a:t>
            </a:fld>
            <a:endParaRPr kumimoji="1" lang="ja-JP" altLang="en-US" dirty="0"/>
          </a:p>
        </p:txBody>
      </p:sp>
      <p:graphicFrame>
        <p:nvGraphicFramePr>
          <p:cNvPr id="5" name="表 4"/>
          <p:cNvGraphicFramePr>
            <a:graphicFrameLocks noGrp="1"/>
          </p:cNvGraphicFramePr>
          <p:nvPr>
            <p:extLst/>
          </p:nvPr>
        </p:nvGraphicFramePr>
        <p:xfrm>
          <a:off x="1330539" y="3555418"/>
          <a:ext cx="246888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xmlns="" val="132271724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401361006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4120775698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39892727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544127792"/>
                  </a:ext>
                </a:extLst>
              </a:tr>
            </a:tbl>
          </a:graphicData>
        </a:graphic>
      </p:graphicFrame>
      <p:sp>
        <p:nvSpPr>
          <p:cNvPr id="6" name="テキスト ボックス 5"/>
          <p:cNvSpPr txBox="1"/>
          <p:nvPr/>
        </p:nvSpPr>
        <p:spPr>
          <a:xfrm>
            <a:off x="382977" y="2104014"/>
            <a:ext cx="3048992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lang="en-US" altLang="ja-JP" sz="3200" dirty="0"/>
              <a:t>2</a:t>
            </a:r>
            <a:r>
              <a:rPr kumimoji="1" lang="ja-JP" altLang="en-US" sz="3200" dirty="0" smtClean="0"/>
              <a:t>の最適解</a:t>
            </a:r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5215057" y="2104014"/>
            <a:ext cx="3048992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r>
              <a:rPr kumimoji="1" lang="ja-JP" altLang="en-US" sz="3200" dirty="0" smtClean="0"/>
              <a:t>の最適解</a:t>
            </a:r>
          </a:p>
        </p:txBody>
      </p:sp>
      <p:graphicFrame>
        <p:nvGraphicFramePr>
          <p:cNvPr id="13" name="表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0547588"/>
              </p:ext>
            </p:extLst>
          </p:nvPr>
        </p:nvGraphicFramePr>
        <p:xfrm>
          <a:off x="1330539" y="4681127"/>
          <a:ext cx="246888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xmlns="" val="132271724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401361006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4120775698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39892727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1" dirty="0" smtClean="0">
                          <a:solidFill>
                            <a:schemeClr val="accent2"/>
                          </a:solidFill>
                        </a:rPr>
                        <a:t>1</a:t>
                      </a:r>
                      <a:endParaRPr kumimoji="1" lang="ja-JP" altLang="en-US" sz="28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544127792"/>
                  </a:ext>
                </a:extLst>
              </a:tr>
            </a:tbl>
          </a:graphicData>
        </a:graphic>
      </p:graphicFrame>
      <p:graphicFrame>
        <p:nvGraphicFramePr>
          <p:cNvPr id="15" name="表 14"/>
          <p:cNvGraphicFramePr>
            <a:graphicFrameLocks noGrp="1"/>
          </p:cNvGraphicFramePr>
          <p:nvPr>
            <p:extLst/>
          </p:nvPr>
        </p:nvGraphicFramePr>
        <p:xfrm>
          <a:off x="6133013" y="4683657"/>
          <a:ext cx="246888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xmlns="" val="132271724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401361006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4120775698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39892727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544127792"/>
                  </a:ext>
                </a:extLst>
              </a:tr>
            </a:tbl>
          </a:graphicData>
        </a:graphic>
      </p:graphicFrame>
      <p:sp>
        <p:nvSpPr>
          <p:cNvPr id="17" name="テキスト ボックス 16"/>
          <p:cNvSpPr txBox="1"/>
          <p:nvPr/>
        </p:nvSpPr>
        <p:spPr>
          <a:xfrm>
            <a:off x="382977" y="3550358"/>
            <a:ext cx="102127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解</a:t>
            </a:r>
            <a:r>
              <a:rPr kumimoji="1" lang="en-US" altLang="ja-JP" sz="2800" dirty="0" smtClean="0"/>
              <a:t>1</a:t>
            </a:r>
            <a:r>
              <a:rPr kumimoji="1" lang="ja-JP" altLang="en-US" sz="2800" dirty="0" smtClean="0"/>
              <a:t>：</a:t>
            </a:r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382977" y="4681127"/>
            <a:ext cx="102127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b="1" dirty="0" smtClean="0">
                <a:solidFill>
                  <a:schemeClr val="accent1"/>
                </a:solidFill>
              </a:rPr>
              <a:t>解</a:t>
            </a:r>
            <a:r>
              <a:rPr lang="en-US" altLang="ja-JP" sz="2800" b="1" dirty="0">
                <a:solidFill>
                  <a:schemeClr val="accent1"/>
                </a:solidFill>
              </a:rPr>
              <a:t>2</a:t>
            </a:r>
            <a:r>
              <a:rPr kumimoji="1" lang="ja-JP" altLang="en-US" sz="2800" b="1" dirty="0" smtClean="0">
                <a:solidFill>
                  <a:schemeClr val="accent1"/>
                </a:solidFill>
              </a:rPr>
              <a:t>：</a:t>
            </a:r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5221295" y="3550358"/>
            <a:ext cx="102127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b="1" dirty="0" smtClean="0">
                <a:solidFill>
                  <a:schemeClr val="accent1"/>
                </a:solidFill>
              </a:rPr>
              <a:t>解</a:t>
            </a:r>
            <a:r>
              <a:rPr kumimoji="1" lang="en-US" altLang="ja-JP" sz="2800" b="1" dirty="0" smtClean="0">
                <a:solidFill>
                  <a:schemeClr val="accent1"/>
                </a:solidFill>
              </a:rPr>
              <a:t>1</a:t>
            </a:r>
            <a:r>
              <a:rPr kumimoji="1" lang="ja-JP" altLang="en-US" sz="2800" b="1" dirty="0" smtClean="0">
                <a:solidFill>
                  <a:schemeClr val="accent1"/>
                </a:solidFill>
              </a:rPr>
              <a:t>：</a:t>
            </a:r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5221295" y="4681127"/>
            <a:ext cx="102127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解</a:t>
            </a:r>
            <a:r>
              <a:rPr lang="en-US" altLang="ja-JP" sz="2800" dirty="0"/>
              <a:t>2</a:t>
            </a:r>
            <a:r>
              <a:rPr kumimoji="1" lang="ja-JP" altLang="en-US" sz="2800" dirty="0" smtClean="0"/>
              <a:t>：</a:t>
            </a:r>
          </a:p>
        </p:txBody>
      </p:sp>
      <p:cxnSp>
        <p:nvCxnSpPr>
          <p:cNvPr id="24" name="直線矢印コネクタ 23"/>
          <p:cNvCxnSpPr/>
          <p:nvPr/>
        </p:nvCxnSpPr>
        <p:spPr>
          <a:xfrm rot="27000000">
            <a:off x="4049586" y="3865697"/>
            <a:ext cx="1057809" cy="107451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5" name="表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422779"/>
              </p:ext>
            </p:extLst>
          </p:nvPr>
        </p:nvGraphicFramePr>
        <p:xfrm>
          <a:off x="6133013" y="3550358"/>
          <a:ext cx="246888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xmlns="" val="132271724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401361006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4120775698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39892727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1" dirty="0" smtClean="0">
                          <a:solidFill>
                            <a:schemeClr val="accent2"/>
                          </a:solidFill>
                        </a:rPr>
                        <a:t>0</a:t>
                      </a:r>
                      <a:endParaRPr kumimoji="1" lang="ja-JP" altLang="en-US" sz="28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544127792"/>
                  </a:ext>
                </a:extLst>
              </a:tr>
            </a:tbl>
          </a:graphicData>
        </a:graphic>
      </p:graphicFrame>
      <p:sp>
        <p:nvSpPr>
          <p:cNvPr id="28" name="テキスト ボックス 27"/>
          <p:cNvSpPr txBox="1"/>
          <p:nvPr/>
        </p:nvSpPr>
        <p:spPr>
          <a:xfrm>
            <a:off x="3941923" y="3159593"/>
            <a:ext cx="1273134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比較</a:t>
            </a:r>
          </a:p>
        </p:txBody>
      </p:sp>
      <p:sp>
        <p:nvSpPr>
          <p:cNvPr id="19" name="テキスト ボックス 18"/>
          <p:cNvSpPr txBox="1"/>
          <p:nvPr/>
        </p:nvSpPr>
        <p:spPr>
          <a:xfrm>
            <a:off x="1704884" y="5524680"/>
            <a:ext cx="5734232" cy="954107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タスク</a:t>
            </a:r>
            <a:r>
              <a:rPr lang="en-US" altLang="ja-JP" sz="2800" dirty="0"/>
              <a:t>2</a:t>
            </a:r>
            <a:r>
              <a:rPr lang="ja-JP" altLang="en-US" sz="2800" dirty="0" smtClean="0"/>
              <a:t>にのみ含まれるアイテム数：</a:t>
            </a:r>
            <a:r>
              <a:rPr lang="en-US" altLang="ja-JP" sz="2800" b="1" dirty="0">
                <a:solidFill>
                  <a:schemeClr val="accent2"/>
                </a:solidFill>
              </a:rPr>
              <a:t>1</a:t>
            </a:r>
            <a:endParaRPr lang="en-US" altLang="ja-JP" sz="2800" b="1" dirty="0" smtClean="0">
              <a:solidFill>
                <a:schemeClr val="accent2"/>
              </a:solidFill>
            </a:endParaRPr>
          </a:p>
          <a:p>
            <a:pPr algn="ctr"/>
            <a:r>
              <a:rPr lang="ja-JP" altLang="en-US" sz="2800" dirty="0"/>
              <a:t>タスク</a:t>
            </a:r>
            <a:r>
              <a:rPr lang="en-US" altLang="ja-JP" sz="2800" dirty="0"/>
              <a:t>1</a:t>
            </a:r>
            <a:r>
              <a:rPr lang="ja-JP" altLang="en-US" sz="2800" dirty="0"/>
              <a:t>にのみ含まれるアイテム数</a:t>
            </a:r>
            <a:r>
              <a:rPr lang="ja-JP" altLang="en-US" sz="2800" dirty="0" smtClean="0"/>
              <a:t>：</a:t>
            </a:r>
            <a:r>
              <a:rPr lang="en-US" altLang="ja-JP" sz="2800" dirty="0" smtClean="0"/>
              <a:t>0</a:t>
            </a:r>
            <a:endParaRPr lang="en-US" altLang="ja-JP" sz="28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6282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最適解の類似性調査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n-US" altLang="ja-JP" b="1" dirty="0" smtClean="0"/>
              <a:t>&lt;</a:t>
            </a:r>
            <a:r>
              <a:rPr lang="ja-JP" altLang="en-US" b="1" dirty="0" smtClean="0"/>
              <a:t>ベンチマーク問題設定</a:t>
            </a:r>
            <a:r>
              <a:rPr lang="en-US" altLang="ja-JP" b="1" dirty="0" smtClean="0"/>
              <a:t>&gt;</a:t>
            </a:r>
          </a:p>
          <a:p>
            <a:pPr algn="l"/>
            <a:endParaRPr lang="en-US" altLang="ja-JP" b="1" dirty="0">
              <a:solidFill>
                <a:schemeClr val="accent2"/>
              </a:solidFill>
            </a:endParaRPr>
          </a:p>
          <a:p>
            <a:pPr algn="l"/>
            <a:endParaRPr kumimoji="1"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17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 smtClean="0"/>
              <a:t>実験</a:t>
            </a:r>
            <a:r>
              <a:rPr lang="ja-JP" altLang="en-US" dirty="0"/>
              <a:t>設定</a:t>
            </a:r>
            <a:endParaRPr kumimoji="1" lang="ja-JP" altLang="en-US" dirty="0"/>
          </a:p>
        </p:txBody>
      </p:sp>
      <p:grpSp>
        <p:nvGrpSpPr>
          <p:cNvPr id="6" name="グループ化 5"/>
          <p:cNvGrpSpPr/>
          <p:nvPr/>
        </p:nvGrpSpPr>
        <p:grpSpPr>
          <a:xfrm>
            <a:off x="228600" y="1946103"/>
            <a:ext cx="9156699" cy="2246769"/>
            <a:chOff x="-12700" y="1536970"/>
            <a:chExt cx="9156699" cy="2277582"/>
          </a:xfrm>
        </p:grpSpPr>
        <p:sp>
          <p:nvSpPr>
            <p:cNvPr id="7" name="テキスト ボックス 6"/>
            <p:cNvSpPr txBox="1"/>
            <p:nvPr/>
          </p:nvSpPr>
          <p:spPr>
            <a:xfrm>
              <a:off x="-12700" y="1536970"/>
              <a:ext cx="2799675" cy="2277582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</a:rPr>
                <a:t>目的数：</a:t>
              </a:r>
              <a:endParaRPr lang="en-US" altLang="ja-JP" sz="2800" b="1" dirty="0" smtClean="0">
                <a:solidFill>
                  <a:schemeClr val="accent2"/>
                </a:solidFill>
              </a:endParaRPr>
            </a:p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</a:rPr>
                <a:t>アイテム数：</a:t>
              </a:r>
              <a:endParaRPr lang="en-US" altLang="ja-JP" sz="2800" b="1" dirty="0" smtClean="0">
                <a:solidFill>
                  <a:schemeClr val="accent2"/>
                </a:solidFill>
              </a:endParaRPr>
            </a:p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  <a:latin typeface="Symbol" panose="05050102010706020507" pitchFamily="18" charset="2"/>
                </a:rPr>
                <a:t>容量倍率</a:t>
              </a:r>
              <a:r>
                <a:rPr lang="en-US" altLang="ja-JP" sz="2800" b="1" i="1" dirty="0" smtClean="0">
                  <a:solidFill>
                    <a:schemeClr val="accent2"/>
                  </a:solidFill>
                  <a:latin typeface="Symbol" panose="05050102010706020507" pitchFamily="18" charset="2"/>
                </a:rPr>
                <a:t>a</a:t>
              </a:r>
              <a:r>
                <a:rPr lang="ja-JP" altLang="en-US" sz="2800" b="1" dirty="0">
                  <a:solidFill>
                    <a:schemeClr val="accent2"/>
                  </a:solidFill>
                </a:rPr>
                <a:t>：</a:t>
              </a:r>
              <a:endParaRPr lang="en-US" altLang="ja-JP" sz="2800" b="1" dirty="0">
                <a:solidFill>
                  <a:schemeClr val="accent2"/>
                </a:solidFill>
              </a:endParaRPr>
            </a:p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  <a:latin typeface="Symbol" panose="05050102010706020507" pitchFamily="18" charset="2"/>
                </a:rPr>
                <a:t>価値変更割合</a:t>
              </a:r>
              <a:r>
                <a:rPr lang="en-US" altLang="ja-JP" sz="2800" b="1" i="1" dirty="0" smtClean="0">
                  <a:solidFill>
                    <a:schemeClr val="accent2"/>
                  </a:solidFill>
                  <a:latin typeface="Symbol" panose="05050102010706020507" pitchFamily="18" charset="2"/>
                </a:rPr>
                <a:t>b</a:t>
              </a:r>
              <a:r>
                <a:rPr lang="ja-JP" altLang="en-US" sz="2800" b="1" dirty="0">
                  <a:solidFill>
                    <a:schemeClr val="accent2"/>
                  </a:solidFill>
                </a:rPr>
                <a:t>：</a:t>
              </a:r>
              <a:endParaRPr lang="en-US" altLang="ja-JP" sz="2800" b="1" dirty="0">
                <a:solidFill>
                  <a:schemeClr val="accent2"/>
                </a:solidFill>
              </a:endParaRPr>
            </a:p>
            <a:p>
              <a:pPr algn="r"/>
              <a:endParaRPr lang="en-US" altLang="ja-JP" sz="2800" b="1" dirty="0">
                <a:solidFill>
                  <a:schemeClr val="accent2"/>
                </a:solidFill>
              </a:endParaRPr>
            </a:p>
          </p:txBody>
        </p:sp>
        <p:sp>
          <p:nvSpPr>
            <p:cNvPr id="8" name="テキスト ボックス 7"/>
            <p:cNvSpPr txBox="1"/>
            <p:nvPr/>
          </p:nvSpPr>
          <p:spPr>
            <a:xfrm>
              <a:off x="2611872" y="1536970"/>
              <a:ext cx="6532127" cy="2215183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altLang="ja-JP" sz="2800" dirty="0" smtClean="0"/>
                <a:t>2</a:t>
              </a:r>
            </a:p>
            <a:p>
              <a:r>
                <a:rPr lang="en-US" altLang="ja-JP" sz="2800" dirty="0" smtClean="0"/>
                <a:t>500</a:t>
              </a:r>
            </a:p>
            <a:p>
              <a:r>
                <a:rPr lang="ja-JP" altLang="en-US" sz="2800" dirty="0"/>
                <a:t>｛</a:t>
              </a:r>
              <a:r>
                <a:rPr lang="en-US" altLang="ja-JP" sz="2800" dirty="0"/>
                <a:t>1.05</a:t>
              </a:r>
              <a:r>
                <a:rPr lang="ja-JP" altLang="en-US" sz="2800" dirty="0" err="1"/>
                <a:t>，</a:t>
              </a:r>
              <a:r>
                <a:rPr lang="en-US" altLang="ja-JP" sz="2800" dirty="0"/>
                <a:t>1.1</a:t>
              </a:r>
              <a:r>
                <a:rPr lang="ja-JP" altLang="en-US" sz="2800" dirty="0" err="1"/>
                <a:t>，</a:t>
              </a:r>
              <a:r>
                <a:rPr lang="en-US" altLang="ja-JP" sz="2800" dirty="0"/>
                <a:t>1.15</a:t>
              </a:r>
              <a:r>
                <a:rPr lang="ja-JP" altLang="en-US" sz="2800" dirty="0" err="1"/>
                <a:t>，</a:t>
              </a:r>
              <a:r>
                <a:rPr lang="en-US" altLang="ja-JP" sz="2800" dirty="0"/>
                <a:t>1.2</a:t>
              </a:r>
              <a:r>
                <a:rPr lang="ja-JP" altLang="en-US" sz="2800" dirty="0" err="1"/>
                <a:t>，</a:t>
              </a:r>
              <a:r>
                <a:rPr lang="en-US" altLang="ja-JP" sz="2800" dirty="0"/>
                <a:t>1.25</a:t>
              </a:r>
              <a:r>
                <a:rPr lang="ja-JP" altLang="en-US" sz="2800" dirty="0"/>
                <a:t>｝</a:t>
              </a:r>
              <a:r>
                <a:rPr lang="ja-JP" altLang="en-US" sz="2800" dirty="0" smtClean="0"/>
                <a:t>倍</a:t>
              </a:r>
              <a:endParaRPr lang="en-US" altLang="ja-JP" sz="2800" dirty="0" smtClean="0"/>
            </a:p>
            <a:p>
              <a:r>
                <a:rPr lang="ja-JP" altLang="en-US" sz="2800" dirty="0"/>
                <a:t>｛</a:t>
              </a:r>
              <a:r>
                <a:rPr lang="en-US" altLang="ja-JP" sz="2800" dirty="0"/>
                <a:t>5</a:t>
              </a:r>
              <a:r>
                <a:rPr lang="ja-JP" altLang="en-US" sz="2800" dirty="0" err="1"/>
                <a:t>，</a:t>
              </a:r>
              <a:r>
                <a:rPr lang="en-US" altLang="ja-JP" sz="2800" dirty="0"/>
                <a:t>10</a:t>
              </a:r>
              <a:r>
                <a:rPr lang="ja-JP" altLang="en-US" sz="2800" dirty="0" err="1"/>
                <a:t>，</a:t>
              </a:r>
              <a:r>
                <a:rPr lang="en-US" altLang="ja-JP" sz="2800" dirty="0"/>
                <a:t>15</a:t>
              </a:r>
              <a:r>
                <a:rPr lang="ja-JP" altLang="en-US" sz="2800" dirty="0" err="1"/>
                <a:t>，</a:t>
              </a:r>
              <a:r>
                <a:rPr lang="en-US" altLang="ja-JP" sz="2800" dirty="0"/>
                <a:t>20</a:t>
              </a:r>
              <a:r>
                <a:rPr lang="ja-JP" altLang="en-US" sz="2800" dirty="0" err="1"/>
                <a:t>，</a:t>
              </a:r>
              <a:r>
                <a:rPr lang="en-US" altLang="ja-JP" sz="2800" dirty="0"/>
                <a:t>25</a:t>
              </a:r>
              <a:r>
                <a:rPr lang="ja-JP" altLang="en-US" sz="2800" dirty="0"/>
                <a:t>｝</a:t>
              </a:r>
              <a:r>
                <a:rPr lang="en-US" altLang="ja-JP" sz="2800" dirty="0"/>
                <a:t>%</a:t>
              </a:r>
            </a:p>
            <a:p>
              <a:endParaRPr lang="en-US" altLang="ja-JP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3547735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最適解の類似性調査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n-US" altLang="ja-JP" b="1" dirty="0" smtClean="0"/>
              <a:t>&lt;</a:t>
            </a:r>
            <a:r>
              <a:rPr lang="ja-JP" altLang="en-US" b="1" dirty="0" smtClean="0"/>
              <a:t>アルゴリズム設定</a:t>
            </a:r>
            <a:r>
              <a:rPr lang="en-US" altLang="ja-JP" b="1" dirty="0" smtClean="0"/>
              <a:t>&gt;</a:t>
            </a:r>
          </a:p>
          <a:p>
            <a:pPr algn="l"/>
            <a:endParaRPr lang="en-US" altLang="ja-JP" dirty="0"/>
          </a:p>
          <a:p>
            <a:pPr algn="l"/>
            <a:endParaRPr lang="en-US" altLang="ja-JP" b="1" dirty="0">
              <a:solidFill>
                <a:schemeClr val="accent2"/>
              </a:solidFill>
            </a:endParaRPr>
          </a:p>
          <a:p>
            <a:pPr algn="l"/>
            <a:endParaRPr kumimoji="1"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18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 smtClean="0"/>
              <a:t>実験</a:t>
            </a:r>
            <a:r>
              <a:rPr lang="ja-JP" altLang="en-US" dirty="0"/>
              <a:t>設定</a:t>
            </a:r>
            <a:endParaRPr kumimoji="1" lang="ja-JP" altLang="en-US" dirty="0"/>
          </a:p>
        </p:txBody>
      </p:sp>
      <p:grpSp>
        <p:nvGrpSpPr>
          <p:cNvPr id="9" name="グループ化 8"/>
          <p:cNvGrpSpPr/>
          <p:nvPr/>
        </p:nvGrpSpPr>
        <p:grpSpPr>
          <a:xfrm>
            <a:off x="228600" y="1946103"/>
            <a:ext cx="9156699" cy="3477875"/>
            <a:chOff x="-12700" y="1536970"/>
            <a:chExt cx="9156699" cy="3525573"/>
          </a:xfrm>
        </p:grpSpPr>
        <p:sp>
          <p:nvSpPr>
            <p:cNvPr id="10" name="テキスト ボックス 9"/>
            <p:cNvSpPr txBox="1"/>
            <p:nvPr/>
          </p:nvSpPr>
          <p:spPr>
            <a:xfrm>
              <a:off x="-12700" y="1536970"/>
              <a:ext cx="2799675" cy="31511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2800" b="1" dirty="0">
                  <a:solidFill>
                    <a:schemeClr val="accent2"/>
                  </a:solidFill>
                </a:rPr>
                <a:t>EMOA</a:t>
              </a:r>
              <a:r>
                <a:rPr lang="ja-JP" altLang="en-US" sz="2800" b="1" dirty="0" smtClean="0">
                  <a:solidFill>
                    <a:schemeClr val="accent2"/>
                  </a:solidFill>
                </a:rPr>
                <a:t>：</a:t>
              </a:r>
              <a:r>
                <a:rPr lang="en-US" altLang="ja-JP" sz="2800" dirty="0"/>
                <a:t/>
              </a:r>
              <a:br>
                <a:rPr lang="en-US" altLang="ja-JP" sz="2800" dirty="0"/>
              </a:br>
              <a:r>
                <a:rPr lang="ja-JP" altLang="en-US" sz="2800" b="1" dirty="0" smtClean="0">
                  <a:solidFill>
                    <a:schemeClr val="accent2"/>
                  </a:solidFill>
                </a:rPr>
                <a:t>スカラー化関数： </a:t>
              </a:r>
              <a:r>
                <a:rPr lang="en-US" altLang="ja-JP" sz="2800" dirty="0"/>
                <a:t/>
              </a:r>
              <a:br>
                <a:rPr lang="en-US" altLang="ja-JP" sz="2800" dirty="0"/>
              </a:br>
              <a:r>
                <a:rPr lang="ja-JP" altLang="en-US" sz="2800" b="1" dirty="0">
                  <a:solidFill>
                    <a:schemeClr val="accent2"/>
                  </a:solidFill>
                </a:rPr>
                <a:t>個体数： </a:t>
              </a:r>
              <a:r>
                <a:rPr lang="en-US" altLang="ja-JP" sz="2800" dirty="0"/>
                <a:t/>
              </a:r>
              <a:br>
                <a:rPr lang="en-US" altLang="ja-JP" sz="2800" dirty="0"/>
              </a:br>
              <a:r>
                <a:rPr lang="ja-JP" altLang="en-US" sz="2800" b="1" dirty="0">
                  <a:solidFill>
                    <a:schemeClr val="accent2"/>
                  </a:solidFill>
                </a:rPr>
                <a:t>近傍サイズ： </a:t>
              </a:r>
              <a:r>
                <a:rPr lang="en-US" altLang="ja-JP" sz="2800" dirty="0"/>
                <a:t/>
              </a:r>
              <a:br>
                <a:rPr lang="en-US" altLang="ja-JP" sz="2800" dirty="0"/>
              </a:br>
              <a:r>
                <a:rPr lang="ja-JP" altLang="en-US" sz="2800" b="1" dirty="0">
                  <a:solidFill>
                    <a:schemeClr val="accent2"/>
                  </a:solidFill>
                </a:rPr>
                <a:t>交叉操作</a:t>
              </a:r>
              <a:r>
                <a:rPr lang="ja-JP" altLang="en-US" sz="2800" b="1" dirty="0" smtClean="0">
                  <a:solidFill>
                    <a:schemeClr val="accent2"/>
                  </a:solidFill>
                </a:rPr>
                <a:t>：</a:t>
              </a:r>
              <a:r>
                <a:rPr lang="en-US" altLang="ja-JP" sz="2800" dirty="0"/>
                <a:t/>
              </a:r>
              <a:br>
                <a:rPr lang="en-US" altLang="ja-JP" sz="2800" dirty="0"/>
              </a:br>
              <a:r>
                <a:rPr lang="ja-JP" altLang="en-US" sz="2800" b="1" dirty="0">
                  <a:solidFill>
                    <a:schemeClr val="accent2"/>
                  </a:solidFill>
                </a:rPr>
                <a:t>突然変異操作</a:t>
              </a:r>
              <a:r>
                <a:rPr lang="ja-JP" altLang="en-US" sz="2800" b="1" dirty="0" smtClean="0">
                  <a:solidFill>
                    <a:schemeClr val="accent2"/>
                  </a:solidFill>
                </a:rPr>
                <a:t>：</a:t>
              </a:r>
              <a:r>
                <a:rPr lang="en-US" altLang="ja-JP" sz="2800" dirty="0"/>
                <a:t/>
              </a:r>
              <a:br>
                <a:rPr lang="en-US" altLang="ja-JP" sz="2800" dirty="0"/>
              </a:br>
              <a:r>
                <a:rPr lang="ja-JP" altLang="en-US" sz="2800" b="1" dirty="0">
                  <a:solidFill>
                    <a:schemeClr val="accent2"/>
                  </a:solidFill>
                </a:rPr>
                <a:t>評価回数</a:t>
              </a:r>
              <a:r>
                <a:rPr lang="ja-JP" altLang="en-US" sz="2800" b="1" dirty="0" smtClean="0">
                  <a:solidFill>
                    <a:schemeClr val="accent2"/>
                  </a:solidFill>
                </a:rPr>
                <a:t>：</a:t>
              </a:r>
              <a:endParaRPr lang="en-US" altLang="ja-JP" sz="2800" b="1" dirty="0">
                <a:solidFill>
                  <a:schemeClr val="accent2"/>
                </a:solidFill>
              </a:endParaRPr>
            </a:p>
          </p:txBody>
        </p:sp>
        <p:sp>
          <p:nvSpPr>
            <p:cNvPr id="11" name="テキスト ボックス 10"/>
            <p:cNvSpPr txBox="1"/>
            <p:nvPr/>
          </p:nvSpPr>
          <p:spPr>
            <a:xfrm>
              <a:off x="2611872" y="1536970"/>
              <a:ext cx="6532127" cy="3525573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altLang="ja-JP" sz="2800" dirty="0" smtClean="0"/>
                <a:t>MOEA/D</a:t>
              </a:r>
              <a:r>
                <a:rPr lang="en-US" altLang="ja-JP" sz="2800" dirty="0"/>
                <a:t/>
              </a:r>
              <a:br>
                <a:rPr lang="en-US" altLang="ja-JP" sz="2800" dirty="0"/>
              </a:br>
              <a:r>
                <a:rPr lang="en-US" altLang="ja-JP" sz="2800" dirty="0" err="1" smtClean="0"/>
                <a:t>Tchebycheff</a:t>
              </a:r>
              <a:r>
                <a:rPr lang="ja-JP" altLang="en-US" sz="2800" dirty="0"/>
                <a:t>関数</a:t>
              </a:r>
              <a:r>
                <a:rPr lang="en-US" altLang="ja-JP" sz="2800" dirty="0"/>
                <a:t/>
              </a:r>
              <a:br>
                <a:rPr lang="en-US" altLang="ja-JP" sz="2800" dirty="0"/>
              </a:br>
              <a:r>
                <a:rPr lang="en-US" altLang="ja-JP" sz="2800" dirty="0" smtClean="0"/>
                <a:t>200</a:t>
              </a:r>
              <a:r>
                <a:rPr lang="en-US" altLang="ja-JP" sz="2800" dirty="0"/>
                <a:t/>
              </a:r>
              <a:br>
                <a:rPr lang="en-US" altLang="ja-JP" sz="2800" dirty="0"/>
              </a:br>
              <a:r>
                <a:rPr lang="ja-JP" altLang="en-US" sz="2800" dirty="0" smtClean="0"/>
                <a:t>個体数</a:t>
              </a:r>
              <a:r>
                <a:rPr lang="en-US" altLang="ja-JP" sz="2800" dirty="0"/>
                <a:t>/10</a:t>
              </a:r>
              <a:br>
                <a:rPr lang="en-US" altLang="ja-JP" sz="2800" dirty="0"/>
              </a:br>
              <a:r>
                <a:rPr lang="en-US" altLang="ja-JP" sz="2800" dirty="0" smtClean="0"/>
                <a:t>Uniform</a:t>
              </a:r>
              <a:r>
                <a:rPr lang="ja-JP" altLang="en-US" sz="2800" dirty="0" smtClean="0"/>
                <a:t> </a:t>
              </a:r>
              <a:r>
                <a:rPr lang="en-US" altLang="ja-JP" sz="2800" dirty="0"/>
                <a:t>Crossover (</a:t>
              </a:r>
              <a:r>
                <a:rPr lang="ja-JP" altLang="en-US" sz="2800" dirty="0"/>
                <a:t>適用確率：</a:t>
              </a:r>
              <a:r>
                <a:rPr lang="en-US" altLang="ja-JP" sz="2800" dirty="0"/>
                <a:t>0.9)</a:t>
              </a:r>
              <a:br>
                <a:rPr lang="en-US" altLang="ja-JP" sz="2800" dirty="0"/>
              </a:br>
              <a:r>
                <a:rPr lang="en-US" altLang="ja-JP" sz="2800" dirty="0" err="1" smtClean="0"/>
                <a:t>Bitflip</a:t>
              </a:r>
              <a:r>
                <a:rPr lang="ja-JP" altLang="en-US" sz="2800" dirty="0" smtClean="0"/>
                <a:t> </a:t>
              </a:r>
              <a:r>
                <a:rPr lang="en-US" altLang="ja-JP" sz="2800" dirty="0"/>
                <a:t>Mutation (</a:t>
              </a:r>
              <a:r>
                <a:rPr lang="ja-JP" altLang="en-US" sz="2800" dirty="0"/>
                <a:t>適用確率：</a:t>
              </a:r>
              <a:r>
                <a:rPr lang="en-US" altLang="ja-JP" sz="2800" dirty="0"/>
                <a:t>1/</a:t>
              </a:r>
              <a:r>
                <a:rPr lang="en-US" altLang="ja-JP" sz="2200" dirty="0"/>
                <a:t>(</a:t>
              </a:r>
              <a:r>
                <a:rPr lang="ja-JP" altLang="en-US" sz="2200" dirty="0"/>
                <a:t>アイテム数</a:t>
              </a:r>
              <a:r>
                <a:rPr lang="en-US" altLang="ja-JP" sz="2200" dirty="0"/>
                <a:t>)</a:t>
              </a:r>
              <a:r>
                <a:rPr lang="en-US" altLang="ja-JP" sz="2800" dirty="0"/>
                <a:t>)</a:t>
              </a:r>
              <a:br>
                <a:rPr lang="en-US" altLang="ja-JP" sz="2800" dirty="0"/>
              </a:br>
              <a:r>
                <a:rPr lang="en-US" altLang="ja-JP" sz="2800" dirty="0" smtClean="0"/>
                <a:t>100,000</a:t>
              </a:r>
              <a:r>
                <a:rPr lang="ja-JP" altLang="en-US" sz="2800" dirty="0"/>
                <a:t>回</a:t>
              </a:r>
              <a:endParaRPr lang="en-US" altLang="ja-JP" sz="2800" dirty="0"/>
            </a:p>
            <a:p>
              <a:endParaRPr lang="en-US" altLang="ja-JP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62536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図 39"/>
          <p:cNvPicPr>
            <a:picLocks noChangeAspect="1"/>
          </p:cNvPicPr>
          <p:nvPr/>
        </p:nvPicPr>
        <p:blipFill rotWithShape="1"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000"/>
          <a:stretch/>
        </p:blipFill>
        <p:spPr>
          <a:xfrm>
            <a:off x="1841707" y="1811442"/>
            <a:ext cx="4216193" cy="3668400"/>
          </a:xfrm>
          <a:prstGeom prst="rect">
            <a:avLst/>
          </a:prstGeom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最適解の類似性調査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b="1" dirty="0" smtClean="0"/>
              <a:t>1.</a:t>
            </a:r>
            <a:r>
              <a:rPr lang="ja-JP" altLang="en-US" b="1" dirty="0"/>
              <a:t> </a:t>
            </a:r>
            <a:r>
              <a:rPr kumimoji="1" lang="en-US" altLang="ja-JP" b="1" dirty="0" smtClean="0"/>
              <a:t>Scaling</a:t>
            </a:r>
            <a:r>
              <a:rPr kumimoji="1" lang="ja-JP" altLang="en-US" b="1" dirty="0" smtClean="0"/>
              <a:t> </a:t>
            </a:r>
            <a:r>
              <a:rPr kumimoji="1" lang="en-US" altLang="ja-JP" b="1" dirty="0" smtClean="0"/>
              <a:t>Knapsack </a:t>
            </a:r>
            <a:r>
              <a:rPr kumimoji="1" lang="ja-JP" altLang="en-US" b="1" dirty="0" smtClean="0"/>
              <a:t>問題</a:t>
            </a:r>
            <a:endParaRPr kumimoji="1" lang="ja-JP" altLang="en-US" b="1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19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数値実験結果</a:t>
            </a:r>
            <a:endParaRPr kumimoji="1" lang="ja-JP" altLang="en-US" dirty="0"/>
          </a:p>
        </p:txBody>
      </p:sp>
      <p:grpSp>
        <p:nvGrpSpPr>
          <p:cNvPr id="22" name="グループ化 21"/>
          <p:cNvGrpSpPr/>
          <p:nvPr/>
        </p:nvGrpSpPr>
        <p:grpSpPr>
          <a:xfrm>
            <a:off x="6229349" y="1706521"/>
            <a:ext cx="1899085" cy="4356389"/>
            <a:chOff x="6229349" y="2050905"/>
            <a:chExt cx="1899085" cy="4356389"/>
          </a:xfrm>
        </p:grpSpPr>
        <p:pic>
          <p:nvPicPr>
            <p:cNvPr id="23" name="図 22"/>
            <p:cNvPicPr>
              <a:picLocks noChangeAspect="1"/>
            </p:cNvPicPr>
            <p:nvPr/>
          </p:nvPicPr>
          <p:blipFill rotWithShape="1">
            <a:blip r:embed="rId2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579"/>
            <a:stretch/>
          </p:blipFill>
          <p:spPr>
            <a:xfrm>
              <a:off x="6229349" y="2050905"/>
              <a:ext cx="1674787" cy="4356389"/>
            </a:xfrm>
            <a:prstGeom prst="rect">
              <a:avLst/>
            </a:prstGeom>
          </p:spPr>
        </p:pic>
        <p:grpSp>
          <p:nvGrpSpPr>
            <p:cNvPr id="24" name="グループ化 23"/>
            <p:cNvGrpSpPr/>
            <p:nvPr/>
          </p:nvGrpSpPr>
          <p:grpSpPr>
            <a:xfrm>
              <a:off x="6551617" y="2402710"/>
              <a:ext cx="604298" cy="1489695"/>
              <a:chOff x="6363657" y="2225032"/>
              <a:chExt cx="604298" cy="1489695"/>
            </a:xfrm>
          </p:grpSpPr>
          <p:sp>
            <p:nvSpPr>
              <p:cNvPr id="31" name="テキスト ボックス 30"/>
              <p:cNvSpPr txBox="1"/>
              <p:nvPr/>
            </p:nvSpPr>
            <p:spPr>
              <a:xfrm>
                <a:off x="6363657" y="2225032"/>
                <a:ext cx="60429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ja-JP" sz="2000" i="1" dirty="0" smtClean="0">
                    <a:latin typeface="Symbol" panose="05050102010706020507" pitchFamily="18" charset="2"/>
                    <a:cs typeface="Times New Roman" panose="02020603050405020304" pitchFamily="18" charset="0"/>
                  </a:rPr>
                  <a:t>a</a:t>
                </a:r>
                <a:r>
                  <a:rPr kumimoji="1" lang="en-US" altLang="ja-JP" sz="2000" dirty="0" smtClean="0"/>
                  <a:t> </a:t>
                </a:r>
                <a:endParaRPr kumimoji="1" lang="ja-JP" altLang="en-US" sz="2000" dirty="0" smtClean="0"/>
              </a:p>
            </p:txBody>
          </p:sp>
          <p:sp>
            <p:nvSpPr>
              <p:cNvPr id="32" name="テキスト ボックス 31"/>
              <p:cNvSpPr txBox="1"/>
              <p:nvPr/>
            </p:nvSpPr>
            <p:spPr>
              <a:xfrm>
                <a:off x="6363657" y="2497428"/>
                <a:ext cx="60429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ja-JP" sz="2000" i="1" dirty="0" smtClean="0">
                    <a:latin typeface="Symbol" panose="05050102010706020507" pitchFamily="18" charset="2"/>
                    <a:cs typeface="Times New Roman" panose="02020603050405020304" pitchFamily="18" charset="0"/>
                  </a:rPr>
                  <a:t>a</a:t>
                </a:r>
                <a:r>
                  <a:rPr kumimoji="1" lang="en-US" altLang="ja-JP" sz="2000" dirty="0" smtClean="0"/>
                  <a:t> </a:t>
                </a:r>
                <a:endParaRPr kumimoji="1" lang="ja-JP" altLang="en-US" sz="2000" dirty="0" smtClean="0"/>
              </a:p>
            </p:txBody>
          </p:sp>
          <p:sp>
            <p:nvSpPr>
              <p:cNvPr id="33" name="テキスト ボックス 32"/>
              <p:cNvSpPr txBox="1"/>
              <p:nvPr/>
            </p:nvSpPr>
            <p:spPr>
              <a:xfrm>
                <a:off x="6363657" y="2769824"/>
                <a:ext cx="60429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ja-JP" sz="2000" i="1" dirty="0" smtClean="0">
                    <a:latin typeface="Symbol" panose="05050102010706020507" pitchFamily="18" charset="2"/>
                    <a:cs typeface="Times New Roman" panose="02020603050405020304" pitchFamily="18" charset="0"/>
                  </a:rPr>
                  <a:t>a</a:t>
                </a:r>
                <a:r>
                  <a:rPr kumimoji="1" lang="en-US" altLang="ja-JP" sz="2000" dirty="0" smtClean="0"/>
                  <a:t> </a:t>
                </a:r>
                <a:endParaRPr kumimoji="1" lang="ja-JP" altLang="en-US" sz="2000" dirty="0" smtClean="0"/>
              </a:p>
            </p:txBody>
          </p:sp>
          <p:sp>
            <p:nvSpPr>
              <p:cNvPr id="34" name="テキスト ボックス 33"/>
              <p:cNvSpPr txBox="1"/>
              <p:nvPr/>
            </p:nvSpPr>
            <p:spPr>
              <a:xfrm>
                <a:off x="6363657" y="3042220"/>
                <a:ext cx="60429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ja-JP" sz="2000" i="1" dirty="0" smtClean="0">
                    <a:latin typeface="Symbol" panose="05050102010706020507" pitchFamily="18" charset="2"/>
                    <a:cs typeface="Times New Roman" panose="02020603050405020304" pitchFamily="18" charset="0"/>
                  </a:rPr>
                  <a:t>a</a:t>
                </a:r>
                <a:r>
                  <a:rPr kumimoji="1" lang="en-US" altLang="ja-JP" sz="2000" dirty="0" smtClean="0"/>
                  <a:t> </a:t>
                </a:r>
                <a:endParaRPr kumimoji="1" lang="ja-JP" altLang="en-US" sz="2000" dirty="0" smtClean="0"/>
              </a:p>
            </p:txBody>
          </p:sp>
          <p:sp>
            <p:nvSpPr>
              <p:cNvPr id="35" name="テキスト ボックス 34"/>
              <p:cNvSpPr txBox="1"/>
              <p:nvPr/>
            </p:nvSpPr>
            <p:spPr>
              <a:xfrm>
                <a:off x="6363657" y="3314617"/>
                <a:ext cx="60429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ja-JP" sz="2000" i="1" dirty="0" smtClean="0">
                    <a:latin typeface="Symbol" panose="05050102010706020507" pitchFamily="18" charset="2"/>
                    <a:cs typeface="Times New Roman" panose="02020603050405020304" pitchFamily="18" charset="0"/>
                  </a:rPr>
                  <a:t>a</a:t>
                </a:r>
                <a:r>
                  <a:rPr kumimoji="1" lang="en-US" altLang="ja-JP" sz="2000" dirty="0" smtClean="0"/>
                  <a:t> </a:t>
                </a:r>
                <a:endParaRPr kumimoji="1" lang="ja-JP" altLang="en-US" sz="2000" dirty="0" smtClean="0"/>
              </a:p>
            </p:txBody>
          </p:sp>
        </p:grpSp>
        <p:grpSp>
          <p:nvGrpSpPr>
            <p:cNvPr id="25" name="グループ化 24"/>
            <p:cNvGrpSpPr/>
            <p:nvPr/>
          </p:nvGrpSpPr>
          <p:grpSpPr>
            <a:xfrm>
              <a:off x="7182585" y="2448430"/>
              <a:ext cx="945849" cy="1428139"/>
              <a:chOff x="6363657" y="2225032"/>
              <a:chExt cx="604298" cy="1428139"/>
            </a:xfrm>
          </p:grpSpPr>
          <p:sp>
            <p:nvSpPr>
              <p:cNvPr id="26" name="テキスト ボックス 25"/>
              <p:cNvSpPr txBox="1"/>
              <p:nvPr/>
            </p:nvSpPr>
            <p:spPr>
              <a:xfrm>
                <a:off x="6363657" y="2225032"/>
                <a:ext cx="60429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1600" dirty="0" smtClean="0"/>
                  <a:t>1.05 </a:t>
                </a:r>
                <a:endParaRPr kumimoji="1" lang="ja-JP" altLang="en-US" sz="1600" dirty="0" smtClean="0"/>
              </a:p>
            </p:txBody>
          </p:sp>
          <p:sp>
            <p:nvSpPr>
              <p:cNvPr id="27" name="テキスト ボックス 26"/>
              <p:cNvSpPr txBox="1"/>
              <p:nvPr/>
            </p:nvSpPr>
            <p:spPr>
              <a:xfrm>
                <a:off x="6363657" y="2497428"/>
                <a:ext cx="60429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1600" dirty="0" smtClean="0"/>
                  <a:t>1.1 </a:t>
                </a:r>
                <a:endParaRPr kumimoji="1" lang="ja-JP" altLang="en-US" sz="1600" dirty="0" smtClean="0"/>
              </a:p>
            </p:txBody>
          </p:sp>
          <p:sp>
            <p:nvSpPr>
              <p:cNvPr id="28" name="テキスト ボックス 27"/>
              <p:cNvSpPr txBox="1"/>
              <p:nvPr/>
            </p:nvSpPr>
            <p:spPr>
              <a:xfrm>
                <a:off x="6363657" y="2769824"/>
                <a:ext cx="60429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600" dirty="0" smtClean="0">
                    <a:cs typeface="Times New Roman" panose="02020603050405020304" pitchFamily="18" charset="0"/>
                  </a:rPr>
                  <a:t>1.15</a:t>
                </a:r>
                <a:r>
                  <a:rPr kumimoji="1" lang="en-US" altLang="ja-JP" sz="1600" dirty="0" smtClean="0"/>
                  <a:t> </a:t>
                </a:r>
                <a:endParaRPr kumimoji="1" lang="ja-JP" altLang="en-US" sz="1600" dirty="0" smtClean="0"/>
              </a:p>
            </p:txBody>
          </p:sp>
          <p:sp>
            <p:nvSpPr>
              <p:cNvPr id="29" name="テキスト ボックス 28"/>
              <p:cNvSpPr txBox="1"/>
              <p:nvPr/>
            </p:nvSpPr>
            <p:spPr>
              <a:xfrm>
                <a:off x="6363657" y="3042220"/>
                <a:ext cx="60429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600" dirty="0" smtClean="0">
                    <a:cs typeface="Times New Roman" panose="02020603050405020304" pitchFamily="18" charset="0"/>
                  </a:rPr>
                  <a:t>1.</a:t>
                </a:r>
                <a:r>
                  <a:rPr lang="en-US" altLang="ja-JP" sz="1600" dirty="0">
                    <a:cs typeface="Times New Roman" panose="02020603050405020304" pitchFamily="18" charset="0"/>
                  </a:rPr>
                  <a:t>2</a:t>
                </a:r>
                <a:r>
                  <a:rPr kumimoji="1" lang="en-US" altLang="ja-JP" sz="1600" dirty="0" smtClean="0"/>
                  <a:t> </a:t>
                </a:r>
                <a:endParaRPr kumimoji="1" lang="ja-JP" altLang="en-US" sz="1600" dirty="0" smtClean="0"/>
              </a:p>
            </p:txBody>
          </p:sp>
          <p:sp>
            <p:nvSpPr>
              <p:cNvPr id="30" name="テキスト ボックス 29"/>
              <p:cNvSpPr txBox="1"/>
              <p:nvPr/>
            </p:nvSpPr>
            <p:spPr>
              <a:xfrm>
                <a:off x="6363657" y="3314617"/>
                <a:ext cx="60429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600" dirty="0" smtClean="0">
                    <a:cs typeface="Times New Roman" panose="02020603050405020304" pitchFamily="18" charset="0"/>
                  </a:rPr>
                  <a:t>1.2</a:t>
                </a:r>
                <a:r>
                  <a:rPr lang="en-US" altLang="ja-JP" sz="1600" dirty="0">
                    <a:cs typeface="Times New Roman" panose="02020603050405020304" pitchFamily="18" charset="0"/>
                  </a:rPr>
                  <a:t>5</a:t>
                </a:r>
                <a:r>
                  <a:rPr kumimoji="1" lang="en-US" altLang="ja-JP" sz="1600" dirty="0" smtClean="0"/>
                  <a:t> </a:t>
                </a:r>
                <a:endParaRPr kumimoji="1" lang="ja-JP" altLang="en-US" sz="1600" dirty="0" smtClean="0"/>
              </a:p>
            </p:txBody>
          </p:sp>
        </p:grpSp>
      </p:grpSp>
      <p:sp>
        <p:nvSpPr>
          <p:cNvPr id="37" name="テキスト ボックス 36"/>
          <p:cNvSpPr txBox="1"/>
          <p:nvPr/>
        </p:nvSpPr>
        <p:spPr>
          <a:xfrm>
            <a:off x="1955678" y="5149129"/>
            <a:ext cx="5041615" cy="430887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200" dirty="0" smtClean="0"/>
              <a:t>タスク</a:t>
            </a:r>
            <a:r>
              <a:rPr kumimoji="1" lang="en-US" altLang="ja-JP" sz="2200" dirty="0" smtClean="0"/>
              <a:t>1</a:t>
            </a:r>
            <a:r>
              <a:rPr lang="ja-JP" altLang="en-US" sz="2200" dirty="0" smtClean="0"/>
              <a:t>にのみ含まれるアイテム数</a:t>
            </a:r>
            <a:endParaRPr lang="en-US" altLang="ja-JP" sz="2200" dirty="0" smtClean="0"/>
          </a:p>
        </p:txBody>
      </p:sp>
      <p:sp>
        <p:nvSpPr>
          <p:cNvPr id="38" name="テキスト ボックス 37"/>
          <p:cNvSpPr txBox="1"/>
          <p:nvPr/>
        </p:nvSpPr>
        <p:spPr>
          <a:xfrm>
            <a:off x="643795" y="3064018"/>
            <a:ext cx="2217760" cy="110799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200" dirty="0" smtClean="0"/>
              <a:t>タスク</a:t>
            </a:r>
            <a:r>
              <a:rPr lang="en-US" altLang="ja-JP" sz="2200" dirty="0"/>
              <a:t>2</a:t>
            </a:r>
            <a:r>
              <a:rPr lang="ja-JP" altLang="en-US" sz="2200" dirty="0" smtClean="0"/>
              <a:t>にのみ</a:t>
            </a:r>
            <a:r>
              <a:rPr lang="en-US" altLang="ja-JP" sz="2200" dirty="0" smtClean="0"/>
              <a:t/>
            </a:r>
            <a:br>
              <a:rPr lang="en-US" altLang="ja-JP" sz="2200" dirty="0" smtClean="0"/>
            </a:br>
            <a:r>
              <a:rPr lang="ja-JP" altLang="en-US" sz="2200" dirty="0" smtClean="0"/>
              <a:t>含まれる</a:t>
            </a:r>
            <a:r>
              <a:rPr lang="en-US" altLang="ja-JP" sz="2200" dirty="0" smtClean="0"/>
              <a:t/>
            </a:r>
            <a:br>
              <a:rPr lang="en-US" altLang="ja-JP" sz="2200" dirty="0" smtClean="0"/>
            </a:br>
            <a:r>
              <a:rPr lang="ja-JP" altLang="en-US" sz="2200" dirty="0" smtClean="0"/>
              <a:t>アイテム数</a:t>
            </a:r>
            <a:endParaRPr lang="en-US" altLang="ja-JP" sz="2200" dirty="0" smtClean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787400" y="5665283"/>
            <a:ext cx="7569200" cy="1077218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2</a:t>
            </a:r>
            <a:r>
              <a:rPr lang="ja-JP" altLang="en-US" sz="3200" dirty="0"/>
              <a:t>は</a:t>
            </a:r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r>
              <a:rPr lang="ja-JP" altLang="en-US" sz="3200" dirty="0" smtClean="0"/>
              <a:t>のアイテムを</a:t>
            </a:r>
            <a:r>
              <a:rPr kumimoji="1" lang="ja-JP" altLang="en-US" sz="3200" b="1" dirty="0" smtClean="0">
                <a:solidFill>
                  <a:schemeClr val="accent1"/>
                </a:solidFill>
              </a:rPr>
              <a:t>ほとんど</a:t>
            </a:r>
            <a:r>
              <a:rPr lang="ja-JP" altLang="en-US" sz="3200" b="1" dirty="0">
                <a:solidFill>
                  <a:schemeClr val="accent1"/>
                </a:solidFill>
              </a:rPr>
              <a:t>選択</a:t>
            </a:r>
            <a:endParaRPr kumimoji="1" lang="en-US" altLang="ja-JP" sz="3200" b="1" dirty="0" smtClean="0">
              <a:solidFill>
                <a:schemeClr val="accent1"/>
              </a:solidFill>
            </a:endParaRPr>
          </a:p>
          <a:p>
            <a:pPr algn="ctr"/>
            <a:r>
              <a:rPr lang="en-US" altLang="ja-JP" sz="3200" i="1" dirty="0">
                <a:latin typeface="Symbol" panose="05050102010706020507" pitchFamily="18" charset="2"/>
                <a:cs typeface="Times New Roman" panose="02020603050405020304" pitchFamily="18" charset="0"/>
              </a:rPr>
              <a:t>a</a:t>
            </a:r>
            <a:r>
              <a:rPr lang="ja-JP" altLang="en-US" sz="3200" dirty="0" smtClean="0"/>
              <a:t>が大きくなると，異なるアイテム数が増加</a:t>
            </a:r>
            <a:endParaRPr kumimoji="1" lang="en-US" altLang="ja-JP" sz="3200" dirty="0" smtClean="0"/>
          </a:p>
        </p:txBody>
      </p:sp>
      <p:grpSp>
        <p:nvGrpSpPr>
          <p:cNvPr id="11" name="グループ化 10"/>
          <p:cNvGrpSpPr/>
          <p:nvPr/>
        </p:nvGrpSpPr>
        <p:grpSpPr>
          <a:xfrm>
            <a:off x="3309469" y="2104790"/>
            <a:ext cx="1498600" cy="2590444"/>
            <a:chOff x="3185644" y="2104790"/>
            <a:chExt cx="1498600" cy="2590444"/>
          </a:xfrm>
        </p:grpSpPr>
        <p:cxnSp>
          <p:nvCxnSpPr>
            <p:cNvPr id="8" name="直線矢印コネクタ 7"/>
            <p:cNvCxnSpPr/>
            <p:nvPr/>
          </p:nvCxnSpPr>
          <p:spPr>
            <a:xfrm flipV="1">
              <a:off x="3934944" y="2635550"/>
              <a:ext cx="0" cy="1528925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テキスト ボックス 8"/>
            <p:cNvSpPr txBox="1"/>
            <p:nvPr/>
          </p:nvSpPr>
          <p:spPr>
            <a:xfrm>
              <a:off x="3185644" y="4172014"/>
              <a:ext cx="1498600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b="1" dirty="0" smtClean="0">
                  <a:solidFill>
                    <a:schemeClr val="accent2"/>
                  </a:solidFill>
                </a:rPr>
                <a:t>小</a:t>
              </a:r>
              <a:endParaRPr kumimoji="1" lang="ja-JP" altLang="en-US" sz="2800" b="1" dirty="0" smtClean="0">
                <a:solidFill>
                  <a:schemeClr val="accent2"/>
                </a:solidFill>
              </a:endParaRPr>
            </a:p>
          </p:txBody>
        </p:sp>
        <p:sp>
          <p:nvSpPr>
            <p:cNvPr id="39" name="テキスト ボックス 38"/>
            <p:cNvSpPr txBox="1"/>
            <p:nvPr/>
          </p:nvSpPr>
          <p:spPr>
            <a:xfrm>
              <a:off x="3185644" y="2104790"/>
              <a:ext cx="1498600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800" b="1" dirty="0" smtClean="0">
                  <a:solidFill>
                    <a:schemeClr val="accent1"/>
                  </a:solidFill>
                </a:rPr>
                <a:t>大</a:t>
              </a:r>
              <a:endParaRPr kumimoji="1" lang="ja-JP" altLang="en-US" sz="2800" b="1" dirty="0" smtClean="0">
                <a:solidFill>
                  <a:schemeClr val="accent1"/>
                </a:solidFill>
              </a:endParaRPr>
            </a:p>
          </p:txBody>
        </p:sp>
        <p:sp>
          <p:nvSpPr>
            <p:cNvPr id="42" name="テキスト ボックス 41"/>
            <p:cNvSpPr txBox="1"/>
            <p:nvPr/>
          </p:nvSpPr>
          <p:spPr>
            <a:xfrm>
              <a:off x="3827019" y="3138402"/>
              <a:ext cx="744981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800" i="1" dirty="0" smtClean="0">
                  <a:latin typeface="Symbol" panose="05050102010706020507" pitchFamily="18" charset="2"/>
                  <a:cs typeface="Times New Roman" panose="02020603050405020304" pitchFamily="18" charset="0"/>
                </a:rPr>
                <a:t>a </a:t>
              </a:r>
              <a:endParaRPr kumimoji="1" lang="ja-JP" altLang="en-US" sz="2800" b="1" dirty="0" smtClean="0">
                <a:solidFill>
                  <a:schemeClr val="accent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65957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最適解の類似性調査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b="1" dirty="0" smtClean="0"/>
              <a:t>2. Inversion Profit </a:t>
            </a:r>
            <a:r>
              <a:rPr kumimoji="1" lang="ja-JP" altLang="en-US" b="1" dirty="0" smtClean="0"/>
              <a:t>問題</a:t>
            </a:r>
            <a:endParaRPr kumimoji="1" lang="ja-JP" altLang="en-US" b="1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20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数値実験結果</a:t>
            </a:r>
            <a:endParaRPr kumimoji="1" lang="ja-JP" altLang="en-US" dirty="0"/>
          </a:p>
        </p:txBody>
      </p:sp>
      <p:pic>
        <p:nvPicPr>
          <p:cNvPr id="28" name="図 27"/>
          <p:cNvPicPr>
            <a:picLocks noChangeAspect="1"/>
          </p:cNvPicPr>
          <p:nvPr/>
        </p:nvPicPr>
        <p:blipFill rotWithShape="1"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25425"/>
          <a:stretch/>
        </p:blipFill>
        <p:spPr>
          <a:xfrm>
            <a:off x="1748129" y="1744773"/>
            <a:ext cx="4271671" cy="3746495"/>
          </a:xfrm>
          <a:prstGeom prst="rect">
            <a:avLst/>
          </a:prstGeom>
        </p:spPr>
      </p:pic>
      <p:pic>
        <p:nvPicPr>
          <p:cNvPr id="29" name="図 28"/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157"/>
          <a:stretch/>
        </p:blipFill>
        <p:spPr>
          <a:xfrm>
            <a:off x="6267449" y="1706526"/>
            <a:ext cx="1636687" cy="4356389"/>
          </a:xfrm>
          <a:prstGeom prst="rect">
            <a:avLst/>
          </a:prstGeom>
        </p:spPr>
      </p:pic>
      <p:grpSp>
        <p:nvGrpSpPr>
          <p:cNvPr id="30" name="グループ化 29"/>
          <p:cNvGrpSpPr/>
          <p:nvPr/>
        </p:nvGrpSpPr>
        <p:grpSpPr>
          <a:xfrm>
            <a:off x="6551617" y="2058331"/>
            <a:ext cx="604298" cy="1489695"/>
            <a:chOff x="6363657" y="2225032"/>
            <a:chExt cx="604298" cy="1489695"/>
          </a:xfrm>
        </p:grpSpPr>
        <p:sp>
          <p:nvSpPr>
            <p:cNvPr id="31" name="テキスト ボックス 30"/>
            <p:cNvSpPr txBox="1"/>
            <p:nvPr/>
          </p:nvSpPr>
          <p:spPr>
            <a:xfrm>
              <a:off x="6363657" y="2225032"/>
              <a:ext cx="6042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2000" i="1" dirty="0">
                  <a:latin typeface="Symbol" panose="05050102010706020507" pitchFamily="18" charset="2"/>
                  <a:cs typeface="Times New Roman" panose="02020603050405020304" pitchFamily="18" charset="0"/>
                </a:rPr>
                <a:t>b</a:t>
              </a:r>
              <a:r>
                <a:rPr kumimoji="1" lang="en-US" altLang="ja-JP" sz="2000" dirty="0" smtClean="0"/>
                <a:t> </a:t>
              </a:r>
              <a:endParaRPr kumimoji="1" lang="ja-JP" altLang="en-US" sz="2000" dirty="0" smtClean="0"/>
            </a:p>
          </p:txBody>
        </p:sp>
        <p:sp>
          <p:nvSpPr>
            <p:cNvPr id="32" name="テキスト ボックス 31"/>
            <p:cNvSpPr txBox="1"/>
            <p:nvPr/>
          </p:nvSpPr>
          <p:spPr>
            <a:xfrm>
              <a:off x="6363657" y="2497428"/>
              <a:ext cx="6042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2000" i="1" dirty="0">
                  <a:latin typeface="Symbol" panose="05050102010706020507" pitchFamily="18" charset="2"/>
                  <a:cs typeface="Times New Roman" panose="02020603050405020304" pitchFamily="18" charset="0"/>
                </a:rPr>
                <a:t>b</a:t>
              </a:r>
              <a:r>
                <a:rPr kumimoji="1" lang="en-US" altLang="ja-JP" sz="2000" dirty="0" smtClean="0"/>
                <a:t> </a:t>
              </a:r>
              <a:endParaRPr kumimoji="1" lang="ja-JP" altLang="en-US" sz="2000" dirty="0" smtClean="0"/>
            </a:p>
          </p:txBody>
        </p:sp>
        <p:sp>
          <p:nvSpPr>
            <p:cNvPr id="33" name="テキスト ボックス 32"/>
            <p:cNvSpPr txBox="1"/>
            <p:nvPr/>
          </p:nvSpPr>
          <p:spPr>
            <a:xfrm>
              <a:off x="6363657" y="2769824"/>
              <a:ext cx="6042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2000" i="1" dirty="0">
                  <a:latin typeface="Symbol" panose="05050102010706020507" pitchFamily="18" charset="2"/>
                  <a:cs typeface="Times New Roman" panose="02020603050405020304" pitchFamily="18" charset="0"/>
                </a:rPr>
                <a:t>b</a:t>
              </a:r>
              <a:r>
                <a:rPr kumimoji="1" lang="en-US" altLang="ja-JP" sz="2000" dirty="0" smtClean="0"/>
                <a:t> </a:t>
              </a:r>
              <a:endParaRPr kumimoji="1" lang="ja-JP" altLang="en-US" sz="2000" dirty="0" smtClean="0"/>
            </a:p>
          </p:txBody>
        </p:sp>
        <p:sp>
          <p:nvSpPr>
            <p:cNvPr id="34" name="テキスト ボックス 33"/>
            <p:cNvSpPr txBox="1"/>
            <p:nvPr/>
          </p:nvSpPr>
          <p:spPr>
            <a:xfrm>
              <a:off x="6363657" y="3042220"/>
              <a:ext cx="6042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2000" i="1" dirty="0">
                  <a:latin typeface="Symbol" panose="05050102010706020507" pitchFamily="18" charset="2"/>
                  <a:cs typeface="Times New Roman" panose="02020603050405020304" pitchFamily="18" charset="0"/>
                </a:rPr>
                <a:t>b</a:t>
              </a:r>
              <a:endParaRPr kumimoji="1" lang="ja-JP" altLang="en-US" sz="2000" dirty="0" smtClean="0"/>
            </a:p>
          </p:txBody>
        </p:sp>
        <p:sp>
          <p:nvSpPr>
            <p:cNvPr id="35" name="テキスト ボックス 34"/>
            <p:cNvSpPr txBox="1"/>
            <p:nvPr/>
          </p:nvSpPr>
          <p:spPr>
            <a:xfrm>
              <a:off x="6363657" y="3314617"/>
              <a:ext cx="6042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2000" i="1" dirty="0">
                  <a:latin typeface="Symbol" panose="05050102010706020507" pitchFamily="18" charset="2"/>
                  <a:cs typeface="Times New Roman" panose="02020603050405020304" pitchFamily="18" charset="0"/>
                </a:rPr>
                <a:t>b</a:t>
              </a:r>
              <a:r>
                <a:rPr kumimoji="1" lang="en-US" altLang="ja-JP" sz="2000" dirty="0" smtClean="0"/>
                <a:t> </a:t>
              </a:r>
              <a:endParaRPr kumimoji="1" lang="ja-JP" altLang="en-US" sz="2000" dirty="0" smtClean="0"/>
            </a:p>
          </p:txBody>
        </p:sp>
      </p:grpSp>
      <p:grpSp>
        <p:nvGrpSpPr>
          <p:cNvPr id="36" name="グループ化 35"/>
          <p:cNvGrpSpPr/>
          <p:nvPr/>
        </p:nvGrpSpPr>
        <p:grpSpPr>
          <a:xfrm>
            <a:off x="7182585" y="2104051"/>
            <a:ext cx="945849" cy="1428139"/>
            <a:chOff x="6363657" y="2225032"/>
            <a:chExt cx="604298" cy="1428139"/>
          </a:xfrm>
        </p:grpSpPr>
        <p:sp>
          <p:nvSpPr>
            <p:cNvPr id="37" name="テキスト ボックス 36"/>
            <p:cNvSpPr txBox="1"/>
            <p:nvPr/>
          </p:nvSpPr>
          <p:spPr>
            <a:xfrm>
              <a:off x="6363657" y="2225032"/>
              <a:ext cx="60429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600" dirty="0"/>
                <a:t>0</a:t>
              </a:r>
              <a:r>
                <a:rPr kumimoji="1" lang="en-US" altLang="ja-JP" sz="1600" dirty="0" smtClean="0"/>
                <a:t>.05 </a:t>
              </a:r>
              <a:endParaRPr kumimoji="1" lang="ja-JP" altLang="en-US" sz="1600" dirty="0" smtClean="0"/>
            </a:p>
          </p:txBody>
        </p:sp>
        <p:sp>
          <p:nvSpPr>
            <p:cNvPr id="38" name="テキスト ボックス 37"/>
            <p:cNvSpPr txBox="1"/>
            <p:nvPr/>
          </p:nvSpPr>
          <p:spPr>
            <a:xfrm>
              <a:off x="6363657" y="2497428"/>
              <a:ext cx="60429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600" dirty="0" smtClean="0"/>
                <a:t>0.1 </a:t>
              </a:r>
              <a:endParaRPr kumimoji="1" lang="ja-JP" altLang="en-US" sz="1600" dirty="0" smtClean="0"/>
            </a:p>
          </p:txBody>
        </p:sp>
        <p:sp>
          <p:nvSpPr>
            <p:cNvPr id="39" name="テキスト ボックス 38"/>
            <p:cNvSpPr txBox="1"/>
            <p:nvPr/>
          </p:nvSpPr>
          <p:spPr>
            <a:xfrm>
              <a:off x="6363657" y="2769824"/>
              <a:ext cx="60429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600" dirty="0" smtClean="0">
                  <a:cs typeface="Times New Roman" panose="02020603050405020304" pitchFamily="18" charset="0"/>
                </a:rPr>
                <a:t>0.15</a:t>
              </a:r>
              <a:r>
                <a:rPr kumimoji="1" lang="en-US" altLang="ja-JP" sz="1600" dirty="0" smtClean="0"/>
                <a:t> </a:t>
              </a:r>
              <a:endParaRPr kumimoji="1" lang="ja-JP" altLang="en-US" sz="1600" dirty="0" smtClean="0"/>
            </a:p>
          </p:txBody>
        </p:sp>
        <p:sp>
          <p:nvSpPr>
            <p:cNvPr id="40" name="テキスト ボックス 39"/>
            <p:cNvSpPr txBox="1"/>
            <p:nvPr/>
          </p:nvSpPr>
          <p:spPr>
            <a:xfrm>
              <a:off x="6363657" y="3042220"/>
              <a:ext cx="60429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600" dirty="0" smtClean="0">
                  <a:cs typeface="Times New Roman" panose="02020603050405020304" pitchFamily="18" charset="0"/>
                </a:rPr>
                <a:t>0.2</a:t>
              </a:r>
              <a:r>
                <a:rPr kumimoji="1" lang="en-US" altLang="ja-JP" sz="1600" dirty="0" smtClean="0"/>
                <a:t> </a:t>
              </a:r>
              <a:endParaRPr kumimoji="1" lang="ja-JP" altLang="en-US" sz="1600" dirty="0" smtClean="0"/>
            </a:p>
          </p:txBody>
        </p:sp>
        <p:sp>
          <p:nvSpPr>
            <p:cNvPr id="41" name="テキスト ボックス 40"/>
            <p:cNvSpPr txBox="1"/>
            <p:nvPr/>
          </p:nvSpPr>
          <p:spPr>
            <a:xfrm>
              <a:off x="6363657" y="3314617"/>
              <a:ext cx="60429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600" dirty="0" smtClean="0">
                  <a:cs typeface="Times New Roman" panose="02020603050405020304" pitchFamily="18" charset="0"/>
                </a:rPr>
                <a:t>0.25</a:t>
              </a:r>
              <a:r>
                <a:rPr kumimoji="1" lang="en-US" altLang="ja-JP" sz="1600" dirty="0" smtClean="0"/>
                <a:t> </a:t>
              </a:r>
              <a:endParaRPr kumimoji="1" lang="ja-JP" altLang="en-US" sz="1600" dirty="0" smtClean="0"/>
            </a:p>
          </p:txBody>
        </p:sp>
      </p:grpSp>
      <p:sp>
        <p:nvSpPr>
          <p:cNvPr id="43" name="テキスト ボックス 42"/>
          <p:cNvSpPr txBox="1"/>
          <p:nvPr/>
        </p:nvSpPr>
        <p:spPr>
          <a:xfrm>
            <a:off x="643795" y="3064023"/>
            <a:ext cx="2217760" cy="110799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200" dirty="0" smtClean="0"/>
              <a:t>タスク</a:t>
            </a:r>
            <a:r>
              <a:rPr lang="en-US" altLang="ja-JP" sz="2200" dirty="0"/>
              <a:t>2</a:t>
            </a:r>
            <a:r>
              <a:rPr lang="ja-JP" altLang="en-US" sz="2200" dirty="0" smtClean="0"/>
              <a:t>にのみ</a:t>
            </a:r>
            <a:r>
              <a:rPr lang="en-US" altLang="ja-JP" sz="2200" dirty="0" smtClean="0"/>
              <a:t/>
            </a:r>
            <a:br>
              <a:rPr lang="en-US" altLang="ja-JP" sz="2200" dirty="0" smtClean="0"/>
            </a:br>
            <a:r>
              <a:rPr lang="ja-JP" altLang="en-US" sz="2200" dirty="0" smtClean="0"/>
              <a:t>含まれる</a:t>
            </a:r>
            <a:r>
              <a:rPr lang="en-US" altLang="ja-JP" sz="2200" dirty="0" smtClean="0"/>
              <a:t/>
            </a:r>
            <a:br>
              <a:rPr lang="en-US" altLang="ja-JP" sz="2200" dirty="0" smtClean="0"/>
            </a:br>
            <a:r>
              <a:rPr lang="ja-JP" altLang="en-US" sz="2200" dirty="0" smtClean="0"/>
              <a:t>アイテム数</a:t>
            </a:r>
            <a:endParaRPr lang="en-US" altLang="ja-JP" sz="2200" dirty="0" smtClean="0"/>
          </a:p>
        </p:txBody>
      </p:sp>
      <p:sp>
        <p:nvSpPr>
          <p:cNvPr id="23" name="テキスト ボックス 22"/>
          <p:cNvSpPr txBox="1"/>
          <p:nvPr/>
        </p:nvSpPr>
        <p:spPr>
          <a:xfrm>
            <a:off x="787400" y="5665283"/>
            <a:ext cx="7569200" cy="1077218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タスク</a:t>
            </a:r>
            <a:r>
              <a:rPr lang="en-US" altLang="ja-JP" sz="3200" dirty="0"/>
              <a:t>2</a:t>
            </a:r>
            <a:r>
              <a:rPr lang="ja-JP" altLang="en-US" sz="3200" dirty="0"/>
              <a:t>はタスク</a:t>
            </a:r>
            <a:r>
              <a:rPr lang="en-US" altLang="ja-JP" sz="3200" dirty="0"/>
              <a:t>1</a:t>
            </a:r>
            <a:r>
              <a:rPr lang="ja-JP" altLang="en-US" sz="3200" dirty="0"/>
              <a:t>のアイテムを</a:t>
            </a:r>
            <a:r>
              <a:rPr lang="ja-JP" altLang="en-US" sz="3200" b="1" dirty="0">
                <a:solidFill>
                  <a:schemeClr val="accent1"/>
                </a:solidFill>
              </a:rPr>
              <a:t>一部選択</a:t>
            </a:r>
            <a:endParaRPr lang="en-US" altLang="ja-JP" sz="3200" b="1" dirty="0">
              <a:solidFill>
                <a:schemeClr val="accent1"/>
              </a:solidFill>
            </a:endParaRPr>
          </a:p>
          <a:p>
            <a:pPr algn="ctr"/>
            <a:r>
              <a:rPr lang="en-US" altLang="ja-JP" sz="3200" i="1" dirty="0">
                <a:latin typeface="Symbol" panose="05050102010706020507" pitchFamily="18" charset="2"/>
                <a:cs typeface="Times New Roman" panose="02020603050405020304" pitchFamily="18" charset="0"/>
              </a:rPr>
              <a:t>b</a:t>
            </a:r>
            <a:r>
              <a:rPr lang="ja-JP" altLang="en-US" sz="3200" dirty="0"/>
              <a:t>が大きくなると，異なるアイテム数が増加</a:t>
            </a:r>
            <a:endParaRPr lang="en-US" altLang="ja-JP" sz="3200" dirty="0"/>
          </a:p>
        </p:txBody>
      </p:sp>
      <p:sp>
        <p:nvSpPr>
          <p:cNvPr id="24" name="テキスト ボックス 23"/>
          <p:cNvSpPr txBox="1"/>
          <p:nvPr/>
        </p:nvSpPr>
        <p:spPr>
          <a:xfrm>
            <a:off x="1955678" y="5149129"/>
            <a:ext cx="5041615" cy="430887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200" dirty="0" smtClean="0"/>
              <a:t>タスク</a:t>
            </a:r>
            <a:r>
              <a:rPr kumimoji="1" lang="en-US" altLang="ja-JP" sz="2200" dirty="0" smtClean="0"/>
              <a:t>1</a:t>
            </a:r>
            <a:r>
              <a:rPr lang="ja-JP" altLang="en-US" sz="2200" dirty="0" smtClean="0"/>
              <a:t>にのみ含まれるアイテム数</a:t>
            </a:r>
            <a:endParaRPr lang="en-US" altLang="ja-JP" sz="2200" dirty="0" smtClean="0"/>
          </a:p>
        </p:txBody>
      </p:sp>
      <p:grpSp>
        <p:nvGrpSpPr>
          <p:cNvPr id="7" name="グループ化 6"/>
          <p:cNvGrpSpPr/>
          <p:nvPr/>
        </p:nvGrpSpPr>
        <p:grpSpPr>
          <a:xfrm>
            <a:off x="3289823" y="2776421"/>
            <a:ext cx="3071295" cy="2216014"/>
            <a:chOff x="3251723" y="2633546"/>
            <a:chExt cx="3071295" cy="2216014"/>
          </a:xfrm>
        </p:grpSpPr>
        <p:cxnSp>
          <p:nvCxnSpPr>
            <p:cNvPr id="26" name="直線矢印コネクタ 25"/>
            <p:cNvCxnSpPr/>
            <p:nvPr/>
          </p:nvCxnSpPr>
          <p:spPr>
            <a:xfrm flipV="1">
              <a:off x="4128311" y="3107257"/>
              <a:ext cx="1238133" cy="1238133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テキスト ボックス 26"/>
            <p:cNvSpPr txBox="1"/>
            <p:nvPr/>
          </p:nvSpPr>
          <p:spPr>
            <a:xfrm>
              <a:off x="3251723" y="4326340"/>
              <a:ext cx="1498600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b="1" dirty="0" smtClean="0">
                  <a:solidFill>
                    <a:schemeClr val="accent2"/>
                  </a:solidFill>
                </a:rPr>
                <a:t>小</a:t>
              </a:r>
              <a:endParaRPr kumimoji="1" lang="ja-JP" altLang="en-US" sz="2800" b="1" dirty="0" smtClean="0">
                <a:solidFill>
                  <a:schemeClr val="accent2"/>
                </a:solidFill>
              </a:endParaRPr>
            </a:p>
          </p:txBody>
        </p:sp>
        <p:sp>
          <p:nvSpPr>
            <p:cNvPr id="45" name="テキスト ボックス 44"/>
            <p:cNvSpPr txBox="1"/>
            <p:nvPr/>
          </p:nvSpPr>
          <p:spPr>
            <a:xfrm>
              <a:off x="4824418" y="2633546"/>
              <a:ext cx="1498600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800" b="1" dirty="0" smtClean="0">
                  <a:solidFill>
                    <a:schemeClr val="accent1"/>
                  </a:solidFill>
                </a:rPr>
                <a:t>大</a:t>
              </a:r>
              <a:endParaRPr kumimoji="1" lang="ja-JP" altLang="en-US" sz="2800" b="1" dirty="0" smtClean="0">
                <a:solidFill>
                  <a:schemeClr val="accent1"/>
                </a:solidFill>
              </a:endParaRPr>
            </a:p>
          </p:txBody>
        </p:sp>
        <p:sp>
          <p:nvSpPr>
            <p:cNvPr id="46" name="テキスト ボックス 45"/>
            <p:cNvSpPr txBox="1"/>
            <p:nvPr/>
          </p:nvSpPr>
          <p:spPr>
            <a:xfrm>
              <a:off x="4199721" y="3570929"/>
              <a:ext cx="1498600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800" i="1" dirty="0">
                  <a:latin typeface="Symbol" panose="05050102010706020507" pitchFamily="18" charset="2"/>
                  <a:cs typeface="Times New Roman" panose="02020603050405020304" pitchFamily="18" charset="0"/>
                </a:rPr>
                <a:t>b</a:t>
              </a:r>
              <a:r>
                <a:rPr lang="en-US" altLang="ja-JP" sz="2800" i="1" dirty="0" smtClean="0">
                  <a:latin typeface="Symbol" panose="05050102010706020507" pitchFamily="18" charset="2"/>
                  <a:cs typeface="Times New Roman" panose="02020603050405020304" pitchFamily="18" charset="0"/>
                </a:rPr>
                <a:t> </a:t>
              </a:r>
              <a:endParaRPr kumimoji="1" lang="ja-JP" altLang="en-US" sz="2800" b="1" dirty="0" smtClean="0">
                <a:solidFill>
                  <a:schemeClr val="accent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38565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考察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実験結果より，提案する</a:t>
            </a:r>
            <a:r>
              <a:rPr kumimoji="1" lang="en-US" altLang="ja-JP" dirty="0" smtClean="0"/>
              <a:t>2</a:t>
            </a:r>
            <a:r>
              <a:rPr kumimoji="1" lang="ja-JP" altLang="en-US" dirty="0" err="1" smtClean="0"/>
              <a:t>つのベンチ</a:t>
            </a:r>
            <a:r>
              <a:rPr kumimoji="1" lang="ja-JP" altLang="en-US" dirty="0" smtClean="0"/>
              <a:t>マーク問題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で</a:t>
            </a:r>
            <a:r>
              <a:rPr kumimoji="1" lang="ja-JP" altLang="en-US" dirty="0" smtClean="0"/>
              <a:t>は</a:t>
            </a:r>
            <a:r>
              <a:rPr kumimoji="1" lang="ja-JP" altLang="en-US" dirty="0" smtClean="0"/>
              <a:t>，各タスク</a:t>
            </a:r>
            <a:r>
              <a:rPr kumimoji="1" lang="ja-JP" altLang="en-US" dirty="0" smtClean="0"/>
              <a:t>は以下のような関係性になって</a:t>
            </a:r>
            <a:r>
              <a:rPr kumimoji="1" lang="ja-JP" altLang="en-US" dirty="0" smtClean="0"/>
              <a:t>いる．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21</a:t>
            </a:fld>
            <a:endParaRPr kumimoji="1" lang="ja-JP" altLang="en-US" dirty="0"/>
          </a:p>
        </p:txBody>
      </p:sp>
      <p:grpSp>
        <p:nvGrpSpPr>
          <p:cNvPr id="37" name="グループ化 36"/>
          <p:cNvGrpSpPr/>
          <p:nvPr/>
        </p:nvGrpSpPr>
        <p:grpSpPr>
          <a:xfrm>
            <a:off x="5322620" y="3624449"/>
            <a:ext cx="3102223" cy="3032916"/>
            <a:chOff x="5322620" y="3624449"/>
            <a:chExt cx="3102223" cy="3032916"/>
          </a:xfrm>
        </p:grpSpPr>
        <p:sp>
          <p:nvSpPr>
            <p:cNvPr id="32" name="円/楕円 31"/>
            <p:cNvSpPr/>
            <p:nvPr/>
          </p:nvSpPr>
          <p:spPr>
            <a:xfrm>
              <a:off x="6741090" y="4564534"/>
              <a:ext cx="1614873" cy="1202917"/>
            </a:xfrm>
            <a:prstGeom prst="ellipse">
              <a:avLst/>
            </a:prstGeom>
            <a:noFill/>
            <a:ln>
              <a:solidFill>
                <a:schemeClr val="accent2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" name="円/楕円 34"/>
            <p:cNvSpPr/>
            <p:nvPr/>
          </p:nvSpPr>
          <p:spPr>
            <a:xfrm>
              <a:off x="5892702" y="4565254"/>
              <a:ext cx="1614873" cy="1202917"/>
            </a:xfrm>
            <a:prstGeom prst="ellipse">
              <a:avLst/>
            </a:prstGeom>
            <a:solidFill>
              <a:srgbClr val="FFFAF5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22" name="グループ化 21"/>
            <p:cNvGrpSpPr/>
            <p:nvPr/>
          </p:nvGrpSpPr>
          <p:grpSpPr>
            <a:xfrm>
              <a:off x="5322620" y="3624450"/>
              <a:ext cx="1614873" cy="2143003"/>
              <a:chOff x="2596152" y="2083396"/>
              <a:chExt cx="2363386" cy="3136304"/>
            </a:xfrm>
            <a:noFill/>
          </p:grpSpPr>
          <p:sp>
            <p:nvSpPr>
              <p:cNvPr id="26" name="円/楕円 25"/>
              <p:cNvSpPr/>
              <p:nvPr/>
            </p:nvSpPr>
            <p:spPr>
              <a:xfrm>
                <a:off x="2596152" y="3459219"/>
                <a:ext cx="2363386" cy="1760481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テキスト ボックス 26"/>
              <p:cNvSpPr txBox="1"/>
              <p:nvPr/>
            </p:nvSpPr>
            <p:spPr>
              <a:xfrm>
                <a:off x="2745313" y="2083396"/>
                <a:ext cx="2022108" cy="696405"/>
              </a:xfrm>
              <a:prstGeom prst="rect">
                <a:avLst/>
              </a:prstGeom>
              <a:grp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800" dirty="0" smtClean="0"/>
                  <a:t>タスク</a:t>
                </a:r>
                <a:r>
                  <a:rPr lang="en-US" altLang="ja-JP" sz="2800" dirty="0"/>
                  <a:t>1</a:t>
                </a:r>
                <a:endParaRPr kumimoji="1" lang="ja-JP" altLang="en-US" sz="2800" dirty="0" smtClean="0"/>
              </a:p>
            </p:txBody>
          </p:sp>
        </p:grpSp>
        <p:sp>
          <p:nvSpPr>
            <p:cNvPr id="24" name="円/楕円 23"/>
            <p:cNvSpPr/>
            <p:nvPr/>
          </p:nvSpPr>
          <p:spPr>
            <a:xfrm>
              <a:off x="5892702" y="4564535"/>
              <a:ext cx="1614874" cy="120291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テキスト ボックス 24"/>
            <p:cNvSpPr txBox="1"/>
            <p:nvPr/>
          </p:nvSpPr>
          <p:spPr>
            <a:xfrm>
              <a:off x="6736441" y="3624449"/>
              <a:ext cx="1381682" cy="475846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800" dirty="0" smtClean="0"/>
                <a:t>タスク</a:t>
              </a:r>
              <a:r>
                <a:rPr lang="en-US" altLang="ja-JP" sz="2800" dirty="0" smtClean="0"/>
                <a:t>2</a:t>
              </a:r>
              <a:endParaRPr kumimoji="1" lang="ja-JP" altLang="en-US" sz="2800" dirty="0" smtClean="0"/>
            </a:p>
          </p:txBody>
        </p:sp>
        <p:grpSp>
          <p:nvGrpSpPr>
            <p:cNvPr id="13" name="グループ化 12"/>
            <p:cNvGrpSpPr/>
            <p:nvPr/>
          </p:nvGrpSpPr>
          <p:grpSpPr>
            <a:xfrm>
              <a:off x="6725682" y="5759984"/>
              <a:ext cx="1699161" cy="897381"/>
              <a:chOff x="6725682" y="5759984"/>
              <a:chExt cx="1699161" cy="897381"/>
            </a:xfrm>
          </p:grpSpPr>
          <p:sp>
            <p:nvSpPr>
              <p:cNvPr id="29" name="下矢印 28"/>
              <p:cNvSpPr/>
              <p:nvPr/>
            </p:nvSpPr>
            <p:spPr>
              <a:xfrm rot="16200000">
                <a:off x="7345940" y="6091940"/>
                <a:ext cx="387397" cy="743453"/>
              </a:xfrm>
              <a:prstGeom prst="downArrow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テキスト ボックス 29"/>
              <p:cNvSpPr txBox="1"/>
              <p:nvPr/>
            </p:nvSpPr>
            <p:spPr>
              <a:xfrm>
                <a:off x="6725682" y="5759984"/>
                <a:ext cx="1699161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sz="2800" i="1" dirty="0" smtClean="0">
                    <a:latin typeface="Symbol" panose="05050102010706020507" pitchFamily="18" charset="2"/>
                    <a:cs typeface="Times New Roman" panose="02020603050405020304" pitchFamily="18" charset="0"/>
                  </a:rPr>
                  <a:t>b </a:t>
                </a:r>
                <a:r>
                  <a:rPr lang="ja-JP" altLang="en-US" sz="2800" dirty="0" smtClean="0"/>
                  <a:t>：大</a:t>
                </a:r>
                <a:endParaRPr kumimoji="1" lang="ja-JP" altLang="en-US" sz="2800" dirty="0" smtClean="0"/>
              </a:p>
            </p:txBody>
          </p:sp>
        </p:grpSp>
      </p:grpSp>
      <p:sp>
        <p:nvSpPr>
          <p:cNvPr id="31" name="テキスト ボックス 30"/>
          <p:cNvSpPr txBox="1"/>
          <p:nvPr/>
        </p:nvSpPr>
        <p:spPr>
          <a:xfrm>
            <a:off x="4724400" y="2730268"/>
            <a:ext cx="4104310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b="1" dirty="0" smtClean="0"/>
              <a:t>2. Inversion </a:t>
            </a:r>
            <a:r>
              <a:rPr lang="en-US" altLang="ja-JP" sz="2800" b="1" dirty="0" smtClean="0"/>
              <a:t>Profit </a:t>
            </a:r>
            <a:r>
              <a:rPr lang="ja-JP" altLang="en-US" sz="2800" b="1" dirty="0" smtClean="0"/>
              <a:t>問題</a:t>
            </a:r>
            <a:endParaRPr lang="ja-JP" altLang="en-US" sz="2800" b="1" dirty="0"/>
          </a:p>
        </p:txBody>
      </p:sp>
      <p:cxnSp>
        <p:nvCxnSpPr>
          <p:cNvPr id="14" name="直線コネクタ 13"/>
          <p:cNvCxnSpPr/>
          <p:nvPr/>
        </p:nvCxnSpPr>
        <p:spPr>
          <a:xfrm>
            <a:off x="4686300" y="2876937"/>
            <a:ext cx="0" cy="3824067"/>
          </a:xfrm>
          <a:prstGeom prst="line">
            <a:avLst/>
          </a:prstGeom>
          <a:ln w="38100">
            <a:solidFill>
              <a:schemeClr val="tx1"/>
            </a:solidFill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/>
          <p:cNvSpPr txBox="1"/>
          <p:nvPr/>
        </p:nvSpPr>
        <p:spPr>
          <a:xfrm>
            <a:off x="76200" y="2730268"/>
            <a:ext cx="4495800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b="1" dirty="0" smtClean="0"/>
              <a:t>1. Scaling</a:t>
            </a:r>
            <a:r>
              <a:rPr lang="ja-JP" altLang="en-US" sz="2800" b="1" dirty="0" smtClean="0"/>
              <a:t> </a:t>
            </a:r>
            <a:r>
              <a:rPr lang="en-US" altLang="ja-JP" sz="2800" b="1" dirty="0"/>
              <a:t>Knapsack </a:t>
            </a:r>
            <a:r>
              <a:rPr lang="ja-JP" altLang="en-US" sz="2800" b="1" dirty="0" smtClean="0"/>
              <a:t>問題</a:t>
            </a:r>
            <a:endParaRPr lang="ja-JP" altLang="en-US" sz="2800" b="1" dirty="0"/>
          </a:p>
        </p:txBody>
      </p:sp>
      <p:grpSp>
        <p:nvGrpSpPr>
          <p:cNvPr id="28" name="グループ化 27"/>
          <p:cNvGrpSpPr/>
          <p:nvPr/>
        </p:nvGrpSpPr>
        <p:grpSpPr>
          <a:xfrm>
            <a:off x="486833" y="3519136"/>
            <a:ext cx="3797481" cy="3155785"/>
            <a:chOff x="486833" y="3519136"/>
            <a:chExt cx="3797481" cy="3155785"/>
          </a:xfrm>
        </p:grpSpPr>
        <p:sp>
          <p:nvSpPr>
            <p:cNvPr id="11" name="円/楕円 10"/>
            <p:cNvSpPr/>
            <p:nvPr/>
          </p:nvSpPr>
          <p:spPr>
            <a:xfrm>
              <a:off x="486833" y="3519136"/>
              <a:ext cx="3797481" cy="3154964"/>
            </a:xfrm>
            <a:prstGeom prst="ellipse">
              <a:avLst/>
            </a:prstGeom>
            <a:noFill/>
            <a:ln>
              <a:solidFill>
                <a:schemeClr val="accent2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5" name="グループ化 4"/>
            <p:cNvGrpSpPr/>
            <p:nvPr/>
          </p:nvGrpSpPr>
          <p:grpSpPr>
            <a:xfrm>
              <a:off x="985398" y="4588946"/>
              <a:ext cx="2800350" cy="2085975"/>
              <a:chOff x="1533525" y="3133725"/>
              <a:chExt cx="2800350" cy="2085975"/>
            </a:xfrm>
            <a:solidFill>
              <a:schemeClr val="accent1">
                <a:lumMod val="60000"/>
                <a:lumOff val="40000"/>
              </a:schemeClr>
            </a:solidFill>
          </p:grpSpPr>
          <p:sp>
            <p:nvSpPr>
              <p:cNvPr id="6" name="円/楕円 5"/>
              <p:cNvSpPr/>
              <p:nvPr/>
            </p:nvSpPr>
            <p:spPr>
              <a:xfrm>
                <a:off x="1533525" y="3133725"/>
                <a:ext cx="2800350" cy="2085975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  <a:alpha val="4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7" name="テキスト ボックス 6"/>
              <p:cNvSpPr txBox="1"/>
              <p:nvPr/>
            </p:nvSpPr>
            <p:spPr>
              <a:xfrm>
                <a:off x="2243138" y="3333750"/>
                <a:ext cx="1381125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800" dirty="0" smtClean="0"/>
                  <a:t>タスク</a:t>
                </a:r>
                <a:r>
                  <a:rPr lang="en-US" altLang="ja-JP" sz="2800" dirty="0"/>
                  <a:t>2</a:t>
                </a:r>
                <a:endParaRPr kumimoji="1" lang="ja-JP" altLang="en-US" sz="2800" dirty="0" smtClean="0"/>
              </a:p>
            </p:txBody>
          </p:sp>
        </p:grpSp>
        <p:grpSp>
          <p:nvGrpSpPr>
            <p:cNvPr id="8" name="グループ化 7"/>
            <p:cNvGrpSpPr/>
            <p:nvPr/>
          </p:nvGrpSpPr>
          <p:grpSpPr>
            <a:xfrm>
              <a:off x="1516175" y="5312191"/>
              <a:ext cx="1738797" cy="1087459"/>
              <a:chOff x="2064302" y="3133725"/>
              <a:chExt cx="1738797" cy="1087459"/>
            </a:xfrm>
          </p:grpSpPr>
          <p:sp>
            <p:nvSpPr>
              <p:cNvPr id="9" name="円/楕円 8"/>
              <p:cNvSpPr/>
              <p:nvPr/>
            </p:nvSpPr>
            <p:spPr>
              <a:xfrm>
                <a:off x="2064302" y="3133725"/>
                <a:ext cx="1738797" cy="108745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" name="テキスト ボックス 9"/>
              <p:cNvSpPr txBox="1"/>
              <p:nvPr/>
            </p:nvSpPr>
            <p:spPr>
              <a:xfrm>
                <a:off x="2243138" y="3415844"/>
                <a:ext cx="1381125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800" dirty="0" smtClean="0"/>
                  <a:t>タスク</a:t>
                </a:r>
                <a:r>
                  <a:rPr lang="en-US" altLang="ja-JP" sz="2800" dirty="0" smtClean="0"/>
                  <a:t>1</a:t>
                </a:r>
                <a:endParaRPr kumimoji="1" lang="ja-JP" altLang="en-US" sz="2800" dirty="0" smtClean="0"/>
              </a:p>
            </p:txBody>
          </p:sp>
        </p:grpSp>
        <p:grpSp>
          <p:nvGrpSpPr>
            <p:cNvPr id="23" name="グループ化 22"/>
            <p:cNvGrpSpPr/>
            <p:nvPr/>
          </p:nvGrpSpPr>
          <p:grpSpPr>
            <a:xfrm>
              <a:off x="1443586" y="3810620"/>
              <a:ext cx="1883973" cy="754489"/>
              <a:chOff x="1465269" y="3810620"/>
              <a:chExt cx="1883973" cy="754489"/>
            </a:xfrm>
          </p:grpSpPr>
          <p:sp>
            <p:nvSpPr>
              <p:cNvPr id="17" name="テキスト ボックス 16"/>
              <p:cNvSpPr txBox="1"/>
              <p:nvPr/>
            </p:nvSpPr>
            <p:spPr>
              <a:xfrm>
                <a:off x="1557675" y="3810620"/>
                <a:ext cx="1699161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sz="2800" i="1" dirty="0">
                    <a:latin typeface="Symbol" panose="05050102010706020507" pitchFamily="18" charset="2"/>
                    <a:cs typeface="Times New Roman" panose="02020603050405020304" pitchFamily="18" charset="0"/>
                  </a:rPr>
                  <a:t>a </a:t>
                </a:r>
                <a:r>
                  <a:rPr lang="ja-JP" altLang="en-US" sz="2800" dirty="0" smtClean="0"/>
                  <a:t>：大</a:t>
                </a:r>
                <a:endParaRPr kumimoji="1" lang="ja-JP" altLang="en-US" sz="2800" dirty="0" smtClean="0"/>
              </a:p>
            </p:txBody>
          </p:sp>
          <p:sp>
            <p:nvSpPr>
              <p:cNvPr id="41" name="下矢印 40"/>
              <p:cNvSpPr/>
              <p:nvPr/>
            </p:nvSpPr>
            <p:spPr>
              <a:xfrm rot="12600000">
                <a:off x="2961845" y="3821656"/>
                <a:ext cx="387397" cy="743453"/>
              </a:xfrm>
              <a:prstGeom prst="downArrow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2" name="下矢印 41"/>
              <p:cNvSpPr/>
              <p:nvPr/>
            </p:nvSpPr>
            <p:spPr>
              <a:xfrm rot="9000000" flipH="1">
                <a:off x="1465269" y="3821656"/>
                <a:ext cx="387397" cy="743453"/>
              </a:xfrm>
              <a:prstGeom prst="downArrow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734109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まと</a:t>
            </a:r>
            <a:r>
              <a:rPr lang="ja-JP" altLang="en-US" dirty="0"/>
              <a:t>め</a:t>
            </a:r>
            <a:endParaRPr kumimoji="1" lang="ja-JP" altLang="en-US" dirty="0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タスク間の</a:t>
            </a:r>
            <a:r>
              <a:rPr kumimoji="1" lang="ja-JP" altLang="en-US" dirty="0" smtClean="0">
                <a:solidFill>
                  <a:schemeClr val="accent1"/>
                </a:solidFill>
              </a:rPr>
              <a:t>関係性が明瞭</a:t>
            </a:r>
            <a:r>
              <a:rPr kumimoji="1" lang="ja-JP" altLang="en-US" dirty="0" smtClean="0"/>
              <a:t>な，新たな</a:t>
            </a:r>
            <a:r>
              <a:rPr kumimoji="1" lang="ja-JP" altLang="en-US" dirty="0" smtClean="0"/>
              <a:t>マルチタスクベンチマーク問題を</a:t>
            </a:r>
            <a:r>
              <a:rPr kumimoji="1" lang="ja-JP" altLang="en-US" dirty="0" smtClean="0"/>
              <a:t>提案した．</a:t>
            </a:r>
            <a:endParaRPr kumimoji="1" lang="en-US" altLang="ja-JP" dirty="0" smtClean="0"/>
          </a:p>
          <a:p>
            <a:r>
              <a:rPr kumimoji="1" lang="en-US" altLang="ja-JP" dirty="0" smtClean="0"/>
              <a:t>Scaling Knapsack </a:t>
            </a:r>
            <a:r>
              <a:rPr kumimoji="1" lang="ja-JP" altLang="en-US" dirty="0" smtClean="0"/>
              <a:t>問題は，タスク</a:t>
            </a:r>
            <a:r>
              <a:rPr lang="en-US" altLang="ja-JP" dirty="0" smtClean="0"/>
              <a:t>2</a:t>
            </a:r>
            <a:r>
              <a:rPr lang="ja-JP" altLang="en-US" dirty="0" smtClean="0"/>
              <a:t>がタスク</a:t>
            </a:r>
            <a:r>
              <a:rPr lang="en-US" altLang="ja-JP" dirty="0" smtClean="0"/>
              <a:t>1</a:t>
            </a:r>
            <a:r>
              <a:rPr kumimoji="1" lang="ja-JP" altLang="en-US" dirty="0" smtClean="0"/>
              <a:t>を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b="1" dirty="0" smtClean="0">
                <a:solidFill>
                  <a:schemeClr val="accent1"/>
                </a:solidFill>
              </a:rPr>
              <a:t>完全に包含する</a:t>
            </a:r>
            <a:r>
              <a:rPr kumimoji="1" lang="ja-JP" altLang="en-US" dirty="0" smtClean="0"/>
              <a:t>，</a:t>
            </a:r>
            <a:r>
              <a:rPr kumimoji="1" lang="en-US" altLang="ja-JP" dirty="0" smtClean="0"/>
              <a:t>Inversion Profit </a:t>
            </a:r>
            <a:r>
              <a:rPr kumimoji="1" lang="ja-JP" altLang="en-US" dirty="0" smtClean="0"/>
              <a:t>問題はタスク</a:t>
            </a:r>
            <a:r>
              <a:rPr kumimoji="1" lang="en-US" altLang="ja-JP" dirty="0" smtClean="0"/>
              <a:t>2</a:t>
            </a:r>
            <a:r>
              <a:rPr kumimoji="1" lang="ja-JP" altLang="en-US" dirty="0" smtClean="0"/>
              <a:t>とタスク</a:t>
            </a:r>
            <a:r>
              <a:rPr lang="en-US" altLang="ja-JP" dirty="0" smtClean="0"/>
              <a:t>1</a:t>
            </a:r>
            <a:r>
              <a:rPr lang="ja-JP" altLang="en-US" dirty="0" smtClean="0"/>
              <a:t>に</a:t>
            </a:r>
            <a:r>
              <a:rPr lang="ja-JP" altLang="en-US" b="1" dirty="0" smtClean="0">
                <a:solidFill>
                  <a:schemeClr val="accent1"/>
                </a:solidFill>
              </a:rPr>
              <a:t>共通部分がある</a:t>
            </a:r>
            <a:r>
              <a:rPr kumimoji="1" lang="ja-JP" altLang="en-US" dirty="0" smtClean="0"/>
              <a:t>ことを示した．</a:t>
            </a:r>
            <a:endParaRPr kumimoji="1" lang="en-US" altLang="ja-JP" dirty="0" smtClean="0"/>
          </a:p>
          <a:p>
            <a:r>
              <a:rPr lang="ja-JP" altLang="en-US" dirty="0"/>
              <a:t>今後</a:t>
            </a:r>
            <a:r>
              <a:rPr lang="ja-JP" altLang="en-US" dirty="0" smtClean="0"/>
              <a:t>の課題として，提案問題の特性を利用して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問題を解くアルゴリズムの開発が挙げられる．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22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507401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/>
          <p:cNvSpPr>
            <a:spLocks noGrp="1"/>
          </p:cNvSpPr>
          <p:nvPr>
            <p:ph type="sldNum" sz="quarter" idx="4294967295"/>
          </p:nvPr>
        </p:nvSpPr>
        <p:spPr>
          <a:xfrm>
            <a:off x="7010400" y="333375"/>
            <a:ext cx="2133600" cy="476250"/>
          </a:xfrm>
          <a:prstGeom prst="rect">
            <a:avLst/>
          </a:prstGeom>
        </p:spPr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23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93604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既存のベンチマーク問題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タスク</a:t>
            </a:r>
            <a:r>
              <a:rPr kumimoji="1" lang="en-US" altLang="ja-JP" dirty="0" smtClean="0"/>
              <a:t>1</a:t>
            </a:r>
          </a:p>
          <a:p>
            <a:endParaRPr lang="en-US" altLang="ja-JP" dirty="0" smtClean="0"/>
          </a:p>
          <a:p>
            <a:endParaRPr kumimoji="1" lang="en-US" altLang="ja-JP" dirty="0"/>
          </a:p>
          <a:p>
            <a:endParaRPr kumimoji="1" lang="en-US" altLang="ja-JP" dirty="0" smtClean="0"/>
          </a:p>
          <a:p>
            <a:r>
              <a:rPr lang="ja-JP" altLang="en-US" dirty="0" smtClean="0"/>
              <a:t>タスク</a:t>
            </a:r>
            <a:r>
              <a:rPr lang="en-US" altLang="ja-JP" dirty="0" smtClean="0"/>
              <a:t>2</a:t>
            </a:r>
            <a:endParaRPr kumimoji="1" lang="en-US" altLang="ja-JP" dirty="0" smtClean="0"/>
          </a:p>
          <a:p>
            <a:endParaRPr kumimoji="1" lang="ja-JP" altLang="en-US" dirty="0"/>
          </a:p>
        </p:txBody>
      </p:sp>
      <p:graphicFrame>
        <p:nvGraphicFramePr>
          <p:cNvPr id="6" name="オブジェクト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1330658"/>
              </p:ext>
            </p:extLst>
          </p:nvPr>
        </p:nvGraphicFramePr>
        <p:xfrm>
          <a:off x="2238161" y="1802629"/>
          <a:ext cx="4667678" cy="20708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5" name="Equation" r:id="rId3" imgW="1803240" imgH="799920" progId="Equation.DSMT4">
                  <p:embed/>
                </p:oleObj>
              </mc:Choice>
              <mc:Fallback>
                <p:oleObj name="Equation" r:id="rId3" imgW="1803240" imgH="79992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38161" y="1802629"/>
                        <a:ext cx="4667678" cy="20708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オブジェクト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02598884"/>
              </p:ext>
            </p:extLst>
          </p:nvPr>
        </p:nvGraphicFramePr>
        <p:xfrm>
          <a:off x="2251075" y="4286250"/>
          <a:ext cx="4208463" cy="2266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6" name="Equation" r:id="rId5" imgW="1625400" imgH="876240" progId="Equation.DSMT4">
                  <p:embed/>
                </p:oleObj>
              </mc:Choice>
              <mc:Fallback>
                <p:oleObj name="Equation" r:id="rId5" imgW="1625400" imgH="8762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251075" y="4286250"/>
                        <a:ext cx="4208463" cy="2266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5279423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ja-JP" dirty="0" smtClean="0"/>
          </a:p>
          <a:p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en-US" altLang="ja-JP" dirty="0"/>
              <a:t/>
            </a:r>
            <a:br>
              <a:rPr lang="en-US" altLang="ja-JP" dirty="0"/>
            </a:br>
            <a:r>
              <a:rPr lang="en-US" altLang="ja-JP" dirty="0" smtClean="0"/>
              <a:t/>
            </a:r>
            <a:br>
              <a:rPr lang="en-US" altLang="ja-JP" dirty="0" smtClean="0"/>
            </a:br>
            <a:endParaRPr lang="en-US" altLang="ja-JP" dirty="0"/>
          </a:p>
          <a:p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en-US" altLang="ja-JP" dirty="0"/>
              <a:t/>
            </a:r>
            <a:br>
              <a:rPr lang="en-US" altLang="ja-JP" dirty="0"/>
            </a:br>
            <a:endParaRPr lang="en-US" altLang="ja-JP" dirty="0" smtClean="0"/>
          </a:p>
          <a:p>
            <a:r>
              <a:rPr lang="ja-JP" altLang="en-US" dirty="0" smtClean="0"/>
              <a:t>アルゴリズムの性能は，</a:t>
            </a:r>
            <a:r>
              <a:rPr lang="en-US" altLang="ja-JP" dirty="0" smtClean="0"/>
              <a:t>(0.0</a:t>
            </a:r>
            <a:r>
              <a:rPr lang="ja-JP" altLang="en-US" dirty="0" err="1" smtClean="0"/>
              <a:t>，</a:t>
            </a:r>
            <a:r>
              <a:rPr lang="en-US" altLang="ja-JP" dirty="0" smtClean="0"/>
              <a:t>0.0)</a:t>
            </a:r>
            <a:r>
              <a:rPr lang="ja-JP" altLang="en-US" dirty="0" smtClean="0"/>
              <a:t>を参照点とする</a:t>
            </a:r>
            <a:r>
              <a:rPr lang="en-US" altLang="ja-JP" dirty="0" err="1" smtClean="0"/>
              <a:t>Hypervolume</a:t>
            </a:r>
            <a:r>
              <a:rPr lang="ja-JP" altLang="en-US" dirty="0" smtClean="0"/>
              <a:t>で評価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25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実験条件設定</a:t>
            </a:r>
            <a:endParaRPr kumimoji="1" lang="ja-JP" altLang="en-US" dirty="0"/>
          </a:p>
        </p:txBody>
      </p:sp>
      <p:grpSp>
        <p:nvGrpSpPr>
          <p:cNvPr id="8" name="グループ化 7"/>
          <p:cNvGrpSpPr/>
          <p:nvPr/>
        </p:nvGrpSpPr>
        <p:grpSpPr>
          <a:xfrm>
            <a:off x="228600" y="2073074"/>
            <a:ext cx="8915399" cy="3970318"/>
            <a:chOff x="228600" y="1536970"/>
            <a:chExt cx="8915399" cy="4024768"/>
          </a:xfrm>
        </p:grpSpPr>
        <p:sp>
          <p:nvSpPr>
            <p:cNvPr id="6" name="テキスト ボックス 5"/>
            <p:cNvSpPr txBox="1"/>
            <p:nvPr/>
          </p:nvSpPr>
          <p:spPr>
            <a:xfrm>
              <a:off x="228600" y="1536970"/>
              <a:ext cx="2558375" cy="4024768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</a:rPr>
                <a:t>アイテム数：</a:t>
              </a:r>
              <a:endParaRPr lang="en-US" altLang="ja-JP" sz="2800" b="1" dirty="0">
                <a:solidFill>
                  <a:schemeClr val="accent2"/>
                </a:solidFill>
              </a:endParaRPr>
            </a:p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</a:rPr>
                <a:t>交叉</a:t>
              </a:r>
              <a:r>
                <a:rPr lang="ja-JP" altLang="en-US" sz="2800" b="1" dirty="0">
                  <a:solidFill>
                    <a:schemeClr val="accent2"/>
                  </a:solidFill>
                </a:rPr>
                <a:t>操作</a:t>
              </a:r>
              <a:r>
                <a:rPr lang="ja-JP" altLang="en-US" sz="2800" b="1" dirty="0" smtClean="0">
                  <a:solidFill>
                    <a:schemeClr val="accent2"/>
                  </a:solidFill>
                </a:rPr>
                <a:t>：</a:t>
              </a:r>
              <a:endParaRPr lang="en-US" altLang="ja-JP" sz="2800" b="1" dirty="0" smtClean="0">
                <a:solidFill>
                  <a:schemeClr val="accent2"/>
                </a:solidFill>
              </a:endParaRPr>
            </a:p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</a:rPr>
                <a:t>突然</a:t>
              </a:r>
              <a:r>
                <a:rPr lang="ja-JP" altLang="en-US" sz="2800" b="1" dirty="0">
                  <a:solidFill>
                    <a:schemeClr val="accent2"/>
                  </a:solidFill>
                </a:rPr>
                <a:t>変異</a:t>
              </a:r>
              <a:r>
                <a:rPr lang="ja-JP" altLang="en-US" sz="2800" b="1" dirty="0" smtClean="0">
                  <a:solidFill>
                    <a:schemeClr val="accent2"/>
                  </a:solidFill>
                </a:rPr>
                <a:t>操作：</a:t>
              </a:r>
              <a:endParaRPr lang="en-US" altLang="ja-JP" sz="2800" b="1" dirty="0" smtClean="0">
                <a:solidFill>
                  <a:schemeClr val="accent2"/>
                </a:solidFill>
              </a:endParaRPr>
            </a:p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</a:rPr>
                <a:t>個体群サイズ：</a:t>
              </a:r>
              <a:endParaRPr lang="en-US" altLang="ja-JP" sz="2800" b="1" dirty="0" smtClean="0">
                <a:solidFill>
                  <a:schemeClr val="accent2"/>
                </a:solidFill>
              </a:endParaRPr>
            </a:p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</a:rPr>
                <a:t>評価回数：</a:t>
              </a:r>
              <a:endParaRPr lang="en-US" altLang="ja-JP" sz="2800" b="1" dirty="0" smtClean="0">
                <a:solidFill>
                  <a:schemeClr val="accent2"/>
                </a:solidFill>
              </a:endParaRPr>
            </a:p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</a:rPr>
                <a:t>試行回数：</a:t>
              </a:r>
              <a:endParaRPr lang="en-US" altLang="ja-JP" sz="2800" b="1" dirty="0" smtClean="0">
                <a:solidFill>
                  <a:schemeClr val="accent2"/>
                </a:solidFill>
              </a:endParaRPr>
            </a:p>
            <a:p>
              <a:pPr algn="r"/>
              <a:r>
                <a:rPr lang="en-US" altLang="ja-JP" sz="2800" b="1" i="1" dirty="0">
                  <a:solidFill>
                    <a:schemeClr val="accent2"/>
                  </a:solidFill>
                  <a:latin typeface="Symbol" panose="05050102010706020507" pitchFamily="18" charset="2"/>
                </a:rPr>
                <a:t>a</a:t>
              </a:r>
              <a:r>
                <a:rPr lang="ja-JP" altLang="en-US" sz="2800" b="1" dirty="0">
                  <a:solidFill>
                    <a:schemeClr val="accent2"/>
                  </a:solidFill>
                </a:rPr>
                <a:t>：</a:t>
              </a:r>
              <a:endParaRPr lang="en-US" altLang="ja-JP" sz="2800" b="1" dirty="0">
                <a:solidFill>
                  <a:schemeClr val="accent2"/>
                </a:solidFill>
              </a:endParaRPr>
            </a:p>
            <a:p>
              <a:pPr algn="r"/>
              <a:r>
                <a:rPr lang="en-US" altLang="ja-JP" sz="2800" b="1" i="1" dirty="0">
                  <a:solidFill>
                    <a:schemeClr val="accent2"/>
                  </a:solidFill>
                  <a:latin typeface="Symbol" panose="05050102010706020507" pitchFamily="18" charset="2"/>
                </a:rPr>
                <a:t>b</a:t>
              </a:r>
              <a:r>
                <a:rPr lang="ja-JP" altLang="en-US" sz="2800" b="1" dirty="0">
                  <a:solidFill>
                    <a:schemeClr val="accent2"/>
                  </a:solidFill>
                </a:rPr>
                <a:t>：</a:t>
              </a:r>
              <a:endParaRPr lang="en-US" altLang="ja-JP" sz="2800" b="1" dirty="0">
                <a:solidFill>
                  <a:schemeClr val="accent2"/>
                </a:solidFill>
              </a:endParaRPr>
            </a:p>
            <a:p>
              <a:pPr algn="r"/>
              <a:endParaRPr lang="en-US" altLang="ja-JP" sz="2800" b="1" dirty="0">
                <a:solidFill>
                  <a:schemeClr val="accent2"/>
                </a:solidFill>
              </a:endParaRPr>
            </a:p>
          </p:txBody>
        </p:sp>
        <p:sp>
          <p:nvSpPr>
            <p:cNvPr id="7" name="テキスト ボックス 6"/>
            <p:cNvSpPr txBox="1"/>
            <p:nvPr/>
          </p:nvSpPr>
          <p:spPr>
            <a:xfrm>
              <a:off x="2611872" y="1536970"/>
              <a:ext cx="6532127" cy="3587971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altLang="ja-JP" sz="2800" dirty="0" smtClean="0"/>
                <a:t>500</a:t>
              </a:r>
            </a:p>
            <a:p>
              <a:r>
                <a:rPr lang="en-US" altLang="ja-JP" sz="2800" dirty="0" smtClean="0"/>
                <a:t>Uniform</a:t>
              </a:r>
              <a:r>
                <a:rPr lang="ja-JP" altLang="en-US" sz="2800" dirty="0" smtClean="0"/>
                <a:t> </a:t>
              </a:r>
              <a:r>
                <a:rPr lang="en-US" altLang="ja-JP" sz="2800" dirty="0" smtClean="0"/>
                <a:t>Crossover (</a:t>
              </a:r>
              <a:r>
                <a:rPr lang="ja-JP" altLang="en-US" sz="2800" dirty="0" smtClean="0"/>
                <a:t>適用確率：</a:t>
              </a:r>
              <a:r>
                <a:rPr lang="en-US" altLang="ja-JP" sz="2800" dirty="0" smtClean="0"/>
                <a:t>0.9</a:t>
              </a:r>
              <a:r>
                <a:rPr lang="en-US" altLang="ja-JP" sz="2800" dirty="0"/>
                <a:t>)</a:t>
              </a:r>
            </a:p>
            <a:p>
              <a:r>
                <a:rPr lang="en-US" altLang="ja-JP" sz="2800" dirty="0" err="1" smtClean="0"/>
                <a:t>Bitflip</a:t>
              </a:r>
              <a:r>
                <a:rPr lang="ja-JP" altLang="en-US" sz="2800" dirty="0" smtClean="0"/>
                <a:t> </a:t>
              </a:r>
              <a:r>
                <a:rPr lang="en-US" altLang="ja-JP" sz="2800" dirty="0" smtClean="0"/>
                <a:t>Mutation (</a:t>
              </a:r>
              <a:r>
                <a:rPr lang="ja-JP" altLang="en-US" sz="2800" dirty="0" smtClean="0"/>
                <a:t>適用確率：</a:t>
              </a:r>
              <a:r>
                <a:rPr lang="en-US" altLang="ja-JP" sz="2800" dirty="0" smtClean="0"/>
                <a:t>1/(</a:t>
              </a:r>
              <a:r>
                <a:rPr lang="ja-JP" altLang="en-US" sz="2400" dirty="0" smtClean="0"/>
                <a:t>アイテム数</a:t>
              </a:r>
              <a:r>
                <a:rPr lang="en-US" altLang="ja-JP" sz="2800" dirty="0" smtClean="0"/>
                <a:t>))</a:t>
              </a:r>
              <a:endParaRPr lang="en-US" altLang="ja-JP" sz="2800" dirty="0"/>
            </a:p>
            <a:p>
              <a:r>
                <a:rPr lang="en-US" altLang="ja-JP" sz="2800" dirty="0" smtClean="0"/>
                <a:t>100 (</a:t>
              </a:r>
              <a:r>
                <a:rPr lang="ja-JP" altLang="en-US" sz="2800" dirty="0" smtClean="0"/>
                <a:t>各タスク</a:t>
              </a:r>
              <a:r>
                <a:rPr lang="en-US" altLang="ja-JP" sz="2800" dirty="0" smtClean="0"/>
                <a:t>)</a:t>
              </a:r>
            </a:p>
            <a:p>
              <a:r>
                <a:rPr lang="en-US" altLang="ja-JP" sz="2800" dirty="0" smtClean="0"/>
                <a:t>100,000</a:t>
              </a:r>
              <a:r>
                <a:rPr kumimoji="1" lang="ja-JP" altLang="en-US" sz="2400" dirty="0" smtClean="0"/>
                <a:t>回</a:t>
              </a:r>
              <a:endParaRPr kumimoji="1" lang="en-US" altLang="ja-JP" sz="2400" dirty="0" smtClean="0"/>
            </a:p>
            <a:p>
              <a:r>
                <a:rPr lang="en-US" altLang="ja-JP" sz="2800" dirty="0" smtClean="0"/>
                <a:t>31</a:t>
              </a:r>
              <a:r>
                <a:rPr lang="ja-JP" altLang="en-US" sz="2400" dirty="0" smtClean="0"/>
                <a:t>回</a:t>
              </a:r>
              <a:endParaRPr kumimoji="1" lang="en-US" altLang="ja-JP" sz="2400" dirty="0" smtClean="0"/>
            </a:p>
            <a:p>
              <a:r>
                <a:rPr lang="en-US" altLang="ja-JP" sz="2800" dirty="0" smtClean="0"/>
                <a:t>1.1</a:t>
              </a:r>
              <a:r>
                <a:rPr lang="ja-JP" altLang="en-US" sz="2400" dirty="0" smtClean="0"/>
                <a:t>倍</a:t>
              </a:r>
              <a:endParaRPr lang="en-US" altLang="ja-JP" sz="2400" dirty="0" smtClean="0"/>
            </a:p>
            <a:p>
              <a:r>
                <a:rPr lang="en-US" altLang="ja-JP" sz="2800" dirty="0" smtClean="0"/>
                <a:t>10 </a:t>
              </a:r>
              <a:r>
                <a:rPr lang="en-US" altLang="ja-JP" sz="2400" dirty="0" smtClean="0"/>
                <a:t>%</a:t>
              </a:r>
              <a:endParaRPr lang="en-US" altLang="ja-JP" sz="2400" dirty="0"/>
            </a:p>
          </p:txBody>
        </p:sp>
      </p:grpSp>
      <p:sp>
        <p:nvSpPr>
          <p:cNvPr id="9" name="テキスト ボックス 8"/>
          <p:cNvSpPr txBox="1"/>
          <p:nvPr/>
        </p:nvSpPr>
        <p:spPr>
          <a:xfrm>
            <a:off x="228600" y="1371600"/>
            <a:ext cx="2669967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 smtClean="0"/>
              <a:t>共通実験設定</a:t>
            </a:r>
            <a:endParaRPr kumimoji="1" lang="ja-JP" altLang="en-US" sz="3200" dirty="0" smtClean="0"/>
          </a:p>
        </p:txBody>
      </p:sp>
    </p:spTree>
    <p:extLst>
      <p:ext uri="{BB962C8B-B14F-4D97-AF65-F5344CB8AC3E}">
        <p14:creationId xmlns:p14="http://schemas.microsoft.com/office/powerpoint/2010/main" val="610620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sp>
        <p:nvSpPr>
          <p:cNvPr id="57" name="コンテンツ プレースホルダー 56"/>
          <p:cNvSpPr>
            <a:spLocks noGrp="1"/>
          </p:cNvSpPr>
          <p:nvPr>
            <p:ph idx="1"/>
          </p:nvPr>
        </p:nvSpPr>
        <p:spPr/>
        <p:txBody>
          <a:bodyPr anchor="b"/>
          <a:lstStyle/>
          <a:p>
            <a:r>
              <a:rPr kumimoji="1" lang="ja-JP" altLang="en-US" dirty="0" smtClean="0"/>
              <a:t>両方のタスクで，</a:t>
            </a:r>
            <a:r>
              <a:rPr kumimoji="1" lang="ja-JP" altLang="en-US" b="1" dirty="0" smtClean="0">
                <a:solidFill>
                  <a:schemeClr val="accent1"/>
                </a:solidFill>
              </a:rPr>
              <a:t>独立探索</a:t>
            </a:r>
            <a:r>
              <a:rPr lang="ja-JP" altLang="en-US" b="1" dirty="0">
                <a:solidFill>
                  <a:schemeClr val="accent1"/>
                </a:solidFill>
              </a:rPr>
              <a:t>手法</a:t>
            </a:r>
            <a:r>
              <a:rPr kumimoji="1" lang="ja-JP" altLang="en-US" dirty="0" smtClean="0"/>
              <a:t>が優れている．</a:t>
            </a:r>
            <a:endParaRPr kumimoji="1" lang="en-US" altLang="ja-JP" dirty="0" smtClean="0"/>
          </a:p>
          <a:p>
            <a:r>
              <a:rPr lang="en-US" altLang="ja-JP" dirty="0" smtClean="0"/>
              <a:t>MO-MFEA</a:t>
            </a:r>
            <a:r>
              <a:rPr lang="ja-JP" altLang="en-US" dirty="0" smtClean="0"/>
              <a:t>の方が，島モデルより優れている．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26</a:t>
            </a:fld>
            <a:endParaRPr kumimoji="1" lang="ja-JP" altLang="en-US" dirty="0"/>
          </a:p>
        </p:txBody>
      </p:sp>
      <p:sp>
        <p:nvSpPr>
          <p:cNvPr id="32" name="テキスト プレースホルダー 3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Scaling Knapsack</a:t>
            </a:r>
            <a:r>
              <a:rPr kumimoji="1" lang="ja-JP" altLang="en-US" dirty="0" smtClean="0"/>
              <a:t>問題</a:t>
            </a:r>
            <a:endParaRPr kumimoji="1" lang="ja-JP" altLang="en-US" dirty="0"/>
          </a:p>
        </p:txBody>
      </p:sp>
      <p:grpSp>
        <p:nvGrpSpPr>
          <p:cNvPr id="59" name="グループ化 58"/>
          <p:cNvGrpSpPr/>
          <p:nvPr/>
        </p:nvGrpSpPr>
        <p:grpSpPr>
          <a:xfrm>
            <a:off x="35048" y="1425641"/>
            <a:ext cx="9367082" cy="3895542"/>
            <a:chOff x="35048" y="1425641"/>
            <a:chExt cx="9367082" cy="3895542"/>
          </a:xfrm>
        </p:grpSpPr>
        <p:grpSp>
          <p:nvGrpSpPr>
            <p:cNvPr id="45" name="グループ化 44"/>
            <p:cNvGrpSpPr/>
            <p:nvPr/>
          </p:nvGrpSpPr>
          <p:grpSpPr>
            <a:xfrm>
              <a:off x="498626" y="1425641"/>
              <a:ext cx="4636325" cy="3895542"/>
              <a:chOff x="470051" y="1971906"/>
              <a:chExt cx="4636325" cy="3895542"/>
            </a:xfrm>
          </p:grpSpPr>
          <p:grpSp>
            <p:nvGrpSpPr>
              <p:cNvPr id="22" name="グループ化 21"/>
              <p:cNvGrpSpPr/>
              <p:nvPr/>
            </p:nvGrpSpPr>
            <p:grpSpPr>
              <a:xfrm>
                <a:off x="470051" y="2349704"/>
                <a:ext cx="4636325" cy="3517744"/>
                <a:chOff x="246344" y="2133819"/>
                <a:chExt cx="4636325" cy="3517744"/>
              </a:xfrm>
            </p:grpSpPr>
            <p:grpSp>
              <p:nvGrpSpPr>
                <p:cNvPr id="18" name="グループ化 17"/>
                <p:cNvGrpSpPr/>
                <p:nvPr/>
              </p:nvGrpSpPr>
              <p:grpSpPr>
                <a:xfrm>
                  <a:off x="246344" y="2133819"/>
                  <a:ext cx="4636325" cy="3469840"/>
                  <a:chOff x="246344" y="2133819"/>
                  <a:chExt cx="4636325" cy="3469840"/>
                </a:xfrm>
              </p:grpSpPr>
              <p:grpSp>
                <p:nvGrpSpPr>
                  <p:cNvPr id="12" name="グループ化 11"/>
                  <p:cNvGrpSpPr/>
                  <p:nvPr/>
                </p:nvGrpSpPr>
                <p:grpSpPr>
                  <a:xfrm>
                    <a:off x="246344" y="2133819"/>
                    <a:ext cx="4636325" cy="3469840"/>
                    <a:chOff x="246344" y="2133819"/>
                    <a:chExt cx="4636325" cy="3469840"/>
                  </a:xfrm>
                </p:grpSpPr>
                <p:pic>
                  <p:nvPicPr>
                    <p:cNvPr id="6" name="図 5"/>
                    <p:cNvPicPr>
                      <a:picLocks noChangeAspect="1"/>
                    </p:cNvPicPr>
                    <p:nvPr/>
                  </p:nvPicPr>
                  <p:blipFill>
                    <a:blip r:embed="rId2" cstate="print">
                      <a:clrChange>
                        <a:clrFrom>
                          <a:srgbClr val="FFFFFF"/>
                        </a:clrFrom>
                        <a:clrTo>
                          <a:srgbClr val="FFFFFF">
                            <a:alpha val="0"/>
                          </a:srgbClr>
                        </a:clrTo>
                      </a:clrChange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246344" y="2133819"/>
                      <a:ext cx="4636325" cy="3469840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9" name="正方形/長方形 8"/>
                    <p:cNvSpPr/>
                    <p:nvPr/>
                  </p:nvSpPr>
                  <p:spPr>
                    <a:xfrm>
                      <a:off x="818368" y="2349704"/>
                      <a:ext cx="369734" cy="187365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  <p:sp>
                <p:nvSpPr>
                  <p:cNvPr id="7" name="テキスト ボックス 6"/>
                  <p:cNvSpPr txBox="1"/>
                  <p:nvPr/>
                </p:nvSpPr>
                <p:spPr>
                  <a:xfrm>
                    <a:off x="710367" y="2195374"/>
                    <a:ext cx="1175657" cy="400110"/>
                  </a:xfrm>
                  <a:prstGeom prst="rect">
                    <a:avLst/>
                  </a:prstGeom>
                  <a:noFill/>
                  <a:ln w="19050">
                    <a:noFill/>
                  </a:ln>
                </p:spPr>
                <p:txBody>
                  <a:bodyPr wrap="square" rtlCol="0" anchor="b">
                    <a:spAutoFit/>
                  </a:bodyPr>
                  <a:lstStyle/>
                  <a:p>
                    <a:r>
                      <a:rPr kumimoji="1" lang="en-US" altLang="ja-JP" sz="2000" dirty="0" smtClean="0"/>
                      <a:t>×10</a:t>
                    </a:r>
                    <a:r>
                      <a:rPr kumimoji="1" lang="en-US" altLang="ja-JP" sz="2000" baseline="30000" dirty="0" smtClean="0"/>
                      <a:t>8</a:t>
                    </a:r>
                    <a:endParaRPr kumimoji="1" lang="ja-JP" altLang="en-US" sz="2000" baseline="30000" dirty="0" smtClean="0"/>
                  </a:p>
                </p:txBody>
              </p:sp>
            </p:grpSp>
            <p:sp>
              <p:nvSpPr>
                <p:cNvPr id="19" name="テキスト ボックス 18"/>
                <p:cNvSpPr txBox="1"/>
                <p:nvPr/>
              </p:nvSpPr>
              <p:spPr>
                <a:xfrm>
                  <a:off x="811725" y="5266842"/>
                  <a:ext cx="1132149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en-US" altLang="ja-JP" sz="2150" dirty="0" smtClean="0"/>
                    <a:t>NSGA-II</a:t>
                  </a:r>
                  <a:endParaRPr kumimoji="1" lang="ja-JP" altLang="en-US" sz="2150" dirty="0" smtClean="0"/>
                </a:p>
              </p:txBody>
            </p:sp>
            <p:sp>
              <p:nvSpPr>
                <p:cNvPr id="20" name="テキスト ボックス 19"/>
                <p:cNvSpPr txBox="1"/>
                <p:nvPr/>
              </p:nvSpPr>
              <p:spPr>
                <a:xfrm>
                  <a:off x="1946708" y="5266842"/>
                  <a:ext cx="1416570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en-US" altLang="ja-JP" sz="2150" dirty="0" smtClean="0"/>
                    <a:t>MO-MFEA</a:t>
                  </a:r>
                  <a:endParaRPr kumimoji="1" lang="ja-JP" altLang="en-US" sz="2150" dirty="0" smtClean="0"/>
                </a:p>
              </p:txBody>
            </p:sp>
            <p:sp>
              <p:nvSpPr>
                <p:cNvPr id="21" name="テキスト ボックス 20"/>
                <p:cNvSpPr txBox="1"/>
                <p:nvPr/>
              </p:nvSpPr>
              <p:spPr>
                <a:xfrm>
                  <a:off x="3391864" y="5266842"/>
                  <a:ext cx="1186285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ja-JP" altLang="en-US" sz="2150" dirty="0" smtClean="0"/>
                    <a:t>島モデル</a:t>
                  </a:r>
                </a:p>
              </p:txBody>
            </p:sp>
          </p:grpSp>
          <p:sp>
            <p:nvSpPr>
              <p:cNvPr id="33" name="テキスト ボックス 32"/>
              <p:cNvSpPr txBox="1"/>
              <p:nvPr/>
            </p:nvSpPr>
            <p:spPr>
              <a:xfrm>
                <a:off x="2135145" y="1971906"/>
                <a:ext cx="1300442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800" dirty="0" smtClean="0"/>
                  <a:t>タスク</a:t>
                </a:r>
                <a:r>
                  <a:rPr kumimoji="1" lang="en-US" altLang="ja-JP" sz="2800" dirty="0" smtClean="0"/>
                  <a:t>1</a:t>
                </a:r>
                <a:endParaRPr kumimoji="1" lang="ja-JP" altLang="en-US" sz="2800" dirty="0" smtClean="0"/>
              </a:p>
            </p:txBody>
          </p:sp>
        </p:grpSp>
        <p:sp>
          <p:nvSpPr>
            <p:cNvPr id="44" name="テキスト ボックス 43"/>
            <p:cNvSpPr txBox="1"/>
            <p:nvPr/>
          </p:nvSpPr>
          <p:spPr>
            <a:xfrm rot="16200000">
              <a:off x="-1194784" y="3365268"/>
              <a:ext cx="2921330" cy="46166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dirty="0" err="1" smtClean="0"/>
                <a:t>Hypervolume</a:t>
              </a:r>
              <a:r>
                <a:rPr kumimoji="1" lang="ja-JP" altLang="en-US" sz="2400" dirty="0" smtClean="0"/>
                <a:t>値</a:t>
              </a:r>
            </a:p>
          </p:txBody>
        </p:sp>
        <p:grpSp>
          <p:nvGrpSpPr>
            <p:cNvPr id="46" name="グループ化 45"/>
            <p:cNvGrpSpPr/>
            <p:nvPr/>
          </p:nvGrpSpPr>
          <p:grpSpPr>
            <a:xfrm>
              <a:off x="4765806" y="1425641"/>
              <a:ext cx="4636324" cy="3895542"/>
              <a:chOff x="470051" y="1971906"/>
              <a:chExt cx="4636324" cy="3895542"/>
            </a:xfrm>
          </p:grpSpPr>
          <p:grpSp>
            <p:nvGrpSpPr>
              <p:cNvPr id="47" name="グループ化 46"/>
              <p:cNvGrpSpPr/>
              <p:nvPr/>
            </p:nvGrpSpPr>
            <p:grpSpPr>
              <a:xfrm>
                <a:off x="470051" y="2349704"/>
                <a:ext cx="4636324" cy="3517744"/>
                <a:chOff x="246344" y="2133819"/>
                <a:chExt cx="4636324" cy="3517744"/>
              </a:xfrm>
            </p:grpSpPr>
            <p:grpSp>
              <p:nvGrpSpPr>
                <p:cNvPr id="49" name="グループ化 48"/>
                <p:cNvGrpSpPr/>
                <p:nvPr/>
              </p:nvGrpSpPr>
              <p:grpSpPr>
                <a:xfrm>
                  <a:off x="246344" y="2133819"/>
                  <a:ext cx="4636324" cy="3469840"/>
                  <a:chOff x="246344" y="2133819"/>
                  <a:chExt cx="4636324" cy="3469840"/>
                </a:xfrm>
              </p:grpSpPr>
              <p:grpSp>
                <p:nvGrpSpPr>
                  <p:cNvPr id="53" name="グループ化 52"/>
                  <p:cNvGrpSpPr/>
                  <p:nvPr/>
                </p:nvGrpSpPr>
                <p:grpSpPr>
                  <a:xfrm>
                    <a:off x="246344" y="2133819"/>
                    <a:ext cx="4636324" cy="3469840"/>
                    <a:chOff x="246344" y="2133819"/>
                    <a:chExt cx="4636324" cy="3469840"/>
                  </a:xfrm>
                </p:grpSpPr>
                <p:pic>
                  <p:nvPicPr>
                    <p:cNvPr id="55" name="図 54"/>
                    <p:cNvPicPr>
                      <a:picLocks noChangeAspect="1"/>
                    </p:cNvPicPr>
                    <p:nvPr/>
                  </p:nvPicPr>
                  <p:blipFill>
                    <a:blip r:embed="rId3" cstate="print">
                      <a:clrChange>
                        <a:clrFrom>
                          <a:srgbClr val="FFFFFF"/>
                        </a:clrFrom>
                        <a:clrTo>
                          <a:srgbClr val="FFFFFF">
                            <a:alpha val="0"/>
                          </a:srgbClr>
                        </a:clrTo>
                      </a:clrChange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246344" y="2133819"/>
                      <a:ext cx="4636324" cy="3469840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56" name="正方形/長方形 55"/>
                    <p:cNvSpPr/>
                    <p:nvPr/>
                  </p:nvSpPr>
                  <p:spPr>
                    <a:xfrm>
                      <a:off x="818368" y="2349704"/>
                      <a:ext cx="369734" cy="187365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  <p:sp>
                <p:nvSpPr>
                  <p:cNvPr id="54" name="テキスト ボックス 53"/>
                  <p:cNvSpPr txBox="1"/>
                  <p:nvPr/>
                </p:nvSpPr>
                <p:spPr>
                  <a:xfrm>
                    <a:off x="710367" y="2195374"/>
                    <a:ext cx="1175657" cy="400110"/>
                  </a:xfrm>
                  <a:prstGeom prst="rect">
                    <a:avLst/>
                  </a:prstGeom>
                  <a:noFill/>
                  <a:ln w="19050">
                    <a:noFill/>
                  </a:ln>
                </p:spPr>
                <p:txBody>
                  <a:bodyPr wrap="square" rtlCol="0" anchor="b">
                    <a:spAutoFit/>
                  </a:bodyPr>
                  <a:lstStyle/>
                  <a:p>
                    <a:r>
                      <a:rPr kumimoji="1" lang="en-US" altLang="ja-JP" sz="2000" dirty="0" smtClean="0"/>
                      <a:t>×10</a:t>
                    </a:r>
                    <a:r>
                      <a:rPr kumimoji="1" lang="en-US" altLang="ja-JP" sz="2000" baseline="30000" dirty="0" smtClean="0"/>
                      <a:t>8</a:t>
                    </a:r>
                    <a:endParaRPr kumimoji="1" lang="ja-JP" altLang="en-US" sz="2000" baseline="30000" dirty="0" smtClean="0"/>
                  </a:p>
                </p:txBody>
              </p:sp>
            </p:grpSp>
            <p:sp>
              <p:nvSpPr>
                <p:cNvPr id="50" name="テキスト ボックス 49"/>
                <p:cNvSpPr txBox="1"/>
                <p:nvPr/>
              </p:nvSpPr>
              <p:spPr>
                <a:xfrm>
                  <a:off x="811725" y="5266842"/>
                  <a:ext cx="1132149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en-US" altLang="ja-JP" sz="2150" dirty="0" smtClean="0"/>
                    <a:t>NSGA-II</a:t>
                  </a:r>
                  <a:endParaRPr kumimoji="1" lang="ja-JP" altLang="en-US" sz="2150" dirty="0" smtClean="0"/>
                </a:p>
              </p:txBody>
            </p:sp>
            <p:sp>
              <p:nvSpPr>
                <p:cNvPr id="51" name="テキスト ボックス 50"/>
                <p:cNvSpPr txBox="1"/>
                <p:nvPr/>
              </p:nvSpPr>
              <p:spPr>
                <a:xfrm>
                  <a:off x="1946708" y="5266842"/>
                  <a:ext cx="1416570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en-US" altLang="ja-JP" sz="2150" dirty="0" smtClean="0"/>
                    <a:t>MO-MFEA</a:t>
                  </a:r>
                  <a:endParaRPr kumimoji="1" lang="ja-JP" altLang="en-US" sz="2150" dirty="0" smtClean="0"/>
                </a:p>
              </p:txBody>
            </p:sp>
            <p:sp>
              <p:nvSpPr>
                <p:cNvPr id="52" name="テキスト ボックス 51"/>
                <p:cNvSpPr txBox="1"/>
                <p:nvPr/>
              </p:nvSpPr>
              <p:spPr>
                <a:xfrm>
                  <a:off x="3391864" y="5266842"/>
                  <a:ext cx="1186285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ja-JP" altLang="en-US" sz="2150" dirty="0" smtClean="0"/>
                    <a:t>島モデル</a:t>
                  </a:r>
                </a:p>
              </p:txBody>
            </p:sp>
          </p:grpSp>
          <p:sp>
            <p:nvSpPr>
              <p:cNvPr id="48" name="テキスト ボックス 47"/>
              <p:cNvSpPr txBox="1"/>
              <p:nvPr/>
            </p:nvSpPr>
            <p:spPr>
              <a:xfrm>
                <a:off x="2135145" y="1971906"/>
                <a:ext cx="1300442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800" dirty="0" smtClean="0"/>
                  <a:t>タスク</a:t>
                </a:r>
                <a:r>
                  <a:rPr lang="en-US" altLang="ja-JP" sz="2800" dirty="0"/>
                  <a:t>2</a:t>
                </a:r>
                <a:endParaRPr kumimoji="1" lang="ja-JP" altLang="en-US" sz="2800" dirty="0" smtClean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42046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sp>
        <p:nvSpPr>
          <p:cNvPr id="57" name="コンテンツ プレースホルダー 56"/>
          <p:cNvSpPr>
            <a:spLocks noGrp="1"/>
          </p:cNvSpPr>
          <p:nvPr>
            <p:ph idx="1"/>
          </p:nvPr>
        </p:nvSpPr>
        <p:spPr/>
        <p:txBody>
          <a:bodyPr anchor="b"/>
          <a:lstStyle/>
          <a:p>
            <a:r>
              <a:rPr kumimoji="1" lang="ja-JP" altLang="en-US" dirty="0" smtClean="0"/>
              <a:t>両方のタスクで，</a:t>
            </a:r>
            <a:r>
              <a:rPr lang="ja-JP" altLang="en-US" b="1" dirty="0" smtClean="0">
                <a:solidFill>
                  <a:schemeClr val="accent1"/>
                </a:solidFill>
              </a:rPr>
              <a:t>マルチタスク手法</a:t>
            </a:r>
            <a:r>
              <a:rPr kumimoji="1" lang="ja-JP" altLang="en-US" dirty="0" smtClean="0"/>
              <a:t>が優れている．</a:t>
            </a:r>
            <a:endParaRPr kumimoji="1" lang="en-US" altLang="ja-JP" dirty="0" smtClean="0"/>
          </a:p>
          <a:p>
            <a:r>
              <a:rPr lang="en-US" altLang="ja-JP" dirty="0" smtClean="0"/>
              <a:t>MO-MFEA</a:t>
            </a:r>
            <a:r>
              <a:rPr lang="ja-JP" altLang="en-US" dirty="0" smtClean="0"/>
              <a:t>の方が，島モデルより優れている．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27</a:t>
            </a:fld>
            <a:endParaRPr kumimoji="1" lang="ja-JP" altLang="en-US" dirty="0"/>
          </a:p>
        </p:txBody>
      </p:sp>
      <p:sp>
        <p:nvSpPr>
          <p:cNvPr id="32" name="テキスト プレースホルダー 3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 smtClean="0"/>
              <a:t>Inversion</a:t>
            </a:r>
            <a:r>
              <a:rPr lang="ja-JP" altLang="en-US" dirty="0"/>
              <a:t> </a:t>
            </a:r>
            <a:r>
              <a:rPr lang="en-US" altLang="ja-JP" dirty="0" smtClean="0"/>
              <a:t>Profi</a:t>
            </a:r>
            <a:r>
              <a:rPr lang="en-US" altLang="ja-JP" dirty="0"/>
              <a:t>t</a:t>
            </a:r>
            <a:r>
              <a:rPr kumimoji="1" lang="ja-JP" altLang="en-US" dirty="0" smtClean="0"/>
              <a:t>問題</a:t>
            </a:r>
            <a:endParaRPr kumimoji="1" lang="ja-JP" altLang="en-US" dirty="0"/>
          </a:p>
        </p:txBody>
      </p:sp>
      <p:grpSp>
        <p:nvGrpSpPr>
          <p:cNvPr id="3" name="グループ化 2"/>
          <p:cNvGrpSpPr/>
          <p:nvPr/>
        </p:nvGrpSpPr>
        <p:grpSpPr>
          <a:xfrm>
            <a:off x="35048" y="1425641"/>
            <a:ext cx="9367082" cy="3895542"/>
            <a:chOff x="35048" y="1425641"/>
            <a:chExt cx="9367082" cy="3895542"/>
          </a:xfrm>
        </p:grpSpPr>
        <p:grpSp>
          <p:nvGrpSpPr>
            <p:cNvPr id="45" name="グループ化 44"/>
            <p:cNvGrpSpPr/>
            <p:nvPr/>
          </p:nvGrpSpPr>
          <p:grpSpPr>
            <a:xfrm>
              <a:off x="498626" y="1425641"/>
              <a:ext cx="4636324" cy="3895542"/>
              <a:chOff x="470051" y="1971906"/>
              <a:chExt cx="4636324" cy="3895542"/>
            </a:xfrm>
          </p:grpSpPr>
          <p:grpSp>
            <p:nvGrpSpPr>
              <p:cNvPr id="22" name="グループ化 21"/>
              <p:cNvGrpSpPr/>
              <p:nvPr/>
            </p:nvGrpSpPr>
            <p:grpSpPr>
              <a:xfrm>
                <a:off x="470051" y="2349704"/>
                <a:ext cx="4636324" cy="3517744"/>
                <a:chOff x="246344" y="2133819"/>
                <a:chExt cx="4636324" cy="3517744"/>
              </a:xfrm>
            </p:grpSpPr>
            <p:grpSp>
              <p:nvGrpSpPr>
                <p:cNvPr id="18" name="グループ化 17"/>
                <p:cNvGrpSpPr/>
                <p:nvPr/>
              </p:nvGrpSpPr>
              <p:grpSpPr>
                <a:xfrm>
                  <a:off x="246344" y="2133819"/>
                  <a:ext cx="4636324" cy="3469840"/>
                  <a:chOff x="246344" y="2133819"/>
                  <a:chExt cx="4636324" cy="3469840"/>
                </a:xfrm>
              </p:grpSpPr>
              <p:grpSp>
                <p:nvGrpSpPr>
                  <p:cNvPr id="12" name="グループ化 11"/>
                  <p:cNvGrpSpPr/>
                  <p:nvPr/>
                </p:nvGrpSpPr>
                <p:grpSpPr>
                  <a:xfrm>
                    <a:off x="246344" y="2133819"/>
                    <a:ext cx="4636324" cy="3469840"/>
                    <a:chOff x="246344" y="2133819"/>
                    <a:chExt cx="4636324" cy="3469840"/>
                  </a:xfrm>
                </p:grpSpPr>
                <p:pic>
                  <p:nvPicPr>
                    <p:cNvPr id="6" name="図 5"/>
                    <p:cNvPicPr>
                      <a:picLocks noChangeAspect="1"/>
                    </p:cNvPicPr>
                    <p:nvPr/>
                  </p:nvPicPr>
                  <p:blipFill>
                    <a:blip r:embed="rId2" cstate="print">
                      <a:clrChange>
                        <a:clrFrom>
                          <a:srgbClr val="FFFFFF"/>
                        </a:clrFrom>
                        <a:clrTo>
                          <a:srgbClr val="FFFFFF">
                            <a:alpha val="0"/>
                          </a:srgbClr>
                        </a:clrTo>
                      </a:clrChange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246344" y="2133819"/>
                      <a:ext cx="4636324" cy="3469840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9" name="正方形/長方形 8"/>
                    <p:cNvSpPr/>
                    <p:nvPr/>
                  </p:nvSpPr>
                  <p:spPr>
                    <a:xfrm>
                      <a:off x="818368" y="2349704"/>
                      <a:ext cx="369734" cy="187365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  <p:sp>
                <p:nvSpPr>
                  <p:cNvPr id="7" name="テキスト ボックス 6"/>
                  <p:cNvSpPr txBox="1"/>
                  <p:nvPr/>
                </p:nvSpPr>
                <p:spPr>
                  <a:xfrm>
                    <a:off x="710367" y="2195374"/>
                    <a:ext cx="1175657" cy="400110"/>
                  </a:xfrm>
                  <a:prstGeom prst="rect">
                    <a:avLst/>
                  </a:prstGeom>
                  <a:noFill/>
                  <a:ln w="19050">
                    <a:noFill/>
                  </a:ln>
                </p:spPr>
                <p:txBody>
                  <a:bodyPr wrap="square" rtlCol="0" anchor="b">
                    <a:spAutoFit/>
                  </a:bodyPr>
                  <a:lstStyle/>
                  <a:p>
                    <a:r>
                      <a:rPr kumimoji="1" lang="en-US" altLang="ja-JP" sz="2000" dirty="0" smtClean="0"/>
                      <a:t>×10</a:t>
                    </a:r>
                    <a:r>
                      <a:rPr kumimoji="1" lang="en-US" altLang="ja-JP" sz="2000" baseline="30000" dirty="0" smtClean="0"/>
                      <a:t>8</a:t>
                    </a:r>
                    <a:endParaRPr kumimoji="1" lang="ja-JP" altLang="en-US" sz="2000" baseline="30000" dirty="0" smtClean="0"/>
                  </a:p>
                </p:txBody>
              </p:sp>
            </p:grpSp>
            <p:sp>
              <p:nvSpPr>
                <p:cNvPr id="19" name="テキスト ボックス 18"/>
                <p:cNvSpPr txBox="1"/>
                <p:nvPr/>
              </p:nvSpPr>
              <p:spPr>
                <a:xfrm>
                  <a:off x="811725" y="5266842"/>
                  <a:ext cx="1132149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en-US" altLang="ja-JP" sz="2150" dirty="0" smtClean="0"/>
                    <a:t>NSGA-II</a:t>
                  </a:r>
                  <a:endParaRPr kumimoji="1" lang="ja-JP" altLang="en-US" sz="2150" dirty="0" smtClean="0"/>
                </a:p>
              </p:txBody>
            </p:sp>
            <p:sp>
              <p:nvSpPr>
                <p:cNvPr id="20" name="テキスト ボックス 19"/>
                <p:cNvSpPr txBox="1"/>
                <p:nvPr/>
              </p:nvSpPr>
              <p:spPr>
                <a:xfrm>
                  <a:off x="1946708" y="5266842"/>
                  <a:ext cx="1416570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en-US" altLang="ja-JP" sz="2150" dirty="0" smtClean="0"/>
                    <a:t>MO-MFEA</a:t>
                  </a:r>
                  <a:endParaRPr kumimoji="1" lang="ja-JP" altLang="en-US" sz="2150" dirty="0" smtClean="0"/>
                </a:p>
              </p:txBody>
            </p:sp>
            <p:sp>
              <p:nvSpPr>
                <p:cNvPr id="21" name="テキスト ボックス 20"/>
                <p:cNvSpPr txBox="1"/>
                <p:nvPr/>
              </p:nvSpPr>
              <p:spPr>
                <a:xfrm>
                  <a:off x="3391864" y="5266842"/>
                  <a:ext cx="1186285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ja-JP" altLang="en-US" sz="2150" dirty="0" smtClean="0"/>
                    <a:t>島モデル</a:t>
                  </a:r>
                </a:p>
              </p:txBody>
            </p:sp>
          </p:grpSp>
          <p:sp>
            <p:nvSpPr>
              <p:cNvPr id="33" name="テキスト ボックス 32"/>
              <p:cNvSpPr txBox="1"/>
              <p:nvPr/>
            </p:nvSpPr>
            <p:spPr>
              <a:xfrm>
                <a:off x="2135145" y="1971906"/>
                <a:ext cx="1300442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800" dirty="0" smtClean="0"/>
                  <a:t>タスク</a:t>
                </a:r>
                <a:r>
                  <a:rPr kumimoji="1" lang="en-US" altLang="ja-JP" sz="2800" dirty="0" smtClean="0"/>
                  <a:t>1</a:t>
                </a:r>
                <a:endParaRPr kumimoji="1" lang="ja-JP" altLang="en-US" sz="2800" dirty="0" smtClean="0"/>
              </a:p>
            </p:txBody>
          </p:sp>
        </p:grpSp>
        <p:sp>
          <p:nvSpPr>
            <p:cNvPr id="44" name="テキスト ボックス 43"/>
            <p:cNvSpPr txBox="1"/>
            <p:nvPr/>
          </p:nvSpPr>
          <p:spPr>
            <a:xfrm rot="16200000">
              <a:off x="-1194784" y="3365268"/>
              <a:ext cx="2921330" cy="46166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400" dirty="0" err="1"/>
                <a:t>Hypervolume</a:t>
              </a:r>
              <a:r>
                <a:rPr lang="ja-JP" altLang="en-US" sz="2400" dirty="0"/>
                <a:t>値</a:t>
              </a:r>
            </a:p>
          </p:txBody>
        </p:sp>
        <p:grpSp>
          <p:nvGrpSpPr>
            <p:cNvPr id="46" name="グループ化 45"/>
            <p:cNvGrpSpPr/>
            <p:nvPr/>
          </p:nvGrpSpPr>
          <p:grpSpPr>
            <a:xfrm>
              <a:off x="4765806" y="1425641"/>
              <a:ext cx="4636324" cy="3895542"/>
              <a:chOff x="470051" y="1971906"/>
              <a:chExt cx="4636324" cy="3895542"/>
            </a:xfrm>
          </p:grpSpPr>
          <p:grpSp>
            <p:nvGrpSpPr>
              <p:cNvPr id="47" name="グループ化 46"/>
              <p:cNvGrpSpPr/>
              <p:nvPr/>
            </p:nvGrpSpPr>
            <p:grpSpPr>
              <a:xfrm>
                <a:off x="470051" y="2349704"/>
                <a:ext cx="4636324" cy="3517744"/>
                <a:chOff x="246344" y="2133819"/>
                <a:chExt cx="4636324" cy="3517744"/>
              </a:xfrm>
            </p:grpSpPr>
            <p:grpSp>
              <p:nvGrpSpPr>
                <p:cNvPr id="49" name="グループ化 48"/>
                <p:cNvGrpSpPr/>
                <p:nvPr/>
              </p:nvGrpSpPr>
              <p:grpSpPr>
                <a:xfrm>
                  <a:off x="246344" y="2133819"/>
                  <a:ext cx="4636324" cy="3469839"/>
                  <a:chOff x="246344" y="2133819"/>
                  <a:chExt cx="4636324" cy="3469839"/>
                </a:xfrm>
              </p:grpSpPr>
              <p:grpSp>
                <p:nvGrpSpPr>
                  <p:cNvPr id="53" name="グループ化 52"/>
                  <p:cNvGrpSpPr/>
                  <p:nvPr/>
                </p:nvGrpSpPr>
                <p:grpSpPr>
                  <a:xfrm>
                    <a:off x="246344" y="2133819"/>
                    <a:ext cx="4636324" cy="3469839"/>
                    <a:chOff x="246344" y="2133819"/>
                    <a:chExt cx="4636324" cy="3469839"/>
                  </a:xfrm>
                </p:grpSpPr>
                <p:pic>
                  <p:nvPicPr>
                    <p:cNvPr id="55" name="図 54"/>
                    <p:cNvPicPr>
                      <a:picLocks noChangeAspect="1"/>
                    </p:cNvPicPr>
                    <p:nvPr/>
                  </p:nvPicPr>
                  <p:blipFill>
                    <a:blip r:embed="rId3" cstate="print">
                      <a:clrChange>
                        <a:clrFrom>
                          <a:srgbClr val="FFFFFF"/>
                        </a:clrFrom>
                        <a:clrTo>
                          <a:srgbClr val="FFFFFF">
                            <a:alpha val="0"/>
                          </a:srgbClr>
                        </a:clrTo>
                      </a:clrChange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246344" y="2133819"/>
                      <a:ext cx="4636324" cy="3469839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56" name="正方形/長方形 55"/>
                    <p:cNvSpPr/>
                    <p:nvPr/>
                  </p:nvSpPr>
                  <p:spPr>
                    <a:xfrm>
                      <a:off x="818368" y="2349704"/>
                      <a:ext cx="369734" cy="187365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  <p:sp>
                <p:nvSpPr>
                  <p:cNvPr id="54" name="テキスト ボックス 53"/>
                  <p:cNvSpPr txBox="1"/>
                  <p:nvPr/>
                </p:nvSpPr>
                <p:spPr>
                  <a:xfrm>
                    <a:off x="710367" y="2195374"/>
                    <a:ext cx="1175657" cy="400110"/>
                  </a:xfrm>
                  <a:prstGeom prst="rect">
                    <a:avLst/>
                  </a:prstGeom>
                  <a:noFill/>
                  <a:ln w="19050">
                    <a:noFill/>
                  </a:ln>
                </p:spPr>
                <p:txBody>
                  <a:bodyPr wrap="square" rtlCol="0" anchor="b">
                    <a:spAutoFit/>
                  </a:bodyPr>
                  <a:lstStyle/>
                  <a:p>
                    <a:r>
                      <a:rPr kumimoji="1" lang="en-US" altLang="ja-JP" sz="2000" dirty="0" smtClean="0"/>
                      <a:t>×10</a:t>
                    </a:r>
                    <a:r>
                      <a:rPr kumimoji="1" lang="en-US" altLang="ja-JP" sz="2000" baseline="30000" dirty="0" smtClean="0"/>
                      <a:t>8</a:t>
                    </a:r>
                    <a:endParaRPr kumimoji="1" lang="ja-JP" altLang="en-US" sz="2000" baseline="30000" dirty="0" smtClean="0"/>
                  </a:p>
                </p:txBody>
              </p:sp>
            </p:grpSp>
            <p:sp>
              <p:nvSpPr>
                <p:cNvPr id="50" name="テキスト ボックス 49"/>
                <p:cNvSpPr txBox="1"/>
                <p:nvPr/>
              </p:nvSpPr>
              <p:spPr>
                <a:xfrm>
                  <a:off x="811725" y="5266842"/>
                  <a:ext cx="1132149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en-US" altLang="ja-JP" sz="2150" dirty="0" smtClean="0"/>
                    <a:t>NSGA-II</a:t>
                  </a:r>
                  <a:endParaRPr kumimoji="1" lang="ja-JP" altLang="en-US" sz="2150" dirty="0" smtClean="0"/>
                </a:p>
              </p:txBody>
            </p:sp>
            <p:sp>
              <p:nvSpPr>
                <p:cNvPr id="51" name="テキスト ボックス 50"/>
                <p:cNvSpPr txBox="1"/>
                <p:nvPr/>
              </p:nvSpPr>
              <p:spPr>
                <a:xfrm>
                  <a:off x="1946708" y="5266842"/>
                  <a:ext cx="1416570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en-US" altLang="ja-JP" sz="2150" dirty="0" smtClean="0"/>
                    <a:t>MO-MFEA</a:t>
                  </a:r>
                  <a:endParaRPr kumimoji="1" lang="ja-JP" altLang="en-US" sz="2150" dirty="0" smtClean="0"/>
                </a:p>
              </p:txBody>
            </p:sp>
            <p:sp>
              <p:nvSpPr>
                <p:cNvPr id="52" name="テキスト ボックス 51"/>
                <p:cNvSpPr txBox="1"/>
                <p:nvPr/>
              </p:nvSpPr>
              <p:spPr>
                <a:xfrm>
                  <a:off x="3391864" y="5266842"/>
                  <a:ext cx="1186285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ja-JP" altLang="en-US" sz="2150" dirty="0" smtClean="0"/>
                    <a:t>島モデル</a:t>
                  </a:r>
                </a:p>
              </p:txBody>
            </p:sp>
          </p:grpSp>
          <p:sp>
            <p:nvSpPr>
              <p:cNvPr id="48" name="テキスト ボックス 47"/>
              <p:cNvSpPr txBox="1"/>
              <p:nvPr/>
            </p:nvSpPr>
            <p:spPr>
              <a:xfrm>
                <a:off x="2135145" y="1971906"/>
                <a:ext cx="1300442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800" dirty="0" smtClean="0"/>
                  <a:t>タスク</a:t>
                </a:r>
                <a:r>
                  <a:rPr lang="en-US" altLang="ja-JP" sz="2800" dirty="0"/>
                  <a:t>2</a:t>
                </a:r>
                <a:endParaRPr kumimoji="1" lang="ja-JP" altLang="en-US" sz="2800" dirty="0" smtClean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02635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eme_Lab">
  <a:themeElements>
    <a:clrScheme name="ユーザー定義 1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00B050"/>
      </a:accent5>
      <a:accent6>
        <a:srgbClr val="F93DD5"/>
      </a:accent6>
      <a:hlink>
        <a:srgbClr val="009999"/>
      </a:hlink>
      <a:folHlink>
        <a:srgbClr val="99CC00"/>
      </a:folHlink>
    </a:clrScheme>
    <a:fontScheme name="ユーザー定義 3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762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19050">
          <a:noFill/>
        </a:ln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1BF3D9E7-0E3F-405E-A7C2-9287BF6F8045}" vid="{44580BCE-2164-458F-848B-E0E027AD84CB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7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3F53A37-5EBE-431E-ABB7-703102CA6FAC}">
  <we:reference id="wa104381063" version="1.0.0.1" store="ja-JP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Theme_lab</Template>
  <TotalTime>2087</TotalTime>
  <Words>1104</Words>
  <Application>Microsoft Office PowerPoint</Application>
  <PresentationFormat>画面に合わせる (4:3)</PresentationFormat>
  <Paragraphs>388</Paragraphs>
  <Slides>28</Slides>
  <Notes>0</Notes>
  <HiddenSlides>5</HiddenSlides>
  <MMClips>0</MMClips>
  <ScaleCrop>false</ScaleCrop>
  <HeadingPairs>
    <vt:vector size="8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28</vt:i4>
      </vt:variant>
    </vt:vector>
  </HeadingPairs>
  <TitlesOfParts>
    <vt:vector size="35" baseType="lpstr">
      <vt:lpstr>ＭＳ Ｐゴシック</vt:lpstr>
      <vt:lpstr>游ゴシック</vt:lpstr>
      <vt:lpstr>Arial</vt:lpstr>
      <vt:lpstr>Symbol</vt:lpstr>
      <vt:lpstr>Times New Roman</vt:lpstr>
      <vt:lpstr>Theme_Lab</vt:lpstr>
      <vt:lpstr>MathType 6.0 Equation</vt:lpstr>
      <vt:lpstr>多目的マルチタスク ナップサック問題の提案</vt:lpstr>
      <vt:lpstr>マルチタスク最適化について</vt:lpstr>
      <vt:lpstr>タスク間の関係性の分類</vt:lpstr>
      <vt:lpstr>タスク間の関係性の分類</vt:lpstr>
      <vt:lpstr>タスク間の関係性の分類</vt:lpstr>
      <vt:lpstr>タスク間の関係性の分類</vt:lpstr>
      <vt:lpstr>本研究の目的</vt:lpstr>
      <vt:lpstr>本研究の目的</vt:lpstr>
      <vt:lpstr>多目的ナップサック問題</vt:lpstr>
      <vt:lpstr>提案するベンチマーク問題</vt:lpstr>
      <vt:lpstr>提案するベンチマーク問題</vt:lpstr>
      <vt:lpstr>提案するベンチマーク問題</vt:lpstr>
      <vt:lpstr>提案するベンチマーク問題</vt:lpstr>
      <vt:lpstr>タスク間の関係性の調査</vt:lpstr>
      <vt:lpstr>最適解の類似性調査</vt:lpstr>
      <vt:lpstr>最適解の類似性調査</vt:lpstr>
      <vt:lpstr>最適解の類似性調査</vt:lpstr>
      <vt:lpstr>最適解の類似性調査</vt:lpstr>
      <vt:lpstr>最適解の類似性調査</vt:lpstr>
      <vt:lpstr>最適解の類似性調査</vt:lpstr>
      <vt:lpstr>最適解の類似性調査</vt:lpstr>
      <vt:lpstr>考察</vt:lpstr>
      <vt:lpstr>まとめ</vt:lpstr>
      <vt:lpstr>PowerPoint プレゼンテーション</vt:lpstr>
      <vt:lpstr>既存のベンチマーク問題</vt:lpstr>
      <vt:lpstr>数値実験</vt:lpstr>
      <vt:lpstr>実験結果</vt:lpstr>
      <vt:lpstr>実験結果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瓜田 俊貴</dc:creator>
  <cp:lastModifiedBy>瓜田 俊貴</cp:lastModifiedBy>
  <cp:revision>150</cp:revision>
  <dcterms:created xsi:type="dcterms:W3CDTF">2020-02-09T12:48:10Z</dcterms:created>
  <dcterms:modified xsi:type="dcterms:W3CDTF">2020-02-18T16:56:55Z</dcterms:modified>
</cp:coreProperties>
</file>