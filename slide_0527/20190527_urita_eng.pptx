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8"/>
  </p:notesMasterIdLst>
  <p:sldIdLst>
    <p:sldId id="256" r:id="rId2"/>
    <p:sldId id="259" r:id="rId3"/>
    <p:sldId id="257" r:id="rId4"/>
    <p:sldId id="262" r:id="rId5"/>
    <p:sldId id="263" r:id="rId6"/>
    <p:sldId id="267" r:id="rId7"/>
    <p:sldId id="272" r:id="rId8"/>
    <p:sldId id="300" r:id="rId9"/>
    <p:sldId id="268" r:id="rId10"/>
    <p:sldId id="270" r:id="rId11"/>
    <p:sldId id="271" r:id="rId12"/>
    <p:sldId id="273" r:id="rId13"/>
    <p:sldId id="274" r:id="rId14"/>
    <p:sldId id="276" r:id="rId15"/>
    <p:sldId id="279" r:id="rId16"/>
    <p:sldId id="278" r:id="rId17"/>
    <p:sldId id="275" r:id="rId18"/>
    <p:sldId id="280" r:id="rId19"/>
    <p:sldId id="301" r:id="rId20"/>
    <p:sldId id="281" r:id="rId21"/>
    <p:sldId id="282" r:id="rId22"/>
    <p:sldId id="283" r:id="rId23"/>
    <p:sldId id="285" r:id="rId24"/>
    <p:sldId id="286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70222A7-BD1D-4070-9011-AB9CB3CD45EA}">
          <p14:sldIdLst>
            <p14:sldId id="256"/>
          </p14:sldIdLst>
        </p14:section>
        <p14:section name="概要" id="{473E41AF-83FC-4BC5-ABFA-E6587B68469F}">
          <p14:sldIdLst>
            <p14:sldId id="259"/>
            <p14:sldId id="257"/>
            <p14:sldId id="262"/>
            <p14:sldId id="263"/>
          </p14:sldIdLst>
        </p14:section>
        <p14:section name="提案" id="{E34CA3E0-0FBC-4E4E-95A5-1067BE53FBEA}">
          <p14:sldIdLst>
            <p14:sldId id="267"/>
            <p14:sldId id="272"/>
            <p14:sldId id="300"/>
            <p14:sldId id="268"/>
            <p14:sldId id="270"/>
            <p14:sldId id="271"/>
            <p14:sldId id="273"/>
          </p14:sldIdLst>
        </p14:section>
        <p14:section name="実験共通" id="{F52A62BB-20A5-498B-BB4D-5F1B5E4D3821}">
          <p14:sldIdLst>
            <p14:sldId id="274"/>
            <p14:sldId id="276"/>
            <p14:sldId id="279"/>
            <p14:sldId id="278"/>
          </p14:sldIdLst>
        </p14:section>
        <p14:section name="NN3" id="{C2028B0E-966B-4C3D-BF15-4EF4D2611224}">
          <p14:sldIdLst>
            <p14:sldId id="275"/>
            <p14:sldId id="280"/>
            <p14:sldId id="301"/>
            <p14:sldId id="281"/>
            <p14:sldId id="282"/>
          </p14:sldIdLst>
        </p14:section>
        <p14:section name="FD001" id="{5FF6548F-DF63-4E6D-8352-5C8576FA277A}">
          <p14:sldIdLst>
            <p14:sldId id="283"/>
            <p14:sldId id="285"/>
            <p14:sldId id="286"/>
            <p14:sldId id="288"/>
          </p14:sldIdLst>
        </p14:section>
        <p14:section name="FD002" id="{7373D9D6-2D11-4E52-A453-F25D12EEB002}">
          <p14:sldIdLst>
            <p14:sldId id="289"/>
            <p14:sldId id="290"/>
            <p14:sldId id="291"/>
            <p14:sldId id="292"/>
            <p14:sldId id="293"/>
          </p14:sldIdLst>
        </p14:section>
        <p14:section name="EGT" id="{D5840F30-5953-4467-80F8-4448CE8BCD75}">
          <p14:sldIdLst>
            <p14:sldId id="294"/>
            <p14:sldId id="295"/>
            <p14:sldId id="296"/>
            <p14:sldId id="297"/>
          </p14:sldIdLst>
        </p14:section>
        <p14:section name="まとめ" id="{91291DF4-6321-4FDB-B0D3-16E85EE4A9FB}">
          <p14:sldIdLst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D3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3148" autoAdjust="0"/>
  </p:normalViewPr>
  <p:slideViewPr>
    <p:cSldViewPr snapToGrid="0">
      <p:cViewPr varScale="1">
        <p:scale>
          <a:sx n="74" d="100"/>
          <a:sy n="74" d="100"/>
        </p:scale>
        <p:origin x="16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E5EFA-B9A8-44EF-B11E-ECCCBFFE5A6D}" type="datetimeFigureOut">
              <a:rPr kumimoji="1" lang="ja-JP" altLang="en-US" smtClean="0"/>
              <a:t>2019/5/27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6F871-198F-4E50-A09B-6ED681594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37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D6F871-198F-4E50-A09B-6ED68159494E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72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 userDrawn="1"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 userDrawn="1"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英語論文発表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>(5/27)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972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800" dirty="0" smtClean="0"/>
              <a:t>Random</a:t>
            </a:r>
            <a:r>
              <a:rPr lang="ja-JP" altLang="en-US" sz="2800" dirty="0"/>
              <a:t> </a:t>
            </a:r>
            <a:r>
              <a:rPr lang="en-US" altLang="ja-JP" sz="2800" dirty="0" smtClean="0"/>
              <a:t>forests-based </a:t>
            </a:r>
            <a:r>
              <a:rPr lang="en-US" altLang="ja-JP" sz="2800" dirty="0"/>
              <a:t>extreme learning machine ensemble for multi-regime time series prediction</a:t>
            </a:r>
            <a:endParaRPr kumimoji="1" lang="ja-JP" altLang="en-US" sz="28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sz="2800" dirty="0"/>
              <a:t>Lin </a:t>
            </a:r>
            <a:r>
              <a:rPr lang="en-US" altLang="ja-JP" sz="2800" dirty="0" err="1" smtClean="0"/>
              <a:t>Lin</a:t>
            </a:r>
            <a:r>
              <a:rPr lang="en-US" altLang="ja-JP" sz="2800" dirty="0" smtClean="0"/>
              <a:t>, </a:t>
            </a:r>
            <a:r>
              <a:rPr lang="en-US" altLang="ja-JP" sz="2800" dirty="0"/>
              <a:t>Fang Wang, </a:t>
            </a:r>
            <a:r>
              <a:rPr lang="en-US" altLang="ja-JP" sz="2800" dirty="0" err="1"/>
              <a:t>Xiaolong</a:t>
            </a:r>
            <a:r>
              <a:rPr lang="en-US" altLang="ja-JP" sz="2800" dirty="0"/>
              <a:t> </a:t>
            </a:r>
            <a:r>
              <a:rPr lang="en-US" altLang="ja-JP" sz="2800" dirty="0" err="1"/>
              <a:t>Xie</a:t>
            </a:r>
            <a:r>
              <a:rPr lang="en-US" altLang="ja-JP" sz="2800" dirty="0"/>
              <a:t>, </a:t>
            </a:r>
            <a:r>
              <a:rPr lang="en-US" altLang="ja-JP" sz="2800" dirty="0" err="1"/>
              <a:t>Shisheng</a:t>
            </a:r>
            <a:r>
              <a:rPr lang="en-US" altLang="ja-JP" sz="2800" dirty="0"/>
              <a:t> </a:t>
            </a:r>
            <a:r>
              <a:rPr lang="en-US" altLang="ja-JP" sz="2800" dirty="0" err="1"/>
              <a:t>Zhong</a:t>
            </a:r>
            <a:endParaRPr kumimoji="1" lang="ja-JP" altLang="en-US" sz="2800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ja-JP" sz="2800" dirty="0"/>
              <a:t>Expert Systems with </a:t>
            </a:r>
            <a:r>
              <a:rPr lang="en-US" altLang="ja-JP" sz="2800" dirty="0" smtClean="0"/>
              <a:t>Applications 2017, vol. 83, pp. 164-176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8086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時系列データの予測においては，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en-US" altLang="ja-JP" dirty="0" smtClean="0"/>
              <a:t>1</a:t>
            </a:r>
            <a:r>
              <a:rPr lang="en-US" altLang="ja-JP" dirty="0"/>
              <a:t>.</a:t>
            </a:r>
            <a:r>
              <a:rPr kumimoji="1" lang="ja-JP" altLang="en-US" dirty="0" smtClean="0"/>
              <a:t>高い精度，安定した予測，効率的な予測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en-US" altLang="ja-JP" dirty="0" smtClean="0"/>
              <a:t>2</a:t>
            </a:r>
            <a:r>
              <a:rPr lang="en-US" altLang="ja-JP" dirty="0"/>
              <a:t>.</a:t>
            </a:r>
            <a:r>
              <a:rPr kumimoji="1" lang="ja-JP" altLang="en-US" dirty="0" smtClean="0"/>
              <a:t>複数のレジームが存在するデータへの対応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が求められている．</a:t>
            </a:r>
            <a:endParaRPr lang="en-US" altLang="ja-JP" dirty="0" smtClean="0"/>
          </a:p>
          <a:p>
            <a:pPr algn="l"/>
            <a:endParaRPr kumimoji="1"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弱識別器に</a:t>
            </a:r>
            <a:r>
              <a:rPr kumimoji="1" lang="en-US" altLang="ja-JP" dirty="0" smtClean="0">
                <a:solidFill>
                  <a:srgbClr val="FF0000"/>
                </a:solidFill>
              </a:rPr>
              <a:t>Extreme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Learning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Machine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(ELM)</a:t>
            </a:r>
            <a:r>
              <a:rPr kumimoji="1" lang="ja-JP" altLang="en-US" dirty="0" err="1" smtClean="0"/>
              <a:t>，</a:t>
            </a:r>
            <a:r>
              <a:rPr kumimoji="1" lang="ja-JP" altLang="en-US" dirty="0" smtClean="0"/>
              <a:t>集約手法に</a:t>
            </a:r>
            <a:r>
              <a:rPr kumimoji="1" lang="en-US" altLang="ja-JP" dirty="0" smtClean="0">
                <a:solidFill>
                  <a:srgbClr val="FF0000"/>
                </a:solidFill>
              </a:rPr>
              <a:t>Random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Forest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(RF)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使用した</a:t>
            </a:r>
            <a:r>
              <a:rPr kumimoji="1" lang="ja-JP" altLang="en-US" dirty="0" smtClean="0">
                <a:solidFill>
                  <a:srgbClr val="FF0000"/>
                </a:solidFill>
              </a:rPr>
              <a:t>アンサンブル識別器</a:t>
            </a:r>
            <a:r>
              <a:rPr kumimoji="1" lang="ja-JP" altLang="en-US" dirty="0" smtClean="0"/>
              <a:t>を作成する．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>
                <a:solidFill>
                  <a:srgbClr val="FF0000"/>
                </a:solidFill>
              </a:rPr>
              <a:t>各レジームに対応した識別器を作成</a:t>
            </a:r>
            <a:r>
              <a:rPr kumimoji="1" lang="ja-JP" altLang="en-US" dirty="0" smtClean="0"/>
              <a:t>して，各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識別器を集約し，予測値を出力する．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下矢印 4"/>
          <p:cNvSpPr/>
          <p:nvPr/>
        </p:nvSpPr>
        <p:spPr>
          <a:xfrm>
            <a:off x="4234375" y="3391931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36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 smtClean="0"/>
              <a:t>Extreme Learning Machine (ELM)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ELM</a:t>
            </a:r>
            <a:r>
              <a:rPr kumimoji="1" lang="ja-JP" altLang="en-US" dirty="0" smtClean="0"/>
              <a:t>とは･･･</a:t>
            </a:r>
            <a:endParaRPr kumimoji="1" lang="en-US" altLang="ja-JP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隠れ層が</a:t>
            </a:r>
            <a:r>
              <a:rPr lang="en-US" altLang="ja-JP" sz="2800" dirty="0" smtClean="0"/>
              <a:t>1</a:t>
            </a:r>
            <a:r>
              <a:rPr lang="ja-JP" altLang="en-US" sz="2800" dirty="0"/>
              <a:t>層</a:t>
            </a:r>
            <a:r>
              <a:rPr lang="ja-JP" altLang="en-US" sz="2800" dirty="0" smtClean="0"/>
              <a:t>のニューラルネットワーク</a:t>
            </a:r>
            <a:endParaRPr lang="en-US" altLang="ja-JP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kumimoji="1" lang="ja-JP" altLang="en-US" sz="2800" dirty="0" smtClean="0"/>
              <a:t>入力層→中間層への重みはランダムな値で固定</a:t>
            </a:r>
            <a:endParaRPr kumimoji="1" lang="en-US" altLang="ja-JP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中間層→出力層への重みを最適化</a:t>
            </a:r>
            <a:endParaRPr lang="en-US" altLang="ja-JP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kumimoji="1" lang="ja-JP" altLang="en-US" sz="2800" dirty="0" smtClean="0"/>
              <a:t>行列演算のみで最適化できるため高速</a:t>
            </a:r>
            <a:endParaRPr kumimoji="1" lang="en-US" altLang="ja-JP" sz="2800" dirty="0" smtClean="0"/>
          </a:p>
          <a:p>
            <a:pPr algn="l"/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825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 smtClean="0"/>
              <a:t>Extreme Learning Machine (ELM)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ELM</a:t>
            </a:r>
            <a:r>
              <a:rPr kumimoji="1" lang="ja-JP" altLang="en-US" dirty="0" smtClean="0"/>
              <a:t>とは･･･</a:t>
            </a:r>
            <a:endParaRPr kumimoji="1" lang="en-US" altLang="ja-JP" dirty="0" smtClean="0"/>
          </a:p>
          <a:p>
            <a:pPr algn="l"/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cxnSp>
        <p:nvCxnSpPr>
          <p:cNvPr id="26" name="直線コネクタ 25"/>
          <p:cNvCxnSpPr>
            <a:stCxn id="5" idx="6"/>
            <a:endCxn id="14" idx="2"/>
          </p:cNvCxnSpPr>
          <p:nvPr/>
        </p:nvCxnSpPr>
        <p:spPr>
          <a:xfrm flipV="1">
            <a:off x="2236762" y="2927549"/>
            <a:ext cx="1955870" cy="379094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>
            <a:stCxn id="5" idx="6"/>
            <a:endCxn id="15" idx="2"/>
          </p:cNvCxnSpPr>
          <p:nvPr/>
        </p:nvCxnSpPr>
        <p:spPr>
          <a:xfrm>
            <a:off x="2236762" y="3306643"/>
            <a:ext cx="1955870" cy="754235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>
            <a:stCxn id="5" idx="6"/>
            <a:endCxn id="16" idx="2"/>
          </p:cNvCxnSpPr>
          <p:nvPr/>
        </p:nvCxnSpPr>
        <p:spPr>
          <a:xfrm>
            <a:off x="2236762" y="3306643"/>
            <a:ext cx="1955870" cy="2429461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>
            <a:stCxn id="6" idx="6"/>
            <a:endCxn id="14" idx="2"/>
          </p:cNvCxnSpPr>
          <p:nvPr/>
        </p:nvCxnSpPr>
        <p:spPr>
          <a:xfrm flipV="1">
            <a:off x="2236762" y="2927549"/>
            <a:ext cx="1955870" cy="113406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>
            <a:stCxn id="6" idx="6"/>
            <a:endCxn id="15" idx="2"/>
          </p:cNvCxnSpPr>
          <p:nvPr/>
        </p:nvCxnSpPr>
        <p:spPr>
          <a:xfrm flipV="1">
            <a:off x="2236762" y="4060878"/>
            <a:ext cx="1955870" cy="731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>
            <a:stCxn id="6" idx="6"/>
            <a:endCxn id="16" idx="2"/>
          </p:cNvCxnSpPr>
          <p:nvPr/>
        </p:nvCxnSpPr>
        <p:spPr>
          <a:xfrm>
            <a:off x="2236762" y="4061609"/>
            <a:ext cx="1955870" cy="1674495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>
            <a:stCxn id="7" idx="6"/>
            <a:endCxn id="14" idx="2"/>
          </p:cNvCxnSpPr>
          <p:nvPr/>
        </p:nvCxnSpPr>
        <p:spPr>
          <a:xfrm flipV="1">
            <a:off x="2236762" y="2927549"/>
            <a:ext cx="1955870" cy="242946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7" idx="6"/>
            <a:endCxn id="15" idx="2"/>
          </p:cNvCxnSpPr>
          <p:nvPr/>
        </p:nvCxnSpPr>
        <p:spPr>
          <a:xfrm flipV="1">
            <a:off x="2236762" y="4060878"/>
            <a:ext cx="1955870" cy="1296131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>
            <a:stCxn id="7" idx="6"/>
            <a:endCxn id="16" idx="2"/>
          </p:cNvCxnSpPr>
          <p:nvPr/>
        </p:nvCxnSpPr>
        <p:spPr>
          <a:xfrm>
            <a:off x="2236762" y="5357009"/>
            <a:ext cx="1955870" cy="379095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14" idx="6"/>
            <a:endCxn id="18" idx="2"/>
          </p:cNvCxnSpPr>
          <p:nvPr/>
        </p:nvCxnSpPr>
        <p:spPr>
          <a:xfrm>
            <a:off x="4642798" y="2927549"/>
            <a:ext cx="2106219" cy="75657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>
            <a:stCxn id="14" idx="6"/>
            <a:endCxn id="19" idx="2"/>
          </p:cNvCxnSpPr>
          <p:nvPr/>
        </p:nvCxnSpPr>
        <p:spPr>
          <a:xfrm>
            <a:off x="4642798" y="2927549"/>
            <a:ext cx="2106219" cy="205197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/>
          <p:cNvCxnSpPr>
            <a:stCxn id="15" idx="6"/>
            <a:endCxn id="18" idx="2"/>
          </p:cNvCxnSpPr>
          <p:nvPr/>
        </p:nvCxnSpPr>
        <p:spPr>
          <a:xfrm flipV="1">
            <a:off x="4642798" y="3684126"/>
            <a:ext cx="2106219" cy="376752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/>
          <p:cNvCxnSpPr>
            <a:stCxn id="15" idx="6"/>
            <a:endCxn id="19" idx="2"/>
          </p:cNvCxnSpPr>
          <p:nvPr/>
        </p:nvCxnSpPr>
        <p:spPr>
          <a:xfrm>
            <a:off x="4642798" y="4060878"/>
            <a:ext cx="2106219" cy="918648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>
            <a:stCxn id="16" idx="6"/>
            <a:endCxn id="18" idx="2"/>
          </p:cNvCxnSpPr>
          <p:nvPr/>
        </p:nvCxnSpPr>
        <p:spPr>
          <a:xfrm flipV="1">
            <a:off x="4642798" y="3684126"/>
            <a:ext cx="2106219" cy="2051978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>
            <a:stCxn id="16" idx="6"/>
            <a:endCxn id="19" idx="2"/>
          </p:cNvCxnSpPr>
          <p:nvPr/>
        </p:nvCxnSpPr>
        <p:spPr>
          <a:xfrm flipV="1">
            <a:off x="4642798" y="4979526"/>
            <a:ext cx="2106219" cy="756578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グループ化 58"/>
          <p:cNvGrpSpPr/>
          <p:nvPr/>
        </p:nvGrpSpPr>
        <p:grpSpPr>
          <a:xfrm>
            <a:off x="1392700" y="2243654"/>
            <a:ext cx="1237957" cy="3338438"/>
            <a:chOff x="1392700" y="2243654"/>
            <a:chExt cx="1237957" cy="3338438"/>
          </a:xfrm>
        </p:grpSpPr>
        <p:sp>
          <p:nvSpPr>
            <p:cNvPr id="5" name="円/楕円 4"/>
            <p:cNvSpPr/>
            <p:nvPr/>
          </p:nvSpPr>
          <p:spPr>
            <a:xfrm>
              <a:off x="1786596" y="3081560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/楕円 5"/>
            <p:cNvSpPr/>
            <p:nvPr/>
          </p:nvSpPr>
          <p:spPr>
            <a:xfrm>
              <a:off x="1786596" y="3836526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/楕円 6"/>
            <p:cNvSpPr/>
            <p:nvPr/>
          </p:nvSpPr>
          <p:spPr>
            <a:xfrm>
              <a:off x="1786596" y="5131926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1703903" y="4329481"/>
              <a:ext cx="615553" cy="759655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・・・</a:t>
              </a:r>
            </a:p>
          </p:txBody>
        </p:sp>
        <p:sp>
          <p:nvSpPr>
            <p:cNvPr id="56" name="テキスト ボックス 55"/>
            <p:cNvSpPr txBox="1"/>
            <p:nvPr/>
          </p:nvSpPr>
          <p:spPr>
            <a:xfrm>
              <a:off x="1392700" y="2243654"/>
              <a:ext cx="12379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Inputs</a:t>
              </a:r>
              <a:endParaRPr kumimoji="1" lang="ja-JP" altLang="en-US" sz="2800" dirty="0" smtClean="0"/>
            </a:p>
          </p:txBody>
        </p:sp>
      </p:grpSp>
      <p:grpSp>
        <p:nvGrpSpPr>
          <p:cNvPr id="60" name="グループ化 59"/>
          <p:cNvGrpSpPr/>
          <p:nvPr/>
        </p:nvGrpSpPr>
        <p:grpSpPr>
          <a:xfrm>
            <a:off x="3648388" y="2053040"/>
            <a:ext cx="1538654" cy="3908147"/>
            <a:chOff x="2964472" y="2053040"/>
            <a:chExt cx="1538654" cy="3908147"/>
          </a:xfrm>
        </p:grpSpPr>
        <p:sp>
          <p:nvSpPr>
            <p:cNvPr id="14" name="円/楕円 13"/>
            <p:cNvSpPr/>
            <p:nvPr/>
          </p:nvSpPr>
          <p:spPr>
            <a:xfrm>
              <a:off x="3508716" y="2702466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円/楕円 14"/>
            <p:cNvSpPr/>
            <p:nvPr/>
          </p:nvSpPr>
          <p:spPr>
            <a:xfrm>
              <a:off x="3508716" y="3835795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円/楕円 15"/>
            <p:cNvSpPr/>
            <p:nvPr/>
          </p:nvSpPr>
          <p:spPr>
            <a:xfrm>
              <a:off x="3508716" y="5511021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3426023" y="4594862"/>
              <a:ext cx="615553" cy="759655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・・・</a:t>
              </a:r>
            </a:p>
          </p:txBody>
        </p:sp>
        <p:sp>
          <p:nvSpPr>
            <p:cNvPr id="57" name="テキスト ボックス 56"/>
            <p:cNvSpPr txBox="1"/>
            <p:nvPr/>
          </p:nvSpPr>
          <p:spPr>
            <a:xfrm>
              <a:off x="2964472" y="2053040"/>
              <a:ext cx="1538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Hidden</a:t>
              </a:r>
              <a:endParaRPr kumimoji="1" lang="ja-JP" altLang="en-US" sz="2800" dirty="0" smtClean="0"/>
            </a:p>
          </p:txBody>
        </p:sp>
      </p:grpSp>
      <p:grpSp>
        <p:nvGrpSpPr>
          <p:cNvPr id="61" name="グループ化 60"/>
          <p:cNvGrpSpPr/>
          <p:nvPr/>
        </p:nvGrpSpPr>
        <p:grpSpPr>
          <a:xfrm>
            <a:off x="6204773" y="2689344"/>
            <a:ext cx="1538654" cy="2515265"/>
            <a:chOff x="4686593" y="2689344"/>
            <a:chExt cx="1538654" cy="2515265"/>
          </a:xfrm>
        </p:grpSpPr>
        <p:sp>
          <p:nvSpPr>
            <p:cNvPr id="18" name="円/楕円 17"/>
            <p:cNvSpPr/>
            <p:nvPr/>
          </p:nvSpPr>
          <p:spPr>
            <a:xfrm>
              <a:off x="5230837" y="3459043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/楕円 18"/>
            <p:cNvSpPr/>
            <p:nvPr/>
          </p:nvSpPr>
          <p:spPr>
            <a:xfrm>
              <a:off x="5230837" y="4754443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5148143" y="3951998"/>
              <a:ext cx="615553" cy="759655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・・・</a:t>
              </a:r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4686593" y="2689344"/>
              <a:ext cx="1538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Outputs</a:t>
              </a:r>
              <a:endParaRPr kumimoji="1" lang="ja-JP" altLang="en-US" sz="2800" dirty="0" smtClean="0"/>
            </a:p>
          </p:txBody>
        </p:sp>
      </p:grpSp>
      <p:sp>
        <p:nvSpPr>
          <p:cNvPr id="8" name="テキスト ボックス 7"/>
          <p:cNvSpPr txBox="1"/>
          <p:nvPr/>
        </p:nvSpPr>
        <p:spPr>
          <a:xfrm>
            <a:off x="2657060" y="3768490"/>
            <a:ext cx="1041009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>
                <a:solidFill>
                  <a:schemeClr val="accent2"/>
                </a:solidFill>
              </a:rPr>
              <a:t>固定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975019" y="3762439"/>
            <a:ext cx="1491175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>
                <a:solidFill>
                  <a:schemeClr val="accent1"/>
                </a:solidFill>
              </a:rPr>
              <a:t>最適化</a:t>
            </a:r>
            <a:endParaRPr kumimoji="1" lang="ja-JP" altLang="en-US" sz="3200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93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弱識別器として，</a:t>
            </a:r>
            <a:r>
              <a:rPr kumimoji="1" lang="en-US" altLang="ja-JP" dirty="0" smtClean="0"/>
              <a:t>M</a:t>
            </a:r>
            <a:r>
              <a:rPr lang="ja-JP" altLang="en-US" dirty="0" smtClean="0"/>
              <a:t>個の異なるブートストラップ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サンプルで学習した</a:t>
            </a:r>
            <a:r>
              <a:rPr lang="en-US" altLang="ja-JP" dirty="0"/>
              <a:t>ELM</a:t>
            </a:r>
            <a:r>
              <a:rPr lang="ja-JP" altLang="en-US" dirty="0"/>
              <a:t>のモデル</a:t>
            </a:r>
            <a:r>
              <a:rPr lang="ja-JP" altLang="en-US" dirty="0" smtClean="0"/>
              <a:t>を使用する．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RF-based ELM ensemble</a:t>
            </a:r>
            <a:endParaRPr kumimoji="1" lang="ja-JP" altLang="en-US" dirty="0"/>
          </a:p>
        </p:txBody>
      </p:sp>
      <p:grpSp>
        <p:nvGrpSpPr>
          <p:cNvPr id="26" name="グループ化 25"/>
          <p:cNvGrpSpPr/>
          <p:nvPr/>
        </p:nvGrpSpPr>
        <p:grpSpPr>
          <a:xfrm>
            <a:off x="774898" y="2713014"/>
            <a:ext cx="6654006" cy="2553935"/>
            <a:chOff x="774898" y="2713014"/>
            <a:chExt cx="6654006" cy="2553935"/>
          </a:xfrm>
        </p:grpSpPr>
        <p:sp>
          <p:nvSpPr>
            <p:cNvPr id="9" name="テキスト ボックス 8"/>
            <p:cNvSpPr txBox="1"/>
            <p:nvPr/>
          </p:nvSpPr>
          <p:spPr>
            <a:xfrm>
              <a:off x="3374193" y="2713014"/>
              <a:ext cx="1378634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>
                  <a:latin typeface="+mj-lt"/>
                  <a:cs typeface="Times New Roman" panose="02020603050405020304" pitchFamily="18" charset="0"/>
                </a:rPr>
                <a:t>dataset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線矢印コネクタ 9"/>
            <p:cNvCxnSpPr>
              <a:stCxn id="9" idx="2"/>
              <a:endCxn id="22" idx="0"/>
            </p:cNvCxnSpPr>
            <p:nvPr/>
          </p:nvCxnSpPr>
          <p:spPr>
            <a:xfrm>
              <a:off x="4063510" y="3174679"/>
              <a:ext cx="0" cy="126127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フリーフォーム 10"/>
            <p:cNvSpPr/>
            <p:nvPr/>
          </p:nvSpPr>
          <p:spPr>
            <a:xfrm flipV="1">
              <a:off x="1378342" y="3770141"/>
              <a:ext cx="1447212" cy="679781"/>
            </a:xfrm>
            <a:custGeom>
              <a:avLst/>
              <a:gdLst>
                <a:gd name="connsiteX0" fmla="*/ 0 w 773723"/>
                <a:gd name="connsiteY0" fmla="*/ 0 h 703384"/>
                <a:gd name="connsiteX1" fmla="*/ 0 w 773723"/>
                <a:gd name="connsiteY1" fmla="*/ 0 h 703384"/>
                <a:gd name="connsiteX2" fmla="*/ 0 w 773723"/>
                <a:gd name="connsiteY2" fmla="*/ 703384 h 703384"/>
                <a:gd name="connsiteX3" fmla="*/ 773723 w 773723"/>
                <a:gd name="connsiteY3" fmla="*/ 703384 h 703384"/>
                <a:gd name="connsiteX4" fmla="*/ 773723 w 773723"/>
                <a:gd name="connsiteY4" fmla="*/ 703384 h 70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723" h="703384">
                  <a:moveTo>
                    <a:pt x="0" y="0"/>
                  </a:moveTo>
                  <a:lnTo>
                    <a:pt x="0" y="0"/>
                  </a:lnTo>
                  <a:lnTo>
                    <a:pt x="0" y="703384"/>
                  </a:lnTo>
                  <a:lnTo>
                    <a:pt x="773723" y="703384"/>
                  </a:lnTo>
                  <a:lnTo>
                    <a:pt x="773723" y="703384"/>
                  </a:lnTo>
                </a:path>
              </a:pathLst>
            </a:custGeom>
            <a:noFill/>
            <a:ln w="63500">
              <a:solidFill>
                <a:schemeClr val="tx1"/>
              </a:solidFill>
              <a:head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4716630" y="4641603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774898" y="4435952"/>
              <a:ext cx="1223888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</a:p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6205016" y="4435952"/>
              <a:ext cx="1223888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</a:p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3451566" y="4435952"/>
              <a:ext cx="1223888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</a:p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2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4" name="フリーフォーム 23"/>
            <p:cNvSpPr/>
            <p:nvPr/>
          </p:nvSpPr>
          <p:spPr>
            <a:xfrm flipH="1" flipV="1">
              <a:off x="5328573" y="3770140"/>
              <a:ext cx="1447212" cy="679781"/>
            </a:xfrm>
            <a:custGeom>
              <a:avLst/>
              <a:gdLst>
                <a:gd name="connsiteX0" fmla="*/ 0 w 773723"/>
                <a:gd name="connsiteY0" fmla="*/ 0 h 703384"/>
                <a:gd name="connsiteX1" fmla="*/ 0 w 773723"/>
                <a:gd name="connsiteY1" fmla="*/ 0 h 703384"/>
                <a:gd name="connsiteX2" fmla="*/ 0 w 773723"/>
                <a:gd name="connsiteY2" fmla="*/ 703384 h 703384"/>
                <a:gd name="connsiteX3" fmla="*/ 773723 w 773723"/>
                <a:gd name="connsiteY3" fmla="*/ 703384 h 703384"/>
                <a:gd name="connsiteX4" fmla="*/ 773723 w 773723"/>
                <a:gd name="connsiteY4" fmla="*/ 703384 h 70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723" h="703384">
                  <a:moveTo>
                    <a:pt x="0" y="0"/>
                  </a:moveTo>
                  <a:lnTo>
                    <a:pt x="0" y="0"/>
                  </a:lnTo>
                  <a:lnTo>
                    <a:pt x="0" y="703384"/>
                  </a:lnTo>
                  <a:lnTo>
                    <a:pt x="773723" y="703384"/>
                  </a:lnTo>
                  <a:lnTo>
                    <a:pt x="773723" y="703384"/>
                  </a:lnTo>
                </a:path>
              </a:pathLst>
            </a:custGeom>
            <a:noFill/>
            <a:ln w="63500">
              <a:solidFill>
                <a:schemeClr val="tx1"/>
              </a:solidFill>
              <a:head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2375387" y="3549928"/>
              <a:ext cx="3376246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Bootstrap</a:t>
              </a:r>
              <a:r>
                <a:rPr lang="ja-JP" altLang="en-US" sz="2400" dirty="0"/>
                <a:t> </a:t>
              </a:r>
              <a:r>
                <a:rPr lang="en-US" altLang="ja-JP" sz="2400" dirty="0" smtClean="0"/>
                <a:t>samplin</a:t>
              </a:r>
              <a:r>
                <a:rPr lang="en-US" altLang="ja-JP" sz="2400" dirty="0"/>
                <a:t>g</a:t>
              </a:r>
              <a:endParaRPr kumimoji="1" lang="ja-JP" altLang="en-US" sz="24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4039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弱識別器として，</a:t>
            </a:r>
            <a:r>
              <a:rPr lang="en-US" altLang="ja-JP" dirty="0"/>
              <a:t>M</a:t>
            </a:r>
            <a:r>
              <a:rPr lang="ja-JP" altLang="en-US" dirty="0"/>
              <a:t>個の異なるブートストラップ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サンプルで学習した</a:t>
            </a:r>
            <a:r>
              <a:rPr lang="en-US" altLang="ja-JP" dirty="0"/>
              <a:t>ELM</a:t>
            </a:r>
            <a:r>
              <a:rPr lang="ja-JP" altLang="en-US" dirty="0"/>
              <a:t>のモデルを使用する．</a:t>
            </a:r>
            <a:endParaRPr lang="en-US" altLang="ja-JP" dirty="0"/>
          </a:p>
          <a:p>
            <a:r>
              <a:rPr kumimoji="1" lang="ja-JP" altLang="en-US" dirty="0" smtClean="0"/>
              <a:t>学習した</a:t>
            </a:r>
            <a:r>
              <a:rPr kumimoji="1" lang="en-US" altLang="ja-JP" dirty="0" smtClean="0"/>
              <a:t>M</a:t>
            </a:r>
            <a:r>
              <a:rPr kumimoji="1" lang="ja-JP" altLang="en-US" dirty="0" smtClean="0"/>
              <a:t>個のモデル</a:t>
            </a:r>
            <a:r>
              <a:rPr kumimoji="1" lang="ja-JP" altLang="en-US" dirty="0" smtClean="0"/>
              <a:t>を</a:t>
            </a:r>
            <a:r>
              <a:rPr lang="en-US" altLang="ja-JP" dirty="0" smtClean="0"/>
              <a:t>R</a:t>
            </a:r>
            <a:r>
              <a:rPr lang="en-US" altLang="ja-JP" dirty="0"/>
              <a:t>F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集約する．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RF-based ELM ensemble</a:t>
            </a:r>
            <a:endParaRPr lang="ja-JP" altLang="en-US" dirty="0"/>
          </a:p>
        </p:txBody>
      </p:sp>
      <p:grpSp>
        <p:nvGrpSpPr>
          <p:cNvPr id="25" name="グループ化 24"/>
          <p:cNvGrpSpPr/>
          <p:nvPr/>
        </p:nvGrpSpPr>
        <p:grpSpPr>
          <a:xfrm>
            <a:off x="548640" y="3063028"/>
            <a:ext cx="6872884" cy="3571581"/>
            <a:chOff x="548640" y="3063028"/>
            <a:chExt cx="6872884" cy="3571581"/>
          </a:xfrm>
        </p:grpSpPr>
        <p:sp>
          <p:nvSpPr>
            <p:cNvPr id="9" name="テキスト ボックス 8"/>
            <p:cNvSpPr txBox="1"/>
            <p:nvPr/>
          </p:nvSpPr>
          <p:spPr>
            <a:xfrm>
              <a:off x="3374193" y="3063028"/>
              <a:ext cx="1378634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>
                  <a:latin typeface="+mj-lt"/>
                  <a:cs typeface="Times New Roman" panose="02020603050405020304" pitchFamily="18" charset="0"/>
                </a:rPr>
                <a:t>dataset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線矢印コネクタ 9"/>
            <p:cNvCxnSpPr>
              <a:stCxn id="9" idx="2"/>
              <a:endCxn id="22" idx="0"/>
            </p:cNvCxnSpPr>
            <p:nvPr/>
          </p:nvCxnSpPr>
          <p:spPr>
            <a:xfrm>
              <a:off x="4063510" y="3524693"/>
              <a:ext cx="1" cy="50306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/>
            <p:cNvSpPr txBox="1"/>
            <p:nvPr/>
          </p:nvSpPr>
          <p:spPr>
            <a:xfrm>
              <a:off x="4716630" y="4227826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4" name="テキスト ボックス 13"/>
            <p:cNvSpPr txBox="1"/>
            <p:nvPr/>
          </p:nvSpPr>
          <p:spPr>
            <a:xfrm>
              <a:off x="3418043" y="5355281"/>
              <a:ext cx="1290934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RF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矢印コネクタ 14"/>
            <p:cNvCxnSpPr>
              <a:stCxn id="22" idx="2"/>
              <a:endCxn id="14" idx="0"/>
            </p:cNvCxnSpPr>
            <p:nvPr/>
          </p:nvCxnSpPr>
          <p:spPr>
            <a:xfrm flipH="1">
              <a:off x="4063510" y="4847594"/>
              <a:ext cx="1" cy="507687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グループ化 15"/>
            <p:cNvGrpSpPr/>
            <p:nvPr/>
          </p:nvGrpSpPr>
          <p:grpSpPr>
            <a:xfrm flipV="1">
              <a:off x="1378635" y="4622762"/>
              <a:ext cx="5369750" cy="399102"/>
              <a:chOff x="1378635" y="3335539"/>
              <a:chExt cx="6463222" cy="392399"/>
            </a:xfrm>
          </p:grpSpPr>
          <p:sp>
            <p:nvSpPr>
              <p:cNvPr id="17" name="フリーフォーム 16"/>
              <p:cNvSpPr/>
              <p:nvPr/>
            </p:nvSpPr>
            <p:spPr>
              <a:xfrm>
                <a:off x="1378635" y="3335539"/>
                <a:ext cx="2684876" cy="39239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8" name="フリーフォーム 17"/>
              <p:cNvSpPr/>
              <p:nvPr/>
            </p:nvSpPr>
            <p:spPr>
              <a:xfrm flipH="1">
                <a:off x="3998303" y="3335539"/>
                <a:ext cx="3843554" cy="39239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cxnSp>
          <p:nvCxnSpPr>
            <p:cNvPr id="19" name="直線矢印コネクタ 18"/>
            <p:cNvCxnSpPr>
              <a:stCxn id="14" idx="2"/>
            </p:cNvCxnSpPr>
            <p:nvPr/>
          </p:nvCxnSpPr>
          <p:spPr>
            <a:xfrm>
              <a:off x="4063510" y="5816946"/>
              <a:ext cx="1" cy="81766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/>
            <p:cNvSpPr txBox="1"/>
            <p:nvPr/>
          </p:nvSpPr>
          <p:spPr>
            <a:xfrm>
              <a:off x="548640" y="4022175"/>
              <a:ext cx="1441646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Learned</a:t>
              </a:r>
            </a:p>
            <a:p>
              <a:pPr algn="ctr"/>
              <a:r>
                <a:rPr lang="en-US" altLang="ja-JP" sz="2400" dirty="0" smtClean="0"/>
                <a:t>ELM</a:t>
              </a:r>
              <a:r>
                <a:rPr lang="ja-JP" altLang="en-US" sz="2400" dirty="0" smtClean="0"/>
                <a:t>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6075247" y="4027753"/>
              <a:ext cx="1346277" cy="81984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Learned</a:t>
              </a:r>
            </a:p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3390372" y="4027753"/>
              <a:ext cx="1346277" cy="81984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Learned</a:t>
              </a:r>
              <a:endParaRPr lang="en-US" altLang="ja-JP" sz="2400" dirty="0"/>
            </a:p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2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3374193" y="5915508"/>
              <a:ext cx="1378634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2400" dirty="0" smtClean="0">
                  <a:latin typeface="+mj-lt"/>
                  <a:cs typeface="Times New Roman" panose="02020603050405020304" pitchFamily="18" charset="0"/>
                </a:rPr>
                <a:t>Output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8" name="グループ化 7"/>
            <p:cNvGrpSpPr/>
            <p:nvPr/>
          </p:nvGrpSpPr>
          <p:grpSpPr>
            <a:xfrm>
              <a:off x="1223392" y="3730883"/>
              <a:ext cx="5582225" cy="291292"/>
              <a:chOff x="1223392" y="3730883"/>
              <a:chExt cx="5582225" cy="510886"/>
            </a:xfrm>
          </p:grpSpPr>
          <p:sp>
            <p:nvSpPr>
              <p:cNvPr id="11" name="フリーフォーム 10"/>
              <p:cNvSpPr/>
              <p:nvPr/>
            </p:nvSpPr>
            <p:spPr>
              <a:xfrm flipV="1">
                <a:off x="1223392" y="3730884"/>
                <a:ext cx="2840117" cy="510885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24" name="フリーフォーム 23"/>
              <p:cNvSpPr/>
              <p:nvPr/>
            </p:nvSpPr>
            <p:spPr>
              <a:xfrm flipH="1" flipV="1">
                <a:off x="4002022" y="3730883"/>
                <a:ext cx="2803595" cy="510885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57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弱識別器として，</a:t>
            </a:r>
            <a:r>
              <a:rPr lang="en-US" altLang="ja-JP" dirty="0"/>
              <a:t>M</a:t>
            </a:r>
            <a:r>
              <a:rPr lang="ja-JP" altLang="en-US" dirty="0"/>
              <a:t>個の異なるブートストラップ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サンプルで学習した</a:t>
            </a:r>
            <a:r>
              <a:rPr lang="en-US" altLang="ja-JP" dirty="0"/>
              <a:t>ELM</a:t>
            </a:r>
            <a:r>
              <a:rPr lang="ja-JP" altLang="en-US" dirty="0"/>
              <a:t>のモデルを使用する．</a:t>
            </a:r>
            <a:endParaRPr lang="en-US" altLang="ja-JP" dirty="0"/>
          </a:p>
          <a:p>
            <a:r>
              <a:rPr kumimoji="1" lang="ja-JP" altLang="en-US" dirty="0" smtClean="0"/>
              <a:t>学習した</a:t>
            </a:r>
            <a:r>
              <a:rPr kumimoji="1" lang="en-US" altLang="ja-JP" dirty="0" smtClean="0"/>
              <a:t>M</a:t>
            </a:r>
            <a:r>
              <a:rPr kumimoji="1" lang="ja-JP" altLang="en-US" dirty="0" smtClean="0"/>
              <a:t>個のモデル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>RF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集約する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r>
              <a:rPr kumimoji="1" lang="en-US" altLang="ja-JP" dirty="0" smtClean="0"/>
              <a:t>Overfitting</a:t>
            </a:r>
            <a:r>
              <a:rPr kumimoji="1" lang="ja-JP" altLang="en-US" dirty="0" smtClean="0"/>
              <a:t>の抑制のため，</a:t>
            </a:r>
            <a:r>
              <a:rPr kumimoji="1" lang="en-US" altLang="ja-JP" dirty="0" smtClean="0"/>
              <a:t>L2</a:t>
            </a:r>
            <a:r>
              <a:rPr kumimoji="1" lang="ja-JP" altLang="en-US" dirty="0" smtClean="0"/>
              <a:t>ノルムを使用して</a:t>
            </a:r>
            <a:r>
              <a:rPr kumimoji="1" lang="en-US" altLang="ja-JP" dirty="0" smtClean="0"/>
              <a:t>ELM</a:t>
            </a:r>
            <a:r>
              <a:rPr kumimoji="1" lang="ja-JP" altLang="en-US" dirty="0" smtClean="0"/>
              <a:t>の重みを制限する．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RF-based ELM ensemble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91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今回使用する時系列データは，各時点において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さまざまな</a:t>
            </a:r>
            <a:r>
              <a:rPr kumimoji="1" lang="ja-JP" altLang="en-US" dirty="0" smtClean="0"/>
              <a:t>レジームで観測されている．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Multi-regime Approach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1909152" y="3280058"/>
            <a:ext cx="2455391" cy="492369"/>
            <a:chOff x="1959952" y="3372582"/>
            <a:chExt cx="2455391" cy="492369"/>
          </a:xfrm>
          <a:solidFill>
            <a:schemeClr val="accent1"/>
          </a:solidFill>
        </p:grpSpPr>
        <p:sp>
          <p:nvSpPr>
            <p:cNvPr id="6" name="正方形/長方形 5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テキスト ボックス 11"/>
          <p:cNvSpPr txBox="1"/>
          <p:nvPr/>
        </p:nvSpPr>
        <p:spPr>
          <a:xfrm>
            <a:off x="747730" y="3264632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ja-JP" sz="2800" dirty="0"/>
              <a:t>-</a:t>
            </a:r>
            <a:r>
              <a:rPr kumimoji="1" lang="en-US" altLang="ja-JP" sz="2800" dirty="0" smtClean="0"/>
              <a:t> 2</a:t>
            </a:r>
            <a:endParaRPr kumimoji="1" lang="ja-JP" altLang="en-US" sz="28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92016" y="2533103"/>
            <a:ext cx="615553" cy="75965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・・・</a:t>
            </a:r>
          </a:p>
        </p:txBody>
      </p:sp>
      <p:grpSp>
        <p:nvGrpSpPr>
          <p:cNvPr id="16" name="グループ化 15"/>
          <p:cNvGrpSpPr/>
          <p:nvPr/>
        </p:nvGrpSpPr>
        <p:grpSpPr>
          <a:xfrm>
            <a:off x="1909152" y="3974629"/>
            <a:ext cx="2455391" cy="492369"/>
            <a:chOff x="1959952" y="3372582"/>
            <a:chExt cx="2455391" cy="492369"/>
          </a:xfrm>
          <a:solidFill>
            <a:schemeClr val="accent2"/>
          </a:solidFill>
        </p:grpSpPr>
        <p:sp>
          <p:nvSpPr>
            <p:cNvPr id="18" name="正方形/長方形 17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テキスト ボックス 16"/>
          <p:cNvSpPr txBox="1"/>
          <p:nvPr/>
        </p:nvSpPr>
        <p:spPr>
          <a:xfrm>
            <a:off x="747730" y="3959203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kumimoji="1" lang="en-US" altLang="ja-JP" sz="2800" dirty="0" smtClean="0"/>
              <a:t>- 1</a:t>
            </a:r>
            <a:endParaRPr kumimoji="1" lang="ja-JP" altLang="en-US" sz="2800" dirty="0" smtClean="0"/>
          </a:p>
        </p:txBody>
      </p:sp>
      <p:grpSp>
        <p:nvGrpSpPr>
          <p:cNvPr id="24" name="グループ化 23"/>
          <p:cNvGrpSpPr/>
          <p:nvPr/>
        </p:nvGrpSpPr>
        <p:grpSpPr>
          <a:xfrm>
            <a:off x="1909152" y="4669200"/>
            <a:ext cx="2455391" cy="492369"/>
            <a:chOff x="1959952" y="3372582"/>
            <a:chExt cx="2455391" cy="492369"/>
          </a:xfrm>
          <a:solidFill>
            <a:schemeClr val="accent5"/>
          </a:solidFill>
        </p:grpSpPr>
        <p:sp>
          <p:nvSpPr>
            <p:cNvPr id="26" name="正方形/長方形 25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747730" y="4653774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endParaRPr kumimoji="1" lang="ja-JP" altLang="en-US" sz="2800" dirty="0" smtClean="0"/>
          </a:p>
        </p:txBody>
      </p:sp>
      <p:grpSp>
        <p:nvGrpSpPr>
          <p:cNvPr id="32" name="グループ化 31"/>
          <p:cNvGrpSpPr/>
          <p:nvPr/>
        </p:nvGrpSpPr>
        <p:grpSpPr>
          <a:xfrm>
            <a:off x="1909152" y="5363771"/>
            <a:ext cx="2455391" cy="492369"/>
            <a:chOff x="1959952" y="3372582"/>
            <a:chExt cx="2455391" cy="492369"/>
          </a:xfrm>
          <a:solidFill>
            <a:schemeClr val="accent3"/>
          </a:solidFill>
        </p:grpSpPr>
        <p:sp>
          <p:nvSpPr>
            <p:cNvPr id="34" name="正方形/長方形 33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3" name="テキスト ボックス 32"/>
          <p:cNvSpPr txBox="1"/>
          <p:nvPr/>
        </p:nvSpPr>
        <p:spPr>
          <a:xfrm>
            <a:off x="747730" y="5348345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ja-JP" sz="2800" dirty="0"/>
              <a:t>+</a:t>
            </a:r>
            <a:r>
              <a:rPr kumimoji="1" lang="en-US" altLang="ja-JP" sz="2800" dirty="0" smtClean="0"/>
              <a:t> 1</a:t>
            </a:r>
            <a:endParaRPr kumimoji="1" lang="ja-JP" altLang="en-US" sz="2800" dirty="0" smtClean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992016" y="5814346"/>
            <a:ext cx="615553" cy="75965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・・・</a:t>
            </a: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4712646" y="3264632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 smtClean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endParaRPr kumimoji="1" lang="ja-JP" altLang="en-US" sz="2800" dirty="0" smtClean="0">
              <a:solidFill>
                <a:schemeClr val="accent1"/>
              </a:solidFill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4712646" y="3959203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>
                <a:solidFill>
                  <a:schemeClr val="accent2"/>
                </a:solidFill>
                <a:cs typeface="Times New Roman" panose="02020603050405020304" pitchFamily="18" charset="0"/>
              </a:rPr>
              <a:t>3</a:t>
            </a:r>
            <a:endParaRPr kumimoji="1" lang="ja-JP" altLang="en-US" sz="2800" dirty="0" smtClean="0">
              <a:solidFill>
                <a:schemeClr val="accent2"/>
              </a:solidFill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4712646" y="4653774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>
                <a:solidFill>
                  <a:schemeClr val="accent5"/>
                </a:solidFill>
                <a:cs typeface="Times New Roman" panose="02020603050405020304" pitchFamily="18" charset="0"/>
              </a:rPr>
              <a:t>2</a:t>
            </a:r>
            <a:endParaRPr kumimoji="1" lang="ja-JP" altLang="en-US" sz="2800" dirty="0" smtClean="0">
              <a:solidFill>
                <a:schemeClr val="accent5"/>
              </a:solidFill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4712646" y="5348345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 smtClean="0">
                <a:solidFill>
                  <a:schemeClr val="accent3"/>
                </a:solidFill>
                <a:cs typeface="Times New Roman" panose="02020603050405020304" pitchFamily="18" charset="0"/>
              </a:rPr>
              <a:t>4</a:t>
            </a:r>
            <a:endParaRPr kumimoji="1" lang="ja-JP" altLang="en-US" sz="2800" dirty="0" smtClean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51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25" grpId="0"/>
      <p:bldP spid="33" grpId="0"/>
      <p:bldP spid="40" grpId="0"/>
      <p:bldP spid="41" grpId="0"/>
      <p:bldP spid="42" grpId="0"/>
      <p:bldP spid="43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今回使用する時系列データは，各時点において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さまざまな</a:t>
            </a:r>
            <a:r>
              <a:rPr kumimoji="1" lang="ja-JP" altLang="en-US" dirty="0" smtClean="0"/>
              <a:t>レジームで観測されている．</a:t>
            </a:r>
            <a:endParaRPr kumimoji="1" lang="en-US" altLang="ja-JP" dirty="0" smtClean="0"/>
          </a:p>
          <a:p>
            <a:r>
              <a:rPr lang="ja-JP" altLang="en-US" dirty="0" smtClean="0"/>
              <a:t>提案手法では</a:t>
            </a:r>
            <a:r>
              <a:rPr kumimoji="1" lang="ja-JP" altLang="en-US" dirty="0" smtClean="0"/>
              <a:t>，各レジームに対応する識別器を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作成し</a:t>
            </a:r>
            <a:r>
              <a:rPr lang="ja-JP" altLang="en-US" dirty="0" smtClean="0"/>
              <a:t>，それらを集約して出力を求める</a:t>
            </a:r>
            <a:r>
              <a:rPr kumimoji="1" lang="ja-JP" altLang="en-US" dirty="0" smtClean="0"/>
              <a:t>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Multi-regime Approach</a:t>
            </a:r>
            <a:endParaRPr lang="ja-JP" altLang="en-US" dirty="0"/>
          </a:p>
        </p:txBody>
      </p:sp>
      <p:grpSp>
        <p:nvGrpSpPr>
          <p:cNvPr id="85" name="グループ化 84"/>
          <p:cNvGrpSpPr/>
          <p:nvPr/>
        </p:nvGrpSpPr>
        <p:grpSpPr>
          <a:xfrm>
            <a:off x="350402" y="3928738"/>
            <a:ext cx="3950880" cy="2804372"/>
            <a:chOff x="350402" y="3928738"/>
            <a:chExt cx="3950880" cy="2804372"/>
          </a:xfrm>
        </p:grpSpPr>
        <p:sp>
          <p:nvSpPr>
            <p:cNvPr id="46" name="テキスト ボックス 45"/>
            <p:cNvSpPr txBox="1"/>
            <p:nvPr/>
          </p:nvSpPr>
          <p:spPr>
            <a:xfrm>
              <a:off x="829813" y="3928738"/>
              <a:ext cx="295945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dataset (</a:t>
              </a:r>
              <a:r>
                <a:rPr lang="en-US" altLang="ja-JP" sz="2400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regime</a:t>
              </a:r>
              <a:r>
                <a:rPr lang="ja-JP" altLang="en-US" sz="2400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>
                  <a:solidFill>
                    <a:schemeClr val="accent1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)</a:t>
              </a:r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8" name="テキスト ボックス 47"/>
            <p:cNvSpPr txBox="1"/>
            <p:nvPr/>
          </p:nvSpPr>
          <p:spPr>
            <a:xfrm>
              <a:off x="1684210" y="5093536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51" name="グループ化 50"/>
            <p:cNvGrpSpPr/>
            <p:nvPr/>
          </p:nvGrpSpPr>
          <p:grpSpPr>
            <a:xfrm flipV="1">
              <a:off x="1071225" y="5488465"/>
              <a:ext cx="2556269" cy="255938"/>
              <a:chOff x="1247232" y="3476299"/>
              <a:chExt cx="3076816" cy="251639"/>
            </a:xfrm>
          </p:grpSpPr>
          <p:sp>
            <p:nvSpPr>
              <p:cNvPr id="60" name="フリーフォーム 59"/>
              <p:cNvSpPr/>
              <p:nvPr/>
            </p:nvSpPr>
            <p:spPr>
              <a:xfrm>
                <a:off x="1247232" y="3476299"/>
                <a:ext cx="1934347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61" name="フリーフォーム 60"/>
              <p:cNvSpPr/>
              <p:nvPr/>
            </p:nvSpPr>
            <p:spPr>
              <a:xfrm flipH="1">
                <a:off x="2231920" y="3476299"/>
                <a:ext cx="2092128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cxnSp>
          <p:nvCxnSpPr>
            <p:cNvPr id="52" name="直線矢印コネクタ 51"/>
            <p:cNvCxnSpPr/>
            <p:nvPr/>
          </p:nvCxnSpPr>
          <p:spPr>
            <a:xfrm flipH="1">
              <a:off x="2309540" y="5730367"/>
              <a:ext cx="1" cy="10027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/>
            <p:cNvSpPr txBox="1"/>
            <p:nvPr/>
          </p:nvSpPr>
          <p:spPr>
            <a:xfrm>
              <a:off x="350402" y="5072551"/>
              <a:ext cx="1441646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  <a:r>
                <a:rPr lang="ja-JP" altLang="en-US" sz="2400" dirty="0" smtClean="0"/>
                <a:t>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2955005" y="5072551"/>
              <a:ext cx="1346277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7" name="グループ化 56"/>
            <p:cNvGrpSpPr/>
            <p:nvPr/>
          </p:nvGrpSpPr>
          <p:grpSpPr>
            <a:xfrm>
              <a:off x="1071225" y="4780720"/>
              <a:ext cx="2556269" cy="291293"/>
              <a:chOff x="1269463" y="4053818"/>
              <a:chExt cx="2556269" cy="510888"/>
            </a:xfrm>
          </p:grpSpPr>
          <p:sp>
            <p:nvSpPr>
              <p:cNvPr id="58" name="フリーフォーム 57"/>
              <p:cNvSpPr/>
              <p:nvPr/>
            </p:nvSpPr>
            <p:spPr>
              <a:xfrm flipV="1">
                <a:off x="1269463" y="4053822"/>
                <a:ext cx="1786508" cy="510884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59" name="フリーフォーム 58"/>
              <p:cNvSpPr/>
              <p:nvPr/>
            </p:nvSpPr>
            <p:spPr>
              <a:xfrm flipH="1" flipV="1">
                <a:off x="2784792" y="4053818"/>
                <a:ext cx="1040940" cy="510882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sp>
          <p:nvSpPr>
            <p:cNvPr id="49" name="テキスト ボックス 48"/>
            <p:cNvSpPr txBox="1"/>
            <p:nvPr/>
          </p:nvSpPr>
          <p:spPr>
            <a:xfrm>
              <a:off x="1664071" y="5893052"/>
              <a:ext cx="1290934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RF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62" name="直線矢印コネクタ 61"/>
            <p:cNvCxnSpPr>
              <a:stCxn id="46" idx="2"/>
            </p:cNvCxnSpPr>
            <p:nvPr/>
          </p:nvCxnSpPr>
          <p:spPr>
            <a:xfrm>
              <a:off x="2309538" y="4390403"/>
              <a:ext cx="0" cy="390317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グループ化 85"/>
          <p:cNvGrpSpPr/>
          <p:nvPr/>
        </p:nvGrpSpPr>
        <p:grpSpPr>
          <a:xfrm>
            <a:off x="4565893" y="3928738"/>
            <a:ext cx="3950880" cy="2804372"/>
            <a:chOff x="4565893" y="3928738"/>
            <a:chExt cx="3950880" cy="2804372"/>
          </a:xfrm>
        </p:grpSpPr>
        <p:sp>
          <p:nvSpPr>
            <p:cNvPr id="67" name="テキスト ボックス 66"/>
            <p:cNvSpPr txBox="1"/>
            <p:nvPr/>
          </p:nvSpPr>
          <p:spPr>
            <a:xfrm>
              <a:off x="5045304" y="3928738"/>
              <a:ext cx="295945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dataset (</a:t>
              </a:r>
              <a:r>
                <a:rPr lang="en-US" altLang="ja-JP" sz="2400" i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regime</a:t>
              </a:r>
              <a:r>
                <a:rPr lang="ja-JP" altLang="en-US" sz="2400" i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 smtClean="0">
                  <a:solidFill>
                    <a:schemeClr val="accent5"/>
                  </a:solidFill>
                  <a:cs typeface="Times New Roman" panose="02020603050405020304" pitchFamily="18" charset="0"/>
                </a:rPr>
                <a:t>2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)</a:t>
              </a:r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5899701" y="5093536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69" name="グループ化 68"/>
            <p:cNvGrpSpPr/>
            <p:nvPr/>
          </p:nvGrpSpPr>
          <p:grpSpPr>
            <a:xfrm flipV="1">
              <a:off x="5286716" y="5488465"/>
              <a:ext cx="2556269" cy="255938"/>
              <a:chOff x="1247232" y="3476299"/>
              <a:chExt cx="3076816" cy="251639"/>
            </a:xfrm>
          </p:grpSpPr>
          <p:sp>
            <p:nvSpPr>
              <p:cNvPr id="77" name="フリーフォーム 76"/>
              <p:cNvSpPr/>
              <p:nvPr/>
            </p:nvSpPr>
            <p:spPr>
              <a:xfrm>
                <a:off x="1247232" y="3476299"/>
                <a:ext cx="1934347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78" name="フリーフォーム 77"/>
              <p:cNvSpPr/>
              <p:nvPr/>
            </p:nvSpPr>
            <p:spPr>
              <a:xfrm flipH="1">
                <a:off x="2231920" y="3476299"/>
                <a:ext cx="2092128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cxnSp>
          <p:nvCxnSpPr>
            <p:cNvPr id="70" name="直線矢印コネクタ 69"/>
            <p:cNvCxnSpPr/>
            <p:nvPr/>
          </p:nvCxnSpPr>
          <p:spPr>
            <a:xfrm flipH="1">
              <a:off x="6525031" y="5730367"/>
              <a:ext cx="1" cy="10027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テキスト ボックス 70"/>
            <p:cNvSpPr txBox="1"/>
            <p:nvPr/>
          </p:nvSpPr>
          <p:spPr>
            <a:xfrm>
              <a:off x="4565893" y="5072551"/>
              <a:ext cx="1441646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  <a:r>
                <a:rPr lang="ja-JP" altLang="en-US" sz="2400" dirty="0" smtClean="0"/>
                <a:t>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7170496" y="5072551"/>
              <a:ext cx="1346277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3" name="グループ化 72"/>
            <p:cNvGrpSpPr/>
            <p:nvPr/>
          </p:nvGrpSpPr>
          <p:grpSpPr>
            <a:xfrm>
              <a:off x="5286716" y="4780720"/>
              <a:ext cx="2556269" cy="291293"/>
              <a:chOff x="1269463" y="4053818"/>
              <a:chExt cx="2556269" cy="510888"/>
            </a:xfrm>
          </p:grpSpPr>
          <p:sp>
            <p:nvSpPr>
              <p:cNvPr id="75" name="フリーフォーム 74"/>
              <p:cNvSpPr/>
              <p:nvPr/>
            </p:nvSpPr>
            <p:spPr>
              <a:xfrm flipV="1">
                <a:off x="1269463" y="4053822"/>
                <a:ext cx="1786508" cy="510884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76" name="フリーフォーム 75"/>
              <p:cNvSpPr/>
              <p:nvPr/>
            </p:nvSpPr>
            <p:spPr>
              <a:xfrm flipH="1" flipV="1">
                <a:off x="2784792" y="4053818"/>
                <a:ext cx="1040940" cy="510882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sp>
          <p:nvSpPr>
            <p:cNvPr id="74" name="テキスト ボックス 73"/>
            <p:cNvSpPr txBox="1"/>
            <p:nvPr/>
          </p:nvSpPr>
          <p:spPr>
            <a:xfrm>
              <a:off x="5879562" y="5893052"/>
              <a:ext cx="1290934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RF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81" name="直線矢印コネクタ 80"/>
            <p:cNvCxnSpPr>
              <a:stCxn id="67" idx="2"/>
            </p:cNvCxnSpPr>
            <p:nvPr/>
          </p:nvCxnSpPr>
          <p:spPr>
            <a:xfrm>
              <a:off x="6525029" y="4390403"/>
              <a:ext cx="0" cy="401962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テキスト ボックス 83"/>
          <p:cNvSpPr txBox="1"/>
          <p:nvPr/>
        </p:nvSpPr>
        <p:spPr>
          <a:xfrm>
            <a:off x="7882161" y="3970708"/>
            <a:ext cx="1378634" cy="419695"/>
          </a:xfrm>
          <a:prstGeom prst="rect">
            <a:avLst/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ja-JP" altLang="en-US" sz="2400" dirty="0" smtClean="0">
                <a:latin typeface="+mj-lt"/>
                <a:cs typeface="Times New Roman" panose="02020603050405020304" pitchFamily="18" charset="0"/>
              </a:rPr>
              <a:t>・・</a:t>
            </a:r>
            <a:r>
              <a:rPr lang="ja-JP" altLang="en-US" sz="2400" dirty="0">
                <a:latin typeface="+mj-lt"/>
                <a:cs typeface="Times New Roman" panose="02020603050405020304" pitchFamily="18" charset="0"/>
              </a:rPr>
              <a:t>・</a:t>
            </a:r>
            <a:endParaRPr lang="en-US" altLang="ja-JP" sz="2400" dirty="0" smtClean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各レジームに対する識別器の集約方法</a:t>
            </a:r>
            <a:endParaRPr kumimoji="1" lang="en-US" altLang="ja-JP" dirty="0" smtClean="0"/>
          </a:p>
          <a:p>
            <a:r>
              <a:rPr kumimoji="1" lang="en-US" altLang="ja-JP" dirty="0" smtClean="0"/>
              <a:t>1</a:t>
            </a:r>
            <a:r>
              <a:rPr kumimoji="1" lang="ja-JP" altLang="en-US" dirty="0" err="1" smtClean="0"/>
              <a:t>．</a:t>
            </a:r>
            <a:r>
              <a:rPr kumimoji="1" lang="en-US" altLang="ja-JP" dirty="0" smtClean="0"/>
              <a:t>frequency-based solution</a:t>
            </a:r>
          </a:p>
          <a:p>
            <a:pPr lvl="1"/>
            <a:r>
              <a:rPr kumimoji="1" lang="ja-JP" altLang="en-US" dirty="0" smtClean="0"/>
              <a:t>各レジームに対する識別器の出力を，学習データ内における各レジームの割合で重みづけして出力</a:t>
            </a:r>
            <a:endParaRPr kumimoji="1" lang="en-US" altLang="ja-JP" dirty="0" smtClean="0"/>
          </a:p>
          <a:p>
            <a:pPr lvl="1"/>
            <a:endParaRPr kumimoji="1" lang="en-US" altLang="ja-JP" b="0" i="1" dirty="0" smtClean="0">
              <a:latin typeface="Cambria Math" panose="020405030504060302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Multi-regime Approach</a:t>
            </a:r>
            <a:endParaRPr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5083678" y="3374887"/>
            <a:ext cx="4457700" cy="1947975"/>
            <a:chOff x="5143500" y="3316926"/>
            <a:chExt cx="5034868" cy="1947975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143500" y="3316926"/>
              <a:ext cx="2993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en-US" altLang="ja-JP" sz="2400" dirty="0" smtClean="0"/>
                <a:t>: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dirty="0" smtClean="0"/>
                <a:t>番目の予測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143500" y="3689252"/>
              <a:ext cx="1587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入力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5143500" y="4061578"/>
              <a:ext cx="2159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ja-JP" altLang="en-US" sz="2400" dirty="0"/>
                <a:t>数</a:t>
              </a:r>
              <a:endParaRPr kumimoji="1" lang="ja-JP" altLang="en-US" sz="2400" dirty="0" smtClean="0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5143500" y="4433904"/>
              <a:ext cx="50348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ja-JP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ja-JP" sz="2400" dirty="0" smtClean="0"/>
                <a:t>(</a:t>
              </a:r>
              <a:r>
                <a:rPr lang="ja-JP" altLang="en-US" sz="2400" dirty="0"/>
                <a:t>･</a:t>
              </a:r>
              <a:r>
                <a:rPr lang="en-US" altLang="ja-JP" sz="2400" dirty="0" smtClean="0"/>
                <a:t>)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ja-JP" altLang="en-US" sz="2400" dirty="0" smtClean="0"/>
                <a:t>に</a:t>
              </a:r>
              <a:endParaRPr lang="en-US" altLang="ja-JP" sz="2400" dirty="0" smtClean="0"/>
            </a:p>
            <a:p>
              <a:r>
                <a:rPr lang="en-US" altLang="ja-JP" sz="2400" dirty="0"/>
                <a:t> </a:t>
              </a:r>
              <a:r>
                <a:rPr lang="en-US" altLang="ja-JP" sz="2400" dirty="0" smtClean="0"/>
                <a:t>        </a:t>
              </a:r>
              <a:r>
                <a:rPr lang="ja-JP" altLang="en-US" sz="2400" dirty="0" smtClean="0"/>
                <a:t>対応するモデル</a:t>
              </a:r>
              <a:endParaRPr kumimoji="1" lang="ja-JP" altLang="en-US" sz="2400" dirty="0" smtClean="0"/>
            </a:p>
          </p:txBody>
        </p:sp>
      </p:grpSp>
      <p:grpSp>
        <p:nvGrpSpPr>
          <p:cNvPr id="17" name="グループ化 16"/>
          <p:cNvGrpSpPr/>
          <p:nvPr/>
        </p:nvGrpSpPr>
        <p:grpSpPr>
          <a:xfrm>
            <a:off x="5083678" y="5458953"/>
            <a:ext cx="3501522" cy="1237949"/>
            <a:chOff x="4480080" y="5348754"/>
            <a:chExt cx="3501522" cy="1237949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4480080" y="5755706"/>
              <a:ext cx="35015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ja-JP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2400" dirty="0" smtClean="0"/>
                <a:t>:</a:t>
              </a:r>
              <a:r>
                <a:rPr kumimoji="1" lang="ja-JP" altLang="en-US" sz="2400" dirty="0" smtClean="0"/>
                <a:t>学習データ内における</a:t>
              </a:r>
              <a:endParaRPr kumimoji="1" lang="en-US" altLang="ja-JP" sz="2400" dirty="0" smtClean="0"/>
            </a:p>
            <a:p>
              <a:r>
                <a:rPr kumimoji="1" lang="ja-JP" altLang="en-US" sz="2400" dirty="0" smtClean="0"/>
                <a:t>    レジーム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ja-JP" altLang="en-US" sz="2400" dirty="0" smtClean="0"/>
                <a:t>のデータ数</a:t>
              </a:r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4480080" y="5348754"/>
              <a:ext cx="2908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en-US" altLang="ja-JP" sz="2400" dirty="0" smtClean="0"/>
                <a:t>:</a:t>
              </a:r>
              <a:r>
                <a:rPr kumimoji="1" lang="ja-JP" altLang="en-US" sz="2400" dirty="0" smtClean="0"/>
                <a:t>学習データ数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/>
              <p:cNvSpPr txBox="1"/>
              <p:nvPr/>
            </p:nvSpPr>
            <p:spPr>
              <a:xfrm>
                <a:off x="683128" y="3603511"/>
                <a:ext cx="4400550" cy="2538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ja-JP" sz="28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ja-JP" sz="2800" i="1" dirty="0">
                    <a:latin typeface="Cambria Math" panose="02040503050406030204" pitchFamily="18" charset="0"/>
                  </a:rPr>
                  <a:t/>
                </a:r>
                <a:br>
                  <a:rPr lang="en-US" altLang="ja-JP" sz="28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=1, 2, ⋯,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テキスト ボックス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28" y="3603511"/>
                <a:ext cx="4400550" cy="2538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7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各レジームに対する識別器の集約方法</a:t>
            </a:r>
            <a:endParaRPr kumimoji="1" lang="en-US" altLang="ja-JP" dirty="0" smtClean="0"/>
          </a:p>
          <a:p>
            <a:r>
              <a:rPr lang="en-US" altLang="ja-JP" dirty="0" smtClean="0"/>
              <a:t>2</a:t>
            </a:r>
            <a:r>
              <a:rPr lang="ja-JP" altLang="en-US" dirty="0" err="1" smtClean="0"/>
              <a:t>．</a:t>
            </a:r>
            <a:r>
              <a:rPr lang="en-US" altLang="ja-JP" dirty="0" err="1" smtClean="0"/>
              <a:t>equiprobability</a:t>
            </a:r>
            <a:r>
              <a:rPr lang="en-US" altLang="ja-JP" dirty="0" smtClean="0"/>
              <a:t> </a:t>
            </a:r>
            <a:r>
              <a:rPr lang="en-US" altLang="ja-JP" dirty="0"/>
              <a:t>solution</a:t>
            </a:r>
          </a:p>
          <a:p>
            <a:pPr lvl="1"/>
            <a:r>
              <a:rPr lang="ja-JP" altLang="en-US" dirty="0"/>
              <a:t>各レジームに対する識別器の出力の平均を</a:t>
            </a:r>
            <a:r>
              <a:rPr lang="ja-JP" altLang="en-US" dirty="0" smtClean="0"/>
              <a:t>出力</a:t>
            </a:r>
            <a:endParaRPr lang="en-US" altLang="ja-JP" dirty="0" smtClean="0"/>
          </a:p>
          <a:p>
            <a:pPr lvl="1"/>
            <a:endParaRPr kumimoji="1" lang="en-US" altLang="ja-JP" b="0" i="1" dirty="0" smtClean="0">
              <a:latin typeface="Cambria Math" panose="020405030504060302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Multi-regime Approach</a:t>
            </a:r>
            <a:endParaRPr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5083678" y="3374887"/>
            <a:ext cx="4457700" cy="1947975"/>
            <a:chOff x="5143500" y="3316926"/>
            <a:chExt cx="5034868" cy="1947975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143500" y="3316926"/>
              <a:ext cx="31229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ja-JP" sz="2400" dirty="0"/>
                <a:t>: </a:t>
              </a:r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dirty="0"/>
                <a:t>番目の</a:t>
              </a:r>
              <a:r>
                <a:rPr lang="ja-JP" altLang="en-US" sz="2400" dirty="0" smtClean="0"/>
                <a:t>予測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143500" y="3689252"/>
              <a:ext cx="1587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入力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5143500" y="4061578"/>
              <a:ext cx="2159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ja-JP" altLang="en-US" sz="2400" dirty="0"/>
                <a:t>数</a:t>
              </a:r>
              <a:endParaRPr kumimoji="1" lang="ja-JP" altLang="en-US" sz="2400" dirty="0" smtClean="0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5143500" y="4433904"/>
              <a:ext cx="50348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ja-JP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ja-JP" sz="2400" dirty="0" smtClean="0"/>
                <a:t>(</a:t>
              </a:r>
              <a:r>
                <a:rPr lang="ja-JP" altLang="en-US" sz="2400" dirty="0"/>
                <a:t>･</a:t>
              </a:r>
              <a:r>
                <a:rPr lang="en-US" altLang="ja-JP" sz="2400" dirty="0" smtClean="0"/>
                <a:t>)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ja-JP" altLang="en-US" sz="2400" dirty="0" smtClean="0"/>
                <a:t>に</a:t>
              </a:r>
              <a:endParaRPr lang="en-US" altLang="ja-JP" sz="2400" dirty="0" smtClean="0"/>
            </a:p>
            <a:p>
              <a:r>
                <a:rPr lang="en-US" altLang="ja-JP" sz="2400" dirty="0"/>
                <a:t> </a:t>
              </a:r>
              <a:r>
                <a:rPr lang="en-US" altLang="ja-JP" sz="2400" dirty="0" smtClean="0"/>
                <a:t>        </a:t>
              </a:r>
              <a:r>
                <a:rPr lang="ja-JP" altLang="en-US" sz="2400" dirty="0" smtClean="0"/>
                <a:t>対応するモデル</a:t>
              </a:r>
              <a:endParaRPr kumimoji="1" lang="ja-JP" altLang="en-US" sz="2400" dirty="0" smtClean="0"/>
            </a:p>
          </p:txBody>
        </p:sp>
      </p:grpSp>
      <p:sp>
        <p:nvSpPr>
          <p:cNvPr id="11" name="テキスト ボックス 10"/>
          <p:cNvSpPr txBox="1"/>
          <p:nvPr/>
        </p:nvSpPr>
        <p:spPr>
          <a:xfrm>
            <a:off x="5083678" y="5190350"/>
            <a:ext cx="3501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sz="2400" dirty="0" smtClean="0"/>
              <a:t>:</a:t>
            </a:r>
            <a:r>
              <a:rPr kumimoji="1" lang="ja-JP" altLang="en-US" sz="2400" dirty="0" smtClean="0"/>
              <a:t>学習データ内における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    レジーム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ja-JP" altLang="en-US" sz="2400" dirty="0" smtClean="0"/>
              <a:t>のデータ数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/>
              <p:cNvSpPr txBox="1"/>
              <p:nvPr/>
            </p:nvSpPr>
            <p:spPr>
              <a:xfrm>
                <a:off x="683128" y="3603511"/>
                <a:ext cx="4400550" cy="1303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ja-JP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テキスト ボックス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28" y="3603511"/>
                <a:ext cx="4400550" cy="13038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88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以下の</a:t>
            </a:r>
            <a:r>
              <a:rPr lang="en-US" altLang="ja-JP" dirty="0" smtClean="0"/>
              <a:t>4</a:t>
            </a:r>
            <a:r>
              <a:rPr kumimoji="1" lang="ja-JP" altLang="en-US" dirty="0" smtClean="0"/>
              <a:t>種類の時系列データで性能調査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NN3 time series</a:t>
            </a:r>
          </a:p>
          <a:p>
            <a:pPr lvl="1"/>
            <a:r>
              <a:rPr lang="en-US" altLang="ja-JP" dirty="0" smtClean="0"/>
              <a:t>2007</a:t>
            </a:r>
            <a:r>
              <a:rPr lang="ja-JP" altLang="en-US" dirty="0" smtClean="0"/>
              <a:t>年のコンペティションに使われたビジネス系のデータ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FD001</a:t>
            </a:r>
            <a:r>
              <a:rPr kumimoji="1" lang="ja-JP" altLang="en-US" sz="2800" dirty="0" err="1" smtClean="0"/>
              <a:t>，</a:t>
            </a:r>
            <a:r>
              <a:rPr lang="en-US" altLang="ja-JP" sz="2800" dirty="0" smtClean="0"/>
              <a:t>FD002</a:t>
            </a:r>
          </a:p>
          <a:p>
            <a:pPr lvl="1"/>
            <a:r>
              <a:rPr lang="ja-JP" altLang="en-US" dirty="0" smtClean="0"/>
              <a:t>ターボ</a:t>
            </a:r>
            <a:r>
              <a:rPr lang="ja-JP" altLang="en-US" dirty="0"/>
              <a:t>ファン</a:t>
            </a:r>
            <a:r>
              <a:rPr lang="ja-JP" altLang="en-US" dirty="0" smtClean="0"/>
              <a:t>エンジン</a:t>
            </a:r>
            <a:r>
              <a:rPr lang="ja-JP" altLang="en-US" dirty="0"/>
              <a:t>の劣化に関するシミュレーションデータ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EGT time series</a:t>
            </a:r>
          </a:p>
          <a:p>
            <a:pPr lvl="1"/>
            <a:r>
              <a:rPr lang="ja-JP" altLang="en-US" dirty="0"/>
              <a:t>ターボファンエンジンの劣化に</a:t>
            </a:r>
            <a:r>
              <a:rPr lang="ja-JP" altLang="en-US" dirty="0" smtClean="0"/>
              <a:t>関する実測データ</a:t>
            </a:r>
            <a:endParaRPr lang="en-US" altLang="ja-JP" dirty="0"/>
          </a:p>
          <a:p>
            <a:pPr marL="800100" lvl="1" indent="-457200">
              <a:buFont typeface="Arial" panose="020B0604020202020204" pitchFamily="34" charset="0"/>
              <a:buChar char="•"/>
            </a:pPr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006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共通実験設定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回帰問題の時系列データを使用する．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求めたい予測値から前の</a:t>
            </a:r>
            <a:r>
              <a:rPr lang="en-US" altLang="ja-JP" sz="2800" dirty="0" smtClean="0"/>
              <a:t>4</a:t>
            </a:r>
            <a:r>
              <a:rPr lang="ja-JP" altLang="en-US" sz="2800" dirty="0" smtClean="0"/>
              <a:t>つ分のデータを利用し予測を行う．</a:t>
            </a:r>
            <a:endParaRPr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857500" y="35698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98500" y="3594100"/>
            <a:ext cx="170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元データ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92100" y="4511020"/>
            <a:ext cx="2514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学習用</a:t>
            </a:r>
            <a:r>
              <a:rPr kumimoji="1" lang="ja-JP" altLang="en-US" sz="2800" dirty="0" smtClean="0"/>
              <a:t>データ</a:t>
            </a:r>
            <a:endParaRPr kumimoji="1" lang="en-US" altLang="ja-JP" sz="2800" dirty="0" smtClean="0"/>
          </a:p>
          <a:p>
            <a:pPr algn="ctr"/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kumimoji="1" lang="ja-JP" altLang="en-US" sz="2800" dirty="0" smtClean="0"/>
          </a:p>
        </p:txBody>
      </p:sp>
      <p:grpSp>
        <p:nvGrpSpPr>
          <p:cNvPr id="20" name="グループ化 19"/>
          <p:cNvGrpSpPr/>
          <p:nvPr/>
        </p:nvGrpSpPr>
        <p:grpSpPr>
          <a:xfrm>
            <a:off x="2857500" y="4511020"/>
            <a:ext cx="5334000" cy="1221474"/>
            <a:chOff x="2857500" y="4552283"/>
            <a:chExt cx="5334000" cy="1221474"/>
          </a:xfrm>
        </p:grpSpPr>
        <p:sp>
          <p:nvSpPr>
            <p:cNvPr id="14" name="テキスト ボックス 13"/>
            <p:cNvSpPr txBox="1"/>
            <p:nvPr/>
          </p:nvSpPr>
          <p:spPr>
            <a:xfrm>
              <a:off x="2857500" y="4552283"/>
              <a:ext cx="26797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5588000" y="4552283"/>
              <a:ext cx="2603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2857500" y="5250537"/>
              <a:ext cx="2603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5588000" y="5250537"/>
              <a:ext cx="2603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412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共通実験設定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回帰問題の時系列データを使用する．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求めたい予測値から前の</a:t>
            </a:r>
            <a:r>
              <a:rPr lang="en-US" altLang="ja-JP" sz="2800" dirty="0" smtClean="0"/>
              <a:t>4</a:t>
            </a:r>
            <a:r>
              <a:rPr lang="ja-JP" altLang="en-US" sz="2800" dirty="0" smtClean="0"/>
              <a:t>つ分のデータを利用し予測を行う．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average relative error (ARE) 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root mean squared error (RMSE) </a:t>
            </a:r>
            <a:r>
              <a:rPr lang="ja-JP" altLang="en-US" sz="2800" dirty="0" err="1"/>
              <a:t>，</a:t>
            </a:r>
            <a:r>
              <a:rPr lang="ja-JP" altLang="en-US" sz="2800" dirty="0"/>
              <a:t>実行時間</a:t>
            </a:r>
            <a:r>
              <a:rPr lang="ja-JP" altLang="en-US" sz="2800" dirty="0" smtClean="0"/>
              <a:t>でモデルを評価する</a:t>
            </a:r>
            <a:r>
              <a:rPr lang="en-US" altLang="ja-JP" sz="2800" dirty="0" smtClean="0"/>
              <a:t>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1270724" y="4407836"/>
                <a:ext cx="3339376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b="0" i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kumimoji="1" lang="ja-JP" altLang="en-US" sz="2800" dirty="0" smtClean="0"/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724" y="4407836"/>
                <a:ext cx="3339376" cy="121155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グループ化 10"/>
          <p:cNvGrpSpPr/>
          <p:nvPr/>
        </p:nvGrpSpPr>
        <p:grpSpPr>
          <a:xfrm>
            <a:off x="5302751" y="5051063"/>
            <a:ext cx="3790449" cy="833991"/>
            <a:chOff x="5124951" y="4416063"/>
            <a:chExt cx="3790449" cy="833991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124951" y="4416063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kumimoji="1" lang="en-US" altLang="ja-JP" sz="2400" dirty="0" smtClean="0"/>
                <a:t>: 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番目のデータの実測値</a:t>
              </a: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124951" y="4788389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ja-JP" sz="2400" dirty="0" smtClean="0"/>
                <a:t>: </a:t>
              </a:r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400" dirty="0"/>
                <a:t>番目のデータ</a:t>
              </a:r>
              <a:r>
                <a:rPr lang="ja-JP" altLang="en-US" sz="2400" dirty="0" smtClean="0"/>
                <a:t>の予測</a:t>
              </a:r>
              <a:r>
                <a:rPr kumimoji="1" lang="ja-JP" altLang="en-US" sz="2400" dirty="0" smtClean="0"/>
                <a:t>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41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共通実験設定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回帰問題の時系列データを使用する．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求めたい予測値から前の</a:t>
            </a:r>
            <a:r>
              <a:rPr lang="en-US" altLang="ja-JP" sz="2800" dirty="0" smtClean="0"/>
              <a:t>4</a:t>
            </a:r>
            <a:r>
              <a:rPr lang="ja-JP" altLang="en-US" sz="2800" dirty="0" smtClean="0"/>
              <a:t>つ分のデータを利用し予測を行う．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average relative error (ARE) 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root mean squared error (RMSE) </a:t>
            </a:r>
            <a:r>
              <a:rPr lang="ja-JP" altLang="en-US" sz="2800" dirty="0" err="1"/>
              <a:t>，</a:t>
            </a:r>
            <a:r>
              <a:rPr lang="ja-JP" altLang="en-US" sz="2800" dirty="0" smtClean="0"/>
              <a:t>実行時間でモデルを評価する</a:t>
            </a:r>
            <a:r>
              <a:rPr lang="en-US" altLang="ja-JP" sz="2800" dirty="0" smtClean="0"/>
              <a:t>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920436" y="4407836"/>
                <a:ext cx="4039952" cy="16762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800"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kumimoji="1" lang="ja-JP" altLang="en-US" sz="2800" dirty="0" smtClean="0"/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36" y="4407836"/>
                <a:ext cx="4039952" cy="167629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グループ化 14"/>
          <p:cNvGrpSpPr/>
          <p:nvPr/>
        </p:nvGrpSpPr>
        <p:grpSpPr>
          <a:xfrm>
            <a:off x="5302751" y="5051063"/>
            <a:ext cx="3790449" cy="833991"/>
            <a:chOff x="5124951" y="4416063"/>
            <a:chExt cx="3790449" cy="833991"/>
          </a:xfrm>
        </p:grpSpPr>
        <p:sp>
          <p:nvSpPr>
            <p:cNvPr id="16" name="テキスト ボックス 15"/>
            <p:cNvSpPr txBox="1"/>
            <p:nvPr/>
          </p:nvSpPr>
          <p:spPr>
            <a:xfrm>
              <a:off x="5124951" y="4416063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kumimoji="1" lang="en-US" altLang="ja-JP" sz="2400" dirty="0" smtClean="0"/>
                <a:t>: 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番目のデータの実測値</a:t>
              </a: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5124951" y="4788389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ja-JP" sz="2400" dirty="0" smtClean="0"/>
                <a:t>: </a:t>
              </a:r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400" dirty="0"/>
                <a:t>番目のデータ</a:t>
              </a:r>
              <a:r>
                <a:rPr lang="ja-JP" altLang="en-US" sz="2400" dirty="0" smtClean="0"/>
                <a:t>の予測</a:t>
              </a:r>
              <a:r>
                <a:rPr kumimoji="1" lang="ja-JP" altLang="en-US" sz="2400" dirty="0" smtClean="0"/>
                <a:t>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029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 smtClean="0"/>
              <a:t> </a:t>
            </a:r>
            <a:r>
              <a:rPr lang="en-US" altLang="ja-JP" dirty="0" smtClean="0"/>
              <a:t>time series</a:t>
            </a:r>
          </a:p>
          <a:p>
            <a:pPr algn="l"/>
            <a:r>
              <a:rPr lang="en-US" altLang="ja-JP" sz="2800" dirty="0" smtClean="0"/>
              <a:t>111</a:t>
            </a:r>
            <a:r>
              <a:rPr lang="ja-JP" altLang="en-US" sz="2800" dirty="0" smtClean="0"/>
              <a:t>属性，</a:t>
            </a:r>
            <a:r>
              <a:rPr lang="en-US" altLang="ja-JP" sz="2800" dirty="0" smtClean="0"/>
              <a:t>69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en-US" altLang="ja-JP" sz="2800" dirty="0" smtClean="0"/>
              <a:t>1</a:t>
            </a:r>
            <a:r>
              <a:rPr lang="ja-JP" altLang="en-US" sz="2800" dirty="0" err="1"/>
              <a:t>つの</a:t>
            </a:r>
            <a:r>
              <a:rPr lang="ja-JP" altLang="en-US" sz="2800" dirty="0"/>
              <a:t>レジームで構成されている</a:t>
            </a:r>
            <a:r>
              <a:rPr lang="ja-JP" altLang="en-US" sz="2800" dirty="0" smtClean="0"/>
              <a:t>データ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en-US" altLang="ja-JP" sz="2800" dirty="0" smtClean="0"/>
              <a:t>2</a:t>
            </a:r>
            <a:r>
              <a:rPr lang="ja-JP" altLang="en-US" sz="2800" dirty="0" smtClean="0"/>
              <a:t>つ目の属性の値</a:t>
            </a:r>
            <a:r>
              <a:rPr lang="en-US" altLang="ja-JP" sz="2800" dirty="0" smtClean="0"/>
              <a:t>(NN3_002)</a:t>
            </a:r>
            <a:r>
              <a:rPr lang="ja-JP" altLang="en-US" sz="2800" dirty="0" smtClean="0"/>
              <a:t>のみを使用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冒頭</a:t>
            </a:r>
            <a:r>
              <a:rPr lang="en-US" altLang="ja-JP" sz="2800" dirty="0" smtClean="0"/>
              <a:t>40</a:t>
            </a:r>
            <a:r>
              <a:rPr lang="ja-JP" altLang="en-US" sz="2800" dirty="0" smtClean="0"/>
              <a:t>個を学習データ，残り</a:t>
            </a:r>
            <a:r>
              <a:rPr lang="en-US" altLang="ja-JP" sz="2800" dirty="0" smtClean="0"/>
              <a:t>29</a:t>
            </a:r>
            <a:r>
              <a:rPr lang="ja-JP" altLang="en-US" sz="2800" dirty="0" smtClean="0"/>
              <a:t>個をテストデータに使用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＝</a:t>
            </a:r>
            <a:r>
              <a:rPr lang="ja-JP" altLang="en-US" sz="2800" dirty="0"/>
              <a:t>学習</a:t>
            </a:r>
            <a:r>
              <a:rPr lang="ja-JP" altLang="en-US" sz="2800" dirty="0" smtClean="0"/>
              <a:t>データ</a:t>
            </a:r>
            <a:r>
              <a:rPr lang="en-US" altLang="ja-JP" sz="2800" dirty="0" smtClean="0"/>
              <a:t>36</a:t>
            </a:r>
            <a:r>
              <a:rPr lang="ja-JP" altLang="en-US" sz="2800" dirty="0" smtClean="0"/>
              <a:t>個，テストデータ</a:t>
            </a:r>
            <a:r>
              <a:rPr lang="en-US" altLang="ja-JP" sz="2800" dirty="0" smtClean="0"/>
              <a:t>25</a:t>
            </a:r>
            <a:r>
              <a:rPr lang="ja-JP" altLang="en-US" sz="2800" dirty="0" smtClean="0"/>
              <a:t>個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endParaRPr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/>
              <a:t> </a:t>
            </a:r>
            <a:r>
              <a:rPr lang="en-US" altLang="ja-JP" dirty="0" smtClean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287215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一般的なモデルとの比較 </a:t>
            </a:r>
            <a:r>
              <a:rPr lang="en-US" altLang="ja-JP" dirty="0" smtClean="0"/>
              <a:t>(</a:t>
            </a:r>
            <a:r>
              <a:rPr lang="ja-JP" altLang="en-US" dirty="0" smtClean="0"/>
              <a:t>非アンサンブル</a:t>
            </a:r>
            <a:r>
              <a:rPr lang="en-US" altLang="ja-JP" dirty="0" smtClean="0"/>
              <a:t>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3</a:t>
            </a:r>
            <a:r>
              <a:rPr lang="ja-JP" altLang="en-US" sz="2800" dirty="0" smtClean="0"/>
              <a:t>層ニューラルネットワーク </a:t>
            </a:r>
            <a:r>
              <a:rPr lang="en-US" altLang="ja-JP" sz="2800" dirty="0" smtClean="0"/>
              <a:t>(BPNN)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SVM</a:t>
            </a:r>
            <a:r>
              <a:rPr lang="ja-JP" altLang="en-US" sz="2800" dirty="0" smtClean="0"/>
              <a:t>回帰 </a:t>
            </a:r>
            <a:r>
              <a:rPr lang="en-US" altLang="ja-JP" sz="2800" dirty="0" smtClean="0"/>
              <a:t>(SVR)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</a:t>
            </a:r>
          </a:p>
          <a:p>
            <a:pPr algn="l"/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/>
              <a:t> </a:t>
            </a:r>
            <a:r>
              <a:rPr lang="en-US" altLang="ja-JP" dirty="0" smtClean="0"/>
              <a:t>time series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ELM-RF (</a:t>
            </a:r>
            <a:r>
              <a:rPr kumimoji="1" lang="ja-JP" altLang="en-US" sz="2800" dirty="0" smtClean="0"/>
              <a:t>提案手法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</a:t>
            </a:r>
            <a:r>
              <a:rPr kumimoji="1" lang="en-US" altLang="ja-JP" sz="2800" dirty="0" err="1" smtClean="0"/>
              <a:t>Avg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04911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実験パラメータ設定 </a:t>
            </a:r>
            <a:r>
              <a:rPr lang="en-US" altLang="ja-JP" dirty="0" smtClean="0"/>
              <a:t>(</a:t>
            </a:r>
            <a:r>
              <a:rPr lang="ja-JP" altLang="en-US" dirty="0" smtClean="0"/>
              <a:t>後の実験でも共通</a:t>
            </a:r>
            <a:r>
              <a:rPr lang="en-US" altLang="ja-JP" dirty="0" smtClean="0"/>
              <a:t>)</a:t>
            </a:r>
          </a:p>
          <a:p>
            <a:pPr algn="l"/>
            <a:r>
              <a:rPr lang="en-US" altLang="ja-JP" sz="2800" dirty="0" smtClean="0"/>
              <a:t>BPNN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ELM</a:t>
            </a:r>
            <a:r>
              <a:rPr lang="ja-JP" altLang="en-US" sz="2800" dirty="0" smtClean="0"/>
              <a:t>の隠れ層の数：</a:t>
            </a:r>
            <a:r>
              <a:rPr lang="en-US" altLang="ja-JP" sz="2800" dirty="0" smtClean="0"/>
              <a:t>20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BPNN</a:t>
            </a:r>
            <a:r>
              <a:rPr lang="ja-JP" altLang="en-US" sz="2800" dirty="0" smtClean="0"/>
              <a:t>の活性化関数：</a:t>
            </a:r>
            <a:r>
              <a:rPr lang="en-US" altLang="ja-JP" sz="2800" dirty="0" err="1" smtClean="0"/>
              <a:t>tanh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ELM</a:t>
            </a:r>
            <a:r>
              <a:rPr lang="ja-JP" altLang="en-US" sz="2800" dirty="0" smtClean="0"/>
              <a:t>の活性化関数：</a:t>
            </a:r>
            <a:r>
              <a:rPr lang="en-US" altLang="ja-JP" sz="2800" dirty="0" smtClean="0"/>
              <a:t>sigmoid</a:t>
            </a:r>
            <a:br>
              <a:rPr lang="en-US" altLang="ja-JP" sz="2800" dirty="0" smtClean="0"/>
            </a:br>
            <a:r>
              <a:rPr lang="en-US" altLang="ja-JP" sz="2800" dirty="0" smtClean="0"/>
              <a:t>SVR</a:t>
            </a:r>
            <a:r>
              <a:rPr lang="ja-JP" altLang="en-US" sz="2800" dirty="0" smtClean="0"/>
              <a:t>のカーネル関数：</a:t>
            </a:r>
            <a:r>
              <a:rPr lang="en-US" altLang="ja-JP" sz="2800" dirty="0" smtClean="0"/>
              <a:t>RBF</a:t>
            </a:r>
            <a:r>
              <a:rPr lang="ja-JP" altLang="en-US" sz="2800" dirty="0" smtClean="0"/>
              <a:t>カーネル</a:t>
            </a:r>
            <a:endParaRPr lang="en-US" altLang="ja-JP" dirty="0"/>
          </a:p>
          <a:p>
            <a:pPr algn="l"/>
            <a:endParaRPr lang="en-US" altLang="ja-JP" sz="2800" dirty="0"/>
          </a:p>
          <a:p>
            <a:pPr algn="l"/>
            <a:r>
              <a:rPr lang="ja-JP" altLang="en-US" sz="2800" dirty="0"/>
              <a:t>アンサンブル</a:t>
            </a:r>
            <a:r>
              <a:rPr lang="ja-JP" altLang="en-US" sz="2800" dirty="0" smtClean="0"/>
              <a:t>のモデル数：</a:t>
            </a:r>
            <a:r>
              <a:rPr lang="en-US" altLang="ja-JP" sz="2800" dirty="0" smtClean="0"/>
              <a:t>20</a:t>
            </a:r>
            <a:br>
              <a:rPr lang="en-US" altLang="ja-JP" sz="2800" dirty="0" smtClean="0"/>
            </a:br>
            <a:r>
              <a:rPr lang="ja-JP" altLang="en-US" sz="2800" dirty="0" smtClean="0"/>
              <a:t>実験回数：</a:t>
            </a:r>
            <a:r>
              <a:rPr lang="en-US" altLang="ja-JP" sz="2800" dirty="0" smtClean="0"/>
              <a:t>10</a:t>
            </a:r>
            <a:r>
              <a:rPr lang="ja-JP" altLang="en-US" sz="2800" dirty="0" smtClean="0"/>
              <a:t>回</a:t>
            </a: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/>
              <a:t> </a:t>
            </a:r>
            <a:r>
              <a:rPr lang="en-US" altLang="ja-JP" dirty="0" smtClean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68194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717900"/>
              </p:ext>
            </p:extLst>
          </p:nvPr>
        </p:nvGraphicFramePr>
        <p:xfrm>
          <a:off x="192182" y="1767114"/>
          <a:ext cx="875963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0.1045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591.8325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4.8382e+4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3.8337</a:t>
                      </a:r>
                      <a:endParaRPr kumimoji="1" lang="ja-JP" altLang="en-US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0.0586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403.3076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3.5902e-27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0.0135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0.0561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387.1779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7.9992e-6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349.6872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0.0508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360.1643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6.0819e-6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243.0934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3.7709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371.6102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1.4575e-6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13.1364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1.4250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0.0559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355.0662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3.3827e-5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322.0198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111.1591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0.0577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361.7542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1.8153e-5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673.3405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111.9993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0.0767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418.0443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4.2784e-6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58.8873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2.3498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0.0586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403.3076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3.5902e-27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0.5157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NN3 time series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76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NN3 time series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442518"/>
            <a:ext cx="9144000" cy="3972963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ARE and RMSE of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different </a:t>
            </a:r>
            <a:r>
              <a:rPr lang="en-US" altLang="ja-JP" sz="2800" dirty="0"/>
              <a:t>models on </a:t>
            </a:r>
            <a:r>
              <a:rPr lang="en-US" altLang="ja-JP" sz="2800" dirty="0" smtClean="0"/>
              <a:t>NN3 </a:t>
            </a:r>
            <a:r>
              <a:rPr lang="en-US" altLang="ja-JP" sz="2800" dirty="0"/>
              <a:t>time series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86930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FD001</a:t>
            </a:r>
            <a:endParaRPr lang="en-US" altLang="ja-JP" sz="2800" dirty="0"/>
          </a:p>
          <a:p>
            <a:pPr algn="l"/>
            <a:r>
              <a:rPr lang="en-US" altLang="ja-JP" sz="2800" dirty="0" smtClean="0"/>
              <a:t>100</a:t>
            </a:r>
            <a:r>
              <a:rPr lang="ja-JP" altLang="en-US" sz="2800" dirty="0" smtClean="0"/>
              <a:t>個のエンジンにそれぞれついている</a:t>
            </a:r>
            <a:r>
              <a:rPr lang="en-US" altLang="ja-JP" sz="2800" dirty="0" smtClean="0"/>
              <a:t>21</a:t>
            </a:r>
            <a:r>
              <a:rPr lang="ja-JP" altLang="en-US" sz="2800" dirty="0" smtClean="0"/>
              <a:t>個のセンサの</a:t>
            </a:r>
            <a:r>
              <a:rPr lang="en-US" altLang="ja-JP" sz="2800" dirty="0" smtClean="0"/>
              <a:t>192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>?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/>
              <a:t>1</a:t>
            </a:r>
            <a:r>
              <a:rPr lang="ja-JP" altLang="en-US" sz="2800" dirty="0" err="1"/>
              <a:t>つの</a:t>
            </a:r>
            <a:r>
              <a:rPr lang="ja-JP" altLang="en-US" sz="2800" dirty="0"/>
              <a:t>レジームで構成されているデータ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1</a:t>
            </a:r>
            <a:r>
              <a:rPr lang="ja-JP" altLang="en-US" sz="2800" dirty="0" smtClean="0"/>
              <a:t>つ</a:t>
            </a:r>
            <a:r>
              <a:rPr lang="ja-JP" altLang="en-US" sz="2800" dirty="0"/>
              <a:t>目</a:t>
            </a:r>
            <a:r>
              <a:rPr lang="ja-JP" altLang="en-US" sz="2800" dirty="0" smtClean="0"/>
              <a:t>の</a:t>
            </a:r>
            <a:r>
              <a:rPr lang="ja-JP" altLang="en-US" sz="2800" dirty="0"/>
              <a:t>エンジン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つ目のセンサの値のみ</a:t>
            </a:r>
            <a:r>
              <a:rPr lang="ja-JP" altLang="en-US" sz="2800" dirty="0"/>
              <a:t>を使用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/>
              <a:t>冒頭</a:t>
            </a:r>
            <a:r>
              <a:rPr lang="en-US" altLang="ja-JP" sz="2800" dirty="0"/>
              <a:t>40</a:t>
            </a:r>
            <a:r>
              <a:rPr lang="ja-JP" altLang="en-US" sz="2800" dirty="0"/>
              <a:t>個を学習データ，</a:t>
            </a:r>
            <a:r>
              <a:rPr lang="ja-JP" altLang="en-US" sz="2800" dirty="0" smtClean="0"/>
              <a:t>残り</a:t>
            </a:r>
            <a:r>
              <a:rPr lang="en-US" altLang="ja-JP" sz="2800" dirty="0" smtClean="0"/>
              <a:t>15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をテストデータに使用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/>
              <a:t>＝学習データ</a:t>
            </a:r>
            <a:r>
              <a:rPr lang="en-US" altLang="ja-JP" sz="2800" dirty="0"/>
              <a:t>36</a:t>
            </a:r>
            <a:r>
              <a:rPr lang="ja-JP" altLang="en-US" sz="2800" dirty="0"/>
              <a:t>個，</a:t>
            </a:r>
            <a:r>
              <a:rPr lang="ja-JP" altLang="en-US" sz="2800" dirty="0" smtClean="0"/>
              <a:t>テストデータ</a:t>
            </a:r>
            <a:r>
              <a:rPr lang="en-US" altLang="ja-JP" sz="2800" dirty="0" smtClean="0"/>
              <a:t>14</a:t>
            </a:r>
            <a:r>
              <a:rPr lang="en-US" altLang="ja-JP" sz="2800" dirty="0"/>
              <a:t>8</a:t>
            </a:r>
            <a:r>
              <a:rPr lang="ja-JP" altLang="en-US" sz="2800" dirty="0" smtClean="0"/>
              <a:t>個</a:t>
            </a:r>
            <a:endParaRPr kumimoji="1" lang="ja-JP" altLang="en-US" sz="28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FD001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806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一般的なモデルとの比較 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BPNN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</a:t>
            </a:r>
          </a:p>
          <a:p>
            <a:pPr algn="l"/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</a:t>
            </a:r>
            <a:r>
              <a:rPr lang="en-US" altLang="ja-JP" dirty="0"/>
              <a:t>1</a:t>
            </a:r>
            <a:endParaRPr lang="en-US" altLang="ja-JP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ELM-RF </a:t>
            </a:r>
            <a:endParaRPr kumimoji="1" lang="ja-JP" altLang="en-US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</a:t>
            </a:r>
            <a:r>
              <a:rPr kumimoji="1" lang="en-US" altLang="ja-JP" sz="2800" dirty="0" err="1" smtClean="0"/>
              <a:t>Avg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68998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622066"/>
              </p:ext>
            </p:extLst>
          </p:nvPr>
        </p:nvGraphicFramePr>
        <p:xfrm>
          <a:off x="192182" y="1767114"/>
          <a:ext cx="875963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0.0044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8.6021 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5.1072e-7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1.6978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2.6195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7.1735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2.0898e-37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3.5060e-30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0.0234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0.0042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8.6476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7.6424e-8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1.3388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0.0606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0.0034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6.8946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4.2729e-10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0.0026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3.0507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0.0041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8.2967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2.9121e-9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0.0099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1.9844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7.3343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3.7983e-8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0.1795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144.3733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7.2095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2.2122e-8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0.0823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157.4082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7.3648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1.0525e-8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0.0500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2.6809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7.1735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2.0898e-37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3.5060e-30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0.7594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</a:t>
            </a:r>
            <a:r>
              <a:rPr lang="en-US" altLang="ja-JP" dirty="0"/>
              <a:t>001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310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FD001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ARE and RMSE of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different </a:t>
            </a:r>
            <a:r>
              <a:rPr lang="en-US" altLang="ja-JP" sz="2800" dirty="0"/>
              <a:t>models on </a:t>
            </a:r>
            <a:r>
              <a:rPr lang="en-US" altLang="ja-JP" sz="2800" dirty="0" smtClean="0"/>
              <a:t>FD001 </a:t>
            </a:r>
            <a:r>
              <a:rPr lang="en-US" altLang="ja-JP" sz="2800" dirty="0"/>
              <a:t>time series</a:t>
            </a:r>
            <a:endParaRPr kumimoji="1" lang="ja-JP" altLang="en-US" sz="2800" dirty="0" smtClean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407367"/>
            <a:ext cx="9144000" cy="40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  <a:endParaRPr lang="en-US" altLang="ja-JP" sz="2800" dirty="0"/>
          </a:p>
          <a:p>
            <a:pPr algn="l"/>
            <a:r>
              <a:rPr lang="en-US" altLang="ja-JP" sz="2800" dirty="0" smtClean="0"/>
              <a:t>100</a:t>
            </a:r>
            <a:r>
              <a:rPr lang="ja-JP" altLang="en-US" sz="2800" dirty="0" smtClean="0"/>
              <a:t>個のエンジンにそれぞれついている</a:t>
            </a:r>
            <a:r>
              <a:rPr lang="en-US" altLang="ja-JP" sz="2800" dirty="0" smtClean="0"/>
              <a:t>21</a:t>
            </a:r>
            <a:r>
              <a:rPr lang="ja-JP" altLang="en-US" sz="2800" dirty="0" smtClean="0"/>
              <a:t>個のセンサの</a:t>
            </a:r>
            <a:r>
              <a:rPr lang="en-US" altLang="ja-JP" sz="2800" dirty="0" smtClean="0"/>
              <a:t>149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>?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6</a:t>
            </a:r>
            <a:r>
              <a:rPr lang="ja-JP" altLang="en-US" sz="2800" dirty="0" err="1" smtClean="0"/>
              <a:t>つの</a:t>
            </a:r>
            <a:r>
              <a:rPr lang="ja-JP" altLang="en-US" sz="2800" dirty="0"/>
              <a:t>レジームで構成されているデータ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1</a:t>
            </a:r>
            <a:r>
              <a:rPr lang="ja-JP" altLang="en-US" sz="2800" dirty="0" smtClean="0"/>
              <a:t>つ</a:t>
            </a:r>
            <a:r>
              <a:rPr lang="ja-JP" altLang="en-US" sz="2800" dirty="0"/>
              <a:t>目</a:t>
            </a:r>
            <a:r>
              <a:rPr lang="ja-JP" altLang="en-US" sz="2800" dirty="0" smtClean="0"/>
              <a:t>の</a:t>
            </a:r>
            <a:r>
              <a:rPr lang="ja-JP" altLang="en-US" sz="2800" dirty="0"/>
              <a:t>エンジン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つ目のセンサの値のみ</a:t>
            </a:r>
            <a:r>
              <a:rPr lang="ja-JP" altLang="en-US" sz="2800" dirty="0"/>
              <a:t>を使用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冒頭</a:t>
            </a:r>
            <a:r>
              <a:rPr lang="en-US" altLang="ja-JP" sz="2800" dirty="0" smtClean="0"/>
              <a:t>104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を学習データ，</a:t>
            </a:r>
            <a:r>
              <a:rPr lang="ja-JP" altLang="en-US" sz="2800" dirty="0" smtClean="0"/>
              <a:t>残り</a:t>
            </a:r>
            <a:r>
              <a:rPr lang="en-US" altLang="ja-JP" sz="2800" dirty="0" smtClean="0"/>
              <a:t>41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をテストデータに使用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/>
              <a:t>＝学習データ</a:t>
            </a:r>
            <a:r>
              <a:rPr lang="en-US" altLang="ja-JP" sz="2800" dirty="0"/>
              <a:t>36</a:t>
            </a:r>
            <a:r>
              <a:rPr lang="ja-JP" altLang="en-US" sz="2800" dirty="0"/>
              <a:t>個，</a:t>
            </a:r>
            <a:r>
              <a:rPr lang="ja-JP" altLang="en-US" sz="2800" dirty="0" smtClean="0"/>
              <a:t>テストデータ</a:t>
            </a:r>
            <a:r>
              <a:rPr lang="en-US" altLang="ja-JP" sz="2800" dirty="0" smtClean="0"/>
              <a:t>14</a:t>
            </a:r>
            <a:r>
              <a:rPr lang="en-US" altLang="ja-JP" sz="2800" dirty="0"/>
              <a:t>8</a:t>
            </a:r>
            <a:r>
              <a:rPr lang="ja-JP" altLang="en-US" sz="2800" dirty="0" smtClean="0"/>
              <a:t>個</a:t>
            </a:r>
            <a:endParaRPr kumimoji="1" lang="ja-JP" altLang="en-US" sz="28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FD00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7240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dirty="0" smtClean="0"/>
              <a:t>Multi-regime Approach</a:t>
            </a:r>
            <a:r>
              <a:rPr lang="ja-JP" altLang="en-US" dirty="0" smtClean="0"/>
              <a:t>の有無による比較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altLang="ja-JP" sz="2800" dirty="0" smtClean="0"/>
          </a:p>
          <a:p>
            <a:pPr algn="l"/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endParaRPr lang="en-US" altLang="ja-JP" sz="2800" dirty="0"/>
          </a:p>
          <a:p>
            <a:pPr algn="l"/>
            <a:endParaRPr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5091322"/>
            <a:ext cx="377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M-SVR-RF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5091322"/>
            <a:ext cx="377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28600" y="1879599"/>
            <a:ext cx="377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無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ELM-A</a:t>
            </a:r>
            <a:r>
              <a:rPr kumimoji="1" lang="ja-JP" altLang="en-US" sz="2800" dirty="0" smtClean="0"/>
              <a:t>ｖ</a:t>
            </a:r>
            <a:r>
              <a:rPr kumimoji="1" lang="ja-JP" altLang="en-US" sz="2800" dirty="0"/>
              <a:t>ｇ</a:t>
            </a:r>
            <a:r>
              <a:rPr kumimoji="1" lang="en-US" altLang="ja-JP" sz="2800" dirty="0" smtClean="0"/>
              <a:t> </a:t>
            </a:r>
            <a:endParaRPr kumimoji="1" lang="ja-JP" altLang="en-US" sz="28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610100" y="1879599"/>
            <a:ext cx="4305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有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M-BPNN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M-SVR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M-ELM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M-ELM-RF</a:t>
            </a:r>
            <a:r>
              <a:rPr lang="ja-JP" altLang="en-US" sz="2800" dirty="0"/>
              <a:t> </a:t>
            </a:r>
            <a:r>
              <a:rPr lang="en-US" altLang="ja-JP" sz="2800" dirty="0" smtClean="0"/>
              <a:t>(</a:t>
            </a:r>
            <a:r>
              <a:rPr lang="ja-JP" altLang="en-US" sz="2800" dirty="0"/>
              <a:t>提案手法</a:t>
            </a:r>
            <a:r>
              <a:rPr lang="en-US" altLang="ja-JP" sz="2800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M-ELM-A</a:t>
            </a:r>
            <a:r>
              <a:rPr kumimoji="1" lang="ja-JP" altLang="en-US" sz="2800" dirty="0" smtClean="0"/>
              <a:t>ｖ</a:t>
            </a:r>
            <a:r>
              <a:rPr kumimoji="1" lang="ja-JP" altLang="en-US" sz="2800" dirty="0"/>
              <a:t>ｇ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40007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135234"/>
              </p:ext>
            </p:extLst>
          </p:nvPr>
        </p:nvGraphicFramePr>
        <p:xfrm>
          <a:off x="361" y="1216996"/>
          <a:ext cx="9147558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0.0843037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145.7774 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1.3452e-4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337.2769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5.2619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0.0709110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118.1823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8.9755e-28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0.0154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0.0692168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113.4517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2.0400e-8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0.0942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0.0813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0.0809038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137.3910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2.7614e-6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7.7917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5.8147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1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0.0691594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113.3563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3.2898e-9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0.0110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2.9714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0.0656726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104.5766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6.1912e-10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0.0011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31.6583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M-ELM-</a:t>
                      </a:r>
                      <a:r>
                        <a:rPr lang="en-US" altLang="ja-JP" sz="1800" dirty="0" err="1" smtClean="0"/>
                        <a:t>Avg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0.0656563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104.6598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5.5704e-10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6.8274e-4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11.3034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0.0656320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104.6325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2.5403e-8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0.0604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0.7864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0.0658146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104.7424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4.2184e-8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0.1366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20.3859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0.0657790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104.6933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0.0905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0.0657380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104.6542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5.3713e-10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0.0015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532.3274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0.0657961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104.7138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2.0936e-9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0.0038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510.5044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0.0656924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104.6310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1.3223e-10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7.4796e-05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15.6287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0.0657790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104.6933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1.8314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  <a:r>
              <a:rPr lang="en-US" altLang="ja-JP" dirty="0"/>
              <a:t> </a:t>
            </a:r>
            <a:r>
              <a:rPr lang="en-US" altLang="ja-JP" dirty="0" err="1"/>
              <a:t>equiprobability</a:t>
            </a:r>
            <a:r>
              <a:rPr lang="en-US" altLang="ja-JP" dirty="0" smtClean="0"/>
              <a:t> </a:t>
            </a:r>
            <a:r>
              <a:rPr lang="en-US" altLang="ja-JP" dirty="0"/>
              <a:t>solution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61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FD002 </a:t>
            </a:r>
            <a:r>
              <a:rPr lang="en-US" altLang="ja-JP" dirty="0" err="1"/>
              <a:t>equiprobability</a:t>
            </a:r>
            <a:r>
              <a:rPr lang="en-US" altLang="ja-JP" dirty="0" smtClean="0"/>
              <a:t> </a:t>
            </a:r>
            <a:r>
              <a:rPr lang="en-US" altLang="ja-JP" dirty="0"/>
              <a:t>solution</a:t>
            </a:r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different models on FD002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time </a:t>
            </a:r>
            <a:r>
              <a:rPr lang="en-US" altLang="ja-JP" sz="2800" dirty="0"/>
              <a:t>series using </a:t>
            </a:r>
            <a:r>
              <a:rPr lang="en-US" altLang="ja-JP" sz="2800" dirty="0" err="1"/>
              <a:t>equiprobability</a:t>
            </a:r>
            <a:r>
              <a:rPr lang="en-US" altLang="ja-JP" sz="2800" dirty="0"/>
              <a:t> solution</a:t>
            </a:r>
            <a:endParaRPr kumimoji="1" lang="ja-JP" altLang="en-US" sz="2800" dirty="0" smtClean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5452"/>
            <a:ext cx="9144000" cy="40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909287"/>
              </p:ext>
            </p:extLst>
          </p:nvPr>
        </p:nvGraphicFramePr>
        <p:xfrm>
          <a:off x="361" y="1216996"/>
          <a:ext cx="9147558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0.0813371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140.4396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1.2436e-4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300.8341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6.8724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0.0709110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118.1823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0.0195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0.0690734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113.2175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4.4182e-8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0.1904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0.0793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0.0797046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135.9647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4.7736e-6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8.9508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5.5266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1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0.0691220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113.2991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2.7676e-9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0.0093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2.5176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0.0645399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107.0605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1.2381e-9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0.0026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22.9991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M-ELM-</a:t>
                      </a:r>
                      <a:r>
                        <a:rPr lang="en-US" altLang="ja-JP" sz="1800" dirty="0" err="1" smtClean="0"/>
                        <a:t>Avg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0.0645297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107.2143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6.2912e-10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0.0019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10.5084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dirty="0" smtClean="0"/>
                        <a:t>0.0645549</a:t>
                      </a:r>
                      <a:endParaRPr lang="ja-JP" altLang="en-US" sz="1800" b="0" i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107.2683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1.1502e-8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0.0523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0.4895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0.0645763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107.1515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3.6288e-8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0.0680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18.3589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0.0646630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107.1499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0.0680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0.0646575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107.2086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4.8887e-9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0.0059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535.9200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0.0646577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107.1551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1.4182e-9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0.0055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512.9440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0.0646274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107.1552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6.7822e-11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1.3839e-4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12.8953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0.0646630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107.1499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2.3476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  <a:r>
              <a:rPr lang="en-US" altLang="ja-JP" dirty="0"/>
              <a:t> </a:t>
            </a:r>
            <a:r>
              <a:rPr lang="en-US" altLang="ja-JP" dirty="0" smtClean="0"/>
              <a:t>frequency-based </a:t>
            </a:r>
            <a:r>
              <a:rPr lang="en-US" altLang="ja-JP" dirty="0"/>
              <a:t>solution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315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EGT time series</a:t>
            </a:r>
          </a:p>
          <a:p>
            <a:pPr algn="l"/>
            <a:r>
              <a:rPr lang="ja-JP" altLang="en-US" sz="2800" dirty="0" smtClean="0"/>
              <a:t>ノイズが含まれる</a:t>
            </a:r>
            <a:r>
              <a:rPr lang="en-US" altLang="ja-JP" sz="2800" dirty="0" smtClean="0"/>
              <a:t>1000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en-US" altLang="ja-JP" sz="2800" dirty="0" smtClean="0"/>
              <a:t>1</a:t>
            </a:r>
            <a:r>
              <a:rPr lang="ja-JP" altLang="en-US" sz="2800" dirty="0" err="1"/>
              <a:t>つの</a:t>
            </a:r>
            <a:r>
              <a:rPr lang="ja-JP" altLang="en-US" sz="2800" dirty="0"/>
              <a:t>レジームで構成されているデータ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冒頭</a:t>
            </a:r>
            <a:r>
              <a:rPr lang="en-US" altLang="ja-JP" sz="2800" dirty="0" smtClean="0"/>
              <a:t>600</a:t>
            </a:r>
            <a:r>
              <a:rPr lang="ja-JP" altLang="en-US" sz="2800" dirty="0"/>
              <a:t>個を学習データ，</a:t>
            </a:r>
            <a:r>
              <a:rPr lang="ja-JP" altLang="en-US" sz="2800" dirty="0" smtClean="0"/>
              <a:t>残り</a:t>
            </a:r>
            <a:r>
              <a:rPr lang="en-US" altLang="ja-JP" sz="2800" dirty="0" smtClean="0"/>
              <a:t>40</a:t>
            </a:r>
            <a:r>
              <a:rPr lang="en-US" altLang="ja-JP" sz="2800" dirty="0"/>
              <a:t>0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をテストデータ</a:t>
            </a:r>
            <a:r>
              <a:rPr lang="ja-JP" altLang="en-US" sz="2800" dirty="0" smtClean="0"/>
              <a:t>に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使用</a:t>
            </a:r>
            <a:r>
              <a:rPr lang="ja-JP" altLang="en-US" sz="2800" dirty="0"/>
              <a:t> </a:t>
            </a:r>
            <a:r>
              <a:rPr lang="ja-JP" altLang="en-US" sz="2800" dirty="0" smtClean="0"/>
              <a:t>＝ 学習データ</a:t>
            </a:r>
            <a:r>
              <a:rPr lang="en-US" altLang="ja-JP" sz="2800" dirty="0" smtClean="0"/>
              <a:t>59</a:t>
            </a:r>
            <a:r>
              <a:rPr lang="en-US" altLang="ja-JP" sz="2800" dirty="0"/>
              <a:t>6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，</a:t>
            </a:r>
            <a:r>
              <a:rPr lang="ja-JP" altLang="en-US" sz="2800" dirty="0" smtClean="0"/>
              <a:t>テストデータ</a:t>
            </a:r>
            <a:r>
              <a:rPr lang="en-US" altLang="ja-JP" sz="2800" dirty="0" smtClean="0"/>
              <a:t>39</a:t>
            </a:r>
            <a:r>
              <a:rPr lang="en-US" altLang="ja-JP" sz="2800" dirty="0"/>
              <a:t>6</a:t>
            </a:r>
            <a:r>
              <a:rPr lang="ja-JP" altLang="en-US" sz="2800" dirty="0" smtClean="0"/>
              <a:t>個</a:t>
            </a:r>
            <a:endParaRPr kumimoji="1" lang="ja-JP" altLang="en-US" sz="28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EGT time </a:t>
            </a:r>
            <a:r>
              <a:rPr lang="en-US" altLang="ja-JP" dirty="0"/>
              <a:t>series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2341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一般的なモデルとの比較 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BPNN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</a:t>
            </a:r>
          </a:p>
          <a:p>
            <a:pPr algn="l"/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EGT time series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ELM-RF </a:t>
            </a:r>
            <a:endParaRPr kumimoji="1" lang="ja-JP" altLang="en-US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</a:t>
            </a:r>
            <a:r>
              <a:rPr kumimoji="1" lang="en-US" altLang="ja-JP" sz="2800" dirty="0" err="1" smtClean="0"/>
              <a:t>Avg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77481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069958"/>
              </p:ext>
            </p:extLst>
          </p:nvPr>
        </p:nvGraphicFramePr>
        <p:xfrm>
          <a:off x="99504" y="1767114"/>
          <a:ext cx="8944993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0.0915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61.0572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0.0065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2.1941e+3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5.4391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0.0624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45.6406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0" i="0" dirty="0" smtClean="0"/>
                        <a:t>0.3803</a:t>
                      </a:r>
                      <a:endParaRPr lang="ja-JP" altLang="en-US" sz="2000" b="0" i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41.0211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4.9901e-8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0.0440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0.3144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i="0" dirty="0" smtClean="0">
                          <a:solidFill>
                            <a:schemeClr val="tx1"/>
                          </a:solidFill>
                        </a:rPr>
                        <a:t>0.0529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0" i="0" dirty="0" smtClean="0"/>
                        <a:t>39.3279</a:t>
                      </a:r>
                      <a:endParaRPr lang="ja-JP" altLang="en-US" sz="2000" b="0" i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2.7037e-7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0.1549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9.0978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40.9085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8.7111e-9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0.0064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5.3478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0.0436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32.9260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2.4227e-6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1.5559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1.5418e+3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0.0548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40.4280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6.0309e-5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24.3589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1.0693e+3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0.0625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45.6776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2.1290e-10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8.5843e-5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30.3161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0.0624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45.6406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26.3014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EGT time series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648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EGT time series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ARE and RMSE of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different </a:t>
            </a:r>
            <a:r>
              <a:rPr lang="en-US" altLang="ja-JP" sz="2800" dirty="0"/>
              <a:t>models on </a:t>
            </a:r>
            <a:r>
              <a:rPr lang="en-US" altLang="ja-JP" sz="2800" dirty="0" smtClean="0"/>
              <a:t>EGT </a:t>
            </a:r>
            <a:r>
              <a:rPr lang="en-US" altLang="ja-JP" sz="2800" dirty="0"/>
              <a:t>time series</a:t>
            </a:r>
            <a:endParaRPr kumimoji="1" lang="ja-JP" altLang="en-US" sz="2800" dirty="0" smtClean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600976"/>
            <a:ext cx="9144000" cy="365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4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結論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時系列データにおいて，</a:t>
            </a:r>
            <a:r>
              <a:rPr lang="ja-JP" altLang="en-US" dirty="0"/>
              <a:t>高い精度，安定した予測，効率的な</a:t>
            </a:r>
            <a:r>
              <a:rPr lang="ja-JP" altLang="en-US" dirty="0" smtClean="0"/>
              <a:t>予測を得るための</a:t>
            </a:r>
            <a:r>
              <a:rPr kumimoji="1" lang="en-US" altLang="ja-JP" dirty="0" smtClean="0"/>
              <a:t>RF-based ELM ensemble model</a:t>
            </a:r>
            <a:r>
              <a:rPr kumimoji="1" lang="ja-JP" altLang="en-US" dirty="0" smtClean="0"/>
              <a:t>を提案した．</a:t>
            </a:r>
            <a:endParaRPr kumimoji="1" lang="en-US" altLang="ja-JP" dirty="0" smtClean="0"/>
          </a:p>
          <a:p>
            <a:r>
              <a:rPr lang="ja-JP" altLang="en-US" dirty="0"/>
              <a:t>ターボファンエンジン時系列の特定の特性</a:t>
            </a:r>
            <a:r>
              <a:rPr lang="ja-JP" altLang="en-US" dirty="0" smtClean="0"/>
              <a:t>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基づいて，複数</a:t>
            </a:r>
            <a:r>
              <a:rPr kumimoji="1" lang="ja-JP" altLang="en-US" dirty="0" smtClean="0"/>
              <a:t>のレジームを持つ時系列データを扱うための，</a:t>
            </a:r>
            <a:r>
              <a:rPr lang="en-US" altLang="ja-JP" dirty="0"/>
              <a:t> multi-regime </a:t>
            </a:r>
            <a:r>
              <a:rPr lang="en-US" altLang="ja-JP" dirty="0" smtClean="0"/>
              <a:t>approach</a:t>
            </a:r>
            <a:r>
              <a:rPr lang="ja-JP" altLang="en-US" dirty="0" smtClean="0"/>
              <a:t>を提案した．</a:t>
            </a:r>
            <a:endParaRPr lang="en-US" altLang="ja-JP" dirty="0" smtClean="0"/>
          </a:p>
          <a:p>
            <a:r>
              <a:rPr lang="ja-JP" altLang="en-US" dirty="0" smtClean="0"/>
              <a:t>提案したモデルは，ノイズが含まれる実測データに対してもよい性能を発揮した．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724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880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541</TotalTime>
  <Words>1500</Words>
  <Application>Microsoft Office PowerPoint</Application>
  <PresentationFormat>画面に合わせる (4:3)</PresentationFormat>
  <Paragraphs>664</Paragraphs>
  <Slides>36</Slides>
  <Notes>1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ＭＳ P ゴシック</vt:lpstr>
      <vt:lpstr>ＭＳ Ｐゴシック</vt:lpstr>
      <vt:lpstr>Arial</vt:lpstr>
      <vt:lpstr>Calibri</vt:lpstr>
      <vt:lpstr>Cambria Math</vt:lpstr>
      <vt:lpstr>Times New Roman</vt:lpstr>
      <vt:lpstr>Theme_Lab</vt:lpstr>
      <vt:lpstr>英語論文発表 (5/27)</vt:lpstr>
      <vt:lpstr>論文情報</vt:lpstr>
      <vt:lpstr>概要</vt:lpstr>
      <vt:lpstr>Extreme Learning Machine (ELM)</vt:lpstr>
      <vt:lpstr>Extreme Learning Machine (ELM)</vt:lpstr>
      <vt:lpstr>提案手法</vt:lpstr>
      <vt:lpstr>提案手法</vt:lpstr>
      <vt:lpstr>提案手法</vt:lpstr>
      <vt:lpstr>提案手法</vt:lpstr>
      <vt:lpstr>提案手法</vt:lpstr>
      <vt:lpstr>提案手法</vt:lpstr>
      <vt:lpstr>提案手法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実験結果</vt:lpstr>
      <vt:lpstr>実験結果</vt:lpstr>
      <vt:lpstr>数値実験</vt:lpstr>
      <vt:lpstr>数値実験</vt:lpstr>
      <vt:lpstr>実験結果</vt:lpstr>
      <vt:lpstr>実験結果</vt:lpstr>
      <vt:lpstr>数値実験</vt:lpstr>
      <vt:lpstr>数値実験</vt:lpstr>
      <vt:lpstr>実験結果</vt:lpstr>
      <vt:lpstr>実験結果</vt:lpstr>
      <vt:lpstr>実験結果</vt:lpstr>
      <vt:lpstr>数値実験</vt:lpstr>
      <vt:lpstr>数値実験</vt:lpstr>
      <vt:lpstr>実験結果</vt:lpstr>
      <vt:lpstr>実験結果</vt:lpstr>
      <vt:lpstr>結論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英語論文発表 (5/27)</dc:title>
  <dc:creator>瓜田 俊貴</dc:creator>
  <cp:lastModifiedBy>俊貴 瓜田</cp:lastModifiedBy>
  <cp:revision>48</cp:revision>
  <dcterms:created xsi:type="dcterms:W3CDTF">2019-05-26T13:15:39Z</dcterms:created>
  <dcterms:modified xsi:type="dcterms:W3CDTF">2019-05-27T07:11:31Z</dcterms:modified>
</cp:coreProperties>
</file>