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1"/>
  </p:sldMasterIdLst>
  <p:notesMasterIdLst>
    <p:notesMasterId r:id="rId36"/>
  </p:notesMasterIdLst>
  <p:sldIdLst>
    <p:sldId id="256" r:id="rId2"/>
    <p:sldId id="259" r:id="rId3"/>
    <p:sldId id="257" r:id="rId4"/>
    <p:sldId id="262" r:id="rId5"/>
    <p:sldId id="263" r:id="rId6"/>
    <p:sldId id="267" r:id="rId7"/>
    <p:sldId id="272" r:id="rId8"/>
    <p:sldId id="268" r:id="rId9"/>
    <p:sldId id="270" r:id="rId10"/>
    <p:sldId id="271" r:id="rId11"/>
    <p:sldId id="273" r:id="rId12"/>
    <p:sldId id="274" r:id="rId13"/>
    <p:sldId id="276" r:id="rId14"/>
    <p:sldId id="279" r:id="rId15"/>
    <p:sldId id="278" r:id="rId16"/>
    <p:sldId id="275" r:id="rId17"/>
    <p:sldId id="280" r:id="rId18"/>
    <p:sldId id="281" r:id="rId19"/>
    <p:sldId id="282" r:id="rId20"/>
    <p:sldId id="283" r:id="rId21"/>
    <p:sldId id="285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4" r:id="rId30"/>
    <p:sldId id="295" r:id="rId31"/>
    <p:sldId id="296" r:id="rId32"/>
    <p:sldId id="297" r:id="rId33"/>
    <p:sldId id="298" r:id="rId34"/>
    <p:sldId id="299" r:id="rId35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970222A7-BD1D-4070-9011-AB9CB3CD45EA}">
          <p14:sldIdLst>
            <p14:sldId id="256"/>
          </p14:sldIdLst>
        </p14:section>
        <p14:section name="概要" id="{473E41AF-83FC-4BC5-ABFA-E6587B68469F}">
          <p14:sldIdLst>
            <p14:sldId id="259"/>
            <p14:sldId id="257"/>
            <p14:sldId id="262"/>
            <p14:sldId id="263"/>
          </p14:sldIdLst>
        </p14:section>
        <p14:section name="提案" id="{E34CA3E0-0FBC-4E4E-95A5-1067BE53FBEA}">
          <p14:sldIdLst>
            <p14:sldId id="267"/>
            <p14:sldId id="272"/>
            <p14:sldId id="268"/>
            <p14:sldId id="270"/>
            <p14:sldId id="271"/>
            <p14:sldId id="273"/>
          </p14:sldIdLst>
        </p14:section>
        <p14:section name="実験共通" id="{F52A62BB-20A5-498B-BB4D-5F1B5E4D3821}">
          <p14:sldIdLst>
            <p14:sldId id="274"/>
            <p14:sldId id="276"/>
            <p14:sldId id="279"/>
            <p14:sldId id="278"/>
          </p14:sldIdLst>
        </p14:section>
        <p14:section name="NN3" id="{C2028B0E-966B-4C3D-BF15-4EF4D2611224}">
          <p14:sldIdLst>
            <p14:sldId id="275"/>
            <p14:sldId id="280"/>
            <p14:sldId id="281"/>
            <p14:sldId id="282"/>
          </p14:sldIdLst>
        </p14:section>
        <p14:section name="FD001" id="{5FF6548F-DF63-4E6D-8352-5C8576FA277A}">
          <p14:sldIdLst>
            <p14:sldId id="283"/>
            <p14:sldId id="285"/>
            <p14:sldId id="286"/>
            <p14:sldId id="288"/>
          </p14:sldIdLst>
        </p14:section>
        <p14:section name="FD002" id="{7373D9D6-2D11-4E52-A453-F25D12EEB002}">
          <p14:sldIdLst>
            <p14:sldId id="289"/>
            <p14:sldId id="290"/>
            <p14:sldId id="291"/>
            <p14:sldId id="292"/>
            <p14:sldId id="293"/>
          </p14:sldIdLst>
        </p14:section>
        <p14:section name="EGT" id="{D5840F30-5953-4467-80F8-4448CE8BCD75}">
          <p14:sldIdLst>
            <p14:sldId id="294"/>
            <p14:sldId id="295"/>
            <p14:sldId id="296"/>
            <p14:sldId id="297"/>
          </p14:sldIdLst>
        </p14:section>
        <p14:section name="まとめ" id="{91291DF4-6321-4FDB-B0D3-16E85EE4A9FB}">
          <p14:sldIdLst>
            <p14:sldId id="298"/>
            <p14:sldId id="299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1D38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4" autoAdjust="0"/>
    <p:restoredTop sz="93148" autoAdjust="0"/>
  </p:normalViewPr>
  <p:slideViewPr>
    <p:cSldViewPr snapToGrid="0">
      <p:cViewPr>
        <p:scale>
          <a:sx n="75" d="100"/>
          <a:sy n="75" d="100"/>
        </p:scale>
        <p:origin x="1176" y="-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FE5EFA-B9A8-44EF-B11E-ECCCBFFE5A6D}" type="datetimeFigureOut">
              <a:rPr kumimoji="1" lang="ja-JP" altLang="en-US" smtClean="0"/>
              <a:t>2019/5/27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D6F871-198F-4E50-A09B-6ED6815949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1370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D6F871-198F-4E50-A09B-6ED68159494E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07266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050">
                <a:latin typeface="Arial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1631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400"/>
            </a:lvl1pPr>
          </a:lstStyle>
          <a:p>
            <a:r>
              <a:rPr kumimoji="1" lang="ja-JP" altLang="en-US" dirty="0" smtClean="0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ボックス 2"/>
          <p:cNvSpPr txBox="1"/>
          <p:nvPr userDrawn="1"/>
        </p:nvSpPr>
        <p:spPr>
          <a:xfrm>
            <a:off x="228600" y="1323977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4" name="テキスト ボックス 3"/>
          <p:cNvSpPr txBox="1"/>
          <p:nvPr userDrawn="1"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5" name="テキスト ボックス 4"/>
          <p:cNvSpPr txBox="1"/>
          <p:nvPr userDrawn="1"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  <p:sp>
        <p:nvSpPr>
          <p:cNvPr id="6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1828800" y="1323977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論文名</a:t>
            </a:r>
          </a:p>
        </p:txBody>
      </p:sp>
      <p:sp>
        <p:nvSpPr>
          <p:cNvPr id="7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1828800" y="3125441"/>
            <a:ext cx="7086600" cy="1391142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著者名</a:t>
            </a:r>
          </a:p>
        </p:txBody>
      </p:sp>
      <p:sp>
        <p:nvSpPr>
          <p:cNvPr id="8" name="コンテンツ プレースホルダ 2"/>
          <p:cNvSpPr>
            <a:spLocks noGrp="1"/>
          </p:cNvSpPr>
          <p:nvPr>
            <p:ph idx="11" hasCustomPrompt="1"/>
          </p:nvPr>
        </p:nvSpPr>
        <p:spPr>
          <a:xfrm>
            <a:off x="1828800" y="4724400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3941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66941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70"/>
            <a:ext cx="9067800" cy="573087"/>
          </a:xfrm>
        </p:spPr>
        <p:txBody>
          <a:bodyPr anchor="ctr"/>
          <a:lstStyle>
            <a:lvl1pPr marL="0" indent="0">
              <a:buNone/>
              <a:defRPr sz="3600" b="1">
                <a:solidFill>
                  <a:schemeClr val="accent4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80426907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43070"/>
            <a:ext cx="9067800" cy="573087"/>
          </a:xfrm>
        </p:spPr>
        <p:txBody>
          <a:bodyPr anchor="ctr"/>
          <a:lstStyle>
            <a:lvl1pPr marL="0" indent="0">
              <a:buNone/>
              <a:defRPr sz="3600" b="1">
                <a:solidFill>
                  <a:schemeClr val="accent4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55071551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50252942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877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</p:spTree>
    <p:extLst>
      <p:ext uri="{BB962C8B-B14F-4D97-AF65-F5344CB8AC3E}">
        <p14:creationId xmlns:p14="http://schemas.microsoft.com/office/powerpoint/2010/main" val="19329919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8950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4" r:id="rId2"/>
    <p:sldLayoutId id="2147483668" r:id="rId3"/>
    <p:sldLayoutId id="2147483669" r:id="rId4"/>
    <p:sldLayoutId id="2147483673" r:id="rId5"/>
    <p:sldLayoutId id="2147483670" r:id="rId6"/>
    <p:sldLayoutId id="2147483671" r:id="rId7"/>
    <p:sldLayoutId id="2147483672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 smtClean="0"/>
              <a:t>英語論文発表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en-US" altLang="ja-JP" dirty="0" smtClean="0"/>
              <a:t>(5/27)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 smtClean="0"/>
              <a:t>瓜田　俊貴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997232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論文情報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sz="2800" dirty="0" smtClean="0"/>
              <a:t>Random</a:t>
            </a:r>
            <a:r>
              <a:rPr lang="ja-JP" altLang="en-US" sz="2800" dirty="0"/>
              <a:t> </a:t>
            </a:r>
            <a:r>
              <a:rPr lang="en-US" altLang="ja-JP" sz="2800" dirty="0" smtClean="0"/>
              <a:t>forests-based </a:t>
            </a:r>
            <a:r>
              <a:rPr lang="en-US" altLang="ja-JP" sz="2800" dirty="0"/>
              <a:t>extreme learning machine ensemble for multi-regime time series prediction</a:t>
            </a:r>
            <a:endParaRPr kumimoji="1" lang="ja-JP" altLang="en-US" sz="2800" dirty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 altLang="ja-JP" sz="2800" dirty="0"/>
              <a:t>Lin </a:t>
            </a:r>
            <a:r>
              <a:rPr lang="en-US" altLang="ja-JP" sz="2800" dirty="0" err="1" smtClean="0"/>
              <a:t>Lin</a:t>
            </a:r>
            <a:r>
              <a:rPr lang="en-US" altLang="ja-JP" sz="2800" dirty="0" smtClean="0"/>
              <a:t>, </a:t>
            </a:r>
            <a:r>
              <a:rPr lang="en-US" altLang="ja-JP" sz="2800" dirty="0"/>
              <a:t>Fang Wang, </a:t>
            </a:r>
            <a:r>
              <a:rPr lang="en-US" altLang="ja-JP" sz="2800" dirty="0" err="1"/>
              <a:t>Xiaolong</a:t>
            </a:r>
            <a:r>
              <a:rPr lang="en-US" altLang="ja-JP" sz="2800" dirty="0"/>
              <a:t> </a:t>
            </a:r>
            <a:r>
              <a:rPr lang="en-US" altLang="ja-JP" sz="2800" dirty="0" err="1"/>
              <a:t>Xie</a:t>
            </a:r>
            <a:r>
              <a:rPr lang="en-US" altLang="ja-JP" sz="2800" dirty="0"/>
              <a:t>, </a:t>
            </a:r>
            <a:r>
              <a:rPr lang="en-US" altLang="ja-JP" sz="2800" dirty="0" err="1"/>
              <a:t>Shisheng</a:t>
            </a:r>
            <a:r>
              <a:rPr lang="en-US" altLang="ja-JP" sz="2800" dirty="0"/>
              <a:t> </a:t>
            </a:r>
            <a:r>
              <a:rPr lang="en-US" altLang="ja-JP" sz="2800" dirty="0" err="1"/>
              <a:t>Zhong</a:t>
            </a:r>
            <a:endParaRPr kumimoji="1" lang="ja-JP" altLang="en-US" sz="2800" dirty="0"/>
          </a:p>
        </p:txBody>
      </p:sp>
      <p:sp>
        <p:nvSpPr>
          <p:cNvPr id="5" name="コンテンツ プレースホルダー 4"/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en-US" altLang="ja-JP" sz="2800" dirty="0"/>
              <a:t>Expert Systems with </a:t>
            </a:r>
            <a:r>
              <a:rPr lang="en-US" altLang="ja-JP" sz="2800" dirty="0" smtClean="0"/>
              <a:t>Applications 2017, vol. 83, pp. 164-176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280862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概要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kumimoji="1" lang="ja-JP" altLang="en-US" dirty="0" smtClean="0"/>
              <a:t>時系列データの予測においては，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lang="en-US" altLang="ja-JP" dirty="0" smtClean="0"/>
              <a:t>1</a:t>
            </a:r>
            <a:r>
              <a:rPr lang="en-US" altLang="ja-JP" dirty="0"/>
              <a:t>.</a:t>
            </a:r>
            <a:r>
              <a:rPr kumimoji="1" lang="ja-JP" altLang="en-US" dirty="0" smtClean="0"/>
              <a:t>高い精度，安定した予測，効率的な予測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lang="en-US" altLang="ja-JP" dirty="0" smtClean="0"/>
              <a:t>2</a:t>
            </a:r>
            <a:r>
              <a:rPr lang="en-US" altLang="ja-JP" dirty="0"/>
              <a:t>.</a:t>
            </a:r>
            <a:r>
              <a:rPr kumimoji="1" lang="ja-JP" altLang="en-US" dirty="0" smtClean="0"/>
              <a:t>複数のレジームが存在するデータへの対応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が求められている．</a:t>
            </a:r>
            <a:endParaRPr lang="en-US" altLang="ja-JP" dirty="0" smtClean="0"/>
          </a:p>
          <a:p>
            <a:pPr algn="l"/>
            <a:endParaRPr kumimoji="1" lang="en-US" altLang="ja-JP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dirty="0" smtClean="0"/>
              <a:t>弱識別器に</a:t>
            </a:r>
            <a:r>
              <a:rPr kumimoji="1" lang="en-US" altLang="ja-JP" dirty="0" smtClean="0">
                <a:solidFill>
                  <a:srgbClr val="FF0000"/>
                </a:solidFill>
              </a:rPr>
              <a:t>Extreme</a:t>
            </a:r>
            <a:r>
              <a:rPr kumimoji="1" lang="ja-JP" altLang="en-US" dirty="0" smtClean="0">
                <a:solidFill>
                  <a:srgbClr val="FF0000"/>
                </a:solidFill>
              </a:rPr>
              <a:t> </a:t>
            </a:r>
            <a:r>
              <a:rPr kumimoji="1" lang="en-US" altLang="ja-JP" dirty="0" smtClean="0">
                <a:solidFill>
                  <a:srgbClr val="FF0000"/>
                </a:solidFill>
              </a:rPr>
              <a:t>Learning</a:t>
            </a:r>
            <a:r>
              <a:rPr kumimoji="1" lang="ja-JP" altLang="en-US" dirty="0" smtClean="0">
                <a:solidFill>
                  <a:srgbClr val="FF0000"/>
                </a:solidFill>
              </a:rPr>
              <a:t> </a:t>
            </a:r>
            <a:r>
              <a:rPr kumimoji="1" lang="en-US" altLang="ja-JP" dirty="0" smtClean="0">
                <a:solidFill>
                  <a:srgbClr val="FF0000"/>
                </a:solidFill>
              </a:rPr>
              <a:t>Machine</a:t>
            </a:r>
            <a:r>
              <a:rPr lang="ja-JP" altLang="en-US" dirty="0">
                <a:solidFill>
                  <a:srgbClr val="FF0000"/>
                </a:solidFill>
              </a:rPr>
              <a:t> </a:t>
            </a:r>
            <a:r>
              <a:rPr kumimoji="1" lang="en-US" altLang="ja-JP" dirty="0" smtClean="0">
                <a:solidFill>
                  <a:srgbClr val="FF0000"/>
                </a:solidFill>
              </a:rPr>
              <a:t>(ELM)</a:t>
            </a:r>
            <a:r>
              <a:rPr kumimoji="1" lang="ja-JP" altLang="en-US" dirty="0" err="1" smtClean="0"/>
              <a:t>，</a:t>
            </a:r>
            <a:r>
              <a:rPr kumimoji="1" lang="ja-JP" altLang="en-US" dirty="0" smtClean="0"/>
              <a:t>集約手法に</a:t>
            </a:r>
            <a:r>
              <a:rPr kumimoji="1" lang="en-US" altLang="ja-JP" dirty="0" smtClean="0">
                <a:solidFill>
                  <a:srgbClr val="FF0000"/>
                </a:solidFill>
              </a:rPr>
              <a:t>Random</a:t>
            </a:r>
            <a:r>
              <a:rPr kumimoji="1" lang="ja-JP" altLang="en-US" dirty="0" smtClean="0">
                <a:solidFill>
                  <a:srgbClr val="FF0000"/>
                </a:solidFill>
              </a:rPr>
              <a:t> </a:t>
            </a:r>
            <a:r>
              <a:rPr kumimoji="1" lang="en-US" altLang="ja-JP" dirty="0" smtClean="0">
                <a:solidFill>
                  <a:srgbClr val="FF0000"/>
                </a:solidFill>
              </a:rPr>
              <a:t>Forest</a:t>
            </a:r>
            <a:r>
              <a:rPr kumimoji="1" lang="ja-JP" altLang="en-US" dirty="0" smtClean="0">
                <a:solidFill>
                  <a:srgbClr val="FF0000"/>
                </a:solidFill>
              </a:rPr>
              <a:t> </a:t>
            </a:r>
            <a:r>
              <a:rPr kumimoji="1" lang="en-US" altLang="ja-JP" dirty="0" smtClean="0">
                <a:solidFill>
                  <a:srgbClr val="FF0000"/>
                </a:solidFill>
              </a:rPr>
              <a:t>(RF)</a:t>
            </a:r>
            <a:r>
              <a:rPr kumimoji="1" lang="ja-JP" altLang="en-US" dirty="0" smtClean="0"/>
              <a:t>を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使用した</a:t>
            </a:r>
            <a:r>
              <a:rPr kumimoji="1" lang="ja-JP" altLang="en-US" dirty="0" smtClean="0">
                <a:solidFill>
                  <a:srgbClr val="FF0000"/>
                </a:solidFill>
              </a:rPr>
              <a:t>アンサンブル識別器</a:t>
            </a:r>
            <a:r>
              <a:rPr kumimoji="1" lang="ja-JP" altLang="en-US" dirty="0" smtClean="0"/>
              <a:t>を作成する．</a:t>
            </a:r>
            <a:endParaRPr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dirty="0" smtClean="0">
                <a:solidFill>
                  <a:srgbClr val="FF0000"/>
                </a:solidFill>
              </a:rPr>
              <a:t>各レジームに対応した識別器を作成</a:t>
            </a:r>
            <a:r>
              <a:rPr kumimoji="1" lang="ja-JP" altLang="en-US" dirty="0" smtClean="0"/>
              <a:t>して，各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識別器を集約し，予測値を出力する．</a:t>
            </a:r>
            <a:endParaRPr kumimoji="1"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  <p:sp>
        <p:nvSpPr>
          <p:cNvPr id="5" name="下矢印 4"/>
          <p:cNvSpPr/>
          <p:nvPr/>
        </p:nvSpPr>
        <p:spPr>
          <a:xfrm>
            <a:off x="4234375" y="3391931"/>
            <a:ext cx="675250" cy="629812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13642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4000" dirty="0" smtClean="0"/>
              <a:t>Extreme Learning Machine (ELM)</a:t>
            </a:r>
            <a:endParaRPr kumimoji="1" lang="ja-JP" altLang="en-US" sz="4000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ELM</a:t>
            </a:r>
            <a:r>
              <a:rPr kumimoji="1" lang="ja-JP" altLang="en-US" dirty="0" smtClean="0"/>
              <a:t>とは･･･</a:t>
            </a:r>
            <a:endParaRPr kumimoji="1" lang="en-US" altLang="ja-JP" dirty="0" smtClean="0"/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ja-JP" altLang="en-US" sz="2800" dirty="0" smtClean="0"/>
              <a:t>隠れ層が</a:t>
            </a:r>
            <a:r>
              <a:rPr lang="en-US" altLang="ja-JP" sz="2800" dirty="0" smtClean="0"/>
              <a:t>1</a:t>
            </a:r>
            <a:r>
              <a:rPr lang="ja-JP" altLang="en-US" sz="2800" dirty="0"/>
              <a:t>層</a:t>
            </a:r>
            <a:r>
              <a:rPr lang="ja-JP" altLang="en-US" sz="2800" dirty="0" smtClean="0"/>
              <a:t>のニューラルネットワーク</a:t>
            </a:r>
            <a:endParaRPr lang="en-US" altLang="ja-JP" sz="2800" dirty="0" smtClean="0"/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kumimoji="1" lang="ja-JP" altLang="en-US" sz="2800" dirty="0" smtClean="0"/>
              <a:t>入力層→中間層への重みはランダムな値で固定</a:t>
            </a:r>
            <a:endParaRPr kumimoji="1" lang="en-US" altLang="ja-JP" sz="2800" dirty="0" smtClean="0"/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ja-JP" altLang="en-US" sz="2800" dirty="0" smtClean="0"/>
              <a:t>中間層→出力層への重みを最適化</a:t>
            </a:r>
            <a:endParaRPr lang="en-US" altLang="ja-JP" sz="2800" dirty="0" smtClean="0"/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kumimoji="1" lang="ja-JP" altLang="en-US" sz="2800" dirty="0" smtClean="0"/>
              <a:t>行列演算のみで最適化できるため高速</a:t>
            </a:r>
            <a:endParaRPr kumimoji="1" lang="en-US" altLang="ja-JP" sz="2800" dirty="0" smtClean="0"/>
          </a:p>
          <a:p>
            <a:pPr algn="l"/>
            <a:r>
              <a:rPr lang="en-US" altLang="ja-JP" dirty="0" smtClean="0"/>
              <a:t/>
            </a:r>
            <a:br>
              <a:rPr lang="en-US" altLang="ja-JP" dirty="0" smtClean="0"/>
            </a:br>
            <a:endParaRPr kumimoji="1"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4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982503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4000" dirty="0" smtClean="0"/>
              <a:t>Extreme Learning Machine (ELM)</a:t>
            </a:r>
            <a:endParaRPr kumimoji="1" lang="ja-JP" altLang="en-US" sz="4000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ELM</a:t>
            </a:r>
            <a:r>
              <a:rPr kumimoji="1" lang="ja-JP" altLang="en-US" dirty="0" smtClean="0"/>
              <a:t>とは･･･</a:t>
            </a:r>
            <a:endParaRPr kumimoji="1" lang="en-US" altLang="ja-JP" dirty="0" smtClean="0"/>
          </a:p>
          <a:p>
            <a:pPr algn="l"/>
            <a:r>
              <a:rPr lang="en-US" altLang="ja-JP" dirty="0" smtClean="0"/>
              <a:t/>
            </a:r>
            <a:br>
              <a:rPr lang="en-US" altLang="ja-JP" dirty="0" smtClean="0"/>
            </a:br>
            <a:endParaRPr kumimoji="1"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5</a:t>
            </a:fld>
            <a:endParaRPr kumimoji="1" lang="ja-JP" altLang="en-US" dirty="0"/>
          </a:p>
        </p:txBody>
      </p:sp>
      <p:cxnSp>
        <p:nvCxnSpPr>
          <p:cNvPr id="26" name="直線コネクタ 25"/>
          <p:cNvCxnSpPr>
            <a:stCxn id="5" idx="6"/>
            <a:endCxn id="14" idx="2"/>
          </p:cNvCxnSpPr>
          <p:nvPr/>
        </p:nvCxnSpPr>
        <p:spPr>
          <a:xfrm flipV="1">
            <a:off x="2236762" y="2927549"/>
            <a:ext cx="1955870" cy="379094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7"/>
          <p:cNvCxnSpPr>
            <a:stCxn id="5" idx="6"/>
            <a:endCxn id="15" idx="2"/>
          </p:cNvCxnSpPr>
          <p:nvPr/>
        </p:nvCxnSpPr>
        <p:spPr>
          <a:xfrm>
            <a:off x="2236762" y="3306643"/>
            <a:ext cx="1955870" cy="754235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/>
          <p:cNvCxnSpPr>
            <a:stCxn id="5" idx="6"/>
            <a:endCxn id="16" idx="2"/>
          </p:cNvCxnSpPr>
          <p:nvPr/>
        </p:nvCxnSpPr>
        <p:spPr>
          <a:xfrm>
            <a:off x="2236762" y="3306643"/>
            <a:ext cx="1955870" cy="2429461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/>
          <p:cNvCxnSpPr>
            <a:stCxn id="6" idx="6"/>
            <a:endCxn id="14" idx="2"/>
          </p:cNvCxnSpPr>
          <p:nvPr/>
        </p:nvCxnSpPr>
        <p:spPr>
          <a:xfrm flipV="1">
            <a:off x="2236762" y="2927549"/>
            <a:ext cx="1955870" cy="113406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/>
          <p:cNvCxnSpPr>
            <a:stCxn id="6" idx="6"/>
            <a:endCxn id="15" idx="2"/>
          </p:cNvCxnSpPr>
          <p:nvPr/>
        </p:nvCxnSpPr>
        <p:spPr>
          <a:xfrm flipV="1">
            <a:off x="2236762" y="4060878"/>
            <a:ext cx="1955870" cy="731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/>
          <p:cNvCxnSpPr>
            <a:stCxn id="6" idx="6"/>
            <a:endCxn id="16" idx="2"/>
          </p:cNvCxnSpPr>
          <p:nvPr/>
        </p:nvCxnSpPr>
        <p:spPr>
          <a:xfrm>
            <a:off x="2236762" y="4061609"/>
            <a:ext cx="1955870" cy="1674495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/>
          <p:cNvCxnSpPr>
            <a:stCxn id="7" idx="6"/>
            <a:endCxn id="14" idx="2"/>
          </p:cNvCxnSpPr>
          <p:nvPr/>
        </p:nvCxnSpPr>
        <p:spPr>
          <a:xfrm flipV="1">
            <a:off x="2236762" y="2927549"/>
            <a:ext cx="1955870" cy="2429460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/>
          <p:cNvCxnSpPr>
            <a:stCxn id="7" idx="6"/>
            <a:endCxn id="15" idx="2"/>
          </p:cNvCxnSpPr>
          <p:nvPr/>
        </p:nvCxnSpPr>
        <p:spPr>
          <a:xfrm flipV="1">
            <a:off x="2236762" y="4060878"/>
            <a:ext cx="1955870" cy="1296131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コネクタ 42"/>
          <p:cNvCxnSpPr>
            <a:stCxn id="7" idx="6"/>
            <a:endCxn id="16" idx="2"/>
          </p:cNvCxnSpPr>
          <p:nvPr/>
        </p:nvCxnSpPr>
        <p:spPr>
          <a:xfrm>
            <a:off x="2236762" y="5357009"/>
            <a:ext cx="1955870" cy="379095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コネクタ 44"/>
          <p:cNvCxnSpPr>
            <a:stCxn id="14" idx="6"/>
            <a:endCxn id="18" idx="2"/>
          </p:cNvCxnSpPr>
          <p:nvPr/>
        </p:nvCxnSpPr>
        <p:spPr>
          <a:xfrm>
            <a:off x="4642798" y="2927549"/>
            <a:ext cx="2106219" cy="756577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コネクタ 46"/>
          <p:cNvCxnSpPr>
            <a:stCxn id="14" idx="6"/>
            <a:endCxn id="19" idx="2"/>
          </p:cNvCxnSpPr>
          <p:nvPr/>
        </p:nvCxnSpPr>
        <p:spPr>
          <a:xfrm>
            <a:off x="4642798" y="2927549"/>
            <a:ext cx="2106219" cy="2051977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線コネクタ 48"/>
          <p:cNvCxnSpPr>
            <a:stCxn id="15" idx="6"/>
            <a:endCxn id="18" idx="2"/>
          </p:cNvCxnSpPr>
          <p:nvPr/>
        </p:nvCxnSpPr>
        <p:spPr>
          <a:xfrm flipV="1">
            <a:off x="4642798" y="3684126"/>
            <a:ext cx="2106219" cy="376752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コネクタ 50"/>
          <p:cNvCxnSpPr>
            <a:stCxn id="15" idx="6"/>
            <a:endCxn id="19" idx="2"/>
          </p:cNvCxnSpPr>
          <p:nvPr/>
        </p:nvCxnSpPr>
        <p:spPr>
          <a:xfrm>
            <a:off x="4642798" y="4060878"/>
            <a:ext cx="2106219" cy="918648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/>
          <p:cNvCxnSpPr>
            <a:stCxn id="16" idx="6"/>
            <a:endCxn id="18" idx="2"/>
          </p:cNvCxnSpPr>
          <p:nvPr/>
        </p:nvCxnSpPr>
        <p:spPr>
          <a:xfrm flipV="1">
            <a:off x="4642798" y="3684126"/>
            <a:ext cx="2106219" cy="2051978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コネクタ 54"/>
          <p:cNvCxnSpPr>
            <a:stCxn id="16" idx="6"/>
            <a:endCxn id="19" idx="2"/>
          </p:cNvCxnSpPr>
          <p:nvPr/>
        </p:nvCxnSpPr>
        <p:spPr>
          <a:xfrm flipV="1">
            <a:off x="4642798" y="4979526"/>
            <a:ext cx="2106219" cy="756578"/>
          </a:xfrm>
          <a:prstGeom prst="line">
            <a:avLst/>
          </a:prstGeom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グループ化 58"/>
          <p:cNvGrpSpPr/>
          <p:nvPr/>
        </p:nvGrpSpPr>
        <p:grpSpPr>
          <a:xfrm>
            <a:off x="1392700" y="2243654"/>
            <a:ext cx="1237957" cy="3338438"/>
            <a:chOff x="1392700" y="2243654"/>
            <a:chExt cx="1237957" cy="3338438"/>
          </a:xfrm>
        </p:grpSpPr>
        <p:sp>
          <p:nvSpPr>
            <p:cNvPr id="5" name="円/楕円 4"/>
            <p:cNvSpPr/>
            <p:nvPr/>
          </p:nvSpPr>
          <p:spPr>
            <a:xfrm>
              <a:off x="1786596" y="3081560"/>
              <a:ext cx="450166" cy="450166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円/楕円 5"/>
            <p:cNvSpPr/>
            <p:nvPr/>
          </p:nvSpPr>
          <p:spPr>
            <a:xfrm>
              <a:off x="1786596" y="3836526"/>
              <a:ext cx="450166" cy="450166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円/楕円 6"/>
            <p:cNvSpPr/>
            <p:nvPr/>
          </p:nvSpPr>
          <p:spPr>
            <a:xfrm>
              <a:off x="1786596" y="5131926"/>
              <a:ext cx="450166" cy="450166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テキスト ボックス 8"/>
            <p:cNvSpPr txBox="1"/>
            <p:nvPr/>
          </p:nvSpPr>
          <p:spPr>
            <a:xfrm>
              <a:off x="1703903" y="4329481"/>
              <a:ext cx="615553" cy="759655"/>
            </a:xfrm>
            <a:prstGeom prst="rect">
              <a:avLst/>
            </a:prstGeom>
            <a:noFill/>
            <a:ln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 dirty="0" smtClean="0"/>
                <a:t>・・・</a:t>
              </a:r>
              <a:endParaRPr kumimoji="1" lang="ja-JP" altLang="en-US" sz="2800" dirty="0" smtClean="0"/>
            </a:p>
          </p:txBody>
        </p:sp>
        <p:sp>
          <p:nvSpPr>
            <p:cNvPr id="56" name="テキスト ボックス 55"/>
            <p:cNvSpPr txBox="1"/>
            <p:nvPr/>
          </p:nvSpPr>
          <p:spPr>
            <a:xfrm>
              <a:off x="1392700" y="2243654"/>
              <a:ext cx="123795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 smtClean="0"/>
                <a:t>Inputs</a:t>
              </a:r>
              <a:endParaRPr kumimoji="1" lang="ja-JP" altLang="en-US" sz="2800" dirty="0" smtClean="0"/>
            </a:p>
          </p:txBody>
        </p:sp>
      </p:grpSp>
      <p:grpSp>
        <p:nvGrpSpPr>
          <p:cNvPr id="60" name="グループ化 59"/>
          <p:cNvGrpSpPr/>
          <p:nvPr/>
        </p:nvGrpSpPr>
        <p:grpSpPr>
          <a:xfrm>
            <a:off x="3648388" y="2053040"/>
            <a:ext cx="1538654" cy="3908147"/>
            <a:chOff x="2964472" y="2053040"/>
            <a:chExt cx="1538654" cy="3908147"/>
          </a:xfrm>
        </p:grpSpPr>
        <p:sp>
          <p:nvSpPr>
            <p:cNvPr id="14" name="円/楕円 13"/>
            <p:cNvSpPr/>
            <p:nvPr/>
          </p:nvSpPr>
          <p:spPr>
            <a:xfrm>
              <a:off x="3508716" y="2702466"/>
              <a:ext cx="450166" cy="450166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円/楕円 14"/>
            <p:cNvSpPr/>
            <p:nvPr/>
          </p:nvSpPr>
          <p:spPr>
            <a:xfrm>
              <a:off x="3508716" y="3835795"/>
              <a:ext cx="450166" cy="450166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円/楕円 15"/>
            <p:cNvSpPr/>
            <p:nvPr/>
          </p:nvSpPr>
          <p:spPr>
            <a:xfrm>
              <a:off x="3508716" y="5511021"/>
              <a:ext cx="450166" cy="450166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テキスト ボックス 16"/>
            <p:cNvSpPr txBox="1"/>
            <p:nvPr/>
          </p:nvSpPr>
          <p:spPr>
            <a:xfrm>
              <a:off x="3426023" y="4594862"/>
              <a:ext cx="615553" cy="759655"/>
            </a:xfrm>
            <a:prstGeom prst="rect">
              <a:avLst/>
            </a:prstGeom>
            <a:noFill/>
            <a:ln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 dirty="0" smtClean="0"/>
                <a:t>・・・</a:t>
              </a:r>
              <a:endParaRPr kumimoji="1" lang="ja-JP" altLang="en-US" sz="2800" dirty="0" smtClean="0"/>
            </a:p>
          </p:txBody>
        </p:sp>
        <p:sp>
          <p:nvSpPr>
            <p:cNvPr id="57" name="テキスト ボックス 56"/>
            <p:cNvSpPr txBox="1"/>
            <p:nvPr/>
          </p:nvSpPr>
          <p:spPr>
            <a:xfrm>
              <a:off x="2964472" y="2053040"/>
              <a:ext cx="153865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 smtClean="0"/>
                <a:t>Hidden</a:t>
              </a:r>
              <a:endParaRPr kumimoji="1" lang="ja-JP" altLang="en-US" sz="2800" dirty="0" smtClean="0"/>
            </a:p>
          </p:txBody>
        </p:sp>
      </p:grpSp>
      <p:grpSp>
        <p:nvGrpSpPr>
          <p:cNvPr id="61" name="グループ化 60"/>
          <p:cNvGrpSpPr/>
          <p:nvPr/>
        </p:nvGrpSpPr>
        <p:grpSpPr>
          <a:xfrm>
            <a:off x="6204773" y="2689344"/>
            <a:ext cx="1538654" cy="2515265"/>
            <a:chOff x="4686593" y="2689344"/>
            <a:chExt cx="1538654" cy="2515265"/>
          </a:xfrm>
        </p:grpSpPr>
        <p:sp>
          <p:nvSpPr>
            <p:cNvPr id="18" name="円/楕円 17"/>
            <p:cNvSpPr/>
            <p:nvPr/>
          </p:nvSpPr>
          <p:spPr>
            <a:xfrm>
              <a:off x="5230837" y="3459043"/>
              <a:ext cx="450166" cy="450166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円/楕円 18"/>
            <p:cNvSpPr/>
            <p:nvPr/>
          </p:nvSpPr>
          <p:spPr>
            <a:xfrm>
              <a:off x="5230837" y="4754443"/>
              <a:ext cx="450166" cy="450166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テキスト ボックス 19"/>
            <p:cNvSpPr txBox="1"/>
            <p:nvPr/>
          </p:nvSpPr>
          <p:spPr>
            <a:xfrm>
              <a:off x="5148143" y="3951998"/>
              <a:ext cx="615553" cy="759655"/>
            </a:xfrm>
            <a:prstGeom prst="rect">
              <a:avLst/>
            </a:prstGeom>
            <a:noFill/>
            <a:ln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 dirty="0" smtClean="0"/>
                <a:t>・・・</a:t>
              </a:r>
              <a:endParaRPr kumimoji="1" lang="ja-JP" altLang="en-US" sz="2800" dirty="0" smtClean="0"/>
            </a:p>
          </p:txBody>
        </p:sp>
        <p:sp>
          <p:nvSpPr>
            <p:cNvPr id="58" name="テキスト ボックス 57"/>
            <p:cNvSpPr txBox="1"/>
            <p:nvPr/>
          </p:nvSpPr>
          <p:spPr>
            <a:xfrm>
              <a:off x="4686593" y="2689344"/>
              <a:ext cx="153865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 smtClean="0"/>
                <a:t>Outputs</a:t>
              </a:r>
              <a:endParaRPr kumimoji="1" lang="ja-JP" altLang="en-US" sz="2800" dirty="0" smtClean="0"/>
            </a:p>
          </p:txBody>
        </p:sp>
      </p:grpSp>
      <p:sp>
        <p:nvSpPr>
          <p:cNvPr id="8" name="テキスト ボックス 7"/>
          <p:cNvSpPr txBox="1"/>
          <p:nvPr/>
        </p:nvSpPr>
        <p:spPr>
          <a:xfrm>
            <a:off x="2657060" y="3768490"/>
            <a:ext cx="1041009" cy="584775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>
                <a:solidFill>
                  <a:schemeClr val="accent2"/>
                </a:solidFill>
              </a:rPr>
              <a:t>固定</a:t>
            </a:r>
            <a:endParaRPr kumimoji="1" lang="ja-JP" altLang="en-US" sz="3200" dirty="0" smtClean="0">
              <a:solidFill>
                <a:schemeClr val="accent2"/>
              </a:solidFill>
            </a:endParaRPr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4975019" y="3762439"/>
            <a:ext cx="1491175" cy="584775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 smtClean="0">
                <a:solidFill>
                  <a:schemeClr val="accent1"/>
                </a:solidFill>
              </a:rPr>
              <a:t>最適化</a:t>
            </a:r>
            <a:endParaRPr kumimoji="1" lang="ja-JP" altLang="en-US" sz="3200" dirty="0" smtClean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0938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提案手法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弱識別器として，</a:t>
            </a:r>
            <a:r>
              <a:rPr kumimoji="1" lang="en-US" altLang="ja-JP" dirty="0" smtClean="0"/>
              <a:t>M</a:t>
            </a:r>
            <a:r>
              <a:rPr lang="ja-JP" altLang="en-US" dirty="0" smtClean="0"/>
              <a:t>個の異なるブートストラップ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サンプルで学習した</a:t>
            </a:r>
            <a:r>
              <a:rPr lang="en-US" altLang="ja-JP" dirty="0"/>
              <a:t>ELM</a:t>
            </a:r>
            <a:r>
              <a:rPr lang="ja-JP" altLang="en-US" dirty="0"/>
              <a:t>のモデル</a:t>
            </a:r>
            <a:r>
              <a:rPr lang="ja-JP" altLang="en-US" dirty="0" smtClean="0"/>
              <a:t>を使用する．</a:t>
            </a:r>
            <a:endParaRPr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RF-based ELM ensemble</a:t>
            </a:r>
            <a:endParaRPr kumimoji="1" lang="ja-JP" altLang="en-US" dirty="0"/>
          </a:p>
        </p:txBody>
      </p:sp>
      <p:grpSp>
        <p:nvGrpSpPr>
          <p:cNvPr id="26" name="グループ化 25"/>
          <p:cNvGrpSpPr/>
          <p:nvPr/>
        </p:nvGrpSpPr>
        <p:grpSpPr>
          <a:xfrm>
            <a:off x="774898" y="2713014"/>
            <a:ext cx="6654006" cy="2553935"/>
            <a:chOff x="774898" y="2713014"/>
            <a:chExt cx="6654006" cy="2553935"/>
          </a:xfrm>
        </p:grpSpPr>
        <p:sp>
          <p:nvSpPr>
            <p:cNvPr id="9" name="テキスト ボックス 8"/>
            <p:cNvSpPr txBox="1"/>
            <p:nvPr/>
          </p:nvSpPr>
          <p:spPr>
            <a:xfrm>
              <a:off x="3374193" y="2713014"/>
              <a:ext cx="1378634" cy="461665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>
                  <a:latin typeface="+mj-lt"/>
                  <a:cs typeface="Times New Roman" panose="02020603050405020304" pitchFamily="18" charset="0"/>
                </a:rPr>
                <a:t>dataset</a:t>
              </a:r>
              <a:endParaRPr kumimoji="1" lang="ja-JP" altLang="en-US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線矢印コネクタ 9"/>
            <p:cNvCxnSpPr>
              <a:stCxn id="9" idx="2"/>
              <a:endCxn id="22" idx="0"/>
            </p:cNvCxnSpPr>
            <p:nvPr/>
          </p:nvCxnSpPr>
          <p:spPr>
            <a:xfrm>
              <a:off x="4063510" y="3174679"/>
              <a:ext cx="0" cy="1261273"/>
            </a:xfrm>
            <a:prstGeom prst="straightConnector1">
              <a:avLst/>
            </a:prstGeom>
            <a:ln w="635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フリーフォーム 10"/>
            <p:cNvSpPr/>
            <p:nvPr/>
          </p:nvSpPr>
          <p:spPr>
            <a:xfrm flipV="1">
              <a:off x="1378342" y="3770141"/>
              <a:ext cx="1447212" cy="679781"/>
            </a:xfrm>
            <a:custGeom>
              <a:avLst/>
              <a:gdLst>
                <a:gd name="connsiteX0" fmla="*/ 0 w 773723"/>
                <a:gd name="connsiteY0" fmla="*/ 0 h 703384"/>
                <a:gd name="connsiteX1" fmla="*/ 0 w 773723"/>
                <a:gd name="connsiteY1" fmla="*/ 0 h 703384"/>
                <a:gd name="connsiteX2" fmla="*/ 0 w 773723"/>
                <a:gd name="connsiteY2" fmla="*/ 703384 h 703384"/>
                <a:gd name="connsiteX3" fmla="*/ 773723 w 773723"/>
                <a:gd name="connsiteY3" fmla="*/ 703384 h 703384"/>
                <a:gd name="connsiteX4" fmla="*/ 773723 w 773723"/>
                <a:gd name="connsiteY4" fmla="*/ 703384 h 703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3723" h="703384">
                  <a:moveTo>
                    <a:pt x="0" y="0"/>
                  </a:moveTo>
                  <a:lnTo>
                    <a:pt x="0" y="0"/>
                  </a:lnTo>
                  <a:lnTo>
                    <a:pt x="0" y="703384"/>
                  </a:lnTo>
                  <a:lnTo>
                    <a:pt x="773723" y="703384"/>
                  </a:lnTo>
                  <a:lnTo>
                    <a:pt x="773723" y="703384"/>
                  </a:lnTo>
                </a:path>
              </a:pathLst>
            </a:custGeom>
            <a:noFill/>
            <a:ln w="63500">
              <a:solidFill>
                <a:schemeClr val="tx1"/>
              </a:solidFill>
              <a:head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13" name="テキスト ボックス 12"/>
            <p:cNvSpPr txBox="1"/>
            <p:nvPr/>
          </p:nvSpPr>
          <p:spPr>
            <a:xfrm>
              <a:off x="4716630" y="4641603"/>
              <a:ext cx="1378634" cy="419695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2400" dirty="0" smtClean="0">
                  <a:latin typeface="+mj-lt"/>
                  <a:cs typeface="Times New Roman" panose="02020603050405020304" pitchFamily="18" charset="0"/>
                </a:rPr>
                <a:t>・・</a:t>
              </a:r>
              <a:r>
                <a:rPr lang="ja-JP" altLang="en-US" sz="2400" dirty="0">
                  <a:latin typeface="+mj-lt"/>
                  <a:cs typeface="Times New Roman" panose="02020603050405020304" pitchFamily="18" charset="0"/>
                </a:rPr>
                <a:t>・</a:t>
              </a:r>
              <a:endParaRPr lang="en-US" altLang="ja-JP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20" name="テキスト ボックス 19"/>
            <p:cNvSpPr txBox="1"/>
            <p:nvPr/>
          </p:nvSpPr>
          <p:spPr>
            <a:xfrm>
              <a:off x="774898" y="4435952"/>
              <a:ext cx="1223888" cy="830997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/>
                <a:t>ELM</a:t>
              </a:r>
            </a:p>
            <a:p>
              <a:pPr algn="ctr"/>
              <a:r>
                <a:rPr lang="en-US" altLang="ja-JP" sz="2400" dirty="0" smtClean="0">
                  <a:latin typeface="+mj-lt"/>
                  <a:cs typeface="Times New Roman" panose="02020603050405020304" pitchFamily="18" charset="0"/>
                </a:rPr>
                <a:t>1</a:t>
              </a:r>
              <a:endParaRPr kumimoji="1" lang="ja-JP" altLang="en-US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21" name="テキスト ボックス 20"/>
            <p:cNvSpPr txBox="1"/>
            <p:nvPr/>
          </p:nvSpPr>
          <p:spPr>
            <a:xfrm>
              <a:off x="6205016" y="4435952"/>
              <a:ext cx="1223888" cy="830997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/>
                <a:t>ELM</a:t>
              </a:r>
            </a:p>
            <a:p>
              <a:pPr algn="ctr"/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endParaRPr kumimoji="1" lang="ja-JP" altLang="en-US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テキスト ボックス 21"/>
            <p:cNvSpPr txBox="1"/>
            <p:nvPr/>
          </p:nvSpPr>
          <p:spPr>
            <a:xfrm>
              <a:off x="3451566" y="4435952"/>
              <a:ext cx="1223888" cy="830997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/>
                <a:t>ELM</a:t>
              </a:r>
            </a:p>
            <a:p>
              <a:pPr algn="ctr"/>
              <a:r>
                <a:rPr lang="en-US" altLang="ja-JP" sz="2400" dirty="0" smtClean="0">
                  <a:latin typeface="+mj-lt"/>
                  <a:cs typeface="Times New Roman" panose="02020603050405020304" pitchFamily="18" charset="0"/>
                </a:rPr>
                <a:t>2</a:t>
              </a:r>
              <a:endParaRPr kumimoji="1" lang="ja-JP" altLang="en-US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24" name="フリーフォーム 23"/>
            <p:cNvSpPr/>
            <p:nvPr/>
          </p:nvSpPr>
          <p:spPr>
            <a:xfrm flipH="1" flipV="1">
              <a:off x="5328573" y="3770140"/>
              <a:ext cx="1447212" cy="679781"/>
            </a:xfrm>
            <a:custGeom>
              <a:avLst/>
              <a:gdLst>
                <a:gd name="connsiteX0" fmla="*/ 0 w 773723"/>
                <a:gd name="connsiteY0" fmla="*/ 0 h 703384"/>
                <a:gd name="connsiteX1" fmla="*/ 0 w 773723"/>
                <a:gd name="connsiteY1" fmla="*/ 0 h 703384"/>
                <a:gd name="connsiteX2" fmla="*/ 0 w 773723"/>
                <a:gd name="connsiteY2" fmla="*/ 703384 h 703384"/>
                <a:gd name="connsiteX3" fmla="*/ 773723 w 773723"/>
                <a:gd name="connsiteY3" fmla="*/ 703384 h 703384"/>
                <a:gd name="connsiteX4" fmla="*/ 773723 w 773723"/>
                <a:gd name="connsiteY4" fmla="*/ 703384 h 703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3723" h="703384">
                  <a:moveTo>
                    <a:pt x="0" y="0"/>
                  </a:moveTo>
                  <a:lnTo>
                    <a:pt x="0" y="0"/>
                  </a:lnTo>
                  <a:lnTo>
                    <a:pt x="0" y="703384"/>
                  </a:lnTo>
                  <a:lnTo>
                    <a:pt x="773723" y="703384"/>
                  </a:lnTo>
                  <a:lnTo>
                    <a:pt x="773723" y="703384"/>
                  </a:lnTo>
                </a:path>
              </a:pathLst>
            </a:custGeom>
            <a:noFill/>
            <a:ln w="63500">
              <a:solidFill>
                <a:schemeClr val="tx1"/>
              </a:solidFill>
              <a:head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12" name="テキスト ボックス 11"/>
            <p:cNvSpPr txBox="1"/>
            <p:nvPr/>
          </p:nvSpPr>
          <p:spPr>
            <a:xfrm>
              <a:off x="2375387" y="3549928"/>
              <a:ext cx="3376246" cy="461665"/>
            </a:xfrm>
            <a:prstGeom prst="rect">
              <a:avLst/>
            </a:prstGeom>
            <a:solidFill>
              <a:schemeClr val="bg1"/>
            </a:solidFill>
            <a:ln w="28575">
              <a:noFill/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/>
                <a:t>Bootstrap</a:t>
              </a:r>
              <a:r>
                <a:rPr lang="ja-JP" altLang="en-US" sz="2400" dirty="0"/>
                <a:t> </a:t>
              </a:r>
              <a:r>
                <a:rPr lang="en-US" altLang="ja-JP" sz="2400" dirty="0" smtClean="0"/>
                <a:t>samplin</a:t>
              </a:r>
              <a:r>
                <a:rPr lang="en-US" altLang="ja-JP" sz="2400" dirty="0"/>
                <a:t>g</a:t>
              </a:r>
              <a:endParaRPr kumimoji="1" lang="ja-JP" altLang="en-US" sz="24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2403982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提案手法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弱識別器として，</a:t>
            </a:r>
            <a:r>
              <a:rPr lang="en-US" altLang="ja-JP" dirty="0"/>
              <a:t>M</a:t>
            </a:r>
            <a:r>
              <a:rPr lang="ja-JP" altLang="en-US" dirty="0"/>
              <a:t>個の異なるブートストラップ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/>
              <a:t>サンプルで学習した</a:t>
            </a:r>
            <a:r>
              <a:rPr lang="en-US" altLang="ja-JP" dirty="0"/>
              <a:t>ELM</a:t>
            </a:r>
            <a:r>
              <a:rPr lang="ja-JP" altLang="en-US" dirty="0"/>
              <a:t>のモデルを使用する．</a:t>
            </a:r>
            <a:endParaRPr lang="en-US" altLang="ja-JP" dirty="0"/>
          </a:p>
          <a:p>
            <a:r>
              <a:rPr kumimoji="1" lang="en-US" altLang="ja-JP" dirty="0" smtClean="0"/>
              <a:t>M</a:t>
            </a:r>
            <a:r>
              <a:rPr kumimoji="1" lang="ja-JP" altLang="en-US" dirty="0" smtClean="0"/>
              <a:t>個のモデルをランダムフォレストで</a:t>
            </a:r>
            <a:r>
              <a:rPr lang="ja-JP" altLang="en-US" dirty="0" smtClean="0"/>
              <a:t>集約する．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7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RF-based ELM ensemble</a:t>
            </a:r>
            <a:endParaRPr lang="ja-JP" altLang="en-US" dirty="0"/>
          </a:p>
        </p:txBody>
      </p:sp>
      <p:grpSp>
        <p:nvGrpSpPr>
          <p:cNvPr id="25" name="グループ化 24"/>
          <p:cNvGrpSpPr/>
          <p:nvPr/>
        </p:nvGrpSpPr>
        <p:grpSpPr>
          <a:xfrm>
            <a:off x="548640" y="3063028"/>
            <a:ext cx="6872884" cy="3571581"/>
            <a:chOff x="548640" y="3063028"/>
            <a:chExt cx="6872884" cy="3571581"/>
          </a:xfrm>
        </p:grpSpPr>
        <p:sp>
          <p:nvSpPr>
            <p:cNvPr id="9" name="テキスト ボックス 8"/>
            <p:cNvSpPr txBox="1"/>
            <p:nvPr/>
          </p:nvSpPr>
          <p:spPr>
            <a:xfrm>
              <a:off x="3374193" y="3063028"/>
              <a:ext cx="1378634" cy="461665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>
                  <a:latin typeface="+mj-lt"/>
                  <a:cs typeface="Times New Roman" panose="02020603050405020304" pitchFamily="18" charset="0"/>
                </a:rPr>
                <a:t>dataset</a:t>
              </a:r>
              <a:endParaRPr kumimoji="1" lang="ja-JP" altLang="en-US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線矢印コネクタ 9"/>
            <p:cNvCxnSpPr>
              <a:stCxn id="9" idx="2"/>
              <a:endCxn id="22" idx="0"/>
            </p:cNvCxnSpPr>
            <p:nvPr/>
          </p:nvCxnSpPr>
          <p:spPr>
            <a:xfrm>
              <a:off x="4063510" y="3524693"/>
              <a:ext cx="1" cy="503060"/>
            </a:xfrm>
            <a:prstGeom prst="straightConnector1">
              <a:avLst/>
            </a:prstGeom>
            <a:ln w="635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/>
            <p:cNvSpPr txBox="1"/>
            <p:nvPr/>
          </p:nvSpPr>
          <p:spPr>
            <a:xfrm>
              <a:off x="4716630" y="4227826"/>
              <a:ext cx="1378634" cy="419695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2400" dirty="0" smtClean="0">
                  <a:latin typeface="+mj-lt"/>
                  <a:cs typeface="Times New Roman" panose="02020603050405020304" pitchFamily="18" charset="0"/>
                </a:rPr>
                <a:t>・・</a:t>
              </a:r>
              <a:r>
                <a:rPr lang="ja-JP" altLang="en-US" sz="2400" dirty="0">
                  <a:latin typeface="+mj-lt"/>
                  <a:cs typeface="Times New Roman" panose="02020603050405020304" pitchFamily="18" charset="0"/>
                </a:rPr>
                <a:t>・</a:t>
              </a:r>
              <a:endParaRPr lang="en-US" altLang="ja-JP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14" name="テキスト ボックス 13"/>
            <p:cNvSpPr txBox="1"/>
            <p:nvPr/>
          </p:nvSpPr>
          <p:spPr>
            <a:xfrm>
              <a:off x="3418043" y="5355281"/>
              <a:ext cx="1290934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/>
                <a:t>RF </a:t>
              </a:r>
              <a:endParaRPr kumimoji="1" lang="ja-JP" altLang="en-US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線矢印コネクタ 14"/>
            <p:cNvCxnSpPr>
              <a:stCxn id="22" idx="2"/>
              <a:endCxn id="14" idx="0"/>
            </p:cNvCxnSpPr>
            <p:nvPr/>
          </p:nvCxnSpPr>
          <p:spPr>
            <a:xfrm flipH="1">
              <a:off x="4063510" y="4847594"/>
              <a:ext cx="1" cy="507687"/>
            </a:xfrm>
            <a:prstGeom prst="straightConnector1">
              <a:avLst/>
            </a:prstGeom>
            <a:ln w="635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グループ化 15"/>
            <p:cNvGrpSpPr/>
            <p:nvPr/>
          </p:nvGrpSpPr>
          <p:grpSpPr>
            <a:xfrm flipV="1">
              <a:off x="1378635" y="4622762"/>
              <a:ext cx="5369750" cy="399102"/>
              <a:chOff x="1378635" y="3335539"/>
              <a:chExt cx="6463222" cy="392399"/>
            </a:xfrm>
          </p:grpSpPr>
          <p:sp>
            <p:nvSpPr>
              <p:cNvPr id="17" name="フリーフォーム 16"/>
              <p:cNvSpPr/>
              <p:nvPr/>
            </p:nvSpPr>
            <p:spPr>
              <a:xfrm>
                <a:off x="1378635" y="3335539"/>
                <a:ext cx="2684876" cy="392399"/>
              </a:xfrm>
              <a:custGeom>
                <a:avLst/>
                <a:gdLst>
                  <a:gd name="connsiteX0" fmla="*/ 0 w 2700997"/>
                  <a:gd name="connsiteY0" fmla="*/ 337624 h 337624"/>
                  <a:gd name="connsiteX1" fmla="*/ 0 w 2700997"/>
                  <a:gd name="connsiteY1" fmla="*/ 337624 h 337624"/>
                  <a:gd name="connsiteX2" fmla="*/ 0 w 2700997"/>
                  <a:gd name="connsiteY2" fmla="*/ 0 h 337624"/>
                  <a:gd name="connsiteX3" fmla="*/ 2700997 w 2700997"/>
                  <a:gd name="connsiteY3" fmla="*/ 0 h 337624"/>
                  <a:gd name="connsiteX4" fmla="*/ 2700997 w 2700997"/>
                  <a:gd name="connsiteY4" fmla="*/ 14068 h 3376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00997" h="337624">
                    <a:moveTo>
                      <a:pt x="0" y="337624"/>
                    </a:moveTo>
                    <a:lnTo>
                      <a:pt x="0" y="337624"/>
                    </a:lnTo>
                    <a:lnTo>
                      <a:pt x="0" y="0"/>
                    </a:lnTo>
                    <a:lnTo>
                      <a:pt x="2700997" y="0"/>
                    </a:lnTo>
                    <a:lnTo>
                      <a:pt x="2700997" y="14068"/>
                    </a:lnTo>
                  </a:path>
                </a:pathLst>
              </a:custGeom>
              <a:noFill/>
              <a:ln w="635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/>
              </a:p>
            </p:txBody>
          </p:sp>
          <p:sp>
            <p:nvSpPr>
              <p:cNvPr id="18" name="フリーフォーム 17"/>
              <p:cNvSpPr/>
              <p:nvPr/>
            </p:nvSpPr>
            <p:spPr>
              <a:xfrm flipH="1">
                <a:off x="3998303" y="3335539"/>
                <a:ext cx="3843554" cy="392399"/>
              </a:xfrm>
              <a:custGeom>
                <a:avLst/>
                <a:gdLst>
                  <a:gd name="connsiteX0" fmla="*/ 0 w 2700997"/>
                  <a:gd name="connsiteY0" fmla="*/ 337624 h 337624"/>
                  <a:gd name="connsiteX1" fmla="*/ 0 w 2700997"/>
                  <a:gd name="connsiteY1" fmla="*/ 337624 h 337624"/>
                  <a:gd name="connsiteX2" fmla="*/ 0 w 2700997"/>
                  <a:gd name="connsiteY2" fmla="*/ 0 h 337624"/>
                  <a:gd name="connsiteX3" fmla="*/ 2700997 w 2700997"/>
                  <a:gd name="connsiteY3" fmla="*/ 0 h 337624"/>
                  <a:gd name="connsiteX4" fmla="*/ 2700997 w 2700997"/>
                  <a:gd name="connsiteY4" fmla="*/ 14068 h 3376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00997" h="337624">
                    <a:moveTo>
                      <a:pt x="0" y="337624"/>
                    </a:moveTo>
                    <a:lnTo>
                      <a:pt x="0" y="337624"/>
                    </a:lnTo>
                    <a:lnTo>
                      <a:pt x="0" y="0"/>
                    </a:lnTo>
                    <a:lnTo>
                      <a:pt x="2700997" y="0"/>
                    </a:lnTo>
                    <a:lnTo>
                      <a:pt x="2700997" y="14068"/>
                    </a:lnTo>
                  </a:path>
                </a:pathLst>
              </a:custGeom>
              <a:noFill/>
              <a:ln w="635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/>
              </a:p>
            </p:txBody>
          </p:sp>
        </p:grpSp>
        <p:cxnSp>
          <p:nvCxnSpPr>
            <p:cNvPr id="19" name="直線矢印コネクタ 18"/>
            <p:cNvCxnSpPr>
              <a:stCxn id="14" idx="2"/>
            </p:cNvCxnSpPr>
            <p:nvPr/>
          </p:nvCxnSpPr>
          <p:spPr>
            <a:xfrm>
              <a:off x="4063510" y="5816946"/>
              <a:ext cx="1" cy="817663"/>
            </a:xfrm>
            <a:prstGeom prst="straightConnector1">
              <a:avLst/>
            </a:prstGeom>
            <a:ln w="635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テキスト ボックス 19"/>
            <p:cNvSpPr txBox="1"/>
            <p:nvPr/>
          </p:nvSpPr>
          <p:spPr>
            <a:xfrm>
              <a:off x="548640" y="4022175"/>
              <a:ext cx="1441646" cy="830997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/>
                <a:t>Learned</a:t>
              </a:r>
            </a:p>
            <a:p>
              <a:pPr algn="ctr"/>
              <a:r>
                <a:rPr lang="en-US" altLang="ja-JP" sz="2400" dirty="0" smtClean="0"/>
                <a:t>ELM</a:t>
              </a:r>
              <a:r>
                <a:rPr lang="ja-JP" altLang="en-US" sz="2400" dirty="0" smtClean="0"/>
                <a:t> </a:t>
              </a:r>
              <a:r>
                <a:rPr lang="en-US" altLang="ja-JP" sz="2400" dirty="0" smtClean="0">
                  <a:latin typeface="+mj-lt"/>
                  <a:cs typeface="Times New Roman" panose="02020603050405020304" pitchFamily="18" charset="0"/>
                </a:rPr>
                <a:t>1</a:t>
              </a:r>
              <a:endParaRPr kumimoji="1" lang="ja-JP" altLang="en-US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21" name="テキスト ボックス 20"/>
            <p:cNvSpPr txBox="1"/>
            <p:nvPr/>
          </p:nvSpPr>
          <p:spPr>
            <a:xfrm>
              <a:off x="6075247" y="4027753"/>
              <a:ext cx="1346277" cy="81984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/>
                <a:t>Learned</a:t>
              </a:r>
            </a:p>
            <a:p>
              <a:pPr algn="ctr"/>
              <a:r>
                <a:rPr lang="en-US" altLang="ja-JP" sz="2400" dirty="0" smtClean="0"/>
                <a:t>ELM </a:t>
              </a:r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endParaRPr kumimoji="1" lang="ja-JP" altLang="en-US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テキスト ボックス 21"/>
            <p:cNvSpPr txBox="1"/>
            <p:nvPr/>
          </p:nvSpPr>
          <p:spPr>
            <a:xfrm>
              <a:off x="3390372" y="4027753"/>
              <a:ext cx="1346277" cy="81984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/>
                <a:t>Learned</a:t>
              </a:r>
              <a:endParaRPr lang="en-US" altLang="ja-JP" sz="2400" dirty="0"/>
            </a:p>
            <a:p>
              <a:pPr algn="ctr"/>
              <a:r>
                <a:rPr lang="en-US" altLang="ja-JP" sz="2400" dirty="0" smtClean="0"/>
                <a:t>ELM </a:t>
              </a:r>
              <a:r>
                <a:rPr lang="en-US" altLang="ja-JP" sz="2400" dirty="0" smtClean="0">
                  <a:latin typeface="+mj-lt"/>
                  <a:cs typeface="Times New Roman" panose="02020603050405020304" pitchFamily="18" charset="0"/>
                </a:rPr>
                <a:t>2</a:t>
              </a:r>
              <a:endParaRPr kumimoji="1" lang="ja-JP" altLang="en-US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23" name="テキスト ボックス 22"/>
            <p:cNvSpPr txBox="1"/>
            <p:nvPr/>
          </p:nvSpPr>
          <p:spPr>
            <a:xfrm>
              <a:off x="3374193" y="5915508"/>
              <a:ext cx="1378634" cy="461665"/>
            </a:xfrm>
            <a:prstGeom prst="rect">
              <a:avLst/>
            </a:prstGeom>
            <a:solidFill>
              <a:schemeClr val="bg1"/>
            </a:solidFill>
            <a:ln w="28575">
              <a:noFill/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2400" dirty="0" smtClean="0">
                  <a:latin typeface="+mj-lt"/>
                  <a:cs typeface="Times New Roman" panose="02020603050405020304" pitchFamily="18" charset="0"/>
                </a:rPr>
                <a:t>Output</a:t>
              </a:r>
              <a:endParaRPr kumimoji="1" lang="ja-JP" altLang="en-US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grpSp>
          <p:nvGrpSpPr>
            <p:cNvPr id="8" name="グループ化 7"/>
            <p:cNvGrpSpPr/>
            <p:nvPr/>
          </p:nvGrpSpPr>
          <p:grpSpPr>
            <a:xfrm>
              <a:off x="1223392" y="3730883"/>
              <a:ext cx="5582225" cy="291292"/>
              <a:chOff x="1223392" y="3730883"/>
              <a:chExt cx="5582225" cy="510886"/>
            </a:xfrm>
          </p:grpSpPr>
          <p:sp>
            <p:nvSpPr>
              <p:cNvPr id="11" name="フリーフォーム 10"/>
              <p:cNvSpPr/>
              <p:nvPr/>
            </p:nvSpPr>
            <p:spPr>
              <a:xfrm flipV="1">
                <a:off x="1223392" y="3730884"/>
                <a:ext cx="2840117" cy="510885"/>
              </a:xfrm>
              <a:custGeom>
                <a:avLst/>
                <a:gdLst>
                  <a:gd name="connsiteX0" fmla="*/ 0 w 773723"/>
                  <a:gd name="connsiteY0" fmla="*/ 0 h 703384"/>
                  <a:gd name="connsiteX1" fmla="*/ 0 w 773723"/>
                  <a:gd name="connsiteY1" fmla="*/ 0 h 703384"/>
                  <a:gd name="connsiteX2" fmla="*/ 0 w 773723"/>
                  <a:gd name="connsiteY2" fmla="*/ 703384 h 703384"/>
                  <a:gd name="connsiteX3" fmla="*/ 773723 w 773723"/>
                  <a:gd name="connsiteY3" fmla="*/ 703384 h 703384"/>
                  <a:gd name="connsiteX4" fmla="*/ 773723 w 773723"/>
                  <a:gd name="connsiteY4" fmla="*/ 703384 h 703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3723" h="703384">
                    <a:moveTo>
                      <a:pt x="0" y="0"/>
                    </a:moveTo>
                    <a:lnTo>
                      <a:pt x="0" y="0"/>
                    </a:lnTo>
                    <a:lnTo>
                      <a:pt x="0" y="703384"/>
                    </a:lnTo>
                    <a:lnTo>
                      <a:pt x="773723" y="703384"/>
                    </a:lnTo>
                    <a:lnTo>
                      <a:pt x="773723" y="703384"/>
                    </a:lnTo>
                  </a:path>
                </a:pathLst>
              </a:custGeom>
              <a:noFill/>
              <a:ln w="63500">
                <a:solidFill>
                  <a:schemeClr val="tx1"/>
                </a:solidFill>
                <a:head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/>
              </a:p>
            </p:txBody>
          </p:sp>
          <p:sp>
            <p:nvSpPr>
              <p:cNvPr id="24" name="フリーフォーム 23"/>
              <p:cNvSpPr/>
              <p:nvPr/>
            </p:nvSpPr>
            <p:spPr>
              <a:xfrm flipH="1" flipV="1">
                <a:off x="4002022" y="3730883"/>
                <a:ext cx="2803595" cy="510885"/>
              </a:xfrm>
              <a:custGeom>
                <a:avLst/>
                <a:gdLst>
                  <a:gd name="connsiteX0" fmla="*/ 0 w 773723"/>
                  <a:gd name="connsiteY0" fmla="*/ 0 h 703384"/>
                  <a:gd name="connsiteX1" fmla="*/ 0 w 773723"/>
                  <a:gd name="connsiteY1" fmla="*/ 0 h 703384"/>
                  <a:gd name="connsiteX2" fmla="*/ 0 w 773723"/>
                  <a:gd name="connsiteY2" fmla="*/ 703384 h 703384"/>
                  <a:gd name="connsiteX3" fmla="*/ 773723 w 773723"/>
                  <a:gd name="connsiteY3" fmla="*/ 703384 h 703384"/>
                  <a:gd name="connsiteX4" fmla="*/ 773723 w 773723"/>
                  <a:gd name="connsiteY4" fmla="*/ 703384 h 703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3723" h="703384">
                    <a:moveTo>
                      <a:pt x="0" y="0"/>
                    </a:moveTo>
                    <a:lnTo>
                      <a:pt x="0" y="0"/>
                    </a:lnTo>
                    <a:lnTo>
                      <a:pt x="0" y="703384"/>
                    </a:lnTo>
                    <a:lnTo>
                      <a:pt x="773723" y="703384"/>
                    </a:lnTo>
                    <a:lnTo>
                      <a:pt x="773723" y="703384"/>
                    </a:lnTo>
                  </a:path>
                </a:pathLst>
              </a:custGeom>
              <a:noFill/>
              <a:ln w="63500">
                <a:solidFill>
                  <a:schemeClr val="tx1"/>
                </a:solidFill>
                <a:head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8577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提案手法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今回使用する時系列データは，各時点において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lang="ja-JP" altLang="en-US" dirty="0" smtClean="0"/>
              <a:t>さまざまな</a:t>
            </a:r>
            <a:r>
              <a:rPr kumimoji="1" lang="ja-JP" altLang="en-US" dirty="0" smtClean="0"/>
              <a:t>レジームで観測されている．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8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Multi-regime Approach</a:t>
            </a:r>
            <a:endParaRPr kumimoji="1" lang="ja-JP" altLang="en-US" dirty="0"/>
          </a:p>
        </p:txBody>
      </p:sp>
      <p:grpSp>
        <p:nvGrpSpPr>
          <p:cNvPr id="11" name="グループ化 10"/>
          <p:cNvGrpSpPr/>
          <p:nvPr/>
        </p:nvGrpSpPr>
        <p:grpSpPr>
          <a:xfrm>
            <a:off x="1909152" y="3280058"/>
            <a:ext cx="2455391" cy="492369"/>
            <a:chOff x="1959952" y="3372582"/>
            <a:chExt cx="2455391" cy="492369"/>
          </a:xfrm>
          <a:solidFill>
            <a:schemeClr val="accent1"/>
          </a:solidFill>
        </p:grpSpPr>
        <p:sp>
          <p:nvSpPr>
            <p:cNvPr id="6" name="正方形/長方形 5"/>
            <p:cNvSpPr/>
            <p:nvPr/>
          </p:nvSpPr>
          <p:spPr>
            <a:xfrm>
              <a:off x="1959952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/>
            <p:cNvSpPr/>
            <p:nvPr/>
          </p:nvSpPr>
          <p:spPr>
            <a:xfrm>
              <a:off x="2454449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/>
            <p:cNvSpPr/>
            <p:nvPr/>
          </p:nvSpPr>
          <p:spPr>
            <a:xfrm>
              <a:off x="2943957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正方形/長方形 8"/>
            <p:cNvSpPr/>
            <p:nvPr/>
          </p:nvSpPr>
          <p:spPr>
            <a:xfrm>
              <a:off x="3433465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3922974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2" name="テキスト ボックス 11"/>
          <p:cNvSpPr txBox="1"/>
          <p:nvPr/>
        </p:nvSpPr>
        <p:spPr>
          <a:xfrm>
            <a:off x="747730" y="3264632"/>
            <a:ext cx="1101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r>
              <a:rPr lang="en-US" altLang="ja-JP" sz="2800" dirty="0"/>
              <a:t>-</a:t>
            </a:r>
            <a:r>
              <a:rPr kumimoji="1" lang="en-US" altLang="ja-JP" sz="2800" dirty="0" smtClean="0"/>
              <a:t> 2</a:t>
            </a:r>
            <a:endParaRPr kumimoji="1" lang="ja-JP" altLang="en-US" sz="2800" dirty="0" smtClean="0"/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992016" y="2533103"/>
            <a:ext cx="615553" cy="759655"/>
          </a:xfrm>
          <a:prstGeom prst="rect">
            <a:avLst/>
          </a:prstGeom>
          <a:noFill/>
          <a:ln>
            <a:noFill/>
          </a:ln>
        </p:spPr>
        <p:txBody>
          <a:bodyPr vert="eaVert"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・・・</a:t>
            </a:r>
            <a:endParaRPr kumimoji="1" lang="ja-JP" altLang="en-US" sz="2800" dirty="0" smtClean="0"/>
          </a:p>
        </p:txBody>
      </p:sp>
      <p:grpSp>
        <p:nvGrpSpPr>
          <p:cNvPr id="16" name="グループ化 15"/>
          <p:cNvGrpSpPr/>
          <p:nvPr/>
        </p:nvGrpSpPr>
        <p:grpSpPr>
          <a:xfrm>
            <a:off x="1909152" y="3974629"/>
            <a:ext cx="2455391" cy="492369"/>
            <a:chOff x="1959952" y="3372582"/>
            <a:chExt cx="2455391" cy="492369"/>
          </a:xfrm>
          <a:solidFill>
            <a:schemeClr val="accent2"/>
          </a:solidFill>
        </p:grpSpPr>
        <p:sp>
          <p:nvSpPr>
            <p:cNvPr id="18" name="正方形/長方形 17"/>
            <p:cNvSpPr/>
            <p:nvPr/>
          </p:nvSpPr>
          <p:spPr>
            <a:xfrm>
              <a:off x="1959952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正方形/長方形 18"/>
            <p:cNvSpPr/>
            <p:nvPr/>
          </p:nvSpPr>
          <p:spPr>
            <a:xfrm>
              <a:off x="2454449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/>
            <p:cNvSpPr/>
            <p:nvPr/>
          </p:nvSpPr>
          <p:spPr>
            <a:xfrm>
              <a:off x="2943957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/>
            <p:cNvSpPr/>
            <p:nvPr/>
          </p:nvSpPr>
          <p:spPr>
            <a:xfrm>
              <a:off x="3433465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正方形/長方形 21"/>
            <p:cNvSpPr/>
            <p:nvPr/>
          </p:nvSpPr>
          <p:spPr>
            <a:xfrm>
              <a:off x="3922974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7" name="テキスト ボックス 16"/>
          <p:cNvSpPr txBox="1"/>
          <p:nvPr/>
        </p:nvSpPr>
        <p:spPr>
          <a:xfrm>
            <a:off x="747730" y="3959203"/>
            <a:ext cx="1101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r>
              <a:rPr kumimoji="1" lang="en-US" altLang="ja-JP" sz="2800" dirty="0" smtClean="0"/>
              <a:t>- 1</a:t>
            </a:r>
            <a:endParaRPr kumimoji="1" lang="ja-JP" altLang="en-US" sz="2800" dirty="0" smtClean="0"/>
          </a:p>
        </p:txBody>
      </p:sp>
      <p:grpSp>
        <p:nvGrpSpPr>
          <p:cNvPr id="24" name="グループ化 23"/>
          <p:cNvGrpSpPr/>
          <p:nvPr/>
        </p:nvGrpSpPr>
        <p:grpSpPr>
          <a:xfrm>
            <a:off x="1909152" y="4669200"/>
            <a:ext cx="2455391" cy="492369"/>
            <a:chOff x="1959952" y="3372582"/>
            <a:chExt cx="2455391" cy="492369"/>
          </a:xfrm>
          <a:solidFill>
            <a:schemeClr val="accent5"/>
          </a:solidFill>
        </p:grpSpPr>
        <p:sp>
          <p:nvSpPr>
            <p:cNvPr id="26" name="正方形/長方形 25"/>
            <p:cNvSpPr/>
            <p:nvPr/>
          </p:nvSpPr>
          <p:spPr>
            <a:xfrm>
              <a:off x="1959952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正方形/長方形 26"/>
            <p:cNvSpPr/>
            <p:nvPr/>
          </p:nvSpPr>
          <p:spPr>
            <a:xfrm>
              <a:off x="2454449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正方形/長方形 27"/>
            <p:cNvSpPr/>
            <p:nvPr/>
          </p:nvSpPr>
          <p:spPr>
            <a:xfrm>
              <a:off x="2943957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正方形/長方形 28"/>
            <p:cNvSpPr/>
            <p:nvPr/>
          </p:nvSpPr>
          <p:spPr>
            <a:xfrm>
              <a:off x="3433465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正方形/長方形 29"/>
            <p:cNvSpPr/>
            <p:nvPr/>
          </p:nvSpPr>
          <p:spPr>
            <a:xfrm>
              <a:off x="3922974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5" name="テキスト ボックス 24"/>
          <p:cNvSpPr txBox="1"/>
          <p:nvPr/>
        </p:nvSpPr>
        <p:spPr>
          <a:xfrm>
            <a:off x="747730" y="4653774"/>
            <a:ext cx="1101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endParaRPr kumimoji="1" lang="ja-JP" altLang="en-US" sz="2800" dirty="0" smtClean="0"/>
          </a:p>
        </p:txBody>
      </p:sp>
      <p:grpSp>
        <p:nvGrpSpPr>
          <p:cNvPr id="32" name="グループ化 31"/>
          <p:cNvGrpSpPr/>
          <p:nvPr/>
        </p:nvGrpSpPr>
        <p:grpSpPr>
          <a:xfrm>
            <a:off x="1909152" y="5363771"/>
            <a:ext cx="2455391" cy="492369"/>
            <a:chOff x="1959952" y="3372582"/>
            <a:chExt cx="2455391" cy="492369"/>
          </a:xfrm>
          <a:solidFill>
            <a:schemeClr val="accent3"/>
          </a:solidFill>
        </p:grpSpPr>
        <p:sp>
          <p:nvSpPr>
            <p:cNvPr id="34" name="正方形/長方形 33"/>
            <p:cNvSpPr/>
            <p:nvPr/>
          </p:nvSpPr>
          <p:spPr>
            <a:xfrm>
              <a:off x="1959952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" name="正方形/長方形 34"/>
            <p:cNvSpPr/>
            <p:nvPr/>
          </p:nvSpPr>
          <p:spPr>
            <a:xfrm>
              <a:off x="2454449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正方形/長方形 35"/>
            <p:cNvSpPr/>
            <p:nvPr/>
          </p:nvSpPr>
          <p:spPr>
            <a:xfrm>
              <a:off x="2943957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正方形/長方形 36"/>
            <p:cNvSpPr/>
            <p:nvPr/>
          </p:nvSpPr>
          <p:spPr>
            <a:xfrm>
              <a:off x="3433465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正方形/長方形 37"/>
            <p:cNvSpPr/>
            <p:nvPr/>
          </p:nvSpPr>
          <p:spPr>
            <a:xfrm>
              <a:off x="3922974" y="3372582"/>
              <a:ext cx="492369" cy="492369"/>
            </a:xfrm>
            <a:prstGeom prst="rect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3" name="テキスト ボックス 32"/>
          <p:cNvSpPr txBox="1"/>
          <p:nvPr/>
        </p:nvSpPr>
        <p:spPr>
          <a:xfrm>
            <a:off x="747730" y="5348345"/>
            <a:ext cx="1101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r>
              <a:rPr lang="en-US" altLang="ja-JP" sz="2800" dirty="0"/>
              <a:t>+</a:t>
            </a:r>
            <a:r>
              <a:rPr kumimoji="1" lang="en-US" altLang="ja-JP" sz="2800" dirty="0" smtClean="0"/>
              <a:t> 1</a:t>
            </a:r>
            <a:endParaRPr kumimoji="1" lang="ja-JP" altLang="en-US" sz="2800" dirty="0" smtClean="0"/>
          </a:p>
        </p:txBody>
      </p:sp>
      <p:sp>
        <p:nvSpPr>
          <p:cNvPr id="40" name="テキスト ボックス 39"/>
          <p:cNvSpPr txBox="1"/>
          <p:nvPr/>
        </p:nvSpPr>
        <p:spPr>
          <a:xfrm>
            <a:off x="992016" y="5814346"/>
            <a:ext cx="615553" cy="759655"/>
          </a:xfrm>
          <a:prstGeom prst="rect">
            <a:avLst/>
          </a:prstGeom>
          <a:noFill/>
          <a:ln>
            <a:noFill/>
          </a:ln>
        </p:spPr>
        <p:txBody>
          <a:bodyPr vert="eaVert"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・・・</a:t>
            </a:r>
            <a:endParaRPr kumimoji="1" lang="ja-JP" altLang="en-US" sz="2800" dirty="0" smtClean="0"/>
          </a:p>
        </p:txBody>
      </p:sp>
      <p:sp>
        <p:nvSpPr>
          <p:cNvPr id="41" name="テキスト ボックス 40"/>
          <p:cNvSpPr txBox="1"/>
          <p:nvPr/>
        </p:nvSpPr>
        <p:spPr>
          <a:xfrm>
            <a:off x="4712646" y="3264632"/>
            <a:ext cx="1599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i="1" dirty="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regime</a:t>
            </a:r>
            <a:r>
              <a:rPr lang="ja-JP" altLang="en-US" sz="2800" i="1" dirty="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sz="2800" dirty="0" smtClean="0">
                <a:solidFill>
                  <a:schemeClr val="accent1"/>
                </a:solidFill>
                <a:cs typeface="Times New Roman" panose="02020603050405020304" pitchFamily="18" charset="0"/>
              </a:rPr>
              <a:t>1</a:t>
            </a:r>
            <a:endParaRPr kumimoji="1" lang="ja-JP" altLang="en-US" sz="2800" dirty="0" smtClean="0">
              <a:solidFill>
                <a:schemeClr val="accent1"/>
              </a:solidFill>
            </a:endParaRPr>
          </a:p>
        </p:txBody>
      </p:sp>
      <p:sp>
        <p:nvSpPr>
          <p:cNvPr id="42" name="テキスト ボックス 41"/>
          <p:cNvSpPr txBox="1"/>
          <p:nvPr/>
        </p:nvSpPr>
        <p:spPr>
          <a:xfrm>
            <a:off x="4712646" y="3959203"/>
            <a:ext cx="1599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i="1" dirty="0" smtClean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regime</a:t>
            </a:r>
            <a:r>
              <a:rPr lang="ja-JP" altLang="en-US" sz="2800" i="1" dirty="0" smtClean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sz="2800" dirty="0">
                <a:solidFill>
                  <a:schemeClr val="accent2"/>
                </a:solidFill>
                <a:cs typeface="Times New Roman" panose="02020603050405020304" pitchFamily="18" charset="0"/>
              </a:rPr>
              <a:t>3</a:t>
            </a:r>
            <a:endParaRPr kumimoji="1" lang="ja-JP" altLang="en-US" sz="2800" dirty="0" smtClean="0">
              <a:solidFill>
                <a:schemeClr val="accent2"/>
              </a:solidFill>
            </a:endParaRPr>
          </a:p>
        </p:txBody>
      </p:sp>
      <p:sp>
        <p:nvSpPr>
          <p:cNvPr id="43" name="テキスト ボックス 42"/>
          <p:cNvSpPr txBox="1"/>
          <p:nvPr/>
        </p:nvSpPr>
        <p:spPr>
          <a:xfrm>
            <a:off x="4712646" y="4653774"/>
            <a:ext cx="1599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i="1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regime</a:t>
            </a:r>
            <a:r>
              <a:rPr lang="ja-JP" altLang="en-US" sz="2800" i="1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sz="2800" dirty="0">
                <a:solidFill>
                  <a:schemeClr val="accent5"/>
                </a:solidFill>
                <a:cs typeface="Times New Roman" panose="02020603050405020304" pitchFamily="18" charset="0"/>
              </a:rPr>
              <a:t>2</a:t>
            </a:r>
            <a:endParaRPr kumimoji="1" lang="ja-JP" altLang="en-US" sz="2800" dirty="0" smtClean="0">
              <a:solidFill>
                <a:schemeClr val="accent5"/>
              </a:solidFill>
            </a:endParaRPr>
          </a:p>
        </p:txBody>
      </p:sp>
      <p:sp>
        <p:nvSpPr>
          <p:cNvPr id="44" name="テキスト ボックス 43"/>
          <p:cNvSpPr txBox="1"/>
          <p:nvPr/>
        </p:nvSpPr>
        <p:spPr>
          <a:xfrm>
            <a:off x="4712646" y="5348345"/>
            <a:ext cx="1599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i="1" dirty="0" smtClean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regime</a:t>
            </a:r>
            <a:r>
              <a:rPr lang="ja-JP" altLang="en-US" sz="2800" i="1" dirty="0" smtClean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sz="2800" dirty="0" smtClean="0">
                <a:solidFill>
                  <a:schemeClr val="accent3"/>
                </a:solidFill>
                <a:cs typeface="Times New Roman" panose="02020603050405020304" pitchFamily="18" charset="0"/>
              </a:rPr>
              <a:t>4</a:t>
            </a:r>
            <a:endParaRPr kumimoji="1" lang="ja-JP" altLang="en-US" sz="2800" dirty="0" smtClean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6517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7" grpId="0"/>
      <p:bldP spid="25" grpId="0"/>
      <p:bldP spid="33" grpId="0"/>
      <p:bldP spid="40" grpId="0"/>
      <p:bldP spid="41" grpId="0"/>
      <p:bldP spid="42" grpId="0"/>
      <p:bldP spid="43" grpId="0"/>
      <p:bldP spid="4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提案手法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今回使用する時系列データは，各時点において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lang="ja-JP" altLang="en-US" dirty="0" smtClean="0"/>
              <a:t>さまざまな</a:t>
            </a:r>
            <a:r>
              <a:rPr kumimoji="1" lang="ja-JP" altLang="en-US" dirty="0" smtClean="0"/>
              <a:t>レジームで観測されている．</a:t>
            </a:r>
            <a:endParaRPr kumimoji="1" lang="en-US" altLang="ja-JP" dirty="0" smtClean="0"/>
          </a:p>
          <a:p>
            <a:r>
              <a:rPr lang="ja-JP" altLang="en-US" dirty="0" smtClean="0"/>
              <a:t>提案手法では</a:t>
            </a:r>
            <a:r>
              <a:rPr kumimoji="1" lang="ja-JP" altLang="en-US" dirty="0" smtClean="0"/>
              <a:t>，各レジームに対応する識別器を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作成し</a:t>
            </a:r>
            <a:r>
              <a:rPr lang="ja-JP" altLang="en-US" dirty="0" smtClean="0"/>
              <a:t>，それらを集約して出力を求める</a:t>
            </a:r>
            <a:r>
              <a:rPr kumimoji="1" lang="ja-JP" altLang="en-US" dirty="0" smtClean="0"/>
              <a:t>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9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Multi-regime Approach</a:t>
            </a:r>
            <a:endParaRPr lang="ja-JP" altLang="en-US" dirty="0"/>
          </a:p>
        </p:txBody>
      </p:sp>
      <p:grpSp>
        <p:nvGrpSpPr>
          <p:cNvPr id="85" name="グループ化 84"/>
          <p:cNvGrpSpPr/>
          <p:nvPr/>
        </p:nvGrpSpPr>
        <p:grpSpPr>
          <a:xfrm>
            <a:off x="350402" y="3928738"/>
            <a:ext cx="3950880" cy="2804372"/>
            <a:chOff x="350402" y="3928738"/>
            <a:chExt cx="3950880" cy="2804372"/>
          </a:xfrm>
        </p:grpSpPr>
        <p:sp>
          <p:nvSpPr>
            <p:cNvPr id="46" name="テキスト ボックス 45"/>
            <p:cNvSpPr txBox="1"/>
            <p:nvPr/>
          </p:nvSpPr>
          <p:spPr>
            <a:xfrm>
              <a:off x="829813" y="3928738"/>
              <a:ext cx="2959450" cy="461665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>
                  <a:latin typeface="+mj-lt"/>
                  <a:cs typeface="Times New Roman" panose="02020603050405020304" pitchFamily="18" charset="0"/>
                </a:rPr>
                <a:t>dataset (</a:t>
              </a:r>
              <a:r>
                <a:rPr lang="en-US" altLang="ja-JP" sz="2400" i="1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regime</a:t>
              </a:r>
              <a:r>
                <a:rPr lang="ja-JP" altLang="en-US" sz="2400" i="1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2400" dirty="0">
                  <a:solidFill>
                    <a:schemeClr val="accent1"/>
                  </a:solidFill>
                  <a:cs typeface="Times New Roman" panose="02020603050405020304" pitchFamily="18" charset="0"/>
                </a:rPr>
                <a:t>1</a:t>
              </a:r>
              <a:r>
                <a:rPr lang="en-US" altLang="ja-JP" sz="2400" dirty="0" smtClean="0">
                  <a:latin typeface="+mj-lt"/>
                  <a:cs typeface="Times New Roman" panose="02020603050405020304" pitchFamily="18" charset="0"/>
                </a:rPr>
                <a:t>)</a:t>
              </a:r>
              <a:r>
                <a:rPr lang="ja-JP" altLang="en-US" sz="2400" dirty="0" smtClean="0">
                  <a:latin typeface="+mj-lt"/>
                  <a:cs typeface="Times New Roman" panose="02020603050405020304" pitchFamily="18" charset="0"/>
                </a:rPr>
                <a:t> </a:t>
              </a:r>
              <a:endParaRPr kumimoji="1" lang="ja-JP" altLang="en-US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48" name="テキスト ボックス 47"/>
            <p:cNvSpPr txBox="1"/>
            <p:nvPr/>
          </p:nvSpPr>
          <p:spPr>
            <a:xfrm>
              <a:off x="1684210" y="5093536"/>
              <a:ext cx="1378634" cy="419695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2400" dirty="0" smtClean="0">
                  <a:latin typeface="+mj-lt"/>
                  <a:cs typeface="Times New Roman" panose="02020603050405020304" pitchFamily="18" charset="0"/>
                </a:rPr>
                <a:t>・・</a:t>
              </a:r>
              <a:r>
                <a:rPr lang="ja-JP" altLang="en-US" sz="2400" dirty="0">
                  <a:latin typeface="+mj-lt"/>
                  <a:cs typeface="Times New Roman" panose="02020603050405020304" pitchFamily="18" charset="0"/>
                </a:rPr>
                <a:t>・</a:t>
              </a:r>
              <a:endParaRPr lang="en-US" altLang="ja-JP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grpSp>
          <p:nvGrpSpPr>
            <p:cNvPr id="51" name="グループ化 50"/>
            <p:cNvGrpSpPr/>
            <p:nvPr/>
          </p:nvGrpSpPr>
          <p:grpSpPr>
            <a:xfrm flipV="1">
              <a:off x="1071225" y="5488465"/>
              <a:ext cx="2556269" cy="255938"/>
              <a:chOff x="1247232" y="3476299"/>
              <a:chExt cx="3076816" cy="251639"/>
            </a:xfrm>
          </p:grpSpPr>
          <p:sp>
            <p:nvSpPr>
              <p:cNvPr id="60" name="フリーフォーム 59"/>
              <p:cNvSpPr/>
              <p:nvPr/>
            </p:nvSpPr>
            <p:spPr>
              <a:xfrm>
                <a:off x="1247232" y="3476299"/>
                <a:ext cx="1934347" cy="251639"/>
              </a:xfrm>
              <a:custGeom>
                <a:avLst/>
                <a:gdLst>
                  <a:gd name="connsiteX0" fmla="*/ 0 w 2700997"/>
                  <a:gd name="connsiteY0" fmla="*/ 337624 h 337624"/>
                  <a:gd name="connsiteX1" fmla="*/ 0 w 2700997"/>
                  <a:gd name="connsiteY1" fmla="*/ 337624 h 337624"/>
                  <a:gd name="connsiteX2" fmla="*/ 0 w 2700997"/>
                  <a:gd name="connsiteY2" fmla="*/ 0 h 337624"/>
                  <a:gd name="connsiteX3" fmla="*/ 2700997 w 2700997"/>
                  <a:gd name="connsiteY3" fmla="*/ 0 h 337624"/>
                  <a:gd name="connsiteX4" fmla="*/ 2700997 w 2700997"/>
                  <a:gd name="connsiteY4" fmla="*/ 14068 h 3376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00997" h="337624">
                    <a:moveTo>
                      <a:pt x="0" y="337624"/>
                    </a:moveTo>
                    <a:lnTo>
                      <a:pt x="0" y="337624"/>
                    </a:lnTo>
                    <a:lnTo>
                      <a:pt x="0" y="0"/>
                    </a:lnTo>
                    <a:lnTo>
                      <a:pt x="2700997" y="0"/>
                    </a:lnTo>
                    <a:lnTo>
                      <a:pt x="2700997" y="14068"/>
                    </a:lnTo>
                  </a:path>
                </a:pathLst>
              </a:custGeom>
              <a:noFill/>
              <a:ln w="635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/>
              </a:p>
            </p:txBody>
          </p:sp>
          <p:sp>
            <p:nvSpPr>
              <p:cNvPr id="61" name="フリーフォーム 60"/>
              <p:cNvSpPr/>
              <p:nvPr/>
            </p:nvSpPr>
            <p:spPr>
              <a:xfrm flipH="1">
                <a:off x="2231920" y="3476299"/>
                <a:ext cx="2092128" cy="251639"/>
              </a:xfrm>
              <a:custGeom>
                <a:avLst/>
                <a:gdLst>
                  <a:gd name="connsiteX0" fmla="*/ 0 w 2700997"/>
                  <a:gd name="connsiteY0" fmla="*/ 337624 h 337624"/>
                  <a:gd name="connsiteX1" fmla="*/ 0 w 2700997"/>
                  <a:gd name="connsiteY1" fmla="*/ 337624 h 337624"/>
                  <a:gd name="connsiteX2" fmla="*/ 0 w 2700997"/>
                  <a:gd name="connsiteY2" fmla="*/ 0 h 337624"/>
                  <a:gd name="connsiteX3" fmla="*/ 2700997 w 2700997"/>
                  <a:gd name="connsiteY3" fmla="*/ 0 h 337624"/>
                  <a:gd name="connsiteX4" fmla="*/ 2700997 w 2700997"/>
                  <a:gd name="connsiteY4" fmla="*/ 14068 h 3376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00997" h="337624">
                    <a:moveTo>
                      <a:pt x="0" y="337624"/>
                    </a:moveTo>
                    <a:lnTo>
                      <a:pt x="0" y="337624"/>
                    </a:lnTo>
                    <a:lnTo>
                      <a:pt x="0" y="0"/>
                    </a:lnTo>
                    <a:lnTo>
                      <a:pt x="2700997" y="0"/>
                    </a:lnTo>
                    <a:lnTo>
                      <a:pt x="2700997" y="14068"/>
                    </a:lnTo>
                  </a:path>
                </a:pathLst>
              </a:custGeom>
              <a:noFill/>
              <a:ln w="635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/>
              </a:p>
            </p:txBody>
          </p:sp>
        </p:grpSp>
        <p:cxnSp>
          <p:nvCxnSpPr>
            <p:cNvPr id="52" name="直線矢印コネクタ 51"/>
            <p:cNvCxnSpPr/>
            <p:nvPr/>
          </p:nvCxnSpPr>
          <p:spPr>
            <a:xfrm flipH="1">
              <a:off x="2309540" y="5730367"/>
              <a:ext cx="1" cy="1002743"/>
            </a:xfrm>
            <a:prstGeom prst="straightConnector1">
              <a:avLst/>
            </a:prstGeom>
            <a:ln w="635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テキスト ボックス 52"/>
            <p:cNvSpPr txBox="1"/>
            <p:nvPr/>
          </p:nvSpPr>
          <p:spPr>
            <a:xfrm>
              <a:off x="350402" y="5072551"/>
              <a:ext cx="1441646" cy="46166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/>
                <a:t>ELM</a:t>
              </a:r>
              <a:r>
                <a:rPr lang="ja-JP" altLang="en-US" sz="2400" dirty="0" smtClean="0"/>
                <a:t> </a:t>
              </a:r>
              <a:r>
                <a:rPr lang="en-US" altLang="ja-JP" sz="2400" dirty="0" smtClean="0">
                  <a:latin typeface="+mj-lt"/>
                  <a:cs typeface="Times New Roman" panose="02020603050405020304" pitchFamily="18" charset="0"/>
                </a:rPr>
                <a:t>1</a:t>
              </a:r>
              <a:endParaRPr kumimoji="1" lang="ja-JP" altLang="en-US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54" name="テキスト ボックス 53"/>
            <p:cNvSpPr txBox="1"/>
            <p:nvPr/>
          </p:nvSpPr>
          <p:spPr>
            <a:xfrm>
              <a:off x="2955005" y="5072551"/>
              <a:ext cx="1346277" cy="46166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/>
                <a:t>ELM </a:t>
              </a:r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endParaRPr kumimoji="1" lang="ja-JP" altLang="en-US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7" name="グループ化 56"/>
            <p:cNvGrpSpPr/>
            <p:nvPr/>
          </p:nvGrpSpPr>
          <p:grpSpPr>
            <a:xfrm>
              <a:off x="1071225" y="4780720"/>
              <a:ext cx="2556269" cy="291293"/>
              <a:chOff x="1269463" y="4053818"/>
              <a:chExt cx="2556269" cy="510888"/>
            </a:xfrm>
          </p:grpSpPr>
          <p:sp>
            <p:nvSpPr>
              <p:cNvPr id="58" name="フリーフォーム 57"/>
              <p:cNvSpPr/>
              <p:nvPr/>
            </p:nvSpPr>
            <p:spPr>
              <a:xfrm flipV="1">
                <a:off x="1269463" y="4053822"/>
                <a:ext cx="1786508" cy="510884"/>
              </a:xfrm>
              <a:custGeom>
                <a:avLst/>
                <a:gdLst>
                  <a:gd name="connsiteX0" fmla="*/ 0 w 773723"/>
                  <a:gd name="connsiteY0" fmla="*/ 0 h 703384"/>
                  <a:gd name="connsiteX1" fmla="*/ 0 w 773723"/>
                  <a:gd name="connsiteY1" fmla="*/ 0 h 703384"/>
                  <a:gd name="connsiteX2" fmla="*/ 0 w 773723"/>
                  <a:gd name="connsiteY2" fmla="*/ 703384 h 703384"/>
                  <a:gd name="connsiteX3" fmla="*/ 773723 w 773723"/>
                  <a:gd name="connsiteY3" fmla="*/ 703384 h 703384"/>
                  <a:gd name="connsiteX4" fmla="*/ 773723 w 773723"/>
                  <a:gd name="connsiteY4" fmla="*/ 703384 h 703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3723" h="703384">
                    <a:moveTo>
                      <a:pt x="0" y="0"/>
                    </a:moveTo>
                    <a:lnTo>
                      <a:pt x="0" y="0"/>
                    </a:lnTo>
                    <a:lnTo>
                      <a:pt x="0" y="703384"/>
                    </a:lnTo>
                    <a:lnTo>
                      <a:pt x="773723" y="703384"/>
                    </a:lnTo>
                    <a:lnTo>
                      <a:pt x="773723" y="703384"/>
                    </a:lnTo>
                  </a:path>
                </a:pathLst>
              </a:custGeom>
              <a:noFill/>
              <a:ln w="63500">
                <a:solidFill>
                  <a:schemeClr val="tx1"/>
                </a:solidFill>
                <a:head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/>
              </a:p>
            </p:txBody>
          </p:sp>
          <p:sp>
            <p:nvSpPr>
              <p:cNvPr id="59" name="フリーフォーム 58"/>
              <p:cNvSpPr/>
              <p:nvPr/>
            </p:nvSpPr>
            <p:spPr>
              <a:xfrm flipH="1" flipV="1">
                <a:off x="2784792" y="4053818"/>
                <a:ext cx="1040940" cy="510882"/>
              </a:xfrm>
              <a:custGeom>
                <a:avLst/>
                <a:gdLst>
                  <a:gd name="connsiteX0" fmla="*/ 0 w 773723"/>
                  <a:gd name="connsiteY0" fmla="*/ 0 h 703384"/>
                  <a:gd name="connsiteX1" fmla="*/ 0 w 773723"/>
                  <a:gd name="connsiteY1" fmla="*/ 0 h 703384"/>
                  <a:gd name="connsiteX2" fmla="*/ 0 w 773723"/>
                  <a:gd name="connsiteY2" fmla="*/ 703384 h 703384"/>
                  <a:gd name="connsiteX3" fmla="*/ 773723 w 773723"/>
                  <a:gd name="connsiteY3" fmla="*/ 703384 h 703384"/>
                  <a:gd name="connsiteX4" fmla="*/ 773723 w 773723"/>
                  <a:gd name="connsiteY4" fmla="*/ 703384 h 703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3723" h="703384">
                    <a:moveTo>
                      <a:pt x="0" y="0"/>
                    </a:moveTo>
                    <a:lnTo>
                      <a:pt x="0" y="0"/>
                    </a:lnTo>
                    <a:lnTo>
                      <a:pt x="0" y="703384"/>
                    </a:lnTo>
                    <a:lnTo>
                      <a:pt x="773723" y="703384"/>
                    </a:lnTo>
                    <a:lnTo>
                      <a:pt x="773723" y="703384"/>
                    </a:lnTo>
                  </a:path>
                </a:pathLst>
              </a:custGeom>
              <a:noFill/>
              <a:ln w="63500">
                <a:solidFill>
                  <a:schemeClr val="tx1"/>
                </a:solidFill>
                <a:head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/>
              </a:p>
            </p:txBody>
          </p:sp>
        </p:grpSp>
        <p:sp>
          <p:nvSpPr>
            <p:cNvPr id="49" name="テキスト ボックス 48"/>
            <p:cNvSpPr txBox="1"/>
            <p:nvPr/>
          </p:nvSpPr>
          <p:spPr>
            <a:xfrm>
              <a:off x="1664071" y="5893052"/>
              <a:ext cx="1290934" cy="46166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/>
                <a:t>RF </a:t>
              </a:r>
              <a:endParaRPr kumimoji="1" lang="ja-JP" altLang="en-US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cxnSp>
          <p:nvCxnSpPr>
            <p:cNvPr id="62" name="直線矢印コネクタ 61"/>
            <p:cNvCxnSpPr>
              <a:stCxn id="46" idx="2"/>
            </p:cNvCxnSpPr>
            <p:nvPr/>
          </p:nvCxnSpPr>
          <p:spPr>
            <a:xfrm>
              <a:off x="2309538" y="4390403"/>
              <a:ext cx="0" cy="390317"/>
            </a:xfrm>
            <a:prstGeom prst="straightConnector1">
              <a:avLst/>
            </a:prstGeom>
            <a:ln w="635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グループ化 85"/>
          <p:cNvGrpSpPr/>
          <p:nvPr/>
        </p:nvGrpSpPr>
        <p:grpSpPr>
          <a:xfrm>
            <a:off x="4565893" y="3928738"/>
            <a:ext cx="3950880" cy="2804372"/>
            <a:chOff x="4565893" y="3928738"/>
            <a:chExt cx="3950880" cy="2804372"/>
          </a:xfrm>
        </p:grpSpPr>
        <p:sp>
          <p:nvSpPr>
            <p:cNvPr id="67" name="テキスト ボックス 66"/>
            <p:cNvSpPr txBox="1"/>
            <p:nvPr/>
          </p:nvSpPr>
          <p:spPr>
            <a:xfrm>
              <a:off x="5045304" y="3928738"/>
              <a:ext cx="2959450" cy="461665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>
                  <a:latin typeface="+mj-lt"/>
                  <a:cs typeface="Times New Roman" panose="02020603050405020304" pitchFamily="18" charset="0"/>
                </a:rPr>
                <a:t>dataset (</a:t>
              </a:r>
              <a:r>
                <a:rPr lang="en-US" altLang="ja-JP" sz="2400" i="1" dirty="0">
                  <a:solidFill>
                    <a:schemeClr val="accent5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regime</a:t>
              </a:r>
              <a:r>
                <a:rPr lang="ja-JP" altLang="en-US" sz="2400" i="1" dirty="0">
                  <a:solidFill>
                    <a:schemeClr val="accent5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2400" dirty="0" smtClean="0">
                  <a:solidFill>
                    <a:schemeClr val="accent5"/>
                  </a:solidFill>
                  <a:cs typeface="Times New Roman" panose="02020603050405020304" pitchFamily="18" charset="0"/>
                </a:rPr>
                <a:t>2</a:t>
              </a:r>
              <a:r>
                <a:rPr lang="en-US" altLang="ja-JP" sz="2400" dirty="0" smtClean="0">
                  <a:latin typeface="+mj-lt"/>
                  <a:cs typeface="Times New Roman" panose="02020603050405020304" pitchFamily="18" charset="0"/>
                </a:rPr>
                <a:t>)</a:t>
              </a:r>
              <a:r>
                <a:rPr lang="ja-JP" altLang="en-US" sz="2400" dirty="0" smtClean="0">
                  <a:latin typeface="+mj-lt"/>
                  <a:cs typeface="Times New Roman" panose="02020603050405020304" pitchFamily="18" charset="0"/>
                </a:rPr>
                <a:t> </a:t>
              </a:r>
              <a:endParaRPr kumimoji="1" lang="ja-JP" altLang="en-US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68" name="テキスト ボックス 67"/>
            <p:cNvSpPr txBox="1"/>
            <p:nvPr/>
          </p:nvSpPr>
          <p:spPr>
            <a:xfrm>
              <a:off x="5899701" y="5093536"/>
              <a:ext cx="1378634" cy="419695"/>
            </a:xfrm>
            <a:prstGeom prst="rect">
              <a:avLst/>
            </a:prstGeom>
            <a:noFill/>
            <a:ln w="28575">
              <a:noFill/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2400" dirty="0" smtClean="0">
                  <a:latin typeface="+mj-lt"/>
                  <a:cs typeface="Times New Roman" panose="02020603050405020304" pitchFamily="18" charset="0"/>
                </a:rPr>
                <a:t>・・</a:t>
              </a:r>
              <a:r>
                <a:rPr lang="ja-JP" altLang="en-US" sz="2400" dirty="0">
                  <a:latin typeface="+mj-lt"/>
                  <a:cs typeface="Times New Roman" panose="02020603050405020304" pitchFamily="18" charset="0"/>
                </a:rPr>
                <a:t>・</a:t>
              </a:r>
              <a:endParaRPr lang="en-US" altLang="ja-JP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grpSp>
          <p:nvGrpSpPr>
            <p:cNvPr id="69" name="グループ化 68"/>
            <p:cNvGrpSpPr/>
            <p:nvPr/>
          </p:nvGrpSpPr>
          <p:grpSpPr>
            <a:xfrm flipV="1">
              <a:off x="5286716" y="5488465"/>
              <a:ext cx="2556269" cy="255938"/>
              <a:chOff x="1247232" y="3476299"/>
              <a:chExt cx="3076816" cy="251639"/>
            </a:xfrm>
          </p:grpSpPr>
          <p:sp>
            <p:nvSpPr>
              <p:cNvPr id="77" name="フリーフォーム 76"/>
              <p:cNvSpPr/>
              <p:nvPr/>
            </p:nvSpPr>
            <p:spPr>
              <a:xfrm>
                <a:off x="1247232" y="3476299"/>
                <a:ext cx="1934347" cy="251639"/>
              </a:xfrm>
              <a:custGeom>
                <a:avLst/>
                <a:gdLst>
                  <a:gd name="connsiteX0" fmla="*/ 0 w 2700997"/>
                  <a:gd name="connsiteY0" fmla="*/ 337624 h 337624"/>
                  <a:gd name="connsiteX1" fmla="*/ 0 w 2700997"/>
                  <a:gd name="connsiteY1" fmla="*/ 337624 h 337624"/>
                  <a:gd name="connsiteX2" fmla="*/ 0 w 2700997"/>
                  <a:gd name="connsiteY2" fmla="*/ 0 h 337624"/>
                  <a:gd name="connsiteX3" fmla="*/ 2700997 w 2700997"/>
                  <a:gd name="connsiteY3" fmla="*/ 0 h 337624"/>
                  <a:gd name="connsiteX4" fmla="*/ 2700997 w 2700997"/>
                  <a:gd name="connsiteY4" fmla="*/ 14068 h 3376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00997" h="337624">
                    <a:moveTo>
                      <a:pt x="0" y="337624"/>
                    </a:moveTo>
                    <a:lnTo>
                      <a:pt x="0" y="337624"/>
                    </a:lnTo>
                    <a:lnTo>
                      <a:pt x="0" y="0"/>
                    </a:lnTo>
                    <a:lnTo>
                      <a:pt x="2700997" y="0"/>
                    </a:lnTo>
                    <a:lnTo>
                      <a:pt x="2700997" y="14068"/>
                    </a:lnTo>
                  </a:path>
                </a:pathLst>
              </a:custGeom>
              <a:noFill/>
              <a:ln w="635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/>
              </a:p>
            </p:txBody>
          </p:sp>
          <p:sp>
            <p:nvSpPr>
              <p:cNvPr id="78" name="フリーフォーム 77"/>
              <p:cNvSpPr/>
              <p:nvPr/>
            </p:nvSpPr>
            <p:spPr>
              <a:xfrm flipH="1">
                <a:off x="2231920" y="3476299"/>
                <a:ext cx="2092128" cy="251639"/>
              </a:xfrm>
              <a:custGeom>
                <a:avLst/>
                <a:gdLst>
                  <a:gd name="connsiteX0" fmla="*/ 0 w 2700997"/>
                  <a:gd name="connsiteY0" fmla="*/ 337624 h 337624"/>
                  <a:gd name="connsiteX1" fmla="*/ 0 w 2700997"/>
                  <a:gd name="connsiteY1" fmla="*/ 337624 h 337624"/>
                  <a:gd name="connsiteX2" fmla="*/ 0 w 2700997"/>
                  <a:gd name="connsiteY2" fmla="*/ 0 h 337624"/>
                  <a:gd name="connsiteX3" fmla="*/ 2700997 w 2700997"/>
                  <a:gd name="connsiteY3" fmla="*/ 0 h 337624"/>
                  <a:gd name="connsiteX4" fmla="*/ 2700997 w 2700997"/>
                  <a:gd name="connsiteY4" fmla="*/ 14068 h 3376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00997" h="337624">
                    <a:moveTo>
                      <a:pt x="0" y="337624"/>
                    </a:moveTo>
                    <a:lnTo>
                      <a:pt x="0" y="337624"/>
                    </a:lnTo>
                    <a:lnTo>
                      <a:pt x="0" y="0"/>
                    </a:lnTo>
                    <a:lnTo>
                      <a:pt x="2700997" y="0"/>
                    </a:lnTo>
                    <a:lnTo>
                      <a:pt x="2700997" y="14068"/>
                    </a:lnTo>
                  </a:path>
                </a:pathLst>
              </a:custGeom>
              <a:noFill/>
              <a:ln w="635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/>
              </a:p>
            </p:txBody>
          </p:sp>
        </p:grpSp>
        <p:cxnSp>
          <p:nvCxnSpPr>
            <p:cNvPr id="70" name="直線矢印コネクタ 69"/>
            <p:cNvCxnSpPr/>
            <p:nvPr/>
          </p:nvCxnSpPr>
          <p:spPr>
            <a:xfrm flipH="1">
              <a:off x="6525031" y="5730367"/>
              <a:ext cx="1" cy="1002743"/>
            </a:xfrm>
            <a:prstGeom prst="straightConnector1">
              <a:avLst/>
            </a:prstGeom>
            <a:ln w="635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テキスト ボックス 70"/>
            <p:cNvSpPr txBox="1"/>
            <p:nvPr/>
          </p:nvSpPr>
          <p:spPr>
            <a:xfrm>
              <a:off x="4565893" y="5072551"/>
              <a:ext cx="1441646" cy="46166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/>
                <a:t>ELM</a:t>
              </a:r>
              <a:r>
                <a:rPr lang="ja-JP" altLang="en-US" sz="2400" dirty="0" smtClean="0"/>
                <a:t> </a:t>
              </a:r>
              <a:r>
                <a:rPr lang="en-US" altLang="ja-JP" sz="2400" dirty="0" smtClean="0">
                  <a:latin typeface="+mj-lt"/>
                  <a:cs typeface="Times New Roman" panose="02020603050405020304" pitchFamily="18" charset="0"/>
                </a:rPr>
                <a:t>1</a:t>
              </a:r>
              <a:endParaRPr kumimoji="1" lang="ja-JP" altLang="en-US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sp>
          <p:nvSpPr>
            <p:cNvPr id="72" name="テキスト ボックス 71"/>
            <p:cNvSpPr txBox="1"/>
            <p:nvPr/>
          </p:nvSpPr>
          <p:spPr>
            <a:xfrm>
              <a:off x="7170496" y="5072551"/>
              <a:ext cx="1346277" cy="46166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/>
                <a:t>ELM </a:t>
              </a:r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endParaRPr kumimoji="1" lang="ja-JP" altLang="en-US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3" name="グループ化 72"/>
            <p:cNvGrpSpPr/>
            <p:nvPr/>
          </p:nvGrpSpPr>
          <p:grpSpPr>
            <a:xfrm>
              <a:off x="5286716" y="4780720"/>
              <a:ext cx="2556269" cy="291293"/>
              <a:chOff x="1269463" y="4053818"/>
              <a:chExt cx="2556269" cy="510888"/>
            </a:xfrm>
          </p:grpSpPr>
          <p:sp>
            <p:nvSpPr>
              <p:cNvPr id="75" name="フリーフォーム 74"/>
              <p:cNvSpPr/>
              <p:nvPr/>
            </p:nvSpPr>
            <p:spPr>
              <a:xfrm flipV="1">
                <a:off x="1269463" y="4053822"/>
                <a:ext cx="1786508" cy="510884"/>
              </a:xfrm>
              <a:custGeom>
                <a:avLst/>
                <a:gdLst>
                  <a:gd name="connsiteX0" fmla="*/ 0 w 773723"/>
                  <a:gd name="connsiteY0" fmla="*/ 0 h 703384"/>
                  <a:gd name="connsiteX1" fmla="*/ 0 w 773723"/>
                  <a:gd name="connsiteY1" fmla="*/ 0 h 703384"/>
                  <a:gd name="connsiteX2" fmla="*/ 0 w 773723"/>
                  <a:gd name="connsiteY2" fmla="*/ 703384 h 703384"/>
                  <a:gd name="connsiteX3" fmla="*/ 773723 w 773723"/>
                  <a:gd name="connsiteY3" fmla="*/ 703384 h 703384"/>
                  <a:gd name="connsiteX4" fmla="*/ 773723 w 773723"/>
                  <a:gd name="connsiteY4" fmla="*/ 703384 h 703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3723" h="703384">
                    <a:moveTo>
                      <a:pt x="0" y="0"/>
                    </a:moveTo>
                    <a:lnTo>
                      <a:pt x="0" y="0"/>
                    </a:lnTo>
                    <a:lnTo>
                      <a:pt x="0" y="703384"/>
                    </a:lnTo>
                    <a:lnTo>
                      <a:pt x="773723" y="703384"/>
                    </a:lnTo>
                    <a:lnTo>
                      <a:pt x="773723" y="703384"/>
                    </a:lnTo>
                  </a:path>
                </a:pathLst>
              </a:custGeom>
              <a:noFill/>
              <a:ln w="63500">
                <a:solidFill>
                  <a:schemeClr val="tx1"/>
                </a:solidFill>
                <a:head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/>
              </a:p>
            </p:txBody>
          </p:sp>
          <p:sp>
            <p:nvSpPr>
              <p:cNvPr id="76" name="フリーフォーム 75"/>
              <p:cNvSpPr/>
              <p:nvPr/>
            </p:nvSpPr>
            <p:spPr>
              <a:xfrm flipH="1" flipV="1">
                <a:off x="2784792" y="4053818"/>
                <a:ext cx="1040940" cy="510882"/>
              </a:xfrm>
              <a:custGeom>
                <a:avLst/>
                <a:gdLst>
                  <a:gd name="connsiteX0" fmla="*/ 0 w 773723"/>
                  <a:gd name="connsiteY0" fmla="*/ 0 h 703384"/>
                  <a:gd name="connsiteX1" fmla="*/ 0 w 773723"/>
                  <a:gd name="connsiteY1" fmla="*/ 0 h 703384"/>
                  <a:gd name="connsiteX2" fmla="*/ 0 w 773723"/>
                  <a:gd name="connsiteY2" fmla="*/ 703384 h 703384"/>
                  <a:gd name="connsiteX3" fmla="*/ 773723 w 773723"/>
                  <a:gd name="connsiteY3" fmla="*/ 703384 h 703384"/>
                  <a:gd name="connsiteX4" fmla="*/ 773723 w 773723"/>
                  <a:gd name="connsiteY4" fmla="*/ 703384 h 703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3723" h="703384">
                    <a:moveTo>
                      <a:pt x="0" y="0"/>
                    </a:moveTo>
                    <a:lnTo>
                      <a:pt x="0" y="0"/>
                    </a:lnTo>
                    <a:lnTo>
                      <a:pt x="0" y="703384"/>
                    </a:lnTo>
                    <a:lnTo>
                      <a:pt x="773723" y="703384"/>
                    </a:lnTo>
                    <a:lnTo>
                      <a:pt x="773723" y="703384"/>
                    </a:lnTo>
                  </a:path>
                </a:pathLst>
              </a:custGeom>
              <a:noFill/>
              <a:ln w="63500">
                <a:solidFill>
                  <a:schemeClr val="tx1"/>
                </a:solidFill>
                <a:head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600"/>
              </a:p>
            </p:txBody>
          </p:sp>
        </p:grpSp>
        <p:sp>
          <p:nvSpPr>
            <p:cNvPr id="74" name="テキスト ボックス 73"/>
            <p:cNvSpPr txBox="1"/>
            <p:nvPr/>
          </p:nvSpPr>
          <p:spPr>
            <a:xfrm>
              <a:off x="5879562" y="5893052"/>
              <a:ext cx="1290934" cy="46166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2400" dirty="0" smtClean="0"/>
                <a:t>RF </a:t>
              </a:r>
              <a:endParaRPr kumimoji="1" lang="ja-JP" altLang="en-US" sz="2400" dirty="0" smtClean="0">
                <a:latin typeface="+mj-lt"/>
                <a:cs typeface="Times New Roman" panose="02020603050405020304" pitchFamily="18" charset="0"/>
              </a:endParaRPr>
            </a:p>
          </p:txBody>
        </p:sp>
        <p:cxnSp>
          <p:nvCxnSpPr>
            <p:cNvPr id="81" name="直線矢印コネクタ 80"/>
            <p:cNvCxnSpPr>
              <a:stCxn id="67" idx="2"/>
            </p:cNvCxnSpPr>
            <p:nvPr/>
          </p:nvCxnSpPr>
          <p:spPr>
            <a:xfrm>
              <a:off x="6525029" y="4390403"/>
              <a:ext cx="0" cy="401962"/>
            </a:xfrm>
            <a:prstGeom prst="straightConnector1">
              <a:avLst/>
            </a:prstGeom>
            <a:ln w="635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テキスト ボックス 83"/>
          <p:cNvSpPr txBox="1"/>
          <p:nvPr/>
        </p:nvSpPr>
        <p:spPr>
          <a:xfrm>
            <a:off x="7882161" y="3970708"/>
            <a:ext cx="1378634" cy="419695"/>
          </a:xfrm>
          <a:prstGeom prst="rect">
            <a:avLst/>
          </a:prstGeom>
          <a:noFill/>
          <a:ln w="28575"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ja-JP" altLang="en-US" sz="2400" dirty="0" smtClean="0">
                <a:latin typeface="+mj-lt"/>
                <a:cs typeface="Times New Roman" panose="02020603050405020304" pitchFamily="18" charset="0"/>
              </a:rPr>
              <a:t>・・</a:t>
            </a:r>
            <a:r>
              <a:rPr lang="ja-JP" altLang="en-US" sz="2400" dirty="0">
                <a:latin typeface="+mj-lt"/>
                <a:cs typeface="Times New Roman" panose="02020603050405020304" pitchFamily="18" charset="0"/>
              </a:rPr>
              <a:t>・</a:t>
            </a:r>
            <a:endParaRPr lang="en-US" altLang="ja-JP" sz="2400" dirty="0" smtClean="0">
              <a:latin typeface="+mj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5493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各レジームに対する識別器の集約方法</a:t>
            </a:r>
            <a:endParaRPr kumimoji="1" lang="en-US" altLang="ja-JP" dirty="0" smtClean="0"/>
          </a:p>
          <a:p>
            <a:r>
              <a:rPr kumimoji="1" lang="en-US" altLang="ja-JP" dirty="0" smtClean="0"/>
              <a:t>1</a:t>
            </a:r>
            <a:r>
              <a:rPr kumimoji="1" lang="ja-JP" altLang="en-US" dirty="0" err="1" smtClean="0"/>
              <a:t>．</a:t>
            </a:r>
            <a:r>
              <a:rPr kumimoji="1" lang="en-US" altLang="ja-JP" dirty="0" smtClean="0"/>
              <a:t>frequency-based solution</a:t>
            </a:r>
          </a:p>
          <a:p>
            <a:pPr lvl="1"/>
            <a:r>
              <a:rPr kumimoji="1" lang="ja-JP" altLang="en-US" dirty="0" smtClean="0"/>
              <a:t>各レジームに対する識別器の出力を，学習データ内における各レジームの割合で重みづけして出力</a:t>
            </a:r>
            <a:endParaRPr kumimoji="1" lang="en-US" altLang="ja-JP" dirty="0" smtClean="0"/>
          </a:p>
          <a:p>
            <a:pPr lvl="1"/>
            <a:endParaRPr kumimoji="1" lang="en-US" altLang="ja-JP" b="0" i="1" dirty="0" smtClean="0">
              <a:latin typeface="Cambria Math" panose="02040503050406030204" pitchFamily="18" charset="0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10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Multi-regime Approach</a:t>
            </a:r>
            <a:endParaRPr lang="ja-JP" altLang="en-US" dirty="0"/>
          </a:p>
        </p:txBody>
      </p:sp>
      <p:grpSp>
        <p:nvGrpSpPr>
          <p:cNvPr id="15" name="グループ化 14"/>
          <p:cNvGrpSpPr/>
          <p:nvPr/>
        </p:nvGrpSpPr>
        <p:grpSpPr>
          <a:xfrm>
            <a:off x="5083678" y="3374887"/>
            <a:ext cx="4457700" cy="1947975"/>
            <a:chOff x="5143500" y="3316926"/>
            <a:chExt cx="5034868" cy="1947975"/>
          </a:xfrm>
        </p:grpSpPr>
        <p:sp>
          <p:nvSpPr>
            <p:cNvPr id="7" name="テキスト ボックス 6"/>
            <p:cNvSpPr txBox="1"/>
            <p:nvPr/>
          </p:nvSpPr>
          <p:spPr>
            <a:xfrm>
              <a:off x="5143500" y="3316926"/>
              <a:ext cx="299381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</a:t>
              </a:r>
              <a:r>
                <a:rPr lang="en-US" altLang="ja-JP" sz="2400" i="1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r>
                <a:rPr kumimoji="1" lang="en-US" altLang="ja-JP" sz="2400" dirty="0" smtClean="0"/>
                <a:t>: </a:t>
              </a:r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r>
                <a:rPr lang="ja-JP" altLang="en-US" sz="2400" dirty="0" smtClean="0"/>
                <a:t>番目の予測</a:t>
              </a:r>
              <a:r>
                <a:rPr kumimoji="1" lang="ja-JP" altLang="en-US" sz="2400" dirty="0" smtClean="0"/>
                <a:t>値</a:t>
              </a:r>
              <a:endParaRPr kumimoji="1" lang="ja-JP" altLang="en-US" sz="2400" dirty="0" smtClean="0"/>
            </a:p>
          </p:txBody>
        </p:sp>
        <p:sp>
          <p:nvSpPr>
            <p:cNvPr id="8" name="テキスト ボックス 7"/>
            <p:cNvSpPr txBox="1"/>
            <p:nvPr/>
          </p:nvSpPr>
          <p:spPr>
            <a:xfrm>
              <a:off x="5143500" y="3689252"/>
              <a:ext cx="15875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1" lang="en-US" altLang="ja-JP" sz="2400" dirty="0" smtClean="0"/>
                <a:t>:</a:t>
              </a:r>
              <a:r>
                <a:rPr lang="ja-JP" altLang="en-US" sz="2400" dirty="0" smtClean="0"/>
                <a:t>入力</a:t>
              </a:r>
              <a:r>
                <a:rPr kumimoji="1" lang="ja-JP" altLang="en-US" sz="2400" dirty="0" smtClean="0"/>
                <a:t>値</a:t>
              </a:r>
              <a:endParaRPr kumimoji="1" lang="ja-JP" altLang="en-US" sz="2400" dirty="0" smtClean="0"/>
            </a:p>
          </p:txBody>
        </p:sp>
        <p:sp>
          <p:nvSpPr>
            <p:cNvPr id="9" name="テキスト ボックス 8"/>
            <p:cNvSpPr txBox="1"/>
            <p:nvPr/>
          </p:nvSpPr>
          <p:spPr>
            <a:xfrm>
              <a:off x="5143500" y="4061578"/>
              <a:ext cx="2159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r>
                <a:rPr kumimoji="1" lang="en-US" altLang="ja-JP" sz="2400" dirty="0" smtClean="0"/>
                <a:t>:</a:t>
              </a:r>
              <a:r>
                <a:rPr lang="ja-JP" altLang="en-US" sz="2400" dirty="0" smtClean="0"/>
                <a:t>レジーム</a:t>
              </a:r>
              <a:r>
                <a:rPr lang="ja-JP" altLang="en-US" sz="2400" dirty="0"/>
                <a:t>数</a:t>
              </a:r>
              <a:endParaRPr kumimoji="1" lang="ja-JP" altLang="en-US" sz="2400" dirty="0" smtClean="0"/>
            </a:p>
          </p:txBody>
        </p:sp>
        <p:sp>
          <p:nvSpPr>
            <p:cNvPr id="10" name="テキスト ボックス 9"/>
            <p:cNvSpPr txBox="1"/>
            <p:nvPr/>
          </p:nvSpPr>
          <p:spPr>
            <a:xfrm>
              <a:off x="5143500" y="4433904"/>
              <a:ext cx="503486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en-US" altLang="ja-JP" sz="24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r>
                <a:rPr lang="en-US" altLang="ja-JP" sz="2400" dirty="0" smtClean="0"/>
                <a:t>(</a:t>
              </a:r>
              <a:r>
                <a:rPr lang="ja-JP" altLang="en-US" sz="2400" dirty="0"/>
                <a:t>･</a:t>
              </a:r>
              <a:r>
                <a:rPr lang="en-US" altLang="ja-JP" sz="2400" dirty="0" smtClean="0"/>
                <a:t>)</a:t>
              </a:r>
              <a:r>
                <a:rPr kumimoji="1" lang="en-US" altLang="ja-JP" sz="2400" dirty="0" smtClean="0"/>
                <a:t>:</a:t>
              </a:r>
              <a:r>
                <a:rPr lang="ja-JP" altLang="en-US" sz="2400" dirty="0" smtClean="0"/>
                <a:t>レジーム</a:t>
              </a:r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r>
                <a:rPr lang="ja-JP" altLang="en-US" sz="2400" dirty="0" smtClean="0"/>
                <a:t>に</a:t>
              </a:r>
              <a:endParaRPr lang="en-US" altLang="ja-JP" sz="2400" dirty="0" smtClean="0"/>
            </a:p>
            <a:p>
              <a:r>
                <a:rPr lang="en-US" altLang="ja-JP" sz="2400" dirty="0"/>
                <a:t> </a:t>
              </a:r>
              <a:r>
                <a:rPr lang="en-US" altLang="ja-JP" sz="2400" dirty="0" smtClean="0"/>
                <a:t>        </a:t>
              </a:r>
              <a:r>
                <a:rPr lang="ja-JP" altLang="en-US" sz="2400" dirty="0" smtClean="0"/>
                <a:t>対</a:t>
              </a:r>
              <a:r>
                <a:rPr lang="ja-JP" altLang="en-US" sz="2400" dirty="0" smtClean="0"/>
                <a:t>応するモデル</a:t>
              </a:r>
              <a:endParaRPr kumimoji="1" lang="ja-JP" altLang="en-US" sz="2400" dirty="0" smtClean="0"/>
            </a:p>
          </p:txBody>
        </p:sp>
      </p:grpSp>
      <p:grpSp>
        <p:nvGrpSpPr>
          <p:cNvPr id="17" name="グループ化 16"/>
          <p:cNvGrpSpPr/>
          <p:nvPr/>
        </p:nvGrpSpPr>
        <p:grpSpPr>
          <a:xfrm>
            <a:off x="5083678" y="5458953"/>
            <a:ext cx="3501522" cy="1237949"/>
            <a:chOff x="4480080" y="5348754"/>
            <a:chExt cx="3501522" cy="1237949"/>
          </a:xfrm>
        </p:grpSpPr>
        <p:sp>
          <p:nvSpPr>
            <p:cNvPr id="11" name="テキスト ボックス 10"/>
            <p:cNvSpPr txBox="1"/>
            <p:nvPr/>
          </p:nvSpPr>
          <p:spPr>
            <a:xfrm>
              <a:off x="4480080" y="5755706"/>
              <a:ext cx="350152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en-US" altLang="ja-JP" sz="2400" i="1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r>
                <a:rPr kumimoji="1" lang="en-US" altLang="ja-JP" sz="2400" dirty="0" smtClean="0"/>
                <a:t>:</a:t>
              </a:r>
              <a:r>
                <a:rPr kumimoji="1" lang="ja-JP" altLang="en-US" sz="2400" dirty="0" smtClean="0"/>
                <a:t>学習データ内における</a:t>
              </a:r>
              <a:endParaRPr kumimoji="1" lang="en-US" altLang="ja-JP" sz="2400" dirty="0" smtClean="0"/>
            </a:p>
            <a:p>
              <a:r>
                <a:rPr kumimoji="1" lang="ja-JP" altLang="en-US" sz="2400" dirty="0" smtClean="0"/>
                <a:t>    レジーム</a:t>
              </a:r>
              <a:r>
                <a:rPr kumimoji="1"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r>
                <a:rPr kumimoji="1" lang="ja-JP" altLang="en-US" sz="2400" dirty="0" smtClean="0"/>
                <a:t>のデータ数</a:t>
              </a:r>
              <a:endParaRPr kumimoji="1" lang="ja-JP" altLang="en-US" sz="2400" dirty="0" smtClean="0"/>
            </a:p>
          </p:txBody>
        </p:sp>
        <p:sp>
          <p:nvSpPr>
            <p:cNvPr id="12" name="テキスト ボックス 11"/>
            <p:cNvSpPr txBox="1"/>
            <p:nvPr/>
          </p:nvSpPr>
          <p:spPr>
            <a:xfrm>
              <a:off x="4480080" y="5348754"/>
              <a:ext cx="29083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kumimoji="1" lang="en-US" altLang="ja-JP" sz="2400" dirty="0" smtClean="0"/>
                <a:t>:</a:t>
              </a:r>
              <a:r>
                <a:rPr kumimoji="1" lang="ja-JP" altLang="en-US" sz="2400" dirty="0" smtClean="0"/>
                <a:t>学習データ数</a:t>
              </a:r>
              <a:endParaRPr kumimoji="1" lang="ja-JP" altLang="en-US" sz="2400" dirty="0" smtClean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テキスト ボックス 12"/>
              <p:cNvSpPr txBox="1"/>
              <p:nvPr/>
            </p:nvSpPr>
            <p:spPr>
              <a:xfrm>
                <a:off x="683128" y="3603511"/>
                <a:ext cx="4400550" cy="2538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m:rPr>
                          <m:aln/>
                        </m:rPr>
                        <a:rPr lang="en-US" altLang="ja-JP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ja-JP" sz="2800" b="1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ja-JP" sz="280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altLang="ja-JP" sz="2800" i="1" dirty="0">
                    <a:latin typeface="Cambria Math" panose="02040503050406030204" pitchFamily="18" charset="0"/>
                  </a:rPr>
                  <a:t/>
                </a:r>
                <a:br>
                  <a:rPr lang="en-US" altLang="ja-JP" sz="28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altLang="ja-JP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=1, 2, ⋯,</m:t>
                      </m:r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ja-JP" sz="28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3" name="テキスト ボックス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128" y="3603511"/>
                <a:ext cx="4400550" cy="253858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67579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提案手法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各レジームに対する識別器の集約方法</a:t>
            </a:r>
            <a:endParaRPr kumimoji="1" lang="en-US" altLang="ja-JP" dirty="0" smtClean="0"/>
          </a:p>
          <a:p>
            <a:r>
              <a:rPr lang="en-US" altLang="ja-JP" dirty="0" smtClean="0"/>
              <a:t>2</a:t>
            </a:r>
            <a:r>
              <a:rPr lang="ja-JP" altLang="en-US" dirty="0" err="1" smtClean="0"/>
              <a:t>．</a:t>
            </a:r>
            <a:r>
              <a:rPr lang="en-US" altLang="ja-JP" dirty="0" err="1" smtClean="0"/>
              <a:t>equiprobability</a:t>
            </a:r>
            <a:r>
              <a:rPr lang="en-US" altLang="ja-JP" dirty="0" smtClean="0"/>
              <a:t> </a:t>
            </a:r>
            <a:r>
              <a:rPr lang="en-US" altLang="ja-JP" dirty="0"/>
              <a:t>solution</a:t>
            </a:r>
          </a:p>
          <a:p>
            <a:pPr lvl="1"/>
            <a:r>
              <a:rPr lang="ja-JP" altLang="en-US" dirty="0"/>
              <a:t>各レジームに対する識別器の出力の平均を</a:t>
            </a:r>
            <a:r>
              <a:rPr lang="ja-JP" altLang="en-US" dirty="0" smtClean="0"/>
              <a:t>出力</a:t>
            </a:r>
            <a:endParaRPr lang="en-US" altLang="ja-JP" dirty="0" smtClean="0"/>
          </a:p>
          <a:p>
            <a:pPr lvl="1"/>
            <a:endParaRPr kumimoji="1" lang="en-US" altLang="ja-JP" b="0" i="1" dirty="0" smtClean="0">
              <a:latin typeface="Cambria Math" panose="02040503050406030204" pitchFamily="18" charset="0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11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Multi-regime Approach</a:t>
            </a:r>
            <a:endParaRPr lang="ja-JP" altLang="en-US" dirty="0"/>
          </a:p>
        </p:txBody>
      </p:sp>
      <p:grpSp>
        <p:nvGrpSpPr>
          <p:cNvPr id="15" name="グループ化 14"/>
          <p:cNvGrpSpPr/>
          <p:nvPr/>
        </p:nvGrpSpPr>
        <p:grpSpPr>
          <a:xfrm>
            <a:off x="5083678" y="3374887"/>
            <a:ext cx="4457700" cy="1947975"/>
            <a:chOff x="5143500" y="3316926"/>
            <a:chExt cx="5034868" cy="1947975"/>
          </a:xfrm>
        </p:grpSpPr>
        <p:sp>
          <p:nvSpPr>
            <p:cNvPr id="7" name="テキスト ボックス 6"/>
            <p:cNvSpPr txBox="1"/>
            <p:nvPr/>
          </p:nvSpPr>
          <p:spPr>
            <a:xfrm>
              <a:off x="5143500" y="3316926"/>
              <a:ext cx="312291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</a:t>
              </a:r>
              <a:r>
                <a:rPr lang="en-US" altLang="ja-JP" sz="2400" i="1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r>
                <a:rPr lang="en-US" altLang="ja-JP" sz="2400" dirty="0"/>
                <a:t>: </a:t>
              </a:r>
              <a:r>
                <a:rPr lang="en-US" altLang="ja-JP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r>
                <a:rPr lang="ja-JP" altLang="en-US" sz="2400" dirty="0"/>
                <a:t>番目の</a:t>
              </a:r>
              <a:r>
                <a:rPr lang="ja-JP" altLang="en-US" sz="2400" dirty="0" smtClean="0"/>
                <a:t>予測</a:t>
              </a:r>
              <a:r>
                <a:rPr kumimoji="1" lang="ja-JP" altLang="en-US" sz="2400" dirty="0" smtClean="0"/>
                <a:t>値</a:t>
              </a:r>
              <a:endParaRPr kumimoji="1" lang="ja-JP" altLang="en-US" sz="2400" dirty="0" smtClean="0"/>
            </a:p>
          </p:txBody>
        </p:sp>
        <p:sp>
          <p:nvSpPr>
            <p:cNvPr id="8" name="テキスト ボックス 7"/>
            <p:cNvSpPr txBox="1"/>
            <p:nvPr/>
          </p:nvSpPr>
          <p:spPr>
            <a:xfrm>
              <a:off x="5143500" y="3689252"/>
              <a:ext cx="15875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1" lang="en-US" altLang="ja-JP" sz="2400" dirty="0" smtClean="0"/>
                <a:t>:</a:t>
              </a:r>
              <a:r>
                <a:rPr lang="ja-JP" altLang="en-US" sz="2400" dirty="0" smtClean="0"/>
                <a:t>入力</a:t>
              </a:r>
              <a:r>
                <a:rPr kumimoji="1" lang="ja-JP" altLang="en-US" sz="2400" dirty="0" smtClean="0"/>
                <a:t>値</a:t>
              </a:r>
              <a:endParaRPr kumimoji="1" lang="ja-JP" altLang="en-US" sz="2400" dirty="0" smtClean="0"/>
            </a:p>
          </p:txBody>
        </p:sp>
        <p:sp>
          <p:nvSpPr>
            <p:cNvPr id="9" name="テキスト ボックス 8"/>
            <p:cNvSpPr txBox="1"/>
            <p:nvPr/>
          </p:nvSpPr>
          <p:spPr>
            <a:xfrm>
              <a:off x="5143500" y="4061578"/>
              <a:ext cx="2159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r>
                <a:rPr kumimoji="1" lang="en-US" altLang="ja-JP" sz="2400" dirty="0" smtClean="0"/>
                <a:t>:</a:t>
              </a:r>
              <a:r>
                <a:rPr lang="ja-JP" altLang="en-US" sz="2400" dirty="0" smtClean="0"/>
                <a:t>レジーム</a:t>
              </a:r>
              <a:r>
                <a:rPr lang="ja-JP" altLang="en-US" sz="2400" dirty="0"/>
                <a:t>数</a:t>
              </a:r>
              <a:endParaRPr kumimoji="1" lang="ja-JP" altLang="en-US" sz="2400" dirty="0" smtClean="0"/>
            </a:p>
          </p:txBody>
        </p:sp>
        <p:sp>
          <p:nvSpPr>
            <p:cNvPr id="10" name="テキスト ボックス 9"/>
            <p:cNvSpPr txBox="1"/>
            <p:nvPr/>
          </p:nvSpPr>
          <p:spPr>
            <a:xfrm>
              <a:off x="5143500" y="4433904"/>
              <a:ext cx="503486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en-US" altLang="ja-JP" sz="24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r>
                <a:rPr lang="en-US" altLang="ja-JP" sz="2400" dirty="0" smtClean="0"/>
                <a:t>(</a:t>
              </a:r>
              <a:r>
                <a:rPr lang="ja-JP" altLang="en-US" sz="2400" dirty="0"/>
                <a:t>･</a:t>
              </a:r>
              <a:r>
                <a:rPr lang="en-US" altLang="ja-JP" sz="2400" dirty="0" smtClean="0"/>
                <a:t>)</a:t>
              </a:r>
              <a:r>
                <a:rPr kumimoji="1" lang="en-US" altLang="ja-JP" sz="2400" dirty="0" smtClean="0"/>
                <a:t>:</a:t>
              </a:r>
              <a:r>
                <a:rPr lang="ja-JP" altLang="en-US" sz="2400" dirty="0" smtClean="0"/>
                <a:t>レジーム</a:t>
              </a:r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r>
                <a:rPr lang="ja-JP" altLang="en-US" sz="2400" dirty="0" smtClean="0"/>
                <a:t>に</a:t>
              </a:r>
              <a:endParaRPr lang="en-US" altLang="ja-JP" sz="2400" dirty="0" smtClean="0"/>
            </a:p>
            <a:p>
              <a:r>
                <a:rPr lang="en-US" altLang="ja-JP" sz="2400" dirty="0"/>
                <a:t> </a:t>
              </a:r>
              <a:r>
                <a:rPr lang="en-US" altLang="ja-JP" sz="2400" dirty="0" smtClean="0"/>
                <a:t>        </a:t>
              </a:r>
              <a:r>
                <a:rPr lang="ja-JP" altLang="en-US" sz="2400" dirty="0" smtClean="0"/>
                <a:t>対</a:t>
              </a:r>
              <a:r>
                <a:rPr lang="ja-JP" altLang="en-US" sz="2400" dirty="0" smtClean="0"/>
                <a:t>応するモデル</a:t>
              </a:r>
              <a:endParaRPr kumimoji="1" lang="ja-JP" altLang="en-US" sz="2400" dirty="0" smtClean="0"/>
            </a:p>
          </p:txBody>
        </p:sp>
      </p:grpSp>
      <p:sp>
        <p:nvSpPr>
          <p:cNvPr id="11" name="テキスト ボックス 10"/>
          <p:cNvSpPr txBox="1"/>
          <p:nvPr/>
        </p:nvSpPr>
        <p:spPr>
          <a:xfrm>
            <a:off x="5083678" y="5190350"/>
            <a:ext cx="35015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altLang="ja-JP" sz="24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en-US" altLang="ja-JP" sz="2400" dirty="0" smtClean="0"/>
              <a:t>:</a:t>
            </a:r>
            <a:r>
              <a:rPr kumimoji="1" lang="ja-JP" altLang="en-US" sz="2400" dirty="0" smtClean="0"/>
              <a:t>学習データ内における</a:t>
            </a:r>
            <a:endParaRPr kumimoji="1" lang="en-US" altLang="ja-JP" sz="2400" dirty="0" smtClean="0"/>
          </a:p>
          <a:p>
            <a:r>
              <a:rPr kumimoji="1" lang="ja-JP" altLang="en-US" sz="2400" dirty="0" smtClean="0"/>
              <a:t>    レジーム</a:t>
            </a:r>
            <a:r>
              <a:rPr kumimoji="1"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ja-JP" altLang="en-US" sz="2400" dirty="0" smtClean="0"/>
              <a:t>のデータ数</a:t>
            </a:r>
            <a:endParaRPr kumimoji="1" lang="ja-JP" altLang="en-US" sz="2400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テキスト ボックス 12"/>
              <p:cNvSpPr txBox="1"/>
              <p:nvPr/>
            </p:nvSpPr>
            <p:spPr>
              <a:xfrm>
                <a:off x="683128" y="3603511"/>
                <a:ext cx="4400550" cy="13038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m:rPr>
                          <m:aln/>
                        </m:rPr>
                        <a:rPr lang="en-US" altLang="ja-JP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ja-JP" sz="2800" b="1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ja-JP" sz="28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3" name="テキスト ボックス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128" y="3603511"/>
                <a:ext cx="4400550" cy="1303883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2889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以下の</a:t>
            </a:r>
            <a:r>
              <a:rPr lang="en-US" altLang="ja-JP" dirty="0" smtClean="0"/>
              <a:t>4</a:t>
            </a:r>
            <a:r>
              <a:rPr kumimoji="1" lang="ja-JP" altLang="en-US" dirty="0" smtClean="0"/>
              <a:t>種類の時系列データで性能調査</a:t>
            </a:r>
            <a:endParaRPr kumimoji="1"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NN3 time series</a:t>
            </a:r>
          </a:p>
          <a:p>
            <a:pPr lvl="1"/>
            <a:r>
              <a:rPr lang="en-US" altLang="ja-JP" dirty="0" smtClean="0"/>
              <a:t>2007</a:t>
            </a:r>
            <a:r>
              <a:rPr lang="ja-JP" altLang="en-US" dirty="0" smtClean="0"/>
              <a:t>年のコンペティションに使われたビジネス系のデータ</a:t>
            </a:r>
            <a:endParaRPr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FD001</a:t>
            </a:r>
            <a:r>
              <a:rPr kumimoji="1" lang="ja-JP" altLang="en-US" sz="2800" dirty="0" err="1" smtClean="0"/>
              <a:t>，</a:t>
            </a:r>
            <a:r>
              <a:rPr lang="en-US" altLang="ja-JP" sz="2800" dirty="0" smtClean="0"/>
              <a:t>FD002</a:t>
            </a:r>
          </a:p>
          <a:p>
            <a:pPr lvl="1"/>
            <a:r>
              <a:rPr lang="ja-JP" altLang="en-US" dirty="0" smtClean="0"/>
              <a:t>ターボ</a:t>
            </a:r>
            <a:r>
              <a:rPr lang="ja-JP" altLang="en-US" dirty="0"/>
              <a:t>ファン</a:t>
            </a:r>
            <a:r>
              <a:rPr lang="ja-JP" altLang="en-US" dirty="0" smtClean="0"/>
              <a:t>エンジン</a:t>
            </a:r>
            <a:r>
              <a:rPr lang="ja-JP" altLang="en-US" dirty="0"/>
              <a:t>の劣化に関するシミュレーションデータ</a:t>
            </a:r>
            <a:endParaRPr lang="en-US" altLang="ja-JP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EGT time series</a:t>
            </a:r>
          </a:p>
          <a:p>
            <a:pPr lvl="1"/>
            <a:r>
              <a:rPr lang="ja-JP" altLang="en-US" dirty="0"/>
              <a:t>ターボファンエンジンの劣化に</a:t>
            </a:r>
            <a:r>
              <a:rPr lang="ja-JP" altLang="en-US" dirty="0" smtClean="0"/>
              <a:t>関する実測データ</a:t>
            </a:r>
            <a:endParaRPr lang="en-US" altLang="ja-JP" dirty="0"/>
          </a:p>
          <a:p>
            <a:pPr marL="800100" lvl="1" indent="-457200">
              <a:buFont typeface="Arial" panose="020B0604020202020204" pitchFamily="34" charset="0"/>
              <a:buChar char="•"/>
            </a:pPr>
            <a:endParaRPr kumimoji="1" lang="ja-JP" altLang="en-US" sz="20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12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300657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数値</a:t>
            </a:r>
            <a:r>
              <a:rPr lang="ja-JP" altLang="en-US" dirty="0"/>
              <a:t>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ja-JP" altLang="en-US" dirty="0" smtClean="0"/>
              <a:t>共通実験設定</a:t>
            </a:r>
            <a:endParaRPr lang="en-US" altLang="ja-JP" dirty="0" smtClean="0"/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ja-JP" altLang="en-US" sz="2800" dirty="0" smtClean="0"/>
              <a:t>回帰問題の時系列データを使用する．</a:t>
            </a:r>
            <a:endParaRPr lang="en-US" altLang="ja-JP" sz="28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ja-JP" altLang="en-US" sz="2800" dirty="0" smtClean="0"/>
              <a:t>求めたい予測値から前の</a:t>
            </a:r>
            <a:r>
              <a:rPr lang="en-US" altLang="ja-JP" sz="2800" dirty="0" smtClean="0"/>
              <a:t>4</a:t>
            </a:r>
            <a:r>
              <a:rPr lang="ja-JP" altLang="en-US" sz="2800" dirty="0" smtClean="0"/>
              <a:t>つ分のデータを利用し予測を行う．</a:t>
            </a:r>
            <a:endParaRPr lang="en-US" altLang="ja-JP" sz="28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13</a:t>
            </a:fld>
            <a:endParaRPr kumimoji="1" lang="ja-JP" altLang="en-US" dirty="0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2857500" y="3569800"/>
            <a:ext cx="4114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1" lang="en-US" altLang="ja-JP" sz="28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8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8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8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8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8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8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8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kumimoji="1" lang="ja-JP" altLang="en-US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698500" y="3594100"/>
            <a:ext cx="1701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元データ</a:t>
            </a:r>
            <a:endParaRPr kumimoji="1" lang="ja-JP" altLang="en-US" sz="2800" dirty="0" smtClean="0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292100" y="4511020"/>
            <a:ext cx="25146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800" dirty="0"/>
              <a:t>学習用</a:t>
            </a:r>
            <a:r>
              <a:rPr kumimoji="1" lang="ja-JP" altLang="en-US" sz="2800" dirty="0" smtClean="0"/>
              <a:t>データ</a:t>
            </a:r>
            <a:endParaRPr kumimoji="1" lang="en-US" altLang="ja-JP" sz="2800" dirty="0" smtClean="0"/>
          </a:p>
          <a:p>
            <a:pPr algn="ctr"/>
            <a:r>
              <a:rPr lang="en-US" altLang="ja-JP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Inputs</a:t>
            </a:r>
            <a:r>
              <a:rPr lang="en-US" altLang="ja-JP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en-US" altLang="ja-JP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en-US" altLang="ja-JP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kumimoji="1" lang="ja-JP" altLang="en-US" sz="2800" dirty="0" smtClean="0"/>
          </a:p>
        </p:txBody>
      </p:sp>
      <p:grpSp>
        <p:nvGrpSpPr>
          <p:cNvPr id="20" name="グループ化 19"/>
          <p:cNvGrpSpPr/>
          <p:nvPr/>
        </p:nvGrpSpPr>
        <p:grpSpPr>
          <a:xfrm>
            <a:off x="2857500" y="4511020"/>
            <a:ext cx="5334000" cy="1221474"/>
            <a:chOff x="2857500" y="4552283"/>
            <a:chExt cx="5334000" cy="1221474"/>
          </a:xfrm>
        </p:grpSpPr>
        <p:sp>
          <p:nvSpPr>
            <p:cNvPr id="14" name="テキスト ボックス 13"/>
            <p:cNvSpPr txBox="1"/>
            <p:nvPr/>
          </p:nvSpPr>
          <p:spPr>
            <a:xfrm>
              <a:off x="2857500" y="4552283"/>
              <a:ext cx="26797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kumimoji="1"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1"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r>
                <a:rPr kumimoji="1"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r>
                <a:rPr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;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r>
                <a:rPr kumimoji="1"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kumimoji="1" lang="ja-JP" alt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テキスト ボックス 15"/>
            <p:cNvSpPr txBox="1"/>
            <p:nvPr/>
          </p:nvSpPr>
          <p:spPr>
            <a:xfrm>
              <a:off x="5588000" y="4552283"/>
              <a:ext cx="26035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r>
                <a:rPr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r>
                <a:rPr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r>
                <a:rPr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;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r>
                <a:rPr kumimoji="1"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kumimoji="1" lang="ja-JP" alt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テキスト ボックス 16"/>
            <p:cNvSpPr txBox="1"/>
            <p:nvPr/>
          </p:nvSpPr>
          <p:spPr>
            <a:xfrm>
              <a:off x="2857500" y="5250537"/>
              <a:ext cx="26035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r>
                <a:rPr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r>
                <a:rPr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;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r>
                <a:rPr kumimoji="1"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kumimoji="1" lang="ja-JP" alt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テキスト ボックス 17"/>
            <p:cNvSpPr txBox="1"/>
            <p:nvPr/>
          </p:nvSpPr>
          <p:spPr>
            <a:xfrm>
              <a:off x="5588000" y="5250537"/>
              <a:ext cx="26035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r>
                <a:rPr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r>
                <a:rPr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r>
                <a:rPr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r>
                <a:rPr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; </a:t>
              </a:r>
              <a:r>
                <a:rPr lang="en-US" altLang="ja-JP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8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  <a:r>
                <a:rPr kumimoji="1" lang="en-US" altLang="ja-JP" sz="28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kumimoji="1" lang="ja-JP" alt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4128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数値</a:t>
            </a:r>
            <a:r>
              <a:rPr lang="ja-JP" altLang="en-US" dirty="0"/>
              <a:t>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ja-JP" altLang="en-US" dirty="0" smtClean="0"/>
              <a:t>共通実験設定</a:t>
            </a:r>
            <a:endParaRPr lang="en-US" altLang="ja-JP" dirty="0" smtClean="0"/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ja-JP" altLang="en-US" sz="2800" dirty="0" smtClean="0"/>
              <a:t>回帰問題の時系列データを使用する．</a:t>
            </a:r>
            <a:endParaRPr lang="en-US" altLang="ja-JP" sz="28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ja-JP" altLang="en-US" sz="2800" dirty="0" smtClean="0"/>
              <a:t>求めたい予測値から前の</a:t>
            </a:r>
            <a:r>
              <a:rPr lang="en-US" altLang="ja-JP" sz="2800" dirty="0" smtClean="0"/>
              <a:t>4</a:t>
            </a:r>
            <a:r>
              <a:rPr lang="ja-JP" altLang="en-US" sz="2800" dirty="0" smtClean="0"/>
              <a:t>つ分のデータを利用し予測を行う．</a:t>
            </a:r>
            <a:endParaRPr lang="en-US" altLang="ja-JP" sz="28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average relative error (ARE) </a:t>
            </a:r>
            <a:r>
              <a:rPr lang="ja-JP" altLang="en-US" sz="2800" dirty="0" smtClean="0"/>
              <a:t>と</a:t>
            </a:r>
            <a:r>
              <a:rPr lang="en-US" altLang="ja-JP" sz="2800" dirty="0" smtClean="0"/>
              <a:t>root mean squared error (RMSE) </a:t>
            </a:r>
            <a:r>
              <a:rPr lang="ja-JP" altLang="en-US" sz="2800" dirty="0" err="1"/>
              <a:t>，</a:t>
            </a:r>
            <a:r>
              <a:rPr lang="ja-JP" altLang="en-US" sz="2800" dirty="0"/>
              <a:t>実行時間</a:t>
            </a:r>
            <a:r>
              <a:rPr lang="ja-JP" altLang="en-US" sz="2800" dirty="0" smtClean="0"/>
              <a:t>でモデルを評価する</a:t>
            </a:r>
            <a:r>
              <a:rPr lang="en-US" altLang="ja-JP" sz="2800" dirty="0" smtClean="0"/>
              <a:t>.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14</a:t>
            </a:fld>
            <a:endParaRPr kumimoji="1"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テキスト ボックス 4"/>
              <p:cNvSpPr txBox="1"/>
              <p:nvPr/>
            </p:nvSpPr>
            <p:spPr>
              <a:xfrm>
                <a:off x="1270724" y="4407836"/>
                <a:ext cx="3339376" cy="12115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b="0" i="0" smtClean="0">
                          <a:latin typeface="Cambria Math" panose="02040503050406030204" pitchFamily="18" charset="0"/>
                        </a:rPr>
                        <m:t>ARE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kumimoji="1" lang="en-US" altLang="ja-JP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kumimoji="1" lang="en-US" altLang="ja-JP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ja-JP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sz="28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1" lang="en-US" altLang="ja-JP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1" lang="en-US" altLang="ja-JP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1" lang="en-US" altLang="ja-JP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sz="2800" b="0" i="1" smtClean="0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e>
                                    <m:sub>
                                      <m:r>
                                        <a:rPr kumimoji="1" lang="en-US" altLang="ja-JP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kumimoji="1" lang="en-US" altLang="ja-JP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ja-JP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sz="28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1" lang="en-US" altLang="ja-JP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kumimoji="1" lang="ja-JP" altLang="en-US" sz="2800" dirty="0" smtClean="0"/>
              </a:p>
            </p:txBody>
          </p:sp>
        </mc:Choice>
        <mc:Fallback>
          <p:sp>
            <p:nvSpPr>
              <p:cNvPr id="5" name="テキスト ボックス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724" y="4407836"/>
                <a:ext cx="3339376" cy="1211550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グループ化 10"/>
          <p:cNvGrpSpPr/>
          <p:nvPr/>
        </p:nvGrpSpPr>
        <p:grpSpPr>
          <a:xfrm>
            <a:off x="5302751" y="5051063"/>
            <a:ext cx="3790449" cy="833991"/>
            <a:chOff x="5124951" y="4416063"/>
            <a:chExt cx="3790449" cy="833991"/>
          </a:xfrm>
        </p:grpSpPr>
        <p:sp>
          <p:nvSpPr>
            <p:cNvPr id="7" name="テキスト ボックス 6"/>
            <p:cNvSpPr txBox="1"/>
            <p:nvPr/>
          </p:nvSpPr>
          <p:spPr>
            <a:xfrm>
              <a:off x="5124951" y="4416063"/>
              <a:ext cx="37904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400" i="1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 </a:t>
              </a:r>
              <a:r>
                <a:rPr kumimoji="1" lang="en-US" altLang="ja-JP" sz="2400" dirty="0" smtClean="0"/>
                <a:t>: </a:t>
              </a:r>
              <a:r>
                <a:rPr kumimoji="1" lang="en-US" altLang="ja-JP" sz="24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kumimoji="1" lang="ja-JP" altLang="en-US" sz="2400" dirty="0" smtClean="0"/>
                <a:t>番目のデータの実測値</a:t>
              </a:r>
              <a:endParaRPr kumimoji="1" lang="ja-JP" altLang="en-US" sz="2400" dirty="0" smtClean="0"/>
            </a:p>
          </p:txBody>
        </p:sp>
        <p:sp>
          <p:nvSpPr>
            <p:cNvPr id="8" name="テキスト ボックス 7"/>
            <p:cNvSpPr txBox="1"/>
            <p:nvPr/>
          </p:nvSpPr>
          <p:spPr>
            <a:xfrm>
              <a:off x="5124951" y="4788389"/>
              <a:ext cx="37904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</a:t>
              </a:r>
              <a:r>
                <a:rPr lang="en-US" altLang="ja-JP" sz="2400" i="1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 </a:t>
              </a:r>
              <a:r>
                <a:rPr lang="en-US" altLang="ja-JP" sz="2400" dirty="0" smtClean="0"/>
                <a:t>: </a:t>
              </a:r>
              <a:r>
                <a:rPr lang="en-US" altLang="ja-JP" sz="24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ja-JP" altLang="en-US" sz="2400" dirty="0"/>
                <a:t>番目のデータ</a:t>
              </a:r>
              <a:r>
                <a:rPr lang="ja-JP" altLang="en-US" sz="2400" dirty="0" smtClean="0"/>
                <a:t>の予測</a:t>
              </a:r>
              <a:r>
                <a:rPr kumimoji="1" lang="ja-JP" altLang="en-US" sz="2400" dirty="0" smtClean="0"/>
                <a:t>値</a:t>
              </a:r>
              <a:endParaRPr kumimoji="1" lang="ja-JP" altLang="en-US" sz="24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67941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数値</a:t>
            </a:r>
            <a:r>
              <a:rPr lang="ja-JP" altLang="en-US" dirty="0"/>
              <a:t>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ja-JP" altLang="en-US" dirty="0" smtClean="0"/>
              <a:t>共通実験設定</a:t>
            </a:r>
            <a:endParaRPr lang="en-US" altLang="ja-JP" dirty="0" smtClean="0"/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ja-JP" altLang="en-US" sz="2800" dirty="0" smtClean="0"/>
              <a:t>回帰問題の時系列データを使用する．</a:t>
            </a:r>
            <a:endParaRPr lang="en-US" altLang="ja-JP" sz="28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ja-JP" altLang="en-US" sz="2800" dirty="0" smtClean="0"/>
              <a:t>求めたい予測値から前の</a:t>
            </a:r>
            <a:r>
              <a:rPr lang="en-US" altLang="ja-JP" sz="2800" dirty="0" smtClean="0"/>
              <a:t>4</a:t>
            </a:r>
            <a:r>
              <a:rPr lang="ja-JP" altLang="en-US" sz="2800" dirty="0" smtClean="0"/>
              <a:t>つ分のデータを利用し予測を行う．</a:t>
            </a:r>
            <a:endParaRPr lang="en-US" altLang="ja-JP" sz="28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average relative error (ARE) </a:t>
            </a:r>
            <a:r>
              <a:rPr lang="ja-JP" altLang="en-US" sz="2800" dirty="0" smtClean="0"/>
              <a:t>と</a:t>
            </a:r>
            <a:r>
              <a:rPr lang="en-US" altLang="ja-JP" sz="2800" dirty="0" smtClean="0"/>
              <a:t>root mean squared error (RMSE) </a:t>
            </a:r>
            <a:r>
              <a:rPr lang="ja-JP" altLang="en-US" sz="2800" dirty="0" err="1"/>
              <a:t>，</a:t>
            </a:r>
            <a:r>
              <a:rPr lang="ja-JP" altLang="en-US" sz="2800" dirty="0" smtClean="0"/>
              <a:t>実行時間でモデルを評価する</a:t>
            </a:r>
            <a:r>
              <a:rPr lang="en-US" altLang="ja-JP" sz="2800" dirty="0" smtClean="0"/>
              <a:t>.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15</a:t>
            </a:fld>
            <a:endParaRPr kumimoji="1"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テキスト ボックス 4"/>
              <p:cNvSpPr txBox="1"/>
              <p:nvPr/>
            </p:nvSpPr>
            <p:spPr>
              <a:xfrm>
                <a:off x="920436" y="4407836"/>
                <a:ext cx="4039952" cy="16762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280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ja-JP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ja-JP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ja-JP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ja-JP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ja-JP" sz="28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ja-JP" sz="28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altLang="ja-JP" sz="28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altLang="ja-JP" sz="28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e>
                                        <m:sub>
                                          <m:r>
                                            <a:rPr lang="en-US" altLang="ja-JP" sz="28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altLang="ja-JP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kumimoji="1" lang="ja-JP" altLang="en-US" sz="2800" dirty="0" smtClean="0"/>
              </a:p>
            </p:txBody>
          </p:sp>
        </mc:Choice>
        <mc:Fallback>
          <p:sp>
            <p:nvSpPr>
              <p:cNvPr id="5" name="テキスト ボックス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436" y="4407836"/>
                <a:ext cx="4039952" cy="1676293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グループ化 14"/>
          <p:cNvGrpSpPr/>
          <p:nvPr/>
        </p:nvGrpSpPr>
        <p:grpSpPr>
          <a:xfrm>
            <a:off x="5302751" y="5051063"/>
            <a:ext cx="3790449" cy="833991"/>
            <a:chOff x="5124951" y="4416063"/>
            <a:chExt cx="3790449" cy="833991"/>
          </a:xfrm>
        </p:grpSpPr>
        <p:sp>
          <p:nvSpPr>
            <p:cNvPr id="16" name="テキスト ボックス 15"/>
            <p:cNvSpPr txBox="1"/>
            <p:nvPr/>
          </p:nvSpPr>
          <p:spPr>
            <a:xfrm>
              <a:off x="5124951" y="4416063"/>
              <a:ext cx="37904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ja-JP" sz="2400" i="1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 </a:t>
              </a:r>
              <a:r>
                <a:rPr kumimoji="1" lang="en-US" altLang="ja-JP" sz="2400" dirty="0" smtClean="0"/>
                <a:t>: </a:t>
              </a:r>
              <a:r>
                <a:rPr kumimoji="1" lang="en-US" altLang="ja-JP" sz="24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kumimoji="1" lang="ja-JP" altLang="en-US" sz="2400" dirty="0" smtClean="0"/>
                <a:t>番目のデータの実測値</a:t>
              </a:r>
              <a:endParaRPr kumimoji="1" lang="ja-JP" altLang="en-US" sz="2400" dirty="0" smtClean="0"/>
            </a:p>
          </p:txBody>
        </p:sp>
        <p:sp>
          <p:nvSpPr>
            <p:cNvPr id="17" name="テキスト ボックス 16"/>
            <p:cNvSpPr txBox="1"/>
            <p:nvPr/>
          </p:nvSpPr>
          <p:spPr>
            <a:xfrm>
              <a:off x="5124951" y="4788389"/>
              <a:ext cx="37904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</a:t>
              </a:r>
              <a:r>
                <a:rPr lang="en-US" altLang="ja-JP" sz="2400" i="1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 </a:t>
              </a:r>
              <a:r>
                <a:rPr lang="en-US" altLang="ja-JP" sz="2400" dirty="0" smtClean="0"/>
                <a:t>: </a:t>
              </a:r>
              <a:r>
                <a:rPr lang="en-US" altLang="ja-JP" sz="24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ja-JP" altLang="en-US" sz="2400" dirty="0"/>
                <a:t>番目のデータ</a:t>
              </a:r>
              <a:r>
                <a:rPr lang="ja-JP" altLang="en-US" sz="2400" dirty="0" smtClean="0"/>
                <a:t>の予測</a:t>
              </a:r>
              <a:r>
                <a:rPr kumimoji="1" lang="ja-JP" altLang="en-US" sz="2400" dirty="0" smtClean="0"/>
                <a:t>値</a:t>
              </a:r>
              <a:endParaRPr kumimoji="1" lang="ja-JP" altLang="en-US" sz="24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3870292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smtClean="0"/>
              <a:t>NN3</a:t>
            </a:r>
            <a:r>
              <a:rPr lang="ja-JP" altLang="en-US" dirty="0" smtClean="0"/>
              <a:t> </a:t>
            </a:r>
            <a:r>
              <a:rPr lang="en-US" altLang="ja-JP" dirty="0" smtClean="0"/>
              <a:t>time series</a:t>
            </a:r>
          </a:p>
          <a:p>
            <a:pPr algn="l"/>
            <a:r>
              <a:rPr lang="en-US" altLang="ja-JP" sz="2800" dirty="0" smtClean="0"/>
              <a:t>111</a:t>
            </a:r>
            <a:r>
              <a:rPr lang="ja-JP" altLang="en-US" sz="2800" dirty="0" smtClean="0"/>
              <a:t>属性，</a:t>
            </a:r>
            <a:r>
              <a:rPr lang="en-US" altLang="ja-JP" sz="2800" dirty="0" smtClean="0"/>
              <a:t>69</a:t>
            </a:r>
            <a:r>
              <a:rPr lang="ja-JP" altLang="en-US" sz="2800" dirty="0" smtClean="0"/>
              <a:t>個の時系列データ</a:t>
            </a:r>
            <a:r>
              <a:rPr lang="en-US" altLang="ja-JP" sz="2800" dirty="0" smtClean="0"/>
              <a:t/>
            </a:r>
            <a:br>
              <a:rPr lang="en-US" altLang="ja-JP" sz="2800" dirty="0" smtClean="0"/>
            </a:br>
            <a:r>
              <a:rPr lang="en-US" altLang="ja-JP" sz="2800" dirty="0" smtClean="0"/>
              <a:t>1</a:t>
            </a:r>
            <a:r>
              <a:rPr lang="ja-JP" altLang="en-US" sz="2800" dirty="0" err="1"/>
              <a:t>つの</a:t>
            </a:r>
            <a:r>
              <a:rPr lang="ja-JP" altLang="en-US" sz="2800" dirty="0"/>
              <a:t>レジームで構成されている</a:t>
            </a:r>
            <a:r>
              <a:rPr lang="ja-JP" altLang="en-US" sz="2800" dirty="0" smtClean="0"/>
              <a:t>データ</a:t>
            </a:r>
            <a:r>
              <a:rPr lang="en-US" altLang="ja-JP" sz="2800" dirty="0" smtClean="0"/>
              <a:t/>
            </a:r>
            <a:br>
              <a:rPr lang="en-US" altLang="ja-JP" sz="2800" dirty="0" smtClean="0"/>
            </a:br>
            <a:r>
              <a:rPr lang="en-US" altLang="ja-JP" sz="2800" dirty="0" smtClean="0"/>
              <a:t>2</a:t>
            </a:r>
            <a:r>
              <a:rPr lang="ja-JP" altLang="en-US" sz="2800" dirty="0" smtClean="0"/>
              <a:t>つ目の属性の値</a:t>
            </a:r>
            <a:r>
              <a:rPr lang="en-US" altLang="ja-JP" sz="2800" dirty="0" smtClean="0"/>
              <a:t>(NN3_002)</a:t>
            </a:r>
            <a:r>
              <a:rPr lang="ja-JP" altLang="en-US" sz="2800" dirty="0" smtClean="0"/>
              <a:t>のみを使用</a:t>
            </a:r>
            <a:r>
              <a:rPr lang="en-US" altLang="ja-JP" sz="2800" dirty="0" smtClean="0"/>
              <a:t/>
            </a:r>
            <a:br>
              <a:rPr lang="en-US" altLang="ja-JP" sz="2800" dirty="0" smtClean="0"/>
            </a:br>
            <a:r>
              <a:rPr lang="ja-JP" altLang="en-US" sz="2800" dirty="0" smtClean="0"/>
              <a:t>冒頭</a:t>
            </a:r>
            <a:r>
              <a:rPr lang="en-US" altLang="ja-JP" sz="2800" dirty="0" smtClean="0"/>
              <a:t>40</a:t>
            </a:r>
            <a:r>
              <a:rPr lang="ja-JP" altLang="en-US" sz="2800" dirty="0" smtClean="0"/>
              <a:t>個を学習データ，残り</a:t>
            </a:r>
            <a:r>
              <a:rPr lang="en-US" altLang="ja-JP" sz="2800" dirty="0" smtClean="0"/>
              <a:t>29</a:t>
            </a:r>
            <a:r>
              <a:rPr lang="ja-JP" altLang="en-US" sz="2800" dirty="0" smtClean="0"/>
              <a:t>個をテストデータに使用</a:t>
            </a:r>
            <a:r>
              <a:rPr lang="en-US" altLang="ja-JP" sz="2800" dirty="0"/>
              <a:t/>
            </a:r>
            <a:br>
              <a:rPr lang="en-US" altLang="ja-JP" sz="2800" dirty="0"/>
            </a:br>
            <a:r>
              <a:rPr lang="ja-JP" altLang="en-US" sz="2800" dirty="0" smtClean="0"/>
              <a:t>＝</a:t>
            </a:r>
            <a:r>
              <a:rPr lang="ja-JP" altLang="en-US" sz="2800" dirty="0"/>
              <a:t>学習</a:t>
            </a:r>
            <a:r>
              <a:rPr lang="ja-JP" altLang="en-US" sz="2800" dirty="0" smtClean="0"/>
              <a:t>データ</a:t>
            </a:r>
            <a:r>
              <a:rPr lang="en-US" altLang="ja-JP" sz="2800" dirty="0" smtClean="0"/>
              <a:t>36</a:t>
            </a:r>
            <a:r>
              <a:rPr lang="ja-JP" altLang="en-US" sz="2800" dirty="0" smtClean="0"/>
              <a:t>個，テストデータ</a:t>
            </a:r>
            <a:r>
              <a:rPr lang="en-US" altLang="ja-JP" sz="2800" dirty="0" smtClean="0"/>
              <a:t>25</a:t>
            </a:r>
            <a:r>
              <a:rPr lang="ja-JP" altLang="en-US" sz="2800" dirty="0" smtClean="0"/>
              <a:t>個</a:t>
            </a:r>
            <a:r>
              <a:rPr lang="en-US" altLang="ja-JP" sz="2800" dirty="0" smtClean="0"/>
              <a:t/>
            </a:r>
            <a:br>
              <a:rPr lang="en-US" altLang="ja-JP" sz="2800" dirty="0" smtClean="0"/>
            </a:br>
            <a:endParaRPr lang="en-US" altLang="ja-JP" sz="28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16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 smtClean="0"/>
              <a:t>NN3</a:t>
            </a:r>
            <a:r>
              <a:rPr lang="ja-JP" altLang="en-US" dirty="0"/>
              <a:t> </a:t>
            </a:r>
            <a:r>
              <a:rPr lang="en-US" altLang="ja-JP" dirty="0" smtClean="0"/>
              <a:t>time series</a:t>
            </a:r>
          </a:p>
        </p:txBody>
      </p:sp>
    </p:spTree>
    <p:extLst>
      <p:ext uri="{BB962C8B-B14F-4D97-AF65-F5344CB8AC3E}">
        <p14:creationId xmlns:p14="http://schemas.microsoft.com/office/powerpoint/2010/main" val="2872151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一般的なモデルとの比較 </a:t>
            </a:r>
            <a:r>
              <a:rPr lang="en-US" altLang="ja-JP" dirty="0" smtClean="0"/>
              <a:t>(</a:t>
            </a:r>
            <a:r>
              <a:rPr lang="ja-JP" altLang="en-US" dirty="0" smtClean="0"/>
              <a:t>非アンサンブル</a:t>
            </a:r>
            <a:r>
              <a:rPr lang="en-US" altLang="ja-JP" dirty="0" smtClean="0"/>
              <a:t>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3</a:t>
            </a:r>
            <a:r>
              <a:rPr lang="ja-JP" altLang="en-US" sz="2800" dirty="0" smtClean="0"/>
              <a:t>層ニューラルネットワーク </a:t>
            </a:r>
            <a:r>
              <a:rPr lang="en-US" altLang="ja-JP" sz="2800" dirty="0" smtClean="0"/>
              <a:t>(BPNN)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SVM</a:t>
            </a:r>
            <a:r>
              <a:rPr lang="ja-JP" altLang="en-US" sz="2800" dirty="0" smtClean="0"/>
              <a:t>回帰 </a:t>
            </a:r>
            <a:r>
              <a:rPr lang="en-US" altLang="ja-JP" sz="2800" dirty="0" smtClean="0"/>
              <a:t>(SVR)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ELM</a:t>
            </a:r>
          </a:p>
          <a:p>
            <a:pPr algn="l"/>
            <a:r>
              <a:rPr lang="ja-JP" altLang="en-US" dirty="0" smtClean="0"/>
              <a:t>弱識別</a:t>
            </a:r>
            <a:r>
              <a:rPr lang="ja-JP" altLang="en-US" dirty="0"/>
              <a:t>器</a:t>
            </a:r>
            <a:r>
              <a:rPr lang="ja-JP" altLang="en-US" dirty="0" smtClean="0"/>
              <a:t>の違い・集約手法の違いによる比較</a:t>
            </a:r>
            <a:endParaRPr lang="en-US" altLang="ja-JP" dirty="0" smtClean="0"/>
          </a:p>
          <a:p>
            <a:pPr algn="l"/>
            <a:endParaRPr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17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 smtClean="0"/>
              <a:t>NN3</a:t>
            </a:r>
            <a:r>
              <a:rPr lang="ja-JP" altLang="en-US" dirty="0"/>
              <a:t> </a:t>
            </a:r>
            <a:r>
              <a:rPr lang="en-US" altLang="ja-JP" dirty="0" smtClean="0"/>
              <a:t>time series</a:t>
            </a:r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28600" y="4064000"/>
            <a:ext cx="37719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弱識別器の違い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BPNN-RF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SVR-RF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ELM-RF (</a:t>
            </a:r>
            <a:r>
              <a:rPr kumimoji="1" lang="ja-JP" altLang="en-US" sz="2800" dirty="0" smtClean="0"/>
              <a:t>提案手法</a:t>
            </a:r>
            <a:r>
              <a:rPr kumimoji="1" lang="en-US" altLang="ja-JP" sz="2800" dirty="0" smtClean="0"/>
              <a:t>)</a:t>
            </a:r>
            <a:endParaRPr kumimoji="1" lang="ja-JP" altLang="en-US" sz="2800" dirty="0" smtClean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4610100" y="4064000"/>
            <a:ext cx="37719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集約手法</a:t>
            </a:r>
            <a:r>
              <a:rPr kumimoji="1" lang="ja-JP" altLang="en-US" sz="2800" dirty="0" smtClean="0"/>
              <a:t>の違い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BPNN-</a:t>
            </a:r>
            <a:r>
              <a:rPr kumimoji="1" lang="en-US" altLang="ja-JP" sz="2800" dirty="0" err="1" smtClean="0"/>
              <a:t>Avg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SVR-</a:t>
            </a:r>
            <a:r>
              <a:rPr lang="en-US" altLang="ja-JP" sz="2800" dirty="0" err="1" smtClean="0"/>
              <a:t>Avg</a:t>
            </a:r>
            <a:endParaRPr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ELM-</a:t>
            </a:r>
            <a:r>
              <a:rPr kumimoji="1" lang="en-US" altLang="ja-JP" sz="2800" dirty="0" err="1" smtClean="0"/>
              <a:t>Avg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40491126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graphicFrame>
        <p:nvGraphicFramePr>
          <p:cNvPr id="6" name="コンテンツ プレースホルダー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3717900"/>
              </p:ext>
            </p:extLst>
          </p:nvPr>
        </p:nvGraphicFramePr>
        <p:xfrm>
          <a:off x="192182" y="1767114"/>
          <a:ext cx="8759637" cy="396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029018"/>
                <a:gridCol w="1311593"/>
                <a:gridCol w="1753426"/>
                <a:gridCol w="1943926"/>
                <a:gridCol w="1273874"/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ARE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RMSE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Variance(ARE)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Variance(RMSE)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Time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BPNN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0.1045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591.8325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0.0024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4.8382e+4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0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3.8337</a:t>
                      </a:r>
                      <a:endParaRPr kumimoji="1" lang="ja-JP" altLang="en-US" sz="20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SVR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0.0586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403.3076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1" i="1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000" b="1" i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1" i="1" dirty="0" smtClean="0">
                          <a:effectLst/>
                          <a:latin typeface="Arial" panose="020B0604020202020204" pitchFamily="34" charset="0"/>
                        </a:rPr>
                        <a:t>3.5902e-27</a:t>
                      </a:r>
                      <a:endParaRPr kumimoji="1" lang="ja-JP" altLang="en-US" sz="2000" b="1" i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1" i="1" dirty="0" smtClean="0">
                          <a:solidFill>
                            <a:schemeClr val="tx1"/>
                          </a:solidFill>
                        </a:rPr>
                        <a:t>0.0135</a:t>
                      </a:r>
                      <a:endParaRPr kumimoji="1" lang="ja-JP" altLang="en-US" sz="2000" b="1" i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ELM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0.0561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387.1779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7.9992e-6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349.6872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0.0552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ELM-RF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1" i="1" dirty="0" smtClean="0">
                          <a:solidFill>
                            <a:schemeClr val="tx1"/>
                          </a:solidFill>
                        </a:rPr>
                        <a:t>0.0508</a:t>
                      </a:r>
                      <a:endParaRPr kumimoji="1" lang="ja-JP" altLang="en-US" sz="2000" b="1" i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360.1643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6.0819e-6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243.0934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3.7709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ELM-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Avg</a:t>
                      </a:r>
                      <a:endParaRPr kumimoji="1" lang="en-US" altLang="ja-JP" sz="20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0.0536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371.6102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1.4575e-6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13.1364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1.4250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BPNN-RF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0.0559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1" i="1" dirty="0" smtClean="0">
                          <a:effectLst/>
                          <a:latin typeface="Arial" panose="020B0604020202020204" pitchFamily="34" charset="0"/>
                        </a:rPr>
                        <a:t>355.0662</a:t>
                      </a:r>
                      <a:endParaRPr kumimoji="1" lang="ja-JP" altLang="en-US" sz="2000" b="1" i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3.3827e-5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322.0198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111.1591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BPNN-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Avg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0.0577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361.7542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1.8153e-5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673.3405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111.9993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SVR-RF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0.0767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418.0443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4.2784e-6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58.8873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2.3498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SVR-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Avg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0.0586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403.3076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1" i="1" dirty="0" smtClean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2000" b="1" i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1" i="1" dirty="0" smtClean="0">
                          <a:effectLst/>
                          <a:latin typeface="Arial" panose="020B0604020202020204" pitchFamily="34" charset="0"/>
                        </a:rPr>
                        <a:t>3.5902e-27</a:t>
                      </a:r>
                      <a:endParaRPr kumimoji="1" lang="ja-JP" altLang="en-US" sz="2000" b="1" i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0.5157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18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NN3 time series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6767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19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NN3 time series</a:t>
            </a:r>
            <a:endParaRPr kumimoji="1" lang="ja-JP" altLang="en-US" dirty="0"/>
          </a:p>
        </p:txBody>
      </p:sp>
      <p:pic>
        <p:nvPicPr>
          <p:cNvPr id="7" name="図 6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1442518"/>
            <a:ext cx="9144000" cy="3972963"/>
          </a:xfrm>
          <a:prstGeom prst="rect">
            <a:avLst/>
          </a:prstGeom>
          <a:noFill/>
        </p:spPr>
      </p:pic>
      <p:sp>
        <p:nvSpPr>
          <p:cNvPr id="8" name="テキスト ボックス 7"/>
          <p:cNvSpPr txBox="1"/>
          <p:nvPr/>
        </p:nvSpPr>
        <p:spPr>
          <a:xfrm>
            <a:off x="-325484" y="5612563"/>
            <a:ext cx="979496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/>
              <a:t>The </a:t>
            </a:r>
            <a:r>
              <a:rPr lang="en-US" altLang="ja-JP" sz="2800" dirty="0" smtClean="0"/>
              <a:t>boxplots of </a:t>
            </a:r>
            <a:r>
              <a:rPr lang="en-US" altLang="ja-JP" sz="2800" dirty="0"/>
              <a:t>ARE and RMSE of </a:t>
            </a:r>
            <a:endParaRPr lang="en-US" altLang="ja-JP" sz="2800" dirty="0" smtClean="0"/>
          </a:p>
          <a:p>
            <a:pPr algn="ctr"/>
            <a:r>
              <a:rPr lang="en-US" altLang="ja-JP" sz="2800" dirty="0" smtClean="0"/>
              <a:t>different </a:t>
            </a:r>
            <a:r>
              <a:rPr lang="en-US" altLang="ja-JP" sz="2800" dirty="0"/>
              <a:t>models on </a:t>
            </a:r>
            <a:r>
              <a:rPr lang="en-US" altLang="ja-JP" sz="2800" dirty="0" smtClean="0"/>
              <a:t>NN3 </a:t>
            </a:r>
            <a:r>
              <a:rPr lang="en-US" altLang="ja-JP" sz="2800" dirty="0"/>
              <a:t>time series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3869302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数値</a:t>
            </a:r>
            <a:r>
              <a:rPr lang="ja-JP" altLang="en-US" dirty="0"/>
              <a:t>実験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smtClean="0"/>
              <a:t>FD001</a:t>
            </a:r>
            <a:endParaRPr lang="en-US" altLang="ja-JP" sz="2800" dirty="0"/>
          </a:p>
          <a:p>
            <a:pPr algn="l"/>
            <a:r>
              <a:rPr lang="en-US" altLang="ja-JP" sz="2800" dirty="0" smtClean="0"/>
              <a:t>100</a:t>
            </a:r>
            <a:r>
              <a:rPr lang="ja-JP" altLang="en-US" sz="2800" dirty="0" smtClean="0"/>
              <a:t>個のエンジンにそれぞれついている</a:t>
            </a:r>
            <a:r>
              <a:rPr lang="en-US" altLang="ja-JP" sz="2800" dirty="0" smtClean="0"/>
              <a:t>21</a:t>
            </a:r>
            <a:r>
              <a:rPr lang="ja-JP" altLang="en-US" sz="2800" dirty="0" smtClean="0"/>
              <a:t>個のセンサの</a:t>
            </a:r>
            <a:r>
              <a:rPr lang="en-US" altLang="ja-JP" sz="2800" dirty="0" smtClean="0"/>
              <a:t>192</a:t>
            </a:r>
            <a:r>
              <a:rPr lang="ja-JP" altLang="en-US" sz="2800" dirty="0" smtClean="0"/>
              <a:t>個の時系列データ</a:t>
            </a:r>
            <a:r>
              <a:rPr lang="en-US" altLang="ja-JP" sz="2800" dirty="0" smtClean="0"/>
              <a:t>?</a:t>
            </a:r>
            <a:r>
              <a:rPr lang="en-US" altLang="ja-JP" sz="2800" dirty="0"/>
              <a:t/>
            </a:r>
            <a:br>
              <a:rPr lang="en-US" altLang="ja-JP" sz="2800" dirty="0"/>
            </a:br>
            <a:r>
              <a:rPr lang="en-US" altLang="ja-JP" sz="2800" dirty="0"/>
              <a:t>1</a:t>
            </a:r>
            <a:r>
              <a:rPr lang="ja-JP" altLang="en-US" sz="2800" dirty="0" err="1"/>
              <a:t>つの</a:t>
            </a:r>
            <a:r>
              <a:rPr lang="ja-JP" altLang="en-US" sz="2800" dirty="0"/>
              <a:t>レジームで構成されているデータ</a:t>
            </a:r>
            <a:r>
              <a:rPr lang="en-US" altLang="ja-JP" sz="2800" dirty="0"/>
              <a:t/>
            </a:r>
            <a:br>
              <a:rPr lang="en-US" altLang="ja-JP" sz="2800" dirty="0"/>
            </a:br>
            <a:r>
              <a:rPr lang="en-US" altLang="ja-JP" sz="2800" dirty="0" smtClean="0"/>
              <a:t>1</a:t>
            </a:r>
            <a:r>
              <a:rPr lang="ja-JP" altLang="en-US" sz="2800" dirty="0" smtClean="0"/>
              <a:t>つ</a:t>
            </a:r>
            <a:r>
              <a:rPr lang="ja-JP" altLang="en-US" sz="2800" dirty="0"/>
              <a:t>目</a:t>
            </a:r>
            <a:r>
              <a:rPr lang="ja-JP" altLang="en-US" sz="2800" dirty="0" smtClean="0"/>
              <a:t>の</a:t>
            </a:r>
            <a:r>
              <a:rPr lang="ja-JP" altLang="en-US" sz="2800" dirty="0"/>
              <a:t>エンジン</a:t>
            </a:r>
            <a:r>
              <a:rPr lang="ja-JP" altLang="en-US" sz="2800" dirty="0" smtClean="0"/>
              <a:t>の</a:t>
            </a:r>
            <a:r>
              <a:rPr lang="en-US" altLang="ja-JP" sz="2800" dirty="0" smtClean="0"/>
              <a:t>3</a:t>
            </a:r>
            <a:r>
              <a:rPr lang="ja-JP" altLang="en-US" sz="2800" dirty="0" smtClean="0"/>
              <a:t>つ目のセンサの値のみ</a:t>
            </a:r>
            <a:r>
              <a:rPr lang="ja-JP" altLang="en-US" sz="2800" dirty="0"/>
              <a:t>を使用</a:t>
            </a:r>
            <a:r>
              <a:rPr lang="en-US" altLang="ja-JP" sz="2800" dirty="0"/>
              <a:t/>
            </a:r>
            <a:br>
              <a:rPr lang="en-US" altLang="ja-JP" sz="2800" dirty="0"/>
            </a:br>
            <a:r>
              <a:rPr lang="ja-JP" altLang="en-US" sz="2800" dirty="0"/>
              <a:t>冒頭</a:t>
            </a:r>
            <a:r>
              <a:rPr lang="en-US" altLang="ja-JP" sz="2800" dirty="0"/>
              <a:t>40</a:t>
            </a:r>
            <a:r>
              <a:rPr lang="ja-JP" altLang="en-US" sz="2800" dirty="0"/>
              <a:t>個を学習データ，</a:t>
            </a:r>
            <a:r>
              <a:rPr lang="ja-JP" altLang="en-US" sz="2800" dirty="0" smtClean="0"/>
              <a:t>残り</a:t>
            </a:r>
            <a:r>
              <a:rPr lang="en-US" altLang="ja-JP" sz="2800" dirty="0" smtClean="0"/>
              <a:t>15</a:t>
            </a:r>
            <a:r>
              <a:rPr lang="en-US" altLang="ja-JP" sz="2800" dirty="0"/>
              <a:t>2</a:t>
            </a:r>
            <a:r>
              <a:rPr lang="ja-JP" altLang="en-US" sz="2800" dirty="0" smtClean="0"/>
              <a:t>個</a:t>
            </a:r>
            <a:r>
              <a:rPr lang="ja-JP" altLang="en-US" sz="2800" dirty="0"/>
              <a:t>をテストデータに使用</a:t>
            </a:r>
            <a:r>
              <a:rPr lang="en-US" altLang="ja-JP" sz="2800" dirty="0"/>
              <a:t/>
            </a:r>
            <a:br>
              <a:rPr lang="en-US" altLang="ja-JP" sz="2800" dirty="0"/>
            </a:br>
            <a:r>
              <a:rPr lang="ja-JP" altLang="en-US" sz="2800" dirty="0"/>
              <a:t>＝学習データ</a:t>
            </a:r>
            <a:r>
              <a:rPr lang="en-US" altLang="ja-JP" sz="2800" dirty="0"/>
              <a:t>36</a:t>
            </a:r>
            <a:r>
              <a:rPr lang="ja-JP" altLang="en-US" sz="2800" dirty="0"/>
              <a:t>個，</a:t>
            </a:r>
            <a:r>
              <a:rPr lang="ja-JP" altLang="en-US" sz="2800" dirty="0" smtClean="0"/>
              <a:t>テストデータ</a:t>
            </a:r>
            <a:r>
              <a:rPr lang="en-US" altLang="ja-JP" sz="2800" dirty="0" smtClean="0"/>
              <a:t>14</a:t>
            </a:r>
            <a:r>
              <a:rPr lang="en-US" altLang="ja-JP" sz="2800" dirty="0"/>
              <a:t>8</a:t>
            </a:r>
            <a:r>
              <a:rPr lang="ja-JP" altLang="en-US" sz="2800" dirty="0" smtClean="0"/>
              <a:t>個</a:t>
            </a:r>
            <a:endParaRPr kumimoji="1" lang="ja-JP" altLang="en-US" sz="2800" dirty="0"/>
          </a:p>
        </p:txBody>
      </p:sp>
      <p:sp>
        <p:nvSpPr>
          <p:cNvPr id="3" name="スライド番号プレースホルダー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20</a:t>
            </a:fld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FD001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980690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一般的なモデルとの比較 </a:t>
            </a:r>
            <a:endParaRPr lang="en-US" altLang="ja-JP" dirty="0" smtClean="0"/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BPNN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SVR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ELM</a:t>
            </a:r>
          </a:p>
          <a:p>
            <a:pPr algn="l"/>
            <a:r>
              <a:rPr lang="ja-JP" altLang="en-US" dirty="0" smtClean="0"/>
              <a:t>弱識別</a:t>
            </a:r>
            <a:r>
              <a:rPr lang="ja-JP" altLang="en-US" dirty="0"/>
              <a:t>器</a:t>
            </a:r>
            <a:r>
              <a:rPr lang="ja-JP" altLang="en-US" dirty="0" smtClean="0"/>
              <a:t>の違い・集約手法の違いによる比較</a:t>
            </a:r>
            <a:endParaRPr lang="en-US" altLang="ja-JP" dirty="0" smtClean="0"/>
          </a:p>
          <a:p>
            <a:pPr algn="l"/>
            <a:endParaRPr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21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 smtClean="0"/>
              <a:t>FD00</a:t>
            </a:r>
            <a:r>
              <a:rPr lang="en-US" altLang="ja-JP" dirty="0"/>
              <a:t>1</a:t>
            </a:r>
            <a:endParaRPr lang="en-US" altLang="ja-JP" dirty="0" smtClean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28600" y="4064000"/>
            <a:ext cx="37719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弱識別器の違い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BPNN-RF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SVR-RF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ELM-RF </a:t>
            </a:r>
            <a:endParaRPr kumimoji="1" lang="ja-JP" altLang="en-US" sz="2800" dirty="0" smtClean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4610100" y="4064000"/>
            <a:ext cx="37719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集約手法</a:t>
            </a:r>
            <a:r>
              <a:rPr kumimoji="1" lang="ja-JP" altLang="en-US" sz="2800" dirty="0" smtClean="0"/>
              <a:t>の違い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BPNN-</a:t>
            </a:r>
            <a:r>
              <a:rPr kumimoji="1" lang="en-US" altLang="ja-JP" sz="2800" dirty="0" err="1" smtClean="0"/>
              <a:t>Avg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SVR-</a:t>
            </a:r>
            <a:r>
              <a:rPr lang="en-US" altLang="ja-JP" sz="2800" dirty="0" err="1" smtClean="0"/>
              <a:t>Avg</a:t>
            </a:r>
            <a:endParaRPr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ELM-</a:t>
            </a:r>
            <a:r>
              <a:rPr kumimoji="1" lang="en-US" altLang="ja-JP" sz="2800" dirty="0" err="1" smtClean="0"/>
              <a:t>Avg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16899864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graphicFrame>
        <p:nvGraphicFramePr>
          <p:cNvPr id="6" name="コンテンツ プレースホルダー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6622066"/>
              </p:ext>
            </p:extLst>
          </p:nvPr>
        </p:nvGraphicFramePr>
        <p:xfrm>
          <a:off x="192182" y="1767114"/>
          <a:ext cx="8759637" cy="396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029018"/>
                <a:gridCol w="1311593"/>
                <a:gridCol w="1753426"/>
                <a:gridCol w="1943926"/>
                <a:gridCol w="1273874"/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ARE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RMSE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Variance(ARE)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Variance(RMSE)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Time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BPNN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0.0044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8.6021 </a:t>
                      </a:r>
                      <a:endParaRPr lang="ja-JP" alt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5.1072e-7</a:t>
                      </a:r>
                      <a:endParaRPr lang="ja-JP" alt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1.6978</a:t>
                      </a:r>
                      <a:endParaRPr lang="ja-JP" alt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2.6195</a:t>
                      </a:r>
                      <a:endParaRPr lang="ja-JP" alt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SVR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0.0036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7.1735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1" i="1" dirty="0" smtClean="0">
                          <a:effectLst/>
                          <a:latin typeface="Arial" panose="020B0604020202020204" pitchFamily="34" charset="0"/>
                        </a:rPr>
                        <a:t>2.0898e-37</a:t>
                      </a:r>
                      <a:endParaRPr lang="ja-JP" altLang="en-US" sz="20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1" i="1" dirty="0" smtClean="0">
                          <a:effectLst/>
                          <a:latin typeface="Arial" panose="020B0604020202020204" pitchFamily="34" charset="0"/>
                        </a:rPr>
                        <a:t>3.5060e-30</a:t>
                      </a:r>
                      <a:endParaRPr lang="ja-JP" altLang="en-US" sz="20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1" i="1" dirty="0" smtClean="0"/>
                        <a:t>0.0234</a:t>
                      </a:r>
                      <a:endParaRPr lang="ja-JP" altLang="en-US" sz="2000" b="1" i="1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ELM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0.0042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8.6476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7.6424e-8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1.3388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0.0606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ELM-RF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1" i="1" dirty="0" smtClean="0">
                          <a:solidFill>
                            <a:schemeClr val="tx1"/>
                          </a:solidFill>
                        </a:rPr>
                        <a:t>0.0034</a:t>
                      </a:r>
                      <a:endParaRPr kumimoji="1" lang="ja-JP" altLang="en-US" sz="2000" b="1" i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1" i="1" dirty="0" smtClean="0"/>
                        <a:t>6.8946</a:t>
                      </a:r>
                      <a:endParaRPr lang="ja-JP" altLang="en-US" sz="20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4.2729e-10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0.0026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3.0507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ELM-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Avg</a:t>
                      </a:r>
                      <a:endParaRPr kumimoji="1" lang="en-US" altLang="ja-JP" sz="20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0.0041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8.2967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2.9121e-9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0.0099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1.9844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BPNN-RF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0.0036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7.3343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3.7983e-8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0.1795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144.3733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BPNN-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Avg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0.0035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7.2095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2.2122e-8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0.0823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157.4082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SVR-RF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0.0036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7.3648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1.0525e-8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0.0500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2.6809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SVR-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Avg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0.0036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7.1735</a:t>
                      </a:r>
                      <a:endParaRPr lang="ja-JP" alt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1" i="1" dirty="0" smtClean="0">
                          <a:effectLst/>
                          <a:latin typeface="Arial" panose="020B0604020202020204" pitchFamily="34" charset="0"/>
                        </a:rPr>
                        <a:t>2.0898e-37</a:t>
                      </a:r>
                      <a:endParaRPr lang="ja-JP" altLang="en-US" sz="2000" b="1" i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1" i="1" dirty="0" smtClean="0">
                          <a:effectLst/>
                          <a:latin typeface="Arial" panose="020B0604020202020204" pitchFamily="34" charset="0"/>
                        </a:rPr>
                        <a:t>3.5060e-30</a:t>
                      </a:r>
                      <a:endParaRPr lang="ja-JP" altLang="en-US" sz="2000" b="1" i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0.7594</a:t>
                      </a:r>
                      <a:endParaRPr lang="ja-JP" alt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22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 smtClean="0"/>
              <a:t>FD</a:t>
            </a:r>
            <a:r>
              <a:rPr lang="en-US" altLang="ja-JP" dirty="0"/>
              <a:t>001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03101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23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FD001</a:t>
            </a:r>
            <a:endParaRPr kumimoji="1"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-325484" y="5612563"/>
            <a:ext cx="979496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/>
              <a:t>The </a:t>
            </a:r>
            <a:r>
              <a:rPr lang="en-US" altLang="ja-JP" sz="2800" dirty="0" smtClean="0"/>
              <a:t>boxplots of </a:t>
            </a:r>
            <a:r>
              <a:rPr lang="en-US" altLang="ja-JP" sz="2800" dirty="0"/>
              <a:t>ARE and RMSE of </a:t>
            </a:r>
            <a:endParaRPr lang="en-US" altLang="ja-JP" sz="2800" dirty="0" smtClean="0"/>
          </a:p>
          <a:p>
            <a:pPr algn="ctr"/>
            <a:r>
              <a:rPr lang="en-US" altLang="ja-JP" sz="2800" dirty="0" smtClean="0"/>
              <a:t>different </a:t>
            </a:r>
            <a:r>
              <a:rPr lang="en-US" altLang="ja-JP" sz="2800" dirty="0"/>
              <a:t>models on </a:t>
            </a:r>
            <a:r>
              <a:rPr lang="en-US" altLang="ja-JP" sz="2800" dirty="0" smtClean="0"/>
              <a:t>FD001 </a:t>
            </a:r>
            <a:r>
              <a:rPr lang="en-US" altLang="ja-JP" sz="2800" dirty="0"/>
              <a:t>time series</a:t>
            </a:r>
            <a:endParaRPr kumimoji="1" lang="ja-JP" altLang="en-US" sz="2800" dirty="0" smtClean="0"/>
          </a:p>
        </p:txBody>
      </p:sp>
      <p:pic>
        <p:nvPicPr>
          <p:cNvPr id="3" name="図 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1407367"/>
            <a:ext cx="9144000" cy="404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084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数値</a:t>
            </a:r>
            <a:r>
              <a:rPr lang="ja-JP" altLang="en-US" dirty="0"/>
              <a:t>実験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smtClean="0"/>
              <a:t>FD002</a:t>
            </a:r>
            <a:endParaRPr lang="en-US" altLang="ja-JP" sz="2800" dirty="0"/>
          </a:p>
          <a:p>
            <a:pPr algn="l"/>
            <a:r>
              <a:rPr lang="en-US" altLang="ja-JP" sz="2800" dirty="0" smtClean="0"/>
              <a:t>100</a:t>
            </a:r>
            <a:r>
              <a:rPr lang="ja-JP" altLang="en-US" sz="2800" dirty="0" smtClean="0"/>
              <a:t>個のエンジンにそれぞれついている</a:t>
            </a:r>
            <a:r>
              <a:rPr lang="en-US" altLang="ja-JP" sz="2800" dirty="0" smtClean="0"/>
              <a:t>21</a:t>
            </a:r>
            <a:r>
              <a:rPr lang="ja-JP" altLang="en-US" sz="2800" dirty="0" smtClean="0"/>
              <a:t>個のセンサの</a:t>
            </a:r>
            <a:r>
              <a:rPr lang="en-US" altLang="ja-JP" sz="2800" dirty="0" smtClean="0"/>
              <a:t>149</a:t>
            </a:r>
            <a:r>
              <a:rPr lang="ja-JP" altLang="en-US" sz="2800" dirty="0" smtClean="0"/>
              <a:t>個の時系列データ</a:t>
            </a:r>
            <a:r>
              <a:rPr lang="en-US" altLang="ja-JP" sz="2800" dirty="0" smtClean="0"/>
              <a:t>?</a:t>
            </a:r>
            <a:r>
              <a:rPr lang="en-US" altLang="ja-JP" sz="2800" dirty="0"/>
              <a:t/>
            </a:r>
            <a:br>
              <a:rPr lang="en-US" altLang="ja-JP" sz="2800" dirty="0"/>
            </a:br>
            <a:r>
              <a:rPr lang="en-US" altLang="ja-JP" sz="2800" dirty="0" smtClean="0"/>
              <a:t>6</a:t>
            </a:r>
            <a:r>
              <a:rPr lang="ja-JP" altLang="en-US" sz="2800" dirty="0" err="1" smtClean="0"/>
              <a:t>つの</a:t>
            </a:r>
            <a:r>
              <a:rPr lang="ja-JP" altLang="en-US" sz="2800" dirty="0"/>
              <a:t>レジームで構成されているデータ</a:t>
            </a:r>
            <a:r>
              <a:rPr lang="en-US" altLang="ja-JP" sz="2800" dirty="0"/>
              <a:t/>
            </a:r>
            <a:br>
              <a:rPr lang="en-US" altLang="ja-JP" sz="2800" dirty="0"/>
            </a:br>
            <a:r>
              <a:rPr lang="en-US" altLang="ja-JP" sz="2800" dirty="0" smtClean="0"/>
              <a:t>1</a:t>
            </a:r>
            <a:r>
              <a:rPr lang="ja-JP" altLang="en-US" sz="2800" dirty="0" smtClean="0"/>
              <a:t>つ</a:t>
            </a:r>
            <a:r>
              <a:rPr lang="ja-JP" altLang="en-US" sz="2800" dirty="0"/>
              <a:t>目</a:t>
            </a:r>
            <a:r>
              <a:rPr lang="ja-JP" altLang="en-US" sz="2800" dirty="0" smtClean="0"/>
              <a:t>の</a:t>
            </a:r>
            <a:r>
              <a:rPr lang="ja-JP" altLang="en-US" sz="2800" dirty="0"/>
              <a:t>エンジン</a:t>
            </a:r>
            <a:r>
              <a:rPr lang="ja-JP" altLang="en-US" sz="2800" dirty="0" smtClean="0"/>
              <a:t>の</a:t>
            </a:r>
            <a:r>
              <a:rPr lang="en-US" altLang="ja-JP" sz="2800" dirty="0" smtClean="0"/>
              <a:t>3</a:t>
            </a:r>
            <a:r>
              <a:rPr lang="ja-JP" altLang="en-US" sz="2800" dirty="0" smtClean="0"/>
              <a:t>つ目のセンサの値のみ</a:t>
            </a:r>
            <a:r>
              <a:rPr lang="ja-JP" altLang="en-US" sz="2800" dirty="0"/>
              <a:t>を使用</a:t>
            </a:r>
            <a:r>
              <a:rPr lang="en-US" altLang="ja-JP" sz="2800" dirty="0"/>
              <a:t/>
            </a:r>
            <a:br>
              <a:rPr lang="en-US" altLang="ja-JP" sz="2800" dirty="0"/>
            </a:br>
            <a:r>
              <a:rPr lang="ja-JP" altLang="en-US" sz="2800" dirty="0" smtClean="0"/>
              <a:t>冒頭</a:t>
            </a:r>
            <a:r>
              <a:rPr lang="en-US" altLang="ja-JP" sz="2800" dirty="0" smtClean="0"/>
              <a:t>104</a:t>
            </a:r>
            <a:r>
              <a:rPr lang="ja-JP" altLang="en-US" sz="2800" dirty="0" smtClean="0"/>
              <a:t>個</a:t>
            </a:r>
            <a:r>
              <a:rPr lang="ja-JP" altLang="en-US" sz="2800" dirty="0"/>
              <a:t>を学習データ，</a:t>
            </a:r>
            <a:r>
              <a:rPr lang="ja-JP" altLang="en-US" sz="2800" dirty="0" smtClean="0"/>
              <a:t>残り</a:t>
            </a:r>
            <a:r>
              <a:rPr lang="en-US" altLang="ja-JP" sz="2800" dirty="0" smtClean="0"/>
              <a:t>41</a:t>
            </a:r>
            <a:r>
              <a:rPr lang="ja-JP" altLang="en-US" sz="2800" dirty="0" smtClean="0"/>
              <a:t>個</a:t>
            </a:r>
            <a:r>
              <a:rPr lang="ja-JP" altLang="en-US" sz="2800" dirty="0"/>
              <a:t>をテストデータに使用</a:t>
            </a:r>
            <a:r>
              <a:rPr lang="en-US" altLang="ja-JP" sz="2800" dirty="0"/>
              <a:t/>
            </a:r>
            <a:br>
              <a:rPr lang="en-US" altLang="ja-JP" sz="2800" dirty="0"/>
            </a:br>
            <a:r>
              <a:rPr lang="ja-JP" altLang="en-US" sz="2800" dirty="0"/>
              <a:t>＝学習データ</a:t>
            </a:r>
            <a:r>
              <a:rPr lang="en-US" altLang="ja-JP" sz="2800" dirty="0"/>
              <a:t>36</a:t>
            </a:r>
            <a:r>
              <a:rPr lang="ja-JP" altLang="en-US" sz="2800" dirty="0"/>
              <a:t>個，</a:t>
            </a:r>
            <a:r>
              <a:rPr lang="ja-JP" altLang="en-US" sz="2800" dirty="0" smtClean="0"/>
              <a:t>テストデータ</a:t>
            </a:r>
            <a:r>
              <a:rPr lang="en-US" altLang="ja-JP" sz="2800" dirty="0" smtClean="0"/>
              <a:t>14</a:t>
            </a:r>
            <a:r>
              <a:rPr lang="en-US" altLang="ja-JP" sz="2800" dirty="0"/>
              <a:t>8</a:t>
            </a:r>
            <a:r>
              <a:rPr lang="ja-JP" altLang="en-US" sz="2800" dirty="0" smtClean="0"/>
              <a:t>個</a:t>
            </a:r>
            <a:endParaRPr kumimoji="1" lang="ja-JP" altLang="en-US" sz="2800" dirty="0"/>
          </a:p>
        </p:txBody>
      </p:sp>
      <p:sp>
        <p:nvSpPr>
          <p:cNvPr id="3" name="スライド番号プレースホルダー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24</a:t>
            </a:fld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FD00</a:t>
            </a:r>
            <a:r>
              <a:rPr lang="en-US" altLang="ja-JP" dirty="0"/>
              <a:t>2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72402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altLang="ja-JP" dirty="0" smtClean="0"/>
              <a:t>Multi-regime Approach</a:t>
            </a:r>
            <a:r>
              <a:rPr lang="ja-JP" altLang="en-US" dirty="0" smtClean="0"/>
              <a:t>の有無による比較</a:t>
            </a:r>
            <a:endParaRPr lang="en-US" altLang="ja-JP" dirty="0" smtClean="0"/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altLang="ja-JP" sz="2800" dirty="0" smtClean="0"/>
          </a:p>
          <a:p>
            <a:pPr algn="l"/>
            <a:r>
              <a:rPr lang="en-US" altLang="ja-JP" sz="2800" dirty="0" smtClean="0"/>
              <a:t/>
            </a:r>
            <a:br>
              <a:rPr lang="en-US" altLang="ja-JP" sz="2800" dirty="0" smtClean="0"/>
            </a:br>
            <a:endParaRPr lang="en-US" altLang="ja-JP" sz="2800" dirty="0"/>
          </a:p>
          <a:p>
            <a:pPr algn="l"/>
            <a:endParaRPr lang="en-US" altLang="ja-JP" dirty="0" smtClean="0"/>
          </a:p>
          <a:p>
            <a:pPr algn="l"/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 smtClean="0"/>
              <a:t>弱識別</a:t>
            </a:r>
            <a:r>
              <a:rPr lang="ja-JP" altLang="en-US" dirty="0"/>
              <a:t>器</a:t>
            </a:r>
            <a:r>
              <a:rPr lang="ja-JP" altLang="en-US" dirty="0" smtClean="0"/>
              <a:t>の違い・集約手法の違いによる比較</a:t>
            </a:r>
            <a:endParaRPr lang="en-US" altLang="ja-JP" dirty="0" smtClean="0"/>
          </a:p>
          <a:p>
            <a:pPr algn="l"/>
            <a:endParaRPr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25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 smtClean="0"/>
              <a:t>FD002</a:t>
            </a:r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28600" y="5091322"/>
            <a:ext cx="37719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弱識別器の違い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M-BPNN-RF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M-SVR-RF</a:t>
            </a:r>
          </a:p>
        </p:txBody>
      </p:sp>
      <p:sp>
        <p:nvSpPr>
          <p:cNvPr id="7" name="テキスト ボックス 6"/>
          <p:cNvSpPr txBox="1"/>
          <p:nvPr/>
        </p:nvSpPr>
        <p:spPr>
          <a:xfrm>
            <a:off x="4610100" y="5091322"/>
            <a:ext cx="37719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集約手法</a:t>
            </a:r>
            <a:r>
              <a:rPr kumimoji="1" lang="ja-JP" altLang="en-US" sz="2800" dirty="0" smtClean="0"/>
              <a:t>の違い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M-BPNN-</a:t>
            </a:r>
            <a:r>
              <a:rPr kumimoji="1" lang="en-US" altLang="ja-JP" sz="2800" dirty="0" err="1" smtClean="0"/>
              <a:t>Avg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M-SVR-</a:t>
            </a:r>
            <a:r>
              <a:rPr lang="en-US" altLang="ja-JP" sz="2800" dirty="0" err="1" smtClean="0"/>
              <a:t>Avg</a:t>
            </a:r>
            <a:endParaRPr lang="en-US" altLang="ja-JP" sz="2800" dirty="0" smtClean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28600" y="1879599"/>
            <a:ext cx="37719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/>
              <a:t>無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BPNN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SVR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ELM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ELM-RF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ELM-A</a:t>
            </a:r>
            <a:r>
              <a:rPr kumimoji="1" lang="ja-JP" altLang="en-US" sz="2800" dirty="0" smtClean="0"/>
              <a:t>ｖ</a:t>
            </a:r>
            <a:r>
              <a:rPr kumimoji="1" lang="ja-JP" altLang="en-US" sz="2800" dirty="0"/>
              <a:t>ｇ</a:t>
            </a:r>
            <a:r>
              <a:rPr kumimoji="1" lang="en-US" altLang="ja-JP" sz="2800" dirty="0" smtClean="0"/>
              <a:t> </a:t>
            </a:r>
            <a:endParaRPr kumimoji="1" lang="ja-JP" altLang="en-US" sz="2800" dirty="0" smtClean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4610100" y="1879599"/>
            <a:ext cx="43053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有</a:t>
            </a:r>
            <a:endParaRPr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M-BPNN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M-SVR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M-ELM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M-ELM-RF</a:t>
            </a:r>
            <a:r>
              <a:rPr lang="ja-JP" altLang="en-US" sz="2800" dirty="0"/>
              <a:t> </a:t>
            </a:r>
            <a:r>
              <a:rPr lang="en-US" altLang="ja-JP" sz="2800" dirty="0" smtClean="0"/>
              <a:t>(</a:t>
            </a:r>
            <a:r>
              <a:rPr lang="ja-JP" altLang="en-US" sz="2800" dirty="0"/>
              <a:t>提案手法</a:t>
            </a:r>
            <a:r>
              <a:rPr lang="en-US" altLang="ja-JP" sz="2800" dirty="0" smtClean="0"/>
              <a:t>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M-ELM-A</a:t>
            </a:r>
            <a:r>
              <a:rPr kumimoji="1" lang="ja-JP" altLang="en-US" sz="2800" dirty="0" smtClean="0"/>
              <a:t>ｖ</a:t>
            </a:r>
            <a:r>
              <a:rPr kumimoji="1" lang="ja-JP" altLang="en-US" sz="2800" dirty="0"/>
              <a:t>ｇ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3400070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graphicFrame>
        <p:nvGraphicFramePr>
          <p:cNvPr id="6" name="コンテンツ プレースホルダー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0135234"/>
              </p:ext>
            </p:extLst>
          </p:nvPr>
        </p:nvGraphicFramePr>
        <p:xfrm>
          <a:off x="361" y="1216996"/>
          <a:ext cx="9147558" cy="55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3853"/>
                <a:gridCol w="1325880"/>
                <a:gridCol w="1311593"/>
                <a:gridCol w="1753426"/>
                <a:gridCol w="1943926"/>
                <a:gridCol w="1198880"/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ARE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RMSE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Variance(ARE)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Variance(RMSE)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Time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BPNN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0.0843037</a:t>
                      </a:r>
                      <a:endParaRPr lang="ja-JP" altLang="en-US" sz="18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145.7774 </a:t>
                      </a:r>
                      <a:endParaRPr lang="ja-JP" altLang="en-US" sz="18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1.3452e-4</a:t>
                      </a:r>
                      <a:endParaRPr lang="ja-JP" altLang="en-US" sz="18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337.2769</a:t>
                      </a:r>
                      <a:endParaRPr lang="ja-JP" altLang="en-US" sz="18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5.2619</a:t>
                      </a:r>
                      <a:endParaRPr lang="ja-JP" altLang="en-US" sz="18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SVR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0.0709110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118.1823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2.1399e-34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8.9755e-28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/>
                        <a:t>0.0154</a:t>
                      </a:r>
                      <a:endParaRPr lang="ja-JP" altLang="en-US" sz="1800" b="1" i="1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ELM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0.0692168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113.4517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2.0400e-8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0.0942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0.0813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ELM-RF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0.0809038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137.3910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2.7614e-6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7.7917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5.8147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ELM-</a:t>
                      </a:r>
                      <a:r>
                        <a:rPr kumimoji="1" lang="en-US" altLang="ja-JP" sz="1800" b="0" dirty="0" err="1" smtClean="0">
                          <a:solidFill>
                            <a:schemeClr val="tx1"/>
                          </a:solidFill>
                        </a:rPr>
                        <a:t>Avg</a:t>
                      </a:r>
                      <a:endParaRPr kumimoji="1" lang="en-US" altLang="ja-JP" sz="18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0.0691594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113.3563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3.2898e-9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0.0110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2.9714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M-ELM-RF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0.0656726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>
                          <a:effectLst/>
                          <a:latin typeface="Arial" panose="020B0604020202020204" pitchFamily="34" charset="0"/>
                        </a:rPr>
                        <a:t>104.5766</a:t>
                      </a:r>
                      <a:endParaRPr lang="ja-JP" altLang="en-US" sz="18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6.1912e-10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0.0011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31.6583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M-ELM-</a:t>
                      </a:r>
                      <a:r>
                        <a:rPr lang="en-US" altLang="ja-JP" sz="1800" dirty="0" err="1" smtClean="0"/>
                        <a:t>Avg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0.0656563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104.6598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5.5704e-10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6.8274e-4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11.3034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M-ELM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>
                          <a:effectLst/>
                          <a:latin typeface="Arial" panose="020B0604020202020204" pitchFamily="34" charset="0"/>
                        </a:rPr>
                        <a:t>0.0656320</a:t>
                      </a:r>
                      <a:endParaRPr lang="ja-JP" altLang="en-US" sz="18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104.6325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2.5403e-8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0.0604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0.7864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M-BPNN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0.0658146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104.7424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4.2184e-8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0.1366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20.3859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M-SVR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0.0657790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104.6933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/>
                        <a:t>0</a:t>
                      </a:r>
                      <a:endParaRPr lang="ja-JP" altLang="en-US" sz="18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>
                          <a:effectLst/>
                          <a:latin typeface="Arial" panose="020B0604020202020204" pitchFamily="34" charset="0"/>
                        </a:rPr>
                        <a:t>2.2439e-28</a:t>
                      </a:r>
                      <a:endParaRPr lang="ja-JP" altLang="en-US" sz="18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0.0905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M-BPNN-RF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0.0657380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104.6542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5.3713e-10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0.0015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532.3274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M-BPNN-</a:t>
                      </a:r>
                      <a:r>
                        <a:rPr kumimoji="1" lang="en-US" altLang="ja-JP" sz="1800" b="0" dirty="0" err="1" smtClean="0">
                          <a:solidFill>
                            <a:schemeClr val="tx1"/>
                          </a:solidFill>
                        </a:rPr>
                        <a:t>Avg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0.0657961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104.7138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2.0936e-9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0.0038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510.5044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M-SVR-RF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0.0656924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104.6310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1.3223e-10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7.4796e-05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15.6287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M-SVR-</a:t>
                      </a:r>
                      <a:r>
                        <a:rPr kumimoji="1" lang="en-US" altLang="ja-JP" sz="1800" b="0" dirty="0" err="1" smtClean="0">
                          <a:solidFill>
                            <a:schemeClr val="tx1"/>
                          </a:solidFill>
                        </a:rPr>
                        <a:t>Avg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0.0657790</a:t>
                      </a:r>
                      <a:endParaRPr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104.6933</a:t>
                      </a:r>
                      <a:endParaRPr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/>
                        <a:t>0</a:t>
                      </a:r>
                      <a:endParaRPr lang="ja-JP" altLang="en-US" sz="1800" b="1" i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>
                          <a:effectLst/>
                          <a:latin typeface="Arial" panose="020B0604020202020204" pitchFamily="34" charset="0"/>
                        </a:rPr>
                        <a:t>2.2439e-28</a:t>
                      </a:r>
                      <a:endParaRPr lang="ja-JP" altLang="en-US" sz="1800" b="1" i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1.8314</a:t>
                      </a:r>
                      <a:endParaRPr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26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 smtClean="0"/>
              <a:t>FD002</a:t>
            </a:r>
            <a:r>
              <a:rPr lang="en-US" altLang="ja-JP" dirty="0"/>
              <a:t> </a:t>
            </a:r>
            <a:r>
              <a:rPr lang="en-US" altLang="ja-JP" dirty="0" err="1"/>
              <a:t>equiprobability</a:t>
            </a:r>
            <a:r>
              <a:rPr lang="en-US" altLang="ja-JP" dirty="0" smtClean="0"/>
              <a:t> </a:t>
            </a:r>
            <a:r>
              <a:rPr lang="en-US" altLang="ja-JP" dirty="0"/>
              <a:t>solution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40619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27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FD002 </a:t>
            </a:r>
            <a:r>
              <a:rPr lang="en-US" altLang="ja-JP" dirty="0" err="1"/>
              <a:t>equiprobability</a:t>
            </a:r>
            <a:r>
              <a:rPr lang="en-US" altLang="ja-JP" dirty="0" smtClean="0"/>
              <a:t> </a:t>
            </a:r>
            <a:r>
              <a:rPr lang="en-US" altLang="ja-JP" dirty="0"/>
              <a:t>solution</a:t>
            </a:r>
            <a:endParaRPr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-325484" y="5612563"/>
            <a:ext cx="979496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/>
              <a:t>The </a:t>
            </a:r>
            <a:r>
              <a:rPr lang="en-US" altLang="ja-JP" sz="2800" dirty="0" smtClean="0"/>
              <a:t>boxplots of </a:t>
            </a:r>
            <a:r>
              <a:rPr lang="en-US" altLang="ja-JP" sz="2800" dirty="0"/>
              <a:t>different models on FD002 </a:t>
            </a:r>
            <a:endParaRPr lang="en-US" altLang="ja-JP" sz="2800" dirty="0" smtClean="0"/>
          </a:p>
          <a:p>
            <a:pPr algn="ctr"/>
            <a:r>
              <a:rPr lang="en-US" altLang="ja-JP" sz="2800" dirty="0" smtClean="0"/>
              <a:t>time </a:t>
            </a:r>
            <a:r>
              <a:rPr lang="en-US" altLang="ja-JP" sz="2800" dirty="0"/>
              <a:t>series using </a:t>
            </a:r>
            <a:r>
              <a:rPr lang="en-US" altLang="ja-JP" sz="2800" dirty="0" err="1"/>
              <a:t>equiprobability</a:t>
            </a:r>
            <a:r>
              <a:rPr lang="en-US" altLang="ja-JP" sz="2800" dirty="0"/>
              <a:t> solution</a:t>
            </a:r>
            <a:endParaRPr kumimoji="1" lang="ja-JP" altLang="en-US" sz="2800" dirty="0" smtClean="0"/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05452"/>
            <a:ext cx="9144000" cy="4047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39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graphicFrame>
        <p:nvGraphicFramePr>
          <p:cNvPr id="6" name="コンテンツ プレースホルダー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26909287"/>
              </p:ext>
            </p:extLst>
          </p:nvPr>
        </p:nvGraphicFramePr>
        <p:xfrm>
          <a:off x="361" y="1216996"/>
          <a:ext cx="9147558" cy="55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3853"/>
                <a:gridCol w="1325880"/>
                <a:gridCol w="1311593"/>
                <a:gridCol w="1753426"/>
                <a:gridCol w="1943926"/>
                <a:gridCol w="1198880"/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ARE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RMSE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Variance(ARE)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Variance(RMSE)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Time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BPNN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0.0813371</a:t>
                      </a:r>
                      <a:endParaRPr lang="ja-JP" altLang="en-US" sz="18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140.4396</a:t>
                      </a:r>
                      <a:endParaRPr lang="ja-JP" altLang="en-US" sz="18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1.2436e-4</a:t>
                      </a:r>
                      <a:endParaRPr lang="ja-JP" altLang="en-US" sz="18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300.8341</a:t>
                      </a:r>
                      <a:endParaRPr lang="ja-JP" altLang="en-US" sz="18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6.8724</a:t>
                      </a:r>
                      <a:endParaRPr lang="ja-JP" altLang="en-US" sz="18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SVR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0.0709110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118.1823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>
                          <a:effectLst/>
                          <a:latin typeface="Arial" panose="020B0604020202020204" pitchFamily="34" charset="0"/>
                        </a:rPr>
                        <a:t>2.1399e-34</a:t>
                      </a:r>
                      <a:endParaRPr lang="ja-JP" altLang="en-US" sz="18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>
                          <a:effectLst/>
                          <a:latin typeface="Arial" panose="020B0604020202020204" pitchFamily="34" charset="0"/>
                        </a:rPr>
                        <a:t>2.2439e-28</a:t>
                      </a:r>
                      <a:endParaRPr lang="ja-JP" altLang="en-US" sz="18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/>
                        <a:t>0.0195</a:t>
                      </a:r>
                      <a:endParaRPr lang="ja-JP" altLang="en-US" sz="1800" b="1" i="1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ELM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0.0690734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113.2175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4.4182e-8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0.1904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0.0793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ELM-RF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0.0797046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135.9647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4.7736e-6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8.9508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5.5266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ELM-</a:t>
                      </a:r>
                      <a:r>
                        <a:rPr kumimoji="1" lang="en-US" altLang="ja-JP" sz="1800" b="0" dirty="0" err="1" smtClean="0">
                          <a:solidFill>
                            <a:schemeClr val="tx1"/>
                          </a:solidFill>
                        </a:rPr>
                        <a:t>Avg</a:t>
                      </a:r>
                      <a:endParaRPr kumimoji="1" lang="en-US" altLang="ja-JP" sz="18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0.0691220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113.2991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2.7676e-9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0.0093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2.5176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M-ELM-RF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0.0645399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/>
                        <a:t>107.0605</a:t>
                      </a:r>
                      <a:endParaRPr lang="ja-JP" altLang="en-US" sz="18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1.2381e-9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0.0026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22.9991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M-ELM-</a:t>
                      </a:r>
                      <a:r>
                        <a:rPr lang="en-US" altLang="ja-JP" sz="1800" dirty="0" err="1" smtClean="0"/>
                        <a:t>Avg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/>
                        <a:t>0.0645297</a:t>
                      </a:r>
                      <a:endParaRPr lang="ja-JP" altLang="en-US" sz="18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107.2143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6.2912e-10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0.0019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10.5084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M-ELM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0" i="0" dirty="0" smtClean="0"/>
                        <a:t>0.0645549</a:t>
                      </a:r>
                      <a:endParaRPr lang="ja-JP" altLang="en-US" sz="1800" b="0" i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107.2683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1.1502e-8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0.0523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0.4895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M-BPNN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0.0645763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107.1515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3.6288e-8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0.0680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18.3589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M-SVR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0.0646630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107.1499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>
                          <a:effectLst/>
                          <a:latin typeface="Arial" panose="020B0604020202020204" pitchFamily="34" charset="0"/>
                        </a:rPr>
                        <a:t>2.1399e-34</a:t>
                      </a:r>
                      <a:endParaRPr lang="ja-JP" altLang="en-US" sz="18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>
                          <a:effectLst/>
                          <a:latin typeface="Arial" panose="020B0604020202020204" pitchFamily="34" charset="0"/>
                        </a:rPr>
                        <a:t>2.2439e-28</a:t>
                      </a:r>
                      <a:endParaRPr lang="ja-JP" altLang="en-US" sz="18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0.0680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M-BPNN-RF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0.0646575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107.2086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4.8887e-9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0.0059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535.9200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M-BPNN-</a:t>
                      </a:r>
                      <a:r>
                        <a:rPr kumimoji="1" lang="en-US" altLang="ja-JP" sz="1800" b="0" dirty="0" err="1" smtClean="0">
                          <a:solidFill>
                            <a:schemeClr val="tx1"/>
                          </a:solidFill>
                        </a:rPr>
                        <a:t>Avg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0.0646577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107.1551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1.4182e-9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0.0055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512.9440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M-SVR-RF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0.0646274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107.1552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6.7822e-11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1.3839e-4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12.8953</a:t>
                      </a:r>
                      <a:endParaRPr lang="ja-JP" altLang="en-US" sz="18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M-SVR-</a:t>
                      </a:r>
                      <a:r>
                        <a:rPr kumimoji="1" lang="en-US" altLang="ja-JP" sz="1800" b="0" dirty="0" err="1" smtClean="0">
                          <a:solidFill>
                            <a:schemeClr val="tx1"/>
                          </a:solidFill>
                        </a:rPr>
                        <a:t>Avg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0.0646630</a:t>
                      </a:r>
                      <a:endParaRPr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/>
                        <a:t>107.1499</a:t>
                      </a:r>
                      <a:endParaRPr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>
                          <a:effectLst/>
                          <a:latin typeface="Arial" panose="020B0604020202020204" pitchFamily="34" charset="0"/>
                        </a:rPr>
                        <a:t>2.1399e-34</a:t>
                      </a:r>
                      <a:endParaRPr lang="ja-JP" altLang="en-US" sz="1800" b="1" i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b="1" i="1" dirty="0" smtClean="0">
                          <a:effectLst/>
                          <a:latin typeface="Arial" panose="020B0604020202020204" pitchFamily="34" charset="0"/>
                        </a:rPr>
                        <a:t>2.2439e-28</a:t>
                      </a:r>
                      <a:endParaRPr lang="ja-JP" altLang="en-US" sz="1800" b="1" i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1800" dirty="0" smtClean="0">
                          <a:effectLst/>
                          <a:latin typeface="Arial" panose="020B0604020202020204" pitchFamily="34" charset="0"/>
                        </a:rPr>
                        <a:t>2.3476</a:t>
                      </a:r>
                      <a:endParaRPr lang="ja-JP" altLang="en-US" sz="18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28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 smtClean="0"/>
              <a:t>FD002</a:t>
            </a:r>
            <a:r>
              <a:rPr lang="en-US" altLang="ja-JP" dirty="0"/>
              <a:t> </a:t>
            </a:r>
            <a:r>
              <a:rPr lang="en-US" altLang="ja-JP" dirty="0" smtClean="0"/>
              <a:t>frequency-based </a:t>
            </a:r>
            <a:r>
              <a:rPr lang="en-US" altLang="ja-JP" dirty="0"/>
              <a:t>solution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53152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数値</a:t>
            </a:r>
            <a:r>
              <a:rPr lang="ja-JP" altLang="en-US" dirty="0"/>
              <a:t>実験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smtClean="0"/>
              <a:t>EGT time series</a:t>
            </a:r>
          </a:p>
          <a:p>
            <a:pPr algn="l"/>
            <a:r>
              <a:rPr lang="ja-JP" altLang="en-US" sz="2800" dirty="0" smtClean="0"/>
              <a:t>ノイズが含まれる</a:t>
            </a:r>
            <a:r>
              <a:rPr lang="en-US" altLang="ja-JP" sz="2800" dirty="0" smtClean="0"/>
              <a:t>1000</a:t>
            </a:r>
            <a:r>
              <a:rPr lang="ja-JP" altLang="en-US" sz="2800" dirty="0" smtClean="0"/>
              <a:t>個の時系列データ</a:t>
            </a:r>
            <a:r>
              <a:rPr lang="en-US" altLang="ja-JP" sz="2800" dirty="0" smtClean="0"/>
              <a:t/>
            </a:r>
            <a:br>
              <a:rPr lang="en-US" altLang="ja-JP" sz="2800" dirty="0" smtClean="0"/>
            </a:br>
            <a:r>
              <a:rPr lang="en-US" altLang="ja-JP" sz="2800" dirty="0" smtClean="0"/>
              <a:t>1</a:t>
            </a:r>
            <a:r>
              <a:rPr lang="ja-JP" altLang="en-US" sz="2800" dirty="0" err="1"/>
              <a:t>つの</a:t>
            </a:r>
            <a:r>
              <a:rPr lang="ja-JP" altLang="en-US" sz="2800" dirty="0"/>
              <a:t>レジームで構成されているデータ</a:t>
            </a:r>
            <a:r>
              <a:rPr lang="en-US" altLang="ja-JP" sz="2800" dirty="0"/>
              <a:t/>
            </a:r>
            <a:br>
              <a:rPr lang="en-US" altLang="ja-JP" sz="2800" dirty="0"/>
            </a:br>
            <a:r>
              <a:rPr lang="ja-JP" altLang="en-US" sz="2800" dirty="0" smtClean="0"/>
              <a:t>冒頭</a:t>
            </a:r>
            <a:r>
              <a:rPr lang="en-US" altLang="ja-JP" sz="2800" dirty="0" smtClean="0"/>
              <a:t>600</a:t>
            </a:r>
            <a:r>
              <a:rPr lang="ja-JP" altLang="en-US" sz="2800" dirty="0"/>
              <a:t>個を学習データ，</a:t>
            </a:r>
            <a:r>
              <a:rPr lang="ja-JP" altLang="en-US" sz="2800" dirty="0" smtClean="0"/>
              <a:t>残り</a:t>
            </a:r>
            <a:r>
              <a:rPr lang="en-US" altLang="ja-JP" sz="2800" dirty="0" smtClean="0"/>
              <a:t>40</a:t>
            </a:r>
            <a:r>
              <a:rPr lang="en-US" altLang="ja-JP" sz="2800" dirty="0"/>
              <a:t>0</a:t>
            </a:r>
            <a:r>
              <a:rPr lang="ja-JP" altLang="en-US" sz="2800" dirty="0" smtClean="0"/>
              <a:t>個</a:t>
            </a:r>
            <a:r>
              <a:rPr lang="ja-JP" altLang="en-US" sz="2800" dirty="0"/>
              <a:t>をテストデータ</a:t>
            </a:r>
            <a:r>
              <a:rPr lang="ja-JP" altLang="en-US" sz="2800" dirty="0" smtClean="0"/>
              <a:t>に</a:t>
            </a:r>
            <a:r>
              <a:rPr lang="en-US" altLang="ja-JP" sz="2800" dirty="0"/>
              <a:t/>
            </a:r>
            <a:br>
              <a:rPr lang="en-US" altLang="ja-JP" sz="2800" dirty="0"/>
            </a:br>
            <a:r>
              <a:rPr lang="ja-JP" altLang="en-US" sz="2800" dirty="0" smtClean="0"/>
              <a:t>使用</a:t>
            </a:r>
            <a:r>
              <a:rPr lang="ja-JP" altLang="en-US" sz="2800" dirty="0"/>
              <a:t> </a:t>
            </a:r>
            <a:r>
              <a:rPr lang="ja-JP" altLang="en-US" sz="2800" dirty="0" smtClean="0"/>
              <a:t>＝ 学習データ</a:t>
            </a:r>
            <a:r>
              <a:rPr lang="en-US" altLang="ja-JP" sz="2800" dirty="0" smtClean="0"/>
              <a:t>59</a:t>
            </a:r>
            <a:r>
              <a:rPr lang="en-US" altLang="ja-JP" sz="2800" dirty="0"/>
              <a:t>6</a:t>
            </a:r>
            <a:r>
              <a:rPr lang="ja-JP" altLang="en-US" sz="2800" dirty="0" smtClean="0"/>
              <a:t>個</a:t>
            </a:r>
            <a:r>
              <a:rPr lang="ja-JP" altLang="en-US" sz="2800" dirty="0"/>
              <a:t>，</a:t>
            </a:r>
            <a:r>
              <a:rPr lang="ja-JP" altLang="en-US" sz="2800" dirty="0" smtClean="0"/>
              <a:t>テストデータ</a:t>
            </a:r>
            <a:r>
              <a:rPr lang="en-US" altLang="ja-JP" sz="2800" dirty="0" smtClean="0"/>
              <a:t>39</a:t>
            </a:r>
            <a:r>
              <a:rPr lang="en-US" altLang="ja-JP" sz="2800" dirty="0"/>
              <a:t>6</a:t>
            </a:r>
            <a:r>
              <a:rPr lang="ja-JP" altLang="en-US" sz="2800" dirty="0" smtClean="0"/>
              <a:t>個</a:t>
            </a:r>
            <a:endParaRPr kumimoji="1" lang="ja-JP" altLang="en-US" sz="2800" dirty="0"/>
          </a:p>
        </p:txBody>
      </p:sp>
      <p:sp>
        <p:nvSpPr>
          <p:cNvPr id="3" name="スライド番号プレースホルダー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29</a:t>
            </a:fld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 smtClean="0"/>
              <a:t>EGT time </a:t>
            </a:r>
            <a:r>
              <a:rPr lang="en-US" altLang="ja-JP" dirty="0"/>
              <a:t>series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23419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一般的なモデルとの比較 </a:t>
            </a:r>
            <a:endParaRPr lang="en-US" altLang="ja-JP" dirty="0" smtClean="0"/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BPNN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SVR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ELM</a:t>
            </a:r>
          </a:p>
          <a:p>
            <a:pPr algn="l"/>
            <a:r>
              <a:rPr lang="ja-JP" altLang="en-US" dirty="0" smtClean="0"/>
              <a:t>弱識別</a:t>
            </a:r>
            <a:r>
              <a:rPr lang="ja-JP" altLang="en-US" dirty="0"/>
              <a:t>器</a:t>
            </a:r>
            <a:r>
              <a:rPr lang="ja-JP" altLang="en-US" dirty="0" smtClean="0"/>
              <a:t>の違い・集約手法の違いによる比較</a:t>
            </a:r>
            <a:endParaRPr lang="en-US" altLang="ja-JP" dirty="0" smtClean="0"/>
          </a:p>
          <a:p>
            <a:pPr algn="l"/>
            <a:endParaRPr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30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EGT time series</a:t>
            </a:r>
            <a:endParaRPr lang="ja-JP" altLang="en-US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28600" y="4064000"/>
            <a:ext cx="37719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弱識別器の違い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BPNN-RF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SVR-RF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ELM-RF </a:t>
            </a:r>
            <a:endParaRPr kumimoji="1" lang="ja-JP" altLang="en-US" sz="2800" dirty="0" smtClean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4610100" y="4064000"/>
            <a:ext cx="37719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集約手法</a:t>
            </a:r>
            <a:r>
              <a:rPr kumimoji="1" lang="ja-JP" altLang="en-US" sz="2800" dirty="0" smtClean="0"/>
              <a:t>の違い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BPNN-</a:t>
            </a:r>
            <a:r>
              <a:rPr kumimoji="1" lang="en-US" altLang="ja-JP" sz="2800" dirty="0" err="1" smtClean="0"/>
              <a:t>Avg</a:t>
            </a:r>
            <a:endParaRPr kumimoji="1"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ja-JP" sz="2800" dirty="0" smtClean="0"/>
              <a:t>SVR-</a:t>
            </a:r>
            <a:r>
              <a:rPr lang="en-US" altLang="ja-JP" sz="2800" dirty="0" err="1" smtClean="0"/>
              <a:t>Avg</a:t>
            </a:r>
            <a:endParaRPr lang="en-US" altLang="ja-JP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 smtClean="0"/>
              <a:t>ELM-</a:t>
            </a:r>
            <a:r>
              <a:rPr kumimoji="1" lang="en-US" altLang="ja-JP" sz="2800" dirty="0" err="1" smtClean="0"/>
              <a:t>Avg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17748169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graphicFrame>
        <p:nvGraphicFramePr>
          <p:cNvPr id="6" name="コンテンツ プレースホルダー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54069958"/>
              </p:ext>
            </p:extLst>
          </p:nvPr>
        </p:nvGraphicFramePr>
        <p:xfrm>
          <a:off x="99504" y="1767114"/>
          <a:ext cx="8944993" cy="396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029018"/>
                <a:gridCol w="1311593"/>
                <a:gridCol w="1753426"/>
                <a:gridCol w="1943926"/>
                <a:gridCol w="1459230"/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ARE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RMSE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Variance(ARE)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dirty="0" smtClean="0">
                          <a:solidFill>
                            <a:schemeClr val="tx1"/>
                          </a:solidFill>
                        </a:rPr>
                        <a:t>Variance(RMSE)</a:t>
                      </a:r>
                      <a:endParaRPr kumimoji="1" lang="ja-JP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Time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BPNN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0.0915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61.0572</a:t>
                      </a:r>
                      <a:endParaRPr lang="ja-JP" alt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0.0065</a:t>
                      </a:r>
                      <a:endParaRPr lang="ja-JP" alt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2.1941e+3</a:t>
                      </a:r>
                      <a:endParaRPr lang="ja-JP" alt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5.4391</a:t>
                      </a:r>
                      <a:endParaRPr lang="ja-JP" altLang="en-US" sz="2000" dirty="0"/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SVR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0.0624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45.6406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1" i="1" dirty="0" smtClean="0">
                          <a:effectLst/>
                          <a:latin typeface="Arial" panose="020B0604020202020204" pitchFamily="34" charset="0"/>
                        </a:rPr>
                        <a:t>2.1399e-34</a:t>
                      </a:r>
                      <a:endParaRPr lang="ja-JP" altLang="en-US" sz="20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1" i="1" dirty="0" smtClean="0"/>
                        <a:t>0</a:t>
                      </a:r>
                      <a:endParaRPr lang="ja-JP" altLang="en-US" sz="20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0" i="0" dirty="0" smtClean="0"/>
                        <a:t>0.3803</a:t>
                      </a:r>
                      <a:endParaRPr lang="ja-JP" altLang="en-US" sz="2000" b="0" i="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ELM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0.0556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41.0211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4.9901e-8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0.0440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1" i="1" dirty="0" smtClean="0"/>
                        <a:t>0.3144</a:t>
                      </a:r>
                      <a:endParaRPr lang="ja-JP" altLang="en-US" sz="2000" b="1" i="1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ELM-RF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i="0" dirty="0" smtClean="0">
                          <a:solidFill>
                            <a:schemeClr val="tx1"/>
                          </a:solidFill>
                        </a:rPr>
                        <a:t>0.0529</a:t>
                      </a:r>
                      <a:endParaRPr kumimoji="1" lang="ja-JP" altLang="en-US" sz="2000" b="0" i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0" i="0" dirty="0" smtClean="0"/>
                        <a:t>39.3279</a:t>
                      </a:r>
                      <a:endParaRPr lang="ja-JP" altLang="en-US" sz="2000" b="0" i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2.7037e-7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0.1549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9.0978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ELM-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Avg</a:t>
                      </a:r>
                      <a:endParaRPr kumimoji="1" lang="en-US" altLang="ja-JP" sz="20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0.0555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40.9085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8.7111e-9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0.0064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5.3478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BPNN-RF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1" i="1" dirty="0" smtClean="0">
                          <a:solidFill>
                            <a:schemeClr val="tx1"/>
                          </a:solidFill>
                        </a:rPr>
                        <a:t>0.0436</a:t>
                      </a:r>
                      <a:endParaRPr kumimoji="1" lang="ja-JP" altLang="en-US" sz="2000" b="1" i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1" i="1" dirty="0" smtClean="0"/>
                        <a:t>32.9260</a:t>
                      </a:r>
                      <a:endParaRPr lang="ja-JP" altLang="en-US" sz="2000" b="1" i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2.4227e-6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1.5559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1.5418e+3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BPNN-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Avg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0.0548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40.4280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6.0309e-5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24.3589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1.0693e+3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SVR-RF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0.0625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45.6776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2.1290e-10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>
                          <a:effectLst/>
                          <a:latin typeface="Arial" panose="020B0604020202020204" pitchFamily="34" charset="0"/>
                        </a:rPr>
                        <a:t>8.5843e-5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30.3161</a:t>
                      </a:r>
                      <a:endParaRPr lang="ja-JP" altLang="en-US" sz="2000" dirty="0"/>
                    </a:p>
                  </a:txBody>
                  <a:tcP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SVR-</a:t>
                      </a:r>
                      <a:r>
                        <a:rPr kumimoji="1" lang="en-US" altLang="ja-JP" sz="2000" b="0" dirty="0" err="1" smtClean="0">
                          <a:solidFill>
                            <a:schemeClr val="tx1"/>
                          </a:solidFill>
                        </a:rPr>
                        <a:t>Avg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0" dirty="0" smtClean="0">
                          <a:solidFill>
                            <a:schemeClr val="tx1"/>
                          </a:solidFill>
                        </a:rPr>
                        <a:t>0.0624</a:t>
                      </a:r>
                      <a:endParaRPr kumimoji="1" lang="ja-JP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45.6406</a:t>
                      </a:r>
                      <a:endParaRPr lang="ja-JP" alt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1" i="1" dirty="0" smtClean="0">
                          <a:effectLst/>
                          <a:latin typeface="Arial" panose="020B0604020202020204" pitchFamily="34" charset="0"/>
                        </a:rPr>
                        <a:t>2.1399e-34</a:t>
                      </a:r>
                      <a:endParaRPr lang="ja-JP" altLang="en-US" sz="2000" b="1" i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b="1" i="1" dirty="0" smtClean="0"/>
                        <a:t>0</a:t>
                      </a:r>
                      <a:endParaRPr lang="ja-JP" altLang="en-US" sz="2000" b="1" i="1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ja-JP" sz="2000" dirty="0" smtClean="0"/>
                        <a:t>26.3014</a:t>
                      </a:r>
                      <a:endParaRPr lang="ja-JP" altLang="en-US" sz="2000" dirty="0"/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31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 smtClean="0"/>
              <a:t>EGT time series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364804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32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EGT time series</a:t>
            </a:r>
            <a:endParaRPr kumimoji="1"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-325484" y="5612563"/>
            <a:ext cx="979496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/>
              <a:t>The </a:t>
            </a:r>
            <a:r>
              <a:rPr lang="en-US" altLang="ja-JP" sz="2800" dirty="0" smtClean="0"/>
              <a:t>boxplots of </a:t>
            </a:r>
            <a:r>
              <a:rPr lang="en-US" altLang="ja-JP" sz="2800" dirty="0"/>
              <a:t>ARE and RMSE of </a:t>
            </a:r>
            <a:endParaRPr lang="en-US" altLang="ja-JP" sz="2800" dirty="0" smtClean="0"/>
          </a:p>
          <a:p>
            <a:pPr algn="ctr"/>
            <a:r>
              <a:rPr lang="en-US" altLang="ja-JP" sz="2800" dirty="0" smtClean="0"/>
              <a:t>different </a:t>
            </a:r>
            <a:r>
              <a:rPr lang="en-US" altLang="ja-JP" sz="2800" dirty="0"/>
              <a:t>models on </a:t>
            </a:r>
            <a:r>
              <a:rPr lang="en-US" altLang="ja-JP" sz="2800" dirty="0" smtClean="0"/>
              <a:t>EGT </a:t>
            </a:r>
            <a:r>
              <a:rPr lang="en-US" altLang="ja-JP" sz="2800" dirty="0"/>
              <a:t>time series</a:t>
            </a:r>
            <a:endParaRPr kumimoji="1" lang="ja-JP" altLang="en-US" sz="2800" dirty="0" smtClean="0"/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1600976"/>
            <a:ext cx="9144000" cy="365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449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結論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時系列データにおいて，</a:t>
            </a:r>
            <a:r>
              <a:rPr lang="ja-JP" altLang="en-US" dirty="0"/>
              <a:t>高い精度，安定した予測，効率的な</a:t>
            </a:r>
            <a:r>
              <a:rPr lang="ja-JP" altLang="en-US" dirty="0" smtClean="0"/>
              <a:t>予測を得るための</a:t>
            </a:r>
            <a:r>
              <a:rPr kumimoji="1" lang="en-US" altLang="ja-JP" dirty="0" smtClean="0"/>
              <a:t>RF-based ELM ensemble model</a:t>
            </a:r>
            <a:r>
              <a:rPr kumimoji="1" lang="ja-JP" altLang="en-US" dirty="0" smtClean="0"/>
              <a:t>を提案した．</a:t>
            </a:r>
            <a:endParaRPr kumimoji="1" lang="en-US" altLang="ja-JP" dirty="0" smtClean="0"/>
          </a:p>
          <a:p>
            <a:r>
              <a:rPr lang="ja-JP" altLang="en-US" dirty="0"/>
              <a:t>ターボファンエンジン時系列の特定の特性</a:t>
            </a:r>
            <a:r>
              <a:rPr lang="ja-JP" altLang="en-US" dirty="0" smtClean="0"/>
              <a:t>に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基づいて，複数</a:t>
            </a:r>
            <a:r>
              <a:rPr kumimoji="1" lang="ja-JP" altLang="en-US" dirty="0" smtClean="0"/>
              <a:t>のレジームを持つ時系列データを扱うための，</a:t>
            </a:r>
            <a:r>
              <a:rPr lang="en-US" altLang="ja-JP" dirty="0"/>
              <a:t> multi-regime </a:t>
            </a:r>
            <a:r>
              <a:rPr lang="en-US" altLang="ja-JP" dirty="0" smtClean="0"/>
              <a:t>approach</a:t>
            </a:r>
            <a:r>
              <a:rPr lang="ja-JP" altLang="en-US" dirty="0" smtClean="0"/>
              <a:t>を提案した．</a:t>
            </a:r>
            <a:endParaRPr lang="en-US" altLang="ja-JP" dirty="0" smtClean="0"/>
          </a:p>
          <a:p>
            <a:r>
              <a:rPr lang="ja-JP" altLang="en-US" dirty="0" smtClean="0"/>
              <a:t>提案したモデルは，ノイズが含まれる実測データに対してもよい性能を発揮した．</a:t>
            </a:r>
            <a:endParaRPr kumimoji="1" lang="ja-JP" altLang="en-US" dirty="0"/>
          </a:p>
        </p:txBody>
      </p:sp>
      <p:sp>
        <p:nvSpPr>
          <p:cNvPr id="3" name="スライド番号プレースホルダー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17244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/>
          <p:cNvSpPr>
            <a:spLocks noGrp="1"/>
          </p:cNvSpPr>
          <p:nvPr>
            <p:ph type="sldNum" sz="quarter" idx="4294967295"/>
          </p:nvPr>
        </p:nvSpPr>
        <p:spPr>
          <a:xfrm>
            <a:off x="7010400" y="333375"/>
            <a:ext cx="2133600" cy="476250"/>
          </a:xfrm>
          <a:prstGeom prst="rect">
            <a:avLst/>
          </a:prstGeom>
        </p:spPr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34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68807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eme_Lab">
  <a:themeElements>
    <a:clrScheme name="ユーザー定義 1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00B050"/>
      </a:accent5>
      <a:accent6>
        <a:srgbClr val="F93DD5"/>
      </a:accent6>
      <a:hlink>
        <a:srgbClr val="009999"/>
      </a:hlink>
      <a:folHlink>
        <a:srgbClr val="99CC00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C405CB98-E9EC-480B-BAC0-9B6A0B9BE441}" vid="{80D153D3-64A8-4419-B988-8E4507248DD7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529</TotalTime>
  <Words>1459</Words>
  <Application>Microsoft Office PowerPoint</Application>
  <PresentationFormat>画面に合わせる (4:3)</PresentationFormat>
  <Paragraphs>651</Paragraphs>
  <Slides>34</Slides>
  <Notes>1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34</vt:i4>
      </vt:variant>
    </vt:vector>
  </HeadingPairs>
  <TitlesOfParts>
    <vt:vector size="41" baseType="lpstr">
      <vt:lpstr>ＭＳ P ゴシック</vt:lpstr>
      <vt:lpstr>ＭＳ Ｐゴシック</vt:lpstr>
      <vt:lpstr>Arial</vt:lpstr>
      <vt:lpstr>Calibri</vt:lpstr>
      <vt:lpstr>Cambria Math</vt:lpstr>
      <vt:lpstr>Times New Roman</vt:lpstr>
      <vt:lpstr>Theme_Lab</vt:lpstr>
      <vt:lpstr>英語論文発表 (5/27)</vt:lpstr>
      <vt:lpstr>論文情報</vt:lpstr>
      <vt:lpstr>概要</vt:lpstr>
      <vt:lpstr>Extreme Learning Machine (ELM)</vt:lpstr>
      <vt:lpstr>Extreme Learning Machine (ELM)</vt:lpstr>
      <vt:lpstr>提案手法</vt:lpstr>
      <vt:lpstr>提案手法</vt:lpstr>
      <vt:lpstr>提案手法</vt:lpstr>
      <vt:lpstr>提案手法</vt:lpstr>
      <vt:lpstr>提案手法</vt:lpstr>
      <vt:lpstr>提案手法</vt:lpstr>
      <vt:lpstr>数値実験</vt:lpstr>
      <vt:lpstr>数値実験</vt:lpstr>
      <vt:lpstr>数値実験</vt:lpstr>
      <vt:lpstr>数値実験</vt:lpstr>
      <vt:lpstr>数値実験</vt:lpstr>
      <vt:lpstr>数値実験</vt:lpstr>
      <vt:lpstr>実験結果</vt:lpstr>
      <vt:lpstr>実験結果</vt:lpstr>
      <vt:lpstr>数値実験</vt:lpstr>
      <vt:lpstr>数値実験</vt:lpstr>
      <vt:lpstr>実験結果</vt:lpstr>
      <vt:lpstr>実験結果</vt:lpstr>
      <vt:lpstr>数値実験</vt:lpstr>
      <vt:lpstr>数値実験</vt:lpstr>
      <vt:lpstr>実験結果</vt:lpstr>
      <vt:lpstr>実験結果</vt:lpstr>
      <vt:lpstr>実験結果</vt:lpstr>
      <vt:lpstr>数値実験</vt:lpstr>
      <vt:lpstr>数値実験</vt:lpstr>
      <vt:lpstr>実験結果</vt:lpstr>
      <vt:lpstr>実験結果</vt:lpstr>
      <vt:lpstr>結論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英語論文発表 (5/27)</dc:title>
  <dc:creator>瓜田 俊貴</dc:creator>
  <cp:lastModifiedBy>瓜田 俊貴</cp:lastModifiedBy>
  <cp:revision>46</cp:revision>
  <dcterms:created xsi:type="dcterms:W3CDTF">2019-05-26T13:15:39Z</dcterms:created>
  <dcterms:modified xsi:type="dcterms:W3CDTF">2019-05-26T22:05:35Z</dcterms:modified>
</cp:coreProperties>
</file>