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fld id="{EC6E2936-F9BC-4A99-A82D-606935B128C6}" type="datetimeFigureOut">
              <a:rPr kumimoji="1" lang="ja-JP" altLang="en-US" smtClean="0"/>
              <a:t>2019/4/24</a:t>
            </a:fld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6893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4926EB05-8BB1-4B43-837A-30FC77B831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422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4926EB05-8BB1-4B43-837A-30FC77B831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2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03758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4926EB05-8BB1-4B43-837A-30FC77B831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2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4051253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4926EB05-8BB1-4B43-837A-30FC77B831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652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5953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672636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945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iming>
    <p:tnLst>
      <p:par>
        <p:cTn id="1" dur="indefinite" restart="never" nodeType="tmRoot"/>
      </p:par>
    </p:tnLst>
  </p:timing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49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研究室概要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782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ファジィシステム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ニューラルネットワーク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 smtClean="0"/>
              <a:t>進化計算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r>
              <a:rPr lang="ja-JP" altLang="en-US" dirty="0" smtClean="0"/>
              <a:t>要するに</a:t>
            </a:r>
            <a:endParaRPr lang="en-US" altLang="ja-JP" dirty="0" smtClean="0"/>
          </a:p>
          <a:p>
            <a:r>
              <a:rPr lang="ja-JP" altLang="en-US" sz="4800" u="sng" dirty="0" smtClean="0">
                <a:solidFill>
                  <a:srgbClr val="FF0000"/>
                </a:solidFill>
              </a:rPr>
              <a:t>あいまいさ</a:t>
            </a:r>
            <a:r>
              <a:rPr lang="ja-JP" altLang="en-US" sz="4800" dirty="0" smtClean="0"/>
              <a:t>に着目した人工知能</a:t>
            </a:r>
            <a:endParaRPr lang="en-US" altLang="ja-JP" sz="4800" dirty="0" smtClean="0"/>
          </a:p>
          <a:p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3115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</a:t>
            </a:r>
            <a:r>
              <a:rPr lang="en-US" altLang="ja-JP" dirty="0" smtClean="0"/>
              <a:t>G</a:t>
            </a:r>
            <a:r>
              <a:rPr kumimoji="1" lang="ja-JP" altLang="en-US" dirty="0" smtClean="0"/>
              <a:t>はブラック？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A.</a:t>
            </a:r>
            <a:r>
              <a:rPr kumimoji="1" lang="ja-JP" altLang="en-US" dirty="0" smtClean="0"/>
              <a:t>ブラックの定義にもよるけど，</a:t>
            </a:r>
            <a:r>
              <a:rPr kumimoji="1" lang="ja-JP" altLang="en-US" u="sng" dirty="0" smtClean="0">
                <a:solidFill>
                  <a:srgbClr val="FF0000"/>
                </a:solidFill>
              </a:rPr>
              <a:t>ブラックじゃない</a:t>
            </a:r>
            <a:r>
              <a:rPr kumimoji="1" lang="en-US" altLang="ja-JP" dirty="0" smtClean="0"/>
              <a:t>!!</a:t>
            </a:r>
          </a:p>
          <a:p>
            <a:endParaRPr lang="en-US" altLang="ja-JP" dirty="0"/>
          </a:p>
          <a:p>
            <a:endParaRPr kumimoji="1" lang="ja-JP" altLang="en-US" dirty="0"/>
          </a:p>
        </p:txBody>
      </p:sp>
      <p:grpSp>
        <p:nvGrpSpPr>
          <p:cNvPr id="4" name="グループ化 3"/>
          <p:cNvGrpSpPr/>
          <p:nvPr/>
        </p:nvGrpSpPr>
        <p:grpSpPr>
          <a:xfrm>
            <a:off x="896888" y="4845524"/>
            <a:ext cx="1272980" cy="1387260"/>
            <a:chOff x="6399213" y="3455988"/>
            <a:chExt cx="636588" cy="693737"/>
          </a:xfrm>
        </p:grpSpPr>
        <p:sp>
          <p:nvSpPr>
            <p:cNvPr id="5" name="Freeform 85"/>
            <p:cNvSpPr>
              <a:spLocks noEditPoints="1"/>
            </p:cNvSpPr>
            <p:nvPr/>
          </p:nvSpPr>
          <p:spPr bwMode="auto">
            <a:xfrm>
              <a:off x="6543675" y="3455988"/>
              <a:ext cx="347663" cy="347663"/>
            </a:xfrm>
            <a:custGeom>
              <a:avLst/>
              <a:gdLst>
                <a:gd name="T0" fmla="*/ 101 w 201"/>
                <a:gd name="T1" fmla="*/ 200 h 200"/>
                <a:gd name="T2" fmla="*/ 171 w 201"/>
                <a:gd name="T3" fmla="*/ 171 h 200"/>
                <a:gd name="T4" fmla="*/ 201 w 201"/>
                <a:gd name="T5" fmla="*/ 100 h 200"/>
                <a:gd name="T6" fmla="*/ 171 w 201"/>
                <a:gd name="T7" fmla="*/ 29 h 200"/>
                <a:gd name="T8" fmla="*/ 101 w 201"/>
                <a:gd name="T9" fmla="*/ 0 h 200"/>
                <a:gd name="T10" fmla="*/ 30 w 201"/>
                <a:gd name="T11" fmla="*/ 29 h 200"/>
                <a:gd name="T12" fmla="*/ 0 w 201"/>
                <a:gd name="T13" fmla="*/ 100 h 200"/>
                <a:gd name="T14" fmla="*/ 30 w 201"/>
                <a:gd name="T15" fmla="*/ 171 h 200"/>
                <a:gd name="T16" fmla="*/ 101 w 201"/>
                <a:gd name="T17" fmla="*/ 200 h 200"/>
                <a:gd name="T18" fmla="*/ 101 w 201"/>
                <a:gd name="T19" fmla="*/ 200 h 200"/>
                <a:gd name="T20" fmla="*/ 101 w 201"/>
                <a:gd name="T2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1" h="200">
                  <a:moveTo>
                    <a:pt x="101" y="200"/>
                  </a:moveTo>
                  <a:cubicBezTo>
                    <a:pt x="128" y="200"/>
                    <a:pt x="152" y="190"/>
                    <a:pt x="171" y="171"/>
                  </a:cubicBezTo>
                  <a:cubicBezTo>
                    <a:pt x="191" y="151"/>
                    <a:pt x="201" y="128"/>
                    <a:pt x="201" y="100"/>
                  </a:cubicBezTo>
                  <a:cubicBezTo>
                    <a:pt x="201" y="72"/>
                    <a:pt x="191" y="49"/>
                    <a:pt x="171" y="29"/>
                  </a:cubicBezTo>
                  <a:cubicBezTo>
                    <a:pt x="152" y="10"/>
                    <a:pt x="128" y="0"/>
                    <a:pt x="101" y="0"/>
                  </a:cubicBezTo>
                  <a:cubicBezTo>
                    <a:pt x="73" y="0"/>
                    <a:pt x="49" y="10"/>
                    <a:pt x="30" y="29"/>
                  </a:cubicBezTo>
                  <a:cubicBezTo>
                    <a:pt x="10" y="49"/>
                    <a:pt x="0" y="72"/>
                    <a:pt x="0" y="100"/>
                  </a:cubicBezTo>
                  <a:cubicBezTo>
                    <a:pt x="0" y="128"/>
                    <a:pt x="10" y="151"/>
                    <a:pt x="30" y="171"/>
                  </a:cubicBezTo>
                  <a:cubicBezTo>
                    <a:pt x="49" y="190"/>
                    <a:pt x="73" y="200"/>
                    <a:pt x="101" y="200"/>
                  </a:cubicBezTo>
                  <a:close/>
                  <a:moveTo>
                    <a:pt x="101" y="200"/>
                  </a:moveTo>
                  <a:cubicBezTo>
                    <a:pt x="101" y="200"/>
                    <a:pt x="101" y="200"/>
                    <a:pt x="101" y="20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309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617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926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234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543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851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16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4468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7199"/>
            </a:p>
          </p:txBody>
        </p:sp>
        <p:sp>
          <p:nvSpPr>
            <p:cNvPr id="6" name="Freeform 86"/>
            <p:cNvSpPr>
              <a:spLocks noEditPoints="1"/>
            </p:cNvSpPr>
            <p:nvPr/>
          </p:nvSpPr>
          <p:spPr bwMode="auto">
            <a:xfrm>
              <a:off x="6399213" y="3775075"/>
              <a:ext cx="636588" cy="374650"/>
            </a:xfrm>
            <a:custGeom>
              <a:avLst/>
              <a:gdLst>
                <a:gd name="T0" fmla="*/ 366 w 367"/>
                <a:gd name="T1" fmla="*/ 122 h 216"/>
                <a:gd name="T2" fmla="*/ 363 w 367"/>
                <a:gd name="T3" fmla="*/ 94 h 216"/>
                <a:gd name="T4" fmla="*/ 356 w 367"/>
                <a:gd name="T5" fmla="*/ 65 h 216"/>
                <a:gd name="T6" fmla="*/ 344 w 367"/>
                <a:gd name="T7" fmla="*/ 40 h 216"/>
                <a:gd name="T8" fmla="*/ 328 w 367"/>
                <a:gd name="T9" fmla="*/ 19 h 216"/>
                <a:gd name="T10" fmla="*/ 306 w 367"/>
                <a:gd name="T11" fmla="*/ 5 h 216"/>
                <a:gd name="T12" fmla="*/ 277 w 367"/>
                <a:gd name="T13" fmla="*/ 0 h 216"/>
                <a:gd name="T14" fmla="*/ 266 w 367"/>
                <a:gd name="T15" fmla="*/ 5 h 216"/>
                <a:gd name="T16" fmla="*/ 247 w 367"/>
                <a:gd name="T17" fmla="*/ 18 h 216"/>
                <a:gd name="T18" fmla="*/ 218 w 367"/>
                <a:gd name="T19" fmla="*/ 30 h 216"/>
                <a:gd name="T20" fmla="*/ 184 w 367"/>
                <a:gd name="T21" fmla="*/ 36 h 216"/>
                <a:gd name="T22" fmla="*/ 149 w 367"/>
                <a:gd name="T23" fmla="*/ 30 h 216"/>
                <a:gd name="T24" fmla="*/ 121 w 367"/>
                <a:gd name="T25" fmla="*/ 18 h 216"/>
                <a:gd name="T26" fmla="*/ 101 w 367"/>
                <a:gd name="T27" fmla="*/ 5 h 216"/>
                <a:gd name="T28" fmla="*/ 90 w 367"/>
                <a:gd name="T29" fmla="*/ 0 h 216"/>
                <a:gd name="T30" fmla="*/ 61 w 367"/>
                <a:gd name="T31" fmla="*/ 5 h 216"/>
                <a:gd name="T32" fmla="*/ 39 w 367"/>
                <a:gd name="T33" fmla="*/ 19 h 216"/>
                <a:gd name="T34" fmla="*/ 23 w 367"/>
                <a:gd name="T35" fmla="*/ 40 h 216"/>
                <a:gd name="T36" fmla="*/ 11 w 367"/>
                <a:gd name="T37" fmla="*/ 65 h 216"/>
                <a:gd name="T38" fmla="*/ 5 w 367"/>
                <a:gd name="T39" fmla="*/ 94 h 216"/>
                <a:gd name="T40" fmla="*/ 1 w 367"/>
                <a:gd name="T41" fmla="*/ 122 h 216"/>
                <a:gd name="T42" fmla="*/ 0 w 367"/>
                <a:gd name="T43" fmla="*/ 149 h 216"/>
                <a:gd name="T44" fmla="*/ 19 w 367"/>
                <a:gd name="T45" fmla="*/ 198 h 216"/>
                <a:gd name="T46" fmla="*/ 70 w 367"/>
                <a:gd name="T47" fmla="*/ 216 h 216"/>
                <a:gd name="T48" fmla="*/ 297 w 367"/>
                <a:gd name="T49" fmla="*/ 216 h 216"/>
                <a:gd name="T50" fmla="*/ 348 w 367"/>
                <a:gd name="T51" fmla="*/ 198 h 216"/>
                <a:gd name="T52" fmla="*/ 367 w 367"/>
                <a:gd name="T53" fmla="*/ 149 h 216"/>
                <a:gd name="T54" fmla="*/ 366 w 367"/>
                <a:gd name="T55" fmla="*/ 122 h 216"/>
                <a:gd name="T56" fmla="*/ 366 w 367"/>
                <a:gd name="T57" fmla="*/ 122 h 216"/>
                <a:gd name="T58" fmla="*/ 366 w 367"/>
                <a:gd name="T59" fmla="*/ 12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7" h="216">
                  <a:moveTo>
                    <a:pt x="366" y="122"/>
                  </a:moveTo>
                  <a:cubicBezTo>
                    <a:pt x="366" y="113"/>
                    <a:pt x="364" y="104"/>
                    <a:pt x="363" y="94"/>
                  </a:cubicBezTo>
                  <a:cubicBezTo>
                    <a:pt x="361" y="83"/>
                    <a:pt x="358" y="74"/>
                    <a:pt x="356" y="65"/>
                  </a:cubicBezTo>
                  <a:cubicBezTo>
                    <a:pt x="353" y="57"/>
                    <a:pt x="349" y="48"/>
                    <a:pt x="344" y="40"/>
                  </a:cubicBezTo>
                  <a:cubicBezTo>
                    <a:pt x="340" y="32"/>
                    <a:pt x="334" y="25"/>
                    <a:pt x="328" y="19"/>
                  </a:cubicBezTo>
                  <a:cubicBezTo>
                    <a:pt x="322" y="13"/>
                    <a:pt x="315" y="8"/>
                    <a:pt x="306" y="5"/>
                  </a:cubicBezTo>
                  <a:cubicBezTo>
                    <a:pt x="297" y="1"/>
                    <a:pt x="287" y="0"/>
                    <a:pt x="277" y="0"/>
                  </a:cubicBezTo>
                  <a:cubicBezTo>
                    <a:pt x="275" y="0"/>
                    <a:pt x="272" y="1"/>
                    <a:pt x="266" y="5"/>
                  </a:cubicBezTo>
                  <a:cubicBezTo>
                    <a:pt x="260" y="9"/>
                    <a:pt x="254" y="13"/>
                    <a:pt x="247" y="18"/>
                  </a:cubicBezTo>
                  <a:cubicBezTo>
                    <a:pt x="239" y="22"/>
                    <a:pt x="230" y="26"/>
                    <a:pt x="218" y="30"/>
                  </a:cubicBezTo>
                  <a:cubicBezTo>
                    <a:pt x="207" y="34"/>
                    <a:pt x="195" y="36"/>
                    <a:pt x="184" y="36"/>
                  </a:cubicBezTo>
                  <a:cubicBezTo>
                    <a:pt x="172" y="36"/>
                    <a:pt x="160" y="34"/>
                    <a:pt x="149" y="30"/>
                  </a:cubicBezTo>
                  <a:cubicBezTo>
                    <a:pt x="137" y="26"/>
                    <a:pt x="128" y="22"/>
                    <a:pt x="121" y="18"/>
                  </a:cubicBezTo>
                  <a:cubicBezTo>
                    <a:pt x="113" y="13"/>
                    <a:pt x="107" y="9"/>
                    <a:pt x="101" y="5"/>
                  </a:cubicBezTo>
                  <a:cubicBezTo>
                    <a:pt x="95" y="1"/>
                    <a:pt x="92" y="0"/>
                    <a:pt x="90" y="0"/>
                  </a:cubicBezTo>
                  <a:cubicBezTo>
                    <a:pt x="80" y="0"/>
                    <a:pt x="70" y="1"/>
                    <a:pt x="61" y="5"/>
                  </a:cubicBezTo>
                  <a:cubicBezTo>
                    <a:pt x="52" y="8"/>
                    <a:pt x="45" y="13"/>
                    <a:pt x="39" y="19"/>
                  </a:cubicBezTo>
                  <a:cubicBezTo>
                    <a:pt x="33" y="25"/>
                    <a:pt x="27" y="32"/>
                    <a:pt x="23" y="40"/>
                  </a:cubicBezTo>
                  <a:cubicBezTo>
                    <a:pt x="18" y="48"/>
                    <a:pt x="14" y="57"/>
                    <a:pt x="11" y="65"/>
                  </a:cubicBezTo>
                  <a:cubicBezTo>
                    <a:pt x="9" y="74"/>
                    <a:pt x="6" y="83"/>
                    <a:pt x="5" y="94"/>
                  </a:cubicBezTo>
                  <a:cubicBezTo>
                    <a:pt x="3" y="104"/>
                    <a:pt x="2" y="113"/>
                    <a:pt x="1" y="122"/>
                  </a:cubicBezTo>
                  <a:cubicBezTo>
                    <a:pt x="0" y="131"/>
                    <a:pt x="0" y="140"/>
                    <a:pt x="0" y="149"/>
                  </a:cubicBezTo>
                  <a:cubicBezTo>
                    <a:pt x="0" y="170"/>
                    <a:pt x="6" y="186"/>
                    <a:pt x="19" y="198"/>
                  </a:cubicBezTo>
                  <a:cubicBezTo>
                    <a:pt x="32" y="210"/>
                    <a:pt x="49" y="216"/>
                    <a:pt x="70" y="216"/>
                  </a:cubicBezTo>
                  <a:cubicBezTo>
                    <a:pt x="297" y="216"/>
                    <a:pt x="297" y="216"/>
                    <a:pt x="297" y="216"/>
                  </a:cubicBezTo>
                  <a:cubicBezTo>
                    <a:pt x="319" y="216"/>
                    <a:pt x="335" y="210"/>
                    <a:pt x="348" y="198"/>
                  </a:cubicBezTo>
                  <a:cubicBezTo>
                    <a:pt x="361" y="186"/>
                    <a:pt x="367" y="170"/>
                    <a:pt x="367" y="149"/>
                  </a:cubicBezTo>
                  <a:cubicBezTo>
                    <a:pt x="367" y="140"/>
                    <a:pt x="367" y="131"/>
                    <a:pt x="366" y="122"/>
                  </a:cubicBezTo>
                  <a:close/>
                  <a:moveTo>
                    <a:pt x="366" y="122"/>
                  </a:moveTo>
                  <a:cubicBezTo>
                    <a:pt x="366" y="122"/>
                    <a:pt x="366" y="122"/>
                    <a:pt x="366" y="12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309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617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926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234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543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851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16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4468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7199"/>
            </a:p>
          </p:txBody>
        </p:sp>
      </p:grpSp>
      <p:grpSp>
        <p:nvGrpSpPr>
          <p:cNvPr id="10" name="グループ化 9"/>
          <p:cNvGrpSpPr/>
          <p:nvPr/>
        </p:nvGrpSpPr>
        <p:grpSpPr>
          <a:xfrm>
            <a:off x="2169868" y="2757268"/>
            <a:ext cx="4737369" cy="1871002"/>
            <a:chOff x="2169868" y="2757268"/>
            <a:chExt cx="4737369" cy="1871002"/>
          </a:xfrm>
        </p:grpSpPr>
        <p:sp>
          <p:nvSpPr>
            <p:cNvPr id="8" name="円形吹き出し 7"/>
            <p:cNvSpPr/>
            <p:nvPr/>
          </p:nvSpPr>
          <p:spPr>
            <a:xfrm>
              <a:off x="2169868" y="2757268"/>
              <a:ext cx="4737369" cy="1871002"/>
            </a:xfrm>
            <a:prstGeom prst="wedgeEllipseCallout">
              <a:avLst>
                <a:gd name="adj1" fmla="val -49455"/>
                <a:gd name="adj2" fmla="val 5410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2423086" y="3120741"/>
              <a:ext cx="42309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600" dirty="0" smtClean="0"/>
                <a:t>研究室での拘束時間</a:t>
              </a:r>
              <a:r>
                <a:rPr kumimoji="1" lang="en-US" altLang="ja-JP" sz="3600" dirty="0" smtClean="0"/>
                <a:t/>
              </a:r>
              <a:br>
                <a:rPr kumimoji="1" lang="en-US" altLang="ja-JP" sz="3600" dirty="0" smtClean="0"/>
              </a:br>
              <a:r>
                <a:rPr kumimoji="1" lang="ja-JP" altLang="en-US" sz="3600" dirty="0" smtClean="0"/>
                <a:t>長いんじゃないの？</a:t>
              </a:r>
              <a:endParaRPr kumimoji="1" lang="ja-JP" altLang="en-US" sz="36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84462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</a:t>
            </a:r>
            <a:r>
              <a:rPr lang="en-US" altLang="ja-JP" dirty="0" smtClean="0"/>
              <a:t>G</a:t>
            </a:r>
            <a:r>
              <a:rPr kumimoji="1" lang="ja-JP" altLang="en-US" dirty="0" smtClean="0"/>
              <a:t>はブラック？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A.</a:t>
            </a:r>
            <a:r>
              <a:rPr kumimoji="1" lang="ja-JP" altLang="en-US" dirty="0" smtClean="0"/>
              <a:t>ブラックの定義にもよるけど，</a:t>
            </a:r>
            <a:r>
              <a:rPr kumimoji="1" lang="ja-JP" altLang="en-US" u="sng" dirty="0" smtClean="0">
                <a:solidFill>
                  <a:srgbClr val="FF0000"/>
                </a:solidFill>
              </a:rPr>
              <a:t>ブラックじゃない</a:t>
            </a:r>
            <a:r>
              <a:rPr kumimoji="1" lang="en-US" altLang="ja-JP" dirty="0" smtClean="0"/>
              <a:t>!!</a:t>
            </a:r>
          </a:p>
          <a:p>
            <a:endParaRPr lang="en-US" altLang="ja-JP" dirty="0"/>
          </a:p>
          <a:p>
            <a:endParaRPr kumimoji="1" lang="ja-JP" altLang="en-US" dirty="0"/>
          </a:p>
        </p:txBody>
      </p:sp>
      <p:grpSp>
        <p:nvGrpSpPr>
          <p:cNvPr id="4" name="グループ化 3"/>
          <p:cNvGrpSpPr/>
          <p:nvPr/>
        </p:nvGrpSpPr>
        <p:grpSpPr>
          <a:xfrm>
            <a:off x="896888" y="4845524"/>
            <a:ext cx="1272980" cy="1387260"/>
            <a:chOff x="6399213" y="3455988"/>
            <a:chExt cx="636588" cy="693737"/>
          </a:xfrm>
        </p:grpSpPr>
        <p:sp>
          <p:nvSpPr>
            <p:cNvPr id="5" name="Freeform 85"/>
            <p:cNvSpPr>
              <a:spLocks noEditPoints="1"/>
            </p:cNvSpPr>
            <p:nvPr/>
          </p:nvSpPr>
          <p:spPr bwMode="auto">
            <a:xfrm>
              <a:off x="6543675" y="3455988"/>
              <a:ext cx="347663" cy="347663"/>
            </a:xfrm>
            <a:custGeom>
              <a:avLst/>
              <a:gdLst>
                <a:gd name="T0" fmla="*/ 101 w 201"/>
                <a:gd name="T1" fmla="*/ 200 h 200"/>
                <a:gd name="T2" fmla="*/ 171 w 201"/>
                <a:gd name="T3" fmla="*/ 171 h 200"/>
                <a:gd name="T4" fmla="*/ 201 w 201"/>
                <a:gd name="T5" fmla="*/ 100 h 200"/>
                <a:gd name="T6" fmla="*/ 171 w 201"/>
                <a:gd name="T7" fmla="*/ 29 h 200"/>
                <a:gd name="T8" fmla="*/ 101 w 201"/>
                <a:gd name="T9" fmla="*/ 0 h 200"/>
                <a:gd name="T10" fmla="*/ 30 w 201"/>
                <a:gd name="T11" fmla="*/ 29 h 200"/>
                <a:gd name="T12" fmla="*/ 0 w 201"/>
                <a:gd name="T13" fmla="*/ 100 h 200"/>
                <a:gd name="T14" fmla="*/ 30 w 201"/>
                <a:gd name="T15" fmla="*/ 171 h 200"/>
                <a:gd name="T16" fmla="*/ 101 w 201"/>
                <a:gd name="T17" fmla="*/ 200 h 200"/>
                <a:gd name="T18" fmla="*/ 101 w 201"/>
                <a:gd name="T19" fmla="*/ 200 h 200"/>
                <a:gd name="T20" fmla="*/ 101 w 201"/>
                <a:gd name="T2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1" h="200">
                  <a:moveTo>
                    <a:pt x="101" y="200"/>
                  </a:moveTo>
                  <a:cubicBezTo>
                    <a:pt x="128" y="200"/>
                    <a:pt x="152" y="190"/>
                    <a:pt x="171" y="171"/>
                  </a:cubicBezTo>
                  <a:cubicBezTo>
                    <a:pt x="191" y="151"/>
                    <a:pt x="201" y="128"/>
                    <a:pt x="201" y="100"/>
                  </a:cubicBezTo>
                  <a:cubicBezTo>
                    <a:pt x="201" y="72"/>
                    <a:pt x="191" y="49"/>
                    <a:pt x="171" y="29"/>
                  </a:cubicBezTo>
                  <a:cubicBezTo>
                    <a:pt x="152" y="10"/>
                    <a:pt x="128" y="0"/>
                    <a:pt x="101" y="0"/>
                  </a:cubicBezTo>
                  <a:cubicBezTo>
                    <a:pt x="73" y="0"/>
                    <a:pt x="49" y="10"/>
                    <a:pt x="30" y="29"/>
                  </a:cubicBezTo>
                  <a:cubicBezTo>
                    <a:pt x="10" y="49"/>
                    <a:pt x="0" y="72"/>
                    <a:pt x="0" y="100"/>
                  </a:cubicBezTo>
                  <a:cubicBezTo>
                    <a:pt x="0" y="128"/>
                    <a:pt x="10" y="151"/>
                    <a:pt x="30" y="171"/>
                  </a:cubicBezTo>
                  <a:cubicBezTo>
                    <a:pt x="49" y="190"/>
                    <a:pt x="73" y="200"/>
                    <a:pt x="101" y="200"/>
                  </a:cubicBezTo>
                  <a:close/>
                  <a:moveTo>
                    <a:pt x="101" y="200"/>
                  </a:moveTo>
                  <a:cubicBezTo>
                    <a:pt x="101" y="200"/>
                    <a:pt x="101" y="200"/>
                    <a:pt x="101" y="20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309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617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926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234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543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851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16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4468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7199"/>
            </a:p>
          </p:txBody>
        </p:sp>
        <p:sp>
          <p:nvSpPr>
            <p:cNvPr id="6" name="Freeform 86"/>
            <p:cNvSpPr>
              <a:spLocks noEditPoints="1"/>
            </p:cNvSpPr>
            <p:nvPr/>
          </p:nvSpPr>
          <p:spPr bwMode="auto">
            <a:xfrm>
              <a:off x="6399213" y="3775075"/>
              <a:ext cx="636588" cy="374650"/>
            </a:xfrm>
            <a:custGeom>
              <a:avLst/>
              <a:gdLst>
                <a:gd name="T0" fmla="*/ 366 w 367"/>
                <a:gd name="T1" fmla="*/ 122 h 216"/>
                <a:gd name="T2" fmla="*/ 363 w 367"/>
                <a:gd name="T3" fmla="*/ 94 h 216"/>
                <a:gd name="T4" fmla="*/ 356 w 367"/>
                <a:gd name="T5" fmla="*/ 65 h 216"/>
                <a:gd name="T6" fmla="*/ 344 w 367"/>
                <a:gd name="T7" fmla="*/ 40 h 216"/>
                <a:gd name="T8" fmla="*/ 328 w 367"/>
                <a:gd name="T9" fmla="*/ 19 h 216"/>
                <a:gd name="T10" fmla="*/ 306 w 367"/>
                <a:gd name="T11" fmla="*/ 5 h 216"/>
                <a:gd name="T12" fmla="*/ 277 w 367"/>
                <a:gd name="T13" fmla="*/ 0 h 216"/>
                <a:gd name="T14" fmla="*/ 266 w 367"/>
                <a:gd name="T15" fmla="*/ 5 h 216"/>
                <a:gd name="T16" fmla="*/ 247 w 367"/>
                <a:gd name="T17" fmla="*/ 18 h 216"/>
                <a:gd name="T18" fmla="*/ 218 w 367"/>
                <a:gd name="T19" fmla="*/ 30 h 216"/>
                <a:gd name="T20" fmla="*/ 184 w 367"/>
                <a:gd name="T21" fmla="*/ 36 h 216"/>
                <a:gd name="T22" fmla="*/ 149 w 367"/>
                <a:gd name="T23" fmla="*/ 30 h 216"/>
                <a:gd name="T24" fmla="*/ 121 w 367"/>
                <a:gd name="T25" fmla="*/ 18 h 216"/>
                <a:gd name="T26" fmla="*/ 101 w 367"/>
                <a:gd name="T27" fmla="*/ 5 h 216"/>
                <a:gd name="T28" fmla="*/ 90 w 367"/>
                <a:gd name="T29" fmla="*/ 0 h 216"/>
                <a:gd name="T30" fmla="*/ 61 w 367"/>
                <a:gd name="T31" fmla="*/ 5 h 216"/>
                <a:gd name="T32" fmla="*/ 39 w 367"/>
                <a:gd name="T33" fmla="*/ 19 h 216"/>
                <a:gd name="T34" fmla="*/ 23 w 367"/>
                <a:gd name="T35" fmla="*/ 40 h 216"/>
                <a:gd name="T36" fmla="*/ 11 w 367"/>
                <a:gd name="T37" fmla="*/ 65 h 216"/>
                <a:gd name="T38" fmla="*/ 5 w 367"/>
                <a:gd name="T39" fmla="*/ 94 h 216"/>
                <a:gd name="T40" fmla="*/ 1 w 367"/>
                <a:gd name="T41" fmla="*/ 122 h 216"/>
                <a:gd name="T42" fmla="*/ 0 w 367"/>
                <a:gd name="T43" fmla="*/ 149 h 216"/>
                <a:gd name="T44" fmla="*/ 19 w 367"/>
                <a:gd name="T45" fmla="*/ 198 h 216"/>
                <a:gd name="T46" fmla="*/ 70 w 367"/>
                <a:gd name="T47" fmla="*/ 216 h 216"/>
                <a:gd name="T48" fmla="*/ 297 w 367"/>
                <a:gd name="T49" fmla="*/ 216 h 216"/>
                <a:gd name="T50" fmla="*/ 348 w 367"/>
                <a:gd name="T51" fmla="*/ 198 h 216"/>
                <a:gd name="T52" fmla="*/ 367 w 367"/>
                <a:gd name="T53" fmla="*/ 149 h 216"/>
                <a:gd name="T54" fmla="*/ 366 w 367"/>
                <a:gd name="T55" fmla="*/ 122 h 216"/>
                <a:gd name="T56" fmla="*/ 366 w 367"/>
                <a:gd name="T57" fmla="*/ 122 h 216"/>
                <a:gd name="T58" fmla="*/ 366 w 367"/>
                <a:gd name="T59" fmla="*/ 12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7" h="216">
                  <a:moveTo>
                    <a:pt x="366" y="122"/>
                  </a:moveTo>
                  <a:cubicBezTo>
                    <a:pt x="366" y="113"/>
                    <a:pt x="364" y="104"/>
                    <a:pt x="363" y="94"/>
                  </a:cubicBezTo>
                  <a:cubicBezTo>
                    <a:pt x="361" y="83"/>
                    <a:pt x="358" y="74"/>
                    <a:pt x="356" y="65"/>
                  </a:cubicBezTo>
                  <a:cubicBezTo>
                    <a:pt x="353" y="57"/>
                    <a:pt x="349" y="48"/>
                    <a:pt x="344" y="40"/>
                  </a:cubicBezTo>
                  <a:cubicBezTo>
                    <a:pt x="340" y="32"/>
                    <a:pt x="334" y="25"/>
                    <a:pt x="328" y="19"/>
                  </a:cubicBezTo>
                  <a:cubicBezTo>
                    <a:pt x="322" y="13"/>
                    <a:pt x="315" y="8"/>
                    <a:pt x="306" y="5"/>
                  </a:cubicBezTo>
                  <a:cubicBezTo>
                    <a:pt x="297" y="1"/>
                    <a:pt x="287" y="0"/>
                    <a:pt x="277" y="0"/>
                  </a:cubicBezTo>
                  <a:cubicBezTo>
                    <a:pt x="275" y="0"/>
                    <a:pt x="272" y="1"/>
                    <a:pt x="266" y="5"/>
                  </a:cubicBezTo>
                  <a:cubicBezTo>
                    <a:pt x="260" y="9"/>
                    <a:pt x="254" y="13"/>
                    <a:pt x="247" y="18"/>
                  </a:cubicBezTo>
                  <a:cubicBezTo>
                    <a:pt x="239" y="22"/>
                    <a:pt x="230" y="26"/>
                    <a:pt x="218" y="30"/>
                  </a:cubicBezTo>
                  <a:cubicBezTo>
                    <a:pt x="207" y="34"/>
                    <a:pt x="195" y="36"/>
                    <a:pt x="184" y="36"/>
                  </a:cubicBezTo>
                  <a:cubicBezTo>
                    <a:pt x="172" y="36"/>
                    <a:pt x="160" y="34"/>
                    <a:pt x="149" y="30"/>
                  </a:cubicBezTo>
                  <a:cubicBezTo>
                    <a:pt x="137" y="26"/>
                    <a:pt x="128" y="22"/>
                    <a:pt x="121" y="18"/>
                  </a:cubicBezTo>
                  <a:cubicBezTo>
                    <a:pt x="113" y="13"/>
                    <a:pt x="107" y="9"/>
                    <a:pt x="101" y="5"/>
                  </a:cubicBezTo>
                  <a:cubicBezTo>
                    <a:pt x="95" y="1"/>
                    <a:pt x="92" y="0"/>
                    <a:pt x="90" y="0"/>
                  </a:cubicBezTo>
                  <a:cubicBezTo>
                    <a:pt x="80" y="0"/>
                    <a:pt x="70" y="1"/>
                    <a:pt x="61" y="5"/>
                  </a:cubicBezTo>
                  <a:cubicBezTo>
                    <a:pt x="52" y="8"/>
                    <a:pt x="45" y="13"/>
                    <a:pt x="39" y="19"/>
                  </a:cubicBezTo>
                  <a:cubicBezTo>
                    <a:pt x="33" y="25"/>
                    <a:pt x="27" y="32"/>
                    <a:pt x="23" y="40"/>
                  </a:cubicBezTo>
                  <a:cubicBezTo>
                    <a:pt x="18" y="48"/>
                    <a:pt x="14" y="57"/>
                    <a:pt x="11" y="65"/>
                  </a:cubicBezTo>
                  <a:cubicBezTo>
                    <a:pt x="9" y="74"/>
                    <a:pt x="6" y="83"/>
                    <a:pt x="5" y="94"/>
                  </a:cubicBezTo>
                  <a:cubicBezTo>
                    <a:pt x="3" y="104"/>
                    <a:pt x="2" y="113"/>
                    <a:pt x="1" y="122"/>
                  </a:cubicBezTo>
                  <a:cubicBezTo>
                    <a:pt x="0" y="131"/>
                    <a:pt x="0" y="140"/>
                    <a:pt x="0" y="149"/>
                  </a:cubicBezTo>
                  <a:cubicBezTo>
                    <a:pt x="0" y="170"/>
                    <a:pt x="6" y="186"/>
                    <a:pt x="19" y="198"/>
                  </a:cubicBezTo>
                  <a:cubicBezTo>
                    <a:pt x="32" y="210"/>
                    <a:pt x="49" y="216"/>
                    <a:pt x="70" y="216"/>
                  </a:cubicBezTo>
                  <a:cubicBezTo>
                    <a:pt x="297" y="216"/>
                    <a:pt x="297" y="216"/>
                    <a:pt x="297" y="216"/>
                  </a:cubicBezTo>
                  <a:cubicBezTo>
                    <a:pt x="319" y="216"/>
                    <a:pt x="335" y="210"/>
                    <a:pt x="348" y="198"/>
                  </a:cubicBezTo>
                  <a:cubicBezTo>
                    <a:pt x="361" y="186"/>
                    <a:pt x="367" y="170"/>
                    <a:pt x="367" y="149"/>
                  </a:cubicBezTo>
                  <a:cubicBezTo>
                    <a:pt x="367" y="140"/>
                    <a:pt x="367" y="131"/>
                    <a:pt x="366" y="122"/>
                  </a:cubicBezTo>
                  <a:close/>
                  <a:moveTo>
                    <a:pt x="366" y="122"/>
                  </a:moveTo>
                  <a:cubicBezTo>
                    <a:pt x="366" y="122"/>
                    <a:pt x="366" y="122"/>
                    <a:pt x="366" y="12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309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617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926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234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543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851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16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4468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7199"/>
            </a:p>
          </p:txBody>
        </p:sp>
      </p:grpSp>
      <p:grpSp>
        <p:nvGrpSpPr>
          <p:cNvPr id="10" name="グループ化 9"/>
          <p:cNvGrpSpPr/>
          <p:nvPr/>
        </p:nvGrpSpPr>
        <p:grpSpPr>
          <a:xfrm>
            <a:off x="2169868" y="2757268"/>
            <a:ext cx="4737369" cy="1871002"/>
            <a:chOff x="2169868" y="2757268"/>
            <a:chExt cx="4737369" cy="1871002"/>
          </a:xfrm>
        </p:grpSpPr>
        <p:sp>
          <p:nvSpPr>
            <p:cNvPr id="8" name="円形吹き出し 7"/>
            <p:cNvSpPr/>
            <p:nvPr/>
          </p:nvSpPr>
          <p:spPr>
            <a:xfrm>
              <a:off x="2169868" y="2757268"/>
              <a:ext cx="4737369" cy="1871002"/>
            </a:xfrm>
            <a:prstGeom prst="wedgeEllipseCallout">
              <a:avLst>
                <a:gd name="adj1" fmla="val -49455"/>
                <a:gd name="adj2" fmla="val 5410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2423086" y="3120741"/>
              <a:ext cx="42309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600" dirty="0" smtClean="0"/>
                <a:t>深夜にゼミが</a:t>
              </a:r>
              <a:r>
                <a:rPr lang="ja-JP" altLang="en-US" sz="3600" dirty="0" smtClean="0"/>
                <a:t>あるって</a:t>
              </a:r>
              <a:r>
                <a:rPr lang="ja-JP" altLang="en-US" sz="3600" dirty="0"/>
                <a:t>聞</a:t>
              </a:r>
              <a:r>
                <a:rPr lang="ja-JP" altLang="en-US" sz="3600" dirty="0" smtClean="0"/>
                <a:t>いたんだけ</a:t>
              </a:r>
              <a:r>
                <a:rPr lang="ja-JP" altLang="en-US" sz="3600" dirty="0"/>
                <a:t>ど</a:t>
              </a:r>
              <a:r>
                <a:rPr kumimoji="1" lang="ja-JP" altLang="en-US" sz="3600" dirty="0" smtClean="0"/>
                <a:t>？</a:t>
              </a:r>
              <a:endParaRPr kumimoji="1" lang="ja-JP" altLang="en-US" sz="36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128176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</a:t>
            </a:r>
            <a:r>
              <a:rPr lang="en-US" altLang="ja-JP" dirty="0" smtClean="0"/>
              <a:t>G</a:t>
            </a:r>
            <a:r>
              <a:rPr kumimoji="1" lang="ja-JP" altLang="en-US" dirty="0" smtClean="0"/>
              <a:t>はブラック？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A.</a:t>
            </a:r>
            <a:r>
              <a:rPr kumimoji="1" lang="ja-JP" altLang="en-US" dirty="0" smtClean="0"/>
              <a:t>ブラックの定義にもよるけど，</a:t>
            </a:r>
            <a:r>
              <a:rPr kumimoji="1" lang="ja-JP" altLang="en-US" u="sng" dirty="0" smtClean="0">
                <a:solidFill>
                  <a:srgbClr val="FF0000"/>
                </a:solidFill>
              </a:rPr>
              <a:t>ブラックじゃない</a:t>
            </a:r>
            <a:r>
              <a:rPr kumimoji="1" lang="en-US" altLang="ja-JP" dirty="0" smtClean="0"/>
              <a:t>!!</a:t>
            </a:r>
          </a:p>
          <a:p>
            <a:endParaRPr lang="en-US" altLang="ja-JP" dirty="0"/>
          </a:p>
          <a:p>
            <a:endParaRPr kumimoji="1" lang="ja-JP" altLang="en-US" dirty="0"/>
          </a:p>
        </p:txBody>
      </p:sp>
      <p:grpSp>
        <p:nvGrpSpPr>
          <p:cNvPr id="4" name="グループ化 3"/>
          <p:cNvGrpSpPr/>
          <p:nvPr/>
        </p:nvGrpSpPr>
        <p:grpSpPr>
          <a:xfrm>
            <a:off x="896888" y="4845524"/>
            <a:ext cx="1272980" cy="1387260"/>
            <a:chOff x="6399213" y="3455988"/>
            <a:chExt cx="636588" cy="693737"/>
          </a:xfrm>
        </p:grpSpPr>
        <p:sp>
          <p:nvSpPr>
            <p:cNvPr id="5" name="Freeform 85"/>
            <p:cNvSpPr>
              <a:spLocks noEditPoints="1"/>
            </p:cNvSpPr>
            <p:nvPr/>
          </p:nvSpPr>
          <p:spPr bwMode="auto">
            <a:xfrm>
              <a:off x="6543675" y="3455988"/>
              <a:ext cx="347663" cy="347663"/>
            </a:xfrm>
            <a:custGeom>
              <a:avLst/>
              <a:gdLst>
                <a:gd name="T0" fmla="*/ 101 w 201"/>
                <a:gd name="T1" fmla="*/ 200 h 200"/>
                <a:gd name="T2" fmla="*/ 171 w 201"/>
                <a:gd name="T3" fmla="*/ 171 h 200"/>
                <a:gd name="T4" fmla="*/ 201 w 201"/>
                <a:gd name="T5" fmla="*/ 100 h 200"/>
                <a:gd name="T6" fmla="*/ 171 w 201"/>
                <a:gd name="T7" fmla="*/ 29 h 200"/>
                <a:gd name="T8" fmla="*/ 101 w 201"/>
                <a:gd name="T9" fmla="*/ 0 h 200"/>
                <a:gd name="T10" fmla="*/ 30 w 201"/>
                <a:gd name="T11" fmla="*/ 29 h 200"/>
                <a:gd name="T12" fmla="*/ 0 w 201"/>
                <a:gd name="T13" fmla="*/ 100 h 200"/>
                <a:gd name="T14" fmla="*/ 30 w 201"/>
                <a:gd name="T15" fmla="*/ 171 h 200"/>
                <a:gd name="T16" fmla="*/ 101 w 201"/>
                <a:gd name="T17" fmla="*/ 200 h 200"/>
                <a:gd name="T18" fmla="*/ 101 w 201"/>
                <a:gd name="T19" fmla="*/ 200 h 200"/>
                <a:gd name="T20" fmla="*/ 101 w 201"/>
                <a:gd name="T2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1" h="200">
                  <a:moveTo>
                    <a:pt x="101" y="200"/>
                  </a:moveTo>
                  <a:cubicBezTo>
                    <a:pt x="128" y="200"/>
                    <a:pt x="152" y="190"/>
                    <a:pt x="171" y="171"/>
                  </a:cubicBezTo>
                  <a:cubicBezTo>
                    <a:pt x="191" y="151"/>
                    <a:pt x="201" y="128"/>
                    <a:pt x="201" y="100"/>
                  </a:cubicBezTo>
                  <a:cubicBezTo>
                    <a:pt x="201" y="72"/>
                    <a:pt x="191" y="49"/>
                    <a:pt x="171" y="29"/>
                  </a:cubicBezTo>
                  <a:cubicBezTo>
                    <a:pt x="152" y="10"/>
                    <a:pt x="128" y="0"/>
                    <a:pt x="101" y="0"/>
                  </a:cubicBezTo>
                  <a:cubicBezTo>
                    <a:pt x="73" y="0"/>
                    <a:pt x="49" y="10"/>
                    <a:pt x="30" y="29"/>
                  </a:cubicBezTo>
                  <a:cubicBezTo>
                    <a:pt x="10" y="49"/>
                    <a:pt x="0" y="72"/>
                    <a:pt x="0" y="100"/>
                  </a:cubicBezTo>
                  <a:cubicBezTo>
                    <a:pt x="0" y="128"/>
                    <a:pt x="10" y="151"/>
                    <a:pt x="30" y="171"/>
                  </a:cubicBezTo>
                  <a:cubicBezTo>
                    <a:pt x="49" y="190"/>
                    <a:pt x="73" y="200"/>
                    <a:pt x="101" y="200"/>
                  </a:cubicBezTo>
                  <a:close/>
                  <a:moveTo>
                    <a:pt x="101" y="200"/>
                  </a:moveTo>
                  <a:cubicBezTo>
                    <a:pt x="101" y="200"/>
                    <a:pt x="101" y="200"/>
                    <a:pt x="101" y="20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309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617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926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234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543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851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16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4468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7199"/>
            </a:p>
          </p:txBody>
        </p:sp>
        <p:sp>
          <p:nvSpPr>
            <p:cNvPr id="6" name="Freeform 86"/>
            <p:cNvSpPr>
              <a:spLocks noEditPoints="1"/>
            </p:cNvSpPr>
            <p:nvPr/>
          </p:nvSpPr>
          <p:spPr bwMode="auto">
            <a:xfrm>
              <a:off x="6399213" y="3775075"/>
              <a:ext cx="636588" cy="374650"/>
            </a:xfrm>
            <a:custGeom>
              <a:avLst/>
              <a:gdLst>
                <a:gd name="T0" fmla="*/ 366 w 367"/>
                <a:gd name="T1" fmla="*/ 122 h 216"/>
                <a:gd name="T2" fmla="*/ 363 w 367"/>
                <a:gd name="T3" fmla="*/ 94 h 216"/>
                <a:gd name="T4" fmla="*/ 356 w 367"/>
                <a:gd name="T5" fmla="*/ 65 h 216"/>
                <a:gd name="T6" fmla="*/ 344 w 367"/>
                <a:gd name="T7" fmla="*/ 40 h 216"/>
                <a:gd name="T8" fmla="*/ 328 w 367"/>
                <a:gd name="T9" fmla="*/ 19 h 216"/>
                <a:gd name="T10" fmla="*/ 306 w 367"/>
                <a:gd name="T11" fmla="*/ 5 h 216"/>
                <a:gd name="T12" fmla="*/ 277 w 367"/>
                <a:gd name="T13" fmla="*/ 0 h 216"/>
                <a:gd name="T14" fmla="*/ 266 w 367"/>
                <a:gd name="T15" fmla="*/ 5 h 216"/>
                <a:gd name="T16" fmla="*/ 247 w 367"/>
                <a:gd name="T17" fmla="*/ 18 h 216"/>
                <a:gd name="T18" fmla="*/ 218 w 367"/>
                <a:gd name="T19" fmla="*/ 30 h 216"/>
                <a:gd name="T20" fmla="*/ 184 w 367"/>
                <a:gd name="T21" fmla="*/ 36 h 216"/>
                <a:gd name="T22" fmla="*/ 149 w 367"/>
                <a:gd name="T23" fmla="*/ 30 h 216"/>
                <a:gd name="T24" fmla="*/ 121 w 367"/>
                <a:gd name="T25" fmla="*/ 18 h 216"/>
                <a:gd name="T26" fmla="*/ 101 w 367"/>
                <a:gd name="T27" fmla="*/ 5 h 216"/>
                <a:gd name="T28" fmla="*/ 90 w 367"/>
                <a:gd name="T29" fmla="*/ 0 h 216"/>
                <a:gd name="T30" fmla="*/ 61 w 367"/>
                <a:gd name="T31" fmla="*/ 5 h 216"/>
                <a:gd name="T32" fmla="*/ 39 w 367"/>
                <a:gd name="T33" fmla="*/ 19 h 216"/>
                <a:gd name="T34" fmla="*/ 23 w 367"/>
                <a:gd name="T35" fmla="*/ 40 h 216"/>
                <a:gd name="T36" fmla="*/ 11 w 367"/>
                <a:gd name="T37" fmla="*/ 65 h 216"/>
                <a:gd name="T38" fmla="*/ 5 w 367"/>
                <a:gd name="T39" fmla="*/ 94 h 216"/>
                <a:gd name="T40" fmla="*/ 1 w 367"/>
                <a:gd name="T41" fmla="*/ 122 h 216"/>
                <a:gd name="T42" fmla="*/ 0 w 367"/>
                <a:gd name="T43" fmla="*/ 149 h 216"/>
                <a:gd name="T44" fmla="*/ 19 w 367"/>
                <a:gd name="T45" fmla="*/ 198 h 216"/>
                <a:gd name="T46" fmla="*/ 70 w 367"/>
                <a:gd name="T47" fmla="*/ 216 h 216"/>
                <a:gd name="T48" fmla="*/ 297 w 367"/>
                <a:gd name="T49" fmla="*/ 216 h 216"/>
                <a:gd name="T50" fmla="*/ 348 w 367"/>
                <a:gd name="T51" fmla="*/ 198 h 216"/>
                <a:gd name="T52" fmla="*/ 367 w 367"/>
                <a:gd name="T53" fmla="*/ 149 h 216"/>
                <a:gd name="T54" fmla="*/ 366 w 367"/>
                <a:gd name="T55" fmla="*/ 122 h 216"/>
                <a:gd name="T56" fmla="*/ 366 w 367"/>
                <a:gd name="T57" fmla="*/ 122 h 216"/>
                <a:gd name="T58" fmla="*/ 366 w 367"/>
                <a:gd name="T59" fmla="*/ 12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7" h="216">
                  <a:moveTo>
                    <a:pt x="366" y="122"/>
                  </a:moveTo>
                  <a:cubicBezTo>
                    <a:pt x="366" y="113"/>
                    <a:pt x="364" y="104"/>
                    <a:pt x="363" y="94"/>
                  </a:cubicBezTo>
                  <a:cubicBezTo>
                    <a:pt x="361" y="83"/>
                    <a:pt x="358" y="74"/>
                    <a:pt x="356" y="65"/>
                  </a:cubicBezTo>
                  <a:cubicBezTo>
                    <a:pt x="353" y="57"/>
                    <a:pt x="349" y="48"/>
                    <a:pt x="344" y="40"/>
                  </a:cubicBezTo>
                  <a:cubicBezTo>
                    <a:pt x="340" y="32"/>
                    <a:pt x="334" y="25"/>
                    <a:pt x="328" y="19"/>
                  </a:cubicBezTo>
                  <a:cubicBezTo>
                    <a:pt x="322" y="13"/>
                    <a:pt x="315" y="8"/>
                    <a:pt x="306" y="5"/>
                  </a:cubicBezTo>
                  <a:cubicBezTo>
                    <a:pt x="297" y="1"/>
                    <a:pt x="287" y="0"/>
                    <a:pt x="277" y="0"/>
                  </a:cubicBezTo>
                  <a:cubicBezTo>
                    <a:pt x="275" y="0"/>
                    <a:pt x="272" y="1"/>
                    <a:pt x="266" y="5"/>
                  </a:cubicBezTo>
                  <a:cubicBezTo>
                    <a:pt x="260" y="9"/>
                    <a:pt x="254" y="13"/>
                    <a:pt x="247" y="18"/>
                  </a:cubicBezTo>
                  <a:cubicBezTo>
                    <a:pt x="239" y="22"/>
                    <a:pt x="230" y="26"/>
                    <a:pt x="218" y="30"/>
                  </a:cubicBezTo>
                  <a:cubicBezTo>
                    <a:pt x="207" y="34"/>
                    <a:pt x="195" y="36"/>
                    <a:pt x="184" y="36"/>
                  </a:cubicBezTo>
                  <a:cubicBezTo>
                    <a:pt x="172" y="36"/>
                    <a:pt x="160" y="34"/>
                    <a:pt x="149" y="30"/>
                  </a:cubicBezTo>
                  <a:cubicBezTo>
                    <a:pt x="137" y="26"/>
                    <a:pt x="128" y="22"/>
                    <a:pt x="121" y="18"/>
                  </a:cubicBezTo>
                  <a:cubicBezTo>
                    <a:pt x="113" y="13"/>
                    <a:pt x="107" y="9"/>
                    <a:pt x="101" y="5"/>
                  </a:cubicBezTo>
                  <a:cubicBezTo>
                    <a:pt x="95" y="1"/>
                    <a:pt x="92" y="0"/>
                    <a:pt x="90" y="0"/>
                  </a:cubicBezTo>
                  <a:cubicBezTo>
                    <a:pt x="80" y="0"/>
                    <a:pt x="70" y="1"/>
                    <a:pt x="61" y="5"/>
                  </a:cubicBezTo>
                  <a:cubicBezTo>
                    <a:pt x="52" y="8"/>
                    <a:pt x="45" y="13"/>
                    <a:pt x="39" y="19"/>
                  </a:cubicBezTo>
                  <a:cubicBezTo>
                    <a:pt x="33" y="25"/>
                    <a:pt x="27" y="32"/>
                    <a:pt x="23" y="40"/>
                  </a:cubicBezTo>
                  <a:cubicBezTo>
                    <a:pt x="18" y="48"/>
                    <a:pt x="14" y="57"/>
                    <a:pt x="11" y="65"/>
                  </a:cubicBezTo>
                  <a:cubicBezTo>
                    <a:pt x="9" y="74"/>
                    <a:pt x="6" y="83"/>
                    <a:pt x="5" y="94"/>
                  </a:cubicBezTo>
                  <a:cubicBezTo>
                    <a:pt x="3" y="104"/>
                    <a:pt x="2" y="113"/>
                    <a:pt x="1" y="122"/>
                  </a:cubicBezTo>
                  <a:cubicBezTo>
                    <a:pt x="0" y="131"/>
                    <a:pt x="0" y="140"/>
                    <a:pt x="0" y="149"/>
                  </a:cubicBezTo>
                  <a:cubicBezTo>
                    <a:pt x="0" y="170"/>
                    <a:pt x="6" y="186"/>
                    <a:pt x="19" y="198"/>
                  </a:cubicBezTo>
                  <a:cubicBezTo>
                    <a:pt x="32" y="210"/>
                    <a:pt x="49" y="216"/>
                    <a:pt x="70" y="216"/>
                  </a:cubicBezTo>
                  <a:cubicBezTo>
                    <a:pt x="297" y="216"/>
                    <a:pt x="297" y="216"/>
                    <a:pt x="297" y="216"/>
                  </a:cubicBezTo>
                  <a:cubicBezTo>
                    <a:pt x="319" y="216"/>
                    <a:pt x="335" y="210"/>
                    <a:pt x="348" y="198"/>
                  </a:cubicBezTo>
                  <a:cubicBezTo>
                    <a:pt x="361" y="186"/>
                    <a:pt x="367" y="170"/>
                    <a:pt x="367" y="149"/>
                  </a:cubicBezTo>
                  <a:cubicBezTo>
                    <a:pt x="367" y="140"/>
                    <a:pt x="367" y="131"/>
                    <a:pt x="366" y="122"/>
                  </a:cubicBezTo>
                  <a:close/>
                  <a:moveTo>
                    <a:pt x="366" y="122"/>
                  </a:moveTo>
                  <a:cubicBezTo>
                    <a:pt x="366" y="122"/>
                    <a:pt x="366" y="122"/>
                    <a:pt x="366" y="12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52" tIns="91426" rIns="182852" bIns="91426" numCol="1" anchor="t" anchorCtr="0" compatLnSpc="1">
              <a:prstTxWarp prst="textNoShape">
                <a:avLst/>
              </a:prstTxWarp>
            </a:bodyPr>
            <a:lstStyle>
              <a:defPPr>
                <a:defRPr lang="ja-JP"/>
              </a:defPPr>
              <a:lvl1pPr marL="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309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617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926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234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543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851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160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4468" algn="l" defTabSz="1828617" rtl="0" eaLnBrk="1" latinLnBrk="0" hangingPunct="1">
                <a:defRPr kumimoji="1"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7199"/>
            </a:p>
          </p:txBody>
        </p:sp>
      </p:grpSp>
      <p:grpSp>
        <p:nvGrpSpPr>
          <p:cNvPr id="10" name="グループ化 9"/>
          <p:cNvGrpSpPr/>
          <p:nvPr/>
        </p:nvGrpSpPr>
        <p:grpSpPr>
          <a:xfrm>
            <a:off x="2169868" y="2757268"/>
            <a:ext cx="4737369" cy="1871002"/>
            <a:chOff x="2169868" y="2757268"/>
            <a:chExt cx="4737369" cy="1871002"/>
          </a:xfrm>
        </p:grpSpPr>
        <p:sp>
          <p:nvSpPr>
            <p:cNvPr id="8" name="円形吹き出し 7"/>
            <p:cNvSpPr/>
            <p:nvPr/>
          </p:nvSpPr>
          <p:spPr>
            <a:xfrm>
              <a:off x="2169868" y="2757268"/>
              <a:ext cx="4737369" cy="1871002"/>
            </a:xfrm>
            <a:prstGeom prst="wedgeEllipseCallout">
              <a:avLst>
                <a:gd name="adj1" fmla="val -49455"/>
                <a:gd name="adj2" fmla="val 5410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2423086" y="3120741"/>
              <a:ext cx="423093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600" dirty="0" smtClean="0"/>
                <a:t>研究しないと先生から</a:t>
              </a:r>
              <a:r>
                <a:rPr lang="ja-JP" altLang="en-US" sz="3600" dirty="0"/>
                <a:t>怒</a:t>
              </a:r>
              <a:r>
                <a:rPr lang="ja-JP" altLang="en-US" sz="3600" dirty="0" smtClean="0"/>
                <a:t>られたりしな</a:t>
              </a:r>
              <a:r>
                <a:rPr lang="ja-JP" altLang="en-US" sz="3600" dirty="0"/>
                <a:t>い</a:t>
              </a:r>
              <a:r>
                <a:rPr kumimoji="1" lang="ja-JP" altLang="en-US" sz="3600" dirty="0" smtClean="0"/>
                <a:t>？</a:t>
              </a:r>
              <a:endParaRPr kumimoji="1" lang="ja-JP" altLang="en-US" sz="36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87022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研究内容紹介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データの識別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25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研究内容紹介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お絵かき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7107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Lab_Meiryo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_Meiryo" id="{7D642844-7729-411D-8325-58B6C4B8D203}" vid="{50D3BAC5-7159-4E37-9CBF-9487F996062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Theme_Lab_Meiryo</Template>
  <TotalTime>65</TotalTime>
  <Words>106</Words>
  <Application>Microsoft Office PowerPoint</Application>
  <PresentationFormat>画面に合わせる (4:3)</PresentationFormat>
  <Paragraphs>21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Meiryo UI</vt:lpstr>
      <vt:lpstr>ＭＳ Ｐゴシック</vt:lpstr>
      <vt:lpstr>Arial</vt:lpstr>
      <vt:lpstr>Times New Roman</vt:lpstr>
      <vt:lpstr>Theme_Lab_Meiryo</vt:lpstr>
      <vt:lpstr>PowerPoint プレゼンテーション</vt:lpstr>
      <vt:lpstr>研究室概要</vt:lpstr>
      <vt:lpstr>研究内容</vt:lpstr>
      <vt:lpstr>8Gはブラック？</vt:lpstr>
      <vt:lpstr>8Gはブラック？</vt:lpstr>
      <vt:lpstr>8Gはブラック？</vt:lpstr>
      <vt:lpstr>研究内容紹介</vt:lpstr>
      <vt:lpstr>研究内容紹介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6</cp:revision>
  <dcterms:created xsi:type="dcterms:W3CDTF">2019-04-23T15:41:45Z</dcterms:created>
  <dcterms:modified xsi:type="dcterms:W3CDTF">2019-04-23T16:47:25Z</dcterms:modified>
</cp:coreProperties>
</file>