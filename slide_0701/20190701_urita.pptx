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22"/>
  </p:notesMasterIdLst>
  <p:sldIdLst>
    <p:sldId id="256" r:id="rId8"/>
    <p:sldId id="261" r:id="rId9"/>
    <p:sldId id="286" r:id="rId10"/>
    <p:sldId id="278" r:id="rId11"/>
    <p:sldId id="289" r:id="rId12"/>
    <p:sldId id="297" r:id="rId13"/>
    <p:sldId id="288" r:id="rId14"/>
    <p:sldId id="290" r:id="rId15"/>
    <p:sldId id="291" r:id="rId16"/>
    <p:sldId id="294" r:id="rId17"/>
    <p:sldId id="295" r:id="rId18"/>
    <p:sldId id="285" r:id="rId19"/>
    <p:sldId id="296" r:id="rId20"/>
    <p:sldId id="259" r:id="rId21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643" y="-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個体の評価値はよくなっていくが，</a:t>
            </a:r>
            <a:r>
              <a:rPr lang="ja-JP" altLang="en-US" dirty="0" smtClean="0"/>
              <a:t>獲得される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識別器の精度は向上</a:t>
            </a:r>
            <a:r>
              <a:rPr lang="ja-JP" altLang="en-US" dirty="0" smtClean="0"/>
              <a:t>していない．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調査した内容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前提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 smtClean="0"/>
              <a:t>GA</a:t>
            </a:r>
            <a:r>
              <a:rPr kumimoji="1" lang="ja-JP" altLang="en-US" sz="2800" dirty="0" smtClean="0"/>
              <a:t>で獲得された個体は，同じ評価値を持っていた．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GA</a:t>
            </a:r>
            <a:r>
              <a:rPr lang="ja-JP" altLang="en-US" sz="2800" dirty="0" smtClean="0"/>
              <a:t>の探索が途中で止まっているか</a:t>
            </a:r>
            <a:r>
              <a:rPr lang="ja-JP" altLang="en-US" sz="2800" dirty="0" smtClean="0"/>
              <a:t>，</a:t>
            </a:r>
            <a:r>
              <a:rPr lang="ja-JP" altLang="en-US" sz="2800" dirty="0" smtClean="0"/>
              <a:t>同じ評価値</a:t>
            </a:r>
            <a:r>
              <a:rPr lang="ja-JP" altLang="en-US" sz="2800" dirty="0" smtClean="0"/>
              <a:t>を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持つ</a:t>
            </a:r>
            <a:r>
              <a:rPr lang="ja-JP" altLang="en-US" sz="2800" dirty="0" smtClean="0"/>
              <a:t>個体が複数存在している．</a:t>
            </a:r>
            <a:endParaRPr kumimoji="1"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altLang="ja-JP" sz="2800" dirty="0"/>
          </a:p>
          <a:p>
            <a:r>
              <a:rPr kumimoji="1" lang="ja-JP" altLang="en-US" dirty="0" smtClean="0"/>
              <a:t>すべての弱識別器の組合せ</a:t>
            </a:r>
            <a:r>
              <a:rPr kumimoji="1" lang="ja-JP" altLang="en-US" dirty="0" smtClean="0"/>
              <a:t>に</a:t>
            </a:r>
            <a:r>
              <a:rPr lang="ja-JP" altLang="en-US" dirty="0" smtClean="0"/>
              <a:t>おい</a:t>
            </a:r>
            <a:r>
              <a:rPr lang="ja-JP" altLang="en-US" dirty="0"/>
              <a:t>て</a:t>
            </a:r>
            <a:r>
              <a:rPr kumimoji="1" lang="ja-JP" altLang="en-US" dirty="0" smtClean="0"/>
              <a:t>，検証用データ・テストデータ</a:t>
            </a:r>
            <a:r>
              <a:rPr kumimoji="1" lang="ja-JP" altLang="en-US" dirty="0" smtClean="0"/>
              <a:t>への識別精度がどのようになっているのか調査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決定木の本数：</a:t>
            </a:r>
            <a:r>
              <a:rPr lang="en-US" altLang="ja-JP" dirty="0" smtClean="0"/>
              <a:t>26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個体群サイズ：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子個体数：</a:t>
            </a:r>
            <a:r>
              <a:rPr lang="en-US" altLang="ja-JP" dirty="0" smtClean="0"/>
              <a:t>5</a:t>
            </a:r>
            <a:r>
              <a:rPr lang="en-US" altLang="ja-JP" dirty="0"/>
              <a:t>0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世代数：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交叉方法：一様交叉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突然変異確率：</a:t>
            </a:r>
            <a:r>
              <a:rPr lang="en-US" altLang="ja-JP" dirty="0" smtClean="0"/>
              <a:t>2</a:t>
            </a:r>
            <a:r>
              <a:rPr kumimoji="1" lang="en-US" altLang="ja-JP" dirty="0" smtClean="0"/>
              <a:t>/(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検証用データは，元の学習用データの</a:t>
            </a:r>
            <a:r>
              <a:rPr kumimoji="1" lang="en-US" altLang="ja-JP" dirty="0" smtClean="0"/>
              <a:t>20</a:t>
            </a:r>
            <a:r>
              <a:rPr lang="en-US" altLang="ja-JP" dirty="0"/>
              <a:t>%</a:t>
            </a:r>
            <a:r>
              <a:rPr kumimoji="1" lang="ja-JP" altLang="en-US" dirty="0" smtClean="0"/>
              <a:t>を使用</a:t>
            </a:r>
            <a:endParaRPr kumimoji="1" lang="en-US" altLang="ja-JP" dirty="0" smtClean="0"/>
          </a:p>
          <a:p>
            <a:pPr algn="l"/>
            <a:r>
              <a:rPr lang="ja-JP" altLang="en-US" dirty="0"/>
              <a:t>テスト</a:t>
            </a:r>
            <a:r>
              <a:rPr lang="ja-JP" altLang="en-US" dirty="0" smtClean="0"/>
              <a:t>データは，元のデータの</a:t>
            </a:r>
            <a:r>
              <a:rPr lang="en-US" altLang="ja-JP" dirty="0" smtClean="0"/>
              <a:t>10%</a:t>
            </a:r>
            <a:r>
              <a:rPr lang="ja-JP" altLang="en-US" dirty="0" smtClean="0"/>
              <a:t>を使用</a:t>
            </a:r>
            <a:r>
              <a:rPr lang="en-US" altLang="ja-JP" dirty="0" smtClean="0"/>
              <a:t>(10CV</a:t>
            </a:r>
            <a:r>
              <a:rPr lang="ja-JP" altLang="en-US" dirty="0" smtClean="0"/>
              <a:t>の想定</a:t>
            </a:r>
            <a:r>
              <a:rPr lang="en-US" altLang="ja-JP" dirty="0" smtClean="0"/>
              <a:t>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</a:t>
            </a:r>
            <a:r>
              <a:rPr kumimoji="1" lang="ja-JP" altLang="en-US" dirty="0" smtClean="0"/>
              <a:t>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8570253"/>
              </p:ext>
            </p:extLst>
          </p:nvPr>
        </p:nvGraphicFramePr>
        <p:xfrm>
          <a:off x="1455179" y="2148840"/>
          <a:ext cx="623364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214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270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768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846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6435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で獲得した個体の評価値の順位</a:t>
            </a:r>
            <a:endParaRPr kumimoji="1" lang="ja-JP" altLang="en-US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403140"/>
              </p:ext>
            </p:extLst>
          </p:nvPr>
        </p:nvGraphicFramePr>
        <p:xfrm>
          <a:off x="431927" y="1659227"/>
          <a:ext cx="8280147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505">
                  <a:extLst>
                    <a:ext uri="{9D8B030D-6E8A-4147-A177-3AD203B41FA5}">
                      <a16:colId xmlns:a16="http://schemas.microsoft.com/office/drawing/2014/main" val="1659427244"/>
                    </a:ext>
                  </a:extLst>
                </a:gridCol>
                <a:gridCol w="1319530">
                  <a:extLst>
                    <a:ext uri="{9D8B030D-6E8A-4147-A177-3AD203B41FA5}">
                      <a16:colId xmlns:a16="http://schemas.microsoft.com/office/drawing/2014/main" val="3442036743"/>
                    </a:ext>
                  </a:extLst>
                </a:gridCol>
                <a:gridCol w="1659255">
                  <a:extLst>
                    <a:ext uri="{9D8B030D-6E8A-4147-A177-3AD203B41FA5}">
                      <a16:colId xmlns:a16="http://schemas.microsoft.com/office/drawing/2014/main" val="3667052779"/>
                    </a:ext>
                  </a:extLst>
                </a:gridCol>
                <a:gridCol w="1092518">
                  <a:extLst>
                    <a:ext uri="{9D8B030D-6E8A-4147-A177-3AD203B41FA5}">
                      <a16:colId xmlns:a16="http://schemas.microsoft.com/office/drawing/2014/main" val="4171073454"/>
                    </a:ext>
                  </a:extLst>
                </a:gridCol>
                <a:gridCol w="1430084">
                  <a:extLst>
                    <a:ext uri="{9D8B030D-6E8A-4147-A177-3AD203B41FA5}">
                      <a16:colId xmlns:a16="http://schemas.microsoft.com/office/drawing/2014/main" val="1336325630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3310563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順位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獲得した個体数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72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en-US" altLang="ja-JP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1st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50(109)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0(6)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2(3)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1(1)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4(5)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72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2nd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-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0(61)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12(17)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8(13)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13(24)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3rd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-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50(94980)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36(99)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41(142)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33(90)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1935"/>
                  </a:ext>
                </a:extLst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4216400" y="4805680"/>
            <a:ext cx="45821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smtClean="0"/>
              <a:t>※</a:t>
            </a:r>
            <a:r>
              <a:rPr lang="ja-JP" altLang="en-US" sz="2800" dirty="0" smtClean="0"/>
              <a:t>括弧内はその順位をとる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すべての識別器の数を示す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795386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評価値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Glas</a:t>
            </a:r>
            <a:r>
              <a:rPr lang="en-US" altLang="ja-JP" dirty="0"/>
              <a:t>s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H</a:t>
            </a:r>
            <a:r>
              <a:rPr lang="en-US" altLang="ja-JP" dirty="0"/>
              <a:t>eart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23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データセット：</a:t>
            </a:r>
            <a:r>
              <a:rPr kumimoji="1" lang="en-US" altLang="ja-JP" dirty="0" smtClean="0"/>
              <a:t>Pima</a:t>
            </a:r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5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</a:t>
            </a:r>
            <a:r>
              <a:rPr kumimoji="1" lang="ja-JP" altLang="en-US" dirty="0" smtClean="0"/>
              <a:t>：</a:t>
            </a:r>
            <a:r>
              <a:rPr lang="en-US" altLang="ja-JP" dirty="0" smtClean="0"/>
              <a:t>Vehicl</a:t>
            </a:r>
            <a:r>
              <a:rPr lang="en-US" altLang="ja-JP" dirty="0" smtClean="0"/>
              <a:t>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8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実験</a:t>
            </a:r>
            <a:r>
              <a:rPr kumimoji="1" lang="ja-JP" altLang="en-US" dirty="0" smtClean="0"/>
              <a:t>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の</a:t>
            </a:r>
            <a:r>
              <a:rPr lang="ja-JP" altLang="en-US" dirty="0" smtClean="0"/>
              <a:t>度数分布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データセット</a:t>
            </a:r>
            <a:r>
              <a:rPr kumimoji="1" lang="ja-JP" altLang="en-US" dirty="0" smtClean="0"/>
              <a:t>：</a:t>
            </a:r>
            <a:r>
              <a:rPr lang="en-US" altLang="ja-JP" dirty="0" err="1" smtClean="0"/>
              <a:t>Satimag</a:t>
            </a:r>
            <a:r>
              <a:rPr lang="en-US" altLang="ja-JP" dirty="0" err="1"/>
              <a:t>e</a:t>
            </a:r>
            <a:endParaRPr kumimoji="1" lang="en-US" altLang="ja-JP" dirty="0" smtClean="0"/>
          </a:p>
          <a:p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250" y="1999390"/>
            <a:ext cx="6247500" cy="46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53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評価</a:t>
            </a:r>
            <a:r>
              <a:rPr lang="ja-JP" altLang="en-US" dirty="0"/>
              <a:t>値</a:t>
            </a:r>
            <a:r>
              <a:rPr lang="ja-JP" altLang="en-US" dirty="0" smtClean="0"/>
              <a:t>と精度の相関係数</a:t>
            </a:r>
            <a:endParaRPr kumimoji="1" lang="ja-JP" altLang="en-US" dirty="0"/>
          </a:p>
        </p:txBody>
      </p:sp>
      <p:graphicFrame>
        <p:nvGraphicFramePr>
          <p:cNvPr id="3" name="表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517633"/>
              </p:ext>
            </p:extLst>
          </p:nvPr>
        </p:nvGraphicFramePr>
        <p:xfrm>
          <a:off x="38226" y="1659227"/>
          <a:ext cx="9067548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905">
                  <a:extLst>
                    <a:ext uri="{9D8B030D-6E8A-4147-A177-3AD203B41FA5}">
                      <a16:colId xmlns:a16="http://schemas.microsoft.com/office/drawing/2014/main" val="1659427244"/>
                    </a:ext>
                  </a:extLst>
                </a:gridCol>
                <a:gridCol w="1190943">
                  <a:extLst>
                    <a:ext uri="{9D8B030D-6E8A-4147-A177-3AD203B41FA5}">
                      <a16:colId xmlns:a16="http://schemas.microsoft.com/office/drawing/2014/main" val="3442036743"/>
                    </a:ext>
                  </a:extLst>
                </a:gridCol>
                <a:gridCol w="1152843">
                  <a:extLst>
                    <a:ext uri="{9D8B030D-6E8A-4147-A177-3AD203B41FA5}">
                      <a16:colId xmlns:a16="http://schemas.microsoft.com/office/drawing/2014/main" val="3667052779"/>
                    </a:ext>
                  </a:extLst>
                </a:gridCol>
                <a:gridCol w="1092518">
                  <a:extLst>
                    <a:ext uri="{9D8B030D-6E8A-4147-A177-3AD203B41FA5}">
                      <a16:colId xmlns:a16="http://schemas.microsoft.com/office/drawing/2014/main" val="4171073454"/>
                    </a:ext>
                  </a:extLst>
                </a:gridCol>
                <a:gridCol w="1430084">
                  <a:extLst>
                    <a:ext uri="{9D8B030D-6E8A-4147-A177-3AD203B41FA5}">
                      <a16:colId xmlns:a16="http://schemas.microsoft.com/office/drawing/2014/main" val="1336325630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33105636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決定木の本数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相関係数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9721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Glass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Heart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Pima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Vehicle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dirty="0" err="1" smtClean="0">
                          <a:solidFill>
                            <a:schemeClr val="tx1"/>
                          </a:solidFill>
                        </a:rPr>
                        <a:t>Satimage</a:t>
                      </a:r>
                      <a:endParaRPr kumimoji="1" lang="en-US" altLang="ja-JP" sz="28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709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0.217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0.079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0.058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0.303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7294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0.217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0.078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0.057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0.293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2945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0.228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0.073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0.059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0.064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0.164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41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0.207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0.043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0.103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0.053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5490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kumimoji="1" lang="ja-JP" altLang="en-US" sz="2800" dirty="0" smtClean="0">
                          <a:solidFill>
                            <a:schemeClr val="tx1"/>
                          </a:solidFill>
                        </a:rPr>
                        <a:t>本以上</a:t>
                      </a:r>
                      <a:endParaRPr kumimoji="1" lang="ja-JP" altLang="en-US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400" dirty="0" smtClean="0"/>
                        <a:t>0.197</a:t>
                      </a:r>
                      <a:endParaRPr lang="ja-JP" alt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-0.001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0.036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0.097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dirty="0" smtClean="0">
                          <a:solidFill>
                            <a:schemeClr val="tx1"/>
                          </a:solidFill>
                        </a:rPr>
                        <a:t>0.054</a:t>
                      </a:r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428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268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今後の実験予定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弱識別器を学習する際のデータ数の変更</a:t>
            </a:r>
            <a:endParaRPr kumimoji="1" lang="en-US" altLang="ja-JP" dirty="0" smtClean="0"/>
          </a:p>
          <a:p>
            <a:r>
              <a:rPr lang="ja-JP" altLang="en-US" dirty="0" smtClean="0"/>
              <a:t>＝</a:t>
            </a:r>
            <a:r>
              <a:rPr lang="en-US" altLang="ja-JP" dirty="0" smtClean="0"/>
              <a:t>OO</a:t>
            </a:r>
            <a:r>
              <a:rPr lang="en-US" altLang="ja-JP" dirty="0"/>
              <a:t>B</a:t>
            </a:r>
            <a:r>
              <a:rPr lang="ja-JP" altLang="en-US" dirty="0" smtClean="0"/>
              <a:t>データの割合の変更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84377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691</TotalTime>
  <Words>306</Words>
  <Application>Microsoft Office PowerPoint</Application>
  <PresentationFormat>画面に合わせる (4:3)</PresentationFormat>
  <Paragraphs>135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14</vt:i4>
      </vt:variant>
    </vt:vector>
  </HeadingPairs>
  <TitlesOfParts>
    <vt:vector size="26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調査した内容</vt:lpstr>
      <vt:lpstr>実験パラメータ設定</vt:lpstr>
      <vt:lpstr>実験パラメータ設定</vt:lpstr>
      <vt:lpstr>実験結果</vt:lpstr>
      <vt:lpstr>実験結果</vt:lpstr>
      <vt:lpstr>実験結果</vt:lpstr>
      <vt:lpstr>実験結果</vt:lpstr>
      <vt:lpstr>実験結果</vt:lpstr>
      <vt:lpstr>実験結果</vt:lpstr>
      <vt:lpstr>実験結果</vt:lpstr>
      <vt:lpstr>今後の実験予定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54</cp:revision>
  <dcterms:created xsi:type="dcterms:W3CDTF">2019-03-03T13:45:30Z</dcterms:created>
  <dcterms:modified xsi:type="dcterms:W3CDTF">2019-07-01T05:45:20Z</dcterms:modified>
</cp:coreProperties>
</file>