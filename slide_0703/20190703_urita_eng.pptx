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6" r:id="rId1"/>
  </p:sldMasterIdLst>
  <p:notesMasterIdLst>
    <p:notesMasterId r:id="rId39"/>
  </p:notesMasterIdLst>
  <p:sldIdLst>
    <p:sldId id="256" r:id="rId2"/>
    <p:sldId id="257" r:id="rId3"/>
    <p:sldId id="258" r:id="rId4"/>
    <p:sldId id="259" r:id="rId5"/>
    <p:sldId id="262" r:id="rId6"/>
    <p:sldId id="263" r:id="rId7"/>
    <p:sldId id="264" r:id="rId8"/>
    <p:sldId id="266" r:id="rId9"/>
    <p:sldId id="267" r:id="rId10"/>
    <p:sldId id="268" r:id="rId11"/>
    <p:sldId id="271" r:id="rId12"/>
    <p:sldId id="269" r:id="rId13"/>
    <p:sldId id="273" r:id="rId14"/>
    <p:sldId id="274" r:id="rId15"/>
    <p:sldId id="275" r:id="rId16"/>
    <p:sldId id="276" r:id="rId17"/>
    <p:sldId id="281" r:id="rId18"/>
    <p:sldId id="283" r:id="rId19"/>
    <p:sldId id="282" r:id="rId20"/>
    <p:sldId id="284" r:id="rId21"/>
    <p:sldId id="285" r:id="rId22"/>
    <p:sldId id="286" r:id="rId23"/>
    <p:sldId id="287" r:id="rId24"/>
    <p:sldId id="290" r:id="rId25"/>
    <p:sldId id="300" r:id="rId26"/>
    <p:sldId id="289" r:id="rId27"/>
    <p:sldId id="288" r:id="rId28"/>
    <p:sldId id="291" r:id="rId29"/>
    <p:sldId id="292" r:id="rId30"/>
    <p:sldId id="293" r:id="rId31"/>
    <p:sldId id="294" r:id="rId32"/>
    <p:sldId id="295" r:id="rId33"/>
    <p:sldId id="299" r:id="rId34"/>
    <p:sldId id="265" r:id="rId35"/>
    <p:sldId id="260" r:id="rId36"/>
    <p:sldId id="261" r:id="rId37"/>
    <p:sldId id="272" r:id="rId38"/>
  </p:sldIdLst>
  <p:sldSz cx="9144000" cy="6858000" type="screen4x3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既定のセクション" id="{3AA19F5B-8877-4D0C-8626-7C6C228F18EA}">
          <p14:sldIdLst>
            <p14:sldId id="256"/>
            <p14:sldId id="257"/>
            <p14:sldId id="258"/>
            <p14:sldId id="259"/>
            <p14:sldId id="262"/>
            <p14:sldId id="263"/>
            <p14:sldId id="264"/>
            <p14:sldId id="266"/>
            <p14:sldId id="267"/>
            <p14:sldId id="268"/>
            <p14:sldId id="271"/>
            <p14:sldId id="269"/>
            <p14:sldId id="273"/>
            <p14:sldId id="274"/>
            <p14:sldId id="275"/>
            <p14:sldId id="276"/>
            <p14:sldId id="281"/>
            <p14:sldId id="283"/>
            <p14:sldId id="282"/>
            <p14:sldId id="284"/>
            <p14:sldId id="285"/>
            <p14:sldId id="286"/>
            <p14:sldId id="287"/>
            <p14:sldId id="290"/>
            <p14:sldId id="300"/>
            <p14:sldId id="289"/>
            <p14:sldId id="288"/>
            <p14:sldId id="291"/>
            <p14:sldId id="292"/>
            <p14:sldId id="293"/>
            <p14:sldId id="294"/>
            <p14:sldId id="295"/>
            <p14:sldId id="299"/>
            <p14:sldId id="265"/>
          </p14:sldIdLst>
        </p14:section>
        <p14:section name="Appendix" id="{282D0371-F019-4B8E-B9BC-B77138C0DB1D}">
          <p14:sldIdLst>
            <p14:sldId id="260"/>
            <p14:sldId id="261"/>
            <p14:sldId id="27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016" autoAdjust="0"/>
    <p:restoredTop sz="94660"/>
  </p:normalViewPr>
  <p:slideViewPr>
    <p:cSldViewPr snapToGrid="0">
      <p:cViewPr>
        <p:scale>
          <a:sx n="66" d="100"/>
          <a:sy n="66" d="100"/>
        </p:scale>
        <p:origin x="1242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560FAC7-D9AB-4F83-A509-7E6EC4B08FB1}" type="datetimeFigureOut">
              <a:rPr kumimoji="1" lang="ja-JP" altLang="en-US" smtClean="0"/>
              <a:t>2019/7/3</a:t>
            </a:fld>
            <a:endParaRPr kumimoji="1" lang="ja-JP" altLang="en-US" dirty="0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 dirty="0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 smtClean="0"/>
              <a:t>マスター テキストの書式設定</a:t>
            </a:r>
          </a:p>
          <a:p>
            <a:pPr lvl="1"/>
            <a:r>
              <a:rPr kumimoji="1" lang="ja-JP" altLang="en-US" smtClean="0"/>
              <a:t>第 </a:t>
            </a:r>
            <a:r>
              <a:rPr kumimoji="1" lang="en-US" altLang="ja-JP" smtClean="0"/>
              <a:t>2 </a:t>
            </a:r>
            <a:r>
              <a:rPr kumimoji="1" lang="ja-JP" altLang="en-US" smtClean="0"/>
              <a:t>レベル</a:t>
            </a:r>
          </a:p>
          <a:p>
            <a:pPr lvl="2"/>
            <a:r>
              <a:rPr kumimoji="1" lang="ja-JP" altLang="en-US" smtClean="0"/>
              <a:t>第 </a:t>
            </a:r>
            <a:r>
              <a:rPr kumimoji="1" lang="en-US" altLang="ja-JP" smtClean="0"/>
              <a:t>3 </a:t>
            </a:r>
            <a:r>
              <a:rPr kumimoji="1" lang="ja-JP" altLang="en-US" smtClean="0"/>
              <a:t>レベル</a:t>
            </a:r>
          </a:p>
          <a:p>
            <a:pPr lvl="3"/>
            <a:r>
              <a:rPr kumimoji="1" lang="ja-JP" altLang="en-US" smtClean="0"/>
              <a:t>第 </a:t>
            </a:r>
            <a:r>
              <a:rPr kumimoji="1" lang="en-US" altLang="ja-JP" smtClean="0"/>
              <a:t>4 </a:t>
            </a:r>
            <a:r>
              <a:rPr kumimoji="1" lang="ja-JP" altLang="en-US" smtClean="0"/>
              <a:t>レベル</a:t>
            </a:r>
          </a:p>
          <a:p>
            <a:pPr lvl="4"/>
            <a:r>
              <a:rPr kumimoji="1" lang="ja-JP" altLang="en-US" smtClean="0"/>
              <a:t>第 </a:t>
            </a:r>
            <a:r>
              <a:rPr kumimoji="1" lang="en-US" altLang="ja-JP" smtClean="0"/>
              <a:t>5 </a:t>
            </a:r>
            <a:r>
              <a:rPr kumimoji="1" lang="ja-JP" altLang="en-US" smtClean="0"/>
              <a:t>レベル</a:t>
            </a:r>
            <a:endParaRPr kumimoji="1" lang="ja-JP" altLang="en-US"/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 dirty="0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9B14361-5C80-4EA3-97FC-798A7D2AE05E}" type="slidenum">
              <a:rPr kumimoji="1" lang="ja-JP" altLang="en-US" smtClean="0"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87722125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バタチャリア距離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B14361-5C80-4EA3-97FC-798A7D2AE05E}" type="slidenum">
              <a:rPr kumimoji="1" lang="ja-JP" altLang="en-US" smtClean="0"/>
              <a:t>10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4977026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チホノフ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B14361-5C80-4EA3-97FC-798A7D2AE05E}" type="slidenum">
              <a:rPr kumimoji="1" lang="ja-JP" altLang="en-US" smtClean="0"/>
              <a:t>12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300597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チホノフ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B14361-5C80-4EA3-97FC-798A7D2AE05E}" type="slidenum">
              <a:rPr kumimoji="1" lang="ja-JP" altLang="en-US" smtClean="0"/>
              <a:t>13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632840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 dirty="0" smtClean="0"/>
              <a:t>チホノフ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9B14361-5C80-4EA3-97FC-798A7D2AE05E}" type="slidenum">
              <a:rPr kumimoji="1" lang="ja-JP" altLang="en-US" smtClean="0"/>
              <a:t>14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754821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rrowheads="1"/>
          </p:cNvSpPr>
          <p:nvPr/>
        </p:nvSpPr>
        <p:spPr bwMode="auto">
          <a:xfrm>
            <a:off x="0" y="0"/>
            <a:ext cx="9144000" cy="41148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9218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2130431"/>
            <a:ext cx="7772400" cy="1470025"/>
          </a:xfrm>
        </p:spPr>
        <p:txBody>
          <a:bodyPr/>
          <a:lstStyle>
            <a:lvl1pPr algn="ctr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9219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267200"/>
            <a:ext cx="6400800" cy="1371600"/>
          </a:xfrm>
        </p:spPr>
        <p:txBody>
          <a:bodyPr anchor="ctr"/>
          <a:lstStyle>
            <a:lvl1pPr marL="0" indent="0" algn="ctr">
              <a:buFontTx/>
              <a:buNone/>
              <a:defRPr sz="3200"/>
            </a:lvl1pPr>
          </a:lstStyle>
          <a:p>
            <a:r>
              <a:rPr lang="ja-JP" altLang="en-US" smtClean="0"/>
              <a:t>マスター サブタイトルの書式設定</a:t>
            </a:r>
            <a:endParaRPr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916319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 sz="4400"/>
            </a:lvl1pPr>
          </a:lstStyle>
          <a:p>
            <a:r>
              <a:rPr kumimoji="1" lang="ja-JP" altLang="en-US" dirty="0" smtClean="0"/>
              <a:t>論文情報</a:t>
            </a:r>
            <a:endParaRPr kumimoji="1" lang="ja-JP" altLang="en-US" dirty="0"/>
          </a:p>
        </p:txBody>
      </p:sp>
      <p:sp>
        <p:nvSpPr>
          <p:cNvPr id="3" name="テキスト ボックス 2"/>
          <p:cNvSpPr txBox="1"/>
          <p:nvPr/>
        </p:nvSpPr>
        <p:spPr>
          <a:xfrm>
            <a:off x="228600" y="1323977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論文名</a:t>
            </a:r>
          </a:p>
        </p:txBody>
      </p:sp>
      <p:sp>
        <p:nvSpPr>
          <p:cNvPr id="4" name="テキスト ボックス 3"/>
          <p:cNvSpPr txBox="1"/>
          <p:nvPr/>
        </p:nvSpPr>
        <p:spPr>
          <a:xfrm>
            <a:off x="228600" y="312544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200" dirty="0" smtClean="0"/>
              <a:t>著者名</a:t>
            </a:r>
          </a:p>
        </p:txBody>
      </p:sp>
      <p:sp>
        <p:nvSpPr>
          <p:cNvPr id="5" name="テキスト ボックス 4"/>
          <p:cNvSpPr txBox="1"/>
          <p:nvPr/>
        </p:nvSpPr>
        <p:spPr>
          <a:xfrm>
            <a:off x="228600" y="4724400"/>
            <a:ext cx="1466850" cy="584775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出典</a:t>
            </a:r>
            <a:endParaRPr kumimoji="1" lang="ja-JP" altLang="en-US" sz="3200" dirty="0" smtClean="0"/>
          </a:p>
        </p:txBody>
      </p:sp>
      <p:sp>
        <p:nvSpPr>
          <p:cNvPr id="6" name="コンテンツ プレースホルダ 2"/>
          <p:cNvSpPr>
            <a:spLocks noGrp="1"/>
          </p:cNvSpPr>
          <p:nvPr>
            <p:ph idx="1" hasCustomPrompt="1"/>
          </p:nvPr>
        </p:nvSpPr>
        <p:spPr>
          <a:xfrm>
            <a:off x="1828800" y="1323977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論文名</a:t>
            </a:r>
          </a:p>
        </p:txBody>
      </p:sp>
      <p:sp>
        <p:nvSpPr>
          <p:cNvPr id="7" name="コンテンツ プレースホルダ 2"/>
          <p:cNvSpPr>
            <a:spLocks noGrp="1"/>
          </p:cNvSpPr>
          <p:nvPr>
            <p:ph idx="10" hasCustomPrompt="1"/>
          </p:nvPr>
        </p:nvSpPr>
        <p:spPr>
          <a:xfrm>
            <a:off x="1828800" y="3125441"/>
            <a:ext cx="7086600" cy="1391142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著者名</a:t>
            </a:r>
          </a:p>
        </p:txBody>
      </p:sp>
      <p:sp>
        <p:nvSpPr>
          <p:cNvPr id="8" name="コンテンツ プレースホルダ 2"/>
          <p:cNvSpPr>
            <a:spLocks noGrp="1"/>
          </p:cNvSpPr>
          <p:nvPr>
            <p:ph idx="11" hasCustomPrompt="1"/>
          </p:nvPr>
        </p:nvSpPr>
        <p:spPr>
          <a:xfrm>
            <a:off x="1828800" y="4724400"/>
            <a:ext cx="7086600" cy="1551337"/>
          </a:xfrm>
        </p:spPr>
        <p:txBody>
          <a:bodyPr/>
          <a:lstStyle>
            <a:lvl1pPr marL="0" indent="0" algn="just">
              <a:buNone/>
              <a:defRPr sz="28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dirty="0" smtClean="0"/>
              <a:t>出典</a:t>
            </a:r>
          </a:p>
        </p:txBody>
      </p:sp>
    </p:spTree>
    <p:extLst>
      <p:ext uri="{BB962C8B-B14F-4D97-AF65-F5344CB8AC3E}">
        <p14:creationId xmlns:p14="http://schemas.microsoft.com/office/powerpoint/2010/main" val="39418127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669418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3" name="コンテンツ プレースホルダ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0" indent="0" algn="just">
              <a:buNone/>
              <a:defRPr sz="3200"/>
            </a:lvl1pPr>
            <a:lvl2pPr marL="342900" indent="0" algn="just">
              <a:buNone/>
              <a:defRPr sz="2400"/>
            </a:lvl2pPr>
            <a:lvl3pPr marL="685800" indent="0" algn="just">
              <a:buNone/>
              <a:defRPr/>
            </a:lvl3pPr>
            <a:lvl4pPr marL="1028700" indent="0" algn="l">
              <a:buNone/>
              <a:defRPr/>
            </a:lvl4pPr>
            <a:lvl5pPr marL="1371600" indent="0" algn="l">
              <a:buNone/>
              <a:defRPr/>
            </a:lvl5pPr>
          </a:lstStyle>
          <a:p>
            <a:pPr lvl="0"/>
            <a:r>
              <a:rPr lang="ja-JP" altLang="en-US" smtClean="0"/>
              <a:t>マスター テキストの書式設定</a:t>
            </a:r>
          </a:p>
          <a:p>
            <a:pPr lvl="1"/>
            <a:r>
              <a:rPr lang="ja-JP" altLang="en-US" smtClean="0"/>
              <a:t>第 </a:t>
            </a:r>
            <a:r>
              <a:rPr lang="en-US" altLang="ja-JP" smtClean="0"/>
              <a:t>2 </a:t>
            </a:r>
            <a:r>
              <a:rPr lang="ja-JP" altLang="en-US" smtClean="0"/>
              <a:t>レベル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1080426907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+サブ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 hasCustomPrompt="1"/>
          </p:nvPr>
        </p:nvSpPr>
        <p:spPr>
          <a:xfrm>
            <a:off x="76200" y="0"/>
            <a:ext cx="9067800" cy="609600"/>
          </a:xfrm>
        </p:spPr>
        <p:txBody>
          <a:bodyPr/>
          <a:lstStyle>
            <a:lvl1pPr algn="l">
              <a:defRPr sz="4400"/>
            </a:lvl1pPr>
          </a:lstStyle>
          <a:p>
            <a:r>
              <a:rPr lang="ja-JP" altLang="en-US" dirty="0" smtClean="0"/>
              <a:t>メインタイトル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14" name="テキスト プレースホルダー 13"/>
          <p:cNvSpPr>
            <a:spLocks noGrp="1"/>
          </p:cNvSpPr>
          <p:nvPr>
            <p:ph type="body" sz="quarter" idx="13" hasCustomPrompt="1"/>
          </p:nvPr>
        </p:nvSpPr>
        <p:spPr>
          <a:xfrm>
            <a:off x="76200" y="570780"/>
            <a:ext cx="9067800" cy="573087"/>
          </a:xfrm>
        </p:spPr>
        <p:txBody>
          <a:bodyPr anchor="ctr"/>
          <a:lstStyle>
            <a:lvl1pPr marL="0" indent="0">
              <a:buNone/>
              <a:defRPr sz="3600" b="1" baseline="0">
                <a:solidFill>
                  <a:schemeClr val="accent4"/>
                </a:solidFill>
                <a:latin typeface="+mj-lt"/>
                <a:ea typeface="+mj-ea"/>
              </a:defRPr>
            </a:lvl1pPr>
          </a:lstStyle>
          <a:p>
            <a:pPr lvl="0"/>
            <a:r>
              <a:rPr kumimoji="1" lang="ja-JP" altLang="en-US" dirty="0" smtClean="0"/>
              <a:t>サブタイトル</a:t>
            </a:r>
          </a:p>
        </p:txBody>
      </p:sp>
    </p:spTree>
    <p:extLst>
      <p:ext uri="{BB962C8B-B14F-4D97-AF65-F5344CB8AC3E}">
        <p14:creationId xmlns:p14="http://schemas.microsoft.com/office/powerpoint/2010/main" val="550715513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 sz="4400"/>
            </a:lvl1pPr>
          </a:lstStyle>
          <a:p>
            <a:r>
              <a:rPr lang="ja-JP" altLang="en-US" smtClean="0"/>
              <a:t>マスター タイトルの書式設定</a:t>
            </a:r>
            <a:endParaRPr lang="ja-JP" altLang="en-US" dirty="0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 bwMode="auto">
          <a:xfrm>
            <a:off x="6781800" y="333375"/>
            <a:ext cx="2133600" cy="476250"/>
          </a:xfrm>
          <a:prstGeom prst="rect">
            <a:avLst/>
          </a:prstGeom>
          <a:ln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0" sz="2800" b="1">
                <a:solidFill>
                  <a:srgbClr val="FFFF00"/>
                </a:solidFill>
              </a:defRPr>
            </a:lvl1pPr>
          </a:lstStyle>
          <a:p>
            <a:fld id="{B5C67937-D10B-4F1B-BCB2-26B69D4AE1E2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4250252942"/>
      </p:ext>
    </p:extLst>
  </p:cSld>
  <p:clrMapOvr>
    <a:masterClrMapping/>
  </p:clrMapOvr>
  <p:timing>
    <p:tnLst>
      <p:par>
        <p:cTn id="1" dur="indefinite" restart="never" nodeType="tmRoot"/>
      </p:par>
    </p:tnLst>
  </p:timing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作図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6587737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終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7"/>
          <p:cNvSpPr>
            <a:spLocks noChangeAspect="1" noChangeArrowheads="1"/>
          </p:cNvSpPr>
          <p:nvPr/>
        </p:nvSpPr>
        <p:spPr bwMode="auto">
          <a:xfrm>
            <a:off x="-19431" y="-102870"/>
            <a:ext cx="9182862" cy="7063740"/>
          </a:xfrm>
          <a:prstGeom prst="rect">
            <a:avLst/>
          </a:prstGeom>
          <a:solidFill>
            <a:schemeClr val="tx1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</p:spTree>
    <p:extLst>
      <p:ext uri="{BB962C8B-B14F-4D97-AF65-F5344CB8AC3E}">
        <p14:creationId xmlns:p14="http://schemas.microsoft.com/office/powerpoint/2010/main" val="193299197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7"/>
          <p:cNvSpPr>
            <a:spLocks noChangeArrowheads="1"/>
          </p:cNvSpPr>
          <p:nvPr/>
        </p:nvSpPr>
        <p:spPr bwMode="auto">
          <a:xfrm>
            <a:off x="0" y="0"/>
            <a:ext cx="9144000" cy="1143000"/>
          </a:xfrm>
          <a:prstGeom prst="rect">
            <a:avLst/>
          </a:prstGeom>
          <a:solidFill>
            <a:schemeClr val="accent2"/>
          </a:solidFill>
          <a:ln w="9525">
            <a:solidFill>
              <a:schemeClr val="accent2"/>
            </a:solidFill>
            <a:miter lim="800000"/>
            <a:headEnd/>
            <a:tailEnd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Arial" pitchFamily="34" charset="0"/>
                <a:ea typeface="ＭＳ Ｐゴシック" pitchFamily="50" charset="-128"/>
              </a:defRPr>
            </a:lvl9pPr>
          </a:lstStyle>
          <a:p>
            <a:pPr eaLnBrk="1" hangingPunct="1">
              <a:defRPr/>
            </a:pPr>
            <a:endParaRPr lang="ja-JP" altLang="en-US" sz="1350" dirty="0"/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76200" y="0"/>
            <a:ext cx="90678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タイトルの書式設定</a:t>
            </a:r>
          </a:p>
        </p:txBody>
      </p:sp>
      <p:sp>
        <p:nvSpPr>
          <p:cNvPr id="1028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371600"/>
            <a:ext cx="8686800" cy="5181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ja-JP" altLang="en-US" dirty="0"/>
              <a:t>マスタ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36895009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74" r:id="rId2"/>
    <p:sldLayoutId id="2147483668" r:id="rId3"/>
    <p:sldLayoutId id="2147483669" r:id="rId4"/>
    <p:sldLayoutId id="2147483673" r:id="rId5"/>
    <p:sldLayoutId id="2147483670" r:id="rId6"/>
    <p:sldLayoutId id="2147483671" r:id="rId7"/>
    <p:sldLayoutId id="2147483672" r:id="rId8"/>
  </p:sldLayoutIdLst>
  <p:timing>
    <p:tnLst>
      <p:par>
        <p:cTn id="1" dur="indefinite" restart="never" nodeType="tmRoot"/>
      </p:par>
    </p:tnLst>
  </p:timing>
  <p:hf hdr="0" ftr="0" dt="0"/>
  <p:txStyles>
    <p:titleStyle>
      <a:lvl1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+mj-lt"/>
          <a:ea typeface="+mj-ea"/>
          <a:cs typeface="+mj-cs"/>
        </a:defRPr>
      </a:lvl1pPr>
      <a:lvl2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2pPr>
      <a:lvl3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3pPr>
      <a:lvl4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4pPr>
      <a:lvl5pPr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5pPr>
      <a:lvl6pPr marL="3429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6pPr>
      <a:lvl7pPr marL="6858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7pPr>
      <a:lvl8pPr marL="10287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8pPr>
      <a:lvl9pPr marL="1371600" algn="just" rtl="0" eaLnBrk="1" fontAlgn="base" hangingPunct="1">
        <a:spcBef>
          <a:spcPct val="0"/>
        </a:spcBef>
        <a:spcAft>
          <a:spcPct val="0"/>
        </a:spcAft>
        <a:defRPr kumimoji="1" sz="3300" b="1">
          <a:solidFill>
            <a:schemeClr val="bg1"/>
          </a:solidFill>
          <a:latin typeface="Times New Roman" pitchFamily="18" charset="0"/>
          <a:ea typeface="ＭＳ Ｐゴシック" pitchFamily="50" charset="-128"/>
        </a:defRPr>
      </a:lvl9pPr>
    </p:titleStyle>
    <p:bodyStyle>
      <a:lvl1pPr marL="257175" indent="-257175" algn="l" rtl="0" eaLnBrk="1" fontAlgn="base" hangingPunct="1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  <a:cs typeface="+mn-cs"/>
        </a:defRPr>
      </a:lvl1pPr>
      <a:lvl2pPr marL="557213" indent="-214313" algn="l" rtl="0" eaLnBrk="1" fontAlgn="base" hangingPunct="1">
        <a:spcBef>
          <a:spcPct val="20000"/>
        </a:spcBef>
        <a:spcAft>
          <a:spcPct val="0"/>
        </a:spcAft>
        <a:buChar char="–"/>
        <a:defRPr kumimoji="1" sz="2100">
          <a:solidFill>
            <a:schemeClr val="tx1"/>
          </a:solidFill>
          <a:latin typeface="+mn-lt"/>
          <a:ea typeface="+mn-ea"/>
        </a:defRPr>
      </a:lvl2pPr>
      <a:lvl3pPr marL="857250" indent="-171450" algn="l" rtl="0" eaLnBrk="1" fontAlgn="base" hangingPunct="1">
        <a:spcBef>
          <a:spcPct val="20000"/>
        </a:spcBef>
        <a:spcAft>
          <a:spcPct val="0"/>
        </a:spcAft>
        <a:buChar char="•"/>
        <a:defRPr kumimoji="1" sz="1800">
          <a:solidFill>
            <a:schemeClr val="tx1"/>
          </a:solidFill>
          <a:latin typeface="+mn-lt"/>
          <a:ea typeface="+mn-ea"/>
        </a:defRPr>
      </a:lvl3pPr>
      <a:lvl4pPr marL="1200150" indent="-171450" algn="l" rtl="0" eaLnBrk="1" fontAlgn="base" hangingPunct="1">
        <a:spcBef>
          <a:spcPct val="20000"/>
        </a:spcBef>
        <a:spcAft>
          <a:spcPct val="0"/>
        </a:spcAft>
        <a:buChar char="–"/>
        <a:defRPr kumimoji="1" sz="1500">
          <a:solidFill>
            <a:schemeClr val="tx1"/>
          </a:solidFill>
          <a:latin typeface="+mn-lt"/>
          <a:ea typeface="+mn-ea"/>
        </a:defRPr>
      </a:lvl4pPr>
      <a:lvl5pPr marL="15430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5pPr>
      <a:lvl6pPr marL="18859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6pPr>
      <a:lvl7pPr marL="22288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7pPr>
      <a:lvl8pPr marL="25717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8pPr>
      <a:lvl9pPr marL="2914650" indent="-171450" algn="l" rtl="0" eaLnBrk="1" fontAlgn="base" hangingPunct="1">
        <a:spcBef>
          <a:spcPct val="20000"/>
        </a:spcBef>
        <a:spcAft>
          <a:spcPct val="0"/>
        </a:spcAft>
        <a:buChar char="»"/>
        <a:defRPr kumimoji="1" sz="15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ja-JP"/>
      </a:defPPr>
      <a:lvl1pPr marL="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kumimoji="1"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emf"/><Relationship Id="rId2" Type="http://schemas.openxmlformats.org/officeDocument/2006/relationships/image" Target="../media/image10.emf"/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emf"/><Relationship Id="rId2" Type="http://schemas.openxmlformats.org/officeDocument/2006/relationships/image" Target="../media/image12.emf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kumimoji="1" lang="ja-JP" altLang="en-US" dirty="0" smtClean="0"/>
              <a:t>英語論文発表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lang="en-US" altLang="ja-JP" dirty="0" smtClean="0"/>
              <a:t>(7/3)</a:t>
            </a:r>
            <a:endParaRPr kumimoji="1" lang="ja-JP" altLang="en-US" dirty="0"/>
          </a:p>
        </p:txBody>
      </p:sp>
      <p:sp>
        <p:nvSpPr>
          <p:cNvPr id="3" name="サブタイトル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kumimoji="1" lang="ja-JP" altLang="en-US" dirty="0" smtClean="0"/>
              <a:t>瓜田　俊貴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916223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論文情報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fr-FR" altLang="ja-JP" dirty="0"/>
              <a:t>Oblique Decision Tree Ensemble via Multisurface</a:t>
            </a:r>
            <a:r>
              <a:rPr lang="ja-JP" altLang="en-US" dirty="0"/>
              <a:t> </a:t>
            </a:r>
            <a:r>
              <a:rPr lang="fr-FR" altLang="ja-JP" dirty="0"/>
              <a:t>Proximal Support Vector Machine</a:t>
            </a:r>
            <a:endParaRPr lang="ja-JP" altLang="en-US" dirty="0"/>
          </a:p>
          <a:p>
            <a:endParaRPr kumimoji="1" lang="ja-JP" altLang="en-US" dirty="0"/>
          </a:p>
        </p:txBody>
      </p:sp>
      <p:sp>
        <p:nvSpPr>
          <p:cNvPr id="4" name="コンテンツ プレースホルダー 3"/>
          <p:cNvSpPr>
            <a:spLocks noGrp="1"/>
          </p:cNvSpPr>
          <p:nvPr>
            <p:ph idx="10"/>
          </p:nvPr>
        </p:nvSpPr>
        <p:spPr/>
        <p:txBody>
          <a:bodyPr/>
          <a:lstStyle/>
          <a:p>
            <a:r>
              <a:rPr lang="en-US" altLang="ja-JP" dirty="0"/>
              <a:t>Le </a:t>
            </a:r>
            <a:r>
              <a:rPr lang="en-US" altLang="ja-JP" dirty="0" smtClean="0"/>
              <a:t>Zhang</a:t>
            </a:r>
            <a:r>
              <a:rPr lang="en-US" altLang="ja-JP" dirty="0"/>
              <a:t>,</a:t>
            </a:r>
            <a:r>
              <a:rPr lang="en-US" altLang="ja-JP" dirty="0" smtClean="0"/>
              <a:t> </a:t>
            </a:r>
            <a:r>
              <a:rPr lang="en-US" altLang="ja-JP" dirty="0" err="1"/>
              <a:t>Ponnuthurai</a:t>
            </a:r>
            <a:r>
              <a:rPr lang="en-US" altLang="ja-JP" dirty="0"/>
              <a:t> N. </a:t>
            </a:r>
            <a:r>
              <a:rPr lang="en-US" altLang="ja-JP" dirty="0" err="1"/>
              <a:t>Suganthan</a:t>
            </a:r>
            <a:r>
              <a:rPr lang="en-US" altLang="ja-JP" dirty="0"/>
              <a:t>,</a:t>
            </a:r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idx="11"/>
          </p:nvPr>
        </p:nvSpPr>
        <p:spPr/>
        <p:txBody>
          <a:bodyPr/>
          <a:lstStyle/>
          <a:p>
            <a:r>
              <a:rPr kumimoji="1" lang="en-US" altLang="ja-JP" dirty="0" smtClean="0"/>
              <a:t>IEEE Transactions on Cybernetics 2015, </a:t>
            </a:r>
            <a:r>
              <a:rPr lang="en-US" altLang="ja-JP" dirty="0"/>
              <a:t>V</a:t>
            </a:r>
            <a:r>
              <a:rPr kumimoji="1" lang="en-US" altLang="ja-JP" dirty="0" smtClean="0"/>
              <a:t>ol. 45, No. 10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370556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概要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決定木ベースの優れたアンサンブル識別器として，</a:t>
            </a:r>
            <a:r>
              <a:rPr kumimoji="1" lang="en-US" altLang="ja-JP" dirty="0" smtClean="0"/>
              <a:t>Random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Forest (</a:t>
            </a:r>
            <a:r>
              <a:rPr kumimoji="1" lang="en-US" altLang="ja-JP" dirty="0" err="1" smtClean="0"/>
              <a:t>RaF</a:t>
            </a:r>
            <a:r>
              <a:rPr kumimoji="1" lang="en-US" altLang="ja-JP" dirty="0" smtClean="0"/>
              <a:t>)</a:t>
            </a:r>
            <a:r>
              <a:rPr lang="ja-JP" altLang="en-US" dirty="0"/>
              <a:t> </a:t>
            </a:r>
            <a:r>
              <a:rPr kumimoji="1" lang="ja-JP" altLang="en-US" dirty="0" smtClean="0"/>
              <a:t>や</a:t>
            </a:r>
            <a:r>
              <a:rPr kumimoji="1" lang="en-US" altLang="ja-JP" dirty="0" smtClean="0"/>
              <a:t>Rotation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Forest (</a:t>
            </a:r>
            <a:r>
              <a:rPr kumimoji="1" lang="en-US" altLang="ja-JP" dirty="0" err="1" smtClean="0"/>
              <a:t>RoF</a:t>
            </a:r>
            <a:r>
              <a:rPr kumimoji="1" lang="en-US" altLang="ja-JP" dirty="0" smtClean="0"/>
              <a:t>)</a:t>
            </a:r>
            <a:r>
              <a:rPr kumimoji="1" lang="ja-JP" altLang="en-US" dirty="0" smtClean="0"/>
              <a:t>があるが，以下の欠点がある．</a:t>
            </a:r>
            <a:endParaRPr kumimoji="1"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 smtClean="0"/>
              <a:t>適切な識別境界を求めるため，多くの計算が必要</a:t>
            </a:r>
            <a:endParaRPr lang="en-US" altLang="ja-JP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 smtClean="0"/>
              <a:t>識別境界を求める際，クラス情報のみを使用するため，データの幾何学的特徴を掴めない</a:t>
            </a:r>
            <a:endParaRPr lang="en-US" altLang="ja-JP" sz="2800" dirty="0" smtClean="0"/>
          </a:p>
          <a:p>
            <a:r>
              <a:rPr kumimoji="1" lang="en-US" altLang="ja-JP" sz="2800" dirty="0"/>
              <a:t/>
            </a:r>
            <a:br>
              <a:rPr kumimoji="1" lang="en-US" altLang="ja-JP" sz="2800" dirty="0"/>
            </a:br>
            <a:r>
              <a:rPr kumimoji="1" lang="en-US" altLang="ja-JP" sz="2800" dirty="0" smtClean="0"/>
              <a:t/>
            </a:r>
            <a:br>
              <a:rPr kumimoji="1" lang="en-US" altLang="ja-JP" sz="2800" dirty="0" smtClean="0"/>
            </a:br>
            <a:r>
              <a:rPr kumimoji="1" lang="en-US" altLang="ja-JP" sz="2800" dirty="0" err="1" smtClean="0"/>
              <a:t>M</a:t>
            </a:r>
            <a:r>
              <a:rPr kumimoji="1" lang="en-US" altLang="ja-JP" dirty="0" err="1" smtClean="0"/>
              <a:t>ultisurface</a:t>
            </a:r>
            <a:r>
              <a:rPr kumimoji="1" lang="en-US" altLang="ja-JP" dirty="0" smtClean="0"/>
              <a:t> Proximal SVM (MPSVM) </a:t>
            </a:r>
            <a:r>
              <a:rPr lang="ja-JP" altLang="en-US" dirty="0" smtClean="0"/>
              <a:t>を利用し，クラスの分布を掴むことのできる識別境界を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求めるアルゴリズムを提案する．</a:t>
            </a:r>
            <a:endParaRPr kumimoji="1" lang="en-US" altLang="ja-JP" dirty="0" smtClean="0"/>
          </a:p>
        </p:txBody>
      </p:sp>
      <p:sp>
        <p:nvSpPr>
          <p:cNvPr id="8" name="下矢印 7"/>
          <p:cNvSpPr/>
          <p:nvPr/>
        </p:nvSpPr>
        <p:spPr>
          <a:xfrm>
            <a:off x="4234375" y="4545482"/>
            <a:ext cx="675250" cy="629812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3385673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Rotation Forest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概要</a:t>
            </a:r>
            <a:endParaRPr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基本的なアルゴリズムは</a:t>
            </a:r>
            <a:r>
              <a:rPr lang="en-US" altLang="ja-JP" sz="2800" dirty="0" err="1" smtClean="0"/>
              <a:t>RaF</a:t>
            </a:r>
            <a:r>
              <a:rPr lang="ja-JP" altLang="en-US" sz="2800" dirty="0" smtClean="0"/>
              <a:t>と同じ．</a:t>
            </a:r>
            <a:endParaRPr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決定</a:t>
            </a:r>
            <a:r>
              <a:rPr lang="ja-JP" altLang="en-US" sz="2800" dirty="0"/>
              <a:t>木を</a:t>
            </a:r>
            <a:r>
              <a:rPr lang="ja-JP" altLang="en-US" sz="2800" dirty="0" smtClean="0"/>
              <a:t>作る際，いくつか</a:t>
            </a:r>
            <a:r>
              <a:rPr lang="ja-JP" altLang="en-US" sz="2800" dirty="0" smtClean="0"/>
              <a:t>の属性毎</a:t>
            </a:r>
            <a:r>
              <a:rPr lang="ja-JP" altLang="en-US" sz="2800" dirty="0" smtClean="0"/>
              <a:t>に</a:t>
            </a:r>
            <a:r>
              <a:rPr kumimoji="1" lang="ja-JP" altLang="en-US" sz="2800" dirty="0" smtClean="0"/>
              <a:t>主成分分析</a:t>
            </a:r>
            <a:r>
              <a:rPr lang="ja-JP" altLang="en-US" sz="2800" dirty="0" smtClean="0"/>
              <a:t>を行って，</a:t>
            </a:r>
            <a:r>
              <a:rPr kumimoji="1" lang="ja-JP" altLang="en-US" sz="2800" dirty="0" smtClean="0"/>
              <a:t>学習用データに変換 </a:t>
            </a:r>
            <a:r>
              <a:rPr kumimoji="1" lang="en-US" altLang="ja-JP" sz="2800" dirty="0" smtClean="0"/>
              <a:t>(</a:t>
            </a:r>
            <a:r>
              <a:rPr kumimoji="1" lang="ja-JP" altLang="en-US" sz="2800" dirty="0" smtClean="0"/>
              <a:t>回転</a:t>
            </a:r>
            <a:r>
              <a:rPr kumimoji="1" lang="en-US" altLang="ja-JP" sz="2800" dirty="0" smtClean="0"/>
              <a:t>) </a:t>
            </a:r>
            <a:r>
              <a:rPr lang="ja-JP" altLang="en-US" sz="2800" dirty="0" smtClean="0"/>
              <a:t>を</a:t>
            </a:r>
            <a:r>
              <a:rPr lang="en-US" altLang="ja-JP" sz="2800" dirty="0" smtClean="0"/>
              <a:t/>
            </a:r>
            <a:br>
              <a:rPr lang="en-US" altLang="ja-JP" sz="2800" dirty="0" smtClean="0"/>
            </a:br>
            <a:r>
              <a:rPr lang="ja-JP" altLang="en-US" sz="2800" dirty="0" smtClean="0"/>
              <a:t>加えてから学習する．</a:t>
            </a:r>
            <a:endParaRPr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分岐の際，すべて</a:t>
            </a:r>
            <a:r>
              <a:rPr lang="ja-JP" altLang="en-US" sz="2800" dirty="0" smtClean="0"/>
              <a:t>の属性から</a:t>
            </a:r>
            <a:r>
              <a:rPr lang="ja-JP" altLang="en-US" sz="2800" dirty="0" smtClean="0"/>
              <a:t>最適な分岐を探す</a:t>
            </a:r>
            <a:endParaRPr lang="en-US" altLang="ja-JP" sz="2800" dirty="0" smtClean="0"/>
          </a:p>
          <a:p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kumimoji="1" lang="ja-JP" altLang="en-US" dirty="0" smtClean="0"/>
              <a:t>利点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ja-JP" altLang="en-US" sz="2800" dirty="0"/>
              <a:t>斜</a:t>
            </a:r>
            <a:r>
              <a:rPr lang="ja-JP" altLang="en-US" sz="2800" dirty="0" smtClean="0"/>
              <a:t>めの識別境界を作ることが可能になる．</a:t>
            </a:r>
            <a:endParaRPr lang="en-US" altLang="ja-JP" sz="2800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kumimoji="1" lang="ja-JP" altLang="en-US" sz="2800" dirty="0" smtClean="0"/>
              <a:t>各決定木</a:t>
            </a:r>
            <a:r>
              <a:rPr kumimoji="1" lang="ja-JP" altLang="en-US" sz="2800" dirty="0"/>
              <a:t>間</a:t>
            </a:r>
            <a:r>
              <a:rPr kumimoji="1" lang="ja-JP" altLang="en-US" sz="2800" dirty="0" smtClean="0"/>
              <a:t>の多様性が増す．</a:t>
            </a:r>
            <a:endParaRPr kumimoji="1" lang="ja-JP" altLang="en-US" sz="2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17949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 err="1"/>
              <a:t>M</a:t>
            </a:r>
            <a:r>
              <a:rPr lang="en-US" altLang="ja-JP" dirty="0" err="1"/>
              <a:t>ultisurface</a:t>
            </a:r>
            <a:r>
              <a:rPr lang="en-US" altLang="ja-JP" dirty="0"/>
              <a:t> Proximal SVM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目的</a:t>
            </a:r>
            <a:endParaRPr kumimoji="1" lang="en-US" altLang="ja-JP" dirty="0" smtClean="0"/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altLang="ja-JP" dirty="0"/>
              <a:t>2</a:t>
            </a:r>
            <a:r>
              <a:rPr lang="ja-JP" altLang="en-US" dirty="0" err="1" smtClean="0"/>
              <a:t>つの</a:t>
            </a:r>
            <a:r>
              <a:rPr lang="ja-JP" altLang="en-US" dirty="0"/>
              <a:t>超</a:t>
            </a:r>
            <a:r>
              <a:rPr lang="ja-JP" altLang="en-US" dirty="0" smtClean="0"/>
              <a:t>平面を求める．</a:t>
            </a:r>
            <a:endParaRPr lang="en-US" altLang="ja-JP" dirty="0" smtClean="0"/>
          </a:p>
          <a:p>
            <a:pPr marL="685800" lvl="1" indent="-342900">
              <a:buFont typeface="Arial" panose="020B0604020202020204" pitchFamily="34" charset="0"/>
              <a:buChar char="−"/>
            </a:pPr>
            <a:r>
              <a:rPr kumimoji="1" lang="en-US" altLang="ja-JP" dirty="0"/>
              <a:t>1</a:t>
            </a:r>
            <a:r>
              <a:rPr kumimoji="1" lang="ja-JP" altLang="en-US" dirty="0" smtClean="0"/>
              <a:t>つ目の超平面は，</a:t>
            </a:r>
            <a:r>
              <a:rPr kumimoji="1" lang="en-US" altLang="ja-JP" dirty="0" smtClean="0"/>
              <a:t>Class1</a:t>
            </a:r>
            <a:r>
              <a:rPr kumimoji="1" lang="ja-JP" altLang="en-US" dirty="0" smtClean="0"/>
              <a:t>に属するすべてのデータに近く，</a:t>
            </a:r>
            <a:r>
              <a:rPr kumimoji="1" lang="en-US" altLang="ja-JP" dirty="0" smtClean="0"/>
              <a:t>Class2</a:t>
            </a:r>
            <a:r>
              <a:rPr kumimoji="1" lang="ja-JP" altLang="en-US" dirty="0" smtClean="0"/>
              <a:t>に属するすべてのデータから遠くなるようにする．</a:t>
            </a:r>
            <a:endParaRPr kumimoji="1" lang="en-US" altLang="ja-JP" dirty="0" smtClean="0"/>
          </a:p>
          <a:p>
            <a:pPr marL="685800" lvl="1" indent="-342900">
              <a:buFont typeface="Arial" panose="020B0604020202020204" pitchFamily="34" charset="0"/>
              <a:buChar char="−"/>
            </a:pPr>
            <a:r>
              <a:rPr lang="en-US" altLang="ja-JP" dirty="0"/>
              <a:t>2</a:t>
            </a:r>
            <a:r>
              <a:rPr lang="ja-JP" altLang="en-US" dirty="0" smtClean="0"/>
              <a:t>つ目の超平面は，</a:t>
            </a:r>
            <a:r>
              <a:rPr lang="en-US" altLang="ja-JP" dirty="0" smtClean="0"/>
              <a:t>Class2</a:t>
            </a:r>
            <a:r>
              <a:rPr lang="ja-JP" altLang="en-US" dirty="0" smtClean="0"/>
              <a:t>に</a:t>
            </a:r>
            <a:r>
              <a:rPr lang="ja-JP" altLang="en-US" dirty="0"/>
              <a:t>属するすべてのデータに近く，</a:t>
            </a:r>
            <a:r>
              <a:rPr lang="en-US" altLang="ja-JP" dirty="0" smtClean="0"/>
              <a:t>Class1</a:t>
            </a:r>
            <a:r>
              <a:rPr lang="ja-JP" altLang="en-US" dirty="0" smtClean="0"/>
              <a:t>に</a:t>
            </a:r>
            <a:r>
              <a:rPr lang="ja-JP" altLang="en-US" dirty="0"/>
              <a:t>属するすべてのデータから遠く</a:t>
            </a:r>
            <a:r>
              <a:rPr lang="ja-JP" altLang="en-US" dirty="0" smtClean="0"/>
              <a:t>なるようにする．</a:t>
            </a:r>
            <a:endParaRPr lang="en-US" altLang="ja-JP" dirty="0"/>
          </a:p>
          <a:p>
            <a:pPr marL="685800" lvl="1" indent="-342900">
              <a:buFont typeface="Arial" panose="020B0604020202020204" pitchFamily="34" charset="0"/>
              <a:buChar char="−"/>
            </a:pPr>
            <a:endParaRPr lang="en-US" altLang="ja-JP" dirty="0" smtClean="0"/>
          </a:p>
          <a:p>
            <a:r>
              <a:rPr lang="ja-JP" altLang="en-US" dirty="0"/>
              <a:t>数式</a:t>
            </a:r>
            <a:r>
              <a:rPr lang="ja-JP" altLang="en-US" dirty="0" smtClean="0"/>
              <a:t>を変換することで，固有方程式を解くことに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より，</a:t>
            </a:r>
            <a:r>
              <a:rPr lang="en-US" altLang="ja-JP" dirty="0" smtClean="0"/>
              <a:t>2</a:t>
            </a:r>
            <a:r>
              <a:rPr lang="ja-JP" altLang="en-US" dirty="0" err="1" smtClean="0"/>
              <a:t>つの</a:t>
            </a:r>
            <a:r>
              <a:rPr lang="ja-JP" altLang="en-US" dirty="0" smtClean="0"/>
              <a:t>超平面を求めることができる．</a:t>
            </a:r>
            <a:endParaRPr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644118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 err="1"/>
              <a:t>M</a:t>
            </a:r>
            <a:r>
              <a:rPr lang="en-US" altLang="ja-JP" dirty="0" err="1"/>
              <a:t>ultisurface</a:t>
            </a:r>
            <a:r>
              <a:rPr lang="en-US" altLang="ja-JP" dirty="0"/>
              <a:t> Proximal SVM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ja-JP" dirty="0" smtClean="0"/>
              </a:p>
              <a:p>
                <a:r>
                  <a:rPr lang="ja-JP" altLang="en-US" dirty="0" smtClean="0"/>
                  <a:t>　</a:t>
                </a:r>
                <a:r>
                  <a:rPr lang="en-US" altLang="ja-JP" dirty="0" smtClean="0"/>
                  <a:t>2</a:t>
                </a:r>
                <a:r>
                  <a:rPr lang="ja-JP" altLang="en-US" dirty="0" err="1" smtClean="0"/>
                  <a:t>つの</a:t>
                </a:r>
                <a:r>
                  <a:rPr lang="ja-JP" altLang="en-US" dirty="0" smtClean="0"/>
                  <a:t>平面</a:t>
                </a:r>
                <a:endParaRPr lang="en-US" altLang="ja-JP" dirty="0" smtClean="0"/>
              </a:p>
              <a:p>
                <a:endParaRPr kumimoji="1" lang="en-US" altLang="ja-JP" dirty="0" smtClean="0"/>
              </a:p>
              <a:p>
                <a:endParaRPr lang="en-US" altLang="ja-JP" dirty="0"/>
              </a:p>
              <a:p>
                <a:r>
                  <a:rPr lang="ja-JP" altLang="en-US" dirty="0" smtClean="0"/>
                  <a:t>　を求める．ただし，</a:t>
                </a:r>
                <a:r>
                  <a:rPr lang="en-US" altLang="ja-JP" dirty="0" smtClean="0"/>
                  <a:t>(</a:t>
                </a:r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altLang="ja-JP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ja-JP" altLang="en-US" dirty="0" err="1" smtClean="0"/>
                  <a:t>，</a:t>
                </a:r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ja-JP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1</a:t>
                </a:r>
                <a:r>
                  <a:rPr lang="en-US" altLang="ja-JP" dirty="0" smtClean="0"/>
                  <a:t>)</a:t>
                </a:r>
                <a:r>
                  <a:rPr lang="ja-JP" altLang="en-US" dirty="0" smtClean="0"/>
                  <a:t>は</a:t>
                </a:r>
                <a:endParaRPr lang="en-US" altLang="ja-JP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nor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ja-JP" b="0" i="1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ja-JP" b="0" i="0" baseline="-25000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altLang="ja-JP" b="0" i="0" smtClean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ja-JP" b="0" i="1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b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ja-JP" b="0" i="0" baseline="-25000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≠0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ja-JP" i="1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A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W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0" baseline="-25000">
                                              <a:latin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nor/>
                                        </m:rPr>
                                        <a:rPr lang="en-US" altLang="ja-JP" b="0" i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ja-JP" i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ja-JP" b="0" i="0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ja-JP" i="1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e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0" baseline="-25000">
                                              <a:latin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ja-JP" i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altLang="ja-JP" i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nor/>
                                                <m:brk m:alnAt="7"/>
                                              </m:rPr>
                                              <a:rPr lang="en-US" altLang="ja-JP" i="1">
                                                <a:latin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W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ja-JP" i="1">
                                                <a:latin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b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ja-JP" i="1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B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W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0" baseline="-25000">
                                              <a:latin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ja-JP" i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ja-JP" b="0" i="0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ja-JP" i="1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e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0" baseline="-25000">
                                              <a:latin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1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ja-JP" i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altLang="ja-JP" i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nor/>
                                                <m:brk m:alnAt="7"/>
                                              </m:rPr>
                                              <a:rPr lang="en-US" altLang="ja-JP" i="1">
                                                <a:latin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W</m:t>
                                            </m:r>
                                          </m:e>
                                          <m:sub>
                                            <m:r>
                                              <m:rPr>
                                                <m:brk m:alnAt="7"/>
                                              </m:r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ja-JP" i="1">
                                                <a:latin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b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1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den>
                          </m:f>
                          <m:r>
                            <m:rPr>
                              <m:nor/>
                            </m:rPr>
                            <a:rPr lang="en-US" altLang="ja-JP" dirty="0"/>
                            <m:t> </m:t>
                          </m:r>
                        </m:e>
                      </m:func>
                    </m:oMath>
                  </m:oMathPara>
                </a14:m>
                <a:endParaRPr lang="en-US" altLang="ja-JP" b="0" dirty="0" smtClean="0"/>
              </a:p>
              <a:p>
                <a:r>
                  <a:rPr kumimoji="1" lang="ja-JP" altLang="en-US" dirty="0" smtClean="0"/>
                  <a:t>　となるように</a:t>
                </a:r>
                <a:endParaRPr kumimoji="1" lang="en-US" altLang="ja-JP" dirty="0" smtClean="0"/>
              </a:p>
            </p:txBody>
          </p:sp>
        </mc:Choice>
        <mc:Fallback xmlns="">
          <p:sp>
            <p:nvSpPr>
              <p:cNvPr id="3" name="コンテンツ プレースホルダー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b="-74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6</a:t>
            </a:fld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/>
              <p:cNvSpPr txBox="1"/>
              <p:nvPr/>
            </p:nvSpPr>
            <p:spPr>
              <a:xfrm>
                <a:off x="3387733" y="2644726"/>
                <a:ext cx="2368534" cy="9011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 sz="28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ja-JP" sz="28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∗ </m:t>
                      </m:r>
                      <m:sSub>
                        <m:sSub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ja-JP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sz="28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sz="28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= 0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 sz="28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ja-JP" sz="28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∗ </m:t>
                      </m:r>
                      <m:sSub>
                        <m:sSub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sz="28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ja-JP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sz="28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= 0</m:t>
                      </m:r>
                    </m:oMath>
                  </m:oMathPara>
                </a14:m>
                <a:endParaRPr lang="en-US" altLang="ja-JP" sz="28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テキスト ボックス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7733" y="2644726"/>
                <a:ext cx="2368534" cy="901144"/>
              </a:xfrm>
              <a:prstGeom prst="rect">
                <a:avLst/>
              </a:prstGeom>
              <a:blipFill rotWithShape="0">
                <a:blip r:embed="rId3"/>
                <a:stretch>
                  <a:fillRect l="-25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グループ化 9"/>
          <p:cNvGrpSpPr/>
          <p:nvPr/>
        </p:nvGrpSpPr>
        <p:grpSpPr>
          <a:xfrm>
            <a:off x="5993771" y="1634813"/>
            <a:ext cx="2921629" cy="1569660"/>
            <a:chOff x="6682153" y="1476375"/>
            <a:chExt cx="2921629" cy="1569660"/>
          </a:xfrm>
        </p:grpSpPr>
        <p:sp>
          <p:nvSpPr>
            <p:cNvPr id="8" name="テキスト ボックス 7"/>
            <p:cNvSpPr txBox="1"/>
            <p:nvPr/>
          </p:nvSpPr>
          <p:spPr>
            <a:xfrm>
              <a:off x="6682153" y="1476375"/>
              <a:ext cx="66552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ja-JP" altLang="en-US" sz="2400" dirty="0" smtClean="0"/>
                <a:t>：</a:t>
              </a:r>
              <a:endParaRPr kumimoji="1" lang="en-US" altLang="ja-JP" sz="2400" dirty="0" smtClean="0"/>
            </a:p>
            <a:p>
              <a:pPr algn="r"/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ja-JP" altLang="en-US" sz="2400" dirty="0" smtClean="0"/>
                <a:t>：</a:t>
              </a:r>
              <a:endParaRPr lang="en-US" altLang="ja-JP" sz="2400" dirty="0" smtClean="0"/>
            </a:p>
            <a:p>
              <a:pPr algn="r"/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ja-JP" altLang="en-US" sz="2400" dirty="0" smtClean="0"/>
                <a:t>：</a:t>
              </a:r>
              <a:endParaRPr kumimoji="1" lang="ja-JP" altLang="en-US" sz="2400" i="1" dirty="0" smtClean="0"/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7215792" y="1476375"/>
              <a:ext cx="238799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 smtClean="0"/>
                <a:t>Class1</a:t>
              </a:r>
              <a:r>
                <a:rPr kumimoji="1" lang="ja-JP" altLang="en-US" sz="2400" dirty="0" smtClean="0"/>
                <a:t>のデータ</a:t>
              </a:r>
              <a:endParaRPr kumimoji="1" lang="en-US" altLang="ja-JP" sz="2400" dirty="0" smtClean="0"/>
            </a:p>
            <a:p>
              <a:r>
                <a:rPr lang="en-US" altLang="ja-JP" sz="2400" dirty="0" smtClean="0"/>
                <a:t>Class2</a:t>
              </a:r>
              <a:r>
                <a:rPr lang="ja-JP" altLang="en-US" sz="2400" dirty="0" smtClean="0"/>
                <a:t>のデータ</a:t>
              </a:r>
              <a:endParaRPr lang="en-US" altLang="ja-JP" sz="2400" dirty="0" smtClean="0"/>
            </a:p>
            <a:p>
              <a:r>
                <a:rPr lang="ja-JP" altLang="en-US" sz="2400" dirty="0" smtClean="0"/>
                <a:t>すべての要素が</a:t>
              </a:r>
              <a:endParaRPr lang="en-US" altLang="ja-JP" sz="2400" dirty="0" smtClean="0"/>
            </a:p>
            <a:p>
              <a:r>
                <a:rPr lang="en-US" altLang="ja-JP" sz="2400" dirty="0" smtClean="0"/>
                <a:t>1</a:t>
              </a:r>
              <a:r>
                <a:rPr lang="ja-JP" altLang="en-US" sz="2400" dirty="0" smtClean="0"/>
                <a:t>のベクトル</a:t>
              </a:r>
              <a:endParaRPr lang="en-US" altLang="ja-JP" sz="2400" dirty="0"/>
            </a:p>
          </p:txBody>
        </p:sp>
      </p:grpSp>
      <p:sp>
        <p:nvSpPr>
          <p:cNvPr id="11" name="テキスト ボックス 10"/>
          <p:cNvSpPr txBox="1"/>
          <p:nvPr/>
        </p:nvSpPr>
        <p:spPr>
          <a:xfrm>
            <a:off x="228600" y="1371600"/>
            <a:ext cx="2599006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数式</a:t>
            </a:r>
            <a:r>
              <a:rPr lang="ja-JP" altLang="en-US" sz="3200" dirty="0" smtClean="0"/>
              <a:t>での表現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2963278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sz="4000" dirty="0" err="1"/>
              <a:t>M</a:t>
            </a:r>
            <a:r>
              <a:rPr lang="en-US" altLang="ja-JP" dirty="0" err="1"/>
              <a:t>ultisurface</a:t>
            </a:r>
            <a:r>
              <a:rPr lang="en-US" altLang="ja-JP" dirty="0"/>
              <a:t> Proximal SVM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endParaRPr lang="en-US" altLang="ja-JP" dirty="0" smtClean="0"/>
              </a:p>
              <a:p>
                <a:r>
                  <a:rPr lang="ja-JP" altLang="en-US" dirty="0" smtClean="0"/>
                  <a:t>　</a:t>
                </a:r>
                <a:r>
                  <a:rPr lang="en-US" altLang="ja-JP" dirty="0" smtClean="0"/>
                  <a:t>2</a:t>
                </a:r>
                <a:r>
                  <a:rPr lang="ja-JP" altLang="en-US" dirty="0" err="1" smtClean="0"/>
                  <a:t>つの</a:t>
                </a:r>
                <a:r>
                  <a:rPr lang="ja-JP" altLang="en-US" dirty="0" smtClean="0"/>
                  <a:t>平面</a:t>
                </a:r>
                <a:endParaRPr lang="en-US" altLang="ja-JP" dirty="0" smtClean="0"/>
              </a:p>
              <a:p>
                <a:endParaRPr kumimoji="1" lang="en-US" altLang="ja-JP" dirty="0" smtClean="0"/>
              </a:p>
              <a:p>
                <a:endParaRPr lang="en-US" altLang="ja-JP" dirty="0"/>
              </a:p>
              <a:p>
                <a:r>
                  <a:rPr lang="ja-JP" altLang="en-US" dirty="0" smtClean="0"/>
                  <a:t>　を求める．</a:t>
                </a:r>
                <a:r>
                  <a:rPr lang="ja-JP" altLang="en-US" dirty="0"/>
                  <a:t>同様</a:t>
                </a:r>
                <a:r>
                  <a:rPr lang="ja-JP" altLang="en-US" dirty="0" smtClean="0"/>
                  <a:t>に，</a:t>
                </a:r>
                <a:r>
                  <a:rPr lang="en-US" altLang="ja-JP" dirty="0" smtClean="0"/>
                  <a:t>(</a:t>
                </a:r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altLang="ja-JP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ja-JP" altLang="en-US" dirty="0" err="1" smtClean="0"/>
                  <a:t>，</a:t>
                </a:r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altLang="ja-JP" baseline="-25000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2</a:t>
                </a:r>
                <a:r>
                  <a:rPr lang="en-US" altLang="ja-JP" dirty="0" smtClean="0"/>
                  <a:t>)</a:t>
                </a:r>
                <a:r>
                  <a:rPr lang="ja-JP" altLang="en-US" dirty="0" smtClean="0"/>
                  <a:t>は</a:t>
                </a:r>
                <a:endParaRPr lang="en-US" altLang="ja-JP" dirty="0" smtClean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nor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min</m:t>
                              </m:r>
                            </m:e>
                            <m:lim>
                              <m:d>
                                <m:dPr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ja-JP" b="0" i="1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W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ja-JP" b="0" i="0" baseline="-25000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r>
                                    <m:rPr>
                                      <m:nor/>
                                    </m:rPr>
                                    <a:rPr lang="en-US" altLang="ja-JP" b="0" i="0" smtClean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, </m:t>
                                  </m:r>
                                  <m:sSub>
                                    <m:sSubPr>
                                      <m:ctrlP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ja-JP" b="0" i="1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b</m:t>
                                      </m:r>
                                    </m:e>
                                    <m:sub>
                                      <m:r>
                                        <m:rPr>
                                          <m:nor/>
                                        </m:rPr>
                                        <a:rPr lang="en-US" altLang="ja-JP" b="0" i="0" baseline="-25000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</m:e>
                              </m:d>
                              <m:r>
                                <m:rPr>
                                  <m:nor/>
                                </m:rPr>
                                <a:rPr lang="en-US" altLang="ja-JP" b="0" i="0" smtClean="0">
                                  <a:latin typeface="Cambria Math" panose="02040503050406030204" pitchFamily="18" charset="0"/>
                                </a:rPr>
                                <m:t>≠0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ja-JP" i="1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A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W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0" baseline="-25000" smtClean="0">
                                              <a:latin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m:rPr>
                                          <m:nor/>
                                        </m:rPr>
                                        <a:rPr lang="en-US" altLang="ja-JP" b="0" i="0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ja-JP" i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ja-JP" b="0" i="0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ja-JP" i="1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e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0" baseline="-25000" smtClean="0">
                                              <a:latin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ja-JP" i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altLang="ja-JP" i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nor/>
                                                <m:brk m:alnAt="7"/>
                                              </m:rPr>
                                              <a:rPr lang="en-US" altLang="ja-JP" i="1">
                                                <a:latin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W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ja-JP" i="1">
                                                <a:latin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b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num>
                            <m:den>
                              <m:sSup>
                                <m:sSupPr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‖"/>
                                      <m:endChr m:val="‖"/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m:rPr>
                                          <m:nor/>
                                        </m:rPr>
                                        <a:rPr lang="en-US" altLang="ja-JP" i="1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B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W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0" baseline="-25000" smtClean="0">
                                              <a:latin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  <m:r>
                                        <a:rPr lang="en-US" altLang="ja-JP" b="0" i="1" smtClean="0">
                                          <a:latin typeface="Cambria Math" panose="020405030504060302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ja-JP" i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−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ja-JP" b="0" i="0" smtClean="0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 </m:t>
                                      </m:r>
                                      <m:r>
                                        <m:rPr>
                                          <m:nor/>
                                        </m:rPr>
                                        <a:rPr lang="en-US" altLang="ja-JP" i="1">
                                          <a:latin typeface="Times New Roman" panose="02020603050405020304" pitchFamily="18" charset="0"/>
                                          <a:cs typeface="Times New Roman" panose="02020603050405020304" pitchFamily="18" charset="0"/>
                                        </a:rPr>
                                        <m:t>e</m:t>
                                      </m:r>
                                      <m:sSub>
                                        <m:sSubPr>
                                          <m:ctrlPr>
                                            <a:rPr lang="en-US" altLang="ja-JP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1">
                                              <a:latin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b</m:t>
                                          </m:r>
                                        </m:e>
                                        <m:sub>
                                          <m:r>
                                            <m:rPr>
                                              <m:nor/>
                                            </m:rPr>
                                            <a:rPr lang="en-US" altLang="ja-JP" i="0" baseline="-25000" smtClean="0">
                                              <a:latin typeface="Times New Roman" panose="02020603050405020304" pitchFamily="18" charset="0"/>
                                              <a:cs typeface="Times New Roman" panose="02020603050405020304" pitchFamily="18" charset="0"/>
                                            </a:rPr>
                                            <m:t>2</m:t>
                                          </m:r>
                                        </m:sub>
                                      </m:sSub>
                                    </m:e>
                                  </m:d>
                                </m:e>
                                <m:sup>
                                  <m:r>
                                    <m:rPr>
                                      <m:nor/>
                                    </m:rPr>
                                    <a:rPr lang="en-US" altLang="ja-JP" i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nor/>
                                </m:rPr>
                                <a:rPr lang="en-US" altLang="ja-JP" i="0">
                                  <a:latin typeface="Cambria Math" panose="02040503050406030204" pitchFamily="18" charset="0"/>
                                </a:rPr>
                                <m:t>/</m:t>
                              </m:r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ja-JP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m>
                                    <m:mPr>
                                      <m:mcs>
                                        <m:mc>
                                          <m:mcPr>
                                            <m:count m:val="1"/>
                                            <m:mcJc m:val="center"/>
                                          </m:mcPr>
                                        </m:mc>
                                      </m:mcs>
                                      <m:ctrlPr>
                                        <a:rPr lang="en-US" altLang="ja-JP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mP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nor/>
                                                <m:brk m:alnAt="7"/>
                                              </m:rPr>
                                              <a:rPr lang="en-US" altLang="ja-JP" i="1">
                                                <a:latin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W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  <m:mr>
                                      <m:e>
                                        <m:sSub>
                                          <m:sSubPr>
                                            <m:ctrlPr>
                                              <a:rPr lang="en-US" altLang="ja-JP" i="1">
                                                <a:latin typeface="Cambria Math" panose="02040503050406030204" pitchFamily="18" charset="0"/>
                                              </a:rPr>
                                            </m:ctrlPr>
                                          </m:sSubPr>
                                          <m:e>
                                            <m:r>
                                              <m:rPr>
                                                <m:nor/>
                                              </m:rPr>
                                              <a:rPr lang="en-US" altLang="ja-JP" i="1">
                                                <a:latin typeface="Times New Roman" panose="020206030504050203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b</m:t>
                                            </m:r>
                                          </m:e>
                                          <m:sub>
                                            <m:r>
                                              <a:rPr lang="en-US" altLang="ja-JP" i="1" smtClean="0">
                                                <a:latin typeface="Cambria Math" panose="02040503050406030204" pitchFamily="18" charset="0"/>
                                                <a:cs typeface="Times New Roman" panose="02020603050405020304" pitchFamily="18" charset="0"/>
                                              </a:rPr>
                                              <m:t>2</m:t>
                                            </m:r>
                                          </m:sub>
                                        </m:sSub>
                                      </m:e>
                                    </m:mr>
                                  </m:m>
                                </m:e>
                              </m:d>
                            </m:den>
                          </m:f>
                          <m:r>
                            <m:rPr>
                              <m:nor/>
                            </m:rPr>
                            <a:rPr lang="en-US" altLang="ja-JP" dirty="0"/>
                            <m:t> </m:t>
                          </m:r>
                        </m:e>
                      </m:func>
                    </m:oMath>
                  </m:oMathPara>
                </a14:m>
                <a:endParaRPr kumimoji="1" lang="en-US" altLang="ja-JP" dirty="0" smtClean="0"/>
              </a:p>
              <a:p>
                <a:r>
                  <a:rPr lang="ja-JP" altLang="en-US" dirty="0"/>
                  <a:t>　</a:t>
                </a:r>
                <a:r>
                  <a:rPr lang="ja-JP" altLang="en-US" dirty="0" smtClean="0"/>
                  <a:t>となるようにする．</a:t>
                </a:r>
                <a:endParaRPr kumimoji="1" lang="en-US" altLang="ja-JP" dirty="0" smtClean="0"/>
              </a:p>
            </p:txBody>
          </p:sp>
        </mc:Choice>
        <mc:Fallback xmlns="">
          <p:sp>
            <p:nvSpPr>
              <p:cNvPr id="3" name="コンテンツ プレースホルダー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b="-741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7</a:t>
            </a:fld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テキスト ボックス 6"/>
              <p:cNvSpPr txBox="1"/>
              <p:nvPr/>
            </p:nvSpPr>
            <p:spPr>
              <a:xfrm>
                <a:off x="3387733" y="2644726"/>
                <a:ext cx="2368534" cy="9011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 sz="28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ja-JP" sz="28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∗ </m:t>
                      </m:r>
                      <m:sSub>
                        <m:sSub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ja-JP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sz="28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sz="28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= 0</m:t>
                      </m:r>
                    </m:oMath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 sz="2800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X</m:t>
                      </m:r>
                      <m:r>
                        <m:rPr>
                          <m:nor/>
                        </m:rPr>
                        <a:rPr lang="en-US" altLang="ja-JP" sz="28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∗ </m:t>
                      </m:r>
                      <m:sSub>
                        <m:sSub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W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altLang="ja-JP" sz="2800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sz="28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− </m:t>
                      </m:r>
                      <m:sSub>
                        <m:sSubPr>
                          <m:ctrlPr>
                            <a:rPr lang="en-US" altLang="ja-JP" sz="2800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nor/>
                            </m:rPr>
                            <a:rPr lang="en-US" altLang="ja-JP" sz="2800" b="0" i="1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b</m:t>
                          </m:r>
                        </m:e>
                        <m:sub>
                          <m:r>
                            <m:rPr>
                              <m:nor/>
                            </m:rPr>
                            <a:rPr lang="en-US" altLang="ja-JP" sz="2800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2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ja-JP" sz="2800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sz="28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= 0</m:t>
                      </m:r>
                    </m:oMath>
                  </m:oMathPara>
                </a14:m>
                <a:endParaRPr lang="en-US" altLang="ja-JP" sz="2800" b="0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7" name="テキスト ボックス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87733" y="2644726"/>
                <a:ext cx="2368534" cy="901144"/>
              </a:xfrm>
              <a:prstGeom prst="rect">
                <a:avLst/>
              </a:prstGeom>
              <a:blipFill rotWithShape="0">
                <a:blip r:embed="rId3"/>
                <a:stretch>
                  <a:fillRect l="-2577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6" name="グループ化 5"/>
          <p:cNvGrpSpPr/>
          <p:nvPr/>
        </p:nvGrpSpPr>
        <p:grpSpPr>
          <a:xfrm>
            <a:off x="5993771" y="1634813"/>
            <a:ext cx="2921629" cy="1569660"/>
            <a:chOff x="6682153" y="1476375"/>
            <a:chExt cx="2921629" cy="1569660"/>
          </a:xfrm>
        </p:grpSpPr>
        <p:sp>
          <p:nvSpPr>
            <p:cNvPr id="8" name="テキスト ボックス 7"/>
            <p:cNvSpPr txBox="1"/>
            <p:nvPr/>
          </p:nvSpPr>
          <p:spPr>
            <a:xfrm>
              <a:off x="6682153" y="1476375"/>
              <a:ext cx="66552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r"/>
              <a:r>
                <a:rPr kumimoji="1"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A</a:t>
              </a:r>
              <a:r>
                <a:rPr kumimoji="1" lang="ja-JP" altLang="en-US" sz="2400" dirty="0" smtClean="0"/>
                <a:t>：</a:t>
              </a:r>
              <a:endParaRPr kumimoji="1" lang="en-US" altLang="ja-JP" sz="2400" dirty="0" smtClean="0"/>
            </a:p>
            <a:p>
              <a:pPr algn="r"/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B</a:t>
              </a:r>
              <a:r>
                <a:rPr lang="ja-JP" altLang="en-US" sz="2400" dirty="0" smtClean="0"/>
                <a:t>：</a:t>
              </a:r>
              <a:endParaRPr lang="en-US" altLang="ja-JP" sz="2400" dirty="0" smtClean="0"/>
            </a:p>
            <a:p>
              <a:pPr algn="r"/>
              <a:r>
                <a:rPr lang="en-US" altLang="ja-JP" sz="24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e</a:t>
              </a:r>
              <a:r>
                <a:rPr lang="ja-JP" altLang="en-US" sz="2400" dirty="0" smtClean="0"/>
                <a:t>：</a:t>
              </a:r>
              <a:endParaRPr kumimoji="1" lang="ja-JP" altLang="en-US" sz="2400" i="1" dirty="0" smtClean="0"/>
            </a:p>
          </p:txBody>
        </p:sp>
        <p:sp>
          <p:nvSpPr>
            <p:cNvPr id="9" name="テキスト ボックス 8"/>
            <p:cNvSpPr txBox="1"/>
            <p:nvPr/>
          </p:nvSpPr>
          <p:spPr>
            <a:xfrm>
              <a:off x="7215792" y="1476375"/>
              <a:ext cx="2387990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 smtClean="0"/>
                <a:t>Class1</a:t>
              </a:r>
              <a:r>
                <a:rPr kumimoji="1" lang="ja-JP" altLang="en-US" sz="2400" dirty="0" smtClean="0"/>
                <a:t>のデータ</a:t>
              </a:r>
              <a:endParaRPr kumimoji="1" lang="en-US" altLang="ja-JP" sz="2400" dirty="0" smtClean="0"/>
            </a:p>
            <a:p>
              <a:r>
                <a:rPr lang="en-US" altLang="ja-JP" sz="2400" dirty="0" smtClean="0"/>
                <a:t>Class2</a:t>
              </a:r>
              <a:r>
                <a:rPr lang="ja-JP" altLang="en-US" sz="2400" dirty="0" smtClean="0"/>
                <a:t>のデータ</a:t>
              </a:r>
              <a:endParaRPr lang="en-US" altLang="ja-JP" sz="2400" dirty="0" smtClean="0"/>
            </a:p>
            <a:p>
              <a:r>
                <a:rPr lang="ja-JP" altLang="en-US" sz="2400" dirty="0" smtClean="0"/>
                <a:t>すべての要素が</a:t>
              </a:r>
              <a:endParaRPr lang="en-US" altLang="ja-JP" sz="2400" dirty="0" smtClean="0"/>
            </a:p>
            <a:p>
              <a:r>
                <a:rPr lang="en-US" altLang="ja-JP" sz="2400" dirty="0" smtClean="0"/>
                <a:t>1</a:t>
              </a:r>
              <a:r>
                <a:rPr lang="ja-JP" altLang="en-US" sz="2400" dirty="0" smtClean="0"/>
                <a:t>のベクトル</a:t>
              </a:r>
              <a:endParaRPr lang="en-US" altLang="ja-JP" sz="2400" dirty="0"/>
            </a:p>
          </p:txBody>
        </p:sp>
      </p:grpSp>
      <p:sp>
        <p:nvSpPr>
          <p:cNvPr id="11" name="テキスト ボックス 10"/>
          <p:cNvSpPr txBox="1"/>
          <p:nvPr/>
        </p:nvSpPr>
        <p:spPr>
          <a:xfrm>
            <a:off x="228600" y="1371600"/>
            <a:ext cx="2599006" cy="584775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ja-JP" altLang="en-US" sz="3200" dirty="0"/>
              <a:t>数式</a:t>
            </a:r>
            <a:r>
              <a:rPr lang="ja-JP" altLang="en-US" sz="3200" dirty="0" smtClean="0"/>
              <a:t>での表現</a:t>
            </a:r>
            <a:endParaRPr kumimoji="1" lang="ja-JP" altLang="en-US" sz="3200" dirty="0" smtClean="0"/>
          </a:p>
        </p:txBody>
      </p:sp>
    </p:spTree>
    <p:extLst>
      <p:ext uri="{BB962C8B-B14F-4D97-AF65-F5344CB8AC3E}">
        <p14:creationId xmlns:p14="http://schemas.microsoft.com/office/powerpoint/2010/main" val="405152404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RaF</a:t>
            </a:r>
            <a:r>
              <a:rPr kumimoji="1" lang="ja-JP" altLang="en-US" dirty="0" smtClean="0"/>
              <a:t>及び，</a:t>
            </a:r>
            <a:r>
              <a:rPr kumimoji="1" lang="en-US" altLang="ja-JP" dirty="0" err="1" smtClean="0"/>
              <a:t>RoF</a:t>
            </a:r>
            <a:r>
              <a:rPr kumimoji="1" lang="ja-JP" altLang="en-US" dirty="0" err="1" smtClean="0"/>
              <a:t>の識</a:t>
            </a:r>
            <a:r>
              <a:rPr kumimoji="1" lang="ja-JP" altLang="en-US" dirty="0" smtClean="0"/>
              <a:t>別境界を</a:t>
            </a:r>
            <a:r>
              <a:rPr kumimoji="1" lang="en-US" altLang="ja-JP" dirty="0" smtClean="0"/>
              <a:t>MPSVM</a:t>
            </a:r>
            <a:r>
              <a:rPr kumimoji="1" lang="ja-JP" altLang="en-US" dirty="0" smtClean="0"/>
              <a:t>で得る</a:t>
            </a:r>
            <a:r>
              <a:rPr kumimoji="1" lang="en-US" altLang="ja-JP" dirty="0" err="1" smtClean="0"/>
              <a:t>MPRaF</a:t>
            </a:r>
            <a:r>
              <a:rPr lang="ja-JP" altLang="en-US" dirty="0" smtClean="0"/>
              <a:t>と</a:t>
            </a:r>
            <a:r>
              <a:rPr lang="en-US" altLang="ja-JP" dirty="0" err="1" smtClean="0"/>
              <a:t>MPRoF</a:t>
            </a:r>
            <a:r>
              <a:rPr lang="ja-JP" altLang="en-US" dirty="0" smtClean="0"/>
              <a:t>を提案する．</a:t>
            </a:r>
            <a:endParaRPr kumimoji="1" lang="en-US" altLang="ja-JP" dirty="0" smtClean="0"/>
          </a:p>
          <a:p>
            <a:r>
              <a:rPr lang="ja-JP" altLang="en-US" dirty="0" smtClean="0"/>
              <a:t>得られた</a:t>
            </a:r>
            <a:r>
              <a:rPr lang="ja-JP" altLang="en-US" dirty="0"/>
              <a:t>超平面がなす角を</a:t>
            </a:r>
            <a:r>
              <a:rPr lang="en-US" altLang="ja-JP" dirty="0"/>
              <a:t>2</a:t>
            </a:r>
            <a:r>
              <a:rPr lang="ja-JP" altLang="en-US" dirty="0"/>
              <a:t>等分</a:t>
            </a:r>
            <a:r>
              <a:rPr lang="ja-JP" altLang="en-US" dirty="0" smtClean="0"/>
              <a:t>する超平面の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うち，不純度が低くなる方を識別</a:t>
            </a:r>
            <a:r>
              <a:rPr lang="ja-JP" altLang="en-US" dirty="0"/>
              <a:t>境界とする．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8825767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ただし，</a:t>
            </a:r>
            <a:r>
              <a:rPr kumimoji="1" lang="en-US" altLang="ja-JP" dirty="0" smtClean="0"/>
              <a:t>MPSVM</a:t>
            </a:r>
            <a:r>
              <a:rPr kumimoji="1" lang="ja-JP" altLang="en-US" dirty="0" smtClean="0"/>
              <a:t>を用いるとき，以下のような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問題</a:t>
            </a:r>
            <a:r>
              <a:rPr lang="ja-JP" altLang="en-US" dirty="0"/>
              <a:t>が</a:t>
            </a:r>
            <a:r>
              <a:rPr kumimoji="1" lang="ja-JP" altLang="en-US" dirty="0" smtClean="0"/>
              <a:t>生じる</a:t>
            </a:r>
            <a:endParaRPr kumimoji="1"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ja-JP" sz="2800" dirty="0" smtClean="0"/>
              <a:t>MPSVM</a:t>
            </a:r>
            <a:r>
              <a:rPr lang="ja-JP" altLang="en-US" sz="2800" dirty="0" smtClean="0"/>
              <a:t>は</a:t>
            </a:r>
            <a:r>
              <a:rPr lang="en-US" altLang="ja-JP" sz="2800" dirty="0" smtClean="0"/>
              <a:t>2</a:t>
            </a:r>
            <a:r>
              <a:rPr lang="ja-JP" altLang="en-US" sz="2800" dirty="0" smtClean="0"/>
              <a:t>クラスの識別問題しか扱うことができない．</a:t>
            </a:r>
            <a:endParaRPr lang="en-US" altLang="ja-JP" sz="2800" dirty="0" smtClean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sz="2800" dirty="0" smtClean="0"/>
              <a:t>ノードの末端に近くなると，データ数が少なくなり，</a:t>
            </a:r>
            <a:r>
              <a:rPr kumimoji="1" lang="en-US" altLang="ja-JP" sz="2800" dirty="0" smtClean="0"/>
              <a:t/>
            </a:r>
            <a:br>
              <a:rPr kumimoji="1" lang="en-US" altLang="ja-JP" sz="2800" dirty="0" smtClean="0"/>
            </a:br>
            <a:r>
              <a:rPr kumimoji="1" lang="ja-JP" altLang="en-US" sz="2800" dirty="0" smtClean="0"/>
              <a:t>正定値行列ではなくなる．したがって，固有値が実数でなくなる．</a:t>
            </a:r>
            <a:endParaRPr kumimoji="1" lang="en-US" altLang="ja-JP" sz="2800" dirty="0" smtClean="0"/>
          </a:p>
          <a:p>
            <a:r>
              <a:rPr lang="en-US" altLang="ja-JP" dirty="0" smtClean="0"/>
              <a:t>1.</a:t>
            </a:r>
            <a:r>
              <a:rPr lang="ja-JP" altLang="en-US" dirty="0" smtClean="0"/>
              <a:t>の問題を解決する </a:t>
            </a:r>
            <a:r>
              <a:rPr lang="en-US" altLang="ja-JP" dirty="0" smtClean="0"/>
              <a:t>multi2binary </a:t>
            </a:r>
            <a:r>
              <a:rPr lang="ja-JP" altLang="en-US" dirty="0" smtClean="0"/>
              <a:t>アルゴリズム，</a:t>
            </a:r>
            <a:r>
              <a:rPr lang="en-US" altLang="ja-JP" dirty="0" smtClean="0"/>
              <a:t>2.</a:t>
            </a:r>
            <a:r>
              <a:rPr lang="ja-JP" altLang="en-US" dirty="0" smtClean="0"/>
              <a:t>の問題を解決する正則化手法を提案している．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9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72654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/>
              <a:t>多</a:t>
            </a:r>
            <a:r>
              <a:rPr lang="ja-JP" altLang="en-US" dirty="0" smtClean="0"/>
              <a:t>クラスのデータセットを，</a:t>
            </a:r>
            <a:r>
              <a:rPr lang="en-US" altLang="ja-JP" dirty="0" smtClean="0"/>
              <a:t>2</a:t>
            </a:r>
            <a:r>
              <a:rPr lang="ja-JP" altLang="en-US" dirty="0" err="1" smtClean="0"/>
              <a:t>つの</a:t>
            </a:r>
            <a:r>
              <a:rPr lang="ja-JP" altLang="en-US" dirty="0" smtClean="0"/>
              <a:t>ハイパークラスを持つデータセットに変換する手法．</a:t>
            </a:r>
            <a:endParaRPr lang="en-US" altLang="ja-JP" dirty="0" smtClean="0"/>
          </a:p>
          <a:p>
            <a:r>
              <a:rPr kumimoji="1" lang="ja-JP" altLang="en-US" dirty="0"/>
              <a:t>データ</a:t>
            </a:r>
            <a:r>
              <a:rPr kumimoji="1" lang="ja-JP" altLang="en-US" dirty="0" smtClean="0"/>
              <a:t>の平均・分散を利用して各クラスのデータ間の距離 </a:t>
            </a:r>
            <a:r>
              <a:rPr kumimoji="1" lang="en-US" altLang="ja-JP" dirty="0" smtClean="0"/>
              <a:t>(</a:t>
            </a:r>
            <a:r>
              <a:rPr kumimoji="1" lang="ja-JP" altLang="en-US" dirty="0" smtClean="0"/>
              <a:t>類似度</a:t>
            </a:r>
            <a:r>
              <a:rPr kumimoji="1" lang="en-US" altLang="ja-JP" dirty="0" smtClean="0"/>
              <a:t>) </a:t>
            </a:r>
            <a:r>
              <a:rPr kumimoji="1" lang="ja-JP" altLang="en-US" dirty="0" smtClean="0"/>
              <a:t>を計算し，距離が近いものを同じハイパークラス設定する．</a:t>
            </a:r>
            <a:endParaRPr kumimoji="1" lang="en-US" altLang="ja-JP" dirty="0" smtClean="0"/>
          </a:p>
          <a:p>
            <a:r>
              <a:rPr lang="ja-JP" altLang="en-US" dirty="0" smtClean="0"/>
              <a:t>データ間の距離は，</a:t>
            </a:r>
            <a:r>
              <a:rPr lang="en-US" altLang="ja-JP" dirty="0" smtClean="0"/>
              <a:t>Bhattacharyya distance</a:t>
            </a:r>
            <a:r>
              <a:rPr lang="ja-JP" altLang="en-US" dirty="0" smtClean="0"/>
              <a:t>を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用いて計算する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10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>
                <a:latin typeface="+mj-lt"/>
              </a:rPr>
              <a:t>multi2binary</a:t>
            </a:r>
            <a:endParaRPr kumimoji="1" lang="ja-JP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60058944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アルゴリズム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sz="2800" dirty="0" smtClean="0"/>
              <a:t>すべてのクラスの対について，距離を計算する．</a:t>
            </a:r>
            <a:endParaRPr kumimoji="1" lang="en-US" altLang="ja-JP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 smtClean="0"/>
              <a:t>クラス間の距離が最大となるクラスの対を見つける．</a:t>
            </a:r>
            <a:endParaRPr lang="en-US" altLang="ja-JP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ja-JP" sz="2800" dirty="0" smtClean="0"/>
              <a:t>2.</a:t>
            </a:r>
            <a:r>
              <a:rPr lang="ja-JP" altLang="en-US" sz="2800" dirty="0" smtClean="0"/>
              <a:t>のクラスをそれぞれハイパークラス</a:t>
            </a:r>
            <a:r>
              <a:rPr lang="en-US" altLang="ja-JP" sz="2800" dirty="0" smtClean="0"/>
              <a:t>1</a:t>
            </a:r>
            <a:r>
              <a:rPr lang="ja-JP" altLang="en-US" sz="2800" dirty="0" err="1" smtClean="0"/>
              <a:t>，</a:t>
            </a:r>
            <a:r>
              <a:rPr lang="en-US" altLang="ja-JP" sz="2800" dirty="0" smtClean="0"/>
              <a:t>2</a:t>
            </a:r>
            <a:r>
              <a:rPr lang="ja-JP" altLang="en-US" sz="2800" dirty="0" smtClean="0"/>
              <a:t>にする．</a:t>
            </a:r>
            <a:endParaRPr lang="en-US" altLang="ja-JP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 smtClean="0"/>
              <a:t>残り</a:t>
            </a:r>
            <a:r>
              <a:rPr kumimoji="1" lang="ja-JP" altLang="en-US" sz="2800" dirty="0" smtClean="0"/>
              <a:t>のクラス</a:t>
            </a:r>
            <a:r>
              <a:rPr lang="ja-JP" altLang="en-US" sz="2800" dirty="0"/>
              <a:t>を</a:t>
            </a:r>
            <a:r>
              <a:rPr kumimoji="1" lang="ja-JP" altLang="en-US" sz="2800" dirty="0" smtClean="0"/>
              <a:t>，距離が近い方のハイパークラスに</a:t>
            </a:r>
            <a:r>
              <a:rPr kumimoji="1" lang="en-US" altLang="ja-JP" sz="2800" dirty="0" smtClean="0"/>
              <a:t/>
            </a:r>
            <a:br>
              <a:rPr kumimoji="1" lang="en-US" altLang="ja-JP" sz="2800" dirty="0" smtClean="0"/>
            </a:br>
            <a:r>
              <a:rPr kumimoji="1" lang="ja-JP" altLang="en-US" sz="2800" dirty="0" smtClean="0"/>
              <a:t>割り当てる．</a:t>
            </a:r>
            <a:endParaRPr kumimoji="1" lang="ja-JP" altLang="en-US" sz="2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11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en-US" altLang="ja-JP" dirty="0" smtClean="0">
                <a:latin typeface="+mj-lt"/>
              </a:rPr>
              <a:t>multi2binary</a:t>
            </a:r>
            <a:endParaRPr kumimoji="1" lang="ja-JP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8118571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既存の手法である</a:t>
            </a:r>
            <a:r>
              <a:rPr kumimoji="1" lang="en-US" altLang="ja-JP" dirty="0" smtClean="0"/>
              <a:t>NULL space approach </a:t>
            </a:r>
            <a:r>
              <a:rPr kumimoji="1" lang="ja-JP" altLang="en-US" dirty="0" smtClean="0"/>
              <a:t>を</a:t>
            </a:r>
            <a:r>
              <a:rPr kumimoji="1" lang="en-US" altLang="ja-JP" dirty="0" smtClean="0"/>
              <a:t/>
            </a:r>
            <a:br>
              <a:rPr kumimoji="1" lang="en-US" altLang="ja-JP" dirty="0" smtClean="0"/>
            </a:br>
            <a:r>
              <a:rPr kumimoji="1" lang="ja-JP" altLang="en-US" dirty="0" smtClean="0"/>
              <a:t>適用する．</a:t>
            </a:r>
            <a:endParaRPr kumimoji="1" lang="en-US" altLang="ja-JP" dirty="0" smtClean="0"/>
          </a:p>
          <a:p>
            <a:r>
              <a:rPr lang="ja-JP" altLang="en-US" dirty="0" smtClean="0"/>
              <a:t>この手法では，データの摂動により性能が低下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することが報告されている．ただし，枝刈りをすることにより改善されるかもしれない．</a:t>
            </a:r>
            <a:endParaRPr lang="en-US" altLang="ja-JP" dirty="0" smtClean="0"/>
          </a:p>
          <a:p>
            <a:r>
              <a:rPr lang="ja-JP" altLang="en-US" dirty="0"/>
              <a:t>上記</a:t>
            </a:r>
            <a:r>
              <a:rPr lang="ja-JP" altLang="en-US" dirty="0" smtClean="0"/>
              <a:t>の正則化に加え，</a:t>
            </a:r>
            <a:r>
              <a:rPr lang="en-US" altLang="ja-JP" dirty="0" smtClean="0"/>
              <a:t>2</a:t>
            </a:r>
            <a:r>
              <a:rPr lang="ja-JP" altLang="en-US" dirty="0" err="1" smtClean="0"/>
              <a:t>つの</a:t>
            </a:r>
            <a:r>
              <a:rPr lang="ja-JP" altLang="en-US" dirty="0" smtClean="0"/>
              <a:t>正則化手法も適用し，最良の手法を調べる．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ja-JP" sz="2800" dirty="0" smtClean="0"/>
              <a:t>Tikhonov regularization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ja-JP" sz="2800" dirty="0"/>
              <a:t>axis-parallel split regularization</a:t>
            </a:r>
            <a:endParaRPr lang="en-US" altLang="ja-JP" sz="2800" b="1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12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>
                <a:latin typeface="+mj-ea"/>
              </a:rPr>
              <a:t>正則化手法</a:t>
            </a:r>
            <a:endParaRPr kumimoji="1" lang="ja-JP" altLang="en-US" dirty="0">
              <a:latin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448326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ja-JP" dirty="0" smtClean="0"/>
                  <a:t>Tikhonov regularization</a:t>
                </a:r>
              </a:p>
              <a:p>
                <a:r>
                  <a:rPr lang="ja-JP" altLang="en-US" dirty="0"/>
                  <a:t>　</a:t>
                </a:r>
                <a:r>
                  <a:rPr lang="en-US" altLang="ja-JP" dirty="0" smtClean="0"/>
                  <a:t>L2</a:t>
                </a:r>
                <a:r>
                  <a:rPr lang="ja-JP" altLang="en-US" dirty="0" smtClean="0"/>
                  <a:t>ノルムの</a:t>
                </a:r>
                <a:r>
                  <a:rPr lang="en-US" altLang="ja-JP" dirty="0" smtClean="0"/>
                  <a:t>2</a:t>
                </a:r>
                <a:r>
                  <a:rPr lang="ja-JP" altLang="en-US" dirty="0" smtClean="0"/>
                  <a:t>乗を正則化項として加える手法．</a:t>
                </a:r>
                <a:r>
                  <a:rPr lang="en-US" altLang="ja-JP" dirty="0" smtClean="0"/>
                  <a:t/>
                </a:r>
                <a:br>
                  <a:rPr lang="en-US" altLang="ja-JP" dirty="0" smtClean="0"/>
                </a:br>
                <a:r>
                  <a:rPr lang="ja-JP" altLang="en-US" dirty="0" smtClean="0"/>
                  <a:t>　重み</a:t>
                </a:r>
                <a:r>
                  <a:rPr lang="ja-JP" altLang="en-US" dirty="0"/>
                  <a:t>のハイパーパラメータ</a:t>
                </a:r>
                <a:r>
                  <a:rPr lang="en-US" altLang="ja-JP" i="1" dirty="0">
                    <a:latin typeface="Symbol" panose="05050102010706020507" pitchFamily="18" charset="2"/>
                  </a:rPr>
                  <a:t>l</a:t>
                </a:r>
                <a:r>
                  <a:rPr lang="ja-JP" altLang="en-US" dirty="0"/>
                  <a:t>を持つ</a:t>
                </a:r>
                <a:r>
                  <a:rPr lang="ja-JP" altLang="en-US" dirty="0" smtClean="0"/>
                  <a:t>．</a:t>
                </a:r>
                <a:endParaRPr lang="en-US" altLang="ja-JP" dirty="0"/>
              </a:p>
              <a:p>
                <a:r>
                  <a:rPr lang="ja-JP" altLang="en-US" dirty="0" smtClean="0"/>
                  <a:t>例．リッジ回帰</a:t>
                </a:r>
                <a:endParaRPr lang="en-US" altLang="ja-JP" i="1" dirty="0" smtClean="0">
                  <a:latin typeface="Cambria Math" panose="02040503050406030204" pitchFamily="18" charset="0"/>
                </a:endParaRPr>
              </a:p>
              <a:p>
                <a:endParaRPr lang="en-US" altLang="ja-JP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nor/>
                                </m:rPr>
                                <a:rPr lang="en-US" altLang="ja-JP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min</m:t>
                              </m:r>
                            </m:e>
                            <m:lim>
                              <m:r>
                                <m:rPr>
                                  <m:nor/>
                                </m:rPr>
                                <a:rPr lang="en-US" altLang="ja-JP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w</m:t>
                              </m:r>
                            </m:lim>
                          </m:limLow>
                        </m:fName>
                        <m:e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ja-JP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ja-JP" b="0" i="1" smtClean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Xw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ja-JP" b="0" i="0" smtClean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 − </m:t>
                                  </m:r>
                                  <m:r>
                                    <m:rPr>
                                      <m:nor/>
                                    </m:rPr>
                                    <a:rPr lang="en-US" altLang="ja-JP" b="0" i="1" smtClean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y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altLang="ja-JP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  <m:r>
                            <a:rPr lang="en-US" altLang="ja-JP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b="0" i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+ </m:t>
                          </m:r>
                          <m:r>
                            <m:rPr>
                              <m:nor/>
                            </m:rPr>
                            <a:rPr lang="en-US" altLang="ja-JP" i="1">
                              <a:latin typeface="Symbol" panose="05050102010706020507" pitchFamily="18" charset="2"/>
                              <a:cs typeface="Times New Roman" panose="02020603050405020304" pitchFamily="18" charset="0"/>
                            </a:rPr>
                            <m:t>l</m:t>
                          </m:r>
                          <m:sSup>
                            <m:sSupPr>
                              <m:ctrlPr>
                                <a:rPr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begChr m:val="‖"/>
                                  <m:endChr m:val="‖"/>
                                  <m:ctrlPr>
                                    <a:rPr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lang="en-US" altLang="ja-JP" b="0" i="1" smtClean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w</m:t>
                                  </m:r>
                                </m:e>
                              </m:d>
                            </m:e>
                            <m:sup>
                              <m:r>
                                <m:rPr>
                                  <m:nor/>
                                </m:rPr>
                                <a:rPr lang="en-US" altLang="ja-JP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2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コンテンツ プレースホルダー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825" t="-1529" r="-1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13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>
                <a:latin typeface="+mj-ea"/>
              </a:rPr>
              <a:t>正則化手法</a:t>
            </a:r>
            <a:endParaRPr kumimoji="1" lang="ja-JP" altLang="en-US" dirty="0">
              <a:latin typeface="+mj-ea"/>
            </a:endParaRPr>
          </a:p>
        </p:txBody>
      </p:sp>
      <p:sp>
        <p:nvSpPr>
          <p:cNvPr id="6" name="正方形/長方形 5"/>
          <p:cNvSpPr/>
          <p:nvPr/>
        </p:nvSpPr>
        <p:spPr>
          <a:xfrm>
            <a:off x="5291528" y="4062335"/>
            <a:ext cx="1259174" cy="764499"/>
          </a:xfrm>
          <a:prstGeom prst="rect">
            <a:avLst/>
          </a:prstGeom>
          <a:noFill/>
          <a:ln w="3810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10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提案手法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514350" indent="-514350">
                  <a:buFont typeface="+mj-lt"/>
                  <a:buAutoNum type="arabicPeriod"/>
                </a:pPr>
                <a:r>
                  <a:rPr lang="en-US" altLang="ja-JP" dirty="0" smtClean="0"/>
                  <a:t>Tikhonov regularization</a:t>
                </a:r>
              </a:p>
              <a:p>
                <a:r>
                  <a:rPr lang="ja-JP" altLang="en-US" dirty="0"/>
                  <a:t>　</a:t>
                </a:r>
                <a:r>
                  <a:rPr lang="en-US" altLang="ja-JP" dirty="0" smtClean="0"/>
                  <a:t>L2</a:t>
                </a:r>
                <a:r>
                  <a:rPr lang="ja-JP" altLang="en-US" dirty="0" smtClean="0"/>
                  <a:t>ノルムの</a:t>
                </a:r>
                <a:r>
                  <a:rPr lang="en-US" altLang="ja-JP" dirty="0" smtClean="0"/>
                  <a:t>2</a:t>
                </a:r>
                <a:r>
                  <a:rPr lang="ja-JP" altLang="en-US" dirty="0" smtClean="0"/>
                  <a:t>乗を正則化項として加える手法．</a:t>
                </a:r>
                <a:r>
                  <a:rPr lang="en-US" altLang="ja-JP" dirty="0" smtClean="0"/>
                  <a:t/>
                </a:r>
                <a:br>
                  <a:rPr lang="en-US" altLang="ja-JP" dirty="0" smtClean="0"/>
                </a:br>
                <a:r>
                  <a:rPr lang="ja-JP" altLang="en-US" dirty="0" smtClean="0"/>
                  <a:t>　重みのハイパーパラメータ</a:t>
                </a:r>
                <a:r>
                  <a:rPr lang="en-US" altLang="ja-JP" i="1" dirty="0" smtClean="0">
                    <a:latin typeface="Symbol" panose="05050102010706020507" pitchFamily="18" charset="2"/>
                  </a:rPr>
                  <a:t>l</a:t>
                </a:r>
                <a:r>
                  <a:rPr lang="ja-JP" altLang="en-US" dirty="0" smtClean="0"/>
                  <a:t>を持つ．</a:t>
                </a:r>
                <a:endParaRPr lang="en-US" altLang="ja-JP" dirty="0"/>
              </a:p>
              <a:p>
                <a:r>
                  <a:rPr lang="ja-JP" altLang="en-US" dirty="0" smtClean="0"/>
                  <a:t>例．ランク落ちへの対処</a:t>
                </a:r>
                <a:endParaRPr lang="en-US" altLang="ja-JP" dirty="0" smtClean="0"/>
              </a:p>
              <a:p>
                <a:endParaRPr lang="en-US" altLang="ja-JP" dirty="0" smtClean="0"/>
              </a:p>
              <a:p>
                <a:endParaRPr lang="en-US" altLang="ja-JP" i="1" dirty="0" smtClean="0">
                  <a:latin typeface="Cambria Math" panose="02040503050406030204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en-US" altLang="ja-JP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i="1" smtClean="0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  <m:brk m:alnAt="7"/>
                                  </m:rPr>
                                  <a:rPr lang="en-US" altLang="ja-JP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ja-JP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ja-JP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ja-JP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ja-JP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ja-JP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ja-JP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ja-JP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ja-JP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</m:mr>
                          </m:m>
                        </m:e>
                      </m:d>
                      <m:r>
                        <m:rPr>
                          <m:nor/>
                        </m:rPr>
                        <a:rPr lang="en-US" altLang="ja-JP" b="0" i="0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+ 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m:t>l</m:t>
                      </m:r>
                      <m:r>
                        <m:rPr>
                          <m:nor/>
                        </m:rPr>
                        <a:rPr lang="en-US" altLang="ja-JP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I</m:t>
                      </m:r>
                      <m:r>
                        <m:rPr>
                          <m:nor/>
                        </m:rPr>
                        <a:rPr lang="en-US" altLang="ja-JP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  <m:r>
                        <m:rPr>
                          <m:nor/>
                        </m:rPr>
                        <a:rPr lang="en-US" altLang="ja-JP" b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=</m:t>
                      </m:r>
                      <m:d>
                        <m:dPr>
                          <m:ctrlPr>
                            <a:rPr lang="en-US" altLang="ja-JP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m>
                            <m:mPr>
                              <m:mcs>
                                <m:mc>
                                  <m:mcPr>
                                    <m:count m:val="3"/>
                                    <m:mcJc m:val="center"/>
                                  </m:mcPr>
                                </m:mc>
                              </m:mcs>
                              <m:ctrlPr>
                                <a:rPr lang="en-US" altLang="ja-JP" i="1">
                                  <a:latin typeface="Cambria Math" panose="02040503050406030204" pitchFamily="18" charset="0"/>
                                </a:rPr>
                              </m:ctrlPr>
                            </m:mPr>
                            <m:mr>
                              <m:e>
                                <m:r>
                                  <m:rPr>
                                    <m:nor/>
                                    <m:brk m:alnAt="7"/>
                                  </m:rPr>
                                  <a:rPr lang="en-US" altLang="ja-JP" i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nor/>
                                  </m:rPr>
                                  <a:rPr lang="en-US" altLang="ja-JP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+ </m:t>
                                </m:r>
                                <m:r>
                                  <m:rPr>
                                    <m:nor/>
                                    <m:brk m:alnAt="7"/>
                                  </m:rPr>
                                  <a:rPr lang="en-US" altLang="ja-JP" b="0" i="1" smtClean="0">
                                    <a:latin typeface="Symbol" panose="05050102010706020507" pitchFamily="18" charset="2"/>
                                    <a:cs typeface="Times New Roman" panose="02020603050405020304" pitchFamily="18" charset="0"/>
                                  </a:rPr>
                                  <m:t>l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ja-JP" i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ja-JP" i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1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ja-JP" i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ja-JP" i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  <m:r>
                                  <m:rPr>
                                    <m:nor/>
                                  </m:rPr>
                                  <a:rPr lang="en-US" altLang="ja-JP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+ </m:t>
                                </m:r>
                                <m:r>
                                  <m:rPr>
                                    <m:nor/>
                                  </m:rPr>
                                  <a:rPr lang="en-US" altLang="ja-JP" b="0" i="1" smtClean="0">
                                    <a:latin typeface="Symbol" panose="05050102010706020507" pitchFamily="18" charset="2"/>
                                    <a:cs typeface="Times New Roman" panose="02020603050405020304" pitchFamily="18" charset="0"/>
                                  </a:rPr>
                                  <m:t>l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ja-JP" i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2</m:t>
                                </m:r>
                              </m:e>
                            </m:mr>
                            <m:mr>
                              <m:e>
                                <m:r>
                                  <m:rPr>
                                    <m:nor/>
                                  </m:rPr>
                                  <a:rPr lang="en-US" altLang="ja-JP" i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ja-JP" i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</m:e>
                              <m:e>
                                <m:r>
                                  <m:rPr>
                                    <m:nor/>
                                  </m:rPr>
                                  <a:rPr lang="en-US" altLang="ja-JP" i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3</m:t>
                                </m:r>
                                <m:r>
                                  <m:rPr>
                                    <m:nor/>
                                  </m:rPr>
                                  <a:rPr lang="en-US" altLang="ja-JP" b="0" i="0" smtClean="0">
                                    <a:latin typeface="Times New Roman" panose="02020603050405020304" pitchFamily="18" charset="0"/>
                                    <a:cs typeface="Times New Roman" panose="02020603050405020304" pitchFamily="18" charset="0"/>
                                  </a:rPr>
                                  <m:t> + </m:t>
                                </m:r>
                                <m:r>
                                  <m:rPr>
                                    <m:nor/>
                                  </m:rPr>
                                  <a:rPr lang="en-US" altLang="ja-JP" b="0" i="1" smtClean="0">
                                    <a:latin typeface="Symbol" panose="05050102010706020507" pitchFamily="18" charset="2"/>
                                    <a:cs typeface="Times New Roman" panose="02020603050405020304" pitchFamily="18" charset="0"/>
                                  </a:rPr>
                                  <m:t>l</m:t>
                                </m:r>
                              </m:e>
                            </m:mr>
                          </m:m>
                        </m:e>
                      </m:d>
                    </m:oMath>
                  </m:oMathPara>
                </a14:m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altLang="ja-JP" dirty="0"/>
              </a:p>
              <a:p>
                <a:endParaRPr lang="en-US" altLang="ja-JP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3" name="コンテンツ プレースホルダー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3"/>
                <a:stretch>
                  <a:fillRect l="-1825" t="-1529" r="-1754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14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>
                <a:latin typeface="+mj-ea"/>
              </a:rPr>
              <a:t>正則化手法</a:t>
            </a:r>
            <a:endParaRPr kumimoji="1" lang="ja-JP" altLang="en-US" dirty="0">
              <a:latin typeface="+mj-ea"/>
            </a:endParaRPr>
          </a:p>
        </p:txBody>
      </p:sp>
      <p:sp>
        <p:nvSpPr>
          <p:cNvPr id="7" name="テキスト ボックス 6"/>
          <p:cNvSpPr txBox="1"/>
          <p:nvPr/>
        </p:nvSpPr>
        <p:spPr>
          <a:xfrm>
            <a:off x="1379095" y="4090535"/>
            <a:ext cx="1379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rank 1</a:t>
            </a:r>
            <a:endParaRPr kumimoji="1" lang="ja-JP" altLang="en-US" sz="2800" dirty="0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5510134" y="4090535"/>
            <a:ext cx="137909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rank 3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837670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実験</a:t>
            </a:r>
            <a:r>
              <a:rPr lang="ja-JP" altLang="en-US" dirty="0"/>
              <a:t>設定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共通設定</a:t>
            </a:r>
            <a:endParaRPr kumimoji="1" lang="en-US" altLang="ja-JP" dirty="0" smtClean="0"/>
          </a:p>
          <a:p>
            <a:pPr marL="636588" indent="-457200">
              <a:buFont typeface="Arial" panose="020B0604020202020204" pitchFamily="34" charset="0"/>
              <a:buChar char="•"/>
            </a:pPr>
            <a:r>
              <a:rPr lang="ja-JP" altLang="en-US" sz="2800" dirty="0"/>
              <a:t>ベース</a:t>
            </a:r>
            <a:r>
              <a:rPr lang="ja-JP" altLang="en-US" sz="2800" dirty="0" smtClean="0"/>
              <a:t>のモデルに</a:t>
            </a:r>
            <a:r>
              <a:rPr lang="en-US" altLang="ja-JP" sz="2800" dirty="0" err="1" smtClean="0"/>
              <a:t>RaF</a:t>
            </a:r>
            <a:r>
              <a:rPr lang="ja-JP" altLang="en-US" sz="2800" dirty="0" smtClean="0"/>
              <a:t>と</a:t>
            </a:r>
            <a:r>
              <a:rPr lang="en-US" altLang="ja-JP" sz="2800" dirty="0" err="1" smtClean="0"/>
              <a:t>RoF</a:t>
            </a:r>
            <a:r>
              <a:rPr lang="ja-JP" altLang="en-US" sz="2800" dirty="0" smtClean="0"/>
              <a:t>を使用</a:t>
            </a:r>
            <a:endParaRPr lang="en-US" altLang="ja-JP" sz="2800" dirty="0" smtClean="0"/>
          </a:p>
          <a:p>
            <a:pPr marL="636588" indent="-457200">
              <a:buFont typeface="Arial" panose="020B0604020202020204" pitchFamily="34" charset="0"/>
              <a:buChar char="•"/>
            </a:pPr>
            <a:r>
              <a:rPr lang="en-US" altLang="ja-JP" sz="2800" dirty="0"/>
              <a:t>44</a:t>
            </a:r>
            <a:r>
              <a:rPr lang="ja-JP" altLang="en-US" sz="2800" dirty="0"/>
              <a:t>種類</a:t>
            </a:r>
            <a:r>
              <a:rPr lang="ja-JP" altLang="en-US" sz="2800" dirty="0" smtClean="0"/>
              <a:t>の実世界データを使用</a:t>
            </a:r>
            <a:endParaRPr lang="en-US" altLang="ja-JP" sz="2800" dirty="0" smtClean="0"/>
          </a:p>
          <a:p>
            <a:pPr marL="1144588" indent="-514350">
              <a:buFont typeface="Arial" panose="020B0604020202020204" pitchFamily="34" charset="0"/>
              <a:buChar char="‒"/>
            </a:pPr>
            <a:r>
              <a:rPr lang="en-US" altLang="ja-JP" sz="2800" dirty="0" smtClean="0"/>
              <a:t>2</a:t>
            </a:r>
            <a:r>
              <a:rPr lang="ja-JP" altLang="en-US" sz="2800" dirty="0" smtClean="0"/>
              <a:t>種類の顔認識のデータと，</a:t>
            </a:r>
            <a:r>
              <a:rPr lang="en-US" altLang="ja-JP" sz="2800" dirty="0" smtClean="0"/>
              <a:t>2</a:t>
            </a:r>
            <a:r>
              <a:rPr lang="ja-JP" altLang="en-US" sz="2800" dirty="0" smtClean="0"/>
              <a:t>種類のバイオ</a:t>
            </a:r>
            <a:r>
              <a:rPr lang="en-US" altLang="ja-JP" sz="2800" dirty="0"/>
              <a:t/>
            </a:r>
            <a:br>
              <a:rPr lang="en-US" altLang="ja-JP" sz="2800" dirty="0"/>
            </a:br>
            <a:r>
              <a:rPr lang="ja-JP" altLang="en-US" sz="2800" dirty="0" smtClean="0"/>
              <a:t>インフォマティクスのデータを含む</a:t>
            </a:r>
            <a:endParaRPr lang="en-US" altLang="ja-JP" sz="2800" dirty="0"/>
          </a:p>
          <a:p>
            <a:pPr marL="636588" indent="-457200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決定木には</a:t>
            </a:r>
            <a:r>
              <a:rPr lang="en-US" altLang="ja-JP" sz="2800" dirty="0" smtClean="0"/>
              <a:t>CART</a:t>
            </a:r>
            <a:r>
              <a:rPr lang="ja-JP" altLang="en-US" sz="2800" dirty="0" smtClean="0"/>
              <a:t>を使用</a:t>
            </a:r>
            <a:endParaRPr lang="en-US" altLang="ja-JP" sz="2800" dirty="0" smtClean="0"/>
          </a:p>
          <a:p>
            <a:pPr marL="636588" indent="-457200">
              <a:buFont typeface="Arial" panose="020B0604020202020204" pitchFamily="34" charset="0"/>
              <a:buChar char="•"/>
            </a:pPr>
            <a:r>
              <a:rPr lang="ja-JP" altLang="en-US" sz="2800" dirty="0" smtClean="0"/>
              <a:t>決定</a:t>
            </a:r>
            <a:r>
              <a:rPr lang="ja-JP" altLang="en-US" sz="2800" dirty="0" smtClean="0"/>
              <a:t>木は最大まで分岐</a:t>
            </a:r>
            <a:endParaRPr lang="en-US" altLang="ja-JP" sz="2800" dirty="0" smtClean="0"/>
          </a:p>
          <a:p>
            <a:pPr marL="636588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3</a:t>
            </a:r>
            <a:r>
              <a:rPr lang="ja-JP" altLang="en-US" sz="2800" dirty="0" smtClean="0"/>
              <a:t>種類の正則化手法をそれぞれ適用</a:t>
            </a:r>
            <a:endParaRPr lang="en-US" altLang="ja-JP" sz="2800" dirty="0" smtClean="0"/>
          </a:p>
          <a:p>
            <a:pPr marL="636588" indent="-457200">
              <a:buFont typeface="Arial" panose="020B0604020202020204" pitchFamily="34" charset="0"/>
              <a:buChar char="•"/>
            </a:pPr>
            <a:r>
              <a:rPr lang="en-US" altLang="ja-JP" sz="2800" dirty="0" smtClean="0"/>
              <a:t>3fold cross validation</a:t>
            </a:r>
            <a:r>
              <a:rPr lang="ja-JP" altLang="en-US" sz="2800" dirty="0" smtClean="0"/>
              <a:t>を</a:t>
            </a:r>
            <a:r>
              <a:rPr lang="en-US" altLang="ja-JP" sz="2800" dirty="0" smtClean="0"/>
              <a:t>10</a:t>
            </a:r>
            <a:r>
              <a:rPr lang="ja-JP" altLang="en-US" sz="2800" dirty="0" smtClean="0"/>
              <a:t>回実行</a:t>
            </a:r>
            <a:endParaRPr lang="en-US" altLang="ja-JP" sz="2800" dirty="0" smtClean="0"/>
          </a:p>
          <a:p>
            <a:pPr marL="179388"/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829157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実験設定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コンテンツ プレースホルダー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marL="179388"/>
                <a:r>
                  <a:rPr lang="ja-JP" altLang="en-US" dirty="0" smtClean="0"/>
                  <a:t>パラメータ設定</a:t>
                </a:r>
                <a:endParaRPr lang="en-US" altLang="ja-JP" dirty="0" smtClean="0"/>
              </a:p>
              <a:p>
                <a:pPr marL="996950" indent="-457200" algn="l">
                  <a:buFont typeface="Arial" panose="020B0604020202020204" pitchFamily="34" charset="0"/>
                  <a:buChar char="•"/>
                </a:pPr>
                <a:r>
                  <a:rPr lang="ja-JP" altLang="en-US" sz="2800" dirty="0"/>
                  <a:t>決定木の</a:t>
                </a:r>
                <a:r>
                  <a:rPr lang="ja-JP" altLang="en-US" sz="2800" dirty="0" smtClean="0"/>
                  <a:t>本数 ： </a:t>
                </a:r>
                <a:r>
                  <a:rPr lang="en-US" altLang="ja-JP" sz="2800" dirty="0" smtClean="0"/>
                  <a:t>50</a:t>
                </a:r>
              </a:p>
              <a:p>
                <a:pPr marL="996950" indent="-457200" algn="l">
                  <a:buFont typeface="Arial" panose="020B0604020202020204" pitchFamily="34" charset="0"/>
                  <a:buChar char="•"/>
                </a:pPr>
                <a:r>
                  <a:rPr lang="en-US" altLang="ja-JP" sz="2800" dirty="0" smtClean="0"/>
                  <a:t>Tikhonov </a:t>
                </a:r>
                <a:r>
                  <a:rPr lang="en-US" altLang="ja-JP" sz="2800" dirty="0"/>
                  <a:t>regularization</a:t>
                </a:r>
                <a:r>
                  <a:rPr lang="ja-JP" altLang="en-US" sz="2800" dirty="0"/>
                  <a:t>の</a:t>
                </a:r>
                <a:r>
                  <a:rPr lang="ja-JP" altLang="en-US" sz="2800" dirty="0" smtClean="0"/>
                  <a:t>重み</a:t>
                </a:r>
                <a:r>
                  <a:rPr lang="en-US" altLang="ja-JP" sz="2800" i="1" dirty="0" smtClean="0">
                    <a:latin typeface="Symbol" panose="05050102010706020507" pitchFamily="18" charset="2"/>
                  </a:rPr>
                  <a:t> </a:t>
                </a:r>
                <a:r>
                  <a:rPr lang="ja-JP" altLang="en-US" sz="2800" dirty="0" smtClean="0"/>
                  <a:t>： </a:t>
                </a:r>
                <a:r>
                  <a:rPr lang="en-US" altLang="ja-JP" sz="2800" dirty="0" smtClean="0"/>
                  <a:t>0.01</a:t>
                </a:r>
              </a:p>
              <a:p>
                <a:pPr marL="539750" algn="l"/>
                <a:endParaRPr lang="en-US" altLang="ja-JP" sz="2800" dirty="0" smtClean="0"/>
              </a:p>
              <a:p>
                <a:pPr marL="179388" algn="l"/>
                <a:r>
                  <a:rPr lang="en-US" altLang="ja-JP" dirty="0" err="1" smtClean="0"/>
                  <a:t>RaF</a:t>
                </a:r>
                <a:r>
                  <a:rPr lang="ja-JP" altLang="en-US" dirty="0" smtClean="0"/>
                  <a:t>の設定</a:t>
                </a:r>
                <a:endParaRPr lang="en-US" altLang="ja-JP" dirty="0" smtClean="0"/>
              </a:p>
              <a:p>
                <a:pPr marL="996950" indent="-457200" algn="l">
                  <a:buFont typeface="Arial" panose="020B0604020202020204" pitchFamily="34" charset="0"/>
                  <a:buChar char="•"/>
                  <a:tabLst>
                    <a:tab pos="719138" algn="l"/>
                  </a:tabLst>
                </a:pPr>
                <a:r>
                  <a:rPr lang="ja-JP" altLang="en-US" sz="2800" dirty="0" smtClean="0"/>
                  <a:t>分岐時に選択</a:t>
                </a:r>
                <a:r>
                  <a:rPr lang="ja-JP" altLang="en-US" sz="2800" dirty="0" smtClean="0"/>
                  <a:t>する属性数 </a:t>
                </a:r>
                <a:r>
                  <a:rPr lang="en-US" altLang="ja-JP" sz="2800" dirty="0" smtClean="0"/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US" altLang="ja-JP" sz="2800" i="1" smtClean="0"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m:rPr>
                            <m:nor/>
                          </m:rPr>
                          <a:rPr lang="en-US" altLang="ja-JP" sz="2800" b="0" i="1" smtClean="0">
                            <a:latin typeface="Times New Roman" panose="02020603050405020304" pitchFamily="18" charset="0"/>
                            <a:cs typeface="Times New Roman" panose="02020603050405020304" pitchFamily="18" charset="0"/>
                          </a:rPr>
                          <m:t>n</m:t>
                        </m:r>
                      </m:e>
                    </m:rad>
                  </m:oMath>
                </a14:m>
                <a:endParaRPr lang="en-US" altLang="ja-JP" sz="2800" i="1" dirty="0" smtClean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539750" algn="l">
                  <a:tabLst>
                    <a:tab pos="719138" algn="l"/>
                  </a:tabLst>
                </a:pPr>
                <a:endParaRPr lang="en-US" altLang="ja-JP" sz="2800" dirty="0" smtClean="0"/>
              </a:p>
              <a:p>
                <a:pPr marL="179388" algn="l"/>
                <a:r>
                  <a:rPr lang="en-US" altLang="ja-JP" dirty="0" err="1" smtClean="0"/>
                  <a:t>RoF</a:t>
                </a:r>
                <a:r>
                  <a:rPr lang="ja-JP" altLang="en-US" dirty="0" smtClean="0"/>
                  <a:t>の設定</a:t>
                </a:r>
                <a:endParaRPr lang="en-US" altLang="ja-JP" dirty="0" smtClean="0"/>
              </a:p>
              <a:p>
                <a:pPr marL="996950" indent="-457200" algn="l">
                  <a:buFont typeface="Arial" panose="020B0604020202020204" pitchFamily="34" charset="0"/>
                  <a:buChar char="•"/>
                </a:pPr>
                <a:r>
                  <a:rPr lang="ja-JP" altLang="en-US" sz="2800" dirty="0" smtClean="0"/>
                  <a:t>主成分分析の際に選択</a:t>
                </a:r>
                <a:r>
                  <a:rPr lang="ja-JP" altLang="en-US" sz="2800" dirty="0" smtClean="0"/>
                  <a:t>する属性数 </a:t>
                </a:r>
                <a:r>
                  <a:rPr lang="en-US" altLang="ja-JP" sz="2800" dirty="0" smtClean="0"/>
                  <a:t>: 3</a:t>
                </a:r>
              </a:p>
              <a:p>
                <a:pPr marL="179388" algn="l"/>
                <a:endParaRPr lang="en-US" altLang="ja-JP" dirty="0"/>
              </a:p>
              <a:p>
                <a:endParaRPr kumimoji="1" lang="ja-JP" altLang="en-US" dirty="0"/>
              </a:p>
            </p:txBody>
          </p:sp>
        </mc:Choice>
        <mc:Fallback>
          <p:sp>
            <p:nvSpPr>
              <p:cNvPr id="3" name="コンテンツ プレースホルダー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t="-18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16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42704076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17</a:t>
            </a:fld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元のモデルとの比較</a:t>
            </a:r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70653647"/>
              </p:ext>
            </p:extLst>
          </p:nvPr>
        </p:nvGraphicFramePr>
        <p:xfrm>
          <a:off x="147637" y="1809591"/>
          <a:ext cx="884872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2280"/>
                <a:gridCol w="1030605"/>
                <a:gridCol w="1587818"/>
                <a:gridCol w="1605280"/>
                <a:gridCol w="162274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err="1" smtClean="0">
                          <a:solidFill>
                            <a:schemeClr val="tx1"/>
                          </a:solidFill>
                        </a:rPr>
                        <a:t>RaF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err="1" smtClean="0">
                          <a:solidFill>
                            <a:schemeClr val="tx1"/>
                          </a:solidFill>
                        </a:rPr>
                        <a:t>MPRaF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-T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err="1" smtClean="0">
                          <a:solidFill>
                            <a:schemeClr val="tx1"/>
                          </a:solidFill>
                        </a:rPr>
                        <a:t>MPRaF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-P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err="1" smtClean="0">
                          <a:solidFill>
                            <a:schemeClr val="tx1"/>
                          </a:solidFill>
                        </a:rPr>
                        <a:t>MPRaF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-N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Mean </a:t>
                      </a:r>
                    </a:p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84.80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86.24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85.72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83.63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Win-tie-lose</a:t>
                      </a:r>
                    </a:p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(vs.</a:t>
                      </a:r>
                      <a:r>
                        <a:rPr kumimoji="1" lang="ja-JP" altLang="en-US" sz="26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en-US" altLang="ja-JP" sz="2600" dirty="0" err="1" smtClean="0">
                          <a:solidFill>
                            <a:schemeClr val="tx1"/>
                          </a:solidFill>
                        </a:rPr>
                        <a:t>RaF</a:t>
                      </a:r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―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32-0-12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33-0-11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22-0-22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</a:tr>
            </a:tbl>
          </a:graphicData>
        </a:graphic>
      </p:graphicFrame>
      <p:graphicFrame>
        <p:nvGraphicFramePr>
          <p:cNvPr id="6" name="表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4739697"/>
              </p:ext>
            </p:extLst>
          </p:nvPr>
        </p:nvGraphicFramePr>
        <p:xfrm>
          <a:off x="147637" y="4462068"/>
          <a:ext cx="8848726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02280"/>
                <a:gridCol w="1030605"/>
                <a:gridCol w="1587818"/>
                <a:gridCol w="1605280"/>
                <a:gridCol w="1622743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err="1" smtClean="0">
                          <a:solidFill>
                            <a:schemeClr val="tx1"/>
                          </a:solidFill>
                        </a:rPr>
                        <a:t>RoF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err="1" smtClean="0">
                          <a:solidFill>
                            <a:schemeClr val="tx1"/>
                          </a:solidFill>
                        </a:rPr>
                        <a:t>MPRoF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-T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err="1" smtClean="0">
                          <a:solidFill>
                            <a:schemeClr val="tx1"/>
                          </a:solidFill>
                        </a:rPr>
                        <a:t>MPRoF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-P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err="1" smtClean="0">
                          <a:solidFill>
                            <a:schemeClr val="tx1"/>
                          </a:solidFill>
                        </a:rPr>
                        <a:t>MPRoF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-N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Mean </a:t>
                      </a:r>
                    </a:p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85.58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81.28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85.25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79.95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Win-tie-lose</a:t>
                      </a:r>
                    </a:p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(vs.</a:t>
                      </a:r>
                      <a:r>
                        <a:rPr kumimoji="1" lang="ja-JP" altLang="en-US" sz="26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en-US" altLang="ja-JP" sz="2600" dirty="0" err="1" smtClean="0">
                          <a:solidFill>
                            <a:schemeClr val="tx1"/>
                          </a:solidFill>
                        </a:rPr>
                        <a:t>RoF</a:t>
                      </a:r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―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4-0-40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21-0-23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9-0-35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7" name="テキスト ボックス 6"/>
          <p:cNvSpPr txBox="1"/>
          <p:nvPr/>
        </p:nvSpPr>
        <p:spPr>
          <a:xfrm>
            <a:off x="194013" y="1461316"/>
            <a:ext cx="1030514" cy="52322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err="1" smtClean="0"/>
              <a:t>RaF</a:t>
            </a:r>
            <a:endParaRPr kumimoji="1" lang="ja-JP" altLang="en-US" sz="2800" dirty="0" smtClean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194013" y="4200458"/>
            <a:ext cx="1030514" cy="52322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err="1" smtClean="0"/>
              <a:t>RoF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6974824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9" name="コンテンツ プレースホルダー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en-US" altLang="ja-JP" dirty="0" err="1" smtClean="0"/>
              <a:t>RoF</a:t>
            </a:r>
            <a:r>
              <a:rPr kumimoji="1" lang="ja-JP" altLang="en-US" dirty="0" smtClean="0"/>
              <a:t>では，</a:t>
            </a:r>
            <a:r>
              <a:rPr lang="ja-JP" altLang="en-US" dirty="0" smtClean="0"/>
              <a:t>いずれの</a:t>
            </a:r>
            <a:r>
              <a:rPr kumimoji="1" lang="ja-JP" altLang="en-US" dirty="0" smtClean="0"/>
              <a:t>正則化手法でも精度の向上は見られなかった．</a:t>
            </a:r>
            <a:endParaRPr kumimoji="1" lang="en-US" altLang="ja-JP" dirty="0" smtClean="0"/>
          </a:p>
          <a:p>
            <a:r>
              <a:rPr lang="en-US" altLang="ja-JP" dirty="0" err="1" smtClean="0"/>
              <a:t>RoF</a:t>
            </a:r>
            <a:r>
              <a:rPr lang="ja-JP" altLang="en-US" dirty="0" smtClean="0"/>
              <a:t>では，分岐の際に属性選択をしていないため，正則化が必要なノードが多くなる．</a:t>
            </a:r>
            <a:endParaRPr lang="en-US" altLang="ja-JP" dirty="0" smtClean="0"/>
          </a:p>
          <a:p>
            <a:r>
              <a:rPr lang="en-US" altLang="ja-JP" dirty="0"/>
              <a:t/>
            </a:r>
            <a:br>
              <a:rPr lang="en-US" altLang="ja-JP" dirty="0"/>
            </a:b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en-US" altLang="ja-JP" dirty="0" err="1" smtClean="0"/>
              <a:t>RoF</a:t>
            </a:r>
            <a:r>
              <a:rPr lang="ja-JP" altLang="en-US" dirty="0" smtClean="0"/>
              <a:t>で分岐の際に属性選択を行う</a:t>
            </a:r>
            <a:r>
              <a:rPr lang="en-US" altLang="ja-JP" dirty="0" smtClean="0"/>
              <a:t>Random </a:t>
            </a:r>
            <a:r>
              <a:rPr lang="en-US" altLang="ja-JP" dirty="0" err="1" smtClean="0"/>
              <a:t>RoF</a:t>
            </a:r>
            <a:r>
              <a:rPr lang="en-US" altLang="ja-JP" dirty="0" smtClean="0"/>
              <a:t> (</a:t>
            </a:r>
            <a:r>
              <a:rPr lang="en-US" altLang="ja-JP" dirty="0" err="1" smtClean="0"/>
              <a:t>RRoF</a:t>
            </a:r>
            <a:r>
              <a:rPr lang="en-US" altLang="ja-JP" dirty="0" smtClean="0"/>
              <a:t>) </a:t>
            </a:r>
            <a:r>
              <a:rPr lang="ja-JP" altLang="en-US" dirty="0" smtClean="0"/>
              <a:t>を提案する．</a:t>
            </a:r>
            <a:endParaRPr kumimoji="1" lang="en-US" altLang="ja-JP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18</a:t>
            </a:fld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元のモデルとの比較</a:t>
            </a:r>
            <a:endParaRPr kumimoji="1" lang="ja-JP" altLang="en-US" dirty="0"/>
          </a:p>
        </p:txBody>
      </p:sp>
      <p:sp>
        <p:nvSpPr>
          <p:cNvPr id="10" name="下矢印 9"/>
          <p:cNvSpPr/>
          <p:nvPr/>
        </p:nvSpPr>
        <p:spPr>
          <a:xfrm>
            <a:off x="4234375" y="3647494"/>
            <a:ext cx="675250" cy="629812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607290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19</a:t>
            </a:fld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元のモデルとの比較</a:t>
            </a:r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54906387"/>
              </p:ext>
            </p:extLst>
          </p:nvPr>
        </p:nvGraphicFramePr>
        <p:xfrm>
          <a:off x="414338" y="2301985"/>
          <a:ext cx="8315325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8030"/>
                <a:gridCol w="1030605"/>
                <a:gridCol w="1738630"/>
                <a:gridCol w="1756093"/>
                <a:gridCol w="1771967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kumimoji="1" lang="ja-JP" altLang="en-US" sz="24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err="1" smtClean="0">
                          <a:solidFill>
                            <a:schemeClr val="tx1"/>
                          </a:solidFill>
                        </a:rPr>
                        <a:t>RRoF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300" b="0" dirty="0" err="1" smtClean="0">
                          <a:solidFill>
                            <a:schemeClr val="tx1"/>
                          </a:solidFill>
                        </a:rPr>
                        <a:t>MPRRoF</a:t>
                      </a:r>
                      <a:r>
                        <a:rPr kumimoji="1" lang="en-US" altLang="ja-JP" sz="2300" b="0" dirty="0" smtClean="0">
                          <a:solidFill>
                            <a:schemeClr val="tx1"/>
                          </a:solidFill>
                        </a:rPr>
                        <a:t>-T</a:t>
                      </a:r>
                      <a:endParaRPr kumimoji="1" lang="ja-JP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300" b="0" dirty="0" err="1" smtClean="0">
                          <a:solidFill>
                            <a:schemeClr val="tx1"/>
                          </a:solidFill>
                        </a:rPr>
                        <a:t>MPRRoF</a:t>
                      </a:r>
                      <a:r>
                        <a:rPr kumimoji="1" lang="en-US" altLang="ja-JP" sz="2300" b="0" dirty="0" smtClean="0">
                          <a:solidFill>
                            <a:schemeClr val="tx1"/>
                          </a:solidFill>
                        </a:rPr>
                        <a:t>-P</a:t>
                      </a:r>
                      <a:endParaRPr kumimoji="1" lang="ja-JP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300" b="0" dirty="0" err="1" smtClean="0">
                          <a:solidFill>
                            <a:schemeClr val="tx1"/>
                          </a:solidFill>
                        </a:rPr>
                        <a:t>MPRRoF</a:t>
                      </a:r>
                      <a:r>
                        <a:rPr kumimoji="1" lang="en-US" altLang="ja-JP" sz="2300" b="0" dirty="0" smtClean="0">
                          <a:solidFill>
                            <a:schemeClr val="tx1"/>
                          </a:solidFill>
                        </a:rPr>
                        <a:t>-N</a:t>
                      </a:r>
                      <a:endParaRPr kumimoji="1" lang="ja-JP" altLang="en-US" sz="23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Mean </a:t>
                      </a:r>
                    </a:p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Accuracy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smtClean="0">
                          <a:solidFill>
                            <a:schemeClr val="tx1"/>
                          </a:solidFill>
                        </a:rPr>
                        <a:t>85.84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86.42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86.27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84.72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Win-tie-lose</a:t>
                      </a:r>
                    </a:p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(vs.</a:t>
                      </a:r>
                      <a:r>
                        <a:rPr kumimoji="1" lang="ja-JP" altLang="en-US" sz="260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en-US" altLang="ja-JP" sz="2600" baseline="0" dirty="0" err="1" smtClean="0">
                          <a:solidFill>
                            <a:schemeClr val="tx1"/>
                          </a:solidFill>
                        </a:rPr>
                        <a:t>RRo</a:t>
                      </a:r>
                      <a:r>
                        <a:rPr kumimoji="1" lang="en-US" altLang="ja-JP" sz="2600" dirty="0" err="1" smtClean="0">
                          <a:solidFill>
                            <a:schemeClr val="tx1"/>
                          </a:solidFill>
                        </a:rPr>
                        <a:t>F</a:t>
                      </a:r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―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25-2-17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dirty="0" smtClean="0">
                          <a:solidFill>
                            <a:schemeClr val="tx1"/>
                          </a:solidFill>
                        </a:rPr>
                        <a:t>33-0-11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smtClean="0">
                          <a:solidFill>
                            <a:schemeClr val="tx1"/>
                          </a:solidFill>
                        </a:rPr>
                        <a:t>24-0-20</a:t>
                      </a:r>
                      <a:endParaRPr kumimoji="1" lang="ja-JP" altLang="en-US" sz="26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noFill/>
                  </a:tcPr>
                </a:tc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194013" y="1461316"/>
            <a:ext cx="1170328" cy="523220"/>
          </a:xfrm>
          <a:prstGeom prst="rect">
            <a:avLst/>
          </a:prstGeom>
          <a:noFill/>
          <a:ln w="38100">
            <a:solidFill>
              <a:schemeClr val="accent2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err="1" smtClean="0"/>
              <a:t>RRoF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426419302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考察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" name="コンテンツ プレースホルダー 5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 smtClean="0"/>
                  <a:t>各モデル間のランクに有意差があるか，</a:t>
                </a:r>
                <a:r>
                  <a:rPr kumimoji="1" lang="en-US" altLang="ja-JP" dirty="0" smtClean="0"/>
                  <a:t>Friedman test </a:t>
                </a:r>
                <a:r>
                  <a:rPr kumimoji="1" lang="ja-JP" altLang="en-US" dirty="0" smtClean="0"/>
                  <a:t>で調査．</a:t>
                </a:r>
                <a:endParaRPr kumimoji="1" lang="en-US" altLang="ja-JP" dirty="0" smtClean="0"/>
              </a:p>
              <a:p>
                <a:r>
                  <a:rPr lang="ja-JP" altLang="en-US" dirty="0" smtClean="0"/>
                  <a:t>有意</a:t>
                </a:r>
                <a:r>
                  <a:rPr lang="ja-JP" altLang="en-US" dirty="0"/>
                  <a:t>差</a:t>
                </a:r>
                <a:r>
                  <a:rPr lang="ja-JP" altLang="en-US" dirty="0" smtClean="0"/>
                  <a:t>があった場合，</a:t>
                </a:r>
                <a:r>
                  <a:rPr lang="en-US" altLang="ja-JP" dirty="0" err="1" smtClean="0"/>
                  <a:t>Nemenyi</a:t>
                </a:r>
                <a:r>
                  <a:rPr lang="ja-JP" altLang="en-US" dirty="0"/>
                  <a:t> </a:t>
                </a:r>
                <a:r>
                  <a:rPr lang="en-US" altLang="ja-JP" dirty="0" smtClean="0"/>
                  <a:t>test</a:t>
                </a:r>
                <a:r>
                  <a:rPr lang="ja-JP" altLang="en-US" dirty="0" smtClean="0"/>
                  <a:t>で各モデル間に有意差があるか調査．</a:t>
                </a:r>
                <a:endParaRPr lang="en-US" altLang="ja-JP" dirty="0" smtClean="0"/>
              </a:p>
              <a:p>
                <a:endParaRPr kumimoji="1" lang="en-US" altLang="ja-JP" dirty="0"/>
              </a:p>
              <a:p>
                <a:r>
                  <a:rPr lang="en-US" altLang="ja-JP" dirty="0" err="1" smtClean="0"/>
                  <a:t>Nemenyi</a:t>
                </a:r>
                <a:r>
                  <a:rPr lang="en-US" altLang="ja-JP" dirty="0" smtClean="0"/>
                  <a:t> test</a:t>
                </a:r>
              </a:p>
              <a:p>
                <a:r>
                  <a:rPr lang="ja-JP" altLang="en-US" dirty="0" smtClean="0"/>
                  <a:t>有意差があると見なせる差</a:t>
                </a:r>
                <a:r>
                  <a:rPr lang="en-US" altLang="ja-JP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CD</a:t>
                </a:r>
                <a:r>
                  <a:rPr lang="ja-JP" altLang="en-US" dirty="0" smtClean="0"/>
                  <a:t>を計算</a:t>
                </a:r>
                <a:endParaRPr lang="en-US" altLang="ja-JP" dirty="0" smtClean="0"/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kumimoji="1" lang="en-US" altLang="ja-JP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CD</m:t>
                      </m:r>
                      <m:r>
                        <m:rPr>
                          <m:nor/>
                        </m:rPr>
                        <a:rPr kumimoji="1" lang="en-US" altLang="ja-JP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= </m:t>
                      </m:r>
                      <m:r>
                        <m:rPr>
                          <m:nor/>
                        </m:rPr>
                        <a:rPr kumimoji="1" lang="en-US" altLang="ja-JP" b="0" i="1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kumimoji="1" lang="en-US" altLang="ja-JP" b="0" i="1" baseline="-25000" smtClean="0"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m:t>a</m:t>
                      </m:r>
                      <m:rad>
                        <m:radPr>
                          <m:degHide m:val="on"/>
                          <m:ctrlPr>
                            <a:rPr kumimoji="1" lang="en-US" altLang="ja-JP" b="0" i="1" smtClean="0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kumimoji="1" lang="en-US" altLang="ja-JP" b="0" i="1" smtClean="0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m:rPr>
                                  <m:nor/>
                                </m:rPr>
                                <a:rPr kumimoji="1" lang="en-US" altLang="ja-JP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k</m:t>
                              </m:r>
                              <m:d>
                                <m:dPr>
                                  <m:ctrlPr>
                                    <a:rPr kumimoji="1" lang="en-US" altLang="ja-JP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m:rPr>
                                      <m:nor/>
                                    </m:rPr>
                                    <a:rPr kumimoji="1" lang="en-US" altLang="ja-JP" b="0" i="1" smtClean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k</m:t>
                                  </m:r>
                                  <m:r>
                                    <m:rPr>
                                      <m:nor/>
                                    </m:rPr>
                                    <a:rPr kumimoji="1" lang="en-US" altLang="ja-JP" b="0" i="0" smtClean="0">
                                      <a:latin typeface="Times New Roman" panose="02020603050405020304" pitchFamily="18" charset="0"/>
                                      <a:cs typeface="Times New Roman" panose="02020603050405020304" pitchFamily="18" charset="0"/>
                                    </a:rPr>
                                    <m:t> + 1</m:t>
                                  </m:r>
                                </m:e>
                              </m:d>
                            </m:num>
                            <m:den>
                              <m:r>
                                <m:rPr>
                                  <m:nor/>
                                </m:rPr>
                                <a:rPr kumimoji="1" lang="en-US" altLang="ja-JP" b="0" i="0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6</m:t>
                              </m:r>
                              <m:r>
                                <m:rPr>
                                  <m:nor/>
                                </m:rPr>
                                <a:rPr kumimoji="1" lang="en-US" altLang="ja-JP" b="0" i="1" smtClean="0">
                                  <a:latin typeface="Times New Roman" panose="02020603050405020304" pitchFamily="18" charset="0"/>
                                  <a:cs typeface="Times New Roman" panose="02020603050405020304" pitchFamily="18" charset="0"/>
                                </a:rPr>
                                <m:t>N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kumimoji="1" lang="ja-JP" alt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6" name="コンテンツ プレースホルダー 5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25" t="-1529" r="-1754" b="-23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20</a:t>
            </a:fld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/>
              <a:t>各</a:t>
            </a:r>
            <a:r>
              <a:rPr lang="ja-JP" altLang="en-US" dirty="0" smtClean="0"/>
              <a:t>モデル間の比較</a:t>
            </a:r>
            <a:endParaRPr kumimoji="1" lang="ja-JP" altLang="en-US" dirty="0"/>
          </a:p>
        </p:txBody>
      </p:sp>
      <p:grpSp>
        <p:nvGrpSpPr>
          <p:cNvPr id="9" name="グループ化 8"/>
          <p:cNvGrpSpPr/>
          <p:nvPr/>
        </p:nvGrpSpPr>
        <p:grpSpPr>
          <a:xfrm>
            <a:off x="6405336" y="5352871"/>
            <a:ext cx="2886528" cy="1200329"/>
            <a:chOff x="7362372" y="5716832"/>
            <a:chExt cx="2886528" cy="1200329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7" name="テキスト ボックス 6"/>
                <p:cNvSpPr txBox="1"/>
                <p:nvPr/>
              </p:nvSpPr>
              <p:spPr>
                <a:xfrm>
                  <a:off x="7362372" y="5716832"/>
                  <a:ext cx="696686" cy="1200329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q</m:t>
                      </m:r>
                      <m:r>
                        <m:rPr>
                          <m:nor/>
                        </m:rPr>
                        <a:rPr lang="en-US" altLang="ja-JP" sz="2400" i="1" baseline="-25000" smtClean="0"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m:t>a</m:t>
                      </m:r>
                      <m:r>
                        <a:rPr lang="en-US" altLang="ja-JP" sz="2400" i="1" baseline="-25000" smtClean="0">
                          <a:latin typeface="Symbol" panose="05050102010706020507" pitchFamily="18" charset="2"/>
                          <a:cs typeface="Times New Roman" panose="02020603050405020304" pitchFamily="18" charset="0"/>
                        </a:rPr>
                        <m:t> </m:t>
                      </m:r>
                    </m:oMath>
                  </a14:m>
                  <a:r>
                    <a:rPr kumimoji="1" lang="en-US" altLang="ja-JP" sz="2400" dirty="0" smtClean="0"/>
                    <a:t>:</a:t>
                  </a:r>
                </a:p>
                <a:p>
                  <a:pPr algn="r"/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k</m:t>
                      </m:r>
                      <m:r>
                        <m:rPr>
                          <m:nor/>
                        </m:rPr>
                        <a:rPr lang="en-US" altLang="ja-JP" sz="2400" b="0" i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 </m:t>
                      </m:r>
                    </m:oMath>
                  </a14:m>
                  <a:r>
                    <a:rPr kumimoji="1" lang="en-US" altLang="ja-JP" sz="2400" dirty="0" smtClean="0"/>
                    <a:t>:</a:t>
                  </a:r>
                </a:p>
                <a:p>
                  <a:pPr algn="r"/>
                  <a14:m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 sz="2400" i="1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m:t>N</m:t>
                      </m:r>
                    </m:oMath>
                  </a14:m>
                  <a:r>
                    <a:rPr lang="ja-JP" altLang="en-US" sz="2400" dirty="0" smtClean="0"/>
                    <a:t>：</a:t>
                  </a:r>
                  <a:endParaRPr kumimoji="1" lang="ja-JP" altLang="en-US" sz="2400" dirty="0" smtClean="0"/>
                </a:p>
              </p:txBody>
            </p:sp>
          </mc:Choice>
          <mc:Fallback>
            <p:sp>
              <p:nvSpPr>
                <p:cNvPr id="7" name="テキスト ボックス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362372" y="5716832"/>
                  <a:ext cx="696686" cy="1200329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 t="-3553" r="-13158" b="-9137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テキスト ボックス 7"/>
            <p:cNvSpPr txBox="1"/>
            <p:nvPr/>
          </p:nvSpPr>
          <p:spPr>
            <a:xfrm>
              <a:off x="7952014" y="5716832"/>
              <a:ext cx="2296886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kumimoji="1" lang="en-US" altLang="ja-JP" sz="2400" dirty="0" smtClean="0"/>
                <a:t>Critical Value</a:t>
              </a:r>
            </a:p>
            <a:p>
              <a:r>
                <a:rPr kumimoji="1" lang="ja-JP" altLang="en-US" sz="2400" dirty="0" smtClean="0"/>
                <a:t>モデル数</a:t>
              </a:r>
              <a:endParaRPr kumimoji="1" lang="en-US" altLang="ja-JP" sz="2400" dirty="0" smtClean="0"/>
            </a:p>
            <a:p>
              <a:r>
                <a:rPr lang="ja-JP" altLang="en-US" sz="2400" dirty="0" smtClean="0"/>
                <a:t>データ数</a:t>
              </a:r>
              <a:endParaRPr kumimoji="1" lang="ja-JP" altLang="en-US" sz="2400" dirty="0" smtClean="0"/>
            </a:p>
          </p:txBody>
        </p:sp>
      </p:grpSp>
    </p:spTree>
    <p:extLst>
      <p:ext uri="{BB962C8B-B14F-4D97-AF65-F5344CB8AC3E}">
        <p14:creationId xmlns:p14="http://schemas.microsoft.com/office/powerpoint/2010/main" val="298794088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考察</a:t>
            </a:r>
            <a:endParaRPr kumimoji="1" lang="ja-JP" altLang="en-US" dirty="0"/>
          </a:p>
        </p:txBody>
      </p:sp>
      <p:sp>
        <p:nvSpPr>
          <p:cNvPr id="6" name="コンテンツ プレースホルダー 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sz="2800" dirty="0" smtClean="0"/>
          </a:p>
          <a:p>
            <a:r>
              <a:rPr lang="ja-JP" altLang="en-US" dirty="0" smtClean="0"/>
              <a:t>括弧内は平均ランクを示す．</a:t>
            </a:r>
            <a:endParaRPr lang="en-US" altLang="ja-JP" dirty="0" smtClean="0"/>
          </a:p>
          <a:p>
            <a:r>
              <a:rPr kumimoji="1" lang="ja-JP" altLang="en-US" dirty="0" smtClean="0"/>
              <a:t>✓は</a:t>
            </a:r>
            <a:r>
              <a:rPr lang="ja-JP" altLang="en-US" dirty="0" smtClean="0"/>
              <a:t>各行のモデルが，各列のモデルより優れて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いることを示す．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21</a:t>
            </a:fld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ベースモデル間の比較</a:t>
            </a:r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88023920"/>
              </p:ext>
            </p:extLst>
          </p:nvPr>
        </p:nvGraphicFramePr>
        <p:xfrm>
          <a:off x="1165066" y="1673065"/>
          <a:ext cx="6813868" cy="25770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1868"/>
                <a:gridCol w="1524000"/>
                <a:gridCol w="1524000"/>
                <a:gridCol w="1524000"/>
              </a:tblGrid>
              <a:tr h="88878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Method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RaF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 (2.24)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RoF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 (2.07)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RRoF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 (1.69)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404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RaF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 (2.24)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404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RoF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 (2.07)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404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RRoF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 (1.69)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✓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5261691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考察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先行研究において，</a:t>
            </a:r>
            <a:r>
              <a:rPr kumimoji="1" lang="en-US" altLang="ja-JP" dirty="0" err="1" smtClean="0"/>
              <a:t>RoF</a:t>
            </a:r>
            <a:r>
              <a:rPr kumimoji="1" lang="ja-JP" altLang="en-US" dirty="0" smtClean="0"/>
              <a:t>が</a:t>
            </a:r>
            <a:r>
              <a:rPr kumimoji="1" lang="en-US" altLang="ja-JP" dirty="0" err="1" smtClean="0"/>
              <a:t>RaF</a:t>
            </a:r>
            <a:r>
              <a:rPr kumimoji="1" lang="ja-JP" altLang="en-US" dirty="0" smtClean="0"/>
              <a:t>より優れているとされていたが，統計的有意差は見られなかった．</a:t>
            </a:r>
            <a:endParaRPr kumimoji="1" lang="en-US" altLang="ja-JP" dirty="0" smtClean="0"/>
          </a:p>
          <a:p>
            <a:r>
              <a:rPr lang="ja-JP" altLang="en-US" dirty="0" smtClean="0"/>
              <a:t>これは，以下の理由が挙げられる．</a:t>
            </a:r>
            <a:endParaRPr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sz="2800" dirty="0" smtClean="0"/>
              <a:t>先行</a:t>
            </a:r>
            <a:r>
              <a:rPr kumimoji="1" lang="ja-JP" altLang="en-US" sz="2800" dirty="0"/>
              <a:t>研究</a:t>
            </a:r>
            <a:r>
              <a:rPr kumimoji="1" lang="ja-JP" altLang="en-US" sz="2800" dirty="0" smtClean="0"/>
              <a:t>では</a:t>
            </a:r>
            <a:r>
              <a:rPr kumimoji="1" lang="en-US" altLang="ja-JP" sz="2800" dirty="0" smtClean="0"/>
              <a:t>J48</a:t>
            </a:r>
            <a:r>
              <a:rPr kumimoji="1" lang="ja-JP" altLang="en-US" sz="2800" dirty="0" smtClean="0"/>
              <a:t>が使われたが，本論文は</a:t>
            </a:r>
            <a:r>
              <a:rPr kumimoji="1" lang="en-US" altLang="ja-JP" sz="2800" dirty="0" smtClean="0"/>
              <a:t>CART</a:t>
            </a:r>
            <a:r>
              <a:rPr kumimoji="1" lang="ja-JP" altLang="en-US" sz="2800" dirty="0" smtClean="0"/>
              <a:t>を使用したため</a:t>
            </a:r>
            <a:endParaRPr kumimoji="1" lang="en-US" altLang="ja-JP" sz="2800" dirty="0" smtClean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sz="2800" dirty="0" smtClean="0"/>
              <a:t>本論文では様々な分野のデータセットを使用したため</a:t>
            </a:r>
            <a:endParaRPr kumimoji="1" lang="en-US" altLang="ja-JP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 smtClean="0"/>
              <a:t>ノンパラメトリック検定である</a:t>
            </a:r>
            <a:r>
              <a:rPr lang="en-US" altLang="ja-JP" sz="2800" dirty="0" smtClean="0"/>
              <a:t>Friedman test</a:t>
            </a:r>
            <a:r>
              <a:rPr lang="ja-JP" altLang="en-US" sz="2800" dirty="0" smtClean="0"/>
              <a:t>で検定を</a:t>
            </a:r>
            <a:r>
              <a:rPr lang="ja-JP" altLang="en-US" sz="2800" dirty="0"/>
              <a:t>行</a:t>
            </a:r>
            <a:r>
              <a:rPr lang="ja-JP" altLang="en-US" sz="2800" dirty="0" smtClean="0"/>
              <a:t>ったため</a:t>
            </a:r>
            <a:endParaRPr lang="en-US" altLang="ja-JP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 smtClean="0"/>
              <a:t>先行</a:t>
            </a:r>
            <a:r>
              <a:rPr lang="ja-JP" altLang="en-US" sz="2800" dirty="0"/>
              <a:t>研究</a:t>
            </a:r>
            <a:r>
              <a:rPr lang="ja-JP" altLang="en-US" sz="2800" dirty="0" smtClean="0"/>
              <a:t>では，決定木の本数が</a:t>
            </a:r>
            <a:r>
              <a:rPr lang="en-US" altLang="ja-JP" sz="2800" dirty="0" smtClean="0"/>
              <a:t>10</a:t>
            </a:r>
            <a:r>
              <a:rPr lang="ja-JP" altLang="en-US" sz="2800" dirty="0" smtClean="0"/>
              <a:t>本のアンサンブル識別器であったため</a:t>
            </a:r>
            <a:endParaRPr lang="en-US" altLang="ja-JP" sz="2800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22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ja-JP" altLang="en-US" dirty="0" smtClean="0"/>
              <a:t>ベースモデル間の比較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326549374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考察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23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正則化手法の比較 </a:t>
            </a:r>
            <a:r>
              <a:rPr kumimoji="1" lang="en-US" altLang="ja-JP" dirty="0" smtClean="0"/>
              <a:t>(</a:t>
            </a:r>
            <a:r>
              <a:rPr kumimoji="1" lang="en-US" altLang="ja-JP" dirty="0" err="1" smtClean="0"/>
              <a:t>RaF</a:t>
            </a:r>
            <a:r>
              <a:rPr kumimoji="1" lang="en-US" altLang="ja-JP" dirty="0" smtClean="0"/>
              <a:t>)</a:t>
            </a:r>
            <a:endParaRPr kumimoji="1" lang="ja-JP" altLang="en-US" dirty="0"/>
          </a:p>
        </p:txBody>
      </p:sp>
      <p:graphicFrame>
        <p:nvGraphicFramePr>
          <p:cNvPr id="6" name="表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0572393"/>
              </p:ext>
            </p:extLst>
          </p:nvPr>
        </p:nvGraphicFramePr>
        <p:xfrm>
          <a:off x="228962" y="1800618"/>
          <a:ext cx="8686076" cy="4323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4692"/>
                <a:gridCol w="1265658"/>
                <a:gridCol w="1791398"/>
                <a:gridCol w="1810448"/>
                <a:gridCol w="1833880"/>
              </a:tblGrid>
              <a:tr h="88878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Method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RaF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 (2.95)</a:t>
                      </a:r>
                      <a:endParaRPr kumimoji="1" lang="en-US" altLang="ja-JP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b="0" dirty="0" err="1" smtClean="0">
                          <a:solidFill>
                            <a:schemeClr val="tx1"/>
                          </a:solidFill>
                        </a:rPr>
                        <a:t>MPRaF</a:t>
                      </a:r>
                      <a:r>
                        <a:rPr kumimoji="1" lang="en-US" altLang="ja-JP" sz="2600" b="0" dirty="0" smtClean="0">
                          <a:solidFill>
                            <a:schemeClr val="tx1"/>
                          </a:solidFill>
                        </a:rPr>
                        <a:t>-T </a:t>
                      </a:r>
                    </a:p>
                    <a:p>
                      <a:pPr algn="ctr"/>
                      <a:r>
                        <a:rPr kumimoji="1" lang="en-US" altLang="ja-JP" sz="2600" b="0" dirty="0" smtClean="0">
                          <a:solidFill>
                            <a:schemeClr val="tx1"/>
                          </a:solidFill>
                        </a:rPr>
                        <a:t>(1.97)</a:t>
                      </a:r>
                      <a:endParaRPr kumimoji="1" lang="ja-JP" altLang="en-US" sz="2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600" b="0" dirty="0" err="1" smtClean="0">
                          <a:solidFill>
                            <a:schemeClr val="tx1"/>
                          </a:solidFill>
                        </a:rPr>
                        <a:t>MPRaF</a:t>
                      </a:r>
                      <a:r>
                        <a:rPr kumimoji="1" lang="en-US" altLang="ja-JP" sz="2600" b="0" dirty="0" smtClean="0">
                          <a:solidFill>
                            <a:schemeClr val="tx1"/>
                          </a:solidFill>
                        </a:rPr>
                        <a:t>-P </a:t>
                      </a:r>
                    </a:p>
                    <a:p>
                      <a:pPr algn="ctr"/>
                      <a:r>
                        <a:rPr kumimoji="1" lang="en-US" altLang="ja-JP" sz="2600" b="0" dirty="0" smtClean="0">
                          <a:solidFill>
                            <a:schemeClr val="tx1"/>
                          </a:solidFill>
                        </a:rPr>
                        <a:t>(2.11)</a:t>
                      </a:r>
                      <a:endParaRPr kumimoji="1" lang="ja-JP" altLang="en-US" sz="2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600" b="0" dirty="0" err="1" smtClean="0">
                          <a:solidFill>
                            <a:schemeClr val="tx1"/>
                          </a:solidFill>
                        </a:rPr>
                        <a:t>MPRaF</a:t>
                      </a:r>
                      <a:r>
                        <a:rPr kumimoji="1" lang="en-US" altLang="ja-JP" sz="2600" b="0" dirty="0" smtClean="0">
                          <a:solidFill>
                            <a:schemeClr val="tx1"/>
                          </a:solidFill>
                        </a:rPr>
                        <a:t>-N </a:t>
                      </a:r>
                    </a:p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600" b="0" dirty="0" smtClean="0">
                          <a:solidFill>
                            <a:schemeClr val="tx1"/>
                          </a:solidFill>
                        </a:rPr>
                        <a:t>(2.97)</a:t>
                      </a:r>
                      <a:endParaRPr kumimoji="1" lang="ja-JP" altLang="en-US" sz="26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404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RaF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 (2.95)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404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MPRaF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-T</a:t>
                      </a:r>
                    </a:p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(1.97)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✓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✓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404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MPRaF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-P</a:t>
                      </a:r>
                    </a:p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(2.11)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✓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✓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404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MPRaF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-N</a:t>
                      </a:r>
                    </a:p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(2.97)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9666892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考察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24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正則化手法の比較 </a:t>
            </a:r>
            <a:r>
              <a:rPr kumimoji="1" lang="en-US" altLang="ja-JP" dirty="0" smtClean="0"/>
              <a:t>(</a:t>
            </a:r>
            <a:r>
              <a:rPr lang="en-US" altLang="ja-JP" dirty="0" err="1" smtClean="0"/>
              <a:t>RRo</a:t>
            </a:r>
            <a:r>
              <a:rPr kumimoji="1" lang="en-US" altLang="ja-JP" dirty="0" err="1" smtClean="0"/>
              <a:t>F</a:t>
            </a:r>
            <a:r>
              <a:rPr kumimoji="1" lang="en-US" altLang="ja-JP" dirty="0" smtClean="0"/>
              <a:t>)</a:t>
            </a:r>
            <a:endParaRPr kumimoji="1" lang="ja-JP" altLang="en-US" dirty="0"/>
          </a:p>
        </p:txBody>
      </p:sp>
      <p:graphicFrame>
        <p:nvGraphicFramePr>
          <p:cNvPr id="6" name="表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62012228"/>
              </p:ext>
            </p:extLst>
          </p:nvPr>
        </p:nvGraphicFramePr>
        <p:xfrm>
          <a:off x="100374" y="1800618"/>
          <a:ext cx="8943252" cy="43235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41868"/>
                <a:gridCol w="1265658"/>
                <a:gridCol w="1791398"/>
                <a:gridCol w="1810448"/>
                <a:gridCol w="1833880"/>
              </a:tblGrid>
              <a:tr h="88878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Method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RRoF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 (2.91)</a:t>
                      </a:r>
                      <a:endParaRPr kumimoji="1" lang="en-US" altLang="ja-JP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err="1" smtClean="0">
                          <a:solidFill>
                            <a:schemeClr val="tx1"/>
                          </a:solidFill>
                        </a:rPr>
                        <a:t>MPRRoF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-T</a:t>
                      </a:r>
                    </a:p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(2.19)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err="1" smtClean="0">
                          <a:solidFill>
                            <a:schemeClr val="tx1"/>
                          </a:solidFill>
                        </a:rPr>
                        <a:t>MPRRoF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-P</a:t>
                      </a:r>
                    </a:p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(2.15)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400" b="0" dirty="0" err="1" smtClean="0">
                          <a:solidFill>
                            <a:schemeClr val="tx1"/>
                          </a:solidFill>
                        </a:rPr>
                        <a:t>MPRRoF</a:t>
                      </a:r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-N</a:t>
                      </a:r>
                    </a:p>
                    <a:p>
                      <a:pPr algn="ctr"/>
                      <a:r>
                        <a:rPr kumimoji="1" lang="en-US" altLang="ja-JP" sz="2400" b="0" dirty="0" smtClean="0">
                          <a:solidFill>
                            <a:schemeClr val="tx1"/>
                          </a:solidFill>
                        </a:rPr>
                        <a:t>(2.75)</a:t>
                      </a:r>
                      <a:endParaRPr kumimoji="1" lang="ja-JP" altLang="en-US" sz="24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404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RRoF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 (2.91)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404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MPRRoF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-T</a:t>
                      </a:r>
                    </a:p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(2.19)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✓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404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MPRRoF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-P</a:t>
                      </a:r>
                    </a:p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(2.15)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✓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404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MPRRoF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-N</a:t>
                      </a:r>
                    </a:p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(2.75)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2153469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考察</a:t>
            </a:r>
            <a:endParaRPr kumimoji="1" lang="ja-JP" altLang="en-US" dirty="0"/>
          </a:p>
        </p:txBody>
      </p:sp>
      <p:sp>
        <p:nvSpPr>
          <p:cNvPr id="5" name="コンテンツ プレースホルダー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ja-JP" altLang="en-US" dirty="0" smtClean="0"/>
              <a:t>ベース</a:t>
            </a:r>
            <a:r>
              <a:rPr lang="ja-JP" altLang="en-US" dirty="0"/>
              <a:t>モデル</a:t>
            </a:r>
            <a:r>
              <a:rPr lang="ja-JP" altLang="en-US" dirty="0" smtClean="0"/>
              <a:t>と比べ，</a:t>
            </a:r>
            <a:r>
              <a:rPr lang="en-US" altLang="ja-JP" dirty="0" smtClean="0"/>
              <a:t>Tikhonov regularization</a:t>
            </a:r>
            <a:r>
              <a:rPr lang="ja-JP" altLang="en-US" dirty="0" smtClean="0"/>
              <a:t>と</a:t>
            </a:r>
            <a:r>
              <a:rPr lang="en-US" altLang="ja-JP" dirty="0" smtClean="0"/>
              <a:t>axis-parallel </a:t>
            </a:r>
            <a:r>
              <a:rPr lang="en-US" altLang="ja-JP" dirty="0"/>
              <a:t>split </a:t>
            </a:r>
            <a:r>
              <a:rPr lang="en-US" altLang="ja-JP" dirty="0" smtClean="0"/>
              <a:t>regularization</a:t>
            </a:r>
            <a:r>
              <a:rPr lang="ja-JP" altLang="en-US" dirty="0" smtClean="0"/>
              <a:t>は優れていた．</a:t>
            </a:r>
            <a:endParaRPr lang="en-US" altLang="ja-JP" dirty="0" smtClean="0"/>
          </a:p>
          <a:p>
            <a:r>
              <a:rPr lang="ja-JP" altLang="en-US" dirty="0" smtClean="0"/>
              <a:t>一方，</a:t>
            </a:r>
            <a:r>
              <a:rPr lang="en-US" altLang="ja-JP" dirty="0" smtClean="0"/>
              <a:t>NULL space regularization</a:t>
            </a:r>
            <a:r>
              <a:rPr lang="ja-JP" altLang="en-US" dirty="0" smtClean="0"/>
              <a:t>は精度が向上していなかった．</a:t>
            </a:r>
            <a:endParaRPr lang="en-US" altLang="ja-JP" dirty="0" smtClean="0"/>
          </a:p>
          <a:p>
            <a:r>
              <a:rPr lang="ja-JP" altLang="en-US" dirty="0" smtClean="0"/>
              <a:t>これは，データによって性能が不安定化するため，かつ枝刈りを</a:t>
            </a:r>
            <a:r>
              <a:rPr lang="ja-JP" altLang="en-US" dirty="0"/>
              <a:t>行</a:t>
            </a:r>
            <a:r>
              <a:rPr lang="ja-JP" altLang="en-US" dirty="0" smtClean="0"/>
              <a:t>っていないためである．</a:t>
            </a:r>
            <a:endParaRPr lang="en-US" altLang="ja-JP" dirty="0"/>
          </a:p>
          <a:p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25</a:t>
            </a:fld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正則化手法の比較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6748663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考察</a:t>
            </a:r>
            <a:endParaRPr kumimoji="1" lang="ja-JP" altLang="en-US" dirty="0"/>
          </a:p>
        </p:txBody>
      </p:sp>
      <p:pic>
        <p:nvPicPr>
          <p:cNvPr id="7" name="コンテンツ プレースホルダー 6"/>
          <p:cNvPicPr>
            <a:picLocks noGrp="1" noChangeAspect="1"/>
          </p:cNvPicPr>
          <p:nvPr>
            <p:ph idx="1"/>
          </p:nvPr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814677" y="1371599"/>
            <a:ext cx="5514647" cy="5470329"/>
          </a:xfrm>
          <a:prstGeom prst="rect">
            <a:avLst/>
          </a:prstGeom>
        </p:spPr>
      </p:pic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26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dirty="0" smtClean="0"/>
              <a:t>Bias-Variance Analysis</a:t>
            </a:r>
            <a:endParaRPr kumimoji="1" lang="ja-JP" altLang="en-US" dirty="0"/>
          </a:p>
        </p:txBody>
      </p:sp>
      <p:sp>
        <p:nvSpPr>
          <p:cNvPr id="8" name="テキスト ボックス 7"/>
          <p:cNvSpPr txBox="1"/>
          <p:nvPr/>
        </p:nvSpPr>
        <p:spPr>
          <a:xfrm>
            <a:off x="2119086" y="2670628"/>
            <a:ext cx="245291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 smtClean="0"/>
              <a:t>Bias-</a:t>
            </a:r>
            <a:r>
              <a:rPr kumimoji="1" lang="en-US" altLang="ja-JP" sz="2400" dirty="0" err="1" smtClean="0"/>
              <a:t>RaF</a:t>
            </a:r>
            <a:endParaRPr kumimoji="1" lang="ja-JP" altLang="en-US" sz="2400" dirty="0" smtClean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4572000" y="2670627"/>
            <a:ext cx="286294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 smtClean="0"/>
              <a:t>Bias-base of </a:t>
            </a:r>
            <a:r>
              <a:rPr kumimoji="1" lang="en-US" altLang="ja-JP" sz="2400" dirty="0" err="1" smtClean="0"/>
              <a:t>RaF</a:t>
            </a:r>
            <a:endParaRPr kumimoji="1" lang="ja-JP" altLang="en-US" sz="2400" dirty="0" smtClean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2119086" y="4554472"/>
            <a:ext cx="245291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 smtClean="0"/>
              <a:t>Bias-</a:t>
            </a:r>
            <a:r>
              <a:rPr kumimoji="1" lang="en-US" altLang="ja-JP" sz="2400" dirty="0" err="1" smtClean="0"/>
              <a:t>RRoF</a:t>
            </a:r>
            <a:endParaRPr kumimoji="1" lang="ja-JP" altLang="en-US" sz="2400" dirty="0" smtClean="0"/>
          </a:p>
        </p:txBody>
      </p:sp>
      <p:sp>
        <p:nvSpPr>
          <p:cNvPr id="11" name="テキスト ボックス 10"/>
          <p:cNvSpPr txBox="1"/>
          <p:nvPr/>
        </p:nvSpPr>
        <p:spPr>
          <a:xfrm>
            <a:off x="4572000" y="4554471"/>
            <a:ext cx="286294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 smtClean="0"/>
              <a:t>Bias-base of </a:t>
            </a:r>
            <a:r>
              <a:rPr kumimoji="1" lang="en-US" altLang="ja-JP" sz="2400" dirty="0" err="1" smtClean="0"/>
              <a:t>RRoF</a:t>
            </a:r>
            <a:endParaRPr kumimoji="1" lang="ja-JP" altLang="en-US" sz="2400" dirty="0" smtClean="0"/>
          </a:p>
        </p:txBody>
      </p:sp>
      <p:sp>
        <p:nvSpPr>
          <p:cNvPr id="12" name="テキスト ボックス 11"/>
          <p:cNvSpPr txBox="1"/>
          <p:nvPr/>
        </p:nvSpPr>
        <p:spPr>
          <a:xfrm>
            <a:off x="2119086" y="6380264"/>
            <a:ext cx="2452914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 smtClean="0"/>
              <a:t>Variance</a:t>
            </a:r>
            <a:r>
              <a:rPr kumimoji="1" lang="en-US" altLang="ja-JP" sz="2400" dirty="0" smtClean="0"/>
              <a:t>-</a:t>
            </a:r>
            <a:r>
              <a:rPr kumimoji="1" lang="en-US" altLang="ja-JP" sz="2400" dirty="0" err="1" smtClean="0"/>
              <a:t>RaF</a:t>
            </a:r>
            <a:endParaRPr kumimoji="1" lang="ja-JP" altLang="en-US" sz="2400" dirty="0" smtClean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4572000" y="6380263"/>
            <a:ext cx="2862943" cy="461665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dirty="0" smtClean="0"/>
              <a:t>Variance</a:t>
            </a:r>
            <a:r>
              <a:rPr kumimoji="1" lang="en-US" altLang="ja-JP" sz="2400" dirty="0" smtClean="0"/>
              <a:t>-</a:t>
            </a:r>
            <a:r>
              <a:rPr kumimoji="1" lang="en-US" altLang="ja-JP" sz="2400" dirty="0" err="1" smtClean="0"/>
              <a:t>RRoF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2533628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考察</a:t>
            </a:r>
            <a:endParaRPr kumimoji="1" lang="ja-JP" altLang="en-US" dirty="0"/>
          </a:p>
        </p:txBody>
      </p:sp>
      <p:sp>
        <p:nvSpPr>
          <p:cNvPr id="9" name="コンテンツ プレースホルダー 8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kumimoji="1" lang="en-US" altLang="ja-JP" dirty="0" smtClean="0"/>
          </a:p>
          <a:p>
            <a:endParaRPr lang="en-US" altLang="ja-JP" dirty="0"/>
          </a:p>
          <a:p>
            <a:endParaRPr kumimoji="1" lang="en-US" altLang="ja-JP" dirty="0" smtClean="0"/>
          </a:p>
          <a:p>
            <a:endParaRPr lang="en-US" altLang="ja-JP" dirty="0"/>
          </a:p>
          <a:p>
            <a:endParaRPr lang="en-US" altLang="ja-JP" dirty="0"/>
          </a:p>
          <a:p>
            <a:r>
              <a:rPr lang="ja-JP" altLang="en-US" dirty="0" smtClean="0"/>
              <a:t>括弧</a:t>
            </a:r>
            <a:r>
              <a:rPr lang="ja-JP" altLang="en-US" dirty="0"/>
              <a:t>内</a:t>
            </a:r>
            <a:r>
              <a:rPr lang="ja-JP" altLang="en-US" dirty="0" smtClean="0"/>
              <a:t>は各手法の勝利回数を示す．</a:t>
            </a:r>
            <a:endParaRPr lang="en-US" altLang="ja-JP" dirty="0" smtClean="0"/>
          </a:p>
          <a:p>
            <a:r>
              <a:rPr lang="ja-JP" altLang="en-US" dirty="0"/>
              <a:t>✓は各行の</a:t>
            </a:r>
            <a:r>
              <a:rPr lang="ja-JP" altLang="en-US" dirty="0" smtClean="0"/>
              <a:t>モデル間に，</a:t>
            </a:r>
            <a:r>
              <a:rPr lang="en-US" altLang="ja-JP" dirty="0" smtClean="0"/>
              <a:t>sign test</a:t>
            </a:r>
            <a:r>
              <a:rPr lang="ja-JP" altLang="en-US" dirty="0" smtClean="0"/>
              <a:t>で有意差があることを示す．</a:t>
            </a:r>
            <a:endParaRPr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27</a:t>
            </a:fld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各正則化手法のベースモデル間の比較</a:t>
            </a:r>
            <a:endParaRPr kumimoji="1" lang="ja-JP" altLang="en-US" dirty="0"/>
          </a:p>
        </p:txBody>
      </p:sp>
      <p:graphicFrame>
        <p:nvGraphicFramePr>
          <p:cNvPr id="6" name="表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739387"/>
              </p:ext>
            </p:extLst>
          </p:nvPr>
        </p:nvGraphicFramePr>
        <p:xfrm>
          <a:off x="973614" y="1582904"/>
          <a:ext cx="7272972" cy="252091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129530"/>
                <a:gridCol w="2143442"/>
              </a:tblGrid>
              <a:tr h="88878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Method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significance</a:t>
                      </a:r>
                      <a:endParaRPr kumimoji="1" lang="en-US" altLang="ja-JP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404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MPRaF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-T, </a:t>
                      </a:r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MPRRoF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-T (18,26)</a:t>
                      </a: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404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MPRaF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-P, </a:t>
                      </a:r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MPRRoF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-P (16,28)</a:t>
                      </a:r>
                      <a:endParaRPr kumimoji="1" lang="en-US" altLang="ja-JP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44044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MPRaF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-N,</a:t>
                      </a:r>
                      <a:r>
                        <a:rPr kumimoji="1" lang="ja-JP" altLang="en-US" sz="2800" b="0" baseline="0" dirty="0" smtClean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MPRRoF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-N (12,23)</a:t>
                      </a:r>
                      <a:endParaRPr kumimoji="1" lang="en-US" altLang="ja-JP" sz="2800" b="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ja-JP" altLang="en-US" sz="2800" b="0" dirty="0" smtClean="0">
                          <a:solidFill>
                            <a:schemeClr val="tx1"/>
                          </a:solidFill>
                        </a:rPr>
                        <a:t>✓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99098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タイトル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実験内容</a:t>
            </a:r>
            <a:r>
              <a:rPr lang="en-US" altLang="ja-JP" dirty="0" smtClean="0"/>
              <a:t>2</a:t>
            </a:r>
            <a:endParaRPr kumimoji="1" lang="ja-JP" altLang="en-US" dirty="0"/>
          </a:p>
        </p:txBody>
      </p:sp>
      <p:sp>
        <p:nvSpPr>
          <p:cNvPr id="7" name="コンテンツ プレースホルダー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kumimoji="1" lang="ja-JP" altLang="en-US" dirty="0" smtClean="0"/>
              <a:t>分岐の際に選択する属性の数による精度の変化を調査する．</a:t>
            </a:r>
            <a:endParaRPr kumimoji="1" lang="en-US" altLang="ja-JP" dirty="0" smtClean="0"/>
          </a:p>
          <a:p>
            <a:pPr marL="536575"/>
            <a:r>
              <a:rPr lang="ja-JP" altLang="en-US" dirty="0" smtClean="0"/>
              <a:t>データセットは</a:t>
            </a:r>
            <a:r>
              <a:rPr lang="en-US" altLang="ja-JP" dirty="0" err="1" smtClean="0"/>
              <a:t>Parkinsons</a:t>
            </a:r>
            <a:r>
              <a:rPr lang="ja-JP" altLang="en-US" dirty="0" smtClean="0"/>
              <a:t>及び</a:t>
            </a:r>
            <a:r>
              <a:rPr lang="en-US" altLang="ja-JP" dirty="0" smtClean="0"/>
              <a:t>wine quality (red) </a:t>
            </a:r>
            <a:r>
              <a:rPr lang="ja-JP" altLang="en-US" dirty="0" smtClean="0"/>
              <a:t>を使用する．</a:t>
            </a:r>
            <a:endParaRPr lang="en-US" altLang="ja-JP" dirty="0"/>
          </a:p>
          <a:p>
            <a:pPr marL="1050925" indent="-514350">
              <a:buFont typeface="+mj-lt"/>
              <a:buAutoNum type="arabicPeriod" startAt="2"/>
            </a:pPr>
            <a:endParaRPr lang="en-US" altLang="ja-JP" dirty="0" smtClean="0"/>
          </a:p>
          <a:p>
            <a:pPr marL="536575" indent="-514350">
              <a:buFont typeface="+mj-lt"/>
              <a:buAutoNum type="arabicPeriod" startAt="2"/>
            </a:pPr>
            <a:r>
              <a:rPr lang="ja-JP" altLang="en-US" dirty="0" smtClean="0"/>
              <a:t>ノードにいくつのデータ </a:t>
            </a:r>
            <a:r>
              <a:rPr lang="en-US" altLang="ja-JP" dirty="0" smtClean="0"/>
              <a:t>(</a:t>
            </a:r>
            <a:r>
              <a:rPr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minleaf</a:t>
            </a:r>
            <a:r>
              <a:rPr lang="en-US" altLang="ja-JP" dirty="0" smtClean="0"/>
              <a:t>) </a:t>
            </a:r>
            <a:r>
              <a:rPr lang="ja-JP" altLang="en-US" dirty="0" smtClean="0"/>
              <a:t>が残るまで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分岐を続けるか変更した際の影響を調査する．</a:t>
            </a:r>
            <a:endParaRPr lang="en-US" altLang="ja-JP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28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0848239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29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選択する属性数による精度の変化</a:t>
            </a:r>
            <a:endParaRPr kumimoji="1" lang="ja-JP" altLang="en-US" dirty="0"/>
          </a:p>
        </p:txBody>
      </p:sp>
      <p:pic>
        <p:nvPicPr>
          <p:cNvPr id="8" name="図 7"/>
          <p:cNvPicPr>
            <a:picLocks noChangeAspect="1"/>
          </p:cNvPicPr>
          <p:nvPr/>
        </p:nvPicPr>
        <p:blipFill rotWithShape="1"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4341" t="1270"/>
          <a:stretch/>
        </p:blipFill>
        <p:spPr>
          <a:xfrm>
            <a:off x="566058" y="2314210"/>
            <a:ext cx="4015020" cy="3169457"/>
          </a:xfrm>
          <a:prstGeom prst="rect">
            <a:avLst/>
          </a:prstGeom>
        </p:spPr>
      </p:pic>
      <p:sp>
        <p:nvSpPr>
          <p:cNvPr id="10" name="テキスト ボックス 9"/>
          <p:cNvSpPr txBox="1"/>
          <p:nvPr/>
        </p:nvSpPr>
        <p:spPr>
          <a:xfrm>
            <a:off x="1927682" y="6141745"/>
            <a:ext cx="1291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err="1" smtClean="0"/>
              <a:t>RaF</a:t>
            </a:r>
            <a:endParaRPr kumimoji="1" lang="ja-JP" altLang="en-US" sz="2800" dirty="0" smtClean="0"/>
          </a:p>
        </p:txBody>
      </p:sp>
      <p:pic>
        <p:nvPicPr>
          <p:cNvPr id="11" name="図 10"/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3502"/>
          <a:stretch/>
        </p:blipFill>
        <p:spPr>
          <a:xfrm>
            <a:off x="4793343" y="2314210"/>
            <a:ext cx="3976914" cy="3169457"/>
          </a:xfrm>
          <a:prstGeom prst="rect">
            <a:avLst/>
          </a:prstGeom>
        </p:spPr>
      </p:pic>
      <p:sp>
        <p:nvSpPr>
          <p:cNvPr id="12" name="テキスト ボックス 11"/>
          <p:cNvSpPr txBox="1"/>
          <p:nvPr/>
        </p:nvSpPr>
        <p:spPr>
          <a:xfrm rot="16200000">
            <a:off x="-1009097" y="3637328"/>
            <a:ext cx="2598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Accuracy (%)</a:t>
            </a:r>
            <a:endParaRPr kumimoji="1" lang="ja-JP" altLang="en-US" sz="2800" dirty="0" smtClean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2786743" y="5516927"/>
            <a:ext cx="3716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Number of Features</a:t>
            </a:r>
            <a:endParaRPr kumimoji="1" lang="ja-JP" altLang="en-US" sz="2800" dirty="0" smtClean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6135914" y="6141745"/>
            <a:ext cx="1291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 err="1" smtClean="0"/>
              <a:t>RRo</a:t>
            </a:r>
            <a:r>
              <a:rPr kumimoji="1" lang="en-US" altLang="ja-JP" sz="2800" dirty="0" err="1" smtClean="0"/>
              <a:t>F</a:t>
            </a:r>
            <a:endParaRPr kumimoji="1" lang="ja-JP" altLang="en-US" sz="2800" dirty="0" smtClean="0"/>
          </a:p>
        </p:txBody>
      </p:sp>
      <p:sp>
        <p:nvSpPr>
          <p:cNvPr id="15" name="テキスト ボックス 14"/>
          <p:cNvSpPr txBox="1"/>
          <p:nvPr/>
        </p:nvSpPr>
        <p:spPr>
          <a:xfrm>
            <a:off x="76200" y="1518333"/>
            <a:ext cx="4887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データセット：</a:t>
            </a:r>
            <a:r>
              <a:rPr lang="en-US" altLang="ja-JP" sz="2800" dirty="0" err="1" smtClean="0"/>
              <a:t>Parkinsons</a:t>
            </a:r>
            <a:endParaRPr kumimoji="1" lang="ja-JP" alt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3722520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タイトル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30</a:t>
            </a:fld>
            <a:endParaRPr kumimoji="1" lang="ja-JP" altLang="en-US" dirty="0"/>
          </a:p>
        </p:txBody>
      </p:sp>
      <p:sp>
        <p:nvSpPr>
          <p:cNvPr id="7" name="テキスト プレースホルダー 6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選択する属性数による精度の変化</a:t>
            </a:r>
            <a:endParaRPr kumimoji="1" lang="ja-JP" altLang="en-US" dirty="0"/>
          </a:p>
        </p:txBody>
      </p:sp>
      <p:sp>
        <p:nvSpPr>
          <p:cNvPr id="9" name="テキスト ボックス 8"/>
          <p:cNvSpPr txBox="1"/>
          <p:nvPr/>
        </p:nvSpPr>
        <p:spPr>
          <a:xfrm>
            <a:off x="76200" y="1518333"/>
            <a:ext cx="488768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2800" dirty="0" smtClean="0"/>
              <a:t>データセット：</a:t>
            </a:r>
            <a:r>
              <a:rPr lang="en-US" altLang="ja-JP" sz="2800" dirty="0" smtClean="0"/>
              <a:t>wine quality (red)</a:t>
            </a:r>
            <a:endParaRPr kumimoji="1" lang="ja-JP" altLang="en-US" sz="2800" dirty="0" smtClean="0"/>
          </a:p>
        </p:txBody>
      </p:sp>
      <p:sp>
        <p:nvSpPr>
          <p:cNvPr id="10" name="テキスト ボックス 9"/>
          <p:cNvSpPr txBox="1"/>
          <p:nvPr/>
        </p:nvSpPr>
        <p:spPr>
          <a:xfrm>
            <a:off x="1927682" y="6141745"/>
            <a:ext cx="1291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err="1" smtClean="0"/>
              <a:t>RaF</a:t>
            </a:r>
            <a:endParaRPr kumimoji="1" lang="ja-JP" altLang="en-US" sz="2800" dirty="0" smtClean="0"/>
          </a:p>
        </p:txBody>
      </p:sp>
      <p:sp>
        <p:nvSpPr>
          <p:cNvPr id="12" name="テキスト ボックス 11"/>
          <p:cNvSpPr txBox="1"/>
          <p:nvPr/>
        </p:nvSpPr>
        <p:spPr>
          <a:xfrm rot="16200000">
            <a:off x="-1009097" y="3637328"/>
            <a:ext cx="259805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Accuracy (%)</a:t>
            </a:r>
            <a:endParaRPr kumimoji="1" lang="ja-JP" altLang="en-US" sz="2800" dirty="0" smtClean="0"/>
          </a:p>
        </p:txBody>
      </p:sp>
      <p:sp>
        <p:nvSpPr>
          <p:cNvPr id="13" name="テキスト ボックス 12"/>
          <p:cNvSpPr txBox="1"/>
          <p:nvPr/>
        </p:nvSpPr>
        <p:spPr>
          <a:xfrm>
            <a:off x="2786743" y="5516927"/>
            <a:ext cx="371601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Number of Features</a:t>
            </a:r>
            <a:endParaRPr kumimoji="1" lang="ja-JP" altLang="en-US" sz="2800" dirty="0" smtClean="0"/>
          </a:p>
        </p:txBody>
      </p:sp>
      <p:sp>
        <p:nvSpPr>
          <p:cNvPr id="14" name="テキスト ボックス 13"/>
          <p:cNvSpPr txBox="1"/>
          <p:nvPr/>
        </p:nvSpPr>
        <p:spPr>
          <a:xfrm>
            <a:off x="6135914" y="6141745"/>
            <a:ext cx="12917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800" dirty="0" err="1" smtClean="0"/>
              <a:t>RRo</a:t>
            </a:r>
            <a:r>
              <a:rPr kumimoji="1" lang="en-US" altLang="ja-JP" sz="2800" dirty="0" err="1" smtClean="0"/>
              <a:t>F</a:t>
            </a:r>
            <a:endParaRPr kumimoji="1" lang="ja-JP" altLang="en-US" sz="2800" dirty="0" smtClean="0"/>
          </a:p>
        </p:txBody>
      </p:sp>
      <p:pic>
        <p:nvPicPr>
          <p:cNvPr id="2" name="図 1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51542" y="2314210"/>
            <a:ext cx="3964727" cy="3169457"/>
          </a:xfrm>
          <a:prstGeom prst="rect">
            <a:avLst/>
          </a:prstGeom>
        </p:spPr>
      </p:pic>
      <p:pic>
        <p:nvPicPr>
          <p:cNvPr id="3" name="図 2"/>
          <p:cNvPicPr>
            <a:picLocks noChangeAspect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4644748" y="2314210"/>
            <a:ext cx="3967089" cy="31694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273506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 smtClean="0"/>
              <a:t>実験</a:t>
            </a:r>
            <a:r>
              <a:rPr lang="ja-JP" altLang="en-US" dirty="0"/>
              <a:t>結果</a:t>
            </a:r>
            <a:endParaRPr kumimoji="1" lang="ja-JP" altLang="en-US" dirty="0"/>
          </a:p>
        </p:txBody>
      </p:sp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31</a:t>
            </a:fld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ja-JP" i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minleaf</a:t>
            </a:r>
            <a:r>
              <a:rPr lang="en-US" altLang="ja-JP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ja-JP" alt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の変化による影響</a:t>
            </a:r>
            <a:endParaRPr kumimoji="1" lang="ja-JP" altLang="en-US" dirty="0"/>
          </a:p>
        </p:txBody>
      </p:sp>
      <p:graphicFrame>
        <p:nvGraphicFramePr>
          <p:cNvPr id="5" name="表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5729857"/>
              </p:ext>
            </p:extLst>
          </p:nvPr>
        </p:nvGraphicFramePr>
        <p:xfrm>
          <a:off x="224789" y="1380405"/>
          <a:ext cx="8694422" cy="4663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87818"/>
                <a:gridCol w="1962468"/>
                <a:gridCol w="1962468"/>
                <a:gridCol w="1962468"/>
                <a:gridCol w="1219200"/>
              </a:tblGrid>
              <a:tr h="50376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Method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ja-JP" sz="2800" b="0" i="1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Minleaf</a:t>
                      </a:r>
                      <a:r>
                        <a:rPr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ja-JP" sz="28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ja-JP" sz="2800" b="0" i="0" dirty="0" smtClean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2800" b="0" i="1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Minleaf</a:t>
                      </a:r>
                      <a:r>
                        <a:rPr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ja-JP" sz="28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ja-JP" sz="2800" b="0" i="0" dirty="0" smtClean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2</a:t>
                      </a:r>
                      <a:endParaRPr kumimoji="1" lang="ja-JP" altLang="en-US" sz="2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ja-JP" sz="2800" b="0" i="1" dirty="0" err="1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Minleaf</a:t>
                      </a:r>
                      <a:r>
                        <a:rPr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ja-JP" sz="2800" b="0" i="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=</a:t>
                      </a:r>
                      <a:r>
                        <a:rPr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 </a:t>
                      </a:r>
                      <a:r>
                        <a:rPr lang="en-US" altLang="ja-JP" sz="2800" b="0" i="0" dirty="0" smtClean="0">
                          <a:solidFill>
                            <a:schemeClr val="tx1"/>
                          </a:solidFill>
                          <a:latin typeface="+mn-lt"/>
                          <a:cs typeface="Times New Roman" panose="02020603050405020304" pitchFamily="18" charset="0"/>
                        </a:rPr>
                        <a:t>3</a:t>
                      </a:r>
                      <a:endParaRPr kumimoji="1" lang="ja-JP" altLang="en-US" sz="2800" b="0" dirty="0" smtClean="0">
                        <a:solidFill>
                          <a:schemeClr val="tx1"/>
                        </a:solidFill>
                        <a:latin typeface="+mn-lt"/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r>
                        <a:rPr kumimoji="1" lang="en-US" altLang="ja-JP" sz="2800" b="0" i="1" baseline="-250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</a:t>
                      </a:r>
                      <a:endParaRPr kumimoji="1" lang="ja-JP" altLang="en-US" sz="2800" b="0" i="1" baseline="-250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376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RaF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1.6364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2.0455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2.3182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tx1"/>
                          </a:solidFill>
                        </a:rPr>
                        <a:t>5.74</a:t>
                      </a:r>
                      <a:endParaRPr kumimoji="1" lang="ja-JP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376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RaF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-T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1.6364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2.1364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2.2273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tx1"/>
                          </a:solidFill>
                        </a:rPr>
                        <a:t>4.84</a:t>
                      </a:r>
                      <a:endParaRPr kumimoji="1" lang="ja-JP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376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RaF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-P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1.7500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1.0000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2.2500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2.87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376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RaF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-N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1.7727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2.0682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2.1591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1.83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376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RRoF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1.9545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1.9545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2.0909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0.27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376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RRoF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-T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1.8182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2.0000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2.1818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1.47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376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RRoF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-P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1.9318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2.0000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2.0682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0.20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03767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err="1" smtClean="0">
                          <a:solidFill>
                            <a:schemeClr val="tx1"/>
                          </a:solidFill>
                        </a:rPr>
                        <a:t>RRoF</a:t>
                      </a:r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-N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1.6818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2.0682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2.2500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1" dirty="0" smtClean="0">
                          <a:solidFill>
                            <a:schemeClr val="tx1"/>
                          </a:solidFill>
                        </a:rPr>
                        <a:t>3.96</a:t>
                      </a:r>
                      <a:endParaRPr kumimoji="1" lang="ja-JP" altLang="en-US" sz="2800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noFill/>
                  </a:tcPr>
                </a:tc>
              </a:tr>
            </a:tbl>
          </a:graphicData>
        </a:graphic>
      </p:graphicFrame>
      <p:sp>
        <p:nvSpPr>
          <p:cNvPr id="6" name="テキスト ボックス 5"/>
          <p:cNvSpPr txBox="1"/>
          <p:nvPr/>
        </p:nvSpPr>
        <p:spPr>
          <a:xfrm>
            <a:off x="903513" y="6164271"/>
            <a:ext cx="801188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ja-JP" sz="2400" i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en-US" altLang="ja-JP" sz="2400" i="1" baseline="-25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F</a:t>
            </a:r>
            <a:r>
              <a:rPr lang="ja-JP" altLang="en-US" sz="2400" dirty="0" smtClean="0"/>
              <a:t>は</a:t>
            </a:r>
            <a:r>
              <a:rPr lang="en-US" altLang="ja-JP" sz="2400" dirty="0" smtClean="0"/>
              <a:t>Friedman test</a:t>
            </a:r>
            <a:r>
              <a:rPr lang="ja-JP" altLang="en-US" sz="2400" dirty="0" smtClean="0"/>
              <a:t>の統計検定量を示す</a:t>
            </a:r>
            <a:r>
              <a:rPr lang="en-US" altLang="ja-JP" sz="2400" dirty="0" smtClean="0"/>
              <a:t>(&gt;3.10</a:t>
            </a:r>
            <a:r>
              <a:rPr lang="ja-JP" altLang="en-US" sz="2400" dirty="0" smtClean="0"/>
              <a:t>で有意差有</a:t>
            </a:r>
            <a:r>
              <a:rPr lang="en-US" altLang="ja-JP" sz="2400" dirty="0" smtClean="0"/>
              <a:t>)</a:t>
            </a:r>
            <a:endParaRPr kumimoji="1" lang="ja-JP" altLang="en-US" sz="2400" dirty="0" smtClean="0"/>
          </a:p>
        </p:txBody>
      </p:sp>
    </p:spTree>
    <p:extLst>
      <p:ext uri="{BB962C8B-B14F-4D97-AF65-F5344CB8AC3E}">
        <p14:creationId xmlns:p14="http://schemas.microsoft.com/office/powerpoint/2010/main" val="4416223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 smtClean="0"/>
              <a:t>実験結果</a:t>
            </a:r>
            <a:endParaRPr kumimoji="1" lang="ja-JP" altLang="en-US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コンテンツ プレースホルダー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en-US" altLang="ja-JP" dirty="0" smtClean="0"/>
                  <a:t>2</a:t>
                </a:r>
                <a:r>
                  <a:rPr kumimoji="1" lang="ja-JP" altLang="en-US" dirty="0" err="1" smtClean="0"/>
                  <a:t>つの</a:t>
                </a:r>
                <a:r>
                  <a:rPr kumimoji="1" lang="ja-JP" altLang="en-US" dirty="0" smtClean="0"/>
                  <a:t>観点からベースモデルとの複雑性を比較</a:t>
                </a:r>
                <a:endParaRPr kumimoji="1" lang="en-US" altLang="ja-JP" dirty="0" smtClean="0"/>
              </a:p>
              <a:p>
                <a:pPr marL="514350" indent="-514350">
                  <a:buFont typeface="+mj-lt"/>
                  <a:buAutoNum type="arabicPeriod"/>
                </a:pPr>
                <a:r>
                  <a:rPr lang="en-US" altLang="ja-JP" dirty="0" err="1"/>
                  <a:t>SpeedUp</a:t>
                </a:r>
                <a:r>
                  <a:rPr lang="en-US" altLang="ja-JP" dirty="0"/>
                  <a:t> </a:t>
                </a:r>
                <a:r>
                  <a:rPr lang="en-US" altLang="ja-JP" dirty="0" smtClean="0"/>
                  <a:t>Factor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 sz="2400" dirty="0"/>
                        <m:t>SpeedUp</m:t>
                      </m:r>
                      <m:r>
                        <m:rPr>
                          <m:nor/>
                        </m:rPr>
                        <a:rPr lang="en-US" altLang="ja-JP" sz="2400" dirty="0"/>
                        <m:t> </m:t>
                      </m:r>
                      <m:r>
                        <m:rPr>
                          <m:nor/>
                        </m:rPr>
                        <a:rPr lang="en-US" altLang="ja-JP" sz="2400" dirty="0"/>
                        <m:t>Factor</m:t>
                      </m:r>
                      <m:r>
                        <m:rPr>
                          <m:nor/>
                        </m:rPr>
                        <a:rPr lang="en-US" altLang="ja-JP" sz="2400" b="0" i="0" dirty="0" smtClean="0"/>
                        <m:t> </m:t>
                      </m:r>
                      <m:r>
                        <m:rPr>
                          <m:nor/>
                        </m:rPr>
                        <a:rPr lang="en-US" altLang="ja-JP" sz="2400" b="0" i="0" dirty="0" smtClean="0"/>
                        <m:t>for</m:t>
                      </m:r>
                      <m:r>
                        <m:rPr>
                          <m:nor/>
                        </m:rPr>
                        <a:rPr lang="en-US" altLang="ja-JP" sz="2400" b="0" i="0" dirty="0" smtClean="0"/>
                        <m:t> </m:t>
                      </m:r>
                      <m:r>
                        <m:rPr>
                          <m:nor/>
                        </m:rPr>
                        <a:rPr lang="en-US" altLang="ja-JP" sz="2400" b="0" i="0" dirty="0" smtClean="0"/>
                        <m:t>MPRaF</m:t>
                      </m:r>
                      <m:r>
                        <m:rPr>
                          <m:nor/>
                        </m:rPr>
                        <a:rPr lang="en-US" altLang="ja-JP" sz="2400" b="0" i="0" dirty="0" smtClean="0"/>
                        <m:t>-</m:t>
                      </m:r>
                      <m:r>
                        <m:rPr>
                          <m:nor/>
                        </m:rPr>
                        <a:rPr lang="en-US" altLang="ja-JP" sz="2400" b="0" i="0" dirty="0" smtClean="0"/>
                        <m:t>T</m:t>
                      </m:r>
                      <m:r>
                        <a:rPr lang="en-US" altLang="ja-JP" sz="2400" b="0" i="1" dirty="0" smtClean="0"/>
                        <m:t>=</m:t>
                      </m:r>
                      <m:f>
                        <m:fPr>
                          <m:ctrlPr>
                            <a:rPr lang="en-US" altLang="ja-JP" sz="2400" b="0" i="1" dirty="0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ja-JP" sz="2400" b="0" i="0" dirty="0" smtClean="0"/>
                            <m:t>Training</m:t>
                          </m:r>
                          <m:r>
                            <m:rPr>
                              <m:nor/>
                            </m:rPr>
                            <a:rPr lang="en-US" altLang="ja-JP" sz="2400" b="0" i="0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2400" b="0" i="0" dirty="0" smtClean="0"/>
                            <m:t>time</m:t>
                          </m:r>
                          <m:r>
                            <m:rPr>
                              <m:nor/>
                            </m:rPr>
                            <a:rPr lang="en-US" altLang="ja-JP" sz="2400" b="0" i="0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2400" b="0" i="0" dirty="0" smtClean="0"/>
                            <m:t>of</m:t>
                          </m:r>
                          <m:r>
                            <m:rPr>
                              <m:nor/>
                            </m:rPr>
                            <a:rPr lang="en-US" altLang="ja-JP" sz="2400" b="0" i="0" dirty="0" smtClean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2400" b="0" i="0" dirty="0" smtClean="0"/>
                            <m:t>RaF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ja-JP" sz="2400" b="0" i="0" dirty="0" smtClean="0"/>
                            <m:t>Training</m:t>
                          </m:r>
                          <m:r>
                            <m:rPr>
                              <m:nor/>
                            </m:rPr>
                            <a:rPr lang="en-US" altLang="ja-JP" sz="2400" b="0" i="0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2400" i="0" dirty="0"/>
                            <m:t>time</m:t>
                          </m:r>
                          <m:r>
                            <m:rPr>
                              <m:nor/>
                            </m:rPr>
                            <a:rPr lang="en-US" altLang="ja-JP" sz="2400" i="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2400" i="0" dirty="0"/>
                            <m:t>of</m:t>
                          </m:r>
                          <m:r>
                            <m:rPr>
                              <m:nor/>
                            </m:rPr>
                            <a:rPr lang="en-US" altLang="ja-JP" sz="2400" i="0" dirty="0"/>
                            <m:t> </m:t>
                          </m:r>
                          <m:r>
                            <m:rPr>
                              <m:nor/>
                            </m:rPr>
                            <a:rPr lang="en-US" altLang="ja-JP" sz="2400" i="0" dirty="0"/>
                            <m:t>MPRaF</m:t>
                          </m:r>
                          <m:r>
                            <m:rPr>
                              <m:nor/>
                            </m:rPr>
                            <a:rPr lang="en-US" altLang="ja-JP" sz="2400" b="0" i="0" dirty="0" smtClean="0"/>
                            <m:t>-</m:t>
                          </m:r>
                          <m:r>
                            <m:rPr>
                              <m:nor/>
                            </m:rPr>
                            <a:rPr lang="en-US" altLang="ja-JP" sz="2400" b="0" i="0" dirty="0" smtClean="0"/>
                            <m:t>T</m:t>
                          </m:r>
                        </m:den>
                      </m:f>
                    </m:oMath>
                  </m:oMathPara>
                </a14:m>
                <a:endParaRPr lang="en-US" altLang="ja-JP" dirty="0"/>
              </a:p>
              <a:p>
                <a:endParaRPr lang="en-US" altLang="ja-JP" dirty="0" smtClean="0"/>
              </a:p>
              <a:p>
                <a:pPr marL="514350" indent="-514350">
                  <a:buFont typeface="+mj-lt"/>
                  <a:buAutoNum type="arabicPeriod" startAt="2"/>
                </a:pPr>
                <a:r>
                  <a:rPr kumimoji="1" lang="en-US" altLang="ja-JP" dirty="0" smtClean="0"/>
                  <a:t>Node Ratio</a:t>
                </a:r>
              </a:p>
              <a:p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nor/>
                        </m:rPr>
                        <a:rPr lang="en-US" altLang="ja-JP" i="0" dirty="0" smtClean="0"/>
                        <m:t>N</m:t>
                      </m:r>
                      <m:r>
                        <m:rPr>
                          <m:nor/>
                        </m:rPr>
                        <a:rPr lang="en-US" altLang="ja-JP" b="0" i="0" dirty="0" smtClean="0"/>
                        <m:t>ode</m:t>
                      </m:r>
                      <m:r>
                        <m:rPr>
                          <m:nor/>
                        </m:rPr>
                        <a:rPr lang="en-US" altLang="ja-JP" b="0" i="0" dirty="0" smtClean="0"/>
                        <m:t> </m:t>
                      </m:r>
                      <m:r>
                        <m:rPr>
                          <m:nor/>
                        </m:rPr>
                        <a:rPr lang="en-US" altLang="ja-JP" b="0" i="0" dirty="0" smtClean="0"/>
                        <m:t>Ratio</m:t>
                      </m:r>
                      <m:r>
                        <m:rPr>
                          <m:nor/>
                        </m:rPr>
                        <a:rPr lang="en-US" altLang="ja-JP" i="0" dirty="0"/>
                        <m:t> </m:t>
                      </m:r>
                      <m:r>
                        <m:rPr>
                          <m:nor/>
                        </m:rPr>
                        <a:rPr lang="en-US" altLang="ja-JP" dirty="0"/>
                        <m:t>for</m:t>
                      </m:r>
                      <m:r>
                        <m:rPr>
                          <m:nor/>
                        </m:rPr>
                        <a:rPr lang="en-US" altLang="ja-JP" dirty="0"/>
                        <m:t> </m:t>
                      </m:r>
                      <m:r>
                        <m:rPr>
                          <m:nor/>
                        </m:rPr>
                        <a:rPr lang="en-US" altLang="ja-JP" dirty="0"/>
                        <m:t>MPRaF</m:t>
                      </m:r>
                      <m:r>
                        <m:rPr>
                          <m:nor/>
                        </m:rPr>
                        <a:rPr lang="en-US" altLang="ja-JP" dirty="0"/>
                        <m:t>−</m:t>
                      </m:r>
                      <m:r>
                        <m:rPr>
                          <m:nor/>
                        </m:rPr>
                        <a:rPr lang="en-US" altLang="ja-JP" dirty="0"/>
                        <m:t>T</m:t>
                      </m:r>
                      <m:r>
                        <a:rPr lang="en-US" altLang="ja-JP" i="1" dirty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ja-JP" i="1" dirty="0"/>
                          </m:ctrlPr>
                        </m:fPr>
                        <m:num>
                          <m:r>
                            <m:rPr>
                              <m:nor/>
                            </m:rPr>
                            <a:rPr lang="en-US" altLang="ja-JP" b="0" i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altLang="ja-JP" b="0" i="1" baseline="-25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av</m:t>
                          </m:r>
                          <m:r>
                            <m:rPr>
                              <m:nor/>
                            </m:rPr>
                            <a:rPr lang="en-US" altLang="ja-JP" b="0" i="0" dirty="0" smtClean="0"/>
                            <m:t>(</m:t>
                          </m:r>
                          <m:r>
                            <m:rPr>
                              <m:nor/>
                            </m:rPr>
                            <a:rPr lang="en-US" altLang="ja-JP" dirty="0"/>
                            <m:t>MPRaF</m:t>
                          </m:r>
                          <m:r>
                            <m:rPr>
                              <m:nor/>
                            </m:rPr>
                            <a:rPr lang="en-US" altLang="ja-JP" dirty="0"/>
                            <m:t>−</m:t>
                          </m:r>
                          <m:r>
                            <m:rPr>
                              <m:nor/>
                            </m:rPr>
                            <a:rPr lang="en-US" altLang="ja-JP" dirty="0"/>
                            <m:t>T</m:t>
                          </m:r>
                          <m:r>
                            <m:rPr>
                              <m:nor/>
                            </m:rPr>
                            <a:rPr lang="en-US" altLang="ja-JP" b="0" i="0" dirty="0" smtClean="0"/>
                            <m:t>)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US" altLang="ja-JP" b="0" i="1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N</m:t>
                          </m:r>
                          <m:r>
                            <m:rPr>
                              <m:nor/>
                            </m:rPr>
                            <a:rPr lang="en-US" altLang="ja-JP" b="0" i="1" baseline="-25000" dirty="0" smtClean="0">
                              <a:latin typeface="Times New Roman" panose="02020603050405020304" pitchFamily="18" charset="0"/>
                              <a:cs typeface="Times New Roman" panose="02020603050405020304" pitchFamily="18" charset="0"/>
                            </a:rPr>
                            <m:t>av</m:t>
                          </m:r>
                          <m:r>
                            <m:rPr>
                              <m:nor/>
                            </m:rPr>
                            <a:rPr lang="en-US" altLang="ja-JP" b="0" i="0" dirty="0" smtClean="0"/>
                            <m:t>(</m:t>
                          </m:r>
                          <m:r>
                            <m:rPr>
                              <m:nor/>
                            </m:rPr>
                            <a:rPr lang="en-US" altLang="ja-JP" b="0" i="0" dirty="0" smtClean="0"/>
                            <m:t>RaF</m:t>
                          </m:r>
                          <m:r>
                            <m:rPr>
                              <m:nor/>
                            </m:rPr>
                            <a:rPr lang="en-US" altLang="ja-JP" b="0" i="0" dirty="0" smtClean="0"/>
                            <m:t>)</m:t>
                          </m:r>
                        </m:den>
                      </m:f>
                    </m:oMath>
                  </m:oMathPara>
                </a14:m>
                <a:endParaRPr kumimoji="1" lang="ja-JP" altLang="en-US" dirty="0"/>
              </a:p>
            </p:txBody>
          </p:sp>
        </mc:Choice>
        <mc:Fallback>
          <p:sp>
            <p:nvSpPr>
              <p:cNvPr id="5" name="コンテンツ プレースホルダー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0">
                <a:blip r:embed="rId2"/>
                <a:stretch>
                  <a:fillRect l="-1825" t="-188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スライド番号プレースホルダー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32</a:t>
            </a:fld>
            <a:endParaRPr kumimoji="1" lang="ja-JP" altLang="en-US" dirty="0"/>
          </a:p>
        </p:txBody>
      </p:sp>
      <p:sp>
        <p:nvSpPr>
          <p:cNvPr id="4" name="テキスト プレースホルダー 3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kumimoji="1" lang="ja-JP" altLang="en-US" dirty="0" smtClean="0"/>
              <a:t>計算複雑性の比較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03555949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結論</a:t>
            </a:r>
            <a:endParaRPr kumimoji="1" lang="ja-JP" altLang="en-US" dirty="0"/>
          </a:p>
        </p:txBody>
      </p:sp>
      <p:sp>
        <p:nvSpPr>
          <p:cNvPr id="5" name="テキスト プレースホルダー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ja-JP" dirty="0" err="1" smtClean="0"/>
              <a:t>RaF</a:t>
            </a:r>
            <a:r>
              <a:rPr lang="ja-JP" altLang="en-US" dirty="0"/>
              <a:t>・</a:t>
            </a:r>
            <a:r>
              <a:rPr lang="en-US" altLang="ja-JP" dirty="0" err="1" smtClean="0"/>
              <a:t>RoF</a:t>
            </a:r>
            <a:r>
              <a:rPr lang="ja-JP" altLang="en-US" dirty="0" smtClean="0"/>
              <a:t>に</a:t>
            </a:r>
            <a:r>
              <a:rPr lang="en-US" altLang="ja-JP" dirty="0" smtClean="0"/>
              <a:t>MPSVM</a:t>
            </a:r>
            <a:r>
              <a:rPr lang="ja-JP" altLang="en-US" dirty="0" smtClean="0"/>
              <a:t>を</a:t>
            </a:r>
            <a:r>
              <a:rPr lang="ja-JP" altLang="en-US" dirty="0"/>
              <a:t>適用</a:t>
            </a:r>
            <a:r>
              <a:rPr lang="ja-JP" altLang="en-US" dirty="0" smtClean="0"/>
              <a:t>するための正則化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手法，</a:t>
            </a:r>
            <a:r>
              <a:rPr lang="en-US" altLang="ja-JP" dirty="0" smtClean="0"/>
              <a:t>2</a:t>
            </a:r>
            <a:r>
              <a:rPr lang="ja-JP" altLang="en-US" dirty="0" smtClean="0"/>
              <a:t>クラス問題への変換手法を提案した．</a:t>
            </a:r>
            <a:endParaRPr lang="en-US" altLang="ja-JP" dirty="0" smtClean="0"/>
          </a:p>
          <a:p>
            <a:r>
              <a:rPr lang="en-US" altLang="ja-JP" dirty="0" err="1" smtClean="0"/>
              <a:t>RoF</a:t>
            </a:r>
            <a:r>
              <a:rPr lang="ja-JP" altLang="en-US" dirty="0" smtClean="0"/>
              <a:t>に特徴選択を加えることによって，</a:t>
            </a:r>
            <a:r>
              <a:rPr lang="en-US" altLang="ja-JP" dirty="0" smtClean="0"/>
              <a:t>MPSVM</a:t>
            </a:r>
            <a:r>
              <a:rPr lang="ja-JP" altLang="en-US" dirty="0" smtClean="0"/>
              <a:t>の適用で精度が向上した．</a:t>
            </a:r>
            <a:endParaRPr lang="en-US" altLang="ja-JP" dirty="0" smtClean="0"/>
          </a:p>
          <a:p>
            <a:r>
              <a:rPr lang="en-US" altLang="ja-JP" dirty="0" smtClean="0"/>
              <a:t>NULL</a:t>
            </a:r>
            <a:r>
              <a:rPr lang="ja-JP" altLang="en-US" dirty="0" smtClean="0"/>
              <a:t> </a:t>
            </a:r>
            <a:r>
              <a:rPr lang="en-US" altLang="ja-JP" dirty="0" smtClean="0"/>
              <a:t>space regularization</a:t>
            </a:r>
            <a:r>
              <a:rPr lang="ja-JP" altLang="en-US" dirty="0" smtClean="0"/>
              <a:t>では</a:t>
            </a:r>
            <a:r>
              <a:rPr lang="ja-JP" altLang="en-US" dirty="0"/>
              <a:t>枝刈り</a:t>
            </a:r>
            <a:r>
              <a:rPr lang="ja-JP" altLang="en-US" dirty="0" smtClean="0"/>
              <a:t>を</a:t>
            </a:r>
            <a:r>
              <a:rPr lang="en-US" altLang="ja-JP" dirty="0" smtClean="0"/>
              <a:t/>
            </a:r>
            <a:br>
              <a:rPr lang="en-US" altLang="ja-JP" dirty="0" smtClean="0"/>
            </a:br>
            <a:r>
              <a:rPr lang="ja-JP" altLang="en-US" dirty="0" smtClean="0"/>
              <a:t>行わなかった</a:t>
            </a:r>
            <a:r>
              <a:rPr lang="ja-JP" altLang="en-US" dirty="0"/>
              <a:t>ため</a:t>
            </a:r>
            <a:r>
              <a:rPr lang="ja-JP" altLang="en-US" dirty="0" smtClean="0"/>
              <a:t>精度は向上しなかった．</a:t>
            </a:r>
            <a:endParaRPr lang="en-US" altLang="ja-JP" dirty="0" smtClean="0"/>
          </a:p>
          <a:p>
            <a:r>
              <a:rPr lang="en-US" altLang="ja-JP" dirty="0" err="1" smtClean="0"/>
              <a:t>MPRaF</a:t>
            </a:r>
            <a:r>
              <a:rPr lang="ja-JP" altLang="en-US" dirty="0" smtClean="0"/>
              <a:t>・</a:t>
            </a:r>
            <a:r>
              <a:rPr lang="en-US" altLang="ja-JP" dirty="0" err="1" smtClean="0"/>
              <a:t>MPRRoF</a:t>
            </a:r>
            <a:r>
              <a:rPr lang="ja-JP" altLang="en-US" dirty="0" smtClean="0"/>
              <a:t>の性能はハイパーパラメータには大きく依存しなかった．</a:t>
            </a:r>
            <a:endParaRPr lang="en-US" altLang="ja-JP" dirty="0" smtClean="0"/>
          </a:p>
          <a:p>
            <a:r>
              <a:rPr lang="en-US" altLang="ja-JP" dirty="0" err="1" smtClean="0"/>
              <a:t>MPRaF</a:t>
            </a:r>
            <a:r>
              <a:rPr lang="ja-JP" altLang="en-US" dirty="0" smtClean="0"/>
              <a:t>を適用した</a:t>
            </a:r>
            <a:r>
              <a:rPr lang="ja-JP" altLang="en-US" smtClean="0"/>
              <a:t>手法は，ベースモデルと比較すると一部</a:t>
            </a:r>
            <a:r>
              <a:rPr lang="ja-JP" altLang="en-US" dirty="0" smtClean="0"/>
              <a:t>の場合</a:t>
            </a:r>
            <a:r>
              <a:rPr lang="ja-JP" altLang="en-US" smtClean="0"/>
              <a:t>以外で計算コストを削減した</a:t>
            </a:r>
            <a:r>
              <a:rPr lang="ja-JP" altLang="en-US" dirty="0" smtClean="0"/>
              <a:t>．</a:t>
            </a:r>
            <a:endParaRPr lang="en-US" altLang="ja-JP" dirty="0" smtClean="0"/>
          </a:p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33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984099001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スライド番号プレースホルダー 3"/>
          <p:cNvSpPr>
            <a:spLocks noGrp="1"/>
          </p:cNvSpPr>
          <p:nvPr>
            <p:ph type="sldNum" sz="quarter" idx="4294967295"/>
          </p:nvPr>
        </p:nvSpPr>
        <p:spPr>
          <a:xfrm>
            <a:off x="7010400" y="333375"/>
            <a:ext cx="2133600" cy="476250"/>
          </a:xfrm>
          <a:prstGeom prst="rect">
            <a:avLst/>
          </a:prstGeom>
        </p:spPr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34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14456849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Rotation</a:t>
            </a:r>
            <a:r>
              <a:rPr kumimoji="1" lang="ja-JP" altLang="en-US" dirty="0" smtClean="0"/>
              <a:t> </a:t>
            </a:r>
            <a:r>
              <a:rPr kumimoji="1" lang="en-US" altLang="ja-JP" dirty="0" smtClean="0"/>
              <a:t>Forest (Appendix)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アルゴリズム</a:t>
            </a:r>
            <a:endParaRPr kumimoji="1" lang="en-US" altLang="ja-JP" dirty="0" smtClean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sz="2800" dirty="0" smtClean="0"/>
              <a:t>学習用データのブートストラップサンプリングを行う．</a:t>
            </a:r>
            <a:endParaRPr kumimoji="1" lang="en-US" altLang="ja-JP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 smtClean="0"/>
              <a:t>データの属性を，複数のサブセットに分割する．</a:t>
            </a:r>
            <a:endParaRPr lang="en-US" altLang="ja-JP" sz="2800" dirty="0" smtClean="0"/>
          </a:p>
          <a:p>
            <a:pPr marL="514350" indent="-514350">
              <a:buFont typeface="+mj-lt"/>
              <a:buAutoNum type="arabicPeriod"/>
            </a:pPr>
            <a:r>
              <a:rPr kumimoji="1" lang="en-US" altLang="ja-JP" sz="2800" dirty="0"/>
              <a:t>1</a:t>
            </a:r>
            <a:r>
              <a:rPr kumimoji="1" lang="en-US" altLang="ja-JP" sz="2800" dirty="0" smtClean="0"/>
              <a:t>.</a:t>
            </a:r>
            <a:r>
              <a:rPr kumimoji="1" lang="ja-JP" altLang="en-US" sz="2800" dirty="0" smtClean="0"/>
              <a:t>で作ったデータを</a:t>
            </a:r>
            <a:r>
              <a:rPr kumimoji="1" lang="en-US" altLang="ja-JP" sz="2800" dirty="0" smtClean="0"/>
              <a:t>2.</a:t>
            </a:r>
            <a:r>
              <a:rPr kumimoji="1" lang="ja-JP" altLang="en-US" sz="2800" dirty="0" smtClean="0"/>
              <a:t>で作ったサブセットに従い分割する．</a:t>
            </a:r>
            <a:endParaRPr kumimoji="1" lang="en-US" altLang="ja-JP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ja-JP" altLang="en-US" sz="2800" dirty="0"/>
              <a:t>分割</a:t>
            </a:r>
            <a:r>
              <a:rPr lang="ja-JP" altLang="en-US" sz="2800" dirty="0" smtClean="0"/>
              <a:t>した各データに対し，主成分分析を行う．</a:t>
            </a:r>
            <a:endParaRPr lang="en-US" altLang="ja-JP" sz="2800" dirty="0" smtClean="0"/>
          </a:p>
          <a:p>
            <a:pPr marL="514350" indent="-514350">
              <a:buFont typeface="+mj-lt"/>
              <a:buAutoNum type="arabicPeriod"/>
            </a:pPr>
            <a:r>
              <a:rPr kumimoji="1" lang="ja-JP" altLang="en-US" sz="2800" dirty="0" smtClean="0"/>
              <a:t>得られたコンポーネントを適切に配置して回転行列を作成する</a:t>
            </a:r>
            <a:endParaRPr kumimoji="1" lang="en-US" altLang="ja-JP" sz="2800" dirty="0" smtClean="0"/>
          </a:p>
          <a:p>
            <a:pPr marL="514350" indent="-514350">
              <a:buFont typeface="+mj-lt"/>
              <a:buAutoNum type="arabicPeriod"/>
            </a:pPr>
            <a:r>
              <a:rPr lang="en-US" altLang="ja-JP" sz="2800" dirty="0"/>
              <a:t>1</a:t>
            </a:r>
            <a:r>
              <a:rPr lang="en-US" altLang="ja-JP" sz="2800" dirty="0" smtClean="0"/>
              <a:t>.</a:t>
            </a:r>
            <a:r>
              <a:rPr lang="ja-JP" altLang="en-US" sz="2800" dirty="0" smtClean="0"/>
              <a:t>で作ったデータを，回転行列で回転させ，そのデータを用いて決定木を作成する．</a:t>
            </a:r>
            <a:endParaRPr lang="en-US" altLang="ja-JP" sz="2800" dirty="0" smtClean="0"/>
          </a:p>
          <a:p>
            <a:pPr marL="514350" indent="-514350">
              <a:buFont typeface="+mj-lt"/>
              <a:buAutoNum type="arabicPeriod"/>
            </a:pPr>
            <a:r>
              <a:rPr kumimoji="1" lang="en-US" altLang="ja-JP" sz="2800" dirty="0" smtClean="0"/>
              <a:t>1~6</a:t>
            </a:r>
            <a:r>
              <a:rPr kumimoji="1" lang="ja-JP" altLang="en-US" sz="2800" dirty="0" smtClean="0"/>
              <a:t>を決定木の本数分繰り返す．</a:t>
            </a:r>
            <a:endParaRPr kumimoji="1" lang="ja-JP" altLang="en-US" sz="28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35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871142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 smtClean="0"/>
              <a:t>Rotation</a:t>
            </a:r>
            <a:r>
              <a:rPr kumimoji="1" lang="ja-JP" altLang="en-US" dirty="0" smtClean="0"/>
              <a:t> </a:t>
            </a:r>
            <a:r>
              <a:rPr lang="en-US" altLang="ja-JP" dirty="0" smtClean="0"/>
              <a:t>Forest (</a:t>
            </a:r>
            <a:r>
              <a:rPr lang="en-US" altLang="ja-JP" dirty="0"/>
              <a:t>Appendix)</a:t>
            </a:r>
            <a:endParaRPr kumimoji="1" lang="ja-JP" altLang="en-US" dirty="0"/>
          </a:p>
        </p:txBody>
      </p:sp>
      <p:sp>
        <p:nvSpPr>
          <p:cNvPr id="3" name="コンテンツ プレースホルダー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 smtClean="0"/>
              <a:t>アルゴリズム</a:t>
            </a:r>
            <a:endParaRPr kumimoji="1" lang="en-US" altLang="ja-JP" dirty="0" smtClean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36</a:t>
            </a:fld>
            <a:endParaRPr kumimoji="1" lang="ja-JP" altLang="en-US" dirty="0"/>
          </a:p>
        </p:txBody>
      </p:sp>
      <p:grpSp>
        <p:nvGrpSpPr>
          <p:cNvPr id="13" name="グループ化 12"/>
          <p:cNvGrpSpPr/>
          <p:nvPr/>
        </p:nvGrpSpPr>
        <p:grpSpPr>
          <a:xfrm>
            <a:off x="1281724" y="2871275"/>
            <a:ext cx="3038768" cy="523220"/>
            <a:chOff x="1459524" y="2871275"/>
            <a:chExt cx="3038768" cy="523220"/>
          </a:xfrm>
        </p:grpSpPr>
        <p:sp>
          <p:nvSpPr>
            <p:cNvPr id="5" name="テキスト ボックス 4"/>
            <p:cNvSpPr txBox="1"/>
            <p:nvPr/>
          </p:nvSpPr>
          <p:spPr>
            <a:xfrm>
              <a:off x="1459524" y="2871275"/>
              <a:ext cx="759655" cy="52322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1</a:t>
              </a:r>
              <a:endParaRPr kumimoji="1" lang="ja-JP" altLang="en-US" sz="2800" dirty="0" smtClean="0"/>
            </a:p>
          </p:txBody>
        </p:sp>
        <p:sp>
          <p:nvSpPr>
            <p:cNvPr id="6" name="テキスト ボックス 5"/>
            <p:cNvSpPr txBox="1"/>
            <p:nvPr/>
          </p:nvSpPr>
          <p:spPr>
            <a:xfrm>
              <a:off x="2219228" y="2871275"/>
              <a:ext cx="759655" cy="52322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/>
                <a:t>2</a:t>
              </a:r>
              <a:endParaRPr kumimoji="1" lang="ja-JP" altLang="en-US" sz="2800" dirty="0" smtClean="0"/>
            </a:p>
          </p:txBody>
        </p:sp>
        <p:sp>
          <p:nvSpPr>
            <p:cNvPr id="7" name="テキスト ボックス 6"/>
            <p:cNvSpPr txBox="1"/>
            <p:nvPr/>
          </p:nvSpPr>
          <p:spPr>
            <a:xfrm>
              <a:off x="2978932" y="2871275"/>
              <a:ext cx="759655" cy="52322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/>
                <a:t>3</a:t>
              </a:r>
              <a:endParaRPr kumimoji="1" lang="ja-JP" altLang="en-US" sz="2800" dirty="0" smtClean="0"/>
            </a:p>
          </p:txBody>
        </p:sp>
        <p:sp>
          <p:nvSpPr>
            <p:cNvPr id="8" name="テキスト ボックス 7"/>
            <p:cNvSpPr txBox="1"/>
            <p:nvPr/>
          </p:nvSpPr>
          <p:spPr>
            <a:xfrm>
              <a:off x="3738637" y="2871275"/>
              <a:ext cx="759655" cy="52322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4</a:t>
              </a:r>
              <a:endParaRPr kumimoji="1" lang="ja-JP" altLang="en-US" sz="2800" dirty="0" smtClean="0"/>
            </a:p>
          </p:txBody>
        </p:sp>
      </p:grpSp>
      <p:sp>
        <p:nvSpPr>
          <p:cNvPr id="12" name="テキスト ボックス 11"/>
          <p:cNvSpPr txBox="1"/>
          <p:nvPr/>
        </p:nvSpPr>
        <p:spPr>
          <a:xfrm>
            <a:off x="2310594" y="2199132"/>
            <a:ext cx="962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2800" dirty="0" smtClean="0"/>
              <a:t>属性</a:t>
            </a:r>
          </a:p>
        </p:txBody>
      </p:sp>
      <p:sp>
        <p:nvSpPr>
          <p:cNvPr id="14" name="下矢印 13"/>
          <p:cNvSpPr/>
          <p:nvPr/>
        </p:nvSpPr>
        <p:spPr>
          <a:xfrm rot="2700000">
            <a:off x="1431870" y="3606800"/>
            <a:ext cx="415779" cy="59690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sp>
        <p:nvSpPr>
          <p:cNvPr id="15" name="下矢印 14"/>
          <p:cNvSpPr/>
          <p:nvPr/>
        </p:nvSpPr>
        <p:spPr>
          <a:xfrm rot="18900000" flipH="1">
            <a:off x="3754566" y="3603004"/>
            <a:ext cx="415779" cy="596900"/>
          </a:xfrm>
          <a:prstGeom prst="downArrow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grpSp>
        <p:nvGrpSpPr>
          <p:cNvPr id="21" name="グループ化 20"/>
          <p:cNvGrpSpPr/>
          <p:nvPr/>
        </p:nvGrpSpPr>
        <p:grpSpPr>
          <a:xfrm>
            <a:off x="478437" y="4391260"/>
            <a:ext cx="1519359" cy="523220"/>
            <a:chOff x="1518151" y="4764373"/>
            <a:chExt cx="1519359" cy="523220"/>
          </a:xfrm>
        </p:grpSpPr>
        <p:sp>
          <p:nvSpPr>
            <p:cNvPr id="17" name="テキスト ボックス 16"/>
            <p:cNvSpPr txBox="1"/>
            <p:nvPr/>
          </p:nvSpPr>
          <p:spPr>
            <a:xfrm>
              <a:off x="1518151" y="4764373"/>
              <a:ext cx="759655" cy="52322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kumimoji="1" lang="en-US" altLang="ja-JP" sz="2800" dirty="0" smtClean="0"/>
                <a:t>1</a:t>
              </a:r>
              <a:endParaRPr kumimoji="1" lang="ja-JP" altLang="en-US" sz="2800" dirty="0" smtClean="0"/>
            </a:p>
          </p:txBody>
        </p:sp>
        <p:sp>
          <p:nvSpPr>
            <p:cNvPr id="18" name="テキスト ボックス 17"/>
            <p:cNvSpPr txBox="1"/>
            <p:nvPr/>
          </p:nvSpPr>
          <p:spPr>
            <a:xfrm>
              <a:off x="2277855" y="4764373"/>
              <a:ext cx="759655" cy="52322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3</a:t>
              </a:r>
              <a:endParaRPr kumimoji="1" lang="ja-JP" altLang="en-US" sz="2800" dirty="0" smtClean="0"/>
            </a:p>
          </p:txBody>
        </p:sp>
      </p:grpSp>
      <p:grpSp>
        <p:nvGrpSpPr>
          <p:cNvPr id="22" name="グループ化 21"/>
          <p:cNvGrpSpPr/>
          <p:nvPr/>
        </p:nvGrpSpPr>
        <p:grpSpPr>
          <a:xfrm>
            <a:off x="3560787" y="4391260"/>
            <a:ext cx="1519360" cy="523220"/>
            <a:chOff x="3037559" y="4764373"/>
            <a:chExt cx="1519360" cy="523220"/>
          </a:xfrm>
        </p:grpSpPr>
        <p:sp>
          <p:nvSpPr>
            <p:cNvPr id="19" name="テキスト ボックス 18"/>
            <p:cNvSpPr txBox="1"/>
            <p:nvPr/>
          </p:nvSpPr>
          <p:spPr>
            <a:xfrm>
              <a:off x="3037559" y="4764373"/>
              <a:ext cx="759655" cy="52322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2</a:t>
              </a:r>
              <a:endParaRPr kumimoji="1" lang="ja-JP" altLang="en-US" sz="2800" dirty="0" smtClean="0"/>
            </a:p>
          </p:txBody>
        </p:sp>
        <p:sp>
          <p:nvSpPr>
            <p:cNvPr id="20" name="テキスト ボックス 19"/>
            <p:cNvSpPr txBox="1"/>
            <p:nvPr/>
          </p:nvSpPr>
          <p:spPr>
            <a:xfrm>
              <a:off x="3797264" y="4764373"/>
              <a:ext cx="759655" cy="523220"/>
            </a:xfrm>
            <a:prstGeom prst="rect">
              <a:avLst/>
            </a:prstGeom>
            <a:noFill/>
            <a:ln w="38100">
              <a:solidFill>
                <a:schemeClr val="tx1"/>
              </a:solidFill>
            </a:ln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ja-JP" sz="2800" dirty="0" smtClean="0"/>
                <a:t>4</a:t>
              </a:r>
              <a:endParaRPr kumimoji="1" lang="ja-JP" altLang="en-US" sz="2800" dirty="0" smtClean="0"/>
            </a:p>
          </p:txBody>
        </p:sp>
      </p:grpSp>
      <p:grpSp>
        <p:nvGrpSpPr>
          <p:cNvPr id="31" name="グループ化 30"/>
          <p:cNvGrpSpPr/>
          <p:nvPr/>
        </p:nvGrpSpPr>
        <p:grpSpPr>
          <a:xfrm>
            <a:off x="497307" y="5577580"/>
            <a:ext cx="1481570" cy="958245"/>
            <a:chOff x="2428098" y="5198054"/>
            <a:chExt cx="1481570" cy="958245"/>
          </a:xfrm>
        </p:grpSpPr>
        <p:grpSp>
          <p:nvGrpSpPr>
            <p:cNvPr id="30" name="グループ化 29"/>
            <p:cNvGrpSpPr/>
            <p:nvPr/>
          </p:nvGrpSpPr>
          <p:grpSpPr>
            <a:xfrm>
              <a:off x="2428098" y="5198054"/>
              <a:ext cx="1481570" cy="936020"/>
              <a:chOff x="2314924" y="5257800"/>
              <a:chExt cx="1481570" cy="936020"/>
            </a:xfrm>
          </p:grpSpPr>
          <p:sp>
            <p:nvSpPr>
              <p:cNvPr id="23" name="テキスト ボックス 22"/>
              <p:cNvSpPr txBox="1"/>
              <p:nvPr/>
            </p:nvSpPr>
            <p:spPr>
              <a:xfrm>
                <a:off x="2314924" y="5257800"/>
                <a:ext cx="8181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800" baseline="-25000" dirty="0" smtClean="0"/>
                  <a:t>1,1</a:t>
                </a:r>
                <a:endParaRPr kumimoji="1" lang="ja-JP" altLang="en-US" sz="2800" dirty="0" smtClean="0"/>
              </a:p>
            </p:txBody>
          </p:sp>
          <p:sp>
            <p:nvSpPr>
              <p:cNvPr id="24" name="テキスト ボックス 23"/>
              <p:cNvSpPr txBox="1"/>
              <p:nvPr/>
            </p:nvSpPr>
            <p:spPr>
              <a:xfrm>
                <a:off x="2314924" y="5670600"/>
                <a:ext cx="8181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800" baseline="-25000" dirty="0" smtClean="0"/>
                  <a:t>1,3</a:t>
                </a:r>
                <a:endParaRPr kumimoji="1" lang="ja-JP" altLang="en-US" sz="2800" dirty="0" smtClean="0"/>
              </a:p>
            </p:txBody>
          </p:sp>
          <p:sp>
            <p:nvSpPr>
              <p:cNvPr id="25" name="テキスト ボックス 24"/>
              <p:cNvSpPr txBox="1"/>
              <p:nvPr/>
            </p:nvSpPr>
            <p:spPr>
              <a:xfrm>
                <a:off x="2978358" y="5257800"/>
                <a:ext cx="8181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kumimoji="1" lang="en-US" altLang="ja-JP" sz="2800" baseline="-25000" dirty="0" smtClean="0"/>
                  <a:t>3,1</a:t>
                </a:r>
                <a:endParaRPr kumimoji="1" lang="ja-JP" altLang="en-US" sz="2800" dirty="0" smtClean="0"/>
              </a:p>
            </p:txBody>
          </p:sp>
          <p:sp>
            <p:nvSpPr>
              <p:cNvPr id="26" name="テキスト ボックス 25"/>
              <p:cNvSpPr txBox="1"/>
              <p:nvPr/>
            </p:nvSpPr>
            <p:spPr>
              <a:xfrm>
                <a:off x="2978358" y="5670600"/>
                <a:ext cx="8181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ja-JP" sz="2800" baseline="-25000" dirty="0"/>
                  <a:t>3</a:t>
                </a:r>
                <a:r>
                  <a:rPr kumimoji="1" lang="en-US" altLang="ja-JP" sz="2800" baseline="-25000" dirty="0" smtClean="0"/>
                  <a:t>,3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29" name="大かっこ 28"/>
            <p:cNvSpPr/>
            <p:nvPr/>
          </p:nvSpPr>
          <p:spPr>
            <a:xfrm>
              <a:off x="2428098" y="5277429"/>
              <a:ext cx="1481570" cy="878870"/>
            </a:xfrm>
            <a:prstGeom prst="bracketPair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pSp>
        <p:nvGrpSpPr>
          <p:cNvPr id="32" name="グループ化 31"/>
          <p:cNvGrpSpPr/>
          <p:nvPr/>
        </p:nvGrpSpPr>
        <p:grpSpPr>
          <a:xfrm>
            <a:off x="3556806" y="5577580"/>
            <a:ext cx="1481570" cy="958245"/>
            <a:chOff x="2428098" y="5198054"/>
            <a:chExt cx="1481570" cy="958245"/>
          </a:xfrm>
        </p:grpSpPr>
        <p:grpSp>
          <p:nvGrpSpPr>
            <p:cNvPr id="33" name="グループ化 32"/>
            <p:cNvGrpSpPr/>
            <p:nvPr/>
          </p:nvGrpSpPr>
          <p:grpSpPr>
            <a:xfrm>
              <a:off x="2428098" y="5198054"/>
              <a:ext cx="1481570" cy="936020"/>
              <a:chOff x="2314924" y="5257800"/>
              <a:chExt cx="1481570" cy="936020"/>
            </a:xfrm>
          </p:grpSpPr>
          <p:sp>
            <p:nvSpPr>
              <p:cNvPr id="35" name="テキスト ボックス 34"/>
              <p:cNvSpPr txBox="1"/>
              <p:nvPr/>
            </p:nvSpPr>
            <p:spPr>
              <a:xfrm>
                <a:off x="2314924" y="5257800"/>
                <a:ext cx="8181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ja-JP" sz="2800" baseline="-25000" dirty="0" smtClean="0"/>
                  <a:t>2</a:t>
                </a:r>
                <a:r>
                  <a:rPr kumimoji="1" lang="en-US" altLang="ja-JP" sz="2800" baseline="-25000" dirty="0" smtClean="0"/>
                  <a:t>,2</a:t>
                </a:r>
                <a:endParaRPr kumimoji="1" lang="ja-JP" altLang="en-US" sz="2800" dirty="0" smtClean="0"/>
              </a:p>
            </p:txBody>
          </p:sp>
          <p:sp>
            <p:nvSpPr>
              <p:cNvPr id="36" name="テキスト ボックス 35"/>
              <p:cNvSpPr txBox="1"/>
              <p:nvPr/>
            </p:nvSpPr>
            <p:spPr>
              <a:xfrm>
                <a:off x="2314924" y="5670600"/>
                <a:ext cx="8181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ja-JP" sz="2800" baseline="-25000" dirty="0" smtClean="0"/>
                  <a:t>2</a:t>
                </a:r>
                <a:r>
                  <a:rPr kumimoji="1" lang="en-US" altLang="ja-JP" sz="2800" baseline="-25000" dirty="0" smtClean="0"/>
                  <a:t>,4</a:t>
                </a:r>
                <a:endParaRPr kumimoji="1" lang="ja-JP" altLang="en-US" sz="2800" dirty="0" smtClean="0"/>
              </a:p>
            </p:txBody>
          </p:sp>
          <p:sp>
            <p:nvSpPr>
              <p:cNvPr id="37" name="テキスト ボックス 36"/>
              <p:cNvSpPr txBox="1"/>
              <p:nvPr/>
            </p:nvSpPr>
            <p:spPr>
              <a:xfrm>
                <a:off x="2978358" y="5257800"/>
                <a:ext cx="8181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ja-JP" sz="2800" baseline="-25000" dirty="0" smtClean="0"/>
                  <a:t>4</a:t>
                </a:r>
                <a:r>
                  <a:rPr kumimoji="1" lang="en-US" altLang="ja-JP" sz="2800" baseline="-25000" dirty="0" smtClean="0"/>
                  <a:t>,2</a:t>
                </a:r>
                <a:endParaRPr kumimoji="1" lang="ja-JP" altLang="en-US" sz="2800" dirty="0" smtClean="0"/>
              </a:p>
            </p:txBody>
          </p:sp>
          <p:sp>
            <p:nvSpPr>
              <p:cNvPr id="38" name="テキスト ボックス 37"/>
              <p:cNvSpPr txBox="1"/>
              <p:nvPr/>
            </p:nvSpPr>
            <p:spPr>
              <a:xfrm>
                <a:off x="2978358" y="5670600"/>
                <a:ext cx="818136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kumimoji="1" lang="en-US" altLang="ja-JP" sz="2800" i="1" dirty="0" smtClean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</a:t>
                </a:r>
                <a:r>
                  <a:rPr lang="en-US" altLang="ja-JP" sz="2800" baseline="-25000" dirty="0" smtClean="0"/>
                  <a:t>4</a:t>
                </a:r>
                <a:r>
                  <a:rPr kumimoji="1" lang="en-US" altLang="ja-JP" sz="2800" baseline="-25000" dirty="0" smtClean="0"/>
                  <a:t>,4</a:t>
                </a:r>
                <a:endParaRPr kumimoji="1" lang="ja-JP" altLang="en-US" sz="2800" dirty="0" smtClean="0"/>
              </a:p>
            </p:txBody>
          </p:sp>
        </p:grpSp>
        <p:sp>
          <p:nvSpPr>
            <p:cNvPr id="34" name="大かっこ 33"/>
            <p:cNvSpPr/>
            <p:nvPr/>
          </p:nvSpPr>
          <p:spPr>
            <a:xfrm>
              <a:off x="2428098" y="5277429"/>
              <a:ext cx="1481570" cy="878870"/>
            </a:xfrm>
            <a:prstGeom prst="bracketPair">
              <a:avLst/>
            </a:prstGeom>
            <a:ln w="28575">
              <a:solidFill>
                <a:schemeClr val="tx1"/>
              </a:solidFill>
              <a:tailEnd type="non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graphicFrame>
        <p:nvGraphicFramePr>
          <p:cNvPr id="39" name="表 3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32542503"/>
              </p:ext>
            </p:extLst>
          </p:nvPr>
        </p:nvGraphicFramePr>
        <p:xfrm>
          <a:off x="5888096" y="3543417"/>
          <a:ext cx="3017520" cy="2072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4380"/>
                <a:gridCol w="754380"/>
                <a:gridCol w="754380"/>
                <a:gridCol w="75438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1" lang="en-US" altLang="ja-JP" sz="2800" b="0" baseline="-25000" dirty="0" smtClean="0">
                          <a:solidFill>
                            <a:schemeClr val="tx1"/>
                          </a:solidFill>
                        </a:rPr>
                        <a:t>1,1</a:t>
                      </a:r>
                      <a:endParaRPr kumimoji="1" lang="ja-JP" altLang="en-US" sz="2800" b="0" baseline="-2500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1" lang="en-US" altLang="ja-JP" sz="2800" b="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3</a:t>
                      </a:r>
                      <a:r>
                        <a:rPr kumimoji="1" lang="en-US" altLang="ja-JP" sz="2800" b="0" baseline="-25000" dirty="0" smtClean="0">
                          <a:solidFill>
                            <a:schemeClr val="tx1"/>
                          </a:solidFill>
                        </a:rPr>
                        <a:t>,1</a:t>
                      </a:r>
                      <a:endParaRPr kumimoji="1" lang="ja-JP" altLang="en-US" sz="28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1" lang="en-US" altLang="ja-JP" sz="2800" b="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2</a:t>
                      </a:r>
                      <a:r>
                        <a:rPr kumimoji="1" lang="en-US" altLang="ja-JP" sz="2800" b="0" baseline="-25000" dirty="0" smtClean="0">
                          <a:solidFill>
                            <a:schemeClr val="tx1"/>
                          </a:solidFill>
                        </a:rPr>
                        <a:t>,2</a:t>
                      </a:r>
                      <a:endParaRPr kumimoji="1" lang="ja-JP" altLang="en-US" sz="28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1" lang="en-US" altLang="ja-JP" sz="2800" b="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4</a:t>
                      </a:r>
                      <a:r>
                        <a:rPr kumimoji="1" lang="en-US" altLang="ja-JP" sz="2800" b="0" baseline="-25000" dirty="0" smtClean="0">
                          <a:solidFill>
                            <a:schemeClr val="tx1"/>
                          </a:solidFill>
                        </a:rPr>
                        <a:t>,2</a:t>
                      </a:r>
                      <a:endParaRPr kumimoji="1" lang="ja-JP" altLang="en-US" sz="28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1" lang="en-US" altLang="ja-JP" sz="2800" b="0" baseline="-25000" dirty="0" smtClean="0">
                          <a:solidFill>
                            <a:schemeClr val="tx1"/>
                          </a:solidFill>
                        </a:rPr>
                        <a:t>1,3</a:t>
                      </a:r>
                      <a:endParaRPr kumimoji="1" lang="ja-JP" altLang="en-US" sz="28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1" lang="en-US" altLang="ja-JP" sz="2800" b="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3</a:t>
                      </a:r>
                      <a:r>
                        <a:rPr kumimoji="1" lang="en-US" altLang="ja-JP" sz="2800" b="0" baseline="-25000" dirty="0" smtClean="0">
                          <a:solidFill>
                            <a:schemeClr val="tx1"/>
                          </a:solidFill>
                        </a:rPr>
                        <a:t>,3</a:t>
                      </a:r>
                      <a:endParaRPr kumimoji="1" lang="ja-JP" altLang="en-US" sz="28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1" lang="en-US" altLang="ja-JP" sz="2800" b="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2</a:t>
                      </a:r>
                      <a:r>
                        <a:rPr kumimoji="1" lang="en-US" altLang="ja-JP" sz="2800" b="0" baseline="-25000" dirty="0" smtClean="0">
                          <a:solidFill>
                            <a:schemeClr val="tx1"/>
                          </a:solidFill>
                        </a:rPr>
                        <a:t>,4</a:t>
                      </a:r>
                      <a:endParaRPr kumimoji="1" lang="ja-JP" altLang="en-US" sz="28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kumimoji="1" lang="en-US" altLang="ja-JP" sz="2800" b="0" dirty="0" smtClean="0">
                          <a:solidFill>
                            <a:schemeClr val="tx1"/>
                          </a:solidFill>
                        </a:rPr>
                        <a:t>0</a:t>
                      </a:r>
                      <a:endParaRPr kumimoji="1" lang="ja-JP" altLang="en-US" sz="2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6858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ja-JP" sz="2800" b="0" i="1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</a:t>
                      </a:r>
                      <a:r>
                        <a:rPr kumimoji="1" lang="en-US" altLang="ja-JP" sz="2800" b="0" i="0" baseline="-25000" dirty="0" smtClean="0">
                          <a:solidFill>
                            <a:schemeClr val="tx1"/>
                          </a:solidFill>
                          <a:latin typeface="+mn-lt"/>
                          <a:cs typeface="+mn-cs"/>
                        </a:rPr>
                        <a:t>4</a:t>
                      </a:r>
                      <a:r>
                        <a:rPr kumimoji="1" lang="en-US" altLang="ja-JP" sz="2800" b="0" baseline="-25000" dirty="0" smtClean="0">
                          <a:solidFill>
                            <a:schemeClr val="tx1"/>
                          </a:solidFill>
                        </a:rPr>
                        <a:t>,4</a:t>
                      </a:r>
                      <a:endParaRPr kumimoji="1" lang="ja-JP" altLang="en-US" sz="2800" b="0" baseline="-25000" dirty="0" smtClean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sp>
        <p:nvSpPr>
          <p:cNvPr id="41" name="テキスト ボックス 40"/>
          <p:cNvSpPr txBox="1"/>
          <p:nvPr/>
        </p:nvSpPr>
        <p:spPr>
          <a:xfrm>
            <a:off x="757079" y="5032135"/>
            <a:ext cx="962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PCA</a:t>
            </a:r>
            <a:endParaRPr kumimoji="1" lang="ja-JP" altLang="en-US" sz="2800" dirty="0" smtClean="0"/>
          </a:p>
        </p:txBody>
      </p:sp>
      <p:sp>
        <p:nvSpPr>
          <p:cNvPr id="42" name="テキスト ボックス 41"/>
          <p:cNvSpPr txBox="1"/>
          <p:nvPr/>
        </p:nvSpPr>
        <p:spPr>
          <a:xfrm>
            <a:off x="3816578" y="5032135"/>
            <a:ext cx="962025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ja-JP" sz="2800" dirty="0" smtClean="0"/>
              <a:t>PCA</a:t>
            </a:r>
            <a:endParaRPr kumimoji="1" lang="ja-JP" altLang="en-US" sz="2800" dirty="0" smtClean="0"/>
          </a:p>
        </p:txBody>
      </p:sp>
      <p:sp>
        <p:nvSpPr>
          <p:cNvPr id="43" name="テキスト ボックス 42"/>
          <p:cNvSpPr txBox="1"/>
          <p:nvPr/>
        </p:nvSpPr>
        <p:spPr>
          <a:xfrm>
            <a:off x="6401970" y="2791597"/>
            <a:ext cx="198977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2800" dirty="0" smtClean="0"/>
              <a:t>回転行列</a:t>
            </a:r>
            <a:endParaRPr kumimoji="1" lang="ja-JP" altLang="en-US" sz="2800" dirty="0" smtClean="0"/>
          </a:p>
        </p:txBody>
      </p:sp>
      <p:sp>
        <p:nvSpPr>
          <p:cNvPr id="44" name="大かっこ 43"/>
          <p:cNvSpPr/>
          <p:nvPr/>
        </p:nvSpPr>
        <p:spPr>
          <a:xfrm>
            <a:off x="5768904" y="3593825"/>
            <a:ext cx="3255904" cy="2118090"/>
          </a:xfrm>
          <a:prstGeom prst="bracketPair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14970178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sz="3900" dirty="0" smtClean="0"/>
              <a:t>NULL</a:t>
            </a:r>
            <a:r>
              <a:rPr kumimoji="1" lang="ja-JP" altLang="en-US" sz="3900" dirty="0" smtClean="0"/>
              <a:t> </a:t>
            </a:r>
            <a:r>
              <a:rPr lang="en-US" altLang="ja-JP" sz="3900" dirty="0"/>
              <a:t>S</a:t>
            </a:r>
            <a:r>
              <a:rPr kumimoji="1" lang="en-US" altLang="ja-JP" sz="3900" dirty="0" smtClean="0"/>
              <a:t>pace</a:t>
            </a:r>
            <a:r>
              <a:rPr kumimoji="1" lang="ja-JP" altLang="en-US" sz="3900" dirty="0" smtClean="0"/>
              <a:t> </a:t>
            </a:r>
            <a:r>
              <a:rPr lang="en-US" altLang="ja-JP" sz="3900" dirty="0" smtClean="0"/>
              <a:t>Approach (Appendix)</a:t>
            </a:r>
            <a:endParaRPr kumimoji="1" lang="ja-JP" altLang="en-US" sz="3900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5C67937-D10B-4F1B-BCB2-26B69D4AE1E2}" type="slidenum">
              <a:rPr kumimoji="1" lang="ja-JP" altLang="en-US" smtClean="0"/>
              <a:pPr/>
              <a:t>37</a:t>
            </a:fld>
            <a:endParaRPr kumimoji="1" lang="ja-JP" altLang="en-US" dirty="0"/>
          </a:p>
        </p:txBody>
      </p:sp>
      <p:pic>
        <p:nvPicPr>
          <p:cNvPr id="5" name="図 4"/>
          <p:cNvPicPr>
            <a:picLocks noChangeAspect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33835" y="1476375"/>
            <a:ext cx="8152530" cy="51839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084389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eme_Lab">
  <a:themeElements>
    <a:clrScheme name="ユーザー定義 1">
      <a:dk1>
        <a:srgbClr val="000000"/>
      </a:dk1>
      <a:lt1>
        <a:srgbClr val="FFFAF5"/>
      </a:lt1>
      <a:dk2>
        <a:srgbClr val="000000"/>
      </a:dk2>
      <a:lt2>
        <a:srgbClr val="808080"/>
      </a:lt2>
      <a:accent1>
        <a:srgbClr val="FF1D38"/>
      </a:accent1>
      <a:accent2>
        <a:srgbClr val="333399"/>
      </a:accent2>
      <a:accent3>
        <a:srgbClr val="34ADFD"/>
      </a:accent3>
      <a:accent4>
        <a:srgbClr val="FFFF00"/>
      </a:accent4>
      <a:accent5>
        <a:srgbClr val="00B050"/>
      </a:accent5>
      <a:accent6>
        <a:srgbClr val="F93DD5"/>
      </a:accent6>
      <a:hlink>
        <a:srgbClr val="009999"/>
      </a:hlink>
      <a:folHlink>
        <a:srgbClr val="99CC00"/>
      </a:folHlink>
    </a:clrScheme>
    <a:fontScheme name="ユーザー定義 1">
      <a:majorFont>
        <a:latin typeface="Arial"/>
        <a:ea typeface="ＭＳ Ｐゴシック"/>
        <a:cs typeface=""/>
      </a:majorFont>
      <a:minorFont>
        <a:latin typeface="Arial"/>
        <a:ea typeface="ＭＳ P ゴシック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</a:spPr>
      <a:bodyPr rtlCol="0" anchor="ctr"/>
      <a:lstStyle>
        <a:defPPr algn="ctr">
          <a:defRPr kumimoji="1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28575">
          <a:solidFill>
            <a:schemeClr val="tx1"/>
          </a:solidFill>
          <a:tailEnd type="non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square" rtlCol="0">
        <a:spAutoFit/>
      </a:bodyPr>
      <a:lstStyle>
        <a:defPPr algn="ctr">
          <a:defRPr kumimoji="1" sz="2800" dirty="0" smtClean="0"/>
        </a:defPPr>
      </a:lstStyle>
    </a:txDef>
  </a:objectDefaults>
  <a:extraClrSchemeLst>
    <a:extraClrScheme>
      <a:clrScheme name="標準デザイン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標準デザイン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標準デザイン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Theme_Lab" id="{0C20440C-F220-4E95-8F8C-2F95EAAAEEE1}" vid="{0A5ABDEE-C0A6-488E-B56E-FF71C8FF96D6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Theme_lab</Template>
  <TotalTime>849</TotalTime>
  <Words>1441</Words>
  <Application>Microsoft Office PowerPoint</Application>
  <PresentationFormat>画面に合わせる (4:3)</PresentationFormat>
  <Paragraphs>462</Paragraphs>
  <Slides>37</Slides>
  <Notes>4</Notes>
  <HiddenSlides>3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37</vt:i4>
      </vt:variant>
    </vt:vector>
  </HeadingPairs>
  <TitlesOfParts>
    <vt:vector size="45" baseType="lpstr">
      <vt:lpstr>ＭＳ P ゴシック</vt:lpstr>
      <vt:lpstr>ＭＳ Ｐゴシック</vt:lpstr>
      <vt:lpstr>Arial</vt:lpstr>
      <vt:lpstr>Calibri</vt:lpstr>
      <vt:lpstr>Cambria Math</vt:lpstr>
      <vt:lpstr>Symbol</vt:lpstr>
      <vt:lpstr>Times New Roman</vt:lpstr>
      <vt:lpstr>Theme_Lab</vt:lpstr>
      <vt:lpstr>英語論文発表 (7/3)</vt:lpstr>
      <vt:lpstr>論文情報</vt:lpstr>
      <vt:lpstr>概要</vt:lpstr>
      <vt:lpstr>Rotation Forest</vt:lpstr>
      <vt:lpstr>Multisurface Proximal SVM</vt:lpstr>
      <vt:lpstr>Multisurface Proximal SVM</vt:lpstr>
      <vt:lpstr>Multisurface Proximal SVM</vt:lpstr>
      <vt:lpstr>提案手法</vt:lpstr>
      <vt:lpstr>提案手法</vt:lpstr>
      <vt:lpstr>提案手法</vt:lpstr>
      <vt:lpstr>提案手法</vt:lpstr>
      <vt:lpstr>提案手法</vt:lpstr>
      <vt:lpstr>提案手法</vt:lpstr>
      <vt:lpstr>提案手法</vt:lpstr>
      <vt:lpstr>実験設定</vt:lpstr>
      <vt:lpstr>実験設定</vt:lpstr>
      <vt:lpstr>実験結果</vt:lpstr>
      <vt:lpstr>実験結果</vt:lpstr>
      <vt:lpstr>実験結果</vt:lpstr>
      <vt:lpstr>考察</vt:lpstr>
      <vt:lpstr>考察</vt:lpstr>
      <vt:lpstr>考察</vt:lpstr>
      <vt:lpstr>考察</vt:lpstr>
      <vt:lpstr>考察</vt:lpstr>
      <vt:lpstr>考察</vt:lpstr>
      <vt:lpstr>考察</vt:lpstr>
      <vt:lpstr>考察</vt:lpstr>
      <vt:lpstr>実験内容2</vt:lpstr>
      <vt:lpstr>実験結果</vt:lpstr>
      <vt:lpstr>実験結果</vt:lpstr>
      <vt:lpstr>実験結果</vt:lpstr>
      <vt:lpstr>実験結果</vt:lpstr>
      <vt:lpstr>結論</vt:lpstr>
      <vt:lpstr>PowerPoint プレゼンテーション</vt:lpstr>
      <vt:lpstr>Rotation Forest (Appendix)</vt:lpstr>
      <vt:lpstr>Rotation Forest (Appendix)</vt:lpstr>
      <vt:lpstr>NULL Space Approach (Appendix)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英語論文発表 (7/3)</dc:title>
  <dc:creator>瓜田 俊貴</dc:creator>
  <cp:lastModifiedBy>瓜田 俊貴</cp:lastModifiedBy>
  <cp:revision>70</cp:revision>
  <dcterms:created xsi:type="dcterms:W3CDTF">2019-07-01T13:07:39Z</dcterms:created>
  <dcterms:modified xsi:type="dcterms:W3CDTF">2019-07-02T20:37:15Z</dcterms:modified>
</cp:coreProperties>
</file>