
<file path=[Content_Types].xml><?xml version="1.0" encoding="utf-8"?>
<Types xmlns="http://schemas.openxmlformats.org/package/2006/content-types">
  <Default Extension="png" ContentType="image/pn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6" r:id="rId1"/>
  </p:sldMasterIdLst>
  <p:sldIdLst>
    <p:sldId id="256" r:id="rId2"/>
    <p:sldId id="257" r:id="rId3"/>
    <p:sldId id="259" r:id="rId4"/>
    <p:sldId id="258" r:id="rId5"/>
    <p:sldId id="260" r:id="rId6"/>
    <p:sldId id="261" r:id="rId7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68" d="100"/>
          <a:sy n="68" d="100"/>
        </p:scale>
        <p:origin x="138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rrowheads="1"/>
          </p:cNvSpPr>
          <p:nvPr/>
        </p:nvSpPr>
        <p:spPr bwMode="auto">
          <a:xfrm>
            <a:off x="0" y="0"/>
            <a:ext cx="9144000" cy="41148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 dirty="0"/>
          </a:p>
        </p:txBody>
      </p:sp>
      <p:sp>
        <p:nvSpPr>
          <p:cNvPr id="921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31"/>
            <a:ext cx="7772400" cy="1470025"/>
          </a:xfrm>
        </p:spPr>
        <p:txBody>
          <a:bodyPr/>
          <a:lstStyle>
            <a:lvl1pPr algn="ctr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267200"/>
            <a:ext cx="6400800" cy="1371600"/>
          </a:xfrm>
        </p:spPr>
        <p:txBody>
          <a:bodyPr anchor="ctr"/>
          <a:lstStyle>
            <a:lvl1pPr marL="0" indent="0" algn="ctr">
              <a:buFontTx/>
              <a:buNone/>
              <a:defRPr sz="3200"/>
            </a:lvl1pPr>
          </a:lstStyle>
          <a:p>
            <a:r>
              <a:rPr lang="ja-JP" altLang="en-US" smtClean="0"/>
              <a:t>マスター サブタイトルの書式設定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891631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4400"/>
            </a:lvl1pPr>
          </a:lstStyle>
          <a:p>
            <a:r>
              <a:rPr kumimoji="1" lang="ja-JP" altLang="en-US" dirty="0" smtClean="0"/>
              <a:t>論文情報</a:t>
            </a:r>
            <a:endParaRPr kumimoji="1" lang="ja-JP" altLang="en-US" dirty="0"/>
          </a:p>
        </p:txBody>
      </p:sp>
      <p:sp>
        <p:nvSpPr>
          <p:cNvPr id="3" name="テキスト ボックス 2"/>
          <p:cNvSpPr txBox="1"/>
          <p:nvPr/>
        </p:nvSpPr>
        <p:spPr>
          <a:xfrm>
            <a:off x="228600" y="1323977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論文名</a:t>
            </a:r>
          </a:p>
        </p:txBody>
      </p:sp>
      <p:sp>
        <p:nvSpPr>
          <p:cNvPr id="4" name="テキスト ボックス 3"/>
          <p:cNvSpPr txBox="1"/>
          <p:nvPr/>
        </p:nvSpPr>
        <p:spPr>
          <a:xfrm>
            <a:off x="228600" y="3125440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著者名</a:t>
            </a:r>
          </a:p>
        </p:txBody>
      </p:sp>
      <p:sp>
        <p:nvSpPr>
          <p:cNvPr id="5" name="テキスト ボックス 4"/>
          <p:cNvSpPr txBox="1"/>
          <p:nvPr/>
        </p:nvSpPr>
        <p:spPr>
          <a:xfrm>
            <a:off x="228600" y="4724400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/>
              <a:t>出典</a:t>
            </a:r>
            <a:endParaRPr kumimoji="1" lang="ja-JP" altLang="en-US" sz="3200" dirty="0" smtClean="0"/>
          </a:p>
        </p:txBody>
      </p:sp>
      <p:sp>
        <p:nvSpPr>
          <p:cNvPr id="6" name="コンテンツ プレースホルダ 2"/>
          <p:cNvSpPr>
            <a:spLocks noGrp="1"/>
          </p:cNvSpPr>
          <p:nvPr>
            <p:ph idx="1" hasCustomPrompt="1"/>
          </p:nvPr>
        </p:nvSpPr>
        <p:spPr>
          <a:xfrm>
            <a:off x="1828800" y="1323977"/>
            <a:ext cx="7086600" cy="1551337"/>
          </a:xfrm>
        </p:spPr>
        <p:txBody>
          <a:bodyPr/>
          <a:lstStyle>
            <a:lvl1pPr marL="0" indent="0" algn="just">
              <a:buNone/>
              <a:defRPr sz="28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論文名</a:t>
            </a:r>
          </a:p>
        </p:txBody>
      </p:sp>
      <p:sp>
        <p:nvSpPr>
          <p:cNvPr id="7" name="コンテンツ プレースホルダ 2"/>
          <p:cNvSpPr>
            <a:spLocks noGrp="1"/>
          </p:cNvSpPr>
          <p:nvPr>
            <p:ph idx="10" hasCustomPrompt="1"/>
          </p:nvPr>
        </p:nvSpPr>
        <p:spPr>
          <a:xfrm>
            <a:off x="1828800" y="3125441"/>
            <a:ext cx="7086600" cy="1391142"/>
          </a:xfrm>
        </p:spPr>
        <p:txBody>
          <a:bodyPr/>
          <a:lstStyle>
            <a:lvl1pPr marL="0" indent="0" algn="just">
              <a:buNone/>
              <a:defRPr sz="28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著者名</a:t>
            </a:r>
          </a:p>
        </p:txBody>
      </p:sp>
      <p:sp>
        <p:nvSpPr>
          <p:cNvPr id="8" name="コンテンツ プレースホルダ 2"/>
          <p:cNvSpPr>
            <a:spLocks noGrp="1"/>
          </p:cNvSpPr>
          <p:nvPr>
            <p:ph idx="11" hasCustomPrompt="1"/>
          </p:nvPr>
        </p:nvSpPr>
        <p:spPr>
          <a:xfrm>
            <a:off x="1828800" y="4724400"/>
            <a:ext cx="7086600" cy="1551337"/>
          </a:xfrm>
        </p:spPr>
        <p:txBody>
          <a:bodyPr/>
          <a:lstStyle>
            <a:lvl1pPr marL="0" indent="0" algn="just">
              <a:buNone/>
              <a:defRPr sz="28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出典</a:t>
            </a:r>
          </a:p>
        </p:txBody>
      </p:sp>
    </p:spTree>
    <p:extLst>
      <p:ext uri="{BB962C8B-B14F-4D97-AF65-F5344CB8AC3E}">
        <p14:creationId xmlns:p14="http://schemas.microsoft.com/office/powerpoint/2010/main" val="39418127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7669418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+サブ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70780"/>
            <a:ext cx="9067800" cy="573087"/>
          </a:xfrm>
        </p:spPr>
        <p:txBody>
          <a:bodyPr anchor="ctr"/>
          <a:lstStyle>
            <a:lvl1pPr marL="0" indent="0">
              <a:buNone/>
              <a:defRPr sz="3600" b="1" baseline="0">
                <a:solidFill>
                  <a:schemeClr val="accent4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1080426907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+サブ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70780"/>
            <a:ext cx="9067800" cy="573087"/>
          </a:xfrm>
        </p:spPr>
        <p:txBody>
          <a:bodyPr anchor="ctr"/>
          <a:lstStyle>
            <a:lvl1pPr marL="0" indent="0">
              <a:buNone/>
              <a:defRPr sz="3600" b="1" baseline="0">
                <a:solidFill>
                  <a:schemeClr val="accent4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550715513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50252942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作図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6587737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終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spect="1" noChangeArrowheads="1"/>
          </p:cNvSpPr>
          <p:nvPr/>
        </p:nvSpPr>
        <p:spPr bwMode="auto">
          <a:xfrm>
            <a:off x="-19431" y="-102870"/>
            <a:ext cx="9182862" cy="7063740"/>
          </a:xfrm>
          <a:prstGeom prst="rect">
            <a:avLst/>
          </a:prstGeom>
          <a:solidFill>
            <a:schemeClr val="tx1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 dirty="0"/>
          </a:p>
        </p:txBody>
      </p:sp>
    </p:spTree>
    <p:extLst>
      <p:ext uri="{BB962C8B-B14F-4D97-AF65-F5344CB8AC3E}">
        <p14:creationId xmlns:p14="http://schemas.microsoft.com/office/powerpoint/2010/main" val="193299197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7"/>
          <p:cNvSpPr>
            <a:spLocks noChangeArrowheads="1"/>
          </p:cNvSpPr>
          <p:nvPr/>
        </p:nvSpPr>
        <p:spPr bwMode="auto">
          <a:xfrm>
            <a:off x="0" y="0"/>
            <a:ext cx="9144000" cy="11430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 dirty="0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6200" y="0"/>
            <a:ext cx="9067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28600" y="1371600"/>
            <a:ext cx="8686800" cy="518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6895009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74" r:id="rId2"/>
    <p:sldLayoutId id="2147483668" r:id="rId3"/>
    <p:sldLayoutId id="2147483669" r:id="rId4"/>
    <p:sldLayoutId id="2147483673" r:id="rId5"/>
    <p:sldLayoutId id="2147483670" r:id="rId6"/>
    <p:sldLayoutId id="2147483671" r:id="rId7"/>
    <p:sldLayoutId id="2147483672" r:id="rId8"/>
  </p:sldLayoutIdLst>
  <p:timing>
    <p:tnLst>
      <p:par>
        <p:cTn id="1" dur="indefinite" restart="never" nodeType="tmRoot"/>
      </p:par>
    </p:tnLst>
  </p:timing>
  <p:hf hdr="0" ftr="0" dt="0"/>
  <p:txStyles>
    <p:titleStyle>
      <a:lvl1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+mj-lt"/>
          <a:ea typeface="+mj-ea"/>
          <a:cs typeface="+mj-cs"/>
        </a:defRPr>
      </a:lvl1pPr>
      <a:lvl2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2pPr>
      <a:lvl3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3pPr>
      <a:lvl4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4pPr>
      <a:lvl5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5pPr>
      <a:lvl6pPr marL="3429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6pPr>
      <a:lvl7pPr marL="6858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7pPr>
      <a:lvl8pPr marL="10287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8pPr>
      <a:lvl9pPr marL="13716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har char="–"/>
        <a:defRPr kumimoji="1" sz="2100">
          <a:solidFill>
            <a:schemeClr val="tx1"/>
          </a:solidFill>
          <a:latin typeface="+mn-lt"/>
          <a:ea typeface="+mn-ea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/>
              <a:t>多目的マルチタスク</a:t>
            </a:r>
            <a:r>
              <a:rPr lang="ja-JP" altLang="en-US" dirty="0" smtClean="0"/>
              <a:t>最適化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/>
              <a:t>ナップサック</a:t>
            </a:r>
            <a:r>
              <a:rPr kumimoji="1" lang="ja-JP" altLang="en-US" dirty="0" smtClean="0"/>
              <a:t>問題の提案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dirty="0" smtClean="0"/>
              <a:t>瓜田　俊貴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0408807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提案</a:t>
            </a:r>
            <a:r>
              <a:rPr lang="ja-JP" altLang="en-US" dirty="0" smtClean="0"/>
              <a:t>する</a:t>
            </a:r>
            <a:r>
              <a:rPr kumimoji="1" lang="ja-JP" altLang="en-US" dirty="0" smtClean="0"/>
              <a:t>問題</a:t>
            </a:r>
            <a:endParaRPr kumimoji="1" lang="ja-JP" altLang="en-US" dirty="0"/>
          </a:p>
        </p:txBody>
      </p:sp>
      <p:sp>
        <p:nvSpPr>
          <p:cNvPr id="7" name="コンテンツ プレースホルダー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アイテム集合には</a:t>
            </a:r>
            <a:r>
              <a:rPr lang="ja-JP" altLang="en-US" dirty="0"/>
              <a:t>変化</a:t>
            </a:r>
            <a:r>
              <a:rPr lang="ja-JP" altLang="en-US" dirty="0" smtClean="0"/>
              <a:t>を加えず，制約のみを変化させたタスクを作成する</a:t>
            </a:r>
            <a:endParaRPr kumimoji="1" lang="ja-JP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テキスト ボックス 1"/>
              <p:cNvSpPr txBox="1"/>
              <p:nvPr/>
            </p:nvSpPr>
            <p:spPr>
              <a:xfrm>
                <a:off x="3268732" y="2560320"/>
                <a:ext cx="2110065" cy="12547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nor/>
                            </m:rPr>
                            <a:rPr kumimoji="1" lang="en-US" altLang="ja-JP" sz="2800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i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= 1</m:t>
                          </m:r>
                        </m:sub>
                        <m:sup>
                          <m:r>
                            <m:rPr>
                              <m:nor/>
                            </m:rPr>
                            <a:rPr kumimoji="1" lang="en-US" altLang="ja-JP" sz="2800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n</m:t>
                          </m:r>
                        </m:sup>
                        <m:e>
                          <m:r>
                            <m:rPr>
                              <m:nor/>
                            </m:rPr>
                            <a:rPr kumimoji="1" lang="en-US" altLang="ja-JP" sz="2800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w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1" baseline="-2500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ij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xi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1" baseline="-2500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&lt; 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cj</m:t>
                          </m:r>
                        </m:e>
                      </m:nary>
                    </m:oMath>
                  </m:oMathPara>
                </a14:m>
                <a:endParaRPr kumimoji="1" lang="ja-JP" altLang="en-US" sz="28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テキスト ボックス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8732" y="2560320"/>
                <a:ext cx="2110065" cy="1254702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テキスト ボックス 9"/>
              <p:cNvSpPr txBox="1"/>
              <p:nvPr/>
            </p:nvSpPr>
            <p:spPr>
              <a:xfrm>
                <a:off x="3165338" y="4719930"/>
                <a:ext cx="2316853" cy="12547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nor/>
                            </m:rPr>
                            <a:rPr kumimoji="1" lang="en-US" altLang="ja-JP" sz="2800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i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= 1</m:t>
                          </m:r>
                        </m:sub>
                        <m:sup>
                          <m:r>
                            <m:rPr>
                              <m:nor/>
                            </m:rPr>
                            <a:rPr kumimoji="1" lang="en-US" altLang="ja-JP" sz="2800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n</m:t>
                          </m:r>
                        </m:sup>
                        <m:e>
                          <m:r>
                            <m:rPr>
                              <m:nor/>
                            </m:rPr>
                            <a:rPr kumimoji="1" lang="en-US" altLang="ja-JP" sz="2800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w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1" baseline="-2500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ij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xi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1" baseline="-2500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&lt; 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1" smtClean="0">
                              <a:solidFill>
                                <a:srgbClr val="FF0000"/>
                              </a:solidFill>
                              <a:latin typeface="Symbol" panose="05050102010706020507" pitchFamily="18" charset="2"/>
                              <a:cs typeface="Times New Roman" panose="02020603050405020304" pitchFamily="18" charset="0"/>
                            </a:rPr>
                            <m:t>a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1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c</m:t>
                          </m:r>
                          <m:r>
                            <m:rPr>
                              <m:nor/>
                            </m:rPr>
                            <a:rPr kumimoji="1" lang="en-US" altLang="ja-JP" sz="2800" b="0" i="1" baseline="-25000" smtClean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j</m:t>
                          </m:r>
                        </m:e>
                      </m:nary>
                    </m:oMath>
                  </m:oMathPara>
                </a14:m>
                <a:endParaRPr kumimoji="1" lang="ja-JP" altLang="en-US" sz="28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" name="テキスト ボックス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5338" y="4719930"/>
                <a:ext cx="2316853" cy="125470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グループ化 4"/>
          <p:cNvGrpSpPr/>
          <p:nvPr/>
        </p:nvGrpSpPr>
        <p:grpSpPr>
          <a:xfrm>
            <a:off x="5896540" y="4408155"/>
            <a:ext cx="3131401" cy="2126740"/>
            <a:chOff x="6752494" y="5188013"/>
            <a:chExt cx="3131401" cy="1154036"/>
          </a:xfrm>
        </p:grpSpPr>
        <p:sp>
          <p:nvSpPr>
            <p:cNvPr id="3" name="テキスト ボックス 2"/>
            <p:cNvSpPr txBox="1"/>
            <p:nvPr/>
          </p:nvSpPr>
          <p:spPr>
            <a:xfrm>
              <a:off x="6752494" y="5188013"/>
              <a:ext cx="2990724" cy="4509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400" i="1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w</a:t>
              </a:r>
              <a:r>
                <a:rPr kumimoji="1" lang="en-US" altLang="ja-JP" sz="2400" i="1" baseline="-25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ij</a:t>
              </a:r>
              <a:r>
                <a:rPr lang="ja-JP" altLang="en-US" sz="24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kumimoji="1" lang="en-US" altLang="ja-JP" sz="2400" dirty="0" smtClean="0"/>
                <a:t>: </a:t>
              </a:r>
              <a:r>
                <a:rPr kumimoji="1" lang="ja-JP" altLang="en-US" sz="2400" dirty="0" smtClean="0"/>
                <a:t>タスク</a:t>
              </a:r>
              <a:r>
                <a:rPr kumimoji="1" lang="en-US" altLang="ja-JP" sz="24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j</a:t>
              </a:r>
              <a:r>
                <a:rPr kumimoji="1" lang="ja-JP" altLang="en-US" sz="2400" dirty="0" smtClean="0"/>
                <a:t>における</a:t>
              </a:r>
              <a:endParaRPr lang="en-US" altLang="ja-JP" sz="2400" dirty="0"/>
            </a:p>
            <a:p>
              <a:pPr indent="534988"/>
              <a:r>
                <a:rPr kumimoji="1" lang="ja-JP" altLang="en-US" sz="2400" dirty="0" smtClean="0"/>
                <a:t>アイテム</a:t>
              </a:r>
              <a:r>
                <a:rPr kumimoji="1" lang="en-US" altLang="ja-JP" sz="2400" i="1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  <a:r>
                <a:rPr kumimoji="1" lang="ja-JP" altLang="en-US" sz="2400" dirty="0" smtClean="0"/>
                <a:t>の重み</a:t>
              </a:r>
            </a:p>
          </p:txBody>
        </p:sp>
        <p:sp>
          <p:nvSpPr>
            <p:cNvPr id="9" name="テキスト ボックス 8"/>
            <p:cNvSpPr txBox="1"/>
            <p:nvPr/>
          </p:nvSpPr>
          <p:spPr>
            <a:xfrm>
              <a:off x="6752494" y="5639774"/>
              <a:ext cx="3131401" cy="4509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400" i="1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  <a:r>
                <a:rPr kumimoji="1" lang="en-US" altLang="ja-JP" sz="2400" i="1" baseline="-25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j</a:t>
              </a:r>
              <a:r>
                <a:rPr lang="ja-JP" altLang="en-US" sz="24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kumimoji="1" lang="en-US" altLang="ja-JP" sz="2400" dirty="0" smtClean="0"/>
                <a:t>: </a:t>
              </a:r>
              <a:r>
                <a:rPr kumimoji="1" lang="ja-JP" altLang="en-US" sz="2400" dirty="0" smtClean="0"/>
                <a:t>タスク</a:t>
              </a:r>
              <a:r>
                <a:rPr kumimoji="1" lang="en-US" altLang="ja-JP" sz="24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j</a:t>
              </a:r>
              <a:r>
                <a:rPr kumimoji="1" lang="ja-JP" altLang="en-US" sz="2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における</a:t>
              </a:r>
              <a:endPara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indent="450850"/>
              <a:r>
                <a:rPr kumimoji="1" lang="ja-JP" altLang="en-US" sz="2400" dirty="0" smtClean="0"/>
                <a:t>ナップサックの容量</a:t>
              </a:r>
            </a:p>
          </p:txBody>
        </p:sp>
        <p:sp>
          <p:nvSpPr>
            <p:cNvPr id="11" name="テキスト ボックス 10"/>
            <p:cNvSpPr txBox="1"/>
            <p:nvPr/>
          </p:nvSpPr>
          <p:spPr>
            <a:xfrm>
              <a:off x="6752494" y="6091535"/>
              <a:ext cx="1900214" cy="2505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400" i="1" dirty="0" smtClean="0">
                  <a:latin typeface="Symbol" panose="05050102010706020507" pitchFamily="18" charset="2"/>
                  <a:cs typeface="Times New Roman" panose="02020603050405020304" pitchFamily="18" charset="0"/>
                </a:rPr>
                <a:t>a</a:t>
              </a:r>
              <a:r>
                <a:rPr lang="en-US" altLang="ja-JP" sz="2400" i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kumimoji="1" lang="en-US" altLang="ja-JP" sz="2400" dirty="0" smtClean="0"/>
                <a:t>: </a:t>
              </a:r>
              <a:r>
                <a:rPr kumimoji="1" lang="ja-JP" altLang="en-US" sz="2400" dirty="0" smtClean="0"/>
                <a:t>縮小率</a:t>
              </a:r>
            </a:p>
          </p:txBody>
        </p:sp>
      </p:grpSp>
      <p:sp>
        <p:nvSpPr>
          <p:cNvPr id="4" name="下矢印 3"/>
          <p:cNvSpPr/>
          <p:nvPr/>
        </p:nvSpPr>
        <p:spPr>
          <a:xfrm>
            <a:off x="4112749" y="4046332"/>
            <a:ext cx="422031" cy="695511"/>
          </a:xfrm>
          <a:prstGeom prst="down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22071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予備実験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アイテム数が少ない場合で，</a:t>
            </a:r>
            <a:r>
              <a:rPr kumimoji="1" lang="en-US" altLang="ja-JP" dirty="0" smtClean="0"/>
              <a:t>PF</a:t>
            </a:r>
            <a:r>
              <a:rPr kumimoji="1" lang="ja-JP" altLang="en-US" dirty="0" smtClean="0"/>
              <a:t>がどのように変化するかを調査</a:t>
            </a:r>
            <a:endParaRPr kumimoji="1" lang="en-US" altLang="ja-JP" dirty="0" smtClean="0"/>
          </a:p>
          <a:p>
            <a:pPr algn="l"/>
            <a:r>
              <a:rPr lang="en-US" altLang="ja-JP" dirty="0"/>
              <a:t/>
            </a:r>
            <a:br>
              <a:rPr lang="en-US" altLang="ja-JP" dirty="0"/>
            </a:b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/>
              <a:t>・</a:t>
            </a:r>
            <a:r>
              <a:rPr lang="ja-JP" altLang="en-US" dirty="0" smtClean="0"/>
              <a:t>目的数：</a:t>
            </a:r>
            <a:r>
              <a:rPr lang="en-US" altLang="ja-JP" dirty="0" smtClean="0"/>
              <a:t>2</a:t>
            </a:r>
            <a:br>
              <a:rPr lang="en-US" altLang="ja-JP" dirty="0" smtClean="0"/>
            </a:br>
            <a:r>
              <a:rPr lang="ja-JP" altLang="en-US" dirty="0"/>
              <a:t>・</a:t>
            </a:r>
            <a:r>
              <a:rPr lang="ja-JP" altLang="en-US" dirty="0" smtClean="0"/>
              <a:t>アイテム数：</a:t>
            </a:r>
            <a:r>
              <a:rPr lang="en-US" altLang="ja-JP" dirty="0" smtClean="0"/>
              <a:t>15</a:t>
            </a:r>
            <a:br>
              <a:rPr lang="en-US" altLang="ja-JP" dirty="0" smtClean="0"/>
            </a:br>
            <a:r>
              <a:rPr lang="ja-JP" altLang="en-US" dirty="0" smtClean="0"/>
              <a:t>・縮小率：</a:t>
            </a:r>
            <a:r>
              <a:rPr lang="en-US" altLang="ja-JP" dirty="0" smtClean="0"/>
              <a:t>[0.6, 0.8, 1.0, 1.2, 1.4</a:t>
            </a:r>
            <a:r>
              <a:rPr lang="en-US" altLang="ja-JP" dirty="0" smtClean="0"/>
              <a:t>]</a:t>
            </a:r>
            <a:br>
              <a:rPr lang="en-US" altLang="ja-JP" dirty="0" smtClean="0"/>
            </a:b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/>
              <a:t>修復操作は，</a:t>
            </a:r>
            <a:r>
              <a:rPr lang="en-US" altLang="ja-JP" dirty="0" smtClean="0"/>
              <a:t>Greedy</a:t>
            </a:r>
            <a:r>
              <a:rPr lang="ja-JP" altLang="en-US" dirty="0" smtClean="0"/>
              <a:t> </a:t>
            </a:r>
            <a:r>
              <a:rPr lang="en-US" altLang="ja-JP" dirty="0" smtClean="0"/>
              <a:t>Repair</a:t>
            </a:r>
            <a:r>
              <a:rPr lang="ja-JP" altLang="en-US" dirty="0" smtClean="0"/>
              <a:t>を使用</a:t>
            </a:r>
            <a:endParaRPr lang="en-US" altLang="ja-JP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3</a:t>
            </a:fld>
            <a:endParaRPr kumimoji="1" lang="ja-JP" altLang="en-US" dirty="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228600" y="2771339"/>
            <a:ext cx="1899138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実験設定</a:t>
            </a:r>
          </a:p>
        </p:txBody>
      </p:sp>
    </p:spTree>
    <p:extLst>
      <p:ext uri="{BB962C8B-B14F-4D97-AF65-F5344CB8AC3E}">
        <p14:creationId xmlns:p14="http://schemas.microsoft.com/office/powerpoint/2010/main" val="29112598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予備</a:t>
            </a:r>
            <a:r>
              <a:rPr lang="ja-JP" altLang="en-US" dirty="0"/>
              <a:t>実験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各縮小率における</a:t>
            </a:r>
            <a:r>
              <a:rPr kumimoji="1" lang="en-US" altLang="ja-JP" dirty="0" smtClean="0"/>
              <a:t>PF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4</a:t>
            </a:fld>
            <a:endParaRPr kumimoji="1" lang="ja-JP" altLang="en-US" dirty="0"/>
          </a:p>
        </p:txBody>
      </p:sp>
      <p:pic>
        <p:nvPicPr>
          <p:cNvPr id="12" name="図 11"/>
          <p:cNvPicPr>
            <a:picLocks noChangeAspect="1"/>
          </p:cNvPicPr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069" y="2023897"/>
            <a:ext cx="7728062" cy="4359506"/>
          </a:xfrm>
          <a:prstGeom prst="rect">
            <a:avLst/>
          </a:prstGeom>
        </p:spPr>
      </p:pic>
      <p:sp>
        <p:nvSpPr>
          <p:cNvPr id="13" name="テキスト ボックス 12"/>
          <p:cNvSpPr txBox="1"/>
          <p:nvPr/>
        </p:nvSpPr>
        <p:spPr>
          <a:xfrm>
            <a:off x="7277468" y="2182363"/>
            <a:ext cx="4296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i="1" dirty="0" smtClean="0">
                <a:latin typeface="Symbol" panose="05050102010706020507" pitchFamily="18" charset="2"/>
                <a:cs typeface="Times New Roman" panose="02020603050405020304" pitchFamily="18" charset="0"/>
              </a:rPr>
              <a:t>a</a:t>
            </a:r>
            <a:r>
              <a:rPr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kumimoji="1" lang="ja-JP" altLang="en-US" sz="2400" dirty="0" smtClean="0"/>
          </a:p>
        </p:txBody>
      </p:sp>
      <p:sp>
        <p:nvSpPr>
          <p:cNvPr id="14" name="テキスト ボックス 13"/>
          <p:cNvSpPr txBox="1"/>
          <p:nvPr/>
        </p:nvSpPr>
        <p:spPr>
          <a:xfrm>
            <a:off x="7277468" y="2491050"/>
            <a:ext cx="4296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i="1" dirty="0" smtClean="0">
                <a:latin typeface="Symbol" panose="05050102010706020507" pitchFamily="18" charset="2"/>
                <a:cs typeface="Times New Roman" panose="02020603050405020304" pitchFamily="18" charset="0"/>
              </a:rPr>
              <a:t>a</a:t>
            </a:r>
            <a:r>
              <a:rPr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kumimoji="1" lang="ja-JP" altLang="en-US" sz="2400" dirty="0" smtClean="0"/>
          </a:p>
        </p:txBody>
      </p:sp>
      <p:sp>
        <p:nvSpPr>
          <p:cNvPr id="15" name="テキスト ボックス 14"/>
          <p:cNvSpPr txBox="1"/>
          <p:nvPr/>
        </p:nvSpPr>
        <p:spPr>
          <a:xfrm>
            <a:off x="7277468" y="2799737"/>
            <a:ext cx="4296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i="1" dirty="0" smtClean="0">
                <a:latin typeface="Symbol" panose="05050102010706020507" pitchFamily="18" charset="2"/>
                <a:cs typeface="Times New Roman" panose="02020603050405020304" pitchFamily="18" charset="0"/>
              </a:rPr>
              <a:t>a</a:t>
            </a:r>
            <a:r>
              <a:rPr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kumimoji="1" lang="ja-JP" altLang="en-US" sz="2400" dirty="0" smtClean="0"/>
          </a:p>
        </p:txBody>
      </p:sp>
      <p:sp>
        <p:nvSpPr>
          <p:cNvPr id="16" name="テキスト ボックス 15"/>
          <p:cNvSpPr txBox="1"/>
          <p:nvPr/>
        </p:nvSpPr>
        <p:spPr>
          <a:xfrm>
            <a:off x="7277468" y="3108424"/>
            <a:ext cx="4296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i="1" dirty="0" smtClean="0">
                <a:latin typeface="Symbol" panose="05050102010706020507" pitchFamily="18" charset="2"/>
                <a:cs typeface="Times New Roman" panose="02020603050405020304" pitchFamily="18" charset="0"/>
              </a:rPr>
              <a:t>a</a:t>
            </a:r>
            <a:r>
              <a:rPr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kumimoji="1" lang="ja-JP" altLang="en-US" sz="2400" dirty="0" smtClean="0"/>
          </a:p>
        </p:txBody>
      </p:sp>
      <p:sp>
        <p:nvSpPr>
          <p:cNvPr id="17" name="テキスト ボックス 16"/>
          <p:cNvSpPr txBox="1"/>
          <p:nvPr/>
        </p:nvSpPr>
        <p:spPr>
          <a:xfrm>
            <a:off x="7277468" y="3417110"/>
            <a:ext cx="4296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i="1" dirty="0" smtClean="0">
                <a:latin typeface="Symbol" panose="05050102010706020507" pitchFamily="18" charset="2"/>
                <a:cs typeface="Times New Roman" panose="02020603050405020304" pitchFamily="18" charset="0"/>
              </a:rPr>
              <a:t>a</a:t>
            </a:r>
            <a:r>
              <a:rPr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kumimoji="1" lang="ja-JP" altLang="en-US" sz="2400" dirty="0" smtClean="0"/>
          </a:p>
        </p:txBody>
      </p:sp>
      <p:sp>
        <p:nvSpPr>
          <p:cNvPr id="18" name="テキスト ボックス 17"/>
          <p:cNvSpPr txBox="1"/>
          <p:nvPr/>
        </p:nvSpPr>
        <p:spPr>
          <a:xfrm>
            <a:off x="3283968" y="6237469"/>
            <a:ext cx="14746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altLang="ja-JP" sz="24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kumimoji="1"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kumimoji="1"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kumimoji="1"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kumimoji="1" lang="ja-JP" altLang="en-US" sz="2400" dirty="0" smtClean="0"/>
          </a:p>
        </p:txBody>
      </p:sp>
      <p:sp>
        <p:nvSpPr>
          <p:cNvPr id="19" name="テキスト ボックス 18"/>
          <p:cNvSpPr txBox="1"/>
          <p:nvPr/>
        </p:nvSpPr>
        <p:spPr>
          <a:xfrm rot="16200000">
            <a:off x="-169035" y="3683914"/>
            <a:ext cx="14746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altLang="ja-JP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kumimoji="1"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kumimoji="1"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kumimoji="1"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kumimoji="1" lang="ja-JP" altLang="en-US" sz="2400" dirty="0" smtClean="0"/>
          </a:p>
        </p:txBody>
      </p:sp>
    </p:spTree>
    <p:extLst>
      <p:ext uri="{BB962C8B-B14F-4D97-AF65-F5344CB8AC3E}">
        <p14:creationId xmlns:p14="http://schemas.microsoft.com/office/powerpoint/2010/main" val="20368264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予備</a:t>
            </a:r>
            <a:r>
              <a:rPr lang="ja-JP" altLang="en-US" dirty="0"/>
              <a:t>実験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sz="3000" dirty="0" smtClean="0"/>
              <a:t>元タスクでの，異なるタスクのパレート最適解の評価</a:t>
            </a:r>
            <a:endParaRPr kumimoji="1" lang="ja-JP" altLang="en-US" sz="3000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5</a:t>
            </a:fld>
            <a:endParaRPr kumimoji="1" lang="ja-JP" altLang="en-US" dirty="0"/>
          </a:p>
        </p:txBody>
      </p:sp>
      <p:pic>
        <p:nvPicPr>
          <p:cNvPr id="10" name="図 9"/>
          <p:cNvPicPr>
            <a:picLocks noChangeAspect="1"/>
          </p:cNvPicPr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755" y="2023897"/>
            <a:ext cx="7728228" cy="4359600"/>
          </a:xfrm>
          <a:prstGeom prst="rect">
            <a:avLst/>
          </a:prstGeom>
        </p:spPr>
      </p:pic>
      <p:sp>
        <p:nvSpPr>
          <p:cNvPr id="11" name="テキスト ボックス 10"/>
          <p:cNvSpPr txBox="1"/>
          <p:nvPr/>
        </p:nvSpPr>
        <p:spPr>
          <a:xfrm>
            <a:off x="7277468" y="2182363"/>
            <a:ext cx="4296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i="1" dirty="0" smtClean="0">
                <a:latin typeface="Symbol" panose="05050102010706020507" pitchFamily="18" charset="2"/>
                <a:cs typeface="Times New Roman" panose="02020603050405020304" pitchFamily="18" charset="0"/>
              </a:rPr>
              <a:t>a</a:t>
            </a:r>
            <a:r>
              <a:rPr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kumimoji="1" lang="ja-JP" altLang="en-US" sz="2400" dirty="0" smtClean="0"/>
          </a:p>
        </p:txBody>
      </p:sp>
      <p:sp>
        <p:nvSpPr>
          <p:cNvPr id="12" name="テキスト ボックス 11"/>
          <p:cNvSpPr txBox="1"/>
          <p:nvPr/>
        </p:nvSpPr>
        <p:spPr>
          <a:xfrm>
            <a:off x="7277468" y="2491050"/>
            <a:ext cx="4296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i="1" dirty="0" smtClean="0">
                <a:latin typeface="Symbol" panose="05050102010706020507" pitchFamily="18" charset="2"/>
                <a:cs typeface="Times New Roman" panose="02020603050405020304" pitchFamily="18" charset="0"/>
              </a:rPr>
              <a:t>a</a:t>
            </a:r>
            <a:r>
              <a:rPr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kumimoji="1" lang="ja-JP" altLang="en-US" sz="2400" dirty="0" smtClean="0"/>
          </a:p>
        </p:txBody>
      </p:sp>
      <p:sp>
        <p:nvSpPr>
          <p:cNvPr id="13" name="テキスト ボックス 12"/>
          <p:cNvSpPr txBox="1"/>
          <p:nvPr/>
        </p:nvSpPr>
        <p:spPr>
          <a:xfrm>
            <a:off x="7277468" y="2799737"/>
            <a:ext cx="4296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i="1" dirty="0" smtClean="0">
                <a:latin typeface="Symbol" panose="05050102010706020507" pitchFamily="18" charset="2"/>
                <a:cs typeface="Times New Roman" panose="02020603050405020304" pitchFamily="18" charset="0"/>
              </a:rPr>
              <a:t>a</a:t>
            </a:r>
            <a:r>
              <a:rPr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kumimoji="1" lang="ja-JP" altLang="en-US" sz="2400" dirty="0" smtClean="0"/>
          </a:p>
        </p:txBody>
      </p:sp>
      <p:sp>
        <p:nvSpPr>
          <p:cNvPr id="14" name="テキスト ボックス 13"/>
          <p:cNvSpPr txBox="1"/>
          <p:nvPr/>
        </p:nvSpPr>
        <p:spPr>
          <a:xfrm>
            <a:off x="7277468" y="3108424"/>
            <a:ext cx="4296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i="1" dirty="0" smtClean="0">
                <a:latin typeface="Symbol" panose="05050102010706020507" pitchFamily="18" charset="2"/>
                <a:cs typeface="Times New Roman" panose="02020603050405020304" pitchFamily="18" charset="0"/>
              </a:rPr>
              <a:t>a</a:t>
            </a:r>
            <a:r>
              <a:rPr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kumimoji="1" lang="ja-JP" altLang="en-US" sz="2400" dirty="0" smtClean="0"/>
          </a:p>
        </p:txBody>
      </p:sp>
      <p:sp>
        <p:nvSpPr>
          <p:cNvPr id="15" name="テキスト ボックス 14"/>
          <p:cNvSpPr txBox="1"/>
          <p:nvPr/>
        </p:nvSpPr>
        <p:spPr>
          <a:xfrm>
            <a:off x="7277468" y="3417110"/>
            <a:ext cx="4296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i="1" dirty="0" smtClean="0">
                <a:latin typeface="Symbol" panose="05050102010706020507" pitchFamily="18" charset="2"/>
                <a:cs typeface="Times New Roman" panose="02020603050405020304" pitchFamily="18" charset="0"/>
              </a:rPr>
              <a:t>a</a:t>
            </a:r>
            <a:r>
              <a:rPr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kumimoji="1" lang="ja-JP" altLang="en-US" sz="2400" dirty="0" smtClean="0"/>
          </a:p>
        </p:txBody>
      </p:sp>
      <p:sp>
        <p:nvSpPr>
          <p:cNvPr id="16" name="テキスト ボックス 15"/>
          <p:cNvSpPr txBox="1"/>
          <p:nvPr/>
        </p:nvSpPr>
        <p:spPr>
          <a:xfrm>
            <a:off x="3283968" y="6237469"/>
            <a:ext cx="14746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altLang="ja-JP" sz="24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kumimoji="1"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kumimoji="1"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kumimoji="1"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kumimoji="1" lang="ja-JP" altLang="en-US" sz="2400" dirty="0" smtClean="0"/>
          </a:p>
        </p:txBody>
      </p:sp>
      <p:sp>
        <p:nvSpPr>
          <p:cNvPr id="17" name="テキスト ボックス 16"/>
          <p:cNvSpPr txBox="1"/>
          <p:nvPr/>
        </p:nvSpPr>
        <p:spPr>
          <a:xfrm rot="16200000">
            <a:off x="-169035" y="3683914"/>
            <a:ext cx="14746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altLang="ja-JP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kumimoji="1"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kumimoji="1"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kumimoji="1"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kumimoji="1" lang="ja-JP" altLang="en-US" sz="2400" dirty="0" smtClean="0"/>
          </a:p>
        </p:txBody>
      </p:sp>
    </p:spTree>
    <p:extLst>
      <p:ext uri="{BB962C8B-B14F-4D97-AF65-F5344CB8AC3E}">
        <p14:creationId xmlns:p14="http://schemas.microsoft.com/office/powerpoint/2010/main" val="8964069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/>
          <p:cNvSpPr>
            <a:spLocks noGrp="1"/>
          </p:cNvSpPr>
          <p:nvPr>
            <p:ph type="sldNum" sz="quarter" idx="4294967295"/>
          </p:nvPr>
        </p:nvSpPr>
        <p:spPr>
          <a:xfrm>
            <a:off x="7010400" y="333375"/>
            <a:ext cx="2133600" cy="476250"/>
          </a:xfrm>
          <a:prstGeom prst="rect">
            <a:avLst/>
          </a:prstGeom>
        </p:spPr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6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2836065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eme_Lab">
  <a:themeElements>
    <a:clrScheme name="ユーザー定義 1">
      <a:dk1>
        <a:srgbClr val="000000"/>
      </a:dk1>
      <a:lt1>
        <a:srgbClr val="FFFAF5"/>
      </a:lt1>
      <a:dk2>
        <a:srgbClr val="000000"/>
      </a:dk2>
      <a:lt2>
        <a:srgbClr val="808080"/>
      </a:lt2>
      <a:accent1>
        <a:srgbClr val="FF1D38"/>
      </a:accent1>
      <a:accent2>
        <a:srgbClr val="333399"/>
      </a:accent2>
      <a:accent3>
        <a:srgbClr val="34ADFD"/>
      </a:accent3>
      <a:accent4>
        <a:srgbClr val="FFFF00"/>
      </a:accent4>
      <a:accent5>
        <a:srgbClr val="00B050"/>
      </a:accent5>
      <a:accent6>
        <a:srgbClr val="F93DD5"/>
      </a:accent6>
      <a:hlink>
        <a:srgbClr val="009999"/>
      </a:hlink>
      <a:folHlink>
        <a:srgbClr val="99CC00"/>
      </a:folHlink>
    </a:clrScheme>
    <a:fontScheme name="ユーザー定義 1">
      <a:majorFont>
        <a:latin typeface="Arial"/>
        <a:ea typeface="ＭＳ Ｐゴシック"/>
        <a:cs typeface=""/>
      </a:majorFont>
      <a:minorFont>
        <a:latin typeface="Arial"/>
        <a:ea typeface="ＭＳ P 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ctr">
          <a:defRPr kumimoji="1" sz="2800" dirty="0" smtClean="0"/>
        </a:defPPr>
      </a:lstStyle>
    </a:txDef>
  </a:objectDefaults>
  <a:extraClrSchemeLst>
    <a:extraClrScheme>
      <a:clrScheme name="標準デザイン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heme_Lab" id="{240EDE69-6004-490A-8851-241177012245}" vid="{3655978B-9A6C-48D2-A3CA-A8F52A96FD4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Theme_lab</Template>
  <TotalTime>109</TotalTime>
  <Words>109</Words>
  <Application>Microsoft Office PowerPoint</Application>
  <PresentationFormat>画面に合わせる (4:3)</PresentationFormat>
  <Paragraphs>37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3" baseType="lpstr">
      <vt:lpstr>ＭＳ P ゴシック</vt:lpstr>
      <vt:lpstr>ＭＳ Ｐゴシック</vt:lpstr>
      <vt:lpstr>Arial</vt:lpstr>
      <vt:lpstr>Cambria Math</vt:lpstr>
      <vt:lpstr>Symbol</vt:lpstr>
      <vt:lpstr>Times New Roman</vt:lpstr>
      <vt:lpstr>Theme_Lab</vt:lpstr>
      <vt:lpstr>多目的マルチタスク最適化 ナップサック問題の提案</vt:lpstr>
      <vt:lpstr>提案する問題</vt:lpstr>
      <vt:lpstr>予備実験</vt:lpstr>
      <vt:lpstr>予備実験</vt:lpstr>
      <vt:lpstr>予備実験</vt:lpstr>
      <vt:lpstr>PowerPoint プレゼンテーション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Multitask</dc:title>
  <dc:creator>瓜田 俊貴</dc:creator>
  <cp:lastModifiedBy>瓜田 俊貴</cp:lastModifiedBy>
  <cp:revision>10</cp:revision>
  <dcterms:created xsi:type="dcterms:W3CDTF">2019-12-22T18:07:24Z</dcterms:created>
  <dcterms:modified xsi:type="dcterms:W3CDTF">2019-12-23T04:50:23Z</dcterms:modified>
</cp:coreProperties>
</file>