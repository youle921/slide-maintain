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2" r:id="rId2"/>
    <p:sldMasterId id="2147483689" r:id="rId3"/>
    <p:sldMasterId id="2147483696" r:id="rId4"/>
    <p:sldMasterId id="2147483703" r:id="rId5"/>
    <p:sldMasterId id="2147483710" r:id="rId6"/>
    <p:sldMasterId id="2147483719" r:id="rId7"/>
  </p:sldMasterIdLst>
  <p:notesMasterIdLst>
    <p:notesMasterId r:id="rId16"/>
  </p:notesMasterIdLst>
  <p:sldIdLst>
    <p:sldId id="256" r:id="rId8"/>
    <p:sldId id="261" r:id="rId9"/>
    <p:sldId id="278" r:id="rId10"/>
    <p:sldId id="280" r:id="rId11"/>
    <p:sldId id="282" r:id="rId12"/>
    <p:sldId id="284" r:id="rId13"/>
    <p:sldId id="285" r:id="rId14"/>
    <p:sldId id="259" r:id="rId1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9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5ule\research\research_b4\rf_ga\tree_nu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5ule\research\research_b4\rf_ga\tree_num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2400" dirty="0" smtClean="0"/>
              <a:t>OOB</a:t>
            </a:r>
            <a:endParaRPr lang="ja-JP" altLang="en-US" sz="2400" dirty="0"/>
          </a:p>
        </c:rich>
      </c:tx>
      <c:layout>
        <c:manualLayout>
          <c:xMode val="edge"/>
          <c:yMode val="edge"/>
          <c:x val="0.37910734821110997"/>
          <c:y val="8.53698567247546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Glass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500</c:v>
                </c:pt>
              </c:numCache>
            </c:numRef>
          </c:xVal>
          <c:yVal>
            <c:numRef>
              <c:f>Sheet1!$B$3:$B$6</c:f>
              <c:numCache>
                <c:formatCode>General</c:formatCode>
                <c:ptCount val="4"/>
                <c:pt idx="0">
                  <c:v>56.65</c:v>
                </c:pt>
                <c:pt idx="1">
                  <c:v>51.666666666666664</c:v>
                </c:pt>
                <c:pt idx="2">
                  <c:v>52.2</c:v>
                </c:pt>
                <c:pt idx="3">
                  <c:v>51.07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59-4A08-8E82-BF1ABA2722B4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Heart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500</c:v>
                </c:pt>
              </c:numCache>
            </c:numRef>
          </c:xVal>
          <c:yVal>
            <c:numRef>
              <c:f>Sheet1!$C$3:$C$6</c:f>
              <c:numCache>
                <c:formatCode>General</c:formatCode>
                <c:ptCount val="4"/>
                <c:pt idx="0">
                  <c:v>57.85</c:v>
                </c:pt>
                <c:pt idx="1">
                  <c:v>52.833333333333336</c:v>
                </c:pt>
                <c:pt idx="2">
                  <c:v>52</c:v>
                </c:pt>
                <c:pt idx="3">
                  <c:v>49.410000000000004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759-4A08-8E82-BF1ABA2722B4}"/>
            </c:ext>
          </c:extLst>
        </c:ser>
        <c:ser>
          <c:idx val="2"/>
          <c:order val="2"/>
          <c:tx>
            <c:strRef>
              <c:f>Sheet1!$D$2</c:f>
              <c:strCache>
                <c:ptCount val="1"/>
                <c:pt idx="0">
                  <c:v>Pima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500</c:v>
                </c:pt>
              </c:numCache>
            </c:numRef>
          </c:xVal>
          <c:yVal>
            <c:numRef>
              <c:f>Sheet1!$D$3:$D$6</c:f>
              <c:numCache>
                <c:formatCode>General</c:formatCode>
                <c:ptCount val="4"/>
                <c:pt idx="0">
                  <c:v>69.25</c:v>
                </c:pt>
                <c:pt idx="1">
                  <c:v>55.633333333333333</c:v>
                </c:pt>
                <c:pt idx="2">
                  <c:v>53.174999999999997</c:v>
                </c:pt>
                <c:pt idx="3">
                  <c:v>49.06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759-4A08-8E82-BF1ABA2722B4}"/>
            </c:ext>
          </c:extLst>
        </c:ser>
        <c:ser>
          <c:idx val="3"/>
          <c:order val="3"/>
          <c:tx>
            <c:strRef>
              <c:f>Sheet1!$E$2</c:f>
              <c:strCache>
                <c:ptCount val="1"/>
                <c:pt idx="0">
                  <c:v>Vehicle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500</c:v>
                </c:pt>
              </c:numCache>
            </c:numRef>
          </c:xVal>
          <c:yVal>
            <c:numRef>
              <c:f>Sheet1!$E$3:$E$6</c:f>
              <c:numCache>
                <c:formatCode>General</c:formatCode>
                <c:ptCount val="4"/>
                <c:pt idx="0">
                  <c:v>70.2</c:v>
                </c:pt>
                <c:pt idx="1">
                  <c:v>58.1</c:v>
                </c:pt>
                <c:pt idx="2">
                  <c:v>51.65</c:v>
                </c:pt>
                <c:pt idx="3">
                  <c:v>50.18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759-4A08-8E82-BF1ABA2722B4}"/>
            </c:ext>
          </c:extLst>
        </c:ser>
        <c:ser>
          <c:idx val="4"/>
          <c:order val="4"/>
          <c:tx>
            <c:strRef>
              <c:f>Sheet1!$F$2</c:f>
              <c:strCache>
                <c:ptCount val="1"/>
                <c:pt idx="0">
                  <c:v>Satimage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500</c:v>
                </c:pt>
              </c:numCache>
            </c:numRef>
          </c:xVal>
          <c:yVal>
            <c:numRef>
              <c:f>Sheet1!$F$3:$F$6</c:f>
              <c:numCache>
                <c:formatCode>General</c:formatCode>
                <c:ptCount val="4"/>
                <c:pt idx="0">
                  <c:v>87.3</c:v>
                </c:pt>
                <c:pt idx="1">
                  <c:v>75.833333333333329</c:v>
                </c:pt>
                <c:pt idx="2">
                  <c:v>64.849999999999994</c:v>
                </c:pt>
                <c:pt idx="3">
                  <c:v>49.980000000000004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759-4A08-8E82-BF1ABA2722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7348287"/>
        <c:axId val="747353695"/>
      </c:scatterChart>
      <c:valAx>
        <c:axId val="747348287"/>
        <c:scaling>
          <c:orientation val="minMax"/>
          <c:max val="500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47353695"/>
        <c:crosses val="autoZero"/>
        <c:crossBetween val="midCat"/>
      </c:valAx>
      <c:valAx>
        <c:axId val="747353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473482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172704669806516"/>
          <c:y val="0.1202744171122028"/>
          <c:w val="0.1794644869250305"/>
          <c:h val="0.683174244887809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2400" dirty="0" smtClean="0"/>
              <a:t>validation</a:t>
            </a:r>
            <a:endParaRPr lang="ja-JP" altLang="en-US" sz="2400" dirty="0"/>
          </a:p>
        </c:rich>
      </c:tx>
      <c:layout>
        <c:manualLayout>
          <c:xMode val="edge"/>
          <c:yMode val="edge"/>
          <c:x val="0.42411294865041432"/>
          <c:y val="6.08324652017272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Sheet1!$H$2</c:f>
              <c:strCache>
                <c:ptCount val="1"/>
                <c:pt idx="0">
                  <c:v>Glass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500</c:v>
                </c:pt>
              </c:numCache>
            </c:numRef>
          </c:xVal>
          <c:yVal>
            <c:numRef>
              <c:f>Sheet1!$H$3:$H$6</c:f>
              <c:numCache>
                <c:formatCode>General</c:formatCode>
                <c:ptCount val="4"/>
                <c:pt idx="0">
                  <c:v>41.25</c:v>
                </c:pt>
                <c:pt idx="1">
                  <c:v>45.766666666666673</c:v>
                </c:pt>
                <c:pt idx="2">
                  <c:v>46.274999999999999</c:v>
                </c:pt>
                <c:pt idx="3">
                  <c:v>48.06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C52-424D-9214-815BE2B214FA}"/>
            </c:ext>
          </c:extLst>
        </c:ser>
        <c:ser>
          <c:idx val="1"/>
          <c:order val="1"/>
          <c:tx>
            <c:strRef>
              <c:f>Sheet1!$I$2</c:f>
              <c:strCache>
                <c:ptCount val="1"/>
                <c:pt idx="0">
                  <c:v>Heart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500</c:v>
                </c:pt>
              </c:numCache>
            </c:numRef>
          </c:xVal>
          <c:yVal>
            <c:numRef>
              <c:f>Sheet1!$I$3:$I$6</c:f>
              <c:numCache>
                <c:formatCode>General</c:formatCode>
                <c:ptCount val="4"/>
                <c:pt idx="0">
                  <c:v>42.65</c:v>
                </c:pt>
                <c:pt idx="1">
                  <c:v>48.133333333333333</c:v>
                </c:pt>
                <c:pt idx="2">
                  <c:v>48.35</c:v>
                </c:pt>
                <c:pt idx="3">
                  <c:v>49.06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C52-424D-9214-815BE2B214FA}"/>
            </c:ext>
          </c:extLst>
        </c:ser>
        <c:ser>
          <c:idx val="2"/>
          <c:order val="2"/>
          <c:tx>
            <c:strRef>
              <c:f>Sheet1!$J$2</c:f>
              <c:strCache>
                <c:ptCount val="1"/>
                <c:pt idx="0">
                  <c:v>Pima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500</c:v>
                </c:pt>
              </c:numCache>
            </c:numRef>
          </c:xVal>
          <c:yVal>
            <c:numRef>
              <c:f>Sheet1!$J$3:$J$6</c:f>
              <c:numCache>
                <c:formatCode>General</c:formatCode>
                <c:ptCount val="4"/>
                <c:pt idx="0">
                  <c:v>37.6</c:v>
                </c:pt>
                <c:pt idx="1">
                  <c:v>42.833333333333336</c:v>
                </c:pt>
                <c:pt idx="2">
                  <c:v>44.9</c:v>
                </c:pt>
                <c:pt idx="3">
                  <c:v>48.43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C52-424D-9214-815BE2B214FA}"/>
            </c:ext>
          </c:extLst>
        </c:ser>
        <c:ser>
          <c:idx val="3"/>
          <c:order val="3"/>
          <c:tx>
            <c:strRef>
              <c:f>Sheet1!$K$2</c:f>
              <c:strCache>
                <c:ptCount val="1"/>
                <c:pt idx="0">
                  <c:v>Vehicle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500</c:v>
                </c:pt>
              </c:numCache>
            </c:numRef>
          </c:xVal>
          <c:yVal>
            <c:numRef>
              <c:f>Sheet1!$K$3:$K$6</c:f>
              <c:numCache>
                <c:formatCode>General</c:formatCode>
                <c:ptCount val="4"/>
                <c:pt idx="0">
                  <c:v>37.65</c:v>
                </c:pt>
                <c:pt idx="1">
                  <c:v>41.800000000000004</c:v>
                </c:pt>
                <c:pt idx="2">
                  <c:v>42.125</c:v>
                </c:pt>
                <c:pt idx="3">
                  <c:v>47.730000000000004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C52-424D-9214-815BE2B214FA}"/>
            </c:ext>
          </c:extLst>
        </c:ser>
        <c:ser>
          <c:idx val="4"/>
          <c:order val="4"/>
          <c:tx>
            <c:strRef>
              <c:f>Sheet1!$L$2</c:f>
              <c:strCache>
                <c:ptCount val="1"/>
                <c:pt idx="0">
                  <c:v>Satimage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500</c:v>
                </c:pt>
              </c:numCache>
            </c:numRef>
          </c:xVal>
          <c:yVal>
            <c:numRef>
              <c:f>Sheet1!$L$3:$L$6</c:f>
              <c:numCache>
                <c:formatCode>General</c:formatCode>
                <c:ptCount val="4"/>
                <c:pt idx="0">
                  <c:v>41.65</c:v>
                </c:pt>
                <c:pt idx="1">
                  <c:v>41.766666666666666</c:v>
                </c:pt>
                <c:pt idx="2">
                  <c:v>43.024999999999999</c:v>
                </c:pt>
                <c:pt idx="3">
                  <c:v>46.489999999999995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C52-424D-9214-815BE2B214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7348287"/>
        <c:axId val="747353695"/>
      </c:scatterChart>
      <c:valAx>
        <c:axId val="747348287"/>
        <c:scaling>
          <c:orientation val="minMax"/>
          <c:max val="500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47353695"/>
        <c:crosses val="autoZero"/>
        <c:crossBetween val="midCat"/>
      </c:valAx>
      <c:valAx>
        <c:axId val="747353695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473482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2019/6/10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178060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2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2027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692265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47137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1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5902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7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3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30306800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51175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139570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64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8314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40623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532299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91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57608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53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63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140841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72739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4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460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955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6381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5579578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89850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73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044481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1863209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700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72102227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3378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354795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3958119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9887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84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9668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1" r:id="rId3"/>
    <p:sldLayoutId id="2147483679" r:id="rId4"/>
    <p:sldLayoutId id="214748367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623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730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4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011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004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63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ランダムフォレストの弱識別器を抽出し，より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良いアンサンブル識別器を獲得する．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を用いて，優れたアンサンブル識別器を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効率よく獲得したい．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個体評価には，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用いて探索を行う．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72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dirty="0" smtClean="0"/>
              <a:t>決定木の本数</a:t>
            </a:r>
            <a:r>
              <a:rPr kumimoji="1" lang="ja-JP" altLang="en-US" dirty="0" smtClean="0"/>
              <a:t>：</a:t>
            </a:r>
            <a:r>
              <a:rPr lang="en-US" altLang="ja-JP" dirty="0" smtClean="0"/>
              <a:t>100, 150, 200, 500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個体群サイズ：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lang="ja-JP" altLang="en-US" dirty="0" smtClean="0"/>
              <a:t>子個体数：</a:t>
            </a:r>
            <a:r>
              <a:rPr lang="en-US" altLang="ja-JP" dirty="0" smtClean="0"/>
              <a:t>5</a:t>
            </a:r>
            <a:r>
              <a:rPr lang="en-US" altLang="ja-JP" dirty="0"/>
              <a:t>0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世代数：</a:t>
            </a:r>
            <a:r>
              <a:rPr kumimoji="1" lang="en-US" altLang="ja-JP" dirty="0" smtClean="0"/>
              <a:t>1000</a:t>
            </a:r>
          </a:p>
          <a:p>
            <a:pPr algn="l"/>
            <a:r>
              <a:rPr lang="ja-JP" altLang="en-US" dirty="0" smtClean="0"/>
              <a:t>交叉方法：一様交叉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突然変異確率</a:t>
            </a:r>
            <a:r>
              <a:rPr kumimoji="1" lang="ja-JP" altLang="en-US" dirty="0" smtClean="0"/>
              <a:t>：</a:t>
            </a:r>
            <a:r>
              <a:rPr lang="en-US" altLang="ja-JP" dirty="0"/>
              <a:t>2</a:t>
            </a:r>
            <a:r>
              <a:rPr kumimoji="1" lang="en-US" altLang="ja-JP" dirty="0" smtClean="0"/>
              <a:t>/50</a:t>
            </a:r>
            <a:endParaRPr kumimoji="1" lang="en-US" altLang="ja-JP" dirty="0" smtClean="0"/>
          </a:p>
          <a:p>
            <a:pPr algn="l"/>
            <a:r>
              <a:rPr lang="ja-JP" altLang="en-US" dirty="0" smtClean="0"/>
              <a:t>検証用データには，学習用データの</a:t>
            </a:r>
            <a:r>
              <a:rPr lang="en-US" altLang="ja-JP" dirty="0" smtClean="0"/>
              <a:t>20%</a:t>
            </a:r>
            <a:r>
              <a:rPr lang="ja-JP" altLang="en-US" dirty="0" smtClean="0"/>
              <a:t>を使用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99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使用するデータセット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372418"/>
              </p:ext>
            </p:extLst>
          </p:nvPr>
        </p:nvGraphicFramePr>
        <p:xfrm>
          <a:off x="1455179" y="2148840"/>
          <a:ext cx="623364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データセット名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パターン数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クラス数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214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270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768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846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strike="sngStrike" dirty="0" smtClean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</a:rPr>
                        <a:t>Vowel</a:t>
                      </a:r>
                      <a:endParaRPr kumimoji="1" lang="ja-JP" altLang="en-US" sz="2800" b="0" strike="sng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strike="sngStrike" dirty="0" smtClean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</a:rPr>
                        <a:t>990</a:t>
                      </a:r>
                      <a:endParaRPr kumimoji="1" lang="ja-JP" altLang="en-US" sz="2800" b="0" strike="sng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strike="sngStrike" dirty="0" smtClean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</a:rPr>
                        <a:t>11</a:t>
                      </a:r>
                      <a:endParaRPr kumimoji="1" lang="ja-JP" altLang="en-US" sz="2800" b="0" strike="sng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6435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3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graphicFrame>
        <p:nvGraphicFramePr>
          <p:cNvPr id="3" name="コンテンツ プレースホルダー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631194"/>
              </p:ext>
            </p:extLst>
          </p:nvPr>
        </p:nvGraphicFramePr>
        <p:xfrm>
          <a:off x="266700" y="2379074"/>
          <a:ext cx="86867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709">
                  <a:extLst>
                    <a:ext uri="{9D8B030D-6E8A-4147-A177-3AD203B41FA5}">
                      <a16:colId xmlns:a16="http://schemas.microsoft.com/office/drawing/2014/main" val="1304859516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1013144135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367073746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1938422578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1550601165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2343107429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3102845391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877537846"/>
                    </a:ext>
                  </a:extLst>
                </a:gridCol>
                <a:gridCol w="875932">
                  <a:extLst>
                    <a:ext uri="{9D8B030D-6E8A-4147-A177-3AD203B41FA5}">
                      <a16:colId xmlns:a16="http://schemas.microsoft.com/office/drawing/2014/main" val="1967135661"/>
                    </a:ext>
                  </a:extLst>
                </a:gridCol>
                <a:gridCol w="739302">
                  <a:extLst>
                    <a:ext uri="{9D8B030D-6E8A-4147-A177-3AD203B41FA5}">
                      <a16:colId xmlns:a16="http://schemas.microsoft.com/office/drawing/2014/main" val="2706766500"/>
                    </a:ext>
                  </a:extLst>
                </a:gridCol>
                <a:gridCol w="753893">
                  <a:extLst>
                    <a:ext uri="{9D8B030D-6E8A-4147-A177-3AD203B41FA5}">
                      <a16:colId xmlns:a16="http://schemas.microsoft.com/office/drawing/2014/main" val="3077373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811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本数</a:t>
                      </a:r>
                      <a:endParaRPr kumimoji="1" lang="ja-JP" altLang="en-US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元の</a:t>
                      </a:r>
                      <a:r>
                        <a:rPr kumimoji="1" lang="en-US" altLang="ja-JP" sz="2000" dirty="0" smtClean="0"/>
                        <a:t>RF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最終個体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元の</a:t>
                      </a:r>
                      <a:r>
                        <a:rPr kumimoji="1" lang="en-US" altLang="ja-JP" sz="2000" dirty="0" smtClean="0"/>
                        <a:t>RF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最終個体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元の</a:t>
                      </a:r>
                      <a:r>
                        <a:rPr kumimoji="1" lang="en-US" altLang="ja-JP" sz="2000" dirty="0" smtClean="0"/>
                        <a:t>RF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最終個体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元の</a:t>
                      </a:r>
                      <a:r>
                        <a:rPr kumimoji="1" lang="en-US" altLang="ja-JP" sz="2000" dirty="0" smtClean="0"/>
                        <a:t>RF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最終個体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元の</a:t>
                      </a:r>
                      <a:r>
                        <a:rPr kumimoji="1" lang="en-US" altLang="ja-JP" sz="2000" dirty="0" smtClean="0"/>
                        <a:t>RF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最終個体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257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400" b="0" dirty="0" smtClean="0"/>
                        <a:t>100</a:t>
                      </a:r>
                      <a:endParaRPr kumimoji="1" lang="ja-JP" altLang="en-US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79.7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78.6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81.9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81.9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75.4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75.6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74.7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74.9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91.9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91.9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12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400" b="0" dirty="0" smtClean="0"/>
                        <a:t>150</a:t>
                      </a:r>
                      <a:endParaRPr kumimoji="1" lang="ja-JP" altLang="en-US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80.0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80.0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82.2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81.9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75.7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75.1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74.8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74.7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92.0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91.9</a:t>
                      </a:r>
                      <a:endParaRPr lang="en-US" altLang="ja-JP" sz="24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447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400" b="0" dirty="0" smtClean="0"/>
                        <a:t>200</a:t>
                      </a:r>
                      <a:endParaRPr kumimoji="1" lang="ja-JP" altLang="en-US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80.3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80.0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83.7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83.5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76.2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75.8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74.6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74.2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91.8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91.8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33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400" b="0" dirty="0" smtClean="0"/>
                        <a:t>500</a:t>
                      </a:r>
                      <a:endParaRPr kumimoji="1" lang="ja-JP" altLang="en-US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77.9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77.4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82.8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82.0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76.2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76.0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76.4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76.2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91.8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91.8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098218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データによる最適化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679846" y="5501781"/>
            <a:ext cx="3273653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dirty="0" smtClean="0">
                <a:solidFill>
                  <a:schemeClr val="accent3"/>
                </a:solidFill>
              </a:rPr>
              <a:t>青字</a:t>
            </a:r>
            <a:r>
              <a:rPr lang="ja-JP" altLang="en-US" sz="2400" dirty="0" smtClean="0"/>
              <a:t>：有意差ありで低い</a:t>
            </a:r>
            <a:endParaRPr kumimoji="1" lang="ja-JP" altLang="en-US" sz="24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213526" y="1659227"/>
            <a:ext cx="6716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/>
              <a:t>各データセットにおける平均識別精度</a:t>
            </a:r>
            <a:r>
              <a:rPr lang="en-US" altLang="ja-JP" sz="2800" dirty="0" smtClean="0"/>
              <a:t>[</a:t>
            </a:r>
            <a:r>
              <a:rPr lang="en-US" altLang="ja-JP" sz="2800" dirty="0"/>
              <a:t>%</a:t>
            </a:r>
            <a:r>
              <a:rPr lang="en-US" altLang="ja-JP" sz="2800" dirty="0" smtClean="0"/>
              <a:t>]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69206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graphicFrame>
        <p:nvGraphicFramePr>
          <p:cNvPr id="3" name="コンテンツ プレースホルダー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145195"/>
              </p:ext>
            </p:extLst>
          </p:nvPr>
        </p:nvGraphicFramePr>
        <p:xfrm>
          <a:off x="266700" y="2379074"/>
          <a:ext cx="86867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709">
                  <a:extLst>
                    <a:ext uri="{9D8B030D-6E8A-4147-A177-3AD203B41FA5}">
                      <a16:colId xmlns:a16="http://schemas.microsoft.com/office/drawing/2014/main" val="1304859516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1013144135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367073746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1938422578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1550601165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2343107429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3102845391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877537846"/>
                    </a:ext>
                  </a:extLst>
                </a:gridCol>
                <a:gridCol w="875932">
                  <a:extLst>
                    <a:ext uri="{9D8B030D-6E8A-4147-A177-3AD203B41FA5}">
                      <a16:colId xmlns:a16="http://schemas.microsoft.com/office/drawing/2014/main" val="1967135661"/>
                    </a:ext>
                  </a:extLst>
                </a:gridCol>
                <a:gridCol w="739302">
                  <a:extLst>
                    <a:ext uri="{9D8B030D-6E8A-4147-A177-3AD203B41FA5}">
                      <a16:colId xmlns:a16="http://schemas.microsoft.com/office/drawing/2014/main" val="2706766500"/>
                    </a:ext>
                  </a:extLst>
                </a:gridCol>
                <a:gridCol w="753893">
                  <a:extLst>
                    <a:ext uri="{9D8B030D-6E8A-4147-A177-3AD203B41FA5}">
                      <a16:colId xmlns:a16="http://schemas.microsoft.com/office/drawing/2014/main" val="3077373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811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本数</a:t>
                      </a:r>
                      <a:endParaRPr kumimoji="1" lang="ja-JP" altLang="en-US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元の</a:t>
                      </a:r>
                      <a:r>
                        <a:rPr kumimoji="1" lang="en-US" altLang="ja-JP" sz="2000" dirty="0" smtClean="0"/>
                        <a:t>RF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最終個体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元の</a:t>
                      </a:r>
                      <a:r>
                        <a:rPr kumimoji="1" lang="en-US" altLang="ja-JP" sz="2000" dirty="0" smtClean="0"/>
                        <a:t>RF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最終個体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元の</a:t>
                      </a:r>
                      <a:r>
                        <a:rPr kumimoji="1" lang="en-US" altLang="ja-JP" sz="2000" dirty="0" smtClean="0"/>
                        <a:t>RF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最終個体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元の</a:t>
                      </a:r>
                      <a:r>
                        <a:rPr kumimoji="1" lang="en-US" altLang="ja-JP" sz="2000" dirty="0" smtClean="0"/>
                        <a:t>RF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最終個体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元の</a:t>
                      </a:r>
                      <a:r>
                        <a:rPr kumimoji="1" lang="en-US" altLang="ja-JP" sz="2000" dirty="0" smtClean="0"/>
                        <a:t>RF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最終個体</a:t>
                      </a:r>
                      <a:endParaRPr kumimoji="1" lang="ja-JP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257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400" b="0" dirty="0" smtClean="0"/>
                        <a:t>100</a:t>
                      </a:r>
                      <a:endParaRPr kumimoji="1" lang="ja-JP" altLang="en-US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77.6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76.4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81.3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12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400" b="0" dirty="0" smtClean="0"/>
                        <a:t>150</a:t>
                      </a:r>
                      <a:endParaRPr kumimoji="1" lang="ja-JP" altLang="en-US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76.9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76.9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80.7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447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400" b="0" dirty="0" smtClean="0"/>
                        <a:t>200</a:t>
                      </a:r>
                      <a:endParaRPr kumimoji="1" lang="ja-JP" altLang="en-US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78.0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79.1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81.9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81.7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76.0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74.7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33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400" b="0" dirty="0" smtClean="0"/>
                        <a:t>500</a:t>
                      </a:r>
                      <a:endParaRPr kumimoji="1" lang="ja-JP" altLang="en-US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79.9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79.7</a:t>
                      </a:r>
                      <a:endParaRPr lang="en-US" alt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83.1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83.3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76.2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75.4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50" charset="-128"/>
                        </a:rPr>
                        <a:t>91.2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098218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検証用</a:t>
            </a:r>
            <a:r>
              <a:rPr kumimoji="1" lang="ja-JP" altLang="en-US" dirty="0" smtClean="0"/>
              <a:t>データ</a:t>
            </a:r>
            <a:r>
              <a:rPr kumimoji="1" lang="ja-JP" altLang="en-US" dirty="0" smtClean="0"/>
              <a:t>による最適化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13526" y="1659227"/>
            <a:ext cx="6716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/>
              <a:t>各データセットにおける平均識別精度</a:t>
            </a:r>
            <a:r>
              <a:rPr lang="en-US" altLang="ja-JP" sz="2800" dirty="0" smtClean="0"/>
              <a:t>[</a:t>
            </a:r>
            <a:r>
              <a:rPr lang="en-US" altLang="ja-JP" sz="2800" dirty="0"/>
              <a:t>%</a:t>
            </a:r>
            <a:r>
              <a:rPr lang="en-US" altLang="ja-JP" sz="2800" dirty="0" smtClean="0"/>
              <a:t>]</a:t>
            </a:r>
            <a:endParaRPr kumimoji="1" lang="ja-JP" altLang="en-US" sz="28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679846" y="5501781"/>
            <a:ext cx="3273653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dirty="0" smtClean="0">
                <a:solidFill>
                  <a:schemeClr val="accent3"/>
                </a:solidFill>
              </a:rPr>
              <a:t>青字</a:t>
            </a:r>
            <a:r>
              <a:rPr lang="ja-JP" altLang="en-US" sz="2400" dirty="0" smtClean="0"/>
              <a:t>：有意差ありで低い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2190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選ばれた決定木の割合</a:t>
            </a:r>
            <a:endParaRPr kumimoji="1" lang="ja-JP" altLang="en-US" dirty="0"/>
          </a:p>
        </p:txBody>
      </p:sp>
      <p:graphicFrame>
        <p:nvGraphicFramePr>
          <p:cNvPr id="7" name="グラフ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0950222"/>
              </p:ext>
            </p:extLst>
          </p:nvPr>
        </p:nvGraphicFramePr>
        <p:xfrm>
          <a:off x="909943" y="1164795"/>
          <a:ext cx="8102734" cy="261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グラフ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090882"/>
              </p:ext>
            </p:extLst>
          </p:nvPr>
        </p:nvGraphicFramePr>
        <p:xfrm>
          <a:off x="909943" y="3673085"/>
          <a:ext cx="6575944" cy="2613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テキスト ボックス 9"/>
          <p:cNvSpPr txBox="1"/>
          <p:nvPr/>
        </p:nvSpPr>
        <p:spPr>
          <a:xfrm rot="16200000">
            <a:off x="-434706" y="3708870"/>
            <a:ext cx="2227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抽出割合</a:t>
            </a:r>
            <a:r>
              <a:rPr kumimoji="1" lang="en-US" altLang="ja-JP" sz="2400" dirty="0" smtClean="0"/>
              <a:t>[%]</a:t>
            </a:r>
            <a:endParaRPr kumimoji="1" lang="ja-JP" altLang="en-US" sz="2400" dirty="0" smtClean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256817" y="6159677"/>
            <a:ext cx="4270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決定木の本数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360268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3.xml><?xml version="1.0" encoding="utf-8"?>
<a:theme xmlns:a="http://schemas.openxmlformats.org/drawingml/2006/main" name="2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B0B4D299-C3BD-44F5-9666-E361C8B677F1}" vid="{958EF22C-0703-4AA8-A4F5-39EE8C6B158B}"/>
    </a:ext>
  </a:extLst>
</a:theme>
</file>

<file path=ppt/theme/theme4.xml><?xml version="1.0" encoding="utf-8"?>
<a:theme xmlns:a="http://schemas.openxmlformats.org/drawingml/2006/main" name="3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5.xml><?xml version="1.0" encoding="utf-8"?>
<a:theme xmlns:a="http://schemas.openxmlformats.org/drawingml/2006/main" name="4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6.xml><?xml version="1.0" encoding="utf-8"?>
<a:theme xmlns:a="http://schemas.openxmlformats.org/drawingml/2006/main" name="5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7.xml><?xml version="1.0" encoding="utf-8"?>
<a:theme xmlns:a="http://schemas.openxmlformats.org/drawingml/2006/main" name="6_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9487F93B-4106-4629-85FC-8E1BB021CAD6}" vid="{65E8ECE0-E354-435F-95E2-6CB9CEF06008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364</TotalTime>
  <Words>281</Words>
  <Application>Microsoft Office PowerPoint</Application>
  <PresentationFormat>画面に合わせる (4:3)</PresentationFormat>
  <Paragraphs>174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8</vt:i4>
      </vt:variant>
    </vt:vector>
  </HeadingPairs>
  <TitlesOfParts>
    <vt:vector size="21" baseType="lpstr">
      <vt:lpstr>ＭＳ P ゴシック</vt:lpstr>
      <vt:lpstr>ＭＳ Ｐゴシック</vt:lpstr>
      <vt:lpstr>游ゴシック</vt:lpstr>
      <vt:lpstr>Arial</vt:lpstr>
      <vt:lpstr>Calibri</vt:lpstr>
      <vt:lpstr>Times New Roman</vt:lpstr>
      <vt:lpstr>Theme_lab</vt:lpstr>
      <vt:lpstr>1_Theme_Lab</vt:lpstr>
      <vt:lpstr>2_Theme_Lab</vt:lpstr>
      <vt:lpstr>3_Theme_Lab</vt:lpstr>
      <vt:lpstr>4_Theme_Lab</vt:lpstr>
      <vt:lpstr>5_Theme_Lab</vt:lpstr>
      <vt:lpstr>6_Theme_Lab</vt:lpstr>
      <vt:lpstr>GAを用いたランダムフォレストにおける弱識別器の選択</vt:lpstr>
      <vt:lpstr>これまでの実験概要</vt:lpstr>
      <vt:lpstr>実験パラメータ設定</vt:lpstr>
      <vt:lpstr>パラメータ設定</vt:lpstr>
      <vt:lpstr>実験結果</vt:lpstr>
      <vt:lpstr>実験結果</vt:lpstr>
      <vt:lpstr>実験結果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37</cp:revision>
  <dcterms:created xsi:type="dcterms:W3CDTF">2019-03-03T13:45:30Z</dcterms:created>
  <dcterms:modified xsi:type="dcterms:W3CDTF">2019-06-10T04:50:49Z</dcterms:modified>
</cp:coreProperties>
</file>