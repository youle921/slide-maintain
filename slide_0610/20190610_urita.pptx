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4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5.xml" ContentType="application/vnd.openxmlformats-officedocument.theme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6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  <p:sldMasterId id="2147483682" r:id="rId2"/>
    <p:sldMasterId id="2147483689" r:id="rId3"/>
    <p:sldMasterId id="2147483696" r:id="rId4"/>
    <p:sldMasterId id="2147483703" r:id="rId5"/>
    <p:sldMasterId id="2147483710" r:id="rId6"/>
    <p:sldMasterId id="2147483719" r:id="rId7"/>
  </p:sldMasterIdLst>
  <p:notesMasterIdLst>
    <p:notesMasterId r:id="rId16"/>
  </p:notesMasterIdLst>
  <p:sldIdLst>
    <p:sldId id="256" r:id="rId8"/>
    <p:sldId id="261" r:id="rId9"/>
    <p:sldId id="278" r:id="rId10"/>
    <p:sldId id="280" r:id="rId11"/>
    <p:sldId id="282" r:id="rId12"/>
    <p:sldId id="284" r:id="rId13"/>
    <p:sldId id="285" r:id="rId14"/>
    <p:sldId id="259" r:id="rId15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9" d="100"/>
          <a:sy n="79" d="100"/>
        </p:scale>
        <p:origin x="1526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10" Type="http://schemas.openxmlformats.org/officeDocument/2006/relationships/slide" Target="slides/slide3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y5ule\research\research_b4\rf_ga\tree_num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altLang="ja-JP" sz="2400" dirty="0" smtClean="0">
                <a:solidFill>
                  <a:schemeClr val="tx1"/>
                </a:solidFill>
              </a:rPr>
              <a:t>validation</a:t>
            </a:r>
            <a:endParaRPr lang="ja-JP" altLang="en-US" sz="24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0.33527355152866345"/>
          <c:y val="7.054992805634291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ja-JP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Sheet1!$H$2</c:f>
              <c:strCache>
                <c:ptCount val="1"/>
                <c:pt idx="0">
                  <c:v>Glass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Sheet1!$A$3:$A$6</c:f>
              <c:numCache>
                <c:formatCode>General</c:formatCode>
                <c:ptCount val="4"/>
                <c:pt idx="0">
                  <c:v>100</c:v>
                </c:pt>
                <c:pt idx="1">
                  <c:v>150</c:v>
                </c:pt>
                <c:pt idx="2">
                  <c:v>200</c:v>
                </c:pt>
                <c:pt idx="3">
                  <c:v>500</c:v>
                </c:pt>
              </c:numCache>
            </c:numRef>
          </c:xVal>
          <c:yVal>
            <c:numRef>
              <c:f>Sheet1!$H$3:$H$6</c:f>
              <c:numCache>
                <c:formatCode>General</c:formatCode>
                <c:ptCount val="4"/>
                <c:pt idx="0">
                  <c:v>41.25</c:v>
                </c:pt>
                <c:pt idx="1">
                  <c:v>45.766666666666673</c:v>
                </c:pt>
                <c:pt idx="2">
                  <c:v>46.274999999999999</c:v>
                </c:pt>
                <c:pt idx="3">
                  <c:v>48.06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C52-424D-9214-815BE2B214FA}"/>
            </c:ext>
          </c:extLst>
        </c:ser>
        <c:ser>
          <c:idx val="1"/>
          <c:order val="1"/>
          <c:tx>
            <c:strRef>
              <c:f>Sheet1!$I$2</c:f>
              <c:strCache>
                <c:ptCount val="1"/>
                <c:pt idx="0">
                  <c:v>Heart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Sheet1!$A$3:$A$6</c:f>
              <c:numCache>
                <c:formatCode>General</c:formatCode>
                <c:ptCount val="4"/>
                <c:pt idx="0">
                  <c:v>100</c:v>
                </c:pt>
                <c:pt idx="1">
                  <c:v>150</c:v>
                </c:pt>
                <c:pt idx="2">
                  <c:v>200</c:v>
                </c:pt>
                <c:pt idx="3">
                  <c:v>500</c:v>
                </c:pt>
              </c:numCache>
            </c:numRef>
          </c:xVal>
          <c:yVal>
            <c:numRef>
              <c:f>Sheet1!$I$3:$I$6</c:f>
              <c:numCache>
                <c:formatCode>General</c:formatCode>
                <c:ptCount val="4"/>
                <c:pt idx="0">
                  <c:v>42.65</c:v>
                </c:pt>
                <c:pt idx="1">
                  <c:v>48.133333333333333</c:v>
                </c:pt>
                <c:pt idx="2">
                  <c:v>48.35</c:v>
                </c:pt>
                <c:pt idx="3">
                  <c:v>49.06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4C52-424D-9214-815BE2B214FA}"/>
            </c:ext>
          </c:extLst>
        </c:ser>
        <c:ser>
          <c:idx val="2"/>
          <c:order val="2"/>
          <c:tx>
            <c:strRef>
              <c:f>Sheet1!$J$2</c:f>
              <c:strCache>
                <c:ptCount val="1"/>
                <c:pt idx="0">
                  <c:v>Pima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Sheet1!$A$3:$A$6</c:f>
              <c:numCache>
                <c:formatCode>General</c:formatCode>
                <c:ptCount val="4"/>
                <c:pt idx="0">
                  <c:v>100</c:v>
                </c:pt>
                <c:pt idx="1">
                  <c:v>150</c:v>
                </c:pt>
                <c:pt idx="2">
                  <c:v>200</c:v>
                </c:pt>
                <c:pt idx="3">
                  <c:v>500</c:v>
                </c:pt>
              </c:numCache>
            </c:numRef>
          </c:xVal>
          <c:yVal>
            <c:numRef>
              <c:f>Sheet1!$J$3:$J$6</c:f>
              <c:numCache>
                <c:formatCode>General</c:formatCode>
                <c:ptCount val="4"/>
                <c:pt idx="0">
                  <c:v>37.6</c:v>
                </c:pt>
                <c:pt idx="1">
                  <c:v>42.833333333333336</c:v>
                </c:pt>
                <c:pt idx="2">
                  <c:v>44.9</c:v>
                </c:pt>
                <c:pt idx="3">
                  <c:v>48.43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C52-424D-9214-815BE2B214FA}"/>
            </c:ext>
          </c:extLst>
        </c:ser>
        <c:ser>
          <c:idx val="3"/>
          <c:order val="3"/>
          <c:tx>
            <c:strRef>
              <c:f>Sheet1!$K$2</c:f>
              <c:strCache>
                <c:ptCount val="1"/>
                <c:pt idx="0">
                  <c:v>Vehicle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xVal>
            <c:numRef>
              <c:f>Sheet1!$A$3:$A$6</c:f>
              <c:numCache>
                <c:formatCode>General</c:formatCode>
                <c:ptCount val="4"/>
                <c:pt idx="0">
                  <c:v>100</c:v>
                </c:pt>
                <c:pt idx="1">
                  <c:v>150</c:v>
                </c:pt>
                <c:pt idx="2">
                  <c:v>200</c:v>
                </c:pt>
                <c:pt idx="3">
                  <c:v>500</c:v>
                </c:pt>
              </c:numCache>
            </c:numRef>
          </c:xVal>
          <c:yVal>
            <c:numRef>
              <c:f>Sheet1!$K$3:$K$6</c:f>
              <c:numCache>
                <c:formatCode>General</c:formatCode>
                <c:ptCount val="4"/>
                <c:pt idx="0">
                  <c:v>37.65</c:v>
                </c:pt>
                <c:pt idx="1">
                  <c:v>41.800000000000004</c:v>
                </c:pt>
                <c:pt idx="2">
                  <c:v>42.125</c:v>
                </c:pt>
                <c:pt idx="3">
                  <c:v>47.730000000000004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4C52-424D-9214-815BE2B214FA}"/>
            </c:ext>
          </c:extLst>
        </c:ser>
        <c:ser>
          <c:idx val="4"/>
          <c:order val="4"/>
          <c:tx>
            <c:strRef>
              <c:f>Sheet1!$L$2</c:f>
              <c:strCache>
                <c:ptCount val="1"/>
                <c:pt idx="0">
                  <c:v>Satimage</c:v>
                </c:pt>
              </c:strCache>
            </c:strRef>
          </c:tx>
          <c:spPr>
            <a:ln w="190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Sheet1!$A$3:$A$6</c:f>
              <c:numCache>
                <c:formatCode>General</c:formatCode>
                <c:ptCount val="4"/>
                <c:pt idx="0">
                  <c:v>100</c:v>
                </c:pt>
                <c:pt idx="1">
                  <c:v>150</c:v>
                </c:pt>
                <c:pt idx="2">
                  <c:v>200</c:v>
                </c:pt>
                <c:pt idx="3">
                  <c:v>500</c:v>
                </c:pt>
              </c:numCache>
            </c:numRef>
          </c:xVal>
          <c:yVal>
            <c:numRef>
              <c:f>Sheet1!$L$3:$L$6</c:f>
              <c:numCache>
                <c:formatCode>General</c:formatCode>
                <c:ptCount val="4"/>
                <c:pt idx="0">
                  <c:v>41.65</c:v>
                </c:pt>
                <c:pt idx="1">
                  <c:v>41.766666666666666</c:v>
                </c:pt>
                <c:pt idx="2">
                  <c:v>43.024999999999999</c:v>
                </c:pt>
                <c:pt idx="3">
                  <c:v>46.489999999999995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4C52-424D-9214-815BE2B214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47348287"/>
        <c:axId val="747353695"/>
      </c:scatterChart>
      <c:valAx>
        <c:axId val="747348287"/>
        <c:scaling>
          <c:orientation val="minMax"/>
          <c:max val="500"/>
          <c:min val="1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747353695"/>
        <c:crosses val="autoZero"/>
        <c:crossBetween val="midCat"/>
      </c:valAx>
      <c:valAx>
        <c:axId val="747353695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747348287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5704607581816394"/>
          <c:y val="0.39516636564211194"/>
          <c:w val="0.14295386259647638"/>
          <c:h val="0.6048336343578880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0B5556-BCC9-4B19-BEF2-1B111DE5EE18}" type="datetimeFigureOut">
              <a:rPr kumimoji="1" lang="ja-JP" altLang="en-US" smtClean="0"/>
              <a:t>2019/6/10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8953AC-7D74-400F-BB06-95EAE7026D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5700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8953AC-7D74-400F-BB06-95EAE7026D67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4495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213457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9123886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160608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論文情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228600" y="1981200"/>
            <a:ext cx="8686800" cy="1476375"/>
          </a:xfrm>
        </p:spPr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800"/>
            </a:lvl2pPr>
            <a:lvl3pPr marL="685800" indent="0" algn="l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タイトル</a:t>
            </a:r>
          </a:p>
          <a:p>
            <a:pPr lvl="1"/>
            <a:endParaRPr lang="ja-JP" altLang="en-US" dirty="0" smtClean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1323975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5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228600" y="4429780"/>
            <a:ext cx="8686800" cy="1476375"/>
          </a:xfrm>
        </p:spPr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800"/>
            </a:lvl2pPr>
            <a:lvl3pPr marL="685800" indent="0" algn="l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</a:t>
            </a:r>
          </a:p>
          <a:p>
            <a:pPr lvl="1"/>
            <a:endParaRPr lang="ja-JP" altLang="en-US" dirty="0" smtClean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28600" y="3772555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6F2B1938-31FF-4F5D-91C3-C8C393A7F7A0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8" name="テキスト ボックス 7"/>
          <p:cNvSpPr txBox="1"/>
          <p:nvPr userDrawn="1"/>
        </p:nvSpPr>
        <p:spPr>
          <a:xfrm>
            <a:off x="76200" y="186779"/>
            <a:ext cx="3048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</p:spTree>
    <p:extLst>
      <p:ext uri="{BB962C8B-B14F-4D97-AF65-F5344CB8AC3E}">
        <p14:creationId xmlns:p14="http://schemas.microsoft.com/office/powerpoint/2010/main" val="178060146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184933354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02283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520271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68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3776922659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94713716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90131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49590208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747744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504775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43777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論文情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228600" y="1981200"/>
            <a:ext cx="8686800" cy="1476375"/>
          </a:xfrm>
        </p:spPr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800"/>
            </a:lvl2pPr>
            <a:lvl3pPr marL="685800" indent="0" algn="l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タイトル</a:t>
            </a:r>
          </a:p>
          <a:p>
            <a:pPr lvl="1"/>
            <a:endParaRPr lang="ja-JP" altLang="en-US" dirty="0" smtClean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1323975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5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228600" y="4429780"/>
            <a:ext cx="8686800" cy="1476375"/>
          </a:xfrm>
        </p:spPr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800"/>
            </a:lvl2pPr>
            <a:lvl3pPr marL="685800" indent="0" algn="l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</a:t>
            </a:r>
          </a:p>
          <a:p>
            <a:pPr lvl="1"/>
            <a:endParaRPr lang="ja-JP" altLang="en-US" dirty="0" smtClean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28600" y="3772555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6F2B1938-31FF-4F5D-91C3-C8C393A7F7A0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76200" y="186779"/>
            <a:ext cx="3048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</p:spTree>
    <p:extLst>
      <p:ext uri="{BB962C8B-B14F-4D97-AF65-F5344CB8AC3E}">
        <p14:creationId xmlns:p14="http://schemas.microsoft.com/office/powerpoint/2010/main" val="3030680046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17511752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68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213957005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464483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283143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68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3840623262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5322999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62911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157608208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753939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032633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68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71408411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9727399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374598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7322306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546017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4955505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70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638190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70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355795783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28985078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02739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10444810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68"/>
            <a:ext cx="9067800" cy="573087"/>
          </a:xfrm>
        </p:spPr>
        <p:txBody>
          <a:bodyPr/>
          <a:lstStyle>
            <a:lvl1pPr marL="0" indent="0">
              <a:buNone/>
              <a:defRPr sz="3600" b="1">
                <a:solidFill>
                  <a:schemeClr val="accent4"/>
                </a:solidFill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4186320915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470088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4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228600" y="1323977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23977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3721022278"/>
      </p:ext>
    </p:extLst>
  </p:cSld>
  <p:clrMapOvr>
    <a:masterClrMapping/>
  </p:clrMapOvr>
  <p:hf hdr="0" ftr="0" dt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9337805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70"/>
            <a:ext cx="9067800" cy="573087"/>
          </a:xfrm>
        </p:spPr>
        <p:txBody>
          <a:bodyPr anchor="ctr"/>
          <a:lstStyle>
            <a:lvl1pPr marL="0" indent="0">
              <a:buNone/>
              <a:defRPr sz="3600" b="1">
                <a:solidFill>
                  <a:schemeClr val="accent4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2335479542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70"/>
            <a:ext cx="9067800" cy="573087"/>
          </a:xfrm>
        </p:spPr>
        <p:txBody>
          <a:bodyPr anchor="ctr"/>
          <a:lstStyle>
            <a:lvl1pPr marL="0" indent="0">
              <a:buNone/>
              <a:defRPr sz="3600" b="1">
                <a:solidFill>
                  <a:schemeClr val="accent4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3839581190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398870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084760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27966874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1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5.xml"/><Relationship Id="rId5" Type="http://schemas.openxmlformats.org/officeDocument/2006/relationships/slideLayout" Target="../slideLayouts/slideLayout34.xml"/><Relationship Id="rId4" Type="http://schemas.openxmlformats.org/officeDocument/2006/relationships/slideLayout" Target="../slideLayouts/slideLayout33.xml"/><Relationship Id="rId9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5" Type="http://schemas.openxmlformats.org/officeDocument/2006/relationships/slideLayout" Target="../slideLayouts/slideLayout42.xml"/><Relationship Id="rId4" Type="http://schemas.openxmlformats.org/officeDocument/2006/relationships/slideLayout" Target="../slideLayouts/slideLayout41.xml"/><Relationship Id="rId9" Type="http://schemas.openxmlformats.org/officeDocument/2006/relationships/theme" Target="../theme/theme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12322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81" r:id="rId3"/>
    <p:sldLayoutId id="2147483679" r:id="rId4"/>
    <p:sldLayoutId id="2147483675" r:id="rId5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662358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073046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41617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001117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00483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896396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867782"/>
            <a:ext cx="7772400" cy="1470025"/>
          </a:xfrm>
        </p:spPr>
        <p:txBody>
          <a:bodyPr/>
          <a:lstStyle/>
          <a:p>
            <a:pPr algn="ctr"/>
            <a:r>
              <a:rPr kumimoji="1" lang="en-US" altLang="ja-JP" dirty="0" smtClean="0"/>
              <a:t>GA</a:t>
            </a:r>
            <a:r>
              <a:rPr kumimoji="1" lang="ja-JP" altLang="en-US" dirty="0" smtClean="0"/>
              <a:t>を用いたランダムフォレストにおける</a:t>
            </a:r>
            <a:r>
              <a:rPr lang="ja-JP" altLang="en-US" dirty="0" smtClean="0"/>
              <a:t>弱識別器の選択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948136"/>
            <a:ext cx="6400800" cy="1371600"/>
          </a:xfrm>
        </p:spPr>
        <p:txBody>
          <a:bodyPr/>
          <a:lstStyle/>
          <a:p>
            <a:r>
              <a:rPr kumimoji="1" lang="ja-JP" altLang="en-US" dirty="0" smtClean="0"/>
              <a:t>瓜田　俊貴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0538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これまでの実験概要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dirty="0" smtClean="0"/>
              <a:t>ランダムフォレストの弱識別器を抽出し，より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良いアンサンブル識別器を獲得する．</a:t>
            </a:r>
            <a:endParaRPr kumimoji="1"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dirty="0" smtClean="0"/>
              <a:t>GA</a:t>
            </a:r>
            <a:r>
              <a:rPr lang="ja-JP" altLang="en-US" dirty="0" smtClean="0"/>
              <a:t>を用いて，優れたアンサンブル識別器を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効率よく獲得したい．</a:t>
            </a:r>
            <a:endParaRPr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dirty="0" smtClean="0"/>
              <a:t>個体評価には，</a:t>
            </a:r>
            <a:r>
              <a:rPr kumimoji="1" lang="en-US" altLang="ja-JP" dirty="0" smtClean="0"/>
              <a:t>OOB</a:t>
            </a:r>
            <a:r>
              <a:rPr kumimoji="1" lang="ja-JP" altLang="en-US" dirty="0" smtClean="0"/>
              <a:t>データ・検証用データを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用いて探索を行う．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17270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実験パラメータ設定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kumimoji="1" lang="ja-JP" altLang="en-US" dirty="0" smtClean="0"/>
              <a:t>決定木の本数：</a:t>
            </a:r>
            <a:r>
              <a:rPr lang="en-US" altLang="ja-JP" dirty="0" smtClean="0"/>
              <a:t>100, 150, 200, 500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lang="ja-JP" altLang="en-US" dirty="0" smtClean="0"/>
              <a:t>個体群サイズ：</a:t>
            </a:r>
            <a:r>
              <a:rPr lang="en-US" altLang="ja-JP" dirty="0" smtClean="0"/>
              <a:t>50</a:t>
            </a:r>
            <a:br>
              <a:rPr lang="en-US" altLang="ja-JP" dirty="0" smtClean="0"/>
            </a:br>
            <a:r>
              <a:rPr lang="ja-JP" altLang="en-US" dirty="0" smtClean="0"/>
              <a:t>子個体数：</a:t>
            </a:r>
            <a:r>
              <a:rPr lang="en-US" altLang="ja-JP" dirty="0" smtClean="0"/>
              <a:t>5</a:t>
            </a:r>
            <a:r>
              <a:rPr lang="en-US" altLang="ja-JP" dirty="0"/>
              <a:t>0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kumimoji="1" lang="ja-JP" altLang="en-US" dirty="0" smtClean="0"/>
              <a:t>世代数：</a:t>
            </a:r>
            <a:r>
              <a:rPr kumimoji="1" lang="en-US" altLang="ja-JP" dirty="0" smtClean="0"/>
              <a:t>1000</a:t>
            </a:r>
          </a:p>
          <a:p>
            <a:pPr algn="l"/>
            <a:r>
              <a:rPr lang="ja-JP" altLang="en-US" dirty="0" smtClean="0"/>
              <a:t>交叉方法：一様交叉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kumimoji="1" lang="ja-JP" altLang="en-US" dirty="0" smtClean="0"/>
              <a:t>突然変異確率：</a:t>
            </a:r>
            <a:r>
              <a:rPr lang="en-US" altLang="ja-JP" dirty="0"/>
              <a:t>2</a:t>
            </a:r>
            <a:r>
              <a:rPr kumimoji="1" lang="en-US" altLang="ja-JP" dirty="0" smtClean="0"/>
              <a:t>/50</a:t>
            </a:r>
          </a:p>
          <a:p>
            <a:pPr algn="l"/>
            <a:r>
              <a:rPr lang="ja-JP" altLang="en-US" dirty="0" smtClean="0"/>
              <a:t>検証用データには，学習用データの</a:t>
            </a:r>
            <a:r>
              <a:rPr lang="en-US" altLang="ja-JP" dirty="0" smtClean="0"/>
              <a:t>20%</a:t>
            </a:r>
            <a:r>
              <a:rPr lang="ja-JP" altLang="en-US" dirty="0" smtClean="0"/>
              <a:t>を使用</a:t>
            </a: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95994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パラメータ設定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ja-JP" altLang="en-US" dirty="0" smtClean="0"/>
              <a:t>使用するデータセット</a:t>
            </a: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372418"/>
              </p:ext>
            </p:extLst>
          </p:nvPr>
        </p:nvGraphicFramePr>
        <p:xfrm>
          <a:off x="1455179" y="2148840"/>
          <a:ext cx="6233642" cy="3627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7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99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0" dirty="0" smtClean="0">
                          <a:solidFill>
                            <a:schemeClr val="tx1"/>
                          </a:solidFill>
                        </a:rPr>
                        <a:t>データセット名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0" dirty="0" smtClean="0">
                          <a:solidFill>
                            <a:schemeClr val="tx1"/>
                          </a:solidFill>
                        </a:rPr>
                        <a:t>パターン数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0" dirty="0" smtClean="0">
                          <a:solidFill>
                            <a:schemeClr val="tx1"/>
                          </a:solidFill>
                        </a:rPr>
                        <a:t>クラス数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Glass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214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Heart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270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Pima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768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Vehicle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846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strike="sngStrike" dirty="0" smtClean="0">
                          <a:solidFill>
                            <a:schemeClr val="bg2">
                              <a:lumMod val="40000"/>
                              <a:lumOff val="60000"/>
                            </a:schemeClr>
                          </a:solidFill>
                        </a:rPr>
                        <a:t>Vowel</a:t>
                      </a:r>
                      <a:endParaRPr kumimoji="1" lang="ja-JP" altLang="en-US" sz="2800" b="0" strike="sngStrike" dirty="0">
                        <a:solidFill>
                          <a:schemeClr val="bg2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strike="sngStrike" dirty="0" smtClean="0">
                          <a:solidFill>
                            <a:schemeClr val="bg2">
                              <a:lumMod val="40000"/>
                              <a:lumOff val="60000"/>
                            </a:schemeClr>
                          </a:solidFill>
                        </a:rPr>
                        <a:t>990</a:t>
                      </a:r>
                      <a:endParaRPr kumimoji="1" lang="ja-JP" altLang="en-US" sz="2800" b="0" strike="sngStrike" dirty="0">
                        <a:solidFill>
                          <a:schemeClr val="bg2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strike="sngStrike" dirty="0" smtClean="0">
                          <a:solidFill>
                            <a:schemeClr val="bg2">
                              <a:lumMod val="40000"/>
                              <a:lumOff val="60000"/>
                            </a:schemeClr>
                          </a:solidFill>
                        </a:rPr>
                        <a:t>11</a:t>
                      </a:r>
                      <a:endParaRPr kumimoji="1" lang="ja-JP" altLang="en-US" sz="2800" b="0" strike="sngStrike" dirty="0">
                        <a:solidFill>
                          <a:schemeClr val="bg2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err="1" smtClean="0">
                          <a:solidFill>
                            <a:schemeClr val="tx1"/>
                          </a:solidFill>
                        </a:rPr>
                        <a:t>Satimage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6435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130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実験</a:t>
            </a:r>
            <a:r>
              <a:rPr kumimoji="1" lang="ja-JP" altLang="en-US" dirty="0" smtClean="0"/>
              <a:t>結果</a:t>
            </a:r>
            <a:endParaRPr kumimoji="1" lang="ja-JP" altLang="en-US" dirty="0"/>
          </a:p>
        </p:txBody>
      </p:sp>
      <p:graphicFrame>
        <p:nvGraphicFramePr>
          <p:cNvPr id="3" name="コンテンツ プレースホルダー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0154405"/>
              </p:ext>
            </p:extLst>
          </p:nvPr>
        </p:nvGraphicFramePr>
        <p:xfrm>
          <a:off x="266700" y="2379074"/>
          <a:ext cx="86867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9709">
                  <a:extLst>
                    <a:ext uri="{9D8B030D-6E8A-4147-A177-3AD203B41FA5}">
                      <a16:colId xmlns:a16="http://schemas.microsoft.com/office/drawing/2014/main" val="1304859516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1013144135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367073746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1938422578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1550601165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2343107429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3102845391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877537846"/>
                    </a:ext>
                  </a:extLst>
                </a:gridCol>
                <a:gridCol w="875932">
                  <a:extLst>
                    <a:ext uri="{9D8B030D-6E8A-4147-A177-3AD203B41FA5}">
                      <a16:colId xmlns:a16="http://schemas.microsoft.com/office/drawing/2014/main" val="1967135661"/>
                    </a:ext>
                  </a:extLst>
                </a:gridCol>
                <a:gridCol w="739302">
                  <a:extLst>
                    <a:ext uri="{9D8B030D-6E8A-4147-A177-3AD203B41FA5}">
                      <a16:colId xmlns:a16="http://schemas.microsoft.com/office/drawing/2014/main" val="2706766500"/>
                    </a:ext>
                  </a:extLst>
                </a:gridCol>
                <a:gridCol w="753893">
                  <a:extLst>
                    <a:ext uri="{9D8B030D-6E8A-4147-A177-3AD203B41FA5}">
                      <a16:colId xmlns:a16="http://schemas.microsoft.com/office/drawing/2014/main" val="3077373062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dirty="0" smtClean="0">
                          <a:solidFill>
                            <a:schemeClr val="tx1"/>
                          </a:solidFill>
                        </a:rPr>
                        <a:t>本数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Glass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Heart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Pima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Vehicle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Satimage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081100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kumimoji="1" lang="ja-JP" altLang="en-US" sz="200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元の</a:t>
                      </a:r>
                      <a:r>
                        <a:rPr kumimoji="1" lang="en-US" altLang="ja-JP" sz="2000" dirty="0" smtClean="0"/>
                        <a:t>RF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最終個体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元の</a:t>
                      </a:r>
                      <a:r>
                        <a:rPr kumimoji="1" lang="en-US" altLang="ja-JP" sz="2000" dirty="0" smtClean="0"/>
                        <a:t>RF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最終個体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元の</a:t>
                      </a:r>
                      <a:r>
                        <a:rPr kumimoji="1" lang="en-US" altLang="ja-JP" sz="2000" dirty="0" smtClean="0"/>
                        <a:t>RF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最終個体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元の</a:t>
                      </a:r>
                      <a:r>
                        <a:rPr kumimoji="1" lang="en-US" altLang="ja-JP" sz="2000" dirty="0" smtClean="0"/>
                        <a:t>RF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最終個体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元の</a:t>
                      </a:r>
                      <a:r>
                        <a:rPr kumimoji="1" lang="en-US" altLang="ja-JP" sz="2000" dirty="0" smtClean="0"/>
                        <a:t>RF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最終個体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257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/>
                        <a:t>100</a:t>
                      </a:r>
                      <a:endParaRPr kumimoji="1" lang="ja-JP" altLang="en-US" sz="2400" b="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79.7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78.6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81.9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81.9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75.4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75.6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74.7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74.9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91.9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91.9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412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/>
                        <a:t>150</a:t>
                      </a:r>
                      <a:endParaRPr kumimoji="1" lang="ja-JP" altLang="en-US" sz="2400" b="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80.0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80.0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82.2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81.9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75.7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75.1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74.8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74.7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92.0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chemeClr val="accent3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91.9</a:t>
                      </a:r>
                      <a:endParaRPr lang="en-US" altLang="ja-JP" sz="2400" b="0" i="0" u="none" strike="noStrike" dirty="0">
                        <a:solidFill>
                          <a:schemeClr val="accent3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447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/>
                        <a:t>200</a:t>
                      </a:r>
                      <a:endParaRPr kumimoji="1" lang="ja-JP" altLang="en-US" sz="2400" b="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80.3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80.0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83.7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83.5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76.2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75.8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74.6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74.2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91.8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91.8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43345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/>
                        <a:t>500</a:t>
                      </a:r>
                      <a:endParaRPr kumimoji="1" lang="ja-JP" altLang="en-US" sz="2400" b="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77.9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77.4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82.8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82.0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76.2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76.0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76.4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76.2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91.8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91.8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5098218"/>
                  </a:ext>
                </a:extLst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  <p:sp>
        <p:nvSpPr>
          <p:cNvPr id="9" name="テキスト プレースホルダー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OOB</a:t>
            </a:r>
            <a:r>
              <a:rPr kumimoji="1" lang="ja-JP" altLang="en-US" dirty="0" smtClean="0"/>
              <a:t>データによる最適化</a:t>
            </a:r>
            <a:endParaRPr kumimoji="1" lang="ja-JP" altLang="en-US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5679846" y="5501781"/>
            <a:ext cx="3273653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 sz="2400" dirty="0" smtClean="0">
                <a:solidFill>
                  <a:schemeClr val="accent3"/>
                </a:solidFill>
              </a:rPr>
              <a:t>青字</a:t>
            </a:r>
            <a:r>
              <a:rPr lang="ja-JP" altLang="en-US" sz="2400" dirty="0" smtClean="0"/>
              <a:t>：有意差ありで低い</a:t>
            </a:r>
            <a:endParaRPr kumimoji="1" lang="ja-JP" altLang="en-US" sz="2400" dirty="0" smtClean="0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1213526" y="1659227"/>
            <a:ext cx="67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800" dirty="0" smtClean="0"/>
              <a:t>各データセットにおける平均識別精度</a:t>
            </a:r>
            <a:r>
              <a:rPr lang="en-US" altLang="ja-JP" sz="2800" dirty="0" smtClean="0"/>
              <a:t>[</a:t>
            </a:r>
            <a:r>
              <a:rPr lang="en-US" altLang="ja-JP" sz="2800" dirty="0"/>
              <a:t>%</a:t>
            </a:r>
            <a:r>
              <a:rPr lang="en-US" altLang="ja-JP" sz="2800" dirty="0" smtClean="0"/>
              <a:t>]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16920643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実験</a:t>
            </a:r>
            <a:r>
              <a:rPr kumimoji="1" lang="ja-JP" altLang="en-US" dirty="0" smtClean="0"/>
              <a:t>結果</a:t>
            </a:r>
            <a:endParaRPr kumimoji="1" lang="ja-JP" altLang="en-US" dirty="0"/>
          </a:p>
        </p:txBody>
      </p:sp>
      <p:graphicFrame>
        <p:nvGraphicFramePr>
          <p:cNvPr id="3" name="コンテンツ プレースホルダー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6833265"/>
              </p:ext>
            </p:extLst>
          </p:nvPr>
        </p:nvGraphicFramePr>
        <p:xfrm>
          <a:off x="266700" y="2379074"/>
          <a:ext cx="86867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9709">
                  <a:extLst>
                    <a:ext uri="{9D8B030D-6E8A-4147-A177-3AD203B41FA5}">
                      <a16:colId xmlns:a16="http://schemas.microsoft.com/office/drawing/2014/main" val="1304859516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1013144135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367073746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1938422578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1550601165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2343107429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3102845391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877537846"/>
                    </a:ext>
                  </a:extLst>
                </a:gridCol>
                <a:gridCol w="875932">
                  <a:extLst>
                    <a:ext uri="{9D8B030D-6E8A-4147-A177-3AD203B41FA5}">
                      <a16:colId xmlns:a16="http://schemas.microsoft.com/office/drawing/2014/main" val="1967135661"/>
                    </a:ext>
                  </a:extLst>
                </a:gridCol>
                <a:gridCol w="739302">
                  <a:extLst>
                    <a:ext uri="{9D8B030D-6E8A-4147-A177-3AD203B41FA5}">
                      <a16:colId xmlns:a16="http://schemas.microsoft.com/office/drawing/2014/main" val="2706766500"/>
                    </a:ext>
                  </a:extLst>
                </a:gridCol>
                <a:gridCol w="753893">
                  <a:extLst>
                    <a:ext uri="{9D8B030D-6E8A-4147-A177-3AD203B41FA5}">
                      <a16:colId xmlns:a16="http://schemas.microsoft.com/office/drawing/2014/main" val="3077373062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dirty="0" smtClean="0">
                          <a:solidFill>
                            <a:schemeClr val="tx1"/>
                          </a:solidFill>
                        </a:rPr>
                        <a:t>本数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Glass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Heart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Pima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Vehicle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Satimage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081100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kumimoji="1" lang="ja-JP" altLang="en-US" sz="200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元の</a:t>
                      </a:r>
                      <a:r>
                        <a:rPr kumimoji="1" lang="en-US" altLang="ja-JP" sz="2000" dirty="0" smtClean="0"/>
                        <a:t>RF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最終個体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元の</a:t>
                      </a:r>
                      <a:r>
                        <a:rPr kumimoji="1" lang="en-US" altLang="ja-JP" sz="2000" dirty="0" smtClean="0"/>
                        <a:t>RF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最終個体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元の</a:t>
                      </a:r>
                      <a:r>
                        <a:rPr kumimoji="1" lang="en-US" altLang="ja-JP" sz="2000" dirty="0" smtClean="0"/>
                        <a:t>RF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最終個体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元の</a:t>
                      </a:r>
                      <a:r>
                        <a:rPr kumimoji="1" lang="en-US" altLang="ja-JP" sz="2000" dirty="0" smtClean="0"/>
                        <a:t>RF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最終個体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元の</a:t>
                      </a:r>
                      <a:r>
                        <a:rPr kumimoji="1" lang="en-US" altLang="ja-JP" sz="2000" dirty="0" smtClean="0"/>
                        <a:t>RF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dirty="0" smtClean="0"/>
                        <a:t>最終個体</a:t>
                      </a:r>
                      <a:endParaRPr kumimoji="1" lang="ja-JP" alt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257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/>
                        <a:t>100</a:t>
                      </a:r>
                      <a:endParaRPr kumimoji="1" lang="ja-JP" altLang="en-US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77.6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76.4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81.1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81.3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74.7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74.9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chemeClr val="accent3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412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/>
                        <a:t>150</a:t>
                      </a:r>
                      <a:endParaRPr kumimoji="1" lang="ja-JP" altLang="en-US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76.9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76.9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80.9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80.7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74.6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74.9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chemeClr val="accent3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447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/>
                        <a:t>200</a:t>
                      </a:r>
                      <a:endParaRPr kumimoji="1" lang="ja-JP" altLang="en-US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78.0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79.1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81.9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81.7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76.0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74.7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43345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/>
                        <a:t>500</a:t>
                      </a:r>
                      <a:endParaRPr kumimoji="1" lang="ja-JP" altLang="en-US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79.9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79.7</a:t>
                      </a:r>
                      <a:endParaRPr lang="en-US" altLang="ja-JP" sz="2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83.1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83.3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76.2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75.4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91.2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5098218"/>
                  </a:ext>
                </a:extLst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  <p:sp>
        <p:nvSpPr>
          <p:cNvPr id="9" name="テキスト プレースホルダー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検証用</a:t>
            </a:r>
            <a:r>
              <a:rPr kumimoji="1" lang="ja-JP" altLang="en-US" dirty="0" smtClean="0"/>
              <a:t>データによる最適化</a:t>
            </a:r>
            <a:endParaRPr kumimoji="1" lang="ja-JP" altLang="en-US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213526" y="1659227"/>
            <a:ext cx="67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800" dirty="0" smtClean="0"/>
              <a:t>各データセットにおける平均識別精度</a:t>
            </a:r>
            <a:r>
              <a:rPr lang="en-US" altLang="ja-JP" sz="2800" dirty="0" smtClean="0"/>
              <a:t>[</a:t>
            </a:r>
            <a:r>
              <a:rPr lang="en-US" altLang="ja-JP" sz="2800" dirty="0"/>
              <a:t>%</a:t>
            </a:r>
            <a:r>
              <a:rPr lang="en-US" altLang="ja-JP" sz="2800" dirty="0" smtClean="0"/>
              <a:t>]</a:t>
            </a:r>
            <a:endParaRPr kumimoji="1" lang="ja-JP" altLang="en-US" sz="2800" dirty="0" smtClean="0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5679846" y="5501781"/>
            <a:ext cx="3273653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 sz="2400" dirty="0" smtClean="0">
                <a:solidFill>
                  <a:schemeClr val="accent3"/>
                </a:solidFill>
              </a:rPr>
              <a:t>青字</a:t>
            </a:r>
            <a:r>
              <a:rPr lang="ja-JP" altLang="en-US" sz="2400" dirty="0" smtClean="0"/>
              <a:t>：有意差ありで低い</a:t>
            </a:r>
            <a:endParaRPr kumimoji="1" lang="ja-JP" alt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521900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7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選ばれた決定木の割合</a:t>
            </a:r>
            <a:endParaRPr kumimoji="1" lang="ja-JP" altLang="en-US" dirty="0"/>
          </a:p>
        </p:txBody>
      </p:sp>
      <p:graphicFrame>
        <p:nvGraphicFramePr>
          <p:cNvPr id="9" name="グラフ 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33139955"/>
              </p:ext>
            </p:extLst>
          </p:nvPr>
        </p:nvGraphicFramePr>
        <p:xfrm>
          <a:off x="909943" y="2024459"/>
          <a:ext cx="8005457" cy="26138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テキスト ボックス 9"/>
          <p:cNvSpPr txBox="1"/>
          <p:nvPr/>
        </p:nvSpPr>
        <p:spPr>
          <a:xfrm rot="16200000">
            <a:off x="-434706" y="3100551"/>
            <a:ext cx="22276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dirty="0" smtClean="0"/>
              <a:t>抽出割合</a:t>
            </a:r>
            <a:r>
              <a:rPr kumimoji="1" lang="en-US" altLang="ja-JP" sz="2400" dirty="0" smtClean="0"/>
              <a:t>[%]</a:t>
            </a:r>
            <a:endParaRPr kumimoji="1" lang="ja-JP" altLang="en-US" sz="2400" dirty="0" smtClean="0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2247089" y="4638310"/>
            <a:ext cx="42704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決定木の本数</a:t>
            </a:r>
          </a:p>
        </p:txBody>
      </p:sp>
    </p:spTree>
    <p:extLst>
      <p:ext uri="{BB962C8B-B14F-4D97-AF65-F5344CB8AC3E}">
        <p14:creationId xmlns:p14="http://schemas.microsoft.com/office/powerpoint/2010/main" val="2360268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8355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34D38140-AADE-46F7-98CF-5E4690A718E3}" vid="{874C1EA0-1478-47AB-BF22-3AD5DBD3FCFB}"/>
    </a:ext>
  </a:extLst>
</a:theme>
</file>

<file path=ppt/theme/theme2.xml><?xml version="1.0" encoding="utf-8"?>
<a:theme xmlns:a="http://schemas.openxmlformats.org/drawingml/2006/main" name="1_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71DA6786-D04F-4626-8640-2782D192BD3F}" vid="{799E43D2-078F-4DF6-9039-D9BFBB5A2AD5}"/>
    </a:ext>
  </a:extLst>
</a:theme>
</file>

<file path=ppt/theme/theme3.xml><?xml version="1.0" encoding="utf-8"?>
<a:theme xmlns:a="http://schemas.openxmlformats.org/drawingml/2006/main" name="2_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B0B4D299-C3BD-44F5-9666-E361C8B677F1}" vid="{958EF22C-0703-4AA8-A4F5-39EE8C6B158B}"/>
    </a:ext>
  </a:extLst>
</a:theme>
</file>

<file path=ppt/theme/theme4.xml><?xml version="1.0" encoding="utf-8"?>
<a:theme xmlns:a="http://schemas.openxmlformats.org/drawingml/2006/main" name="3_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71DA6786-D04F-4626-8640-2782D192BD3F}" vid="{799E43D2-078F-4DF6-9039-D9BFBB5A2AD5}"/>
    </a:ext>
  </a:extLst>
</a:theme>
</file>

<file path=ppt/theme/theme5.xml><?xml version="1.0" encoding="utf-8"?>
<a:theme xmlns:a="http://schemas.openxmlformats.org/drawingml/2006/main" name="4_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71DA6786-D04F-4626-8640-2782D192BD3F}" vid="{799E43D2-078F-4DF6-9039-D9BFBB5A2AD5}"/>
    </a:ext>
  </a:extLst>
</a:theme>
</file>

<file path=ppt/theme/theme6.xml><?xml version="1.0" encoding="utf-8"?>
<a:theme xmlns:a="http://schemas.openxmlformats.org/drawingml/2006/main" name="5_Theme_Lab">
  <a:themeElements>
    <a:clrScheme name="ユーザー定義 2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016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C405CB98-E9EC-480B-BAC0-9B6A0B9BE441}" vid="{80D153D3-64A8-4419-B988-8E4507248DD7}"/>
    </a:ext>
  </a:extLst>
</a:theme>
</file>

<file path=ppt/theme/theme7.xml><?xml version="1.0" encoding="utf-8"?>
<a:theme xmlns:a="http://schemas.openxmlformats.org/drawingml/2006/main" name="6_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9487F93B-4106-4629-85FC-8E1BB021CAD6}" vid="{65E8ECE0-E354-435F-95E2-6CB9CEF06008}"/>
    </a:ext>
  </a:extLst>
</a:theme>
</file>

<file path=ppt/theme/theme8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393</TotalTime>
  <Words>280</Words>
  <Application>Microsoft Office PowerPoint</Application>
  <PresentationFormat>画面に合わせる (4:3)</PresentationFormat>
  <Paragraphs>173</Paragraphs>
  <Slides>8</Slides>
  <Notes>1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7</vt:i4>
      </vt:variant>
      <vt:variant>
        <vt:lpstr>スライド タイトル</vt:lpstr>
      </vt:variant>
      <vt:variant>
        <vt:i4>8</vt:i4>
      </vt:variant>
    </vt:vector>
  </HeadingPairs>
  <TitlesOfParts>
    <vt:vector size="21" baseType="lpstr">
      <vt:lpstr>ＭＳ P ゴシック</vt:lpstr>
      <vt:lpstr>ＭＳ Ｐゴシック</vt:lpstr>
      <vt:lpstr>游ゴシック</vt:lpstr>
      <vt:lpstr>Arial</vt:lpstr>
      <vt:lpstr>Calibri</vt:lpstr>
      <vt:lpstr>Times New Roman</vt:lpstr>
      <vt:lpstr>Theme_lab</vt:lpstr>
      <vt:lpstr>1_Theme_Lab</vt:lpstr>
      <vt:lpstr>2_Theme_Lab</vt:lpstr>
      <vt:lpstr>3_Theme_Lab</vt:lpstr>
      <vt:lpstr>4_Theme_Lab</vt:lpstr>
      <vt:lpstr>5_Theme_Lab</vt:lpstr>
      <vt:lpstr>6_Theme_Lab</vt:lpstr>
      <vt:lpstr>GAを用いたランダムフォレストにおける弱識別器の選択</vt:lpstr>
      <vt:lpstr>これまでの実験概要</vt:lpstr>
      <vt:lpstr>実験パラメータ設定</vt:lpstr>
      <vt:lpstr>パラメータ設定</vt:lpstr>
      <vt:lpstr>実験結果</vt:lpstr>
      <vt:lpstr>実験結果</vt:lpstr>
      <vt:lpstr>実験結果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俊貴 瓜田</cp:lastModifiedBy>
  <cp:revision>40</cp:revision>
  <dcterms:created xsi:type="dcterms:W3CDTF">2019-03-03T13:45:30Z</dcterms:created>
  <dcterms:modified xsi:type="dcterms:W3CDTF">2019-06-10T07:05:25Z</dcterms:modified>
</cp:coreProperties>
</file>