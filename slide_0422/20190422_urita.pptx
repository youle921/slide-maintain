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4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5.xml" ContentType="application/vnd.openxmlformats-officedocument.theme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  <p:sldMasterId id="2147483682" r:id="rId2"/>
    <p:sldMasterId id="2147483689" r:id="rId3"/>
    <p:sldMasterId id="2147483696" r:id="rId4"/>
    <p:sldMasterId id="2147483703" r:id="rId5"/>
    <p:sldMasterId id="2147483710" r:id="rId6"/>
  </p:sldMasterIdLst>
  <p:notesMasterIdLst>
    <p:notesMasterId r:id="rId14"/>
  </p:notesMasterIdLst>
  <p:sldIdLst>
    <p:sldId id="256" r:id="rId7"/>
    <p:sldId id="261" r:id="rId8"/>
    <p:sldId id="278" r:id="rId9"/>
    <p:sldId id="280" r:id="rId10"/>
    <p:sldId id="282" r:id="rId11"/>
    <p:sldId id="281" r:id="rId12"/>
    <p:sldId id="259" r:id="rId13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13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research\research_b4\rf_ga\result_v2\&#32080;&#26524;&#12464;&#12521;&#12501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research\research_b4\rf_ga\result_v2\&#32080;&#26524;&#12464;&#12521;&#12501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123186904268545"/>
          <c:y val="0.17524625598270804"/>
          <c:w val="0.88876813095731455"/>
          <c:h val="0.73557762081210432"/>
        </c:manualLayout>
      </c:layout>
      <c:barChart>
        <c:barDir val="col"/>
        <c:grouping val="clustered"/>
        <c:varyColors val="0"/>
        <c:ser>
          <c:idx val="0"/>
          <c:order val="0"/>
          <c:tx>
            <c:v>最終世代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7.3099415204678359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7.3099415204678359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1.0233918128655024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-1.7554196077282803E-2"/>
                  <c:y val="-2.5614777495033275E-8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3-3559-4876-8630-FAE31BFF3B64}"/>
                </c:ext>
                <c:ext xmlns:c15="http://schemas.microsoft.com/office/drawing/2012/chart" uri="{CE6537A1-D6FC-4f65-9D91-7224C49458BB}">
                  <c15:layout>
                    <c:manualLayout>
                      <c:w val="7.4521308662585786E-2"/>
                      <c:h val="7.0240995536474546E-2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1.3157894736842212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1.0233918128655078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(OOB!$A$1,OOB!$C$1,OOB!$E$1,OOB!$G$1,OOB!$I$1,OOB!$K$1)</c:f>
              <c:strCache>
                <c:ptCount val="6"/>
                <c:pt idx="0">
                  <c:v>Glass</c:v>
                </c:pt>
                <c:pt idx="1">
                  <c:v>Heart</c:v>
                </c:pt>
                <c:pt idx="2">
                  <c:v>Pima</c:v>
                </c:pt>
                <c:pt idx="3">
                  <c:v>Vehicle</c:v>
                </c:pt>
                <c:pt idx="4">
                  <c:v>Vowel</c:v>
                </c:pt>
                <c:pt idx="5">
                  <c:v>Satimage</c:v>
                </c:pt>
              </c:strCache>
            </c:strRef>
          </c:cat>
          <c:val>
            <c:numRef>
              <c:f>(OOB!$A$23,OOB!$C$23,OOB!$E$23,OOB!$G$23,OOB!$I$23,OOB!$K$23)</c:f>
              <c:numCache>
                <c:formatCode>General</c:formatCode>
                <c:ptCount val="6"/>
                <c:pt idx="0">
                  <c:v>77.413250000000005</c:v>
                </c:pt>
                <c:pt idx="1">
                  <c:v>80.18504999999999</c:v>
                </c:pt>
                <c:pt idx="2">
                  <c:v>74.356549999999999</c:v>
                </c:pt>
                <c:pt idx="3">
                  <c:v>73.048300000000012</c:v>
                </c:pt>
                <c:pt idx="4">
                  <c:v>95.757599999999982</c:v>
                </c:pt>
                <c:pt idx="5">
                  <c:v>91.429599999999994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3559-4876-8630-FAE31BFF3B64}"/>
            </c:ext>
          </c:extLst>
        </c:ser>
        <c:ser>
          <c:idx val="1"/>
          <c:order val="1"/>
          <c:tx>
            <c:v>元の個体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771929824561403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1.6081871345029239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1.7543859649122862E-2"/>
                  <c:y val="-4.9528371076487571E-1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9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8.771929824561403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A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8.771929824561403E-3"/>
                  <c:y val="-1.2382092769121893E-1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B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8.771929824561403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C-3559-4876-8630-FAE31BFF3B64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(OOB!$A$1,OOB!$C$1,OOB!$E$1,OOB!$G$1,OOB!$I$1,OOB!$K$1)</c:f>
              <c:strCache>
                <c:ptCount val="6"/>
                <c:pt idx="0">
                  <c:v>Glass</c:v>
                </c:pt>
                <c:pt idx="1">
                  <c:v>Heart</c:v>
                </c:pt>
                <c:pt idx="2">
                  <c:v>Pima</c:v>
                </c:pt>
                <c:pt idx="3">
                  <c:v>Vehicle</c:v>
                </c:pt>
                <c:pt idx="4">
                  <c:v>Vowel</c:v>
                </c:pt>
                <c:pt idx="5">
                  <c:v>Satimage</c:v>
                </c:pt>
              </c:strCache>
            </c:strRef>
          </c:cat>
          <c:val>
            <c:numRef>
              <c:f>(OOB!$B$23,OOB!$D$23,OOB!$F$23,OOB!$H$23,OOB!$J$23,OOB!$L$23)</c:f>
              <c:numCache>
                <c:formatCode>General</c:formatCode>
                <c:ptCount val="6"/>
                <c:pt idx="0">
                  <c:v>78.333199999999991</c:v>
                </c:pt>
                <c:pt idx="1">
                  <c:v>80.925849999999997</c:v>
                </c:pt>
                <c:pt idx="2">
                  <c:v>74.353999999999985</c:v>
                </c:pt>
                <c:pt idx="3">
                  <c:v>74.175150000000016</c:v>
                </c:pt>
                <c:pt idx="4">
                  <c:v>96.111199999999997</c:v>
                </c:pt>
                <c:pt idx="5">
                  <c:v>91.4375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D-3559-4876-8630-FAE31BFF3B6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22219016"/>
        <c:axId val="422227640"/>
      </c:barChart>
      <c:catAx>
        <c:axId val="422219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422227640"/>
        <c:crosses val="autoZero"/>
        <c:auto val="1"/>
        <c:lblAlgn val="ctr"/>
        <c:lblOffset val="100"/>
        <c:noMultiLvlLbl val="0"/>
      </c:catAx>
      <c:valAx>
        <c:axId val="422227640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2400"/>
                  <a:t>Accuracy[%]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422219016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8794584887415386"/>
          <c:y val="7.5054037362976673E-4"/>
          <c:w val="0.21205415112584611"/>
          <c:h val="0.1351432729184268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123186904268545"/>
          <c:y val="0.17524625598270804"/>
          <c:w val="0.88876813095731455"/>
          <c:h val="0.73557762081210432"/>
        </c:manualLayout>
      </c:layout>
      <c:barChart>
        <c:barDir val="col"/>
        <c:grouping val="clustered"/>
        <c:varyColors val="0"/>
        <c:ser>
          <c:idx val="0"/>
          <c:order val="0"/>
          <c:tx>
            <c:v>最終世代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7.3099415204678359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0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7.3099415204678359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1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1.0233918128655024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2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-1.4609506951156412E-2"/>
                  <c:y val="-2.5614777451887782E-8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8631863290669629E-2"/>
                      <c:h val="7.0240995536474546E-2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1.3157894736842212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4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1.0233918128655078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5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(validation!$A$1,validation!$C$1,validation!$E$1,validation!$G$1,validation!$I$1,validation!$K$1)</c:f>
              <c:strCache>
                <c:ptCount val="6"/>
                <c:pt idx="0">
                  <c:v>Glass</c:v>
                </c:pt>
                <c:pt idx="1">
                  <c:v>Heart</c:v>
                </c:pt>
                <c:pt idx="2">
                  <c:v>Pima</c:v>
                </c:pt>
                <c:pt idx="3">
                  <c:v>Vehicle</c:v>
                </c:pt>
                <c:pt idx="4">
                  <c:v>Vowel</c:v>
                </c:pt>
                <c:pt idx="5">
                  <c:v>Satimage</c:v>
                </c:pt>
              </c:strCache>
            </c:strRef>
          </c:cat>
          <c:val>
            <c:numRef>
              <c:f>(validation!$A$23,validation!$C$23,validation!$E$23,validation!$G$23,validation!$I$23,validation!$K$23)</c:f>
              <c:numCache>
                <c:formatCode>General</c:formatCode>
                <c:ptCount val="6"/>
                <c:pt idx="0">
                  <c:v>76.428550000000001</c:v>
                </c:pt>
                <c:pt idx="1">
                  <c:v>81.481449999999981</c:v>
                </c:pt>
                <c:pt idx="2">
                  <c:v>74.612949999999984</c:v>
                </c:pt>
                <c:pt idx="3">
                  <c:v>73.935700000000011</c:v>
                </c:pt>
                <c:pt idx="4">
                  <c:v>93.636200000000017</c:v>
                </c:pt>
                <c:pt idx="5">
                  <c:v>90.769199999999998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C110-42E4-A017-9A82C21E4DA6}"/>
            </c:ext>
          </c:extLst>
        </c:ser>
        <c:ser>
          <c:idx val="1"/>
          <c:order val="1"/>
          <c:tx>
            <c:v>元の個体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771929824561403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7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1.6081871345029239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8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1.7543859649122862E-2"/>
                  <c:y val="-4.9528371076487571E-1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9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8.771929824561403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A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8.771929824561403E-3"/>
                  <c:y val="-1.2382092769121893E-1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B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8.771929824561403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 xmlns:c16r2="http://schemas.microsoft.com/office/drawing/2015/06/chart">
                <c:ext xmlns:c16="http://schemas.microsoft.com/office/drawing/2014/chart" uri="{C3380CC4-5D6E-409C-BE32-E72D297353CC}">
                  <c16:uniqueId val="{0000000C-C110-42E4-A017-9A82C21E4DA6}"/>
                </c:ex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6r2="http://schemas.microsoft.com/office/drawing/2015/06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(validation!$A$1,validation!$C$1,validation!$E$1,validation!$G$1,validation!$I$1,validation!$K$1)</c:f>
              <c:strCache>
                <c:ptCount val="6"/>
                <c:pt idx="0">
                  <c:v>Glass</c:v>
                </c:pt>
                <c:pt idx="1">
                  <c:v>Heart</c:v>
                </c:pt>
                <c:pt idx="2">
                  <c:v>Pima</c:v>
                </c:pt>
                <c:pt idx="3">
                  <c:v>Vehicle</c:v>
                </c:pt>
                <c:pt idx="4">
                  <c:v>Vowel</c:v>
                </c:pt>
                <c:pt idx="5">
                  <c:v>Satimage</c:v>
                </c:pt>
              </c:strCache>
            </c:strRef>
          </c:cat>
          <c:val>
            <c:numRef>
              <c:f>(validation!$B$23,validation!$D$23,validation!$F$23,validation!$H$23,validation!$J$23,validation!$L$23)</c:f>
              <c:numCache>
                <c:formatCode>General</c:formatCode>
                <c:ptCount val="6"/>
                <c:pt idx="0">
                  <c:v>78.333199999999991</c:v>
                </c:pt>
                <c:pt idx="1">
                  <c:v>82.222250000000003</c:v>
                </c:pt>
                <c:pt idx="2">
                  <c:v>74.750500000000002</c:v>
                </c:pt>
                <c:pt idx="3">
                  <c:v>74.409700000000015</c:v>
                </c:pt>
                <c:pt idx="4">
                  <c:v>94.141300000000001</c:v>
                </c:pt>
                <c:pt idx="5">
                  <c:v>91.103250000000017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D-C110-42E4-A017-9A82C21E4DA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00641256"/>
        <c:axId val="500649488"/>
      </c:barChart>
      <c:catAx>
        <c:axId val="5006412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00649488"/>
        <c:crosses val="autoZero"/>
        <c:auto val="1"/>
        <c:lblAlgn val="ctr"/>
        <c:lblOffset val="100"/>
        <c:noMultiLvlLbl val="0"/>
      </c:catAx>
      <c:valAx>
        <c:axId val="500649488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2400"/>
                  <a:t>Accuracy[%]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00641256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8794584887415386"/>
          <c:y val="7.5054037362976673E-4"/>
          <c:w val="0.21205415112584611"/>
          <c:h val="0.1351432729184268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0B5556-BCC9-4B19-BEF2-1B111DE5EE18}" type="datetimeFigureOut">
              <a:rPr kumimoji="1" lang="ja-JP" altLang="en-US" smtClean="0"/>
              <a:t>2019/5/8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953AC-7D74-400F-BB06-95EAE7026D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5700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953AC-7D74-400F-BB06-95EAE7026D6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4495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213457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9123886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16060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論文情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228600" y="198120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タイトル</a:t>
            </a:r>
          </a:p>
          <a:p>
            <a:pPr lvl="1"/>
            <a:endParaRPr lang="ja-JP" altLang="en-US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132397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5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228600" y="442978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</a:t>
            </a:r>
          </a:p>
          <a:p>
            <a:pPr lvl="1"/>
            <a:endParaRPr lang="ja-JP" altLang="en-US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377255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6F2B1938-31FF-4F5D-91C3-C8C393A7F7A0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8" name="テキスト ボックス 7"/>
          <p:cNvSpPr txBox="1"/>
          <p:nvPr userDrawn="1"/>
        </p:nvSpPr>
        <p:spPr>
          <a:xfrm>
            <a:off x="76200" y="186779"/>
            <a:ext cx="3048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</p:spTree>
    <p:extLst>
      <p:ext uri="{BB962C8B-B14F-4D97-AF65-F5344CB8AC3E}">
        <p14:creationId xmlns:p14="http://schemas.microsoft.com/office/powerpoint/2010/main" val="17806014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8493335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02283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520271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776922659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94713716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90131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4959020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47744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504775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43777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論文情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228600" y="198120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タイトル</a:t>
            </a:r>
          </a:p>
          <a:p>
            <a:pPr lvl="1"/>
            <a:endParaRPr lang="ja-JP" altLang="en-US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132397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5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228600" y="442978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</a:t>
            </a:r>
          </a:p>
          <a:p>
            <a:pPr lvl="1"/>
            <a:endParaRPr lang="ja-JP" altLang="en-US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377255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6F2B1938-31FF-4F5D-91C3-C8C393A7F7A0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76200" y="186779"/>
            <a:ext cx="3048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</p:spTree>
    <p:extLst>
      <p:ext uri="{BB962C8B-B14F-4D97-AF65-F5344CB8AC3E}">
        <p14:creationId xmlns:p14="http://schemas.microsoft.com/office/powerpoint/2010/main" val="3030680046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7511752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213957005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464483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83143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84062326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5322999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62911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57608208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753939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032633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71408411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9727399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7459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7322306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4601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4955505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6381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55795783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28985078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02739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0444810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4186320915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3.xml"/><Relationship Id="rId9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12322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1" r:id="rId3"/>
    <p:sldLayoutId id="2147483679" r:id="rId4"/>
    <p:sldLayoutId id="2147483675" r:id="rId5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62358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07304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4161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001117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0048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67782"/>
            <a:ext cx="7772400" cy="1470025"/>
          </a:xfrm>
        </p:spPr>
        <p:txBody>
          <a:bodyPr/>
          <a:lstStyle/>
          <a:p>
            <a:pPr algn="ctr"/>
            <a:r>
              <a:rPr kumimoji="1" lang="en-US" altLang="ja-JP" dirty="0" smtClean="0"/>
              <a:t>GA</a:t>
            </a:r>
            <a:r>
              <a:rPr kumimoji="1" lang="ja-JP" altLang="en-US" dirty="0" smtClean="0"/>
              <a:t>を用いたランダムフォレストにおける</a:t>
            </a:r>
            <a:r>
              <a:rPr lang="ja-JP" altLang="en-US" dirty="0" smtClean="0"/>
              <a:t>弱識別器の選択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948136"/>
            <a:ext cx="6400800" cy="1371600"/>
          </a:xfrm>
        </p:spPr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0538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これまでの実験概要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ランダムフォレストの弱識別器を抽出し，より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良いアンサンブル識別器を獲得する．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dirty="0" smtClean="0"/>
              <a:t>GA</a:t>
            </a:r>
            <a:r>
              <a:rPr lang="ja-JP" altLang="en-US" dirty="0" smtClean="0"/>
              <a:t>を用いて，優れたアンサンブル識別器を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効率よく獲得したい．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個体評価には，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データ・検証用データを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用いて探索を行う．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7270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実験パラメータ設定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kumimoji="1" lang="ja-JP" altLang="en-US" dirty="0" smtClean="0"/>
              <a:t>決定木の本数：</a:t>
            </a:r>
            <a:r>
              <a:rPr kumimoji="1" lang="en-US" altLang="ja-JP" dirty="0" smtClean="0"/>
              <a:t>50</a:t>
            </a:r>
            <a:br>
              <a:rPr kumimoji="1" lang="en-US" altLang="ja-JP" dirty="0" smtClean="0"/>
            </a:br>
            <a:r>
              <a:rPr lang="ja-JP" altLang="en-US" dirty="0" smtClean="0"/>
              <a:t>個体群サイズ：</a:t>
            </a:r>
            <a:r>
              <a:rPr lang="en-US" altLang="ja-JP" dirty="0" smtClean="0"/>
              <a:t>50</a:t>
            </a:r>
            <a:br>
              <a:rPr lang="en-US" altLang="ja-JP" dirty="0" smtClean="0"/>
            </a:br>
            <a:r>
              <a:rPr lang="ja-JP" altLang="en-US" dirty="0" smtClean="0"/>
              <a:t>子個体数：</a:t>
            </a:r>
            <a:r>
              <a:rPr lang="en-US" altLang="ja-JP" dirty="0" smtClean="0"/>
              <a:t>5</a:t>
            </a:r>
            <a:r>
              <a:rPr lang="en-US" altLang="ja-JP" dirty="0"/>
              <a:t>0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世代数：</a:t>
            </a:r>
            <a:r>
              <a:rPr kumimoji="1" lang="en-US" altLang="ja-JP" dirty="0" smtClean="0"/>
              <a:t>1000</a:t>
            </a:r>
          </a:p>
          <a:p>
            <a:pPr algn="l"/>
            <a:r>
              <a:rPr lang="ja-JP" altLang="en-US" dirty="0" smtClean="0"/>
              <a:t>交叉方法：一様交叉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kumimoji="1" lang="ja-JP" altLang="en-US" dirty="0" smtClean="0"/>
              <a:t>突然変異確率：</a:t>
            </a:r>
            <a:r>
              <a:rPr kumimoji="1" lang="en-US" altLang="ja-JP" dirty="0" smtClean="0"/>
              <a:t>1/50</a:t>
            </a:r>
          </a:p>
          <a:p>
            <a:pPr algn="l"/>
            <a:r>
              <a:rPr lang="ja-JP" altLang="en-US" dirty="0" smtClean="0"/>
              <a:t>検証用データには，学習用データの</a:t>
            </a:r>
            <a:r>
              <a:rPr lang="en-US" altLang="ja-JP" dirty="0" smtClean="0"/>
              <a:t>20%</a:t>
            </a:r>
            <a:r>
              <a:rPr lang="ja-JP" altLang="en-US" dirty="0" smtClean="0"/>
              <a:t>を使用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95994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パラメータ設定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 smtClean="0"/>
              <a:t>使用するデータセット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8441895"/>
              </p:ext>
            </p:extLst>
          </p:nvPr>
        </p:nvGraphicFramePr>
        <p:xfrm>
          <a:off x="1455179" y="2148840"/>
          <a:ext cx="6233642" cy="3627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6416"/>
                <a:gridCol w="2037310"/>
                <a:gridCol w="1629916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データセット名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パターン数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クラス数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Glass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214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Heart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270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Pima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768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Vehicle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846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Vowel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990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err="1" smtClean="0">
                          <a:solidFill>
                            <a:schemeClr val="tx1"/>
                          </a:solidFill>
                        </a:rPr>
                        <a:t>Satimage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6435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130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実験</a:t>
            </a:r>
            <a:r>
              <a:rPr kumimoji="1" lang="ja-JP" altLang="en-US" dirty="0" smtClean="0"/>
              <a:t>結果</a:t>
            </a:r>
            <a:endParaRPr kumimoji="1" lang="ja-JP" altLang="en-US" dirty="0"/>
          </a:p>
        </p:txBody>
      </p:sp>
      <p:sp>
        <p:nvSpPr>
          <p:cNvPr id="12" name="コンテンツ プレースホルダー 1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データによる最適化</a:t>
            </a:r>
            <a:endParaRPr kumimoji="1" lang="ja-JP" altLang="en-US" dirty="0"/>
          </a:p>
        </p:txBody>
      </p:sp>
      <p:graphicFrame>
        <p:nvGraphicFramePr>
          <p:cNvPr id="8" name="グラフ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8552951"/>
              </p:ext>
            </p:extLst>
          </p:nvPr>
        </p:nvGraphicFramePr>
        <p:xfrm>
          <a:off x="289800" y="1264196"/>
          <a:ext cx="8625600" cy="53964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92064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実験</a:t>
            </a:r>
            <a:r>
              <a:rPr kumimoji="1" lang="ja-JP" altLang="en-US" dirty="0" smtClean="0"/>
              <a:t>結果</a:t>
            </a:r>
            <a:endParaRPr kumimoji="1" lang="ja-JP" altLang="en-US" dirty="0"/>
          </a:p>
        </p:txBody>
      </p:sp>
      <p:sp>
        <p:nvSpPr>
          <p:cNvPr id="8" name="コンテンツ プレースホルダー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検証用</a:t>
            </a:r>
            <a:r>
              <a:rPr kumimoji="1" lang="ja-JP" altLang="en-US" dirty="0" smtClean="0"/>
              <a:t>データによる最適化</a:t>
            </a:r>
            <a:endParaRPr kumimoji="1" lang="ja-JP" altLang="en-US" dirty="0"/>
          </a:p>
        </p:txBody>
      </p:sp>
      <p:graphicFrame>
        <p:nvGraphicFramePr>
          <p:cNvPr id="10" name="グラフ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9872321"/>
              </p:ext>
            </p:extLst>
          </p:nvPr>
        </p:nvGraphicFramePr>
        <p:xfrm>
          <a:off x="291600" y="1263600"/>
          <a:ext cx="8625600" cy="53964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57649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8355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34D38140-AADE-46F7-98CF-5E4690A718E3}" vid="{874C1EA0-1478-47AB-BF22-3AD5DBD3FCFB}"/>
    </a:ext>
  </a:extLst>
</a:theme>
</file>

<file path=ppt/theme/theme2.xml><?xml version="1.0" encoding="utf-8"?>
<a:theme xmlns:a="http://schemas.openxmlformats.org/drawingml/2006/main" name="1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71DA6786-D04F-4626-8640-2782D192BD3F}" vid="{799E43D2-078F-4DF6-9039-D9BFBB5A2AD5}"/>
    </a:ext>
  </a:extLst>
</a:theme>
</file>

<file path=ppt/theme/theme3.xml><?xml version="1.0" encoding="utf-8"?>
<a:theme xmlns:a="http://schemas.openxmlformats.org/drawingml/2006/main" name="2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B0B4D299-C3BD-44F5-9666-E361C8B677F1}" vid="{958EF22C-0703-4AA8-A4F5-39EE8C6B158B}"/>
    </a:ext>
  </a:extLst>
</a:theme>
</file>

<file path=ppt/theme/theme4.xml><?xml version="1.0" encoding="utf-8"?>
<a:theme xmlns:a="http://schemas.openxmlformats.org/drawingml/2006/main" name="3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71DA6786-D04F-4626-8640-2782D192BD3F}" vid="{799E43D2-078F-4DF6-9039-D9BFBB5A2AD5}"/>
    </a:ext>
  </a:extLst>
</a:theme>
</file>

<file path=ppt/theme/theme5.xml><?xml version="1.0" encoding="utf-8"?>
<a:theme xmlns:a="http://schemas.openxmlformats.org/drawingml/2006/main" name="4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71DA6786-D04F-4626-8640-2782D192BD3F}" vid="{799E43D2-078F-4DF6-9039-D9BFBB5A2AD5}"/>
    </a:ext>
  </a:extLst>
</a:theme>
</file>

<file path=ppt/theme/theme6.xml><?xml version="1.0" encoding="utf-8"?>
<a:theme xmlns:a="http://schemas.openxmlformats.org/drawingml/2006/main" name="5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C405CB98-E9EC-480B-BAC0-9B6A0B9BE441}" vid="{80D153D3-64A8-4419-B988-8E4507248DD7}"/>
    </a:ext>
  </a:extLst>
</a:theme>
</file>

<file path=ppt/theme/theme7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242</TotalTime>
  <Words>108</Words>
  <Application>Microsoft Office PowerPoint</Application>
  <PresentationFormat>画面に合わせる (4:3)</PresentationFormat>
  <Paragraphs>69</Paragraphs>
  <Slides>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6</vt:i4>
      </vt:variant>
      <vt:variant>
        <vt:lpstr>スライド タイトル</vt:lpstr>
      </vt:variant>
      <vt:variant>
        <vt:i4>7</vt:i4>
      </vt:variant>
    </vt:vector>
  </HeadingPairs>
  <TitlesOfParts>
    <vt:vector size="18" baseType="lpstr">
      <vt:lpstr>ＭＳ P ゴシック</vt:lpstr>
      <vt:lpstr>ＭＳ Ｐゴシック</vt:lpstr>
      <vt:lpstr>Arial</vt:lpstr>
      <vt:lpstr>Calibri</vt:lpstr>
      <vt:lpstr>Times New Roman</vt:lpstr>
      <vt:lpstr>Theme_lab</vt:lpstr>
      <vt:lpstr>1_Theme_Lab</vt:lpstr>
      <vt:lpstr>2_Theme_Lab</vt:lpstr>
      <vt:lpstr>3_Theme_Lab</vt:lpstr>
      <vt:lpstr>4_Theme_Lab</vt:lpstr>
      <vt:lpstr>5_Theme_Lab</vt:lpstr>
      <vt:lpstr>GAを用いたランダムフォレストにおける弱識別器の選択</vt:lpstr>
      <vt:lpstr>これまでの実験概要</vt:lpstr>
      <vt:lpstr>実験パラメータ設定</vt:lpstr>
      <vt:lpstr>パラメータ設定</vt:lpstr>
      <vt:lpstr>実験結果</vt:lpstr>
      <vt:lpstr>実験結果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瓜田 俊貴</cp:lastModifiedBy>
  <cp:revision>28</cp:revision>
  <dcterms:created xsi:type="dcterms:W3CDTF">2019-03-03T13:45:30Z</dcterms:created>
  <dcterms:modified xsi:type="dcterms:W3CDTF">2019-05-07T17:40:12Z</dcterms:modified>
</cp:coreProperties>
</file>