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2" r:id="rId2"/>
    <p:sldMasterId id="2147483689" r:id="rId3"/>
    <p:sldMasterId id="2147483696" r:id="rId4"/>
    <p:sldMasterId id="2147483703" r:id="rId5"/>
  </p:sldMasterIdLst>
  <p:notesMasterIdLst>
    <p:notesMasterId r:id="rId13"/>
  </p:notesMasterIdLst>
  <p:sldIdLst>
    <p:sldId id="256" r:id="rId6"/>
    <p:sldId id="261" r:id="rId7"/>
    <p:sldId id="278" r:id="rId8"/>
    <p:sldId id="280" r:id="rId9"/>
    <p:sldId id="279" r:id="rId10"/>
    <p:sldId id="281" r:id="rId11"/>
    <p:sldId id="259" r:id="rId1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8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30740;&#31350;\research_b4\rf_ga\result\&#32080;&#26524;&#12464;&#12521;&#12501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30740;&#31350;\research_b4\rf_ga\result\&#32080;&#26524;&#12464;&#12521;&#1250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23186904268545"/>
          <c:y val="0.17524625598270804"/>
          <c:w val="0.88876813095731455"/>
          <c:h val="0.73557762081210432"/>
        </c:manualLayout>
      </c:layout>
      <c:barChart>
        <c:barDir val="col"/>
        <c:grouping val="clustered"/>
        <c:varyColors val="0"/>
        <c:ser>
          <c:idx val="0"/>
          <c:order val="0"/>
          <c:tx>
            <c:v>最終世代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7.3099415204678359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7.3099415204678359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1.0233918128655024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3873133718242472E-2"/>
                  <c:y val="-2.5614777451887782E-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1884699788526888E-2"/>
                      <c:h val="7.0240995536474546E-2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1.315789473684221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1.023391812865507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(OOB!$A$1,OOB!$C$1,OOB!$E$1,OOB!$G$1,OOB!$I$1,OOB!$K$1)</c:f>
              <c:strCache>
                <c:ptCount val="6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Vowel</c:v>
                </c:pt>
                <c:pt idx="5">
                  <c:v>Satimage</c:v>
                </c:pt>
              </c:strCache>
            </c:strRef>
          </c:cat>
          <c:val>
            <c:numRef>
              <c:f>(OOB!$A$23,OOB!$C$23,OOB!$E$23,OOB!$G$23,OOB!$I$23,OOB!$K$23)</c:f>
              <c:numCache>
                <c:formatCode>General</c:formatCode>
                <c:ptCount val="6"/>
                <c:pt idx="0">
                  <c:v>77.207599999999985</c:v>
                </c:pt>
                <c:pt idx="1">
                  <c:v>80.740600000000001</c:v>
                </c:pt>
                <c:pt idx="2">
                  <c:v>74.095300000000009</c:v>
                </c:pt>
                <c:pt idx="3">
                  <c:v>74.056000000000012</c:v>
                </c:pt>
                <c:pt idx="4">
                  <c:v>95.959600000000009</c:v>
                </c:pt>
                <c:pt idx="5">
                  <c:v>91.437399999999997</c:v>
                </c:pt>
              </c:numCache>
            </c:numRef>
          </c:val>
        </c:ser>
        <c:ser>
          <c:idx val="1"/>
          <c:order val="1"/>
          <c:tx>
            <c:v>元の個体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77192982456140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608187134502923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7543859649122862E-2"/>
                  <c:y val="-4.9528371076487571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8.77192982456140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8.771929824561403E-3"/>
                  <c:y val="-1.238209276912189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8.77192982456140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(OOB!$A$1,OOB!$C$1,OOB!$E$1,OOB!$G$1,OOB!$I$1,OOB!$K$1)</c:f>
              <c:strCache>
                <c:ptCount val="6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Vowel</c:v>
                </c:pt>
                <c:pt idx="5">
                  <c:v>Satimage</c:v>
                </c:pt>
              </c:strCache>
            </c:strRef>
          </c:cat>
          <c:val>
            <c:numRef>
              <c:f>(OOB!$B$23,OOB!$D$23,OOB!$F$23,OOB!$H$23,OOB!$J$23,OOB!$L$23)</c:f>
              <c:numCache>
                <c:formatCode>General</c:formatCode>
                <c:ptCount val="6"/>
                <c:pt idx="0">
                  <c:v>78.333199999999991</c:v>
                </c:pt>
                <c:pt idx="1">
                  <c:v>80.925849999999997</c:v>
                </c:pt>
                <c:pt idx="2">
                  <c:v>74.353999999999985</c:v>
                </c:pt>
                <c:pt idx="3">
                  <c:v>74.175150000000016</c:v>
                </c:pt>
                <c:pt idx="4">
                  <c:v>96.111199999999997</c:v>
                </c:pt>
                <c:pt idx="5">
                  <c:v>91.4375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20915344"/>
        <c:axId val="420915728"/>
      </c:barChart>
      <c:catAx>
        <c:axId val="420915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20915728"/>
        <c:crosses val="autoZero"/>
        <c:auto val="1"/>
        <c:lblAlgn val="ctr"/>
        <c:lblOffset val="100"/>
        <c:noMultiLvlLbl val="0"/>
      </c:catAx>
      <c:valAx>
        <c:axId val="420915728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400"/>
                  <a:t>Accuracy[%]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2091534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794584887415386"/>
          <c:y val="7.5054037362976673E-4"/>
          <c:w val="0.21205415112584611"/>
          <c:h val="0.135143272918426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23186904268545"/>
          <c:y val="0.17524625598270804"/>
          <c:w val="0.88876813095731455"/>
          <c:h val="0.73557762081210432"/>
        </c:manualLayout>
      </c:layout>
      <c:barChart>
        <c:barDir val="col"/>
        <c:grouping val="clustered"/>
        <c:varyColors val="0"/>
        <c:ser>
          <c:idx val="0"/>
          <c:order val="0"/>
          <c:tx>
            <c:v>最終世代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7.3099415204678359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7.3099415204678359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1.0233918128655024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3873118681763968E-2"/>
                  <c:y val="-4.314549359488074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1884699788526888E-2"/>
                      <c:h val="7.0240995536474546E-2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1.315789473684221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1.023391812865507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(validation!$A$1,validation!$C$1,validation!$E$1,validation!$G$1,validation!$I$1,validation!$K$1)</c:f>
              <c:strCache>
                <c:ptCount val="6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Vowel</c:v>
                </c:pt>
                <c:pt idx="5">
                  <c:v>Satimage</c:v>
                </c:pt>
              </c:strCache>
            </c:strRef>
          </c:cat>
          <c:val>
            <c:numRef>
              <c:f>(validation!$A$23,validation!$C$23,validation!$E$23,validation!$G$23,validation!$I$23,validation!$K$23)</c:f>
              <c:numCache>
                <c:formatCode>General</c:formatCode>
                <c:ptCount val="6"/>
                <c:pt idx="0">
                  <c:v>76.212050000000005</c:v>
                </c:pt>
                <c:pt idx="1">
                  <c:v>81.296199999999999</c:v>
                </c:pt>
                <c:pt idx="2">
                  <c:v>74.943550000000002</c:v>
                </c:pt>
                <c:pt idx="3">
                  <c:v>74</c:v>
                </c:pt>
                <c:pt idx="4">
                  <c:v>93.030250000000009</c:v>
                </c:pt>
                <c:pt idx="5">
                  <c:v>90.753700000000009</c:v>
                </c:pt>
              </c:numCache>
            </c:numRef>
          </c:val>
        </c:ser>
        <c:ser>
          <c:idx val="1"/>
          <c:order val="1"/>
          <c:tx>
            <c:v>元の個体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77192982456140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608187134502923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7543859649122862E-2"/>
                  <c:y val="-4.9528371076487571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8.77192982456140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8.771929824561403E-3"/>
                  <c:y val="-1.238209276912189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8.77192982456140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(validation!$A$1,validation!$C$1,validation!$E$1,validation!$G$1,validation!$I$1,validation!$K$1)</c:f>
              <c:strCache>
                <c:ptCount val="6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Vowel</c:v>
                </c:pt>
                <c:pt idx="5">
                  <c:v>Satimage</c:v>
                </c:pt>
              </c:strCache>
            </c:strRef>
          </c:cat>
          <c:val>
            <c:numRef>
              <c:f>(validation!$B$23,validation!$D$23,validation!$F$23,validation!$H$23,validation!$J$23,validation!$L$23)</c:f>
              <c:numCache>
                <c:formatCode>General</c:formatCode>
                <c:ptCount val="6"/>
                <c:pt idx="0">
                  <c:v>78.333199999999991</c:v>
                </c:pt>
                <c:pt idx="1">
                  <c:v>82.222250000000003</c:v>
                </c:pt>
                <c:pt idx="2">
                  <c:v>74.750500000000002</c:v>
                </c:pt>
                <c:pt idx="3">
                  <c:v>74.409700000000015</c:v>
                </c:pt>
                <c:pt idx="4">
                  <c:v>94.141300000000001</c:v>
                </c:pt>
                <c:pt idx="5">
                  <c:v>91.103250000000017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21639920"/>
        <c:axId val="353142248"/>
      </c:barChart>
      <c:catAx>
        <c:axId val="421639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353142248"/>
        <c:crosses val="autoZero"/>
        <c:auto val="1"/>
        <c:lblAlgn val="ctr"/>
        <c:lblOffset val="100"/>
        <c:noMultiLvlLbl val="0"/>
      </c:catAx>
      <c:valAx>
        <c:axId val="353142248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400"/>
                  <a:t>Accuracy[%]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21639920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794584887415386"/>
          <c:y val="7.5054037362976673E-4"/>
          <c:w val="0.21205415112584611"/>
          <c:h val="0.135143272918426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B5556-BCC9-4B19-BEF2-1B111DE5EE18}" type="datetimeFigureOut">
              <a:rPr kumimoji="1" lang="ja-JP" altLang="en-US" smtClean="0"/>
              <a:t>2019/4/21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53AC-7D74-400F-BB06-95EAE7026D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70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953AC-7D74-400F-BB06-95EAE7026D6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9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134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1238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606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1780601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849333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022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2027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7692265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471371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13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495902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477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0477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37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303068004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7511752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1395700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64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8314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4062326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532299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291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576082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53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3263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71408411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72739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745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732230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232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1" r:id="rId3"/>
    <p:sldLayoutId id="2147483679" r:id="rId4"/>
    <p:sldLayoutId id="214748367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623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730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4161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0111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7782"/>
            <a:ext cx="7772400" cy="1470025"/>
          </a:xfrm>
        </p:spPr>
        <p:txBody>
          <a:bodyPr/>
          <a:lstStyle/>
          <a:p>
            <a:pPr algn="ctr"/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を用いたランダムフォレストにおける</a:t>
            </a:r>
            <a:r>
              <a:rPr lang="ja-JP" altLang="en-US" dirty="0" smtClean="0"/>
              <a:t>弱識別器の選択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948136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3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これまでの実験概要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ランダムフォレストの弱識別器を抽出し，より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良いアンサンブル識別器を獲得する．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GA</a:t>
            </a:r>
            <a:r>
              <a:rPr lang="ja-JP" altLang="en-US" dirty="0" smtClean="0"/>
              <a:t>を用いて，優れたアンサンブル識別器を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効率よく獲得したい．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個体評価には，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データ・検証用データを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用いて探索を行う．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72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</a:t>
            </a:r>
            <a:r>
              <a:rPr kumimoji="1" lang="ja-JP" altLang="en-US" dirty="0" smtClean="0"/>
              <a:t>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ja-JP" altLang="en-US" dirty="0" smtClean="0"/>
              <a:t>決定木の本数：</a:t>
            </a:r>
            <a:r>
              <a:rPr kumimoji="1" lang="en-US" altLang="ja-JP" dirty="0" smtClean="0"/>
              <a:t>50</a:t>
            </a:r>
            <a:br>
              <a:rPr kumimoji="1" lang="en-US" altLang="ja-JP" dirty="0" smtClean="0"/>
            </a:br>
            <a:r>
              <a:rPr lang="ja-JP" altLang="en-US" dirty="0" smtClean="0"/>
              <a:t>個体群サイズ：</a:t>
            </a:r>
            <a:r>
              <a:rPr lang="en-US" altLang="ja-JP" dirty="0" smtClean="0"/>
              <a:t>50</a:t>
            </a:r>
            <a:br>
              <a:rPr lang="en-US" altLang="ja-JP" dirty="0" smtClean="0"/>
            </a:br>
            <a:r>
              <a:rPr lang="ja-JP" altLang="en-US" dirty="0" smtClean="0"/>
              <a:t>子個体数：</a:t>
            </a:r>
            <a:r>
              <a:rPr lang="en-US" altLang="ja-JP" dirty="0" smtClean="0"/>
              <a:t>5</a:t>
            </a:r>
            <a:r>
              <a:rPr lang="en-US" altLang="ja-JP" dirty="0"/>
              <a:t>0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世代数：</a:t>
            </a:r>
            <a:r>
              <a:rPr kumimoji="1" lang="en-US" altLang="ja-JP" dirty="0" smtClean="0"/>
              <a:t>1000</a:t>
            </a:r>
          </a:p>
          <a:p>
            <a:pPr algn="l"/>
            <a:r>
              <a:rPr lang="ja-JP" altLang="en-US" dirty="0" smtClean="0"/>
              <a:t>交叉方法：一様交叉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kumimoji="1" lang="ja-JP" altLang="en-US" dirty="0" smtClean="0"/>
              <a:t>突然変異確率：</a:t>
            </a:r>
            <a:r>
              <a:rPr kumimoji="1" lang="en-US" altLang="ja-JP" dirty="0" smtClean="0"/>
              <a:t>1/50</a:t>
            </a:r>
          </a:p>
          <a:p>
            <a:pPr algn="l"/>
            <a:r>
              <a:rPr lang="ja-JP" altLang="en-US" dirty="0" smtClean="0"/>
              <a:t>検証用データには，学習用データの</a:t>
            </a:r>
            <a:r>
              <a:rPr lang="en-US" altLang="ja-JP" dirty="0" smtClean="0"/>
              <a:t>20%</a:t>
            </a:r>
            <a:r>
              <a:rPr lang="ja-JP" altLang="en-US" dirty="0" smtClean="0"/>
              <a:t>を</a:t>
            </a:r>
            <a:r>
              <a:rPr lang="ja-JP" altLang="en-US" dirty="0" smtClean="0"/>
              <a:t>使用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599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使用するデータセット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831723"/>
              </p:ext>
            </p:extLst>
          </p:nvPr>
        </p:nvGraphicFramePr>
        <p:xfrm>
          <a:off x="228600" y="2148840"/>
          <a:ext cx="8686799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416"/>
                <a:gridCol w="2037310"/>
                <a:gridCol w="1629916"/>
                <a:gridCol w="24531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データセット名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パターン数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クラス数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不均衡データ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214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270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768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846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Vowel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990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6435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3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12" name="コンテンツ プレースホルダー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データによる最適化</a:t>
            </a:r>
            <a:endParaRPr kumimoji="1" lang="ja-JP" altLang="en-US" dirty="0"/>
          </a:p>
        </p:txBody>
      </p:sp>
      <p:graphicFrame>
        <p:nvGraphicFramePr>
          <p:cNvPr id="11" name="グラフ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5743060"/>
              </p:ext>
            </p:extLst>
          </p:nvPr>
        </p:nvGraphicFramePr>
        <p:xfrm>
          <a:off x="259632" y="1252143"/>
          <a:ext cx="8624737" cy="5396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4029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8" name="コンテンツ プレースホルダー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検証用</a:t>
            </a:r>
            <a:r>
              <a:rPr kumimoji="1" lang="ja-JP" altLang="en-US" dirty="0" smtClean="0"/>
              <a:t>データによる最適化</a:t>
            </a:r>
            <a:endParaRPr kumimoji="1" lang="ja-JP" altLang="en-US" dirty="0"/>
          </a:p>
        </p:txBody>
      </p:sp>
      <p:graphicFrame>
        <p:nvGraphicFramePr>
          <p:cNvPr id="11" name="グラフ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9087178"/>
              </p:ext>
            </p:extLst>
          </p:nvPr>
        </p:nvGraphicFramePr>
        <p:xfrm>
          <a:off x="259200" y="1252800"/>
          <a:ext cx="8624737" cy="5396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57649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4D38140-AADE-46F7-98CF-5E4690A718E3}" vid="{874C1EA0-1478-47AB-BF22-3AD5DBD3FCFB}"/>
    </a:ext>
  </a:extLst>
</a:theme>
</file>

<file path=ppt/theme/theme2.xml><?xml version="1.0" encoding="utf-8"?>
<a:theme xmlns:a="http://schemas.openxmlformats.org/drawingml/2006/main" name="1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3.xml><?xml version="1.0" encoding="utf-8"?>
<a:theme xmlns:a="http://schemas.openxmlformats.org/drawingml/2006/main" name="2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B0B4D299-C3BD-44F5-9666-E361C8B677F1}" vid="{958EF22C-0703-4AA8-A4F5-39EE8C6B158B}"/>
    </a:ext>
  </a:extLst>
</a:theme>
</file>

<file path=ppt/theme/theme4.xml><?xml version="1.0" encoding="utf-8"?>
<a:theme xmlns:a="http://schemas.openxmlformats.org/drawingml/2006/main" name="3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5.xml><?xml version="1.0" encoding="utf-8"?>
<a:theme xmlns:a="http://schemas.openxmlformats.org/drawingml/2006/main" name="4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222</TotalTime>
  <Words>113</Words>
  <Application>Microsoft Office PowerPoint</Application>
  <PresentationFormat>画面に合わせる (4:3)</PresentationFormat>
  <Paragraphs>73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5</vt:i4>
      </vt:variant>
      <vt:variant>
        <vt:lpstr>スライド タイトル</vt:lpstr>
      </vt:variant>
      <vt:variant>
        <vt:i4>7</vt:i4>
      </vt:variant>
    </vt:vector>
  </HeadingPairs>
  <TitlesOfParts>
    <vt:vector size="17" baseType="lpstr">
      <vt:lpstr>ＭＳ P ゴシック</vt:lpstr>
      <vt:lpstr>ＭＳ Ｐゴシック</vt:lpstr>
      <vt:lpstr>Arial</vt:lpstr>
      <vt:lpstr>Calibri</vt:lpstr>
      <vt:lpstr>Times New Roman</vt:lpstr>
      <vt:lpstr>Theme_lab</vt:lpstr>
      <vt:lpstr>1_Theme_Lab</vt:lpstr>
      <vt:lpstr>2_Theme_Lab</vt:lpstr>
      <vt:lpstr>3_Theme_Lab</vt:lpstr>
      <vt:lpstr>4_Theme_Lab</vt:lpstr>
      <vt:lpstr>GAを用いたランダムフォレストにおける弱識別器の選択</vt:lpstr>
      <vt:lpstr>これまでの実験概要</vt:lpstr>
      <vt:lpstr>実験パラメータ設定</vt:lpstr>
      <vt:lpstr>パラメータ設定</vt:lpstr>
      <vt:lpstr>実験結果</vt:lpstr>
      <vt:lpstr>実験結果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26</cp:revision>
  <dcterms:created xsi:type="dcterms:W3CDTF">2019-03-03T13:45:30Z</dcterms:created>
  <dcterms:modified xsi:type="dcterms:W3CDTF">2019-04-21T13:46:40Z</dcterms:modified>
</cp:coreProperties>
</file>