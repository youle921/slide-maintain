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sldIdLst>
    <p:sldId id="256" r:id="rId2"/>
    <p:sldId id="258" r:id="rId3"/>
    <p:sldId id="259" r:id="rId4"/>
    <p:sldId id="263" r:id="rId5"/>
    <p:sldId id="264" r:id="rId6"/>
    <p:sldId id="268" r:id="rId7"/>
    <p:sldId id="269" r:id="rId8"/>
    <p:sldId id="257" r:id="rId9"/>
    <p:sldId id="270" r:id="rId10"/>
    <p:sldId id="274" r:id="rId11"/>
    <p:sldId id="272" r:id="rId12"/>
    <p:sldId id="273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1" d="100"/>
          <a:sy n="81" d="100"/>
        </p:scale>
        <p:origin x="69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12192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177637"/>
            <a:ext cx="10363200" cy="2422820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114800"/>
            <a:ext cx="8534400" cy="27432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テキスト ボックス 2"/>
          <p:cNvSpPr txBox="1"/>
          <p:nvPr/>
        </p:nvSpPr>
        <p:spPr>
          <a:xfrm>
            <a:off x="304800" y="1365255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304800" y="312544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304800" y="4724401"/>
            <a:ext cx="195580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2438400" y="1368796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2438400" y="3125441"/>
            <a:ext cx="94488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2438400" y="4724401"/>
            <a:ext cx="94488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  <p:sp>
        <p:nvSpPr>
          <p:cNvPr id="9" name="テキスト ボックス 8"/>
          <p:cNvSpPr txBox="1"/>
          <p:nvPr/>
        </p:nvSpPr>
        <p:spPr>
          <a:xfrm>
            <a:off x="105064" y="191543"/>
            <a:ext cx="465512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kumimoji="1" lang="ja-JP" altLang="en-US" sz="4400" b="1" dirty="0" smtClean="0">
                <a:solidFill>
                  <a:schemeClr val="bg1"/>
                </a:solidFill>
              </a:rPr>
              <a:t>論文情報</a:t>
            </a: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101600" y="0"/>
            <a:ext cx="120904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101600" y="570781"/>
            <a:ext cx="120904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9042400" y="333375"/>
            <a:ext cx="28448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25908" y="-102870"/>
            <a:ext cx="12243816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12192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1600" y="0"/>
            <a:ext cx="12090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04800" y="1371600"/>
            <a:ext cx="115824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ja-JP" dirty="0" smtClean="0"/>
              <a:t>Similarity-based Mating Scheme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取り入れた進化型マルチタスキングの実装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ja-JP" altLang="en-US" dirty="0" smtClean="0"/>
              <a:t>瓜田 俊</a:t>
            </a:r>
            <a:r>
              <a:rPr lang="ja-JP" altLang="en-US" dirty="0"/>
              <a:t>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0827471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複数回のバイナリトーナメントで選ばれた個体から，親個体となる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個体を選択する手法である．</a:t>
            </a:r>
            <a:endParaRPr kumimoji="1" lang="en-US" altLang="ja-JP" dirty="0" smtClean="0"/>
          </a:p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は目的関数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空間の端</a:t>
            </a:r>
            <a:r>
              <a:rPr kumimoji="1" lang="ja-JP" altLang="en-US" dirty="0" smtClean="0"/>
              <a:t>の方から選択し，親個体</a:t>
            </a:r>
            <a:r>
              <a:rPr kumimoji="1" lang="en-US" altLang="ja-JP" dirty="0" smtClean="0"/>
              <a:t>2</a:t>
            </a:r>
            <a:r>
              <a:rPr kumimoji="1" lang="ja-JP" altLang="en-US" dirty="0" smtClean="0"/>
              <a:t>は，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b="1" dirty="0" smtClean="0">
                <a:solidFill>
                  <a:schemeClr val="accent1"/>
                </a:solidFill>
              </a:rPr>
              <a:t>親個体</a:t>
            </a:r>
            <a:r>
              <a:rPr kumimoji="1" lang="en-US" altLang="ja-JP" b="1" dirty="0" smtClean="0">
                <a:solidFill>
                  <a:schemeClr val="accent1"/>
                </a:solidFill>
              </a:rPr>
              <a:t>1</a:t>
            </a:r>
            <a:r>
              <a:rPr kumimoji="1" lang="ja-JP" altLang="en-US" b="1" dirty="0" smtClean="0">
                <a:solidFill>
                  <a:schemeClr val="accent1"/>
                </a:solidFill>
              </a:rPr>
              <a:t>と類似</a:t>
            </a:r>
            <a:r>
              <a:rPr kumimoji="1" lang="ja-JP" altLang="en-US" dirty="0" smtClean="0"/>
              <a:t>した個体を選択する親個体選択方法である．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  <p:sp>
        <p:nvSpPr>
          <p:cNvPr id="2" name="テキスト ボックス 1"/>
          <p:cNvSpPr txBox="1"/>
          <p:nvPr/>
        </p:nvSpPr>
        <p:spPr>
          <a:xfrm>
            <a:off x="2147454" y="5845314"/>
            <a:ext cx="7897090" cy="707886"/>
          </a:xfrm>
          <a:prstGeom prst="rect">
            <a:avLst/>
          </a:prstGeom>
          <a:noFill/>
          <a:ln w="19050">
            <a:solidFill>
              <a:schemeClr val="tx1"/>
            </a:solidFill>
            <a:prstDash val="sysDot"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dirty="0"/>
              <a:t>H. </a:t>
            </a:r>
            <a:r>
              <a:rPr lang="en-US" altLang="ja-JP" sz="2000" dirty="0" err="1"/>
              <a:t>Ishibuchi</a:t>
            </a:r>
            <a:r>
              <a:rPr lang="en-US" altLang="ja-JP" sz="2000" dirty="0"/>
              <a:t> and Y. Shibata ,“A similarity-based mating scheme for evolutionary </a:t>
            </a:r>
            <a:r>
              <a:rPr lang="en-US" altLang="ja-JP" sz="2000" dirty="0" err="1"/>
              <a:t>multiobjective</a:t>
            </a:r>
            <a:r>
              <a:rPr lang="en-US" altLang="ja-JP" sz="2000" dirty="0"/>
              <a:t> optimization”, GECCO 2003</a:t>
            </a:r>
          </a:p>
        </p:txBody>
      </p:sp>
    </p:spTree>
    <p:extLst>
      <p:ext uri="{BB962C8B-B14F-4D97-AF65-F5344CB8AC3E}">
        <p14:creationId xmlns:p14="http://schemas.microsoft.com/office/powerpoint/2010/main" val="3563698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16" name="コンテンツ プレースホルダー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Step 1.</a:t>
            </a:r>
          </a:p>
          <a:p>
            <a:r>
              <a:rPr kumimoji="1" lang="ja-JP" altLang="en-US" dirty="0" smtClean="0"/>
              <a:t>バイナリトーナメントを</a:t>
            </a:r>
            <a:r>
              <a:rPr lang="en-US" altLang="ja-JP" i="1" dirty="0" smtClean="0">
                <a:latin typeface="Symbol" panose="05050102010706020507" pitchFamily="18" charset="2"/>
              </a:rPr>
              <a:t>a </a:t>
            </a:r>
            <a:r>
              <a:rPr kumimoji="1" lang="ja-JP" altLang="en-US" dirty="0" smtClean="0"/>
              <a:t>回実行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4658162" y="3748369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7249951" y="5042451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7039162" y="3956187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フリーフォーム 16"/>
          <p:cNvSpPr/>
          <p:nvPr/>
        </p:nvSpPr>
        <p:spPr>
          <a:xfrm>
            <a:off x="4041570" y="3240955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23945" y="59463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1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865087" y="33555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2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20" name="円/楕円 19"/>
          <p:cNvSpPr/>
          <p:nvPr/>
        </p:nvSpPr>
        <p:spPr>
          <a:xfrm>
            <a:off x="6623525" y="4512452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5804127" y="4928089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818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目的関数空間</a:t>
            </a:r>
          </a:p>
        </p:txBody>
      </p:sp>
    </p:spTree>
    <p:extLst>
      <p:ext uri="{BB962C8B-B14F-4D97-AF65-F5344CB8AC3E}">
        <p14:creationId xmlns:p14="http://schemas.microsoft.com/office/powerpoint/2010/main" val="2080333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コンテンツ プレースホルダー 1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ja-JP" dirty="0" smtClean="0"/>
                  <a:t>Step 2.</a:t>
                </a:r>
              </a:p>
              <a:p>
                <a:r>
                  <a:rPr lang="ja-JP" altLang="en-US" dirty="0"/>
                  <a:t>解</a:t>
                </a:r>
                <a:r>
                  <a:rPr lang="ja-JP" altLang="en-US" dirty="0" smtClean="0"/>
                  <a:t>の平均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ja-JP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altLang="ja-JP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ja-JP" dirty="0" smtClean="0"/>
                  <a:t>(</a:t>
                </a:r>
                <a:r>
                  <a:rPr lang="en-US" altLang="ja-JP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 smtClean="0"/>
                  <a:t>)</a:t>
                </a:r>
                <a:r>
                  <a:rPr lang="ja-JP" altLang="en-US" dirty="0" smtClean="0"/>
                  <a:t>を導出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16" name="コンテンツ プレースホルダー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4658162" y="3748369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7249951" y="5042451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7039162" y="3956187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" name="円/楕円 19"/>
          <p:cNvSpPr/>
          <p:nvPr/>
        </p:nvSpPr>
        <p:spPr>
          <a:xfrm>
            <a:off x="6623525" y="4512452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5804127" y="4928089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4" name="円/楕円 13"/>
          <p:cNvSpPr/>
          <p:nvPr/>
        </p:nvSpPr>
        <p:spPr>
          <a:xfrm>
            <a:off x="6169380" y="4511337"/>
            <a:ext cx="193897" cy="193897"/>
          </a:xfrm>
          <a:prstGeom prst="ellipse">
            <a:avLst/>
          </a:prstGeom>
          <a:solidFill>
            <a:schemeClr val="tx1"/>
          </a:solidFill>
          <a:ln w="127000" cmpd="thinThick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/>
              <p:cNvSpPr txBox="1"/>
              <p:nvPr/>
            </p:nvSpPr>
            <p:spPr>
              <a:xfrm>
                <a:off x="5526580" y="3866464"/>
                <a:ext cx="1436914" cy="463332"/>
              </a:xfrm>
              <a:prstGeom prst="rect">
                <a:avLst/>
              </a:prstGeom>
              <a:noFill/>
              <a:ln w="19050">
                <a:noFill/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ja-JP" sz="24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m:rPr>
                            <m:nor/>
                          </m:rPr>
                          <a:rPr lang="en-US" altLang="ja-JP" sz="2400" b="1" i="1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ja-JP" sz="2400" dirty="0"/>
                  <a:t>(</a:t>
                </a:r>
                <a:r>
                  <a:rPr lang="en-US" altLang="ja-JP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sz="2400" dirty="0"/>
                  <a:t>)</a:t>
                </a:r>
                <a:endParaRPr lang="ja-JP" altLang="en-US" sz="2400" dirty="0"/>
              </a:p>
            </p:txBody>
          </p:sp>
        </mc:Choice>
        <mc:Fallback xmlns="">
          <p:sp>
            <p:nvSpPr>
              <p:cNvPr id="15" name="テキスト ボックス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580" y="3866464"/>
                <a:ext cx="1436914" cy="463332"/>
              </a:xfrm>
              <a:prstGeom prst="rect">
                <a:avLst/>
              </a:prstGeom>
              <a:blipFill rotWithShape="0">
                <a:blip r:embed="rId3"/>
                <a:stretch>
                  <a:fillRect t="-9211" b="-30263"/>
                </a:stretch>
              </a:blipFill>
              <a:ln w="19050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フリーフォーム 22"/>
          <p:cNvSpPr/>
          <p:nvPr/>
        </p:nvSpPr>
        <p:spPr>
          <a:xfrm>
            <a:off x="4041570" y="3240955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7323945" y="59463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1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2865087" y="33555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2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26" name="テキスト ボックス 25"/>
          <p:cNvSpPr txBox="1"/>
          <p:nvPr/>
        </p:nvSpPr>
        <p:spPr>
          <a:xfrm>
            <a:off x="4818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目的関数空間</a:t>
            </a:r>
          </a:p>
        </p:txBody>
      </p:sp>
    </p:spTree>
    <p:extLst>
      <p:ext uri="{BB962C8B-B14F-4D97-AF65-F5344CB8AC3E}">
        <p14:creationId xmlns:p14="http://schemas.microsoft.com/office/powerpoint/2010/main" val="32672028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コンテンツ プレースホルダー 1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ja-JP" dirty="0" smtClean="0"/>
                  <a:t>Step 3.</a:t>
                </a:r>
              </a:p>
              <a:p>
                <a:r>
                  <a:rPr lang="ja-JP" altLang="en-US" dirty="0" smtClean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m:rPr>
                            <m:nor/>
                          </m:rPr>
                          <a:rPr lang="en-US" altLang="ja-JP" b="1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f</m:t>
                        </m:r>
                        <m:r>
                          <a:rPr lang="en-US" altLang="ja-JP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en-US" altLang="ja-JP" dirty="0" smtClean="0"/>
                  <a:t>(</a:t>
                </a:r>
                <a:r>
                  <a:rPr lang="en-US" altLang="ja-JP" b="1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altLang="ja-JP" dirty="0" smtClean="0"/>
                  <a:t>)</a:t>
                </a:r>
                <a:r>
                  <a:rPr lang="ja-JP" altLang="en-US" dirty="0" smtClean="0"/>
                  <a:t>から再遠方の解を選択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16" name="コンテンツ プレースホルダー 1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52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kumimoji="1" lang="en-US" altLang="ja-JP" dirty="0" smtClean="0"/>
              <a:t>1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cxnSp>
        <p:nvCxnSpPr>
          <p:cNvPr id="30" name="直線コネクタ 29"/>
          <p:cNvCxnSpPr/>
          <p:nvPr/>
        </p:nvCxnSpPr>
        <p:spPr>
          <a:xfrm>
            <a:off x="4853483" y="3904644"/>
            <a:ext cx="1245421" cy="631018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/>
          <p:nvPr/>
        </p:nvCxnSpPr>
        <p:spPr>
          <a:xfrm flipV="1">
            <a:off x="6426977" y="4094521"/>
            <a:ext cx="702607" cy="408207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コネクタ 21"/>
          <p:cNvCxnSpPr/>
          <p:nvPr/>
        </p:nvCxnSpPr>
        <p:spPr>
          <a:xfrm>
            <a:off x="6451698" y="4605361"/>
            <a:ext cx="313771" cy="4903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コネクタ 2"/>
          <p:cNvCxnSpPr/>
          <p:nvPr/>
        </p:nvCxnSpPr>
        <p:spPr>
          <a:xfrm flipH="1">
            <a:off x="6012345" y="4754178"/>
            <a:ext cx="151336" cy="201129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円/楕円 8"/>
          <p:cNvSpPr/>
          <p:nvPr/>
        </p:nvSpPr>
        <p:spPr>
          <a:xfrm>
            <a:off x="4658162" y="3748369"/>
            <a:ext cx="283886" cy="2838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7249951" y="5042451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7039162" y="3956187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0" name="円/楕円 19"/>
          <p:cNvSpPr/>
          <p:nvPr/>
        </p:nvSpPr>
        <p:spPr>
          <a:xfrm>
            <a:off x="6623525" y="4512452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5804127" y="4928089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4" name="円/楕円 13"/>
          <p:cNvSpPr/>
          <p:nvPr/>
        </p:nvSpPr>
        <p:spPr>
          <a:xfrm>
            <a:off x="6169380" y="4511337"/>
            <a:ext cx="193897" cy="193897"/>
          </a:xfrm>
          <a:prstGeom prst="ellipse">
            <a:avLst/>
          </a:prstGeom>
          <a:solidFill>
            <a:schemeClr val="tx1"/>
          </a:solidFill>
          <a:ln w="127000" cmpd="thinThick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4367213" y="3045282"/>
            <a:ext cx="143691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親個体</a:t>
            </a:r>
            <a:r>
              <a:rPr lang="en-US" altLang="ja-JP" sz="2400" dirty="0"/>
              <a:t/>
            </a:r>
            <a:br>
              <a:rPr lang="en-US" altLang="ja-JP" sz="2400" dirty="0"/>
            </a:br>
            <a:r>
              <a:rPr lang="en-US" altLang="ja-JP" sz="2400" dirty="0"/>
              <a:t>1</a:t>
            </a:r>
            <a:endParaRPr lang="ja-JP" altLang="en-US" sz="2400" dirty="0"/>
          </a:p>
        </p:txBody>
      </p:sp>
      <p:cxnSp>
        <p:nvCxnSpPr>
          <p:cNvPr id="24" name="直線コネクタ 23"/>
          <p:cNvCxnSpPr/>
          <p:nvPr/>
        </p:nvCxnSpPr>
        <p:spPr>
          <a:xfrm>
            <a:off x="6415444" y="4698251"/>
            <a:ext cx="860712" cy="414101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フリーフォーム 33"/>
          <p:cNvSpPr/>
          <p:nvPr/>
        </p:nvSpPr>
        <p:spPr>
          <a:xfrm>
            <a:off x="4041570" y="3240955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35" name="テキスト ボックス 34"/>
          <p:cNvSpPr txBox="1"/>
          <p:nvPr/>
        </p:nvSpPr>
        <p:spPr>
          <a:xfrm>
            <a:off x="7323945" y="59463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1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36" name="テキスト ボックス 35"/>
          <p:cNvSpPr txBox="1"/>
          <p:nvPr/>
        </p:nvSpPr>
        <p:spPr>
          <a:xfrm>
            <a:off x="2865087" y="33555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baseline="-25000" dirty="0"/>
              <a:t>2</a:t>
            </a:r>
            <a:r>
              <a:rPr lang="en-US" altLang="ja-JP" sz="2400" dirty="0"/>
              <a:t>(</a:t>
            </a:r>
            <a:r>
              <a:rPr lang="en-US" altLang="ja-JP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dirty="0"/>
              <a:t>)</a:t>
            </a:r>
            <a:endParaRPr lang="ja-JP" altLang="en-US" sz="2400" dirty="0"/>
          </a:p>
        </p:txBody>
      </p:sp>
      <p:sp>
        <p:nvSpPr>
          <p:cNvPr id="37" name="テキスト ボックス 36"/>
          <p:cNvSpPr txBox="1"/>
          <p:nvPr/>
        </p:nvSpPr>
        <p:spPr>
          <a:xfrm>
            <a:off x="4818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目的関数空間</a:t>
            </a:r>
          </a:p>
        </p:txBody>
      </p:sp>
    </p:spTree>
    <p:extLst>
      <p:ext uri="{BB962C8B-B14F-4D97-AF65-F5344CB8AC3E}">
        <p14:creationId xmlns:p14="http://schemas.microsoft.com/office/powerpoint/2010/main" val="2895845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16" name="コンテンツ プレースホルダー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Step 1.</a:t>
            </a:r>
          </a:p>
          <a:p>
            <a:r>
              <a:rPr kumimoji="1" lang="ja-JP" altLang="en-US" dirty="0" smtClean="0"/>
              <a:t>バイナリトーナメントを</a:t>
            </a:r>
            <a:r>
              <a:rPr lang="en-US" altLang="ja-JP" i="1" dirty="0" smtClean="0">
                <a:latin typeface="Symbol" panose="05050102010706020507" pitchFamily="18" charset="2"/>
              </a:rPr>
              <a:t>b </a:t>
            </a:r>
            <a:r>
              <a:rPr kumimoji="1" lang="ja-JP" altLang="en-US" dirty="0" smtClean="0"/>
              <a:t>回実行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lang="en-US" altLang="ja-JP" dirty="0"/>
              <a:t>2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4421844" y="4250665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7231314" y="4175197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6716437" y="4742969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フリーフォーム 16"/>
          <p:cNvSpPr/>
          <p:nvPr/>
        </p:nvSpPr>
        <p:spPr>
          <a:xfrm>
            <a:off x="4041570" y="3240955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23945" y="59463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/>
              <a:t>1</a:t>
            </a:r>
            <a:endParaRPr lang="ja-JP" altLang="en-US" sz="24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865087" y="33555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/>
              <a:t>2</a:t>
            </a:r>
            <a:endParaRPr lang="ja-JP" altLang="en-US" sz="2400" dirty="0"/>
          </a:p>
        </p:txBody>
      </p:sp>
      <p:sp>
        <p:nvSpPr>
          <p:cNvPr id="20" name="円/楕円 19"/>
          <p:cNvSpPr/>
          <p:nvPr/>
        </p:nvSpPr>
        <p:spPr>
          <a:xfrm>
            <a:off x="5850214" y="4459083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5182391" y="5110335"/>
            <a:ext cx="283886" cy="28388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818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決定変数空間</a:t>
            </a:r>
          </a:p>
        </p:txBody>
      </p:sp>
    </p:spTree>
    <p:extLst>
      <p:ext uri="{BB962C8B-B14F-4D97-AF65-F5344CB8AC3E}">
        <p14:creationId xmlns:p14="http://schemas.microsoft.com/office/powerpoint/2010/main" val="12178654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直線コネクタ 25"/>
          <p:cNvCxnSpPr/>
          <p:nvPr/>
        </p:nvCxnSpPr>
        <p:spPr>
          <a:xfrm>
            <a:off x="4946842" y="3847329"/>
            <a:ext cx="2455415" cy="46191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コネクタ 26"/>
          <p:cNvCxnSpPr/>
          <p:nvPr/>
        </p:nvCxnSpPr>
        <p:spPr>
          <a:xfrm>
            <a:off x="4953404" y="3896018"/>
            <a:ext cx="1896358" cy="970673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コネクタ 24"/>
          <p:cNvCxnSpPr/>
          <p:nvPr/>
        </p:nvCxnSpPr>
        <p:spPr>
          <a:xfrm>
            <a:off x="4940305" y="3949052"/>
            <a:ext cx="1059473" cy="659594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線コネクタ 27"/>
          <p:cNvCxnSpPr/>
          <p:nvPr/>
        </p:nvCxnSpPr>
        <p:spPr>
          <a:xfrm>
            <a:off x="4816931" y="4012316"/>
            <a:ext cx="480686" cy="1194242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/>
          <p:cNvCxnSpPr/>
          <p:nvPr/>
        </p:nvCxnSpPr>
        <p:spPr>
          <a:xfrm flipH="1">
            <a:off x="4542813" y="4005426"/>
            <a:ext cx="139577" cy="427525"/>
          </a:xfrm>
          <a:prstGeom prst="line">
            <a:avLst/>
          </a:prstGeom>
          <a:ln w="38100">
            <a:solidFill>
              <a:schemeClr val="tx1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300" dirty="0"/>
              <a:t>Similarity-based Mating Scheme</a:t>
            </a:r>
            <a:endParaRPr lang="ja-JP" altLang="en-US" sz="4300" dirty="0"/>
          </a:p>
        </p:txBody>
      </p:sp>
      <p:sp>
        <p:nvSpPr>
          <p:cNvPr id="16" name="コンテンツ プレースホルダー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Step 2.</a:t>
            </a:r>
          </a:p>
          <a:p>
            <a:r>
              <a:rPr lang="ja-JP" altLang="en-US" dirty="0" smtClean="0"/>
              <a:t>親個体</a:t>
            </a:r>
            <a:r>
              <a:rPr lang="en-US" altLang="ja-JP" dirty="0" smtClean="0"/>
              <a:t>1</a:t>
            </a:r>
            <a:r>
              <a:rPr lang="ja-JP" altLang="en-US" dirty="0" smtClean="0"/>
              <a:t>と最近傍の解を選択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親個体</a:t>
            </a:r>
            <a:r>
              <a:rPr lang="en-US" altLang="ja-JP" dirty="0"/>
              <a:t>2</a:t>
            </a:r>
            <a:r>
              <a:rPr kumimoji="1" lang="ja-JP" altLang="en-US" dirty="0" smtClean="0"/>
              <a:t>の選択方法</a:t>
            </a:r>
            <a:endParaRPr kumimoji="1" lang="ja-JP" altLang="en-US" dirty="0"/>
          </a:p>
        </p:txBody>
      </p:sp>
      <p:sp>
        <p:nvSpPr>
          <p:cNvPr id="9" name="円/楕円 8"/>
          <p:cNvSpPr/>
          <p:nvPr/>
        </p:nvSpPr>
        <p:spPr>
          <a:xfrm>
            <a:off x="4421844" y="4250665"/>
            <a:ext cx="283886" cy="28388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0" name="円/楕円 9"/>
          <p:cNvSpPr/>
          <p:nvPr/>
        </p:nvSpPr>
        <p:spPr>
          <a:xfrm>
            <a:off x="7231314" y="4175197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1" name="円/楕円 10"/>
          <p:cNvSpPr/>
          <p:nvPr/>
        </p:nvSpPr>
        <p:spPr>
          <a:xfrm>
            <a:off x="6716437" y="4742969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7" name="フリーフォーム 16"/>
          <p:cNvSpPr/>
          <p:nvPr/>
        </p:nvSpPr>
        <p:spPr>
          <a:xfrm>
            <a:off x="4041570" y="3240955"/>
            <a:ext cx="4108863" cy="2587195"/>
          </a:xfrm>
          <a:custGeom>
            <a:avLst/>
            <a:gdLst>
              <a:gd name="connsiteX0" fmla="*/ 0 w 4108863"/>
              <a:gd name="connsiteY0" fmla="*/ 0 h 2185060"/>
              <a:gd name="connsiteX1" fmla="*/ 0 w 4108863"/>
              <a:gd name="connsiteY1" fmla="*/ 2185060 h 2185060"/>
              <a:gd name="connsiteX2" fmla="*/ 4108863 w 4108863"/>
              <a:gd name="connsiteY2" fmla="*/ 2185060 h 21850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08863" h="2185060">
                <a:moveTo>
                  <a:pt x="0" y="0"/>
                </a:moveTo>
                <a:lnTo>
                  <a:pt x="0" y="2185060"/>
                </a:lnTo>
                <a:lnTo>
                  <a:pt x="4108863" y="2185060"/>
                </a:lnTo>
              </a:path>
            </a:pathLst>
          </a:custGeom>
          <a:noFill/>
          <a:ln w="76200">
            <a:solidFill>
              <a:schemeClr val="tx1"/>
            </a:solidFill>
            <a:headEnd type="triangl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18" name="テキスト ボックス 17"/>
          <p:cNvSpPr txBox="1"/>
          <p:nvPr/>
        </p:nvSpPr>
        <p:spPr>
          <a:xfrm>
            <a:off x="7323945" y="59463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/>
              <a:t>1</a:t>
            </a:r>
            <a:endParaRPr lang="ja-JP" altLang="en-US" sz="2400" dirty="0"/>
          </a:p>
        </p:txBody>
      </p:sp>
      <p:sp>
        <p:nvSpPr>
          <p:cNvPr id="19" name="テキスト ボックス 18"/>
          <p:cNvSpPr txBox="1"/>
          <p:nvPr/>
        </p:nvSpPr>
        <p:spPr>
          <a:xfrm>
            <a:off x="2865087" y="3355596"/>
            <a:ext cx="1436914" cy="461665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ja-JP" sz="2400" baseline="-25000" dirty="0"/>
              <a:t>2</a:t>
            </a:r>
            <a:endParaRPr lang="ja-JP" altLang="en-US" sz="2400" dirty="0"/>
          </a:p>
        </p:txBody>
      </p:sp>
      <p:sp>
        <p:nvSpPr>
          <p:cNvPr id="20" name="円/楕円 19"/>
          <p:cNvSpPr/>
          <p:nvPr/>
        </p:nvSpPr>
        <p:spPr>
          <a:xfrm>
            <a:off x="5850214" y="4459083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1" name="円/楕円 20"/>
          <p:cNvSpPr/>
          <p:nvPr/>
        </p:nvSpPr>
        <p:spPr>
          <a:xfrm>
            <a:off x="5182391" y="5110335"/>
            <a:ext cx="283886" cy="283886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2" name="テキスト ボックス 21"/>
          <p:cNvSpPr txBox="1"/>
          <p:nvPr/>
        </p:nvSpPr>
        <p:spPr>
          <a:xfrm>
            <a:off x="4818743" y="6115738"/>
            <a:ext cx="2554514" cy="52322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決定変数空間</a:t>
            </a:r>
          </a:p>
        </p:txBody>
      </p:sp>
      <p:sp>
        <p:nvSpPr>
          <p:cNvPr id="15" name="円/楕円 14"/>
          <p:cNvSpPr/>
          <p:nvPr/>
        </p:nvSpPr>
        <p:spPr>
          <a:xfrm>
            <a:off x="4658162" y="3748369"/>
            <a:ext cx="194400" cy="194400"/>
          </a:xfrm>
          <a:prstGeom prst="ellipse">
            <a:avLst/>
          </a:prstGeom>
          <a:solidFill>
            <a:schemeClr val="tx1"/>
          </a:solidFill>
          <a:ln w="127000" cmpd="thinThick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24" name="テキスト ボックス 23"/>
          <p:cNvSpPr txBox="1"/>
          <p:nvPr/>
        </p:nvSpPr>
        <p:spPr>
          <a:xfrm>
            <a:off x="4038900" y="4577277"/>
            <a:ext cx="1195088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lIns="0" rtlCol="0">
            <a:spAutoFit/>
          </a:bodyPr>
          <a:lstStyle/>
          <a:p>
            <a:pPr algn="ctr"/>
            <a:r>
              <a:rPr lang="ja-JP" altLang="en-US" sz="2400" dirty="0"/>
              <a:t>親個体</a:t>
            </a:r>
            <a:r>
              <a:rPr lang="en-US" altLang="ja-JP" sz="2400" dirty="0"/>
              <a:t/>
            </a:r>
            <a:br>
              <a:rPr lang="en-US" altLang="ja-JP" sz="2400" dirty="0"/>
            </a:br>
            <a:r>
              <a:rPr lang="en-US" altLang="ja-JP" sz="2400" dirty="0"/>
              <a:t>2</a:t>
            </a:r>
            <a:endParaRPr lang="ja-JP" altLang="en-US" sz="2400" dirty="0"/>
          </a:p>
        </p:txBody>
      </p:sp>
      <p:sp>
        <p:nvSpPr>
          <p:cNvPr id="30" name="テキスト ボックス 29"/>
          <p:cNvSpPr txBox="1"/>
          <p:nvPr/>
        </p:nvSpPr>
        <p:spPr>
          <a:xfrm>
            <a:off x="4367213" y="3045282"/>
            <a:ext cx="1436914" cy="83099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2400" dirty="0"/>
              <a:t>親個体</a:t>
            </a:r>
            <a:r>
              <a:rPr lang="en-US" altLang="ja-JP" sz="2400" dirty="0"/>
              <a:t/>
            </a:r>
            <a:br>
              <a:rPr lang="en-US" altLang="ja-JP" sz="2400" dirty="0"/>
            </a:br>
            <a:r>
              <a:rPr lang="en-US" altLang="ja-JP" sz="2400" dirty="0"/>
              <a:t>1</a:t>
            </a:r>
            <a:endParaRPr lang="ja-JP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019225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概要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Similarity-based Mating </a:t>
            </a:r>
            <a:r>
              <a:rPr kumimoji="1" lang="en-US" altLang="ja-JP" dirty="0" err="1" smtClean="0"/>
              <a:t>Sheme</a:t>
            </a:r>
            <a:r>
              <a:rPr kumimoji="1" lang="en-US" altLang="ja-JP" dirty="0" smtClean="0"/>
              <a:t>(SMS)</a:t>
            </a:r>
            <a:r>
              <a:rPr kumimoji="1" lang="ja-JP" altLang="en-US" dirty="0" smtClean="0"/>
              <a:t>を取り入れたマルチタスク最適化アルゴリズムを実装する．</a:t>
            </a:r>
            <a:endParaRPr kumimoji="1" lang="en-US" altLang="ja-JP" dirty="0" smtClean="0"/>
          </a:p>
          <a:p>
            <a:r>
              <a:rPr lang="ja-JP" altLang="en-US" dirty="0" smtClean="0"/>
              <a:t>最初に，最適なパラメータを決定するために，</a:t>
            </a:r>
            <a:r>
              <a:rPr lang="en-US" altLang="ja-JP" dirty="0" smtClean="0"/>
              <a:t>NSGA-II</a:t>
            </a:r>
            <a:r>
              <a:rPr lang="ja-JP" altLang="en-US" dirty="0" smtClean="0"/>
              <a:t>でパラメータの検証を行う．</a:t>
            </a:r>
            <a:endParaRPr kumimoji="1" lang="ja-JP" altLang="en-US" dirty="0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9568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疑問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最適</a:t>
            </a:r>
            <a:r>
              <a:rPr lang="ja-JP" altLang="en-US" dirty="0" smtClean="0"/>
              <a:t>なパラメータをどのように決定するか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方法</a:t>
            </a:r>
            <a:r>
              <a:rPr kumimoji="1"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1</a:t>
            </a:r>
          </a:p>
          <a:p>
            <a:pPr lvl="1"/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各問題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(CIHS</a:t>
            </a: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～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NILS)</a:t>
            </a: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で得られた結果をランク付けして，合計ランクが優れている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/>
            </a:r>
            <a:b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</a:b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パラメータを採用</a:t>
            </a:r>
            <a:endParaRPr lang="en-US" altLang="ja-JP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/>
              <a:t>方法</a:t>
            </a:r>
            <a:r>
              <a:rPr lang="en-US" altLang="ja-JP" dirty="0" smtClean="0"/>
              <a:t>2</a:t>
            </a:r>
          </a:p>
          <a:p>
            <a:pPr lvl="1"/>
            <a:r>
              <a:rPr lang="ja-JP" altLang="en-US" dirty="0"/>
              <a:t>各問題</a:t>
            </a:r>
            <a:r>
              <a:rPr lang="ja-JP" altLang="en-US" dirty="0" smtClean="0"/>
              <a:t>で得られた</a:t>
            </a:r>
            <a:r>
              <a:rPr lang="en-US" altLang="ja-JP" dirty="0" smtClean="0"/>
              <a:t>IGD</a:t>
            </a:r>
            <a:r>
              <a:rPr lang="ja-JP" altLang="en-US" dirty="0" smtClean="0"/>
              <a:t>を正規化</a:t>
            </a:r>
            <a:r>
              <a:rPr lang="en-US" altLang="ja-JP" dirty="0" smtClean="0"/>
              <a:t>([0, 1])</a:t>
            </a:r>
            <a:r>
              <a:rPr lang="ja-JP" altLang="en-US" dirty="0" smtClean="0"/>
              <a:t>し，その合計値が優れているパラメータを採用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方法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3</a:t>
            </a:r>
          </a:p>
          <a:p>
            <a:pPr lvl="1"/>
            <a:r>
              <a:rPr lang="ja-JP" altLang="en-US" dirty="0">
                <a:solidFill>
                  <a:schemeClr val="bg2">
                    <a:lumMod val="40000"/>
                    <a:lumOff val="60000"/>
                  </a:schemeClr>
                </a:solidFill>
              </a:rPr>
              <a:t>元</a:t>
            </a: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の</a:t>
            </a:r>
            <a:r>
              <a:rPr lang="en-US" altLang="ja-JP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NSGA-II</a:t>
            </a:r>
            <a:r>
              <a:rPr lang="ja-JP" altLang="en-US" dirty="0" smtClean="0">
                <a:solidFill>
                  <a:schemeClr val="bg2">
                    <a:lumMod val="40000"/>
                    <a:lumOff val="60000"/>
                  </a:schemeClr>
                </a:solidFill>
              </a:rPr>
              <a:t>との性能差を計算し，差が大きいパラメータを採用</a:t>
            </a:r>
            <a:endParaRPr lang="en-US" altLang="ja-JP" dirty="0" smtClean="0">
              <a:solidFill>
                <a:schemeClr val="bg2">
                  <a:lumMod val="40000"/>
                  <a:lumOff val="60000"/>
                </a:schemeClr>
              </a:solidFill>
            </a:endParaRPr>
          </a:p>
          <a:p>
            <a:pPr marL="0" lvl="1"/>
            <a:r>
              <a:rPr lang="ja-JP" altLang="en-US" sz="3200" dirty="0">
                <a:cs typeface="+mn-cs"/>
              </a:rPr>
              <a:t>結果と</a:t>
            </a:r>
            <a:r>
              <a:rPr lang="ja-JP" altLang="en-US" sz="3200" dirty="0" smtClean="0">
                <a:cs typeface="+mn-cs"/>
              </a:rPr>
              <a:t>して</a:t>
            </a:r>
            <a:r>
              <a:rPr lang="en-US" altLang="ja-JP" sz="3200" i="1" dirty="0">
                <a:latin typeface="Symbol" panose="05050102010706020507" pitchFamily="18" charset="2"/>
              </a:rPr>
              <a:t>a </a:t>
            </a:r>
            <a:r>
              <a:rPr lang="en-US" altLang="ja-JP" sz="3200" dirty="0" smtClean="0">
                <a:cs typeface="+mn-cs"/>
              </a:rPr>
              <a:t>= 10,</a:t>
            </a:r>
            <a:r>
              <a:rPr lang="en-US" altLang="ja-JP" sz="3200" i="1" dirty="0">
                <a:latin typeface="Symbol" panose="05050102010706020507" pitchFamily="18" charset="2"/>
              </a:rPr>
              <a:t> </a:t>
            </a:r>
            <a:r>
              <a:rPr lang="en-US" altLang="ja-JP" sz="3200" i="1" dirty="0" smtClean="0">
                <a:latin typeface="Symbol" panose="05050102010706020507" pitchFamily="18" charset="2"/>
              </a:rPr>
              <a:t>b</a:t>
            </a:r>
            <a:r>
              <a:rPr lang="en-US" altLang="ja-JP" sz="3200" dirty="0" smtClean="0">
                <a:cs typeface="+mn-cs"/>
              </a:rPr>
              <a:t> =</a:t>
            </a:r>
            <a:r>
              <a:rPr lang="ja-JP" altLang="en-US" sz="3200" dirty="0" smtClean="0">
                <a:cs typeface="+mn-cs"/>
              </a:rPr>
              <a:t> </a:t>
            </a:r>
            <a:r>
              <a:rPr lang="en-US" altLang="ja-JP" sz="3200" dirty="0" smtClean="0">
                <a:cs typeface="+mn-cs"/>
              </a:rPr>
              <a:t>2</a:t>
            </a:r>
            <a:r>
              <a:rPr lang="ja-JP" altLang="en-US" sz="3200" dirty="0" smtClean="0">
                <a:cs typeface="+mn-cs"/>
              </a:rPr>
              <a:t>が最適なパラメータとなった．</a:t>
            </a:r>
            <a:endParaRPr lang="en-US" altLang="ja-JP" sz="3200" dirty="0" smtClean="0">
              <a:cs typeface="+mn-cs"/>
            </a:endParaRPr>
          </a:p>
          <a:p>
            <a:pPr marL="0" lvl="1"/>
            <a:r>
              <a:rPr lang="ja-JP" altLang="en-US" sz="3200" dirty="0" smtClean="0">
                <a:cs typeface="+mn-cs"/>
              </a:rPr>
              <a:t>親個体は，目的関数空間の端から選ぶことが適当</a:t>
            </a:r>
            <a:r>
              <a:rPr lang="en-US" altLang="ja-JP" sz="3200" dirty="0" smtClean="0">
                <a:cs typeface="+mn-cs"/>
              </a:rPr>
              <a:t>?</a:t>
            </a:r>
            <a:endParaRPr lang="en-US" altLang="ja-JP" sz="3200" dirty="0">
              <a:cs typeface="+mn-cs"/>
            </a:endParaRP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023654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セル内の数値は，正規化後の</a:t>
            </a:r>
            <a:r>
              <a:rPr kumimoji="1" lang="en-US" altLang="ja-JP" dirty="0" smtClean="0"/>
              <a:t>IGD</a:t>
            </a:r>
            <a:r>
              <a:rPr kumimoji="1" lang="ja-JP" altLang="en-US" dirty="0" smtClean="0"/>
              <a:t>の総和を表す．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323" t="9571" r="15782" b="5298"/>
          <a:stretch/>
        </p:blipFill>
        <p:spPr>
          <a:xfrm>
            <a:off x="3495305" y="1992337"/>
            <a:ext cx="5201391" cy="4560863"/>
          </a:xfrm>
          <a:prstGeom prst="rect">
            <a:avLst/>
          </a:prstGeom>
        </p:spPr>
      </p:pic>
      <p:sp>
        <p:nvSpPr>
          <p:cNvPr id="6" name="テキスト ボックス 5"/>
          <p:cNvSpPr txBox="1"/>
          <p:nvPr/>
        </p:nvSpPr>
        <p:spPr>
          <a:xfrm rot="16200000">
            <a:off x="2548019" y="4072712"/>
            <a:ext cx="1494465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>
                <a:latin typeface="Symbol" panose="05050102010706020507" pitchFamily="18" charset="2"/>
              </a:rPr>
              <a:t>a</a:t>
            </a:r>
            <a:endParaRPr kumimoji="1" lang="ja-JP" altLang="en-US" sz="2000" dirty="0" smtClean="0"/>
          </a:p>
        </p:txBody>
      </p:sp>
      <p:sp>
        <p:nvSpPr>
          <p:cNvPr id="7" name="テキスト ボックス 6"/>
          <p:cNvSpPr txBox="1"/>
          <p:nvPr/>
        </p:nvSpPr>
        <p:spPr>
          <a:xfrm>
            <a:off x="5169725" y="6393565"/>
            <a:ext cx="1472540" cy="400110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ja-JP" sz="2000" i="1" dirty="0" smtClean="0">
                <a:latin typeface="Symbol" panose="05050102010706020507" pitchFamily="18" charset="2"/>
              </a:rPr>
              <a:t>b</a:t>
            </a:r>
            <a:endParaRPr kumimoji="1" lang="ja-JP" altLang="en-US" sz="2000" dirty="0" smtClean="0"/>
          </a:p>
        </p:txBody>
      </p:sp>
    </p:spTree>
    <p:extLst>
      <p:ext uri="{BB962C8B-B14F-4D97-AF65-F5344CB8AC3E}">
        <p14:creationId xmlns:p14="http://schemas.microsoft.com/office/powerpoint/2010/main" val="32903062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 smtClean="0"/>
              <a:t>SMS</a:t>
            </a:r>
            <a:r>
              <a:rPr lang="ja-JP" altLang="en-US" dirty="0" smtClean="0"/>
              <a:t>を取り入れたマルチタスク手法の実装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smtClean="0"/>
              <a:t>NSGA-II</a:t>
            </a:r>
            <a:r>
              <a:rPr kumimoji="1" lang="ja-JP" altLang="en-US" dirty="0" smtClean="0"/>
              <a:t>をベースとして，独立探索時は</a:t>
            </a:r>
            <a:r>
              <a:rPr kumimoji="1" lang="en-US" altLang="ja-JP" dirty="0" smtClean="0"/>
              <a:t>SMS</a:t>
            </a:r>
            <a:r>
              <a:rPr kumimoji="1" lang="ja-JP" altLang="en-US" dirty="0" smtClean="0"/>
              <a:t>を用いる．</a:t>
            </a:r>
            <a:endParaRPr lang="en-US" altLang="ja-JP" dirty="0"/>
          </a:p>
          <a:p>
            <a:r>
              <a:rPr kumimoji="1" lang="ja-JP" altLang="en-US" dirty="0" smtClean="0"/>
              <a:t>情報共有は，タスク間での交叉による行う．</a:t>
            </a:r>
            <a:endParaRPr lang="en-US" altLang="ja-JP" dirty="0"/>
          </a:p>
          <a:p>
            <a:pPr algn="l"/>
            <a:r>
              <a:rPr kumimoji="1" lang="ja-JP" altLang="en-US" dirty="0" smtClean="0"/>
              <a:t>情報共有時の親個体は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移住先</a:t>
            </a:r>
            <a:r>
              <a:rPr kumimoji="1" lang="en-US" altLang="ja-JP" dirty="0" smtClean="0"/>
              <a:t>: </a:t>
            </a:r>
            <a:r>
              <a:rPr kumimoji="1" lang="ja-JP" altLang="en-US" dirty="0" smtClean="0"/>
              <a:t>バイナリトーナメント</a:t>
            </a:r>
            <a:r>
              <a:rPr lang="ja-JP" altLang="en-US" dirty="0" smtClean="0"/>
              <a:t>で</a:t>
            </a:r>
            <a:r>
              <a:rPr kumimoji="1" lang="ja-JP" altLang="en-US" dirty="0" smtClean="0"/>
              <a:t>選択</a:t>
            </a:r>
            <a:r>
              <a:rPr kumimoji="1" lang="en-US" altLang="ja-JP" dirty="0" smtClean="0"/>
              <a:t>(</a:t>
            </a:r>
            <a:r>
              <a:rPr lang="en-US" altLang="ja-JP" i="1" dirty="0">
                <a:latin typeface="Symbol" panose="05050102010706020507" pitchFamily="18" charset="2"/>
              </a:rPr>
              <a:t>a </a:t>
            </a:r>
            <a:r>
              <a:rPr lang="en-US" altLang="ja-JP" dirty="0"/>
              <a:t>= </a:t>
            </a:r>
            <a:r>
              <a:rPr lang="en-US" altLang="ja-JP" dirty="0" smtClean="0"/>
              <a:t>1 or 2</a:t>
            </a:r>
            <a:r>
              <a:rPr kumimoji="1" lang="en-US" altLang="ja-JP" dirty="0" smtClean="0"/>
              <a:t>)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kumimoji="1" lang="ja-JP" altLang="en-US" dirty="0" smtClean="0"/>
              <a:t>移住元</a:t>
            </a:r>
            <a:r>
              <a:rPr kumimoji="1" lang="en-US" altLang="ja-JP" dirty="0" smtClean="0"/>
              <a:t>: </a:t>
            </a:r>
            <a:r>
              <a:rPr kumimoji="1" lang="ja-JP" altLang="en-US" dirty="0" smtClean="0"/>
              <a:t>独立探索時の親個体</a:t>
            </a:r>
            <a:r>
              <a:rPr kumimoji="1" lang="en-US" altLang="ja-JP" dirty="0" smtClean="0"/>
              <a:t>2</a:t>
            </a:r>
            <a:r>
              <a:rPr lang="ja-JP" altLang="en-US" dirty="0" smtClean="0"/>
              <a:t>と同じ選択</a:t>
            </a:r>
            <a:r>
              <a:rPr lang="en-US" altLang="ja-JP" dirty="0"/>
              <a:t/>
            </a:r>
            <a:br>
              <a:rPr lang="en-US" altLang="ja-JP" dirty="0"/>
            </a:br>
            <a:r>
              <a:rPr lang="ja-JP" altLang="en-US" dirty="0"/>
              <a:t>と</a:t>
            </a:r>
            <a:r>
              <a:rPr lang="ja-JP" altLang="en-US" dirty="0" smtClean="0"/>
              <a:t>する</a:t>
            </a:r>
            <a:r>
              <a:rPr lang="en-US" altLang="ja-JP" dirty="0" smtClean="0"/>
              <a:t>.</a:t>
            </a:r>
          </a:p>
          <a:p>
            <a:pPr algn="l"/>
            <a:r>
              <a:rPr lang="ja-JP" altLang="en-US" dirty="0" smtClean="0"/>
              <a:t>情報</a:t>
            </a:r>
            <a:r>
              <a:rPr lang="ja-JP" altLang="en-US" dirty="0"/>
              <a:t>共有</a:t>
            </a:r>
            <a:r>
              <a:rPr lang="ja-JP" altLang="en-US" dirty="0" smtClean="0"/>
              <a:t>は，一定世代間隔で一定数の個体で行う．</a:t>
            </a:r>
            <a:endParaRPr kumimoji="1"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654463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i="1" dirty="0" smtClean="0">
                <a:latin typeface="Symbol" panose="05050102010706020507" pitchFamily="18" charset="2"/>
              </a:rPr>
              <a:t>a </a:t>
            </a:r>
            <a:r>
              <a:rPr lang="en-US" altLang="ja-JP" dirty="0" smtClean="0"/>
              <a:t>= </a:t>
            </a:r>
            <a:r>
              <a:rPr lang="en-US" altLang="ja-JP" dirty="0"/>
              <a:t>10,</a:t>
            </a:r>
            <a:r>
              <a:rPr lang="en-US" altLang="ja-JP" i="1" dirty="0">
                <a:latin typeface="Symbol" panose="05050102010706020507" pitchFamily="18" charset="2"/>
              </a:rPr>
              <a:t> b</a:t>
            </a:r>
            <a:r>
              <a:rPr lang="en-US" altLang="ja-JP" dirty="0"/>
              <a:t> =</a:t>
            </a:r>
            <a:r>
              <a:rPr lang="ja-JP" altLang="en-US" dirty="0"/>
              <a:t> </a:t>
            </a:r>
            <a:r>
              <a:rPr lang="en-US" altLang="ja-JP" dirty="0" smtClean="0"/>
              <a:t>2</a:t>
            </a:r>
            <a:r>
              <a:rPr lang="ja-JP" altLang="en-US" dirty="0" err="1" smtClean="0"/>
              <a:t>，</a:t>
            </a:r>
            <a:r>
              <a:rPr lang="ja-JP" altLang="en-US" dirty="0" smtClean="0"/>
              <a:t>移住間隔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smtClean="0"/>
              <a:t>10</a:t>
            </a:r>
            <a:r>
              <a:rPr lang="ja-JP" altLang="en-US" dirty="0" smtClean="0"/>
              <a:t>世代，移住個体数</a:t>
            </a:r>
            <a:r>
              <a:rPr lang="en-US" altLang="ja-JP" dirty="0" smtClean="0"/>
              <a:t>:</a:t>
            </a:r>
            <a:r>
              <a:rPr lang="ja-JP" altLang="en-US" dirty="0" smtClean="0"/>
              <a:t> </a:t>
            </a:r>
            <a:r>
              <a:rPr lang="en-US" altLang="ja-JP" dirty="0" smtClean="0"/>
              <a:t>10</a:t>
            </a:r>
            <a:r>
              <a:rPr lang="ja-JP" altLang="en-US" dirty="0" smtClean="0"/>
              <a:t>個体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526962"/>
              </p:ext>
            </p:extLst>
          </p:nvPr>
        </p:nvGraphicFramePr>
        <p:xfrm>
          <a:off x="510914" y="2096001"/>
          <a:ext cx="5304172" cy="4599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269"/>
                <a:gridCol w="997415"/>
                <a:gridCol w="1066800"/>
                <a:gridCol w="982619"/>
                <a:gridCol w="1154069"/>
              </a:tblGrid>
              <a:tr h="23229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Problems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Task No.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50" charset="-128"/>
                        </a:rPr>
                        <a:t>Proposed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NSGA-II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MO-MFEA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CIHS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2.94E-04</a:t>
                      </a:r>
                    </a:p>
                  </a:txBody>
                  <a:tcPr marL="9525" marR="9525" marT="9525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2.02.E-3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3.99E-4</a:t>
                      </a:r>
                      <a:endParaRPr kumimoji="1" lang="en-US" sz="180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2.10E-03</a:t>
                      </a: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4.36.E-3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2.65E-3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CIMS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1.01E-01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1.00.E-1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4.57E-2</a:t>
                      </a: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4.89E-02</a:t>
                      </a: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2.29.E-2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8.77E-3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CILS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1.89E-04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2.55.E-1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2.71E-4</a:t>
                      </a: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1.89E-04</a:t>
                      </a: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1.99.E-4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1.90E-4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PIHS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3.39E-04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1.11.E-3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1.10E-3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1.82E-02</a:t>
                      </a: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5.65.E-2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3.04E-2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PIMS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4.01E-03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4.49.E-3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2.62E-3</a:t>
                      </a: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1.69E+01</a:t>
                      </a: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altLang="ja-JP" sz="18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1.56</a:t>
                      </a:r>
                      <a:r>
                        <a:rPr lang="en-US" sz="1800" u="none" strike="noStrike" dirty="0" smtClean="0">
                          <a:solidFill>
                            <a:schemeClr val="tx1"/>
                          </a:solidFill>
                          <a:effectLst/>
                        </a:rPr>
                        <a:t>.E</a:t>
                      </a:r>
                      <a:r>
                        <a:rPr kumimoji="1" lang="en-US" altLang="ja-JP" sz="180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altLang="ja-JP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1.09</a:t>
                      </a:r>
                      <a:r>
                        <a:rPr kumimoji="1" lang="en-US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r>
                        <a:rPr kumimoji="1" lang="en-US" altLang="ja-JP" sz="1800" b="1" u="sng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+1</a:t>
                      </a:r>
                      <a:endParaRPr kumimoji="1" lang="en-US" sz="1800" b="1" u="sng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PILS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2.38E-04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2.76.E-4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3.24E-4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5.24E-01</a:t>
                      </a:r>
                    </a:p>
                  </a:txBody>
                  <a:tcPr marL="9525" marR="9525" marT="9525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6.35.E-1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lnSpc>
                          <a:spcPct val="100000"/>
                        </a:lnSpc>
                      </a:pPr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1.10E-2</a:t>
                      </a: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7" name="表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492231"/>
              </p:ext>
            </p:extLst>
          </p:nvPr>
        </p:nvGraphicFramePr>
        <p:xfrm>
          <a:off x="6354689" y="2096001"/>
          <a:ext cx="5304172" cy="243906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03269"/>
                <a:gridCol w="997415"/>
                <a:gridCol w="1066800"/>
                <a:gridCol w="982619"/>
                <a:gridCol w="1154069"/>
              </a:tblGrid>
              <a:tr h="23229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Problems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Task No.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  <a:ea typeface="ＭＳ Ｐゴシック" panose="020B0600070205080204" pitchFamily="50" charset="-128"/>
                        </a:rPr>
                        <a:t>Proposed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NSGA-II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b="1" u="none" strike="noStrike" dirty="0">
                          <a:solidFill>
                            <a:schemeClr val="tx1"/>
                          </a:solidFill>
                          <a:effectLst/>
                        </a:rPr>
                        <a:t>MO-MFEA</a:t>
                      </a:r>
                      <a:endParaRPr lang="en-US" sz="1800" b="1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NIHS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1.82E+00</a:t>
                      </a:r>
                    </a:p>
                  </a:txBody>
                  <a:tcPr marL="9525" marR="9525" marT="9525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3.13.E+1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1.55E+0</a:t>
                      </a:r>
                    </a:p>
                  </a:txBody>
                  <a:tcPr marL="4741" marR="4741" marT="4741" marB="0" anchor="ctr"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3.17E-04</a:t>
                      </a: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7.86.E-4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5.02E-4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NIMS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4.35E-01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4.70.E-1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2.79E-1</a:t>
                      </a: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4.60E-02</a:t>
                      </a:r>
                    </a:p>
                  </a:txBody>
                  <a:tcPr marL="9525" marR="9525" marT="9525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9.19.E-2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2.86E-2</a:t>
                      </a:r>
                    </a:p>
                  </a:txBody>
                  <a:tcPr marL="4741" marR="4741" marT="4741" marB="0" anchor="ctr"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0000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NILS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L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i="1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7.93E-04</a:t>
                      </a:r>
                    </a:p>
                  </a:txBody>
                  <a:tcPr marL="9525" marR="9525" marT="9525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8.36.E-4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solidFill>
                            <a:schemeClr val="tx1"/>
                          </a:solidFill>
                          <a:effectLst/>
                        </a:rPr>
                        <a:t>8.35E-4</a:t>
                      </a:r>
                      <a:endParaRPr lang="en-US" sz="1800" b="0" i="0" u="none" strike="noStrike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60000">
                <a:tc vMerge="1"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T</a:t>
                      </a:r>
                      <a:r>
                        <a:rPr lang="en-US" sz="1800" u="none" strike="noStrike" baseline="-25000" dirty="0">
                          <a:solidFill>
                            <a:schemeClr val="tx1"/>
                          </a:solidFill>
                          <a:effectLst/>
                        </a:rPr>
                        <a:t>2</a:t>
                      </a:r>
                      <a:endParaRPr lang="en-US" sz="1800" b="0" i="1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685800" rtl="0" eaLnBrk="1" fontAlgn="ctr" latinLnBrk="0" hangingPunct="1"/>
                      <a:r>
                        <a:rPr kumimoji="1" lang="en-US" sz="1800" b="1" u="sng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6.42E-01</a:t>
                      </a:r>
                    </a:p>
                  </a:txBody>
                  <a:tcPr marL="9525" marR="9525" marT="9525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6.42.E-1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solidFill>
                            <a:schemeClr val="tx1"/>
                          </a:solidFill>
                          <a:effectLst/>
                        </a:rPr>
                        <a:t>6.43E-1</a:t>
                      </a:r>
                      <a:endParaRPr lang="en-US" sz="18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ＭＳ Ｐゴシック" panose="020B0600070205080204" pitchFamily="50" charset="-128"/>
                      </a:endParaRPr>
                    </a:p>
                  </a:txBody>
                  <a:tcPr marL="4741" marR="4741" marT="4741" marB="0" anchor="ctr"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7160701" y="5128632"/>
            <a:ext cx="3692146" cy="830997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txBody>
          <a:bodyPr wrap="square" rtlCol="0">
            <a:spAutoFit/>
          </a:bodyPr>
          <a:lstStyle/>
          <a:p>
            <a:pPr>
              <a:tabLst>
                <a:tab pos="1614488" algn="l"/>
              </a:tabLst>
            </a:pPr>
            <a:r>
              <a:rPr kumimoji="1" lang="en-US" altLang="ja-JP" sz="2400" dirty="0" smtClean="0"/>
              <a:t>Proposed	:</a:t>
            </a:r>
            <a:r>
              <a:rPr kumimoji="1" lang="ja-JP" altLang="en-US" sz="2400" dirty="0" smtClean="0"/>
              <a:t> </a:t>
            </a:r>
            <a:r>
              <a:rPr kumimoji="1" lang="en-US" altLang="ja-JP" sz="2400" dirty="0" smtClean="0"/>
              <a:t>10/18</a:t>
            </a:r>
            <a:r>
              <a:rPr kumimoji="1" lang="ja-JP" altLang="en-US" sz="2400" dirty="0" smtClean="0"/>
              <a:t>で最良</a:t>
            </a:r>
            <a:r>
              <a:rPr kumimoji="1" lang="en-US" altLang="ja-JP" sz="2400" dirty="0" smtClean="0"/>
              <a:t/>
            </a:r>
            <a:br>
              <a:rPr kumimoji="1" lang="en-US" altLang="ja-JP" sz="2400" dirty="0" smtClean="0"/>
            </a:br>
            <a:r>
              <a:rPr kumimoji="1" lang="en-US" altLang="ja-JP" sz="2400" dirty="0" smtClean="0"/>
              <a:t>MO-MFEA	:</a:t>
            </a:r>
            <a:r>
              <a:rPr kumimoji="1" lang="ja-JP" altLang="en-US" sz="2400" dirty="0" smtClean="0"/>
              <a:t>   </a:t>
            </a:r>
            <a:r>
              <a:rPr kumimoji="1" lang="en-US" altLang="ja-JP" sz="2400" dirty="0" smtClean="0"/>
              <a:t>8/18</a:t>
            </a:r>
            <a:r>
              <a:rPr kumimoji="1" lang="ja-JP" altLang="en-US" sz="2400" dirty="0" smtClean="0"/>
              <a:t>で最良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986898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76200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9050">
          <a:noFill/>
        </a:ln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3E27F71A-09F3-40FE-8C2D-54B13A3AB99C}" vid="{9AAC496F-98CF-44D0-8969-8E95277F12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194</TotalTime>
  <Words>411</Words>
  <Application>Microsoft Office PowerPoint</Application>
  <PresentationFormat>ワイド画面</PresentationFormat>
  <Paragraphs>172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0" baseType="lpstr">
      <vt:lpstr>ＭＳ P ゴシック</vt:lpstr>
      <vt:lpstr>ＭＳ Ｐゴシック</vt:lpstr>
      <vt:lpstr>Arial</vt:lpstr>
      <vt:lpstr>Calibri</vt:lpstr>
      <vt:lpstr>Cambria Math</vt:lpstr>
      <vt:lpstr>Symbol</vt:lpstr>
      <vt:lpstr>Times New Roman</vt:lpstr>
      <vt:lpstr>Theme_Lab</vt:lpstr>
      <vt:lpstr>Similarity-based Mating Schemeを 取り入れた進化型マルチタスキングの実装</vt:lpstr>
      <vt:lpstr>Similarity-based Mating Scheme</vt:lpstr>
      <vt:lpstr>Similarity-based Mating Scheme</vt:lpstr>
      <vt:lpstr>Similarity-based Mating Scheme</vt:lpstr>
      <vt:lpstr>Similarity-based Mating Scheme</vt:lpstr>
      <vt:lpstr>Similarity-based Mating Scheme</vt:lpstr>
      <vt:lpstr>Similarity-based Mating Scheme</vt:lpstr>
      <vt:lpstr>概要</vt:lpstr>
      <vt:lpstr>疑問</vt:lpstr>
      <vt:lpstr>実験結果</vt:lpstr>
      <vt:lpstr>SMSを取り入れたマルチタスク手法の実装</vt:lpstr>
      <vt:lpstr>実験結果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Similarity-based Mating Schemeを取り入れた マルチタスク最適化の実装</dc:title>
  <dc:creator>瓜田 俊貴</dc:creator>
  <cp:lastModifiedBy>瓜田 俊貴</cp:lastModifiedBy>
  <cp:revision>18</cp:revision>
  <dcterms:created xsi:type="dcterms:W3CDTF">2020-11-24T15:20:35Z</dcterms:created>
  <dcterms:modified xsi:type="dcterms:W3CDTF">2021-01-21T11:53:35Z</dcterms:modified>
</cp:coreProperties>
</file>