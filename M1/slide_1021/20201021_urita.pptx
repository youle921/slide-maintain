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3" autoAdjust="0"/>
    <p:restoredTop sz="94660"/>
  </p:normalViewPr>
  <p:slideViewPr>
    <p:cSldViewPr snapToGrid="0">
      <p:cViewPr>
        <p:scale>
          <a:sx n="75" d="100"/>
          <a:sy n="75" d="100"/>
        </p:scale>
        <p:origin x="1608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0" y="0"/>
            <a:ext cx="9144000" cy="411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 dirty="0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177637"/>
            <a:ext cx="7772400" cy="2422820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14800"/>
            <a:ext cx="6400800" cy="2743200"/>
          </a:xfrm>
        </p:spPr>
        <p:txBody>
          <a:bodyPr anchor="ctr"/>
          <a:lstStyle>
            <a:lvl1pPr marL="0" indent="0" algn="ctr">
              <a:buFontTx/>
              <a:buNone/>
              <a:defRPr sz="3200"/>
            </a:lvl1pPr>
          </a:lstStyle>
          <a:p>
            <a:r>
              <a:rPr lang="ja-JP" altLang="en-US" smtClean="0"/>
              <a:t>マスター サブタイトルの書式設定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91631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17669418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/>
          <p:cNvSpPr txBox="1"/>
          <p:nvPr/>
        </p:nvSpPr>
        <p:spPr>
          <a:xfrm>
            <a:off x="228600" y="1365254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論文名</a:t>
            </a: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228600" y="3125440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著者名</a:t>
            </a: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228600" y="4724400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200" dirty="0"/>
              <a:t>出典</a:t>
            </a:r>
            <a:endParaRPr kumimoji="1" lang="ja-JP" altLang="en-US" sz="3200" dirty="0" smtClean="0"/>
          </a:p>
        </p:txBody>
      </p:sp>
      <p:sp>
        <p:nvSpPr>
          <p:cNvPr id="6" name="コンテンツ プレースホルダ 2"/>
          <p:cNvSpPr>
            <a:spLocks noGrp="1"/>
          </p:cNvSpPr>
          <p:nvPr>
            <p:ph idx="1" hasCustomPrompt="1"/>
          </p:nvPr>
        </p:nvSpPr>
        <p:spPr>
          <a:xfrm>
            <a:off x="1828800" y="1368795"/>
            <a:ext cx="7086600" cy="1551337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論文名</a:t>
            </a:r>
          </a:p>
        </p:txBody>
      </p:sp>
      <p:sp>
        <p:nvSpPr>
          <p:cNvPr id="7" name="コンテンツ プレースホルダ 2"/>
          <p:cNvSpPr>
            <a:spLocks noGrp="1"/>
          </p:cNvSpPr>
          <p:nvPr>
            <p:ph idx="10" hasCustomPrompt="1"/>
          </p:nvPr>
        </p:nvSpPr>
        <p:spPr>
          <a:xfrm>
            <a:off x="1828800" y="3125441"/>
            <a:ext cx="7086600" cy="1391142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著者名</a:t>
            </a:r>
          </a:p>
        </p:txBody>
      </p:sp>
      <p:sp>
        <p:nvSpPr>
          <p:cNvPr id="8" name="コンテンツ プレースホルダ 2"/>
          <p:cNvSpPr>
            <a:spLocks noGrp="1"/>
          </p:cNvSpPr>
          <p:nvPr>
            <p:ph idx="11" hasCustomPrompt="1"/>
          </p:nvPr>
        </p:nvSpPr>
        <p:spPr>
          <a:xfrm>
            <a:off x="1828800" y="4724400"/>
            <a:ext cx="7086600" cy="1551337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出典</a:t>
            </a: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78798" y="191542"/>
            <a:ext cx="349134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4400" b="1" dirty="0" smtClean="0">
                <a:solidFill>
                  <a:schemeClr val="bg1"/>
                </a:solidFill>
              </a:rPr>
              <a:t>論文情報</a:t>
            </a:r>
          </a:p>
        </p:txBody>
      </p:sp>
      <p:sp>
        <p:nvSpPr>
          <p:cNvPr id="10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941812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+サブ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70780"/>
            <a:ext cx="9067800" cy="573087"/>
          </a:xfrm>
        </p:spPr>
        <p:txBody>
          <a:bodyPr anchor="ctr"/>
          <a:lstStyle>
            <a:lvl1pPr marL="0" indent="0">
              <a:buNone/>
              <a:defRPr sz="3600" b="1" baseline="0">
                <a:solidFill>
                  <a:schemeClr val="accent4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108042690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+サブ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70780"/>
            <a:ext cx="9067800" cy="573087"/>
          </a:xfrm>
        </p:spPr>
        <p:txBody>
          <a:bodyPr anchor="ctr"/>
          <a:lstStyle>
            <a:lvl1pPr marL="0" indent="0">
              <a:buNone/>
              <a:defRPr sz="3600" b="1" baseline="0">
                <a:solidFill>
                  <a:schemeClr val="accent4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55071551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25025294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作図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58773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終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spect="1" noChangeArrowheads="1"/>
          </p:cNvSpPr>
          <p:nvPr/>
        </p:nvSpPr>
        <p:spPr bwMode="auto">
          <a:xfrm>
            <a:off x="-19431" y="-102870"/>
            <a:ext cx="9182862" cy="7063740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 dirty="0"/>
          </a:p>
        </p:txBody>
      </p:sp>
    </p:spTree>
    <p:extLst>
      <p:ext uri="{BB962C8B-B14F-4D97-AF65-F5344CB8AC3E}">
        <p14:creationId xmlns:p14="http://schemas.microsoft.com/office/powerpoint/2010/main" val="19329919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 dirty="0"/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200" y="0"/>
            <a:ext cx="9067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タイトルの書式設定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371600"/>
            <a:ext cx="8686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689500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4" r:id="rId3"/>
    <p:sldLayoutId id="2147483669" r:id="rId4"/>
    <p:sldLayoutId id="2147483673" r:id="rId5"/>
    <p:sldLayoutId id="2147483670" r:id="rId6"/>
    <p:sldLayoutId id="2147483671" r:id="rId7"/>
    <p:sldLayoutId id="2147483672" r:id="rId8"/>
  </p:sldLayoutIdLst>
  <p:timing>
    <p:tnLst>
      <p:par>
        <p:cTn id="1" dur="indefinite" restart="never" nodeType="tmRoot"/>
      </p:par>
    </p:tnLst>
  </p:timing>
  <p:hf hdr="0" ftr="0" dt="0"/>
  <p:txStyles>
    <p:titleStyle>
      <a:lvl1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+mj-lt"/>
          <a:ea typeface="+mj-ea"/>
          <a:cs typeface="+mj-cs"/>
        </a:defRPr>
      </a:lvl1pPr>
      <a:lvl2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2pPr>
      <a:lvl3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3pPr>
      <a:lvl4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4pPr>
      <a:lvl5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5pPr>
      <a:lvl6pPr marL="3429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6pPr>
      <a:lvl7pPr marL="6858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7pPr>
      <a:lvl8pPr marL="10287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8pPr>
      <a:lvl9pPr marL="13716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har char="–"/>
        <a:defRPr kumimoji="1"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dirty="0" smtClean="0"/>
              <a:t>進捗報告</a:t>
            </a:r>
            <a:r>
              <a:rPr kumimoji="1" lang="en-US" altLang="ja-JP" dirty="0" smtClean="0"/>
              <a:t>(10/21)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ja-JP" altLang="en-US" dirty="0" smtClean="0"/>
              <a:t>瓜田 俊貴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8501079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橋本さんの</a:t>
            </a:r>
            <a:r>
              <a:rPr kumimoji="1" lang="en-US" altLang="ja-JP" dirty="0" smtClean="0"/>
              <a:t>SBX</a:t>
            </a:r>
            <a:r>
              <a:rPr kumimoji="1" lang="ja-JP" altLang="en-US" dirty="0" smtClean="0"/>
              <a:t>実装に関して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橋本さんが使っていた</a:t>
            </a:r>
            <a:r>
              <a:rPr kumimoji="1" lang="en-US" altLang="ja-JP" dirty="0" smtClean="0"/>
              <a:t>SBX</a:t>
            </a:r>
            <a:r>
              <a:rPr kumimoji="1" lang="ja-JP" altLang="en-US" dirty="0" smtClean="0"/>
              <a:t>のバージョンは確認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dirty="0" smtClean="0"/>
              <a:t>できていないが，</a:t>
            </a:r>
            <a:r>
              <a:rPr kumimoji="1" lang="en-US" altLang="ja-JP" dirty="0" smtClean="0"/>
              <a:t>(</a:t>
            </a:r>
            <a:r>
              <a:rPr kumimoji="1" lang="ja-JP" altLang="en-US" dirty="0" smtClean="0"/>
              <a:t>普通の</a:t>
            </a:r>
            <a:r>
              <a:rPr kumimoji="1" lang="en-US" altLang="ja-JP" dirty="0" smtClean="0"/>
              <a:t>?)SBX</a:t>
            </a:r>
            <a:r>
              <a:rPr kumimoji="1" lang="ja-JP" altLang="en-US" dirty="0" smtClean="0"/>
              <a:t>と少し挙動</a:t>
            </a:r>
            <a:r>
              <a:rPr lang="ja-JP" altLang="en-US" dirty="0" smtClean="0"/>
              <a:t>が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異なる</a:t>
            </a:r>
            <a:r>
              <a:rPr lang="en-US" altLang="ja-JP" dirty="0" smtClean="0"/>
              <a:t>SBX</a:t>
            </a:r>
            <a:r>
              <a:rPr lang="ja-JP" altLang="en-US" dirty="0" smtClean="0"/>
              <a:t>で合わせ実験をしていた．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2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7207912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SBX(</a:t>
            </a:r>
            <a:r>
              <a:rPr lang="ja-JP" altLang="en-US" dirty="0"/>
              <a:t>概要</a:t>
            </a:r>
            <a:r>
              <a:rPr kumimoji="1" lang="en-US" altLang="ja-JP" dirty="0" smtClean="0"/>
              <a:t>)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sz="2800" dirty="0" smtClean="0"/>
              <a:t>各決定変数に対して，</a:t>
            </a:r>
            <a:endParaRPr lang="en-US" altLang="ja-JP" sz="2800" dirty="0" smtClean="0"/>
          </a:p>
          <a:p>
            <a:pPr marL="355600"/>
            <a:r>
              <a:rPr kumimoji="1" lang="ja-JP" altLang="en-US" sz="2800" dirty="0" smtClean="0">
                <a:cs typeface="Times New Roman" panose="02020603050405020304" pitchFamily="18" charset="0"/>
              </a:rPr>
              <a:t>親個体</a:t>
            </a:r>
            <a:r>
              <a:rPr lang="en-US" altLang="ja-JP" sz="2800" dirty="0" smtClean="0">
                <a:cs typeface="Times New Roman" panose="02020603050405020304" pitchFamily="18" charset="0"/>
              </a:rPr>
              <a:t>1</a:t>
            </a:r>
            <a:r>
              <a:rPr lang="ja-JP" altLang="en-US" sz="2800" dirty="0" smtClean="0">
                <a:cs typeface="Times New Roman" panose="02020603050405020304" pitchFamily="18" charset="0"/>
              </a:rPr>
              <a:t>の決定変数を，親個体</a:t>
            </a:r>
            <a:r>
              <a:rPr lang="en-US" altLang="ja-JP" sz="2800" dirty="0" smtClean="0">
                <a:cs typeface="Times New Roman" panose="02020603050405020304" pitchFamily="18" charset="0"/>
              </a:rPr>
              <a:t>2</a:t>
            </a:r>
            <a:r>
              <a:rPr lang="ja-JP" altLang="en-US" sz="2800" dirty="0" smtClean="0">
                <a:cs typeface="Times New Roman" panose="02020603050405020304" pitchFamily="18" charset="0"/>
              </a:rPr>
              <a:t>に応じて動かして</a:t>
            </a:r>
            <a:r>
              <a:rPr lang="en-US" altLang="ja-JP" sz="2800" dirty="0" smtClean="0">
                <a:cs typeface="Times New Roman" panose="02020603050405020304" pitchFamily="18" charset="0"/>
              </a:rPr>
              <a:t/>
            </a:r>
            <a:br>
              <a:rPr lang="en-US" altLang="ja-JP" sz="2800" dirty="0" smtClean="0">
                <a:cs typeface="Times New Roman" panose="02020603050405020304" pitchFamily="18" charset="0"/>
              </a:rPr>
            </a:br>
            <a:r>
              <a:rPr lang="ja-JP" altLang="en-US" sz="2800" dirty="0" smtClean="0">
                <a:cs typeface="Times New Roman" panose="02020603050405020304" pitchFamily="18" charset="0"/>
              </a:rPr>
              <a:t>子個体</a:t>
            </a:r>
            <a:r>
              <a:rPr lang="en-US" altLang="ja-JP" sz="2800" dirty="0" smtClean="0">
                <a:cs typeface="Times New Roman" panose="02020603050405020304" pitchFamily="18" charset="0"/>
              </a:rPr>
              <a:t>1</a:t>
            </a:r>
            <a:r>
              <a:rPr lang="ja-JP" altLang="en-US" sz="2800" dirty="0" smtClean="0">
                <a:cs typeface="Times New Roman" panose="02020603050405020304" pitchFamily="18" charset="0"/>
              </a:rPr>
              <a:t>を生成する．</a:t>
            </a:r>
            <a:endParaRPr lang="en-US" altLang="ja-JP" sz="2800" dirty="0" smtClean="0">
              <a:cs typeface="Times New Roman" panose="02020603050405020304" pitchFamily="18" charset="0"/>
            </a:endParaRPr>
          </a:p>
          <a:p>
            <a:pPr marL="355600"/>
            <a:r>
              <a:rPr lang="ja-JP" altLang="en-US" sz="2800" dirty="0">
                <a:cs typeface="Times New Roman" panose="02020603050405020304" pitchFamily="18" charset="0"/>
              </a:rPr>
              <a:t>親</a:t>
            </a:r>
            <a:r>
              <a:rPr lang="ja-JP" altLang="en-US" sz="2800" dirty="0" smtClean="0">
                <a:cs typeface="Times New Roman" panose="02020603050405020304" pitchFamily="18" charset="0"/>
              </a:rPr>
              <a:t>個体</a:t>
            </a:r>
            <a:r>
              <a:rPr lang="en-US" altLang="ja-JP" sz="2800" dirty="0" smtClean="0">
                <a:cs typeface="Times New Roman" panose="02020603050405020304" pitchFamily="18" charset="0"/>
              </a:rPr>
              <a:t>2</a:t>
            </a:r>
            <a:r>
              <a:rPr lang="ja-JP" altLang="en-US" sz="2800" dirty="0" smtClean="0">
                <a:cs typeface="Times New Roman" panose="02020603050405020304" pitchFamily="18" charset="0"/>
              </a:rPr>
              <a:t>の</a:t>
            </a:r>
            <a:r>
              <a:rPr lang="ja-JP" altLang="en-US" sz="2800" dirty="0">
                <a:cs typeface="Times New Roman" panose="02020603050405020304" pitchFamily="18" charset="0"/>
              </a:rPr>
              <a:t>決定変数を，親</a:t>
            </a:r>
            <a:r>
              <a:rPr lang="ja-JP" altLang="en-US" sz="2800" dirty="0" smtClean="0">
                <a:cs typeface="Times New Roman" panose="02020603050405020304" pitchFamily="18" charset="0"/>
              </a:rPr>
              <a:t>個体</a:t>
            </a:r>
            <a:r>
              <a:rPr lang="en-US" altLang="ja-JP" sz="2800" dirty="0" smtClean="0">
                <a:cs typeface="Times New Roman" panose="02020603050405020304" pitchFamily="18" charset="0"/>
              </a:rPr>
              <a:t>1</a:t>
            </a:r>
            <a:r>
              <a:rPr lang="ja-JP" altLang="en-US" sz="2800" dirty="0" smtClean="0">
                <a:cs typeface="Times New Roman" panose="02020603050405020304" pitchFamily="18" charset="0"/>
              </a:rPr>
              <a:t>に応じて動かして</a:t>
            </a:r>
            <a:r>
              <a:rPr lang="en-US" altLang="ja-JP" sz="2800" dirty="0" smtClean="0">
                <a:cs typeface="Times New Roman" panose="02020603050405020304" pitchFamily="18" charset="0"/>
              </a:rPr>
              <a:t/>
            </a:r>
            <a:br>
              <a:rPr lang="en-US" altLang="ja-JP" sz="2800" dirty="0" smtClean="0">
                <a:cs typeface="Times New Roman" panose="02020603050405020304" pitchFamily="18" charset="0"/>
              </a:rPr>
            </a:br>
            <a:r>
              <a:rPr lang="ja-JP" altLang="en-US" sz="2800" dirty="0" smtClean="0">
                <a:cs typeface="Times New Roman" panose="02020603050405020304" pitchFamily="18" charset="0"/>
              </a:rPr>
              <a:t>子個体</a:t>
            </a:r>
            <a:r>
              <a:rPr lang="en-US" altLang="ja-JP" sz="2800" dirty="0" smtClean="0">
                <a:cs typeface="Times New Roman" panose="02020603050405020304" pitchFamily="18" charset="0"/>
              </a:rPr>
              <a:t>2</a:t>
            </a:r>
            <a:r>
              <a:rPr lang="ja-JP" altLang="en-US" sz="2800" dirty="0" smtClean="0">
                <a:cs typeface="Times New Roman" panose="02020603050405020304" pitchFamily="18" charset="0"/>
              </a:rPr>
              <a:t>を生成する．</a:t>
            </a:r>
            <a:endParaRPr lang="en-US" altLang="ja-JP" sz="2800" dirty="0" smtClean="0">
              <a:cs typeface="Times New Roman" panose="02020603050405020304" pitchFamily="18" charset="0"/>
            </a:endParaRPr>
          </a:p>
          <a:p>
            <a:endParaRPr lang="en-US" altLang="ja-JP" sz="2800" dirty="0">
              <a:cs typeface="Times New Roman" panose="02020603050405020304" pitchFamily="18" charset="0"/>
            </a:endParaRPr>
          </a:p>
          <a:p>
            <a:r>
              <a:rPr lang="ja-JP" altLang="en-US" sz="2800" dirty="0" smtClean="0">
                <a:cs typeface="Times New Roman" panose="02020603050405020304" pitchFamily="18" charset="0"/>
              </a:rPr>
              <a:t>子個体</a:t>
            </a:r>
            <a:r>
              <a:rPr lang="en-US" altLang="ja-JP" sz="2800" dirty="0" smtClean="0">
                <a:cs typeface="Times New Roman" panose="02020603050405020304" pitchFamily="18" charset="0"/>
              </a:rPr>
              <a:t>1</a:t>
            </a:r>
            <a:r>
              <a:rPr lang="ja-JP" altLang="en-US" sz="2800" dirty="0" smtClean="0">
                <a:cs typeface="Times New Roman" panose="02020603050405020304" pitchFamily="18" charset="0"/>
              </a:rPr>
              <a:t>と</a:t>
            </a:r>
            <a:r>
              <a:rPr lang="en-US" altLang="ja-JP" sz="2800" dirty="0" smtClean="0">
                <a:cs typeface="Times New Roman" panose="02020603050405020304" pitchFamily="18" charset="0"/>
              </a:rPr>
              <a:t>2</a:t>
            </a:r>
            <a:r>
              <a:rPr lang="ja-JP" altLang="en-US" sz="2800" dirty="0" smtClean="0">
                <a:cs typeface="Times New Roman" panose="02020603050405020304" pitchFamily="18" charset="0"/>
              </a:rPr>
              <a:t>で一様交叉を行う．</a:t>
            </a:r>
            <a:endParaRPr lang="ja-JP" altLang="en-US" sz="2800" dirty="0">
              <a:cs typeface="Times New Roman" panose="02020603050405020304" pitchFamily="18" charset="0"/>
            </a:endParaRPr>
          </a:p>
          <a:p>
            <a:endParaRPr kumimoji="1" lang="ja-JP" altLang="en-US" dirty="0">
              <a:cs typeface="Times New Roman" panose="02020603050405020304" pitchFamily="18" charset="0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3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9079469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SBX(</a:t>
            </a:r>
            <a:r>
              <a:rPr kumimoji="1" lang="ja-JP" altLang="en-US" dirty="0" smtClean="0"/>
              <a:t>合わせ実験で使用</a:t>
            </a:r>
            <a:r>
              <a:rPr kumimoji="1" lang="en-US" altLang="ja-JP" dirty="0" smtClean="0"/>
              <a:t>)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sz="2800" dirty="0"/>
              <a:t>各決定変数に対して，</a:t>
            </a:r>
            <a:endParaRPr lang="en-US" altLang="ja-JP" sz="2800" dirty="0"/>
          </a:p>
          <a:p>
            <a:pPr marL="355600"/>
            <a:r>
              <a:rPr lang="ja-JP" altLang="en-US" sz="2800" dirty="0" smtClean="0"/>
              <a:t>確率</a:t>
            </a:r>
            <a:r>
              <a:rPr lang="en-US" altLang="ja-JP" sz="2800" dirty="0"/>
              <a:t>1/2</a:t>
            </a:r>
            <a:r>
              <a:rPr lang="ja-JP" altLang="en-US" sz="2800" dirty="0" smtClean="0"/>
              <a:t>で</a:t>
            </a:r>
            <a:endParaRPr lang="en-US" altLang="ja-JP" sz="2800" dirty="0" smtClean="0"/>
          </a:p>
          <a:p>
            <a:pPr marL="712788"/>
            <a:r>
              <a:rPr lang="ja-JP" altLang="en-US" sz="2800" dirty="0">
                <a:cs typeface="Times New Roman" panose="02020603050405020304" pitchFamily="18" charset="0"/>
              </a:rPr>
              <a:t>親個体</a:t>
            </a:r>
            <a:r>
              <a:rPr lang="en-US" altLang="ja-JP" sz="2800" dirty="0">
                <a:cs typeface="Times New Roman" panose="02020603050405020304" pitchFamily="18" charset="0"/>
              </a:rPr>
              <a:t>1</a:t>
            </a:r>
            <a:r>
              <a:rPr lang="ja-JP" altLang="en-US" sz="2800" dirty="0">
                <a:cs typeface="Times New Roman" panose="02020603050405020304" pitchFamily="18" charset="0"/>
              </a:rPr>
              <a:t>の決定変数を，親個体</a:t>
            </a:r>
            <a:r>
              <a:rPr lang="en-US" altLang="ja-JP" sz="2800" dirty="0">
                <a:cs typeface="Times New Roman" panose="02020603050405020304" pitchFamily="18" charset="0"/>
              </a:rPr>
              <a:t>2</a:t>
            </a:r>
            <a:r>
              <a:rPr lang="ja-JP" altLang="en-US" sz="2800" dirty="0">
                <a:cs typeface="Times New Roman" panose="02020603050405020304" pitchFamily="18" charset="0"/>
              </a:rPr>
              <a:t>に応じて動かして</a:t>
            </a:r>
            <a:r>
              <a:rPr lang="en-US" altLang="ja-JP" sz="2800" dirty="0">
                <a:cs typeface="Times New Roman" panose="02020603050405020304" pitchFamily="18" charset="0"/>
              </a:rPr>
              <a:t/>
            </a:r>
            <a:br>
              <a:rPr lang="en-US" altLang="ja-JP" sz="2800" dirty="0">
                <a:cs typeface="Times New Roman" panose="02020603050405020304" pitchFamily="18" charset="0"/>
              </a:rPr>
            </a:br>
            <a:r>
              <a:rPr lang="ja-JP" altLang="en-US" sz="2800" dirty="0">
                <a:cs typeface="Times New Roman" panose="02020603050405020304" pitchFamily="18" charset="0"/>
              </a:rPr>
              <a:t>子個体</a:t>
            </a:r>
            <a:r>
              <a:rPr lang="en-US" altLang="ja-JP" sz="2800" dirty="0">
                <a:cs typeface="Times New Roman" panose="02020603050405020304" pitchFamily="18" charset="0"/>
              </a:rPr>
              <a:t>1</a:t>
            </a:r>
            <a:r>
              <a:rPr lang="ja-JP" altLang="en-US" sz="2800" dirty="0">
                <a:cs typeface="Times New Roman" panose="02020603050405020304" pitchFamily="18" charset="0"/>
              </a:rPr>
              <a:t>を生成する．</a:t>
            </a:r>
            <a:endParaRPr lang="en-US" altLang="ja-JP" sz="2800" dirty="0">
              <a:cs typeface="Times New Roman" panose="02020603050405020304" pitchFamily="18" charset="0"/>
            </a:endParaRPr>
          </a:p>
          <a:p>
            <a:pPr marL="712788"/>
            <a:r>
              <a:rPr lang="ja-JP" altLang="en-US" sz="2800" dirty="0">
                <a:cs typeface="Times New Roman" panose="02020603050405020304" pitchFamily="18" charset="0"/>
              </a:rPr>
              <a:t>親個体</a:t>
            </a:r>
            <a:r>
              <a:rPr lang="en-US" altLang="ja-JP" sz="2800" dirty="0">
                <a:cs typeface="Times New Roman" panose="02020603050405020304" pitchFamily="18" charset="0"/>
              </a:rPr>
              <a:t>2</a:t>
            </a:r>
            <a:r>
              <a:rPr lang="ja-JP" altLang="en-US" sz="2800" dirty="0">
                <a:cs typeface="Times New Roman" panose="02020603050405020304" pitchFamily="18" charset="0"/>
              </a:rPr>
              <a:t>の決定変数を，親個体</a:t>
            </a:r>
            <a:r>
              <a:rPr lang="en-US" altLang="ja-JP" sz="2800" dirty="0">
                <a:cs typeface="Times New Roman" panose="02020603050405020304" pitchFamily="18" charset="0"/>
              </a:rPr>
              <a:t>1</a:t>
            </a:r>
            <a:r>
              <a:rPr lang="ja-JP" altLang="en-US" sz="2800" dirty="0">
                <a:cs typeface="Times New Roman" panose="02020603050405020304" pitchFamily="18" charset="0"/>
              </a:rPr>
              <a:t>に応じて動かして</a:t>
            </a:r>
            <a:r>
              <a:rPr lang="en-US" altLang="ja-JP" sz="2800" dirty="0">
                <a:cs typeface="Times New Roman" panose="02020603050405020304" pitchFamily="18" charset="0"/>
              </a:rPr>
              <a:t/>
            </a:r>
            <a:br>
              <a:rPr lang="en-US" altLang="ja-JP" sz="2800" dirty="0">
                <a:cs typeface="Times New Roman" panose="02020603050405020304" pitchFamily="18" charset="0"/>
              </a:rPr>
            </a:br>
            <a:r>
              <a:rPr lang="ja-JP" altLang="en-US" sz="2800" dirty="0">
                <a:cs typeface="Times New Roman" panose="02020603050405020304" pitchFamily="18" charset="0"/>
              </a:rPr>
              <a:t>子個体</a:t>
            </a:r>
            <a:r>
              <a:rPr lang="en-US" altLang="ja-JP" sz="2800" dirty="0">
                <a:cs typeface="Times New Roman" panose="02020603050405020304" pitchFamily="18" charset="0"/>
              </a:rPr>
              <a:t>2</a:t>
            </a:r>
            <a:r>
              <a:rPr lang="ja-JP" altLang="en-US" sz="2800" dirty="0">
                <a:cs typeface="Times New Roman" panose="02020603050405020304" pitchFamily="18" charset="0"/>
              </a:rPr>
              <a:t>を生成する</a:t>
            </a:r>
            <a:r>
              <a:rPr lang="ja-JP" altLang="en-US" sz="2800" dirty="0" smtClean="0">
                <a:cs typeface="Times New Roman" panose="02020603050405020304" pitchFamily="18" charset="0"/>
              </a:rPr>
              <a:t>．</a:t>
            </a:r>
            <a:endParaRPr lang="en-US" altLang="ja-JP" sz="2800" dirty="0" smtClean="0"/>
          </a:p>
          <a:p>
            <a:pPr marL="712788"/>
            <a:r>
              <a:rPr lang="ja-JP" altLang="en-US" sz="2800" dirty="0" smtClean="0">
                <a:cs typeface="Times New Roman" panose="02020603050405020304" pitchFamily="18" charset="0"/>
              </a:rPr>
              <a:t>子</a:t>
            </a:r>
            <a:r>
              <a:rPr lang="ja-JP" altLang="en-US" sz="2800" dirty="0">
                <a:cs typeface="Times New Roman" panose="02020603050405020304" pitchFamily="18" charset="0"/>
              </a:rPr>
              <a:t>個体</a:t>
            </a:r>
            <a:r>
              <a:rPr lang="en-US" altLang="ja-JP" sz="2800" dirty="0" smtClean="0">
                <a:cs typeface="Times New Roman" panose="02020603050405020304" pitchFamily="18" charset="0"/>
              </a:rPr>
              <a:t>1</a:t>
            </a:r>
            <a:r>
              <a:rPr lang="ja-JP" altLang="en-US" sz="2800" dirty="0" smtClean="0">
                <a:cs typeface="Times New Roman" panose="02020603050405020304" pitchFamily="18" charset="0"/>
              </a:rPr>
              <a:t>は生成した値の小さい方を，子個体</a:t>
            </a:r>
            <a:r>
              <a:rPr lang="en-US" altLang="ja-JP" sz="2800" dirty="0" smtClean="0">
                <a:cs typeface="Times New Roman" panose="02020603050405020304" pitchFamily="18" charset="0"/>
              </a:rPr>
              <a:t>2</a:t>
            </a:r>
            <a:r>
              <a:rPr lang="ja-JP" altLang="en-US" sz="2800" dirty="0" smtClean="0">
                <a:cs typeface="Times New Roman" panose="02020603050405020304" pitchFamily="18" charset="0"/>
              </a:rPr>
              <a:t>は</a:t>
            </a:r>
            <a:r>
              <a:rPr lang="en-US" altLang="ja-JP" sz="2800" dirty="0" smtClean="0">
                <a:cs typeface="Times New Roman" panose="02020603050405020304" pitchFamily="18" charset="0"/>
              </a:rPr>
              <a:t/>
            </a:r>
            <a:br>
              <a:rPr lang="en-US" altLang="ja-JP" sz="2800" dirty="0" smtClean="0">
                <a:cs typeface="Times New Roman" panose="02020603050405020304" pitchFamily="18" charset="0"/>
              </a:rPr>
            </a:br>
            <a:r>
              <a:rPr lang="ja-JP" altLang="en-US" sz="2800" dirty="0" smtClean="0">
                <a:cs typeface="Times New Roman" panose="02020603050405020304" pitchFamily="18" charset="0"/>
              </a:rPr>
              <a:t>生成した値の大きい方を割り当てる．</a:t>
            </a:r>
            <a:endParaRPr lang="en-US" altLang="ja-JP" sz="2800" dirty="0" smtClean="0"/>
          </a:p>
          <a:p>
            <a:pPr marL="712788" indent="-357188"/>
            <a:r>
              <a:rPr lang="ja-JP" altLang="en-US" sz="2800" dirty="0" smtClean="0">
                <a:cs typeface="Times New Roman" panose="02020603050405020304" pitchFamily="18" charset="0"/>
              </a:rPr>
              <a:t>確率</a:t>
            </a:r>
            <a:r>
              <a:rPr lang="en-US" altLang="ja-JP" sz="2800" dirty="0" smtClean="0">
                <a:cs typeface="Times New Roman" panose="02020603050405020304" pitchFamily="18" charset="0"/>
              </a:rPr>
              <a:t>1/2</a:t>
            </a:r>
            <a:r>
              <a:rPr lang="ja-JP" altLang="en-US" sz="2800" dirty="0" smtClean="0">
                <a:cs typeface="Times New Roman" panose="02020603050405020304" pitchFamily="18" charset="0"/>
              </a:rPr>
              <a:t>で</a:t>
            </a:r>
            <a:endParaRPr lang="en-US" altLang="ja-JP" sz="2800" dirty="0" smtClean="0">
              <a:cs typeface="Times New Roman" panose="02020603050405020304" pitchFamily="18" charset="0"/>
            </a:endParaRPr>
          </a:p>
          <a:p>
            <a:pPr marL="712788"/>
            <a:r>
              <a:rPr lang="ja-JP" altLang="en-US" sz="2800" dirty="0" smtClean="0">
                <a:cs typeface="Times New Roman" panose="02020603050405020304" pitchFamily="18" charset="0"/>
              </a:rPr>
              <a:t>子個体</a:t>
            </a:r>
            <a:r>
              <a:rPr lang="en-US" altLang="ja-JP" sz="2800" dirty="0">
                <a:cs typeface="Times New Roman" panose="02020603050405020304" pitchFamily="18" charset="0"/>
              </a:rPr>
              <a:t>1</a:t>
            </a:r>
            <a:r>
              <a:rPr lang="ja-JP" altLang="en-US" sz="2800" dirty="0" smtClean="0">
                <a:cs typeface="Times New Roman" panose="02020603050405020304" pitchFamily="18" charset="0"/>
              </a:rPr>
              <a:t>は親個体</a:t>
            </a:r>
            <a:r>
              <a:rPr lang="en-US" altLang="ja-JP" sz="2800" dirty="0" smtClean="0">
                <a:cs typeface="Times New Roman" panose="02020603050405020304" pitchFamily="18" charset="0"/>
              </a:rPr>
              <a:t>2</a:t>
            </a:r>
            <a:r>
              <a:rPr lang="ja-JP" altLang="en-US" sz="2800" dirty="0" smtClean="0">
                <a:cs typeface="Times New Roman" panose="02020603050405020304" pitchFamily="18" charset="0"/>
              </a:rPr>
              <a:t>の値を，子個体</a:t>
            </a:r>
            <a:r>
              <a:rPr lang="en-US" altLang="ja-JP" sz="2800" dirty="0" smtClean="0">
                <a:cs typeface="Times New Roman" panose="02020603050405020304" pitchFamily="18" charset="0"/>
              </a:rPr>
              <a:t>2</a:t>
            </a:r>
            <a:r>
              <a:rPr lang="ja-JP" altLang="en-US" sz="2800" dirty="0" smtClean="0">
                <a:cs typeface="Times New Roman" panose="02020603050405020304" pitchFamily="18" charset="0"/>
              </a:rPr>
              <a:t>は親個体</a:t>
            </a:r>
            <a:r>
              <a:rPr lang="en-US" altLang="ja-JP" sz="2800" dirty="0" smtClean="0">
                <a:cs typeface="Times New Roman" panose="02020603050405020304" pitchFamily="18" charset="0"/>
              </a:rPr>
              <a:t>1</a:t>
            </a:r>
            <a:r>
              <a:rPr lang="ja-JP" altLang="en-US" sz="2800" dirty="0" smtClean="0">
                <a:cs typeface="Times New Roman" panose="02020603050405020304" pitchFamily="18" charset="0"/>
              </a:rPr>
              <a:t>の</a:t>
            </a:r>
            <a:r>
              <a:rPr lang="en-US" altLang="ja-JP" sz="2800" dirty="0" smtClean="0">
                <a:cs typeface="Times New Roman" panose="02020603050405020304" pitchFamily="18" charset="0"/>
              </a:rPr>
              <a:t/>
            </a:r>
            <a:br>
              <a:rPr lang="en-US" altLang="ja-JP" sz="2800" dirty="0" smtClean="0">
                <a:cs typeface="Times New Roman" panose="02020603050405020304" pitchFamily="18" charset="0"/>
              </a:rPr>
            </a:br>
            <a:r>
              <a:rPr lang="ja-JP" altLang="en-US" sz="2800" dirty="0" smtClean="0">
                <a:cs typeface="Times New Roman" panose="02020603050405020304" pitchFamily="18" charset="0"/>
              </a:rPr>
              <a:t>値を割り当てる．</a:t>
            </a:r>
            <a:endParaRPr lang="en-US" altLang="ja-JP" sz="2800" dirty="0" smtClean="0">
              <a:cs typeface="Times New Roman" panose="02020603050405020304" pitchFamily="18" charset="0"/>
            </a:endParaRPr>
          </a:p>
          <a:p>
            <a:pPr marL="712788"/>
            <a:endParaRPr lang="en-US" altLang="ja-JP" sz="2800" dirty="0" smtClean="0">
              <a:cs typeface="Times New Roman" panose="02020603050405020304" pitchFamily="18" charset="0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4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08456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SBX(</a:t>
            </a:r>
            <a:r>
              <a:rPr lang="ja-JP" altLang="en-US" dirty="0"/>
              <a:t>合わせ実験で使用</a:t>
            </a:r>
            <a:r>
              <a:rPr lang="en-US" altLang="ja-JP" dirty="0"/>
              <a:t>)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 smtClean="0"/>
              <a:t>ex</a:t>
            </a:r>
            <a:r>
              <a:rPr kumimoji="1" lang="ja-JP" altLang="en-US" dirty="0" err="1" smtClean="0"/>
              <a:t>．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5</a:t>
            </a:fld>
            <a:endParaRPr kumimoji="1" lang="ja-JP" altLang="en-US" dirty="0"/>
          </a:p>
        </p:txBody>
      </p:sp>
      <p:grpSp>
        <p:nvGrpSpPr>
          <p:cNvPr id="16" name="グループ化 15"/>
          <p:cNvGrpSpPr/>
          <p:nvPr/>
        </p:nvGrpSpPr>
        <p:grpSpPr>
          <a:xfrm>
            <a:off x="141206" y="2505693"/>
            <a:ext cx="4333229" cy="3628236"/>
            <a:chOff x="687306" y="2505693"/>
            <a:chExt cx="4333229" cy="3628236"/>
          </a:xfrm>
        </p:grpSpPr>
        <p:sp>
          <p:nvSpPr>
            <p:cNvPr id="5" name="テキスト ボックス 4"/>
            <p:cNvSpPr txBox="1"/>
            <p:nvPr/>
          </p:nvSpPr>
          <p:spPr>
            <a:xfrm>
              <a:off x="777044" y="2505694"/>
              <a:ext cx="1794753" cy="95410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2800" dirty="0" smtClean="0"/>
                <a:t>親個体</a:t>
              </a:r>
              <a:r>
                <a:rPr kumimoji="1" lang="en-US" altLang="ja-JP" sz="2800" dirty="0" smtClean="0"/>
                <a:t>1</a:t>
              </a:r>
            </a:p>
            <a:p>
              <a:pPr algn="ctr"/>
              <a:r>
                <a:rPr lang="en-US" altLang="ja-JP" sz="2800" dirty="0" smtClean="0"/>
                <a:t>0.2</a:t>
              </a:r>
              <a:r>
                <a:rPr lang="en-US" altLang="ja-JP" sz="2800" dirty="0"/>
                <a:t>5</a:t>
              </a:r>
              <a:endParaRPr kumimoji="1" lang="ja-JP" altLang="en-US" sz="2800" dirty="0" smtClean="0"/>
            </a:p>
          </p:txBody>
        </p:sp>
        <p:sp>
          <p:nvSpPr>
            <p:cNvPr id="6" name="テキスト ボックス 5"/>
            <p:cNvSpPr txBox="1"/>
            <p:nvPr/>
          </p:nvSpPr>
          <p:spPr>
            <a:xfrm>
              <a:off x="3136045" y="2505693"/>
              <a:ext cx="1794753" cy="95410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2800" dirty="0" smtClean="0"/>
                <a:t>親個体</a:t>
              </a:r>
              <a:r>
                <a:rPr lang="en-US" altLang="ja-JP" sz="2800" dirty="0"/>
                <a:t>2</a:t>
              </a:r>
              <a:endParaRPr kumimoji="1" lang="en-US" altLang="ja-JP" sz="2800" dirty="0" smtClean="0"/>
            </a:p>
            <a:p>
              <a:pPr algn="ctr"/>
              <a:r>
                <a:rPr lang="en-US" altLang="ja-JP" sz="2800" dirty="0" smtClean="0"/>
                <a:t>0.75</a:t>
              </a:r>
              <a:endParaRPr kumimoji="1" lang="ja-JP" altLang="en-US" sz="2800" dirty="0" smtClean="0"/>
            </a:p>
          </p:txBody>
        </p:sp>
        <p:sp>
          <p:nvSpPr>
            <p:cNvPr id="9" name="テキスト ボックス 8"/>
            <p:cNvSpPr txBox="1"/>
            <p:nvPr/>
          </p:nvSpPr>
          <p:spPr>
            <a:xfrm>
              <a:off x="687306" y="5118266"/>
              <a:ext cx="1974228" cy="1015663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800" dirty="0" smtClean="0"/>
                <a:t>子個体</a:t>
              </a:r>
              <a:r>
                <a:rPr lang="en-US" altLang="ja-JP" sz="2800" dirty="0" smtClean="0"/>
                <a:t>1</a:t>
              </a:r>
              <a:endParaRPr kumimoji="1" lang="en-US" altLang="ja-JP" sz="2800" dirty="0" smtClean="0"/>
            </a:p>
            <a:p>
              <a:pPr algn="ctr"/>
              <a:r>
                <a:rPr lang="en-US" altLang="ja-JP" sz="3200" b="1" dirty="0" smtClean="0"/>
                <a:t>0.2</a:t>
              </a:r>
              <a:endParaRPr kumimoji="1" lang="ja-JP" altLang="en-US" sz="2800" b="1" dirty="0" smtClean="0"/>
            </a:p>
          </p:txBody>
        </p:sp>
        <p:sp>
          <p:nvSpPr>
            <p:cNvPr id="10" name="テキスト ボックス 9"/>
            <p:cNvSpPr txBox="1"/>
            <p:nvPr/>
          </p:nvSpPr>
          <p:spPr>
            <a:xfrm>
              <a:off x="3046307" y="5118265"/>
              <a:ext cx="1974228" cy="1015663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800" dirty="0" smtClean="0"/>
                <a:t>子個体</a:t>
              </a:r>
              <a:r>
                <a:rPr lang="en-US" altLang="ja-JP" sz="2800" dirty="0" smtClean="0"/>
                <a:t>2</a:t>
              </a:r>
              <a:endParaRPr kumimoji="1" lang="en-US" altLang="ja-JP" sz="2800" dirty="0" smtClean="0"/>
            </a:p>
            <a:p>
              <a:pPr algn="ctr"/>
              <a:r>
                <a:rPr lang="en-US" altLang="ja-JP" sz="3200" b="1" dirty="0" smtClean="0"/>
                <a:t>0.8</a:t>
              </a:r>
              <a:endParaRPr kumimoji="1" lang="ja-JP" altLang="en-US" sz="2800" b="1" dirty="0" smtClean="0"/>
            </a:p>
          </p:txBody>
        </p:sp>
        <p:cxnSp>
          <p:nvCxnSpPr>
            <p:cNvPr id="12" name="直線矢印コネクタ 11"/>
            <p:cNvCxnSpPr/>
            <p:nvPr/>
          </p:nvCxnSpPr>
          <p:spPr>
            <a:xfrm flipH="1">
              <a:off x="1674420" y="3459801"/>
              <a:ext cx="1" cy="1658465"/>
            </a:xfrm>
            <a:prstGeom prst="straightConnector1">
              <a:avLst/>
            </a:prstGeom>
            <a:ln w="1905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矢印コネクタ 13"/>
            <p:cNvCxnSpPr>
              <a:stCxn id="6" idx="2"/>
              <a:endCxn id="10" idx="0"/>
            </p:cNvCxnSpPr>
            <p:nvPr/>
          </p:nvCxnSpPr>
          <p:spPr>
            <a:xfrm flipH="1">
              <a:off x="4033421" y="3459800"/>
              <a:ext cx="1" cy="1658465"/>
            </a:xfrm>
            <a:prstGeom prst="straightConnector1">
              <a:avLst/>
            </a:prstGeom>
            <a:ln w="1905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テキスト ボックス 14"/>
            <p:cNvSpPr txBox="1"/>
            <p:nvPr/>
          </p:nvSpPr>
          <p:spPr>
            <a:xfrm>
              <a:off x="2358621" y="4027422"/>
              <a:ext cx="990600" cy="52322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2800" dirty="0" smtClean="0"/>
                <a:t>SBX</a:t>
              </a:r>
              <a:endParaRPr kumimoji="1" lang="ja-JP" altLang="en-US" sz="2800" dirty="0" smtClean="0"/>
            </a:p>
          </p:txBody>
        </p:sp>
      </p:grpSp>
      <p:grpSp>
        <p:nvGrpSpPr>
          <p:cNvPr id="25" name="グループ化 24"/>
          <p:cNvGrpSpPr/>
          <p:nvPr/>
        </p:nvGrpSpPr>
        <p:grpSpPr>
          <a:xfrm>
            <a:off x="4767585" y="2505693"/>
            <a:ext cx="4333229" cy="3628236"/>
            <a:chOff x="687306" y="2505693"/>
            <a:chExt cx="4333229" cy="3628236"/>
          </a:xfrm>
        </p:grpSpPr>
        <p:sp>
          <p:nvSpPr>
            <p:cNvPr id="26" name="テキスト ボックス 25"/>
            <p:cNvSpPr txBox="1"/>
            <p:nvPr/>
          </p:nvSpPr>
          <p:spPr>
            <a:xfrm>
              <a:off x="777044" y="2505694"/>
              <a:ext cx="1794753" cy="95410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2800" dirty="0" smtClean="0"/>
                <a:t>親個体</a:t>
              </a:r>
              <a:r>
                <a:rPr kumimoji="1" lang="en-US" altLang="ja-JP" sz="2800" dirty="0" smtClean="0"/>
                <a:t>1</a:t>
              </a:r>
            </a:p>
            <a:p>
              <a:pPr algn="ctr"/>
              <a:r>
                <a:rPr lang="en-US" altLang="ja-JP" sz="2800" dirty="0" smtClean="0"/>
                <a:t>0.2</a:t>
              </a:r>
              <a:r>
                <a:rPr lang="en-US" altLang="ja-JP" sz="2800" dirty="0"/>
                <a:t>5</a:t>
              </a:r>
              <a:endParaRPr kumimoji="1" lang="ja-JP" altLang="en-US" sz="2800" dirty="0" smtClean="0"/>
            </a:p>
          </p:txBody>
        </p:sp>
        <p:sp>
          <p:nvSpPr>
            <p:cNvPr id="27" name="テキスト ボックス 26"/>
            <p:cNvSpPr txBox="1"/>
            <p:nvPr/>
          </p:nvSpPr>
          <p:spPr>
            <a:xfrm>
              <a:off x="3136045" y="2505693"/>
              <a:ext cx="1794753" cy="95410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2800" dirty="0" smtClean="0"/>
                <a:t>親個体</a:t>
              </a:r>
              <a:r>
                <a:rPr lang="en-US" altLang="ja-JP" sz="2800" dirty="0"/>
                <a:t>2</a:t>
              </a:r>
              <a:endParaRPr kumimoji="1" lang="en-US" altLang="ja-JP" sz="2800" dirty="0" smtClean="0"/>
            </a:p>
            <a:p>
              <a:pPr algn="ctr"/>
              <a:r>
                <a:rPr lang="en-US" altLang="ja-JP" sz="2800" dirty="0" smtClean="0"/>
                <a:t>0.75</a:t>
              </a:r>
              <a:endParaRPr kumimoji="1" lang="ja-JP" altLang="en-US" sz="2800" dirty="0" smtClean="0"/>
            </a:p>
          </p:txBody>
        </p:sp>
        <p:sp>
          <p:nvSpPr>
            <p:cNvPr id="28" name="テキスト ボックス 27"/>
            <p:cNvSpPr txBox="1"/>
            <p:nvPr/>
          </p:nvSpPr>
          <p:spPr>
            <a:xfrm>
              <a:off x="687306" y="5118266"/>
              <a:ext cx="1974228" cy="1015663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800" dirty="0" smtClean="0"/>
                <a:t>子個体</a:t>
              </a:r>
              <a:r>
                <a:rPr lang="en-US" altLang="ja-JP" sz="2800" dirty="0" smtClean="0"/>
                <a:t>1</a:t>
              </a:r>
              <a:endParaRPr kumimoji="1" lang="en-US" altLang="ja-JP" sz="2800" dirty="0" smtClean="0"/>
            </a:p>
            <a:p>
              <a:pPr algn="ctr"/>
              <a:r>
                <a:rPr lang="en-US" altLang="ja-JP" sz="3200" b="1" dirty="0" smtClean="0"/>
                <a:t>0.75</a:t>
              </a:r>
              <a:endParaRPr kumimoji="1" lang="ja-JP" altLang="en-US" sz="2800" b="1" dirty="0" smtClean="0"/>
            </a:p>
          </p:txBody>
        </p:sp>
        <p:sp>
          <p:nvSpPr>
            <p:cNvPr id="29" name="テキスト ボックス 28"/>
            <p:cNvSpPr txBox="1"/>
            <p:nvPr/>
          </p:nvSpPr>
          <p:spPr>
            <a:xfrm>
              <a:off x="3046307" y="5118265"/>
              <a:ext cx="1974228" cy="1015663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800" dirty="0" smtClean="0"/>
                <a:t>子個体</a:t>
              </a:r>
              <a:r>
                <a:rPr lang="en-US" altLang="ja-JP" sz="2800" dirty="0" smtClean="0"/>
                <a:t>2</a:t>
              </a:r>
              <a:endParaRPr kumimoji="1" lang="en-US" altLang="ja-JP" sz="2800" dirty="0" smtClean="0"/>
            </a:p>
            <a:p>
              <a:pPr algn="ctr"/>
              <a:r>
                <a:rPr lang="en-US" altLang="ja-JP" sz="3200" b="1" dirty="0" smtClean="0"/>
                <a:t>0.25</a:t>
              </a:r>
              <a:endParaRPr kumimoji="1" lang="ja-JP" altLang="en-US" sz="2800" b="1" dirty="0" smtClean="0"/>
            </a:p>
          </p:txBody>
        </p:sp>
        <p:cxnSp>
          <p:nvCxnSpPr>
            <p:cNvPr id="30" name="直線矢印コネクタ 29"/>
            <p:cNvCxnSpPr>
              <a:endCxn id="29" idx="0"/>
            </p:cNvCxnSpPr>
            <p:nvPr/>
          </p:nvCxnSpPr>
          <p:spPr>
            <a:xfrm>
              <a:off x="1674422" y="3459801"/>
              <a:ext cx="2358999" cy="1658464"/>
            </a:xfrm>
            <a:prstGeom prst="straightConnector1">
              <a:avLst/>
            </a:prstGeom>
            <a:ln w="1905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線矢印コネクタ 30"/>
            <p:cNvCxnSpPr>
              <a:stCxn id="27" idx="2"/>
              <a:endCxn id="28" idx="0"/>
            </p:cNvCxnSpPr>
            <p:nvPr/>
          </p:nvCxnSpPr>
          <p:spPr>
            <a:xfrm flipH="1">
              <a:off x="1674420" y="3459800"/>
              <a:ext cx="2359002" cy="1658466"/>
            </a:xfrm>
            <a:prstGeom prst="straightConnector1">
              <a:avLst/>
            </a:prstGeom>
            <a:ln w="1905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テキスト ボックス 31"/>
            <p:cNvSpPr txBox="1"/>
            <p:nvPr/>
          </p:nvSpPr>
          <p:spPr>
            <a:xfrm>
              <a:off x="2254608" y="3309525"/>
              <a:ext cx="1198626" cy="95410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2800" dirty="0" smtClean="0"/>
                <a:t>Swap</a:t>
              </a:r>
              <a:endParaRPr kumimoji="1" lang="ja-JP" altLang="en-US" sz="2800" dirty="0" smtClean="0"/>
            </a:p>
          </p:txBody>
        </p:sp>
      </p:grpSp>
      <p:sp>
        <p:nvSpPr>
          <p:cNvPr id="37" name="正方形/長方形 36"/>
          <p:cNvSpPr/>
          <p:nvPr/>
        </p:nvSpPr>
        <p:spPr>
          <a:xfrm>
            <a:off x="228600" y="2244083"/>
            <a:ext cx="4156098" cy="3978917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テキスト ボックス 34"/>
          <p:cNvSpPr txBox="1"/>
          <p:nvPr/>
        </p:nvSpPr>
        <p:spPr>
          <a:xfrm>
            <a:off x="1582041" y="1982473"/>
            <a:ext cx="1451558" cy="52322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800" dirty="0" smtClean="0"/>
              <a:t>確率</a:t>
            </a:r>
            <a:r>
              <a:rPr kumimoji="1" lang="en-US" altLang="ja-JP" sz="2800" dirty="0" smtClean="0"/>
              <a:t>1/2</a:t>
            </a:r>
            <a:endParaRPr kumimoji="1" lang="ja-JP" altLang="en-US" sz="2800" dirty="0" smtClean="0"/>
          </a:p>
        </p:txBody>
      </p:sp>
      <p:sp>
        <p:nvSpPr>
          <p:cNvPr id="38" name="正方形/長方形 37"/>
          <p:cNvSpPr/>
          <p:nvPr/>
        </p:nvSpPr>
        <p:spPr>
          <a:xfrm>
            <a:off x="4856151" y="2244083"/>
            <a:ext cx="4156098" cy="3978917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テキスト ボックス 35"/>
          <p:cNvSpPr txBox="1"/>
          <p:nvPr/>
        </p:nvSpPr>
        <p:spPr>
          <a:xfrm>
            <a:off x="6208420" y="1982473"/>
            <a:ext cx="1451558" cy="52322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800" dirty="0" smtClean="0"/>
              <a:t>確率</a:t>
            </a:r>
            <a:r>
              <a:rPr kumimoji="1" lang="en-US" altLang="ja-JP" sz="2800" dirty="0" smtClean="0"/>
              <a:t>1/2</a:t>
            </a:r>
            <a:endParaRPr kumimoji="1" lang="ja-JP" alt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val="10568857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SBX</a:t>
            </a:r>
            <a:r>
              <a:rPr kumimoji="1" lang="ja-JP" altLang="en-US" dirty="0" smtClean="0"/>
              <a:t>の影響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/>
              <a:t>1</a:t>
            </a:r>
            <a:r>
              <a:rPr kumimoji="1" lang="ja-JP" altLang="en-US" dirty="0" smtClean="0"/>
              <a:t>次元で子個体の分布を確認</a:t>
            </a:r>
            <a:endParaRPr kumimoji="1" lang="en-US" altLang="ja-JP" dirty="0" smtClean="0"/>
          </a:p>
          <a:p>
            <a:r>
              <a:rPr lang="ja-JP" altLang="en-US" dirty="0" smtClean="0"/>
              <a:t>親</a:t>
            </a:r>
            <a:r>
              <a:rPr lang="ja-JP" altLang="en-US" dirty="0"/>
              <a:t>個体</a:t>
            </a:r>
            <a:r>
              <a:rPr lang="ja-JP" altLang="en-US" dirty="0" smtClean="0"/>
              <a:t>は</a:t>
            </a:r>
            <a:r>
              <a:rPr lang="en-US" altLang="ja-JP" dirty="0" smtClean="0"/>
              <a:t>{(0.25)</a:t>
            </a:r>
            <a:r>
              <a:rPr lang="ja-JP" altLang="en-US" dirty="0" err="1" smtClean="0"/>
              <a:t>，</a:t>
            </a:r>
            <a:r>
              <a:rPr lang="en-US" altLang="ja-JP" dirty="0" smtClean="0"/>
              <a:t>(0.75)}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6</a:t>
            </a:fld>
            <a:endParaRPr kumimoji="1" lang="ja-JP" altLang="en-US" dirty="0"/>
          </a:p>
        </p:txBody>
      </p:sp>
      <p:pic>
        <p:nvPicPr>
          <p:cNvPr id="5" name="図 4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9717" y="2817641"/>
            <a:ext cx="4445683" cy="3327163"/>
          </a:xfrm>
          <a:prstGeom prst="rect">
            <a:avLst/>
          </a:prstGeom>
        </p:spPr>
      </p:pic>
      <p:pic>
        <p:nvPicPr>
          <p:cNvPr id="6" name="図 5"/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217" y="2817640"/>
            <a:ext cx="4445683" cy="3327163"/>
          </a:xfrm>
          <a:prstGeom prst="rect">
            <a:avLst/>
          </a:prstGeom>
        </p:spPr>
      </p:pic>
      <p:sp>
        <p:nvSpPr>
          <p:cNvPr id="7" name="テキスト ボックス 6"/>
          <p:cNvSpPr txBox="1"/>
          <p:nvPr/>
        </p:nvSpPr>
        <p:spPr>
          <a:xfrm>
            <a:off x="964858" y="6029980"/>
            <a:ext cx="3200400" cy="52322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800" dirty="0" smtClean="0"/>
              <a:t>SBX</a:t>
            </a:r>
            <a:endParaRPr kumimoji="1" lang="ja-JP" altLang="en-US" sz="2800" dirty="0" smtClean="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5092358" y="6029980"/>
            <a:ext cx="3200400" cy="52322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800" dirty="0" err="1" smtClean="0"/>
              <a:t>SBX</a:t>
            </a:r>
            <a:r>
              <a:rPr lang="en-US" altLang="ja-JP" sz="2800" dirty="0" err="1"/>
              <a:t>_</a:t>
            </a:r>
            <a:r>
              <a:rPr kumimoji="1" lang="en-US" altLang="ja-JP" sz="2800" dirty="0" err="1" smtClean="0"/>
              <a:t>java</a:t>
            </a:r>
            <a:endParaRPr kumimoji="1" lang="ja-JP" alt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val="2321575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SBX</a:t>
            </a:r>
            <a:r>
              <a:rPr kumimoji="1" lang="ja-JP" altLang="en-US" dirty="0" smtClean="0"/>
              <a:t>の影響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 smtClean="0"/>
              <a:t>2</a:t>
            </a:r>
            <a:r>
              <a:rPr kumimoji="1" lang="ja-JP" altLang="en-US" dirty="0" smtClean="0"/>
              <a:t>次元で子個体の分布を確認</a:t>
            </a:r>
            <a:endParaRPr kumimoji="1" lang="en-US" altLang="ja-JP" dirty="0" smtClean="0"/>
          </a:p>
          <a:p>
            <a:r>
              <a:rPr lang="ja-JP" altLang="en-US" dirty="0"/>
              <a:t>親個体は</a:t>
            </a:r>
            <a:r>
              <a:rPr lang="en-US" altLang="ja-JP" dirty="0"/>
              <a:t>{(0.25</a:t>
            </a:r>
            <a:r>
              <a:rPr lang="ja-JP" altLang="en-US" dirty="0" err="1"/>
              <a:t>，</a:t>
            </a:r>
            <a:r>
              <a:rPr lang="en-US" altLang="ja-JP" dirty="0"/>
              <a:t>0.25)</a:t>
            </a:r>
            <a:r>
              <a:rPr lang="ja-JP" altLang="en-US" dirty="0" err="1"/>
              <a:t>，</a:t>
            </a:r>
            <a:r>
              <a:rPr lang="en-US" altLang="ja-JP" dirty="0"/>
              <a:t>(0.75</a:t>
            </a:r>
            <a:r>
              <a:rPr lang="ja-JP" altLang="en-US" dirty="0" err="1"/>
              <a:t>，</a:t>
            </a:r>
            <a:r>
              <a:rPr lang="en-US" altLang="ja-JP" dirty="0"/>
              <a:t>0.75)}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7</a:t>
            </a:fld>
            <a:endParaRPr kumimoji="1" lang="ja-JP" altLang="en-US" dirty="0"/>
          </a:p>
        </p:txBody>
      </p:sp>
      <p:pic>
        <p:nvPicPr>
          <p:cNvPr id="5" name="図 4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8977" y="2817641"/>
            <a:ext cx="3327163" cy="3327163"/>
          </a:xfrm>
          <a:prstGeom prst="rect">
            <a:avLst/>
          </a:prstGeom>
        </p:spPr>
      </p:pic>
      <p:pic>
        <p:nvPicPr>
          <p:cNvPr id="6" name="図 5"/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477" y="2817640"/>
            <a:ext cx="3327163" cy="3327163"/>
          </a:xfrm>
          <a:prstGeom prst="rect">
            <a:avLst/>
          </a:prstGeom>
        </p:spPr>
      </p:pic>
      <p:sp>
        <p:nvSpPr>
          <p:cNvPr id="7" name="テキスト ボックス 6"/>
          <p:cNvSpPr txBox="1"/>
          <p:nvPr/>
        </p:nvSpPr>
        <p:spPr>
          <a:xfrm>
            <a:off x="964858" y="6029980"/>
            <a:ext cx="3200400" cy="52322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800" dirty="0" smtClean="0"/>
              <a:t>SBX</a:t>
            </a:r>
            <a:endParaRPr kumimoji="1" lang="ja-JP" altLang="en-US" sz="2800" dirty="0" smtClean="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5092358" y="6029980"/>
            <a:ext cx="3200400" cy="52322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800" dirty="0" err="1" smtClean="0"/>
              <a:t>SBX</a:t>
            </a:r>
            <a:r>
              <a:rPr lang="en-US" altLang="ja-JP" sz="2800" dirty="0" err="1"/>
              <a:t>_</a:t>
            </a:r>
            <a:r>
              <a:rPr kumimoji="1" lang="en-US" altLang="ja-JP" sz="2800" dirty="0" err="1" smtClean="0"/>
              <a:t>java</a:t>
            </a:r>
            <a:endParaRPr kumimoji="1" lang="ja-JP" alt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val="2430071273"/>
      </p:ext>
    </p:extLst>
  </p:cSld>
  <p:clrMapOvr>
    <a:masterClrMapping/>
  </p:clrMapOvr>
</p:sld>
</file>

<file path=ppt/theme/theme1.xml><?xml version="1.0" encoding="utf-8"?>
<a:theme xmlns:a="http://schemas.openxmlformats.org/drawingml/2006/main" name="Theme_Lab">
  <a:themeElements>
    <a:clrScheme name="ユーザー定義 1">
      <a:dk1>
        <a:srgbClr val="000000"/>
      </a:dk1>
      <a:lt1>
        <a:srgbClr val="FFFAF5"/>
      </a:lt1>
      <a:dk2>
        <a:srgbClr val="000000"/>
      </a:dk2>
      <a:lt2>
        <a:srgbClr val="808080"/>
      </a:lt2>
      <a:accent1>
        <a:srgbClr val="FF1D38"/>
      </a:accent1>
      <a:accent2>
        <a:srgbClr val="333399"/>
      </a:accent2>
      <a:accent3>
        <a:srgbClr val="34ADFD"/>
      </a:accent3>
      <a:accent4>
        <a:srgbClr val="FFFF00"/>
      </a:accent4>
      <a:accent5>
        <a:srgbClr val="00B050"/>
      </a:accent5>
      <a:accent6>
        <a:srgbClr val="F93DD5"/>
      </a:accent6>
      <a:hlink>
        <a:srgbClr val="009999"/>
      </a:hlink>
      <a:folHlink>
        <a:srgbClr val="99CC00"/>
      </a:folHlink>
    </a:clrScheme>
    <a:fontScheme name="ユーザー定義 1">
      <a:majorFont>
        <a:latin typeface="Arial"/>
        <a:ea typeface="ＭＳ Ｐゴシック"/>
        <a:cs typeface=""/>
      </a:majorFont>
      <a:minorFont>
        <a:latin typeface="Arial"/>
        <a:ea typeface="ＭＳ P 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762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 w="19050">
          <a:noFill/>
        </a:ln>
      </a:spPr>
      <a:bodyPr wrap="square" rtlCol="0">
        <a:spAutoFit/>
      </a:bodyPr>
      <a:lstStyle>
        <a:defPPr algn="ctr">
          <a:defRPr kumimoji="1" sz="2800" dirty="0" smtClean="0"/>
        </a:defPPr>
      </a:lstStyle>
    </a:tx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_Lab" id="{3E27F71A-09F3-40FE-8C2D-54B13A3AB99C}" vid="{9AAC496F-98CF-44D0-8969-8E95277F123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Theme_lab</Template>
  <TotalTime>158</TotalTime>
  <Words>182</Words>
  <Application>Microsoft Office PowerPoint</Application>
  <PresentationFormat>画面に合わせる (4:3)</PresentationFormat>
  <Paragraphs>56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2" baseType="lpstr">
      <vt:lpstr>ＭＳ P ゴシック</vt:lpstr>
      <vt:lpstr>ＭＳ Ｐゴシック</vt:lpstr>
      <vt:lpstr>Arial</vt:lpstr>
      <vt:lpstr>Times New Roman</vt:lpstr>
      <vt:lpstr>Theme_Lab</vt:lpstr>
      <vt:lpstr>進捗報告(10/21)</vt:lpstr>
      <vt:lpstr>橋本さんのSBX実装に関して</vt:lpstr>
      <vt:lpstr>SBX(概要)</vt:lpstr>
      <vt:lpstr>SBX(合わせ実験で使用)</vt:lpstr>
      <vt:lpstr>SBX(合わせ実験で使用)</vt:lpstr>
      <vt:lpstr>SBXの影響</vt:lpstr>
      <vt:lpstr>SBXの影響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進捗報告(10/21)</dc:title>
  <dc:creator>瓜田 俊貴</dc:creator>
  <cp:lastModifiedBy>瓜田 俊貴</cp:lastModifiedBy>
  <cp:revision>6</cp:revision>
  <dcterms:created xsi:type="dcterms:W3CDTF">2020-10-20T15:49:47Z</dcterms:created>
  <dcterms:modified xsi:type="dcterms:W3CDTF">2020-10-20T18:28:47Z</dcterms:modified>
</cp:coreProperties>
</file>