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9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63" r:id="rId12"/>
    <p:sldId id="364" r:id="rId13"/>
    <p:sldId id="365" r:id="rId14"/>
    <p:sldId id="345" r:id="rId15"/>
    <p:sldId id="346" r:id="rId16"/>
    <p:sldId id="347" r:id="rId17"/>
    <p:sldId id="349" r:id="rId18"/>
    <p:sldId id="348" r:id="rId19"/>
    <p:sldId id="350" r:id="rId20"/>
    <p:sldId id="351" r:id="rId21"/>
    <p:sldId id="352" r:id="rId22"/>
    <p:sldId id="353" r:id="rId23"/>
    <p:sldId id="354" r:id="rId24"/>
    <p:sldId id="355" r:id="rId25"/>
    <p:sldId id="299" r:id="rId26"/>
    <p:sldId id="356" r:id="rId27"/>
    <p:sldId id="361" r:id="rId28"/>
    <p:sldId id="362" r:id="rId29"/>
    <p:sldId id="357" r:id="rId30"/>
    <p:sldId id="358" r:id="rId31"/>
    <p:sldId id="359" r:id="rId32"/>
    <p:sldId id="366" r:id="rId33"/>
    <p:sldId id="360" r:id="rId34"/>
    <p:sldId id="367" r:id="rId35"/>
    <p:sldId id="368" r:id="rId36"/>
    <p:sldId id="369" r:id="rId37"/>
    <p:sldId id="292" r:id="rId3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F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878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77637"/>
            <a:ext cx="77724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 baseline="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 baseline="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 baseline="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 baseline="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2.1213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英語論文発表</a:t>
            </a:r>
            <a:r>
              <a:rPr kumimoji="1" lang="en-US" altLang="ja-JP" dirty="0" smtClean="0"/>
              <a:t>(10/21)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 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775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Simultaneously Evolving Deep </a:t>
            </a:r>
            <a:r>
              <a:rPr lang="en-US" altLang="ja-JP" dirty="0" smtClean="0"/>
              <a:t>Reinforcement</a:t>
            </a:r>
            <a:r>
              <a:rPr lang="ja-JP" altLang="en-US" dirty="0"/>
              <a:t> </a:t>
            </a:r>
            <a:r>
              <a:rPr lang="en-US" altLang="ja-JP" dirty="0" smtClean="0"/>
              <a:t>Learning </a:t>
            </a:r>
            <a:r>
              <a:rPr lang="en-US" altLang="ja-JP" dirty="0"/>
              <a:t>Models using Multifactorial Optimization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dirty="0" err="1"/>
              <a:t>Aritz</a:t>
            </a:r>
            <a:r>
              <a:rPr lang="en-US" altLang="ja-JP" dirty="0"/>
              <a:t> D. </a:t>
            </a:r>
            <a:r>
              <a:rPr lang="en-US" altLang="ja-JP" dirty="0" err="1"/>
              <a:t>Martinezy</a:t>
            </a:r>
            <a:r>
              <a:rPr lang="en-US" altLang="ja-JP" dirty="0"/>
              <a:t>, </a:t>
            </a:r>
            <a:r>
              <a:rPr lang="en-US" altLang="ja-JP" dirty="0" err="1"/>
              <a:t>Eneko</a:t>
            </a:r>
            <a:r>
              <a:rPr lang="en-US" altLang="ja-JP" dirty="0"/>
              <a:t> </a:t>
            </a:r>
            <a:r>
              <a:rPr lang="en-US" altLang="ja-JP" dirty="0" err="1"/>
              <a:t>Osabay</a:t>
            </a:r>
            <a:r>
              <a:rPr lang="en-US" altLang="ja-JP" dirty="0"/>
              <a:t>, Javier Del </a:t>
            </a:r>
            <a:r>
              <a:rPr lang="en-US" altLang="ja-JP" dirty="0" err="1" smtClean="0"/>
              <a:t>Ser</a:t>
            </a:r>
            <a:r>
              <a:rPr lang="en-US" altLang="ja-JP" dirty="0" smtClean="0"/>
              <a:t>,  </a:t>
            </a:r>
            <a:r>
              <a:rPr lang="en-US" altLang="ja-JP" dirty="0"/>
              <a:t>and Francisco </a:t>
            </a:r>
            <a:r>
              <a:rPr lang="en-US" altLang="ja-JP" dirty="0" err="1"/>
              <a:t>Herrerax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ja-JP" dirty="0"/>
              <a:t>IEEE Conference on Evolutionary Computation 2020 </a:t>
            </a:r>
            <a:r>
              <a:rPr lang="en-US" altLang="ja-JP" dirty="0" smtClean="0"/>
              <a:t>(</a:t>
            </a:r>
            <a:r>
              <a:rPr lang="en-US" altLang="ja-JP" dirty="0">
                <a:hlinkClick r:id="rId2"/>
              </a:rPr>
              <a:t>arXiv:2002.12133</a:t>
            </a:r>
            <a:r>
              <a:rPr lang="en-US" altLang="ja-JP" dirty="0"/>
              <a:t> )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496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強化学習タスクで，</a:t>
            </a:r>
            <a:r>
              <a:rPr lang="en-US" altLang="ja-JP" dirty="0" smtClean="0"/>
              <a:t>DQL</a:t>
            </a:r>
            <a:r>
              <a:rPr lang="ja-JP" altLang="en-US" dirty="0" smtClean="0"/>
              <a:t>モデル</a:t>
            </a:r>
            <a:r>
              <a:rPr lang="en-US" altLang="ja-JP" dirty="0" smtClean="0"/>
              <a:t>(DQN)</a:t>
            </a:r>
            <a:r>
              <a:rPr lang="ja-JP" altLang="en-US" dirty="0" smtClean="0"/>
              <a:t>は優れた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性能を発揮している．</a:t>
            </a:r>
            <a:endParaRPr lang="en-US" altLang="ja-JP" dirty="0" smtClean="0"/>
          </a:p>
          <a:p>
            <a:r>
              <a:rPr kumimoji="1" lang="ja-JP" altLang="en-US" dirty="0" smtClean="0"/>
              <a:t>しかし環境情報の不足</a:t>
            </a:r>
            <a:r>
              <a:rPr lang="ja-JP" altLang="en-US" dirty="0"/>
              <a:t>から</a:t>
            </a:r>
            <a:r>
              <a:rPr lang="ja-JP" altLang="en-US" dirty="0" smtClean="0"/>
              <a:t>，高い性能をもつ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モデル</a:t>
            </a:r>
            <a:r>
              <a:rPr lang="ja-JP" altLang="en-US" dirty="0"/>
              <a:t>の生成</a:t>
            </a:r>
            <a:r>
              <a:rPr lang="ja-JP" altLang="en-US" dirty="0" smtClean="0"/>
              <a:t>は難しい．</a:t>
            </a:r>
            <a:endParaRPr kumimoji="1"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ja-JP" altLang="en-US" dirty="0" smtClean="0"/>
              <a:t>本論文は，上記の問題を扱うため</a:t>
            </a:r>
            <a:r>
              <a:rPr lang="en-US" altLang="ja-JP" dirty="0" smtClean="0">
                <a:solidFill>
                  <a:schemeClr val="accent1"/>
                </a:solidFill>
              </a:rPr>
              <a:t>MFEA</a:t>
            </a:r>
            <a:r>
              <a:rPr lang="ja-JP" altLang="en-US" dirty="0" smtClean="0">
                <a:solidFill>
                  <a:schemeClr val="accent1"/>
                </a:solidFill>
              </a:rPr>
              <a:t>で複数の</a:t>
            </a:r>
            <a:r>
              <a:rPr lang="en-US" altLang="ja-JP" dirty="0" smtClean="0">
                <a:solidFill>
                  <a:schemeClr val="accent1"/>
                </a:solidFill>
              </a:rPr>
              <a:t>DQN</a:t>
            </a:r>
            <a:r>
              <a:rPr lang="ja-JP" altLang="en-US" dirty="0" smtClean="0">
                <a:solidFill>
                  <a:schemeClr val="accent1"/>
                </a:solidFill>
              </a:rPr>
              <a:t>を最適化する</a:t>
            </a:r>
            <a:r>
              <a:rPr lang="ja-JP" altLang="en-US" dirty="0" smtClean="0"/>
              <a:t>アルゴリズムを提案する．また，転移学習を利用したパラメータの共有を考える．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8" name="下矢印 7"/>
          <p:cNvSpPr/>
          <p:nvPr/>
        </p:nvSpPr>
        <p:spPr>
          <a:xfrm>
            <a:off x="4332849" y="3815327"/>
            <a:ext cx="478301" cy="626651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51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lang="en-US" altLang="ja-JP" dirty="0" smtClean="0"/>
              <a:t>(</a:t>
            </a:r>
            <a:r>
              <a:rPr kumimoji="1" lang="en-US" altLang="ja-JP" dirty="0" smtClean="0"/>
              <a:t>MFEA)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交叉時に，一定確率</a:t>
            </a:r>
            <a:r>
              <a:rPr kumimoji="1" lang="en-US" altLang="ja-JP" dirty="0" smtClean="0"/>
              <a:t>(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で他タスクに割り当て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err="1" smtClean="0"/>
              <a:t>られた</a:t>
            </a:r>
            <a:r>
              <a:rPr kumimoji="1" lang="ja-JP" altLang="en-US" dirty="0" smtClean="0"/>
              <a:t>個体とも交叉</a:t>
            </a:r>
            <a:r>
              <a:rPr lang="en-US" altLang="ja-JP" dirty="0"/>
              <a:t>(</a:t>
            </a:r>
            <a:r>
              <a:rPr lang="ja-JP" altLang="en-US" dirty="0"/>
              <a:t>タスク間交叉</a:t>
            </a:r>
            <a:r>
              <a:rPr lang="en-US" altLang="ja-JP" dirty="0"/>
              <a:t>)</a:t>
            </a:r>
            <a:r>
              <a:rPr kumimoji="1" lang="ja-JP" altLang="en-US" dirty="0" smtClean="0"/>
              <a:t>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Assortative</a:t>
            </a:r>
            <a:r>
              <a:rPr lang="ja-JP" altLang="en-US" dirty="0"/>
              <a:t> </a:t>
            </a:r>
            <a:r>
              <a:rPr lang="en-US" altLang="ja-JP" dirty="0" smtClean="0"/>
              <a:t>Mating</a:t>
            </a:r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2425142" y="4680893"/>
            <a:ext cx="1997029" cy="1417908"/>
            <a:chOff x="3137387" y="4405530"/>
            <a:chExt cx="1997029" cy="1417908"/>
          </a:xfrm>
        </p:grpSpPr>
        <p:sp>
          <p:nvSpPr>
            <p:cNvPr id="28" name="テキスト ボックス 27"/>
            <p:cNvSpPr txBox="1"/>
            <p:nvPr/>
          </p:nvSpPr>
          <p:spPr>
            <a:xfrm>
              <a:off x="3137387" y="4869331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29" name="右矢印 28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443132" y="2507911"/>
            <a:ext cx="1871002" cy="4186703"/>
            <a:chOff x="777683" y="2507911"/>
            <a:chExt cx="1871002" cy="4186703"/>
          </a:xfrm>
        </p:grpSpPr>
        <p:grpSp>
          <p:nvGrpSpPr>
            <p:cNvPr id="27" name="グループ化 26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9" name="グループ化 18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8" name="円/楕円 7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0" name="円/楕円 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2" name="円/楕円 11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4" name="円/楕円 1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0" name="グループ化 19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22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2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30" name="テキスト ボックス 2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4586874" y="4272640"/>
            <a:ext cx="478301" cy="1395291"/>
            <a:chOff x="4896723" y="3752124"/>
            <a:chExt cx="478301" cy="1395291"/>
          </a:xfrm>
        </p:grpSpPr>
        <p:sp>
          <p:nvSpPr>
            <p:cNvPr id="53" name="円/楕円 52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/楕円 53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6" name="テキスト ボックス 55"/>
          <p:cNvSpPr txBox="1"/>
          <p:nvPr/>
        </p:nvSpPr>
        <p:spPr>
          <a:xfrm>
            <a:off x="4680283" y="5150696"/>
            <a:ext cx="2988829" cy="124649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ja-JP" altLang="en-US" sz="2800" dirty="0" smtClean="0"/>
              <a:t>交叉</a:t>
            </a:r>
            <a:endParaRPr lang="en-US" altLang="ja-JP" sz="2800" dirty="0" smtClean="0"/>
          </a:p>
          <a:p>
            <a:pPr algn="ctr">
              <a:lnSpc>
                <a:spcPts val="3000"/>
              </a:lnSpc>
            </a:pPr>
            <a:r>
              <a:rPr lang="en-US" altLang="ja-JP" sz="2800" dirty="0" smtClean="0"/>
              <a:t>+</a:t>
            </a:r>
          </a:p>
          <a:p>
            <a:pPr algn="ctr">
              <a:lnSpc>
                <a:spcPts val="3000"/>
              </a:lnSpc>
            </a:pPr>
            <a:r>
              <a:rPr lang="ja-JP" altLang="en-US" sz="2800" dirty="0" smtClean="0"/>
              <a:t>突然</a:t>
            </a:r>
            <a:r>
              <a:rPr lang="ja-JP" altLang="en-US" sz="2800" dirty="0" smtClean="0"/>
              <a:t>変異</a:t>
            </a:r>
            <a:endParaRPr lang="en-US" altLang="ja-JP" sz="2800" dirty="0" smtClean="0"/>
          </a:p>
        </p:txBody>
      </p:sp>
      <p:grpSp>
        <p:nvGrpSpPr>
          <p:cNvPr id="32" name="グループ化 31"/>
          <p:cNvGrpSpPr/>
          <p:nvPr/>
        </p:nvGrpSpPr>
        <p:grpSpPr>
          <a:xfrm>
            <a:off x="6200079" y="2592448"/>
            <a:ext cx="2767595" cy="983419"/>
            <a:chOff x="6609731" y="3254696"/>
            <a:chExt cx="2767595" cy="983419"/>
          </a:xfrm>
        </p:grpSpPr>
        <p:grpSp>
          <p:nvGrpSpPr>
            <p:cNvPr id="33" name="グループ化 32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35" name="グループ化 34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9" name="円/楕円 38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" name="テキスト ボックス 39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6" name="グループ化 35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7" name="円/楕円 36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8" name="テキスト ボックス 37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34" name="正方形/長方形 33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1" name="円/楕円 40"/>
          <p:cNvSpPr/>
          <p:nvPr/>
        </p:nvSpPr>
        <p:spPr>
          <a:xfrm>
            <a:off x="7337915" y="5189630"/>
            <a:ext cx="478301" cy="4783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/>
        </p:nvSpPr>
        <p:spPr>
          <a:xfrm>
            <a:off x="7337915" y="4272640"/>
            <a:ext cx="478301" cy="4783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右矢印 42"/>
          <p:cNvSpPr/>
          <p:nvPr/>
        </p:nvSpPr>
        <p:spPr>
          <a:xfrm>
            <a:off x="5697936" y="4680893"/>
            <a:ext cx="956604" cy="463801"/>
          </a:xfrm>
          <a:prstGeom prst="rightArrow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13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kumimoji="1" lang="en-US" altLang="ja-JP" dirty="0" smtClean="0"/>
              <a:t>(MFEA)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交叉時に，一定確率</a:t>
            </a:r>
            <a:r>
              <a:rPr kumimoji="1" lang="en-US" altLang="ja-JP" dirty="0" smtClean="0"/>
              <a:t>(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で他タスクに割り当て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err="1" smtClean="0"/>
              <a:t>られた</a:t>
            </a:r>
            <a:r>
              <a:rPr kumimoji="1" lang="ja-JP" altLang="en-US" dirty="0" smtClean="0"/>
              <a:t>個体とも交叉</a:t>
            </a:r>
            <a:r>
              <a:rPr lang="en-US" altLang="ja-JP" dirty="0"/>
              <a:t>(</a:t>
            </a:r>
            <a:r>
              <a:rPr lang="ja-JP" altLang="en-US" dirty="0"/>
              <a:t>タスク間交叉</a:t>
            </a:r>
            <a:r>
              <a:rPr lang="en-US" altLang="ja-JP" dirty="0"/>
              <a:t>)</a:t>
            </a:r>
            <a:r>
              <a:rPr kumimoji="1" lang="ja-JP" altLang="en-US" dirty="0" smtClean="0"/>
              <a:t>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Assortative</a:t>
            </a:r>
            <a:r>
              <a:rPr lang="ja-JP" altLang="en-US" dirty="0"/>
              <a:t> </a:t>
            </a:r>
            <a:r>
              <a:rPr lang="en-US" altLang="ja-JP" dirty="0" smtClean="0"/>
              <a:t>Mating</a:t>
            </a:r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2425142" y="4680893"/>
            <a:ext cx="1997029" cy="1417908"/>
            <a:chOff x="3137387" y="4405530"/>
            <a:chExt cx="1997029" cy="1417908"/>
          </a:xfrm>
        </p:grpSpPr>
        <p:sp>
          <p:nvSpPr>
            <p:cNvPr id="28" name="テキスト ボックス 27"/>
            <p:cNvSpPr txBox="1"/>
            <p:nvPr/>
          </p:nvSpPr>
          <p:spPr>
            <a:xfrm>
              <a:off x="3137387" y="4869331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29" name="右矢印 28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443132" y="2507911"/>
            <a:ext cx="1871002" cy="4186703"/>
            <a:chOff x="777683" y="2507911"/>
            <a:chExt cx="1871002" cy="4186703"/>
          </a:xfrm>
        </p:grpSpPr>
        <p:grpSp>
          <p:nvGrpSpPr>
            <p:cNvPr id="27" name="グループ化 26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9" name="グループ化 18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8" name="円/楕円 7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0" name="円/楕円 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2" name="円/楕円 11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4" name="円/楕円 1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0" name="グループ化 19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22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2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30" name="テキスト ボックス 2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4586874" y="4272640"/>
            <a:ext cx="478301" cy="1395291"/>
            <a:chOff x="4896723" y="3752124"/>
            <a:chExt cx="478301" cy="1395291"/>
          </a:xfrm>
        </p:grpSpPr>
        <p:sp>
          <p:nvSpPr>
            <p:cNvPr id="53" name="円/楕円 52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/楕円 53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2" name="テキスト ボックス 41"/>
          <p:cNvSpPr txBox="1"/>
          <p:nvPr/>
        </p:nvSpPr>
        <p:spPr>
          <a:xfrm>
            <a:off x="4681823" y="5144694"/>
            <a:ext cx="2988829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突然変異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(1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-</a:t>
            </a:r>
            <a:r>
              <a:rPr lang="ja-JP" altLang="en-US" sz="2800" dirty="0" smtClean="0"/>
              <a:t> </a:t>
            </a:r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en-US" altLang="ja-JP" sz="2800" dirty="0" smtClean="0"/>
              <a:t>)</a:t>
            </a:r>
          </a:p>
        </p:txBody>
      </p:sp>
      <p:sp>
        <p:nvSpPr>
          <p:cNvPr id="39" name="円/楕円 38"/>
          <p:cNvSpPr/>
          <p:nvPr/>
        </p:nvSpPr>
        <p:spPr>
          <a:xfrm>
            <a:off x="7337915" y="5189630"/>
            <a:ext cx="478301" cy="4783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/>
        </p:nvSpPr>
        <p:spPr>
          <a:xfrm>
            <a:off x="7337915" y="4272640"/>
            <a:ext cx="478301" cy="4783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4" name="グループ化 43"/>
          <p:cNvGrpSpPr/>
          <p:nvPr/>
        </p:nvGrpSpPr>
        <p:grpSpPr>
          <a:xfrm>
            <a:off x="6200079" y="2592448"/>
            <a:ext cx="2767595" cy="983419"/>
            <a:chOff x="6609731" y="3254696"/>
            <a:chExt cx="2767595" cy="983419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55" name="円/楕円 54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6" name="テキスト ボックス 55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48" name="グループ化 47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49" name="円/楕円 48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46" name="正方形/長方形 45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1" name="右矢印 40"/>
          <p:cNvSpPr/>
          <p:nvPr/>
        </p:nvSpPr>
        <p:spPr>
          <a:xfrm>
            <a:off x="5697936" y="4680893"/>
            <a:ext cx="956604" cy="463801"/>
          </a:xfrm>
          <a:prstGeom prst="rightArrow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66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kumimoji="1" lang="en-US" altLang="ja-JP" dirty="0" smtClean="0"/>
              <a:t>(MFEA)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交叉時に，一定確率</a:t>
            </a:r>
            <a:r>
              <a:rPr kumimoji="1" lang="en-US" altLang="ja-JP" dirty="0" smtClean="0"/>
              <a:t>(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で他タスクに割り当て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err="1" smtClean="0"/>
              <a:t>られた</a:t>
            </a:r>
            <a:r>
              <a:rPr kumimoji="1" lang="ja-JP" altLang="en-US" dirty="0" smtClean="0"/>
              <a:t>個体とも交叉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タスク間交叉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Vertical</a:t>
            </a:r>
            <a:r>
              <a:rPr lang="ja-JP" altLang="en-US" dirty="0"/>
              <a:t> </a:t>
            </a:r>
            <a:r>
              <a:rPr lang="en-US" altLang="ja-JP" dirty="0"/>
              <a:t>Cultural</a:t>
            </a:r>
            <a:r>
              <a:rPr lang="ja-JP" altLang="en-US" dirty="0"/>
              <a:t> </a:t>
            </a:r>
            <a:r>
              <a:rPr lang="en-US" altLang="ja-JP" dirty="0"/>
              <a:t>Transmission</a:t>
            </a:r>
            <a:endParaRPr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2425142" y="4680893"/>
            <a:ext cx="1997029" cy="1417908"/>
            <a:chOff x="3137387" y="4405530"/>
            <a:chExt cx="1997029" cy="1417908"/>
          </a:xfrm>
        </p:grpSpPr>
        <p:sp>
          <p:nvSpPr>
            <p:cNvPr id="28" name="テキスト ボックス 27"/>
            <p:cNvSpPr txBox="1"/>
            <p:nvPr/>
          </p:nvSpPr>
          <p:spPr>
            <a:xfrm>
              <a:off x="3137387" y="4869331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29" name="右矢印 28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443132" y="2507911"/>
            <a:ext cx="1871002" cy="4186703"/>
            <a:chOff x="777683" y="2507911"/>
            <a:chExt cx="1871002" cy="4186703"/>
          </a:xfrm>
        </p:grpSpPr>
        <p:grpSp>
          <p:nvGrpSpPr>
            <p:cNvPr id="27" name="グループ化 26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9" name="グループ化 18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8" name="円/楕円 7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0" name="円/楕円 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2" name="円/楕円 11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4" name="円/楕円 1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0" name="グループ化 19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22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2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30" name="テキスト ボックス 2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52" name="グループ化 51"/>
          <p:cNvGrpSpPr/>
          <p:nvPr/>
        </p:nvGrpSpPr>
        <p:grpSpPr>
          <a:xfrm>
            <a:off x="6200079" y="2592448"/>
            <a:ext cx="2767595" cy="983419"/>
            <a:chOff x="6609731" y="3254696"/>
            <a:chExt cx="2767595" cy="983419"/>
          </a:xfrm>
        </p:grpSpPr>
        <p:grpSp>
          <p:nvGrpSpPr>
            <p:cNvPr id="37" name="グループ化 36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33" name="グループ化 32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17" name="円/楕円 16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" name="テキスト ボックス 31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4" name="グループ化 33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5" name="円/楕円 34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6" name="テキスト ボックス 35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51" name="正方形/長方形 50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4586874" y="4272640"/>
            <a:ext cx="478301" cy="1395291"/>
            <a:chOff x="4896723" y="3752124"/>
            <a:chExt cx="478301" cy="1395291"/>
          </a:xfrm>
        </p:grpSpPr>
        <p:sp>
          <p:nvSpPr>
            <p:cNvPr id="53" name="円/楕円 52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/楕円 53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1" name="グループ化 40"/>
          <p:cNvGrpSpPr/>
          <p:nvPr/>
        </p:nvGrpSpPr>
        <p:grpSpPr>
          <a:xfrm>
            <a:off x="4681824" y="4680893"/>
            <a:ext cx="2988829" cy="2095017"/>
            <a:chOff x="2708496" y="4405530"/>
            <a:chExt cx="2988829" cy="2095017"/>
          </a:xfrm>
        </p:grpSpPr>
        <p:sp>
          <p:nvSpPr>
            <p:cNvPr id="42" name="テキスト ボックス 41"/>
            <p:cNvSpPr txBox="1"/>
            <p:nvPr/>
          </p:nvSpPr>
          <p:spPr>
            <a:xfrm>
              <a:off x="2708496" y="4869331"/>
              <a:ext cx="2988829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ja-JP" altLang="en-US" sz="2800" dirty="0" smtClean="0"/>
                <a:t>交叉</a:t>
              </a:r>
              <a:r>
                <a:rPr lang="en-US" altLang="ja-JP" sz="2800" dirty="0" smtClean="0"/>
                <a:t/>
              </a:r>
              <a:br>
                <a:rPr lang="en-US" altLang="ja-JP" sz="2800" dirty="0" smtClean="0"/>
              </a:br>
              <a:r>
                <a:rPr lang="en-US" altLang="ja-JP" sz="2800" dirty="0" smtClean="0"/>
                <a:t>+</a:t>
              </a:r>
              <a:br>
                <a:rPr lang="en-US" altLang="ja-JP" sz="2800" dirty="0" smtClean="0"/>
              </a:br>
              <a:r>
                <a:rPr lang="ja-JP" altLang="en-US" sz="2800" dirty="0" smtClean="0"/>
                <a:t>突然変異</a:t>
              </a:r>
              <a:endParaRPr lang="en-US" altLang="ja-JP" sz="2800" dirty="0" smtClean="0"/>
            </a:p>
            <a:p>
              <a:pPr algn="ctr">
                <a:lnSpc>
                  <a:spcPts val="3000"/>
                </a:lnSpc>
              </a:pPr>
              <a:r>
                <a:rPr lang="en-US" altLang="ja-JP" sz="2800" dirty="0" smtClean="0"/>
                <a:t>(</a:t>
              </a:r>
              <a:r>
                <a:rPr lang="en-US" altLang="ja-JP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en-US" altLang="ja-JP" sz="2800" dirty="0" smtClean="0"/>
                <a:t>)</a:t>
              </a:r>
            </a:p>
          </p:txBody>
        </p:sp>
        <p:sp>
          <p:nvSpPr>
            <p:cNvPr id="43" name="右矢印 42"/>
            <p:cNvSpPr/>
            <p:nvPr/>
          </p:nvSpPr>
          <p:spPr>
            <a:xfrm>
              <a:off x="3724608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/>
        </p:nvGrpSpPr>
        <p:grpSpPr>
          <a:xfrm rot="10800000">
            <a:off x="8330358" y="4272632"/>
            <a:ext cx="478301" cy="1395291"/>
            <a:chOff x="4896723" y="3752124"/>
            <a:chExt cx="478301" cy="1395291"/>
          </a:xfrm>
        </p:grpSpPr>
        <p:sp>
          <p:nvSpPr>
            <p:cNvPr id="45" name="円/楕円 44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9" name="グループ化 48"/>
          <p:cNvGrpSpPr/>
          <p:nvPr/>
        </p:nvGrpSpPr>
        <p:grpSpPr>
          <a:xfrm>
            <a:off x="7122592" y="4272632"/>
            <a:ext cx="478301" cy="1395291"/>
            <a:chOff x="4896723" y="3752124"/>
            <a:chExt cx="478301" cy="1395291"/>
          </a:xfrm>
        </p:grpSpPr>
        <p:sp>
          <p:nvSpPr>
            <p:cNvPr id="50" name="円/楕円 49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円/楕円 54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6" name="グループ化 55"/>
          <p:cNvGrpSpPr/>
          <p:nvPr/>
        </p:nvGrpSpPr>
        <p:grpSpPr>
          <a:xfrm>
            <a:off x="7696842" y="4227713"/>
            <a:ext cx="537567" cy="1440210"/>
            <a:chOff x="4785233" y="3524336"/>
            <a:chExt cx="537567" cy="1440210"/>
          </a:xfrm>
        </p:grpSpPr>
        <p:sp>
          <p:nvSpPr>
            <p:cNvPr id="57" name="テキスト ボックス 56"/>
            <p:cNvSpPr txBox="1"/>
            <p:nvPr/>
          </p:nvSpPr>
          <p:spPr>
            <a:xfrm>
              <a:off x="4785233" y="4441326"/>
              <a:ext cx="53756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or</a:t>
              </a:r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4785233" y="3524336"/>
              <a:ext cx="53756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65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Deep</a:t>
            </a:r>
            <a:r>
              <a:rPr lang="ja-JP" altLang="en-US" dirty="0"/>
              <a:t> </a:t>
            </a:r>
            <a:r>
              <a:rPr lang="en-US" altLang="ja-JP" dirty="0" smtClean="0"/>
              <a:t>Reinforcement</a:t>
            </a:r>
            <a:r>
              <a:rPr lang="ja-JP" altLang="en-US" dirty="0"/>
              <a:t> </a:t>
            </a:r>
            <a:r>
              <a:rPr lang="en-US" altLang="ja-JP" dirty="0" smtClean="0"/>
              <a:t>Learni</a:t>
            </a:r>
            <a:r>
              <a:rPr lang="en-US" altLang="ja-JP" dirty="0"/>
              <a:t>n</a:t>
            </a:r>
            <a:r>
              <a:rPr lang="en-US" altLang="ja-JP" dirty="0" smtClean="0"/>
              <a:t>g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lang="ja-JP" altLang="en-US" b="1" dirty="0" smtClean="0">
                <a:ea typeface="ＭＳ Ｐゴシック" panose="020B0600070205080204" pitchFamily="50" charset="-128"/>
              </a:rPr>
              <a:t>原理</a:t>
            </a:r>
            <a:r>
              <a:rPr kumimoji="1" lang="en-US" altLang="ja-JP" b="1" dirty="0" smtClean="0"/>
              <a:t>&gt;</a:t>
            </a:r>
            <a:endParaRPr kumimoji="1" lang="en-US" altLang="ja-JP" b="1" dirty="0" smtClean="0"/>
          </a:p>
          <a:p>
            <a:r>
              <a:rPr kumimoji="1" lang="ja-JP" altLang="en-US" dirty="0" smtClean="0"/>
              <a:t>強化学習の</a:t>
            </a:r>
            <a:r>
              <a:rPr kumimoji="1" lang="en-US" altLang="ja-JP" dirty="0" smtClean="0"/>
              <a:t>1</a:t>
            </a:r>
            <a:r>
              <a:rPr kumimoji="1" lang="ja-JP" altLang="en-US" dirty="0" err="1" smtClean="0"/>
              <a:t>つで</a:t>
            </a:r>
            <a:r>
              <a:rPr kumimoji="1" lang="ja-JP" altLang="en-US" dirty="0" smtClean="0"/>
              <a:t>ある</a:t>
            </a:r>
            <a:r>
              <a:rPr kumimoji="1" lang="en-US" altLang="ja-JP" dirty="0" smtClean="0"/>
              <a:t>Q</a:t>
            </a:r>
            <a:r>
              <a:rPr kumimoji="1" lang="ja-JP" altLang="en-US" dirty="0" smtClean="0"/>
              <a:t>学習をディープラーニング</a:t>
            </a:r>
            <a:r>
              <a:rPr lang="en-US" altLang="ja-JP" dirty="0" smtClean="0"/>
              <a:t>(DQN)</a:t>
            </a:r>
            <a:r>
              <a:rPr kumimoji="1" lang="ja-JP" altLang="en-US" dirty="0" smtClean="0"/>
              <a:t>で行う．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grpSp>
        <p:nvGrpSpPr>
          <p:cNvPr id="23" name="グループ化 22"/>
          <p:cNvGrpSpPr/>
          <p:nvPr/>
        </p:nvGrpSpPr>
        <p:grpSpPr>
          <a:xfrm>
            <a:off x="998426" y="3277590"/>
            <a:ext cx="7433055" cy="3275610"/>
            <a:chOff x="998426" y="3277590"/>
            <a:chExt cx="7433055" cy="3275610"/>
          </a:xfrm>
        </p:grpSpPr>
        <p:grpSp>
          <p:nvGrpSpPr>
            <p:cNvPr id="22" name="グループ化 21"/>
            <p:cNvGrpSpPr/>
            <p:nvPr/>
          </p:nvGrpSpPr>
          <p:grpSpPr>
            <a:xfrm>
              <a:off x="5007582" y="4407563"/>
              <a:ext cx="3423899" cy="1015663"/>
              <a:chOff x="5007582" y="4407563"/>
              <a:chExt cx="3423899" cy="1015663"/>
            </a:xfrm>
          </p:grpSpPr>
          <p:sp>
            <p:nvSpPr>
              <p:cNvPr id="10" name="テキスト ボックス 9"/>
              <p:cNvSpPr txBox="1"/>
              <p:nvPr/>
            </p:nvSpPr>
            <p:spPr>
              <a:xfrm>
                <a:off x="6674024" y="4407563"/>
                <a:ext cx="1757457" cy="101566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価値</a:t>
                </a:r>
                <a:r>
                  <a:rPr kumimoji="1" lang="ja-JP" altLang="en-US" sz="2800" dirty="0" smtClean="0"/>
                  <a:t>　</a:t>
                </a:r>
                <a:r>
                  <a:rPr lang="en-US" altLang="ja-JP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  <a:p>
                <a:pPr algn="ctr"/>
                <a:r>
                  <a:rPr kumimoji="1" lang="en-US" altLang="ja-JP" sz="2800" dirty="0" smtClean="0"/>
                  <a:t>(</a:t>
                </a:r>
                <a:r>
                  <a:rPr kumimoji="1" lang="ja-JP" altLang="en-US" sz="2800" dirty="0" smtClean="0"/>
                  <a:t>推定値</a:t>
                </a:r>
                <a:r>
                  <a:rPr kumimoji="1" lang="en-US" altLang="ja-JP" sz="2800" dirty="0" smtClean="0"/>
                  <a:t>)</a:t>
                </a:r>
                <a:endParaRPr kumimoji="1" lang="ja-JP" altLang="en-US" sz="2800" dirty="0" smtClean="0"/>
              </a:p>
            </p:txBody>
          </p:sp>
          <p:cxnSp>
            <p:nvCxnSpPr>
              <p:cNvPr id="21" name="直線矢印コネクタ 20"/>
              <p:cNvCxnSpPr/>
              <p:nvPr/>
            </p:nvCxnSpPr>
            <p:spPr>
              <a:xfrm>
                <a:off x="5007582" y="4915395"/>
                <a:ext cx="1666442" cy="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グループ化 19"/>
            <p:cNvGrpSpPr/>
            <p:nvPr/>
          </p:nvGrpSpPr>
          <p:grpSpPr>
            <a:xfrm>
              <a:off x="998427" y="3708607"/>
              <a:ext cx="2467866" cy="584775"/>
              <a:chOff x="998427" y="3708607"/>
              <a:chExt cx="2467866" cy="584775"/>
            </a:xfrm>
          </p:grpSpPr>
          <p:cxnSp>
            <p:nvCxnSpPr>
              <p:cNvPr id="17" name="直線矢印コネクタ 16"/>
              <p:cNvCxnSpPr/>
              <p:nvPr/>
            </p:nvCxnSpPr>
            <p:spPr>
              <a:xfrm>
                <a:off x="1799851" y="4000995"/>
                <a:ext cx="1666442" cy="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テキスト ボックス 6"/>
              <p:cNvSpPr txBox="1"/>
              <p:nvPr/>
            </p:nvSpPr>
            <p:spPr>
              <a:xfrm>
                <a:off x="998427" y="3708607"/>
                <a:ext cx="1338316" cy="58477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状態</a:t>
                </a:r>
                <a:r>
                  <a:rPr kumimoji="1" lang="ja-JP" altLang="en-US" sz="2800" dirty="0" smtClean="0"/>
                  <a:t>　</a:t>
                </a:r>
                <a:r>
                  <a:rPr lang="en-US" altLang="ja-JP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ja-JP" alt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グループ化 18"/>
            <p:cNvGrpSpPr/>
            <p:nvPr/>
          </p:nvGrpSpPr>
          <p:grpSpPr>
            <a:xfrm>
              <a:off x="998426" y="5537407"/>
              <a:ext cx="2467867" cy="584775"/>
              <a:chOff x="998426" y="5537407"/>
              <a:chExt cx="2467867" cy="584775"/>
            </a:xfrm>
          </p:grpSpPr>
          <p:cxnSp>
            <p:nvCxnSpPr>
              <p:cNvPr id="18" name="直線矢印コネクタ 17"/>
              <p:cNvCxnSpPr/>
              <p:nvPr/>
            </p:nvCxnSpPr>
            <p:spPr>
              <a:xfrm>
                <a:off x="1799851" y="5829795"/>
                <a:ext cx="1666442" cy="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テキスト ボックス 7"/>
              <p:cNvSpPr txBox="1"/>
              <p:nvPr/>
            </p:nvSpPr>
            <p:spPr>
              <a:xfrm>
                <a:off x="998426" y="5537407"/>
                <a:ext cx="1338316" cy="58477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行動　</a:t>
                </a:r>
                <a:r>
                  <a:rPr lang="en-US" altLang="ja-JP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ja-JP" alt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" name="角丸四角形 8"/>
            <p:cNvSpPr/>
            <p:nvPr/>
          </p:nvSpPr>
          <p:spPr>
            <a:xfrm>
              <a:off x="3466293" y="3277590"/>
              <a:ext cx="2078182" cy="327561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3200" dirty="0" smtClean="0">
                  <a:solidFill>
                    <a:schemeClr val="tx1"/>
                  </a:solidFill>
                </a:rPr>
                <a:t>DQ</a:t>
              </a:r>
              <a:r>
                <a:rPr lang="en-US" altLang="ja-JP" sz="3200" dirty="0">
                  <a:solidFill>
                    <a:schemeClr val="tx1"/>
                  </a:solidFill>
                </a:rPr>
                <a:t>N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950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複数の</a:t>
            </a:r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のパラメータを</a:t>
            </a:r>
            <a:r>
              <a:rPr kumimoji="1" lang="en-US" altLang="ja-JP" dirty="0" smtClean="0"/>
              <a:t>MFEA</a:t>
            </a:r>
            <a:r>
              <a:rPr kumimoji="1" lang="ja-JP" altLang="en-US" dirty="0" smtClean="0"/>
              <a:t>を用いて最適化</a:t>
            </a:r>
            <a:endParaRPr kumimoji="1" lang="en-US" altLang="ja-JP" dirty="0" smtClean="0"/>
          </a:p>
          <a:p>
            <a:r>
              <a:rPr lang="ja-JP" altLang="en-US" dirty="0" smtClean="0"/>
              <a:t>目的</a:t>
            </a:r>
            <a:r>
              <a:rPr lang="ja-JP" altLang="en-US" dirty="0"/>
              <a:t>関数</a:t>
            </a:r>
            <a:r>
              <a:rPr lang="ja-JP" altLang="en-US" dirty="0" smtClean="0"/>
              <a:t>は</a:t>
            </a:r>
            <a:r>
              <a:rPr lang="ja-JP" altLang="en-US" dirty="0" smtClean="0">
                <a:solidFill>
                  <a:schemeClr val="accent1"/>
                </a:solidFill>
              </a:rPr>
              <a:t>テストエピソードでの</a:t>
            </a:r>
            <a:r>
              <a:rPr lang="ja-JP" altLang="en-US" dirty="0" smtClean="0">
                <a:solidFill>
                  <a:schemeClr val="accent1"/>
                </a:solidFill>
              </a:rPr>
              <a:t>価値</a:t>
            </a:r>
            <a:r>
              <a:rPr lang="en-US" altLang="ja-JP" dirty="0" smtClean="0"/>
              <a:t>(</a:t>
            </a:r>
            <a:r>
              <a:rPr lang="ja-JP" altLang="en-US" dirty="0"/>
              <a:t>最大化</a:t>
            </a:r>
            <a:r>
              <a:rPr lang="en-US" altLang="ja-JP" dirty="0" smtClean="0"/>
              <a:t>)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個体</a:t>
            </a:r>
            <a:r>
              <a:rPr lang="ja-JP" altLang="en-US" dirty="0"/>
              <a:t>表現</a:t>
            </a:r>
            <a:r>
              <a:rPr lang="ja-JP" altLang="en-US" dirty="0" smtClean="0"/>
              <a:t>に以下の工夫を適用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上層</a:t>
            </a:r>
            <a:r>
              <a:rPr kumimoji="1" lang="ja-JP" altLang="en-US" dirty="0" smtClean="0"/>
              <a:t>のパラメータを全タスクで共有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下層</a:t>
            </a:r>
            <a:r>
              <a:rPr lang="ja-JP" altLang="en-US" dirty="0" smtClean="0"/>
              <a:t>のパラメータを各タスクで分離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442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graphicFrame>
        <p:nvGraphicFramePr>
          <p:cNvPr id="8" name="コンテンツ プレースホルダー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366676"/>
              </p:ext>
            </p:extLst>
          </p:nvPr>
        </p:nvGraphicFramePr>
        <p:xfrm>
          <a:off x="457200" y="2890800"/>
          <a:ext cx="847534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1065530"/>
                <a:gridCol w="1098868"/>
                <a:gridCol w="868680"/>
                <a:gridCol w="1098868"/>
                <a:gridCol w="868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-25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endParaRPr kumimoji="1" lang="ja-JP" altLang="en-US" sz="28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b="0" i="0" kern="1200" baseline="-250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の個体表現方法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457201" y="3564000"/>
            <a:ext cx="3473532" cy="1466848"/>
            <a:chOff x="457201" y="2695698"/>
            <a:chExt cx="3473532" cy="1466848"/>
          </a:xfrm>
        </p:grpSpPr>
        <p:sp>
          <p:nvSpPr>
            <p:cNvPr id="9" name="左中かっこ 8"/>
            <p:cNvSpPr/>
            <p:nvPr/>
          </p:nvSpPr>
          <p:spPr>
            <a:xfrm rot="16200000">
              <a:off x="2013994" y="1138905"/>
              <a:ext cx="359945" cy="3473532"/>
            </a:xfrm>
            <a:prstGeom prst="leftBrace">
              <a:avLst>
                <a:gd name="adj1" fmla="val 58727"/>
                <a:gd name="adj2" fmla="val 50000"/>
              </a:avLst>
            </a:prstGeom>
            <a:ln w="762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500203" y="3208439"/>
              <a:ext cx="3387525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共有</a:t>
              </a:r>
              <a:r>
                <a:rPr kumimoji="1" lang="ja-JP" altLang="en-US" sz="2800" dirty="0" smtClean="0"/>
                <a:t>レイヤ</a:t>
              </a:r>
              <a:r>
                <a:rPr kumimoji="1" lang="en-US" altLang="ja-JP" sz="2800" dirty="0" smtClean="0"/>
                <a:t>(1</a:t>
              </a:r>
              <a:r>
                <a:rPr kumimoji="1" lang="ja-JP" altLang="en-US" sz="2800" dirty="0" smtClean="0"/>
                <a:t>～</a:t>
              </a:r>
              <a:r>
                <a:rPr kumimoji="1" lang="en-US" altLang="ja-JP" sz="28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</a:t>
              </a:r>
              <a:r>
                <a:rPr kumimoji="1" lang="ja-JP" altLang="en-US" sz="2800" dirty="0" smtClean="0"/>
                <a:t>層</a:t>
              </a:r>
              <a:r>
                <a:rPr kumimoji="1" lang="en-US" altLang="ja-JP" sz="2800" dirty="0" smtClean="0"/>
                <a:t>)</a:t>
              </a:r>
              <a:endParaRPr lang="en-US" altLang="ja-JP" sz="2800" dirty="0"/>
            </a:p>
            <a:p>
              <a:pPr algn="ctr"/>
              <a:r>
                <a:rPr kumimoji="1" lang="ja-JP" altLang="en-US" sz="2800" dirty="0" smtClean="0"/>
                <a:t>情報</a:t>
              </a:r>
              <a:r>
                <a:rPr kumimoji="1" lang="ja-JP" altLang="en-US" sz="2800" dirty="0"/>
                <a:t>共有</a:t>
              </a:r>
              <a:r>
                <a:rPr kumimoji="1" lang="ja-JP" altLang="en-US" sz="2800" dirty="0" smtClean="0"/>
                <a:t>の対象</a:t>
              </a:r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5585856" y="1360847"/>
            <a:ext cx="3329544" cy="1323439"/>
            <a:chOff x="3819402" y="4334494"/>
            <a:chExt cx="3329544" cy="1323439"/>
          </a:xfrm>
        </p:grpSpPr>
        <p:sp>
          <p:nvSpPr>
            <p:cNvPr id="17" name="テキスト ボックス 16"/>
            <p:cNvSpPr txBox="1"/>
            <p:nvPr/>
          </p:nvSpPr>
          <p:spPr>
            <a:xfrm>
              <a:off x="4417622" y="4334494"/>
              <a:ext cx="2731324" cy="132343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層目の</a:t>
              </a:r>
              <a:r>
                <a:rPr kumimoji="1" lang="en-US" altLang="ja-JP" sz="2000" dirty="0" smtClean="0"/>
                <a:t>(</a:t>
              </a:r>
              <a:r>
                <a:rPr kumimoji="1" lang="ja-JP" altLang="en-US" sz="2000" dirty="0" smtClean="0"/>
                <a:t>共有</a:t>
              </a:r>
              <a:r>
                <a:rPr kumimoji="1" lang="en-US" altLang="ja-JP" sz="2000" dirty="0" smtClean="0"/>
                <a:t>)</a:t>
              </a:r>
            </a:p>
            <a:p>
              <a:r>
                <a:rPr kumimoji="1" lang="ja-JP" altLang="en-US" sz="2000" dirty="0" smtClean="0"/>
                <a:t>レイヤのパラメータ</a:t>
              </a:r>
              <a:endParaRPr kumimoji="1" lang="en-US" altLang="ja-JP" sz="2000" dirty="0" smtClean="0"/>
            </a:p>
            <a:p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/>
                <a:t>層目</a:t>
              </a:r>
              <a:r>
                <a:rPr lang="ja-JP" altLang="en-US" sz="2000" dirty="0" smtClean="0"/>
                <a:t>のタスク</a:t>
              </a:r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000" dirty="0" smtClean="0"/>
                <a:t>の</a:t>
              </a:r>
              <a:r>
                <a:rPr lang="en-US" altLang="ja-JP" sz="2000" dirty="0" smtClean="0"/>
                <a:t>(</a:t>
              </a:r>
              <a:r>
                <a:rPr lang="ja-JP" altLang="en-US" sz="2000" dirty="0"/>
                <a:t>独立</a:t>
              </a:r>
              <a:r>
                <a:rPr lang="en-US" altLang="ja-JP" sz="2000" dirty="0" smtClean="0"/>
                <a:t>)</a:t>
              </a:r>
            </a:p>
            <a:p>
              <a:r>
                <a:rPr lang="ja-JP" altLang="en-US" sz="2000" dirty="0" smtClean="0"/>
                <a:t>レイヤのパラメータ</a:t>
              </a:r>
              <a:endParaRPr kumimoji="1" lang="ja-JP" altLang="en-US" sz="2000" dirty="0" smtClean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19402" y="4334494"/>
              <a:ext cx="76694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：</a:t>
              </a:r>
              <a:endParaRPr kumimoji="1" lang="en-US" altLang="ja-JP" sz="2000" dirty="0" smtClean="0"/>
            </a:p>
            <a:p>
              <a:pPr algn="r"/>
              <a:endParaRPr kumimoji="1" lang="en-US" altLang="ja-JP" sz="2000" dirty="0" smtClean="0"/>
            </a:p>
            <a:p>
              <a:pPr algn="r"/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ja-JP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 smtClean="0"/>
                <a:t>：</a:t>
              </a:r>
              <a:endParaRPr kumimoji="1" lang="ja-JP" altLang="en-US" sz="2000" dirty="0" smtClean="0"/>
            </a:p>
          </p:txBody>
        </p:sp>
        <p:sp>
          <p:nvSpPr>
            <p:cNvPr id="19" name="正方形/長方形 18"/>
            <p:cNvSpPr/>
            <p:nvPr/>
          </p:nvSpPr>
          <p:spPr>
            <a:xfrm>
              <a:off x="3942608" y="4334494"/>
              <a:ext cx="3206337" cy="132343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3200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92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graphicFrame>
        <p:nvGraphicFramePr>
          <p:cNvPr id="8" name="コンテンツ プレースホルダー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214925"/>
              </p:ext>
            </p:extLst>
          </p:nvPr>
        </p:nvGraphicFramePr>
        <p:xfrm>
          <a:off x="457200" y="2891639"/>
          <a:ext cx="847534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1065530"/>
                <a:gridCol w="1098868"/>
                <a:gridCol w="868680"/>
                <a:gridCol w="1098868"/>
                <a:gridCol w="868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-25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endParaRPr kumimoji="1" lang="ja-JP" altLang="en-US" sz="28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b="0" i="0" kern="1200" baseline="-250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の個体表現方法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/>
        </p:nvGrpSpPr>
        <p:grpSpPr>
          <a:xfrm>
            <a:off x="3942608" y="3562593"/>
            <a:ext cx="4972793" cy="1897737"/>
            <a:chOff x="463138" y="2695697"/>
            <a:chExt cx="4972793" cy="1897737"/>
          </a:xfrm>
        </p:grpSpPr>
        <p:sp>
          <p:nvSpPr>
            <p:cNvPr id="9" name="左中かっこ 8"/>
            <p:cNvSpPr/>
            <p:nvPr/>
          </p:nvSpPr>
          <p:spPr>
            <a:xfrm rot="16200000">
              <a:off x="2769562" y="389273"/>
              <a:ext cx="359945" cy="4972793"/>
            </a:xfrm>
            <a:prstGeom prst="leftBrace">
              <a:avLst>
                <a:gd name="adj1" fmla="val 58727"/>
                <a:gd name="adj2" fmla="val 50000"/>
              </a:avLst>
            </a:prstGeom>
            <a:ln w="762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1099507" y="3208439"/>
              <a:ext cx="3700055" cy="138499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独立</a:t>
              </a:r>
              <a:r>
                <a:rPr kumimoji="1" lang="ja-JP" altLang="en-US" sz="2800" dirty="0" smtClean="0"/>
                <a:t>レイヤ</a:t>
              </a:r>
              <a:r>
                <a:rPr kumimoji="1" lang="en-US" altLang="ja-JP" sz="2800" dirty="0" smtClean="0"/>
                <a:t>((</a:t>
              </a:r>
              <a:r>
                <a:rPr lang="en-US" altLang="ja-JP" sz="28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</a:t>
              </a:r>
              <a:r>
                <a:rPr lang="ja-JP" altLang="en-US" sz="2800" dirty="0"/>
                <a:t> </a:t>
              </a:r>
              <a:r>
                <a:rPr lang="en-US" altLang="ja-JP" sz="2800" dirty="0" smtClean="0"/>
                <a:t>+1)</a:t>
              </a:r>
              <a:r>
                <a:rPr lang="ja-JP" altLang="en-US" sz="2800" dirty="0" smtClean="0"/>
                <a:t>層</a:t>
              </a:r>
              <a:r>
                <a:rPr lang="ja-JP" altLang="en-US" sz="2800" dirty="0"/>
                <a:t>～</a:t>
              </a:r>
              <a:r>
                <a:rPr kumimoji="1" lang="en-US" altLang="ja-JP" sz="2800" dirty="0" smtClean="0"/>
                <a:t>)</a:t>
              </a:r>
              <a:endParaRPr lang="en-US" altLang="ja-JP" sz="2800" dirty="0"/>
            </a:p>
            <a:p>
              <a:pPr algn="ctr"/>
              <a:r>
                <a:rPr kumimoji="1" lang="ja-JP" altLang="en-US" sz="2800" dirty="0" smtClean="0"/>
                <a:t>情報</a:t>
              </a:r>
              <a:r>
                <a:rPr kumimoji="1" lang="ja-JP" altLang="en-US" sz="2800" dirty="0"/>
                <a:t>共有</a:t>
              </a:r>
              <a:r>
                <a:rPr kumimoji="1" lang="ja-JP" altLang="en-US" sz="2800" dirty="0" smtClean="0"/>
                <a:t>の対象外</a:t>
              </a:r>
            </a:p>
          </p:txBody>
        </p:sp>
      </p:grpSp>
      <p:grpSp>
        <p:nvGrpSpPr>
          <p:cNvPr id="11" name="グループ化 10"/>
          <p:cNvGrpSpPr/>
          <p:nvPr/>
        </p:nvGrpSpPr>
        <p:grpSpPr>
          <a:xfrm>
            <a:off x="5585856" y="1360847"/>
            <a:ext cx="3329544" cy="1323439"/>
            <a:chOff x="3819402" y="4334494"/>
            <a:chExt cx="3329544" cy="1323439"/>
          </a:xfrm>
        </p:grpSpPr>
        <p:sp>
          <p:nvSpPr>
            <p:cNvPr id="12" name="テキスト ボックス 11"/>
            <p:cNvSpPr txBox="1"/>
            <p:nvPr/>
          </p:nvSpPr>
          <p:spPr>
            <a:xfrm>
              <a:off x="4417622" y="4334494"/>
              <a:ext cx="2731324" cy="132343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層目の</a:t>
              </a:r>
              <a:r>
                <a:rPr kumimoji="1" lang="en-US" altLang="ja-JP" sz="2000" dirty="0" smtClean="0"/>
                <a:t>(</a:t>
              </a:r>
              <a:r>
                <a:rPr kumimoji="1" lang="ja-JP" altLang="en-US" sz="2000" dirty="0" smtClean="0"/>
                <a:t>共有</a:t>
              </a:r>
              <a:r>
                <a:rPr kumimoji="1" lang="en-US" altLang="ja-JP" sz="2000" dirty="0" smtClean="0"/>
                <a:t>)</a:t>
              </a:r>
            </a:p>
            <a:p>
              <a:r>
                <a:rPr kumimoji="1" lang="ja-JP" altLang="en-US" sz="2000" dirty="0" smtClean="0"/>
                <a:t>レイヤのパラメータ</a:t>
              </a:r>
              <a:endParaRPr kumimoji="1" lang="en-US" altLang="ja-JP" sz="2000" dirty="0" smtClean="0"/>
            </a:p>
            <a:p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/>
                <a:t>層目</a:t>
              </a:r>
              <a:r>
                <a:rPr lang="ja-JP" altLang="en-US" sz="2000" dirty="0" smtClean="0"/>
                <a:t>のタスク</a:t>
              </a:r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000" dirty="0" smtClean="0"/>
                <a:t>の</a:t>
              </a:r>
              <a:r>
                <a:rPr lang="en-US" altLang="ja-JP" sz="2000" dirty="0" smtClean="0"/>
                <a:t>(</a:t>
              </a:r>
              <a:r>
                <a:rPr lang="ja-JP" altLang="en-US" sz="2000" dirty="0"/>
                <a:t>独立</a:t>
              </a:r>
              <a:r>
                <a:rPr lang="en-US" altLang="ja-JP" sz="2000" dirty="0" smtClean="0"/>
                <a:t>)</a:t>
              </a:r>
            </a:p>
            <a:p>
              <a:r>
                <a:rPr lang="ja-JP" altLang="en-US" sz="2000" dirty="0" smtClean="0"/>
                <a:t>レイヤのパラメータ</a:t>
              </a:r>
              <a:endParaRPr kumimoji="1" lang="ja-JP" altLang="en-US" sz="20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3819402" y="4334494"/>
              <a:ext cx="76694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：</a:t>
              </a:r>
              <a:endParaRPr kumimoji="1" lang="en-US" altLang="ja-JP" sz="2000" dirty="0" smtClean="0"/>
            </a:p>
            <a:p>
              <a:pPr algn="r"/>
              <a:endParaRPr kumimoji="1" lang="en-US" altLang="ja-JP" sz="2000" dirty="0" smtClean="0"/>
            </a:p>
            <a:p>
              <a:pPr algn="r"/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ja-JP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 smtClean="0"/>
                <a:t>：</a:t>
              </a:r>
              <a:endParaRPr kumimoji="1" lang="ja-JP" altLang="en-US" sz="2000" dirty="0" smtClean="0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3942608" y="4334494"/>
              <a:ext cx="3206337" cy="132343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3200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527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graphicFrame>
        <p:nvGraphicFramePr>
          <p:cNvPr id="8" name="コンテンツ プレースホルダー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999952"/>
              </p:ext>
            </p:extLst>
          </p:nvPr>
        </p:nvGraphicFramePr>
        <p:xfrm>
          <a:off x="457200" y="2891639"/>
          <a:ext cx="847534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1065530"/>
                <a:gridCol w="1098868"/>
                <a:gridCol w="868680"/>
                <a:gridCol w="1098868"/>
                <a:gridCol w="868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-25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endParaRPr kumimoji="1" lang="ja-JP" altLang="en-US" sz="28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b="0" i="0" kern="1200" baseline="-250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の個体表現方法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5585856" y="1360847"/>
            <a:ext cx="3329544" cy="1323439"/>
            <a:chOff x="3819402" y="4334494"/>
            <a:chExt cx="3329544" cy="1323439"/>
          </a:xfrm>
        </p:grpSpPr>
        <p:sp>
          <p:nvSpPr>
            <p:cNvPr id="12" name="テキスト ボックス 11"/>
            <p:cNvSpPr txBox="1"/>
            <p:nvPr/>
          </p:nvSpPr>
          <p:spPr>
            <a:xfrm>
              <a:off x="4417622" y="4334494"/>
              <a:ext cx="2731324" cy="132343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層目の</a:t>
              </a:r>
              <a:r>
                <a:rPr kumimoji="1" lang="en-US" altLang="ja-JP" sz="2000" dirty="0" smtClean="0"/>
                <a:t>(</a:t>
              </a:r>
              <a:r>
                <a:rPr kumimoji="1" lang="ja-JP" altLang="en-US" sz="2000" dirty="0" smtClean="0"/>
                <a:t>共有</a:t>
              </a:r>
              <a:r>
                <a:rPr kumimoji="1" lang="en-US" altLang="ja-JP" sz="2000" dirty="0" smtClean="0"/>
                <a:t>)</a:t>
              </a:r>
            </a:p>
            <a:p>
              <a:r>
                <a:rPr kumimoji="1" lang="ja-JP" altLang="en-US" sz="2000" dirty="0" smtClean="0"/>
                <a:t>レイヤのパラメータ</a:t>
              </a:r>
              <a:endParaRPr kumimoji="1" lang="en-US" altLang="ja-JP" sz="2000" dirty="0" smtClean="0"/>
            </a:p>
            <a:p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/>
                <a:t>層目</a:t>
              </a:r>
              <a:r>
                <a:rPr lang="ja-JP" altLang="en-US" sz="2000" dirty="0" smtClean="0"/>
                <a:t>のタスク</a:t>
              </a:r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000" dirty="0" smtClean="0"/>
                <a:t>の</a:t>
              </a:r>
              <a:r>
                <a:rPr lang="en-US" altLang="ja-JP" sz="2000" dirty="0" smtClean="0"/>
                <a:t>(</a:t>
              </a:r>
              <a:r>
                <a:rPr lang="ja-JP" altLang="en-US" sz="2000" dirty="0"/>
                <a:t>独立</a:t>
              </a:r>
              <a:r>
                <a:rPr lang="en-US" altLang="ja-JP" sz="2000" dirty="0" smtClean="0"/>
                <a:t>)</a:t>
              </a:r>
            </a:p>
            <a:p>
              <a:r>
                <a:rPr lang="ja-JP" altLang="en-US" sz="2000" dirty="0" smtClean="0"/>
                <a:t>レイヤのパラメータ</a:t>
              </a:r>
              <a:endParaRPr kumimoji="1" lang="ja-JP" altLang="en-US" sz="20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3819402" y="4334494"/>
              <a:ext cx="76694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：</a:t>
              </a:r>
              <a:endParaRPr kumimoji="1" lang="en-US" altLang="ja-JP" sz="2000" dirty="0" smtClean="0"/>
            </a:p>
            <a:p>
              <a:pPr algn="r"/>
              <a:endParaRPr kumimoji="1" lang="en-US" altLang="ja-JP" sz="2000" dirty="0" smtClean="0"/>
            </a:p>
            <a:p>
              <a:pPr algn="r"/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ja-JP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 smtClean="0"/>
                <a:t>：</a:t>
              </a:r>
              <a:endParaRPr kumimoji="1" lang="ja-JP" altLang="en-US" sz="2000" dirty="0" smtClean="0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3942608" y="4334494"/>
              <a:ext cx="3206337" cy="132343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3200" dirty="0" smtClean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直線矢印コネクタ 15"/>
          <p:cNvCxnSpPr/>
          <p:nvPr/>
        </p:nvCxnSpPr>
        <p:spPr>
          <a:xfrm flipV="1">
            <a:off x="4495800" y="3409799"/>
            <a:ext cx="0" cy="9525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2718212" y="4362299"/>
            <a:ext cx="3555176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kumimoji="1" lang="en-US" altLang="ja-JP" sz="2800" dirty="0" smtClean="0"/>
              <a:t>+1</a:t>
            </a:r>
            <a:r>
              <a:rPr kumimoji="1" lang="ja-JP" altLang="en-US" sz="2800" dirty="0" smtClean="0"/>
              <a:t>層目の</a:t>
            </a:r>
            <a:endParaRPr kumimoji="1" lang="en-US" altLang="ja-JP" sz="2800" dirty="0" smtClean="0"/>
          </a:p>
          <a:p>
            <a:pPr algn="ctr"/>
            <a:r>
              <a:rPr lang="ja-JP" altLang="en-US" sz="2800" dirty="0" smtClean="0"/>
              <a:t>タスク</a:t>
            </a:r>
            <a:r>
              <a:rPr lang="en-US" altLang="ja-JP" sz="2800" dirty="0" smtClean="0"/>
              <a:t>1</a:t>
            </a:r>
            <a:r>
              <a:rPr lang="ja-JP" altLang="en-US" sz="2800" dirty="0" smtClean="0"/>
              <a:t>のパラメータ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680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graphicFrame>
        <p:nvGraphicFramePr>
          <p:cNvPr id="8" name="コンテンツ プレースホルダー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843097"/>
              </p:ext>
            </p:extLst>
          </p:nvPr>
        </p:nvGraphicFramePr>
        <p:xfrm>
          <a:off x="457200" y="2891639"/>
          <a:ext cx="847534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1065530"/>
                <a:gridCol w="1098868"/>
                <a:gridCol w="868680"/>
                <a:gridCol w="1098868"/>
                <a:gridCol w="868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-25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endParaRPr kumimoji="1" lang="ja-JP" altLang="en-US" sz="28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b="0" i="0" kern="1200" baseline="-250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の個体表現方法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5585856" y="1360847"/>
            <a:ext cx="3329544" cy="1323439"/>
            <a:chOff x="3819402" y="4334494"/>
            <a:chExt cx="3329544" cy="1323439"/>
          </a:xfrm>
        </p:grpSpPr>
        <p:sp>
          <p:nvSpPr>
            <p:cNvPr id="12" name="テキスト ボックス 11"/>
            <p:cNvSpPr txBox="1"/>
            <p:nvPr/>
          </p:nvSpPr>
          <p:spPr>
            <a:xfrm>
              <a:off x="4417622" y="4334494"/>
              <a:ext cx="2731324" cy="132343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層目の</a:t>
              </a:r>
              <a:r>
                <a:rPr kumimoji="1" lang="en-US" altLang="ja-JP" sz="2000" dirty="0" smtClean="0"/>
                <a:t>(</a:t>
              </a:r>
              <a:r>
                <a:rPr kumimoji="1" lang="ja-JP" altLang="en-US" sz="2000" dirty="0" smtClean="0"/>
                <a:t>共有</a:t>
              </a:r>
              <a:r>
                <a:rPr kumimoji="1" lang="en-US" altLang="ja-JP" sz="2000" dirty="0" smtClean="0"/>
                <a:t>)</a:t>
              </a:r>
            </a:p>
            <a:p>
              <a:r>
                <a:rPr kumimoji="1" lang="ja-JP" altLang="en-US" sz="2000" dirty="0" smtClean="0"/>
                <a:t>レイヤのパラメータ</a:t>
              </a:r>
              <a:endParaRPr kumimoji="1" lang="en-US" altLang="ja-JP" sz="2000" dirty="0" smtClean="0"/>
            </a:p>
            <a:p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/>
                <a:t>層目</a:t>
              </a:r>
              <a:r>
                <a:rPr lang="ja-JP" altLang="en-US" sz="2000" dirty="0" smtClean="0"/>
                <a:t>のタスク</a:t>
              </a:r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000" dirty="0" smtClean="0"/>
                <a:t>の</a:t>
              </a:r>
              <a:r>
                <a:rPr lang="en-US" altLang="ja-JP" sz="2000" dirty="0" smtClean="0"/>
                <a:t>(</a:t>
              </a:r>
              <a:r>
                <a:rPr lang="ja-JP" altLang="en-US" sz="2000" dirty="0"/>
                <a:t>独立</a:t>
              </a:r>
              <a:r>
                <a:rPr lang="en-US" altLang="ja-JP" sz="2000" dirty="0" smtClean="0"/>
                <a:t>)</a:t>
              </a:r>
            </a:p>
            <a:p>
              <a:r>
                <a:rPr lang="ja-JP" altLang="en-US" sz="2000" dirty="0" smtClean="0"/>
                <a:t>レイヤのパラメータ</a:t>
              </a:r>
              <a:endParaRPr kumimoji="1" lang="ja-JP" altLang="en-US" sz="20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3819402" y="4334494"/>
              <a:ext cx="76694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ja-JP" altLang="en-US" sz="2000" dirty="0" smtClean="0"/>
                <a:t>：</a:t>
              </a:r>
              <a:endParaRPr kumimoji="1" lang="en-US" altLang="ja-JP" sz="2000" dirty="0" smtClean="0"/>
            </a:p>
            <a:p>
              <a:pPr algn="r"/>
              <a:endParaRPr kumimoji="1" lang="en-US" altLang="ja-JP" sz="2000" dirty="0" smtClean="0"/>
            </a:p>
            <a:p>
              <a:pPr algn="r"/>
              <a:r>
                <a:rPr lang="en-US" altLang="ja-JP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ja-JP" sz="2000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ja-JP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ja-JP" altLang="en-US" sz="2000" dirty="0" smtClean="0"/>
                <a:t>：</a:t>
              </a:r>
              <a:endParaRPr kumimoji="1" lang="ja-JP" altLang="en-US" sz="2000" dirty="0" smtClean="0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3942608" y="4334494"/>
              <a:ext cx="3206337" cy="132343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3200" dirty="0" smtClean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直線矢印コネクタ 15"/>
          <p:cNvCxnSpPr/>
          <p:nvPr/>
        </p:nvCxnSpPr>
        <p:spPr>
          <a:xfrm flipV="1">
            <a:off x="5585856" y="3409799"/>
            <a:ext cx="0" cy="9525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3808268" y="4362299"/>
            <a:ext cx="3555176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kumimoji="1" lang="en-US" altLang="ja-JP" sz="2800" dirty="0" smtClean="0"/>
              <a:t>+1</a:t>
            </a:r>
            <a:r>
              <a:rPr kumimoji="1" lang="ja-JP" altLang="en-US" sz="2800" dirty="0" smtClean="0"/>
              <a:t>層目の</a:t>
            </a:r>
            <a:endParaRPr kumimoji="1" lang="en-US" altLang="ja-JP" sz="2800" dirty="0" smtClean="0"/>
          </a:p>
          <a:p>
            <a:pPr algn="ctr"/>
            <a:r>
              <a:rPr lang="ja-JP" altLang="en-US" sz="2800" dirty="0" smtClean="0"/>
              <a:t>タスク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のパラメータ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75313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の個体表現方法</a:t>
            </a:r>
            <a:endParaRPr kumimoji="1" lang="ja-JP" altLang="en-US" dirty="0"/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6630049" y="3315804"/>
            <a:ext cx="2799607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共有</a:t>
            </a:r>
            <a:r>
              <a:rPr kumimoji="1" lang="ja-JP" altLang="en-US" sz="2800" dirty="0" smtClean="0"/>
              <a:t>レイヤ</a:t>
            </a:r>
            <a:endParaRPr kumimoji="1" lang="en-US" altLang="ja-JP" sz="2800" dirty="0" smtClean="0"/>
          </a:p>
          <a:p>
            <a:pPr algn="ctr"/>
            <a:r>
              <a:rPr lang="en-US" altLang="ja-JP" sz="2800" dirty="0" smtClean="0"/>
              <a:t>(</a:t>
            </a:r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ja-JP" altLang="en-US" sz="2800" dirty="0" smtClean="0"/>
              <a:t>層</a:t>
            </a:r>
            <a:r>
              <a:rPr lang="en-US" altLang="ja-JP" sz="2800" dirty="0" smtClean="0"/>
              <a:t>)</a:t>
            </a:r>
            <a:endParaRPr lang="en-US" altLang="ja-JP" sz="2800" dirty="0"/>
          </a:p>
        </p:txBody>
      </p:sp>
      <p:cxnSp>
        <p:nvCxnSpPr>
          <p:cNvPr id="61" name="直線コネクタ 60"/>
          <p:cNvCxnSpPr/>
          <p:nvPr/>
        </p:nvCxnSpPr>
        <p:spPr>
          <a:xfrm>
            <a:off x="266700" y="5411547"/>
            <a:ext cx="8610600" cy="0"/>
          </a:xfrm>
          <a:prstGeom prst="line">
            <a:avLst/>
          </a:prstGeom>
          <a:ln w="76200">
            <a:solidFill>
              <a:schemeClr val="accent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flipV="1">
            <a:off x="7099300" y="2384391"/>
            <a:ext cx="0" cy="281693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/>
          <p:cNvCxnSpPr/>
          <p:nvPr/>
        </p:nvCxnSpPr>
        <p:spPr>
          <a:xfrm>
            <a:off x="7099300" y="5574046"/>
            <a:ext cx="0" cy="10860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/>
          <p:cNvSpPr txBox="1"/>
          <p:nvPr/>
        </p:nvSpPr>
        <p:spPr>
          <a:xfrm>
            <a:off x="6781800" y="5798311"/>
            <a:ext cx="2799607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独立レイヤ</a:t>
            </a:r>
            <a:endParaRPr kumimoji="1" lang="en-US" altLang="ja-JP" sz="2800" dirty="0" smtClean="0"/>
          </a:p>
        </p:txBody>
      </p:sp>
      <p:grpSp>
        <p:nvGrpSpPr>
          <p:cNvPr id="69" name="グループ化 68"/>
          <p:cNvGrpSpPr/>
          <p:nvPr/>
        </p:nvGrpSpPr>
        <p:grpSpPr>
          <a:xfrm>
            <a:off x="454025" y="1448944"/>
            <a:ext cx="2705100" cy="5541647"/>
            <a:chOff x="454025" y="1448944"/>
            <a:chExt cx="2705100" cy="5541647"/>
          </a:xfrm>
        </p:grpSpPr>
        <p:grpSp>
          <p:nvGrpSpPr>
            <p:cNvPr id="34" name="グループ化 33"/>
            <p:cNvGrpSpPr/>
            <p:nvPr/>
          </p:nvGrpSpPr>
          <p:grpSpPr>
            <a:xfrm>
              <a:off x="454025" y="2096991"/>
              <a:ext cx="2705100" cy="4028450"/>
              <a:chOff x="-609600" y="2383895"/>
              <a:chExt cx="2705100" cy="4028450"/>
            </a:xfrm>
          </p:grpSpPr>
          <p:sp>
            <p:nvSpPr>
              <p:cNvPr id="10" name="角丸四角形 9"/>
              <p:cNvSpPr/>
              <p:nvPr/>
            </p:nvSpPr>
            <p:spPr>
              <a:xfrm>
                <a:off x="-609600" y="5790045"/>
                <a:ext cx="2705100" cy="6223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3200" dirty="0" smtClean="0">
                    <a:solidFill>
                      <a:schemeClr val="tx1"/>
                    </a:solidFill>
                  </a:rPr>
                  <a:t>Layer </a:t>
                </a:r>
                <a:r>
                  <a:rPr lang="en-US" altLang="ja-JP" sz="32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</a:t>
                </a:r>
                <a:r>
                  <a:rPr lang="en-US" altLang="ja-JP" sz="3200" dirty="0" smtClean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+1</a:t>
                </a:r>
                <a:endParaRPr kumimoji="1" lang="ja-JP" altLang="en-US" sz="3200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角丸四角形 10"/>
              <p:cNvSpPr/>
              <p:nvPr/>
            </p:nvSpPr>
            <p:spPr>
              <a:xfrm>
                <a:off x="-609600" y="4654661"/>
                <a:ext cx="2705100" cy="62230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3200" dirty="0" smtClean="0">
                    <a:solidFill>
                      <a:schemeClr val="tx1"/>
                    </a:solidFill>
                  </a:rPr>
                  <a:t>Layer </a:t>
                </a:r>
                <a:r>
                  <a:rPr lang="en-US" altLang="ja-JP" sz="3200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</a:t>
                </a:r>
                <a:endParaRPr kumimoji="1" lang="ja-JP" altLang="en-US" sz="3200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角丸四角形 11"/>
              <p:cNvSpPr/>
              <p:nvPr/>
            </p:nvSpPr>
            <p:spPr>
              <a:xfrm>
                <a:off x="-609600" y="3519278"/>
                <a:ext cx="2705100" cy="62230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3200" dirty="0" smtClean="0">
                    <a:solidFill>
                      <a:schemeClr val="tx1"/>
                    </a:solidFill>
                  </a:rPr>
                  <a:t>Layer </a:t>
                </a:r>
                <a:r>
                  <a:rPr lang="en-US" altLang="ja-JP" sz="3200" dirty="0" smtClean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  <a:endParaRPr kumimoji="1" lang="ja-JP" altLang="en-US" sz="3200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角丸四角形 12"/>
              <p:cNvSpPr/>
              <p:nvPr/>
            </p:nvSpPr>
            <p:spPr>
              <a:xfrm>
                <a:off x="-609600" y="2383895"/>
                <a:ext cx="2705100" cy="62230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3200" dirty="0" smtClean="0">
                    <a:solidFill>
                      <a:schemeClr val="tx1"/>
                    </a:solidFill>
                  </a:rPr>
                  <a:t>Layer </a:t>
                </a:r>
                <a:r>
                  <a:rPr lang="en-US" altLang="ja-JP" sz="3200" dirty="0" smtClean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endParaRPr kumimoji="1" lang="ja-JP" altLang="en-US" sz="3200" dirty="0" smtClean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直線矢印コネクタ 14"/>
              <p:cNvCxnSpPr>
                <a:stCxn id="13" idx="2"/>
                <a:endCxn id="12" idx="0"/>
              </p:cNvCxnSpPr>
              <p:nvPr/>
            </p:nvCxnSpPr>
            <p:spPr>
              <a:xfrm>
                <a:off x="742950" y="3006195"/>
                <a:ext cx="0" cy="513083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矢印コネクタ 28"/>
              <p:cNvCxnSpPr>
                <a:stCxn id="12" idx="2"/>
                <a:endCxn id="11" idx="0"/>
              </p:cNvCxnSpPr>
              <p:nvPr/>
            </p:nvCxnSpPr>
            <p:spPr>
              <a:xfrm>
                <a:off x="742950" y="4141578"/>
                <a:ext cx="0" cy="513083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/>
              <p:cNvCxnSpPr>
                <a:stCxn id="11" idx="2"/>
                <a:endCxn id="10" idx="0"/>
              </p:cNvCxnSpPr>
              <p:nvPr/>
            </p:nvCxnSpPr>
            <p:spPr>
              <a:xfrm>
                <a:off x="742950" y="5276961"/>
                <a:ext cx="0" cy="51308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テキスト ボックス 50"/>
            <p:cNvSpPr txBox="1"/>
            <p:nvPr/>
          </p:nvSpPr>
          <p:spPr>
            <a:xfrm>
              <a:off x="841375" y="1448944"/>
              <a:ext cx="19304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 smtClean="0"/>
                <a:t>1</a:t>
              </a:r>
              <a:endParaRPr kumimoji="1" lang="ja-JP" altLang="en-US" sz="2800" dirty="0" smtClean="0"/>
            </a:p>
          </p:txBody>
        </p:sp>
        <p:sp>
          <p:nvSpPr>
            <p:cNvPr id="66" name="テキスト ボックス 65"/>
            <p:cNvSpPr txBox="1"/>
            <p:nvPr/>
          </p:nvSpPr>
          <p:spPr>
            <a:xfrm rot="5400000">
              <a:off x="1352930" y="6275337"/>
              <a:ext cx="90728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･･･</a:t>
              </a:r>
              <a:endParaRPr kumimoji="1" lang="ja-JP" altLang="en-US" sz="2800" dirty="0" smtClean="0"/>
            </a:p>
          </p:txBody>
        </p:sp>
      </p:grpSp>
      <p:grpSp>
        <p:nvGrpSpPr>
          <p:cNvPr id="77" name="グループ化 76"/>
          <p:cNvGrpSpPr/>
          <p:nvPr/>
        </p:nvGrpSpPr>
        <p:grpSpPr>
          <a:xfrm>
            <a:off x="3835400" y="1448944"/>
            <a:ext cx="2705100" cy="5541649"/>
            <a:chOff x="3835400" y="1448944"/>
            <a:chExt cx="2705100" cy="5541649"/>
          </a:xfrm>
        </p:grpSpPr>
        <p:grpSp>
          <p:nvGrpSpPr>
            <p:cNvPr id="54" name="グループ化 53"/>
            <p:cNvGrpSpPr/>
            <p:nvPr/>
          </p:nvGrpSpPr>
          <p:grpSpPr>
            <a:xfrm>
              <a:off x="3835400" y="1448944"/>
              <a:ext cx="2705100" cy="4676497"/>
              <a:chOff x="5143500" y="1448944"/>
              <a:chExt cx="2705100" cy="4676497"/>
            </a:xfrm>
          </p:grpSpPr>
          <p:grpSp>
            <p:nvGrpSpPr>
              <p:cNvPr id="43" name="グループ化 42"/>
              <p:cNvGrpSpPr/>
              <p:nvPr/>
            </p:nvGrpSpPr>
            <p:grpSpPr>
              <a:xfrm>
                <a:off x="5143500" y="2096991"/>
                <a:ext cx="2705100" cy="4028450"/>
                <a:chOff x="-609600" y="2383895"/>
                <a:chExt cx="2705100" cy="4028450"/>
              </a:xfrm>
            </p:grpSpPr>
            <p:sp>
              <p:nvSpPr>
                <p:cNvPr id="44" name="角丸四角形 43"/>
                <p:cNvSpPr/>
                <p:nvPr/>
              </p:nvSpPr>
              <p:spPr>
                <a:xfrm>
                  <a:off x="-609600" y="5790045"/>
                  <a:ext cx="2705100" cy="622300"/>
                </a:xfrm>
                <a:prstGeom prst="roundRect">
                  <a:avLst/>
                </a:prstGeom>
                <a:solidFill>
                  <a:srgbClr val="7AF69A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3200" dirty="0" smtClean="0">
                      <a:solidFill>
                        <a:schemeClr val="tx1"/>
                      </a:solidFill>
                    </a:rPr>
                    <a:t>Layer </a:t>
                  </a:r>
                  <a:r>
                    <a:rPr lang="en-US" altLang="ja-JP" sz="3200" i="1" dirty="0" smtClean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</a:t>
                  </a:r>
                  <a:r>
                    <a:rPr lang="en-US" altLang="ja-JP" sz="3200" dirty="0" smtClean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+1</a:t>
                  </a:r>
                  <a:endParaRPr kumimoji="1" lang="ja-JP" altLang="en-US" sz="3200" dirty="0" smtClean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角丸四角形 44"/>
                <p:cNvSpPr/>
                <p:nvPr/>
              </p:nvSpPr>
              <p:spPr>
                <a:xfrm>
                  <a:off x="-609600" y="4654661"/>
                  <a:ext cx="2705100" cy="622300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3200" dirty="0" smtClean="0">
                      <a:solidFill>
                        <a:schemeClr val="tx1"/>
                      </a:solidFill>
                    </a:rPr>
                    <a:t>Layer </a:t>
                  </a:r>
                  <a:r>
                    <a:rPr lang="en-US" altLang="ja-JP" sz="3200" i="1" dirty="0" err="1" smtClean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</a:t>
                  </a:r>
                  <a:endParaRPr kumimoji="1" lang="ja-JP" altLang="en-US" sz="3200" dirty="0" smtClean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角丸四角形 45"/>
                <p:cNvSpPr/>
                <p:nvPr/>
              </p:nvSpPr>
              <p:spPr>
                <a:xfrm>
                  <a:off x="-609600" y="3519278"/>
                  <a:ext cx="2705100" cy="622300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3200" dirty="0" smtClean="0">
                      <a:solidFill>
                        <a:schemeClr val="tx1"/>
                      </a:solidFill>
                    </a:rPr>
                    <a:t>Layer </a:t>
                  </a:r>
                  <a:r>
                    <a:rPr lang="en-US" altLang="ja-JP" sz="3200" dirty="0" smtClean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2</a:t>
                  </a:r>
                  <a:endParaRPr kumimoji="1" lang="ja-JP" altLang="en-US" sz="3200" dirty="0" smtClean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角丸四角形 46"/>
                <p:cNvSpPr/>
                <p:nvPr/>
              </p:nvSpPr>
              <p:spPr>
                <a:xfrm>
                  <a:off x="-609600" y="2383895"/>
                  <a:ext cx="2705100" cy="622300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3200" dirty="0" smtClean="0">
                      <a:solidFill>
                        <a:schemeClr val="tx1"/>
                      </a:solidFill>
                    </a:rPr>
                    <a:t>Layer </a:t>
                  </a:r>
                  <a:r>
                    <a:rPr lang="en-US" altLang="ja-JP" sz="3200" dirty="0" smtClean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1</a:t>
                  </a:r>
                  <a:endParaRPr kumimoji="1" lang="ja-JP" altLang="en-US" sz="3200" dirty="0" smtClean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8" name="直線矢印コネクタ 47"/>
                <p:cNvCxnSpPr>
                  <a:stCxn id="47" idx="2"/>
                  <a:endCxn id="46" idx="0"/>
                </p:cNvCxnSpPr>
                <p:nvPr/>
              </p:nvCxnSpPr>
              <p:spPr>
                <a:xfrm>
                  <a:off x="742950" y="3006195"/>
                  <a:ext cx="0" cy="513083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線矢印コネクタ 48"/>
                <p:cNvCxnSpPr>
                  <a:stCxn id="46" idx="2"/>
                  <a:endCxn id="45" idx="0"/>
                </p:cNvCxnSpPr>
                <p:nvPr/>
              </p:nvCxnSpPr>
              <p:spPr>
                <a:xfrm>
                  <a:off x="742950" y="4141578"/>
                  <a:ext cx="0" cy="513083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線矢印コネクタ 49"/>
                <p:cNvCxnSpPr>
                  <a:stCxn id="45" idx="2"/>
                  <a:endCxn id="44" idx="0"/>
                </p:cNvCxnSpPr>
                <p:nvPr/>
              </p:nvCxnSpPr>
              <p:spPr>
                <a:xfrm>
                  <a:off x="742950" y="5276961"/>
                  <a:ext cx="0" cy="513084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テキスト ボックス 51"/>
              <p:cNvSpPr txBox="1"/>
              <p:nvPr/>
            </p:nvSpPr>
            <p:spPr>
              <a:xfrm>
                <a:off x="5530850" y="1448944"/>
                <a:ext cx="1930400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76" name="テキスト ボックス 75"/>
            <p:cNvSpPr txBox="1"/>
            <p:nvPr/>
          </p:nvSpPr>
          <p:spPr>
            <a:xfrm rot="5400000">
              <a:off x="4734305" y="6275339"/>
              <a:ext cx="90728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･･･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68721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 smtClean="0"/>
              <a:t>MFEA</a:t>
            </a:r>
            <a:r>
              <a:rPr kumimoji="1" lang="ja-JP" altLang="en-US" dirty="0" smtClean="0"/>
              <a:t>では，</a:t>
            </a:r>
            <a:r>
              <a:rPr kumimoji="1" lang="ja-JP" altLang="en-US" dirty="0" smtClean="0">
                <a:solidFill>
                  <a:schemeClr val="accent1"/>
                </a:solidFill>
              </a:rPr>
              <a:t>独立して</a:t>
            </a:r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の最適化可能か</a:t>
            </a:r>
            <a:r>
              <a:rPr kumimoji="1" lang="en-US" altLang="ja-JP" dirty="0" smtClean="0"/>
              <a:t>?</a:t>
            </a:r>
          </a:p>
          <a:p>
            <a:pPr lvl="1"/>
            <a:r>
              <a:rPr lang="ja-JP" altLang="en-US" dirty="0" smtClean="0"/>
              <a:t>実験</a:t>
            </a:r>
            <a:r>
              <a:rPr lang="en-US" altLang="ja-JP" dirty="0" smtClean="0"/>
              <a:t>1:</a:t>
            </a:r>
            <a:r>
              <a:rPr lang="ja-JP" altLang="en-US" dirty="0" smtClean="0"/>
              <a:t> 独立探索で最適化できるか調査</a:t>
            </a:r>
            <a:endParaRPr lang="en-US" altLang="ja-JP" dirty="0" smtClean="0"/>
          </a:p>
          <a:p>
            <a:pPr lvl="1"/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MFEA</a:t>
            </a:r>
            <a:r>
              <a:rPr lang="ja-JP" altLang="en-US" dirty="0" smtClean="0"/>
              <a:t>では，</a:t>
            </a:r>
            <a:r>
              <a:rPr lang="ja-JP" altLang="en-US" dirty="0" smtClean="0">
                <a:solidFill>
                  <a:schemeClr val="accent1"/>
                </a:solidFill>
              </a:rPr>
              <a:t>同時に</a:t>
            </a:r>
            <a:r>
              <a:rPr lang="en-US" altLang="ja-JP" dirty="0" smtClean="0"/>
              <a:t>DQN</a:t>
            </a:r>
            <a:r>
              <a:rPr lang="ja-JP" altLang="en-US" dirty="0" smtClean="0"/>
              <a:t>の最適化可能か</a:t>
            </a:r>
            <a:r>
              <a:rPr lang="en-US" altLang="ja-JP" dirty="0" smtClean="0"/>
              <a:t>?</a:t>
            </a:r>
          </a:p>
          <a:p>
            <a:pPr lvl="1"/>
            <a:r>
              <a:rPr lang="ja-JP" altLang="en-US" dirty="0" smtClean="0"/>
              <a:t>実験</a:t>
            </a:r>
            <a:r>
              <a:rPr lang="en-US" altLang="ja-JP" dirty="0" smtClean="0"/>
              <a:t>2:</a:t>
            </a:r>
            <a:r>
              <a:rPr lang="ja-JP" altLang="en-US" dirty="0" smtClean="0"/>
              <a:t> </a:t>
            </a:r>
            <a:r>
              <a:rPr lang="en-US" altLang="ja-JP" dirty="0" smtClean="0"/>
              <a:t>MFEA</a:t>
            </a:r>
            <a:r>
              <a:rPr lang="ja-JP" altLang="en-US" dirty="0" smtClean="0"/>
              <a:t>で同時最適化ができるか調査</a:t>
            </a:r>
            <a:endParaRPr lang="en-US" altLang="ja-JP" dirty="0" smtClean="0"/>
          </a:p>
          <a:p>
            <a:pPr lvl="1"/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MFEA</a:t>
            </a:r>
            <a:r>
              <a:rPr lang="ja-JP" altLang="en-US" dirty="0" smtClean="0"/>
              <a:t>の</a:t>
            </a:r>
            <a:r>
              <a:rPr lang="ja-JP" altLang="en-US" dirty="0" smtClean="0">
                <a:solidFill>
                  <a:schemeClr val="accent1"/>
                </a:solidFill>
              </a:rPr>
              <a:t>情報共有</a:t>
            </a:r>
            <a:r>
              <a:rPr lang="ja-JP" altLang="en-US" dirty="0" smtClean="0">
                <a:solidFill>
                  <a:schemeClr val="accent1"/>
                </a:solidFill>
              </a:rPr>
              <a:t>を定量的</a:t>
            </a:r>
            <a:r>
              <a:rPr lang="ja-JP" altLang="en-US" dirty="0" smtClean="0"/>
              <a:t>に表現できるか</a:t>
            </a:r>
            <a:r>
              <a:rPr lang="en-US" altLang="ja-JP" dirty="0" smtClean="0"/>
              <a:t>?</a:t>
            </a:r>
          </a:p>
          <a:p>
            <a:pPr lvl="1"/>
            <a:r>
              <a:rPr lang="ja-JP" altLang="en-US" dirty="0" smtClean="0"/>
              <a:t>実験</a:t>
            </a:r>
            <a:r>
              <a:rPr lang="en-US" altLang="ja-JP" dirty="0" smtClean="0"/>
              <a:t>3:</a:t>
            </a:r>
            <a:r>
              <a:rPr lang="ja-JP" altLang="en-US" dirty="0" smtClean="0"/>
              <a:t> タスク間交叉で生成された個体が有益だったか調査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Research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Question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949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ネットワーク構成は以下の通り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※</a:t>
            </a:r>
            <a:r>
              <a:rPr lang="ja-JP" altLang="en-US" dirty="0" smtClean="0"/>
              <a:t>最適化するパラメータは</a:t>
            </a:r>
            <a:r>
              <a:rPr lang="en-US" altLang="ja-JP" dirty="0" smtClean="0"/>
              <a:t>962</a:t>
            </a:r>
            <a:r>
              <a:rPr lang="ja-JP" altLang="en-US" dirty="0" smtClean="0"/>
              <a:t>次元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DQN</a:t>
            </a:r>
            <a:r>
              <a:rPr kumimoji="1" lang="ja-JP" altLang="en-US" dirty="0" smtClean="0"/>
              <a:t>のネットワーク構成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03" y="2009772"/>
            <a:ext cx="5081667" cy="4088207"/>
          </a:xfrm>
          <a:prstGeom prst="rect">
            <a:avLst/>
          </a:prstGeom>
        </p:spPr>
      </p:pic>
      <p:grpSp>
        <p:nvGrpSpPr>
          <p:cNvPr id="7" name="グループ化 6"/>
          <p:cNvGrpSpPr/>
          <p:nvPr/>
        </p:nvGrpSpPr>
        <p:grpSpPr>
          <a:xfrm>
            <a:off x="362043" y="3214339"/>
            <a:ext cx="2799607" cy="1668760"/>
            <a:chOff x="362043" y="2298537"/>
            <a:chExt cx="2799607" cy="1668760"/>
          </a:xfrm>
        </p:grpSpPr>
        <p:sp>
          <p:nvSpPr>
            <p:cNvPr id="8" name="左中かっこ 7"/>
            <p:cNvSpPr/>
            <p:nvPr/>
          </p:nvSpPr>
          <p:spPr>
            <a:xfrm>
              <a:off x="2789830" y="2298537"/>
              <a:ext cx="359945" cy="1668760"/>
            </a:xfrm>
            <a:prstGeom prst="leftBrace">
              <a:avLst>
                <a:gd name="adj1" fmla="val 58727"/>
                <a:gd name="adj2" fmla="val 50000"/>
              </a:avLst>
            </a:prstGeom>
            <a:ln w="762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362043" y="2644994"/>
              <a:ext cx="2799607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共有</a:t>
              </a:r>
              <a:r>
                <a:rPr kumimoji="1" lang="ja-JP" altLang="en-US" sz="2800" dirty="0" smtClean="0"/>
                <a:t>レイヤ</a:t>
              </a:r>
              <a:endParaRPr kumimoji="1" lang="en-US" altLang="ja-JP" sz="2800" dirty="0" smtClean="0"/>
            </a:p>
            <a:p>
              <a:pPr algn="ctr"/>
              <a:r>
                <a:rPr lang="en-US" altLang="ja-JP" sz="2800" dirty="0" smtClean="0"/>
                <a:t>(3</a:t>
              </a:r>
              <a:r>
                <a:rPr lang="ja-JP" altLang="en-US" sz="2800" dirty="0" smtClean="0"/>
                <a:t>層</a:t>
              </a:r>
              <a:r>
                <a:rPr lang="en-US" altLang="ja-JP" sz="2800" dirty="0" smtClean="0"/>
                <a:t>)</a:t>
              </a:r>
              <a:endParaRPr lang="en-US" altLang="ja-JP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833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：</a:t>
            </a:r>
            <a:r>
              <a:rPr kumimoji="1" lang="en-US" altLang="ja-JP" dirty="0" err="1" smtClean="0"/>
              <a:t>cartpole</a:t>
            </a:r>
            <a:r>
              <a:rPr kumimoji="1" lang="ja-JP" altLang="en-US" dirty="0" smtClean="0"/>
              <a:t>問題</a:t>
            </a:r>
            <a:endParaRPr lang="en-US" altLang="ja-JP" b="1" dirty="0" smtClean="0"/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057400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5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：</a:t>
            </a:r>
            <a:r>
              <a:rPr kumimoji="1" lang="en-US" altLang="ja-JP" dirty="0" err="1" smtClean="0"/>
              <a:t>cartpole</a:t>
            </a:r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観測値</a:t>
            </a:r>
            <a:r>
              <a:rPr lang="en-US" altLang="ja-JP" b="1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カートの位置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カートの速度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ポールの角度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ポールの先端の</a:t>
            </a:r>
            <a:r>
              <a:rPr lang="ja-JP" altLang="en-US" sz="2800" dirty="0" smtClean="0"/>
              <a:t>速度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endParaRPr lang="en-US" altLang="ja-JP" sz="2800" dirty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設定可能な環境</a:t>
            </a:r>
            <a:r>
              <a:rPr lang="en-US" altLang="ja-JP" b="1" dirty="0" smtClean="0"/>
              <a:t>&gt;</a:t>
            </a:r>
          </a:p>
          <a:p>
            <a:r>
              <a:rPr lang="ja-JP" altLang="en-US" sz="2800" dirty="0"/>
              <a:t>棒</a:t>
            </a:r>
            <a:r>
              <a:rPr lang="ja-JP" altLang="en-US" sz="2800" dirty="0" smtClean="0"/>
              <a:t>の</a:t>
            </a:r>
            <a:r>
              <a:rPr lang="ja-JP" altLang="en-US" sz="2800" dirty="0"/>
              <a:t>長</a:t>
            </a:r>
            <a:r>
              <a:rPr lang="ja-JP" altLang="en-US" sz="2800" dirty="0" smtClean="0"/>
              <a:t>さの設定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771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：</a:t>
            </a:r>
            <a:r>
              <a:rPr kumimoji="1" lang="en-US" altLang="ja-JP" dirty="0" err="1" smtClean="0"/>
              <a:t>cartpole</a:t>
            </a:r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行動内容</a:t>
            </a:r>
            <a:r>
              <a:rPr lang="en-US" altLang="ja-JP" b="1" dirty="0" smtClean="0"/>
              <a:t>&gt;</a:t>
            </a:r>
          </a:p>
          <a:p>
            <a:r>
              <a:rPr lang="ja-JP" altLang="en-US" sz="2800" dirty="0"/>
              <a:t>カート</a:t>
            </a:r>
            <a:r>
              <a:rPr lang="ja-JP" altLang="en-US" sz="2800" dirty="0" smtClean="0"/>
              <a:t>を左右に動かす</a:t>
            </a:r>
            <a:endParaRPr lang="en-US" altLang="ja-JP" sz="2800" dirty="0" smtClean="0"/>
          </a:p>
          <a:p>
            <a:endParaRPr lang="en-US" altLang="ja-JP" sz="2800" dirty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報酬</a:t>
            </a:r>
            <a:r>
              <a:rPr lang="en-US" altLang="ja-JP" b="1" dirty="0" smtClean="0"/>
              <a:t>&gt;</a:t>
            </a:r>
          </a:p>
          <a:p>
            <a:r>
              <a:rPr lang="ja-JP" altLang="en-US" sz="2800" dirty="0" smtClean="0"/>
              <a:t>倒立時間に応じた値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終了条件</a:t>
            </a:r>
            <a:r>
              <a:rPr lang="en-US" altLang="ja-JP" b="1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ポールの角度が</a:t>
            </a:r>
            <a:r>
              <a:rPr lang="en-US" altLang="ja-JP" sz="2800" dirty="0" smtClean="0"/>
              <a:t>±1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度</a:t>
            </a:r>
            <a:r>
              <a:rPr lang="ja-JP" altLang="en-US" sz="2800" dirty="0"/>
              <a:t>以上傾く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カートが画面外に移動する</a:t>
            </a:r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044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lang="en-US" altLang="ja-JP" dirty="0"/>
              <a:t>2</a:t>
            </a:r>
            <a:r>
              <a:rPr kumimoji="1" lang="ja-JP" altLang="en-US" dirty="0" smtClean="0"/>
              <a:t>：</a:t>
            </a:r>
            <a:r>
              <a:rPr lang="en-US" altLang="ja-JP" dirty="0" err="1" smtClean="0"/>
              <a:t>acrobot</a:t>
            </a:r>
            <a:r>
              <a:rPr kumimoji="1" lang="ja-JP" altLang="en-US" dirty="0" smtClean="0"/>
              <a:t>問題</a:t>
            </a:r>
            <a:endParaRPr lang="en-US" altLang="ja-JP" b="1" dirty="0" smtClean="0"/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0" y="2057400"/>
            <a:ext cx="508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5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lang="en-US" altLang="ja-JP" dirty="0" smtClean="0"/>
              <a:t>2</a:t>
            </a:r>
            <a:r>
              <a:rPr kumimoji="1" lang="ja-JP" altLang="en-US" dirty="0" smtClean="0"/>
              <a:t>：</a:t>
            </a:r>
            <a:r>
              <a:rPr kumimoji="1" lang="en-US" altLang="ja-JP" dirty="0" err="1" smtClean="0"/>
              <a:t>acrobot</a:t>
            </a:r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観測値</a:t>
            </a:r>
            <a:r>
              <a:rPr lang="en-US" altLang="ja-JP" b="1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リンク</a:t>
            </a:r>
            <a:r>
              <a:rPr lang="en-US" altLang="ja-JP" sz="2800" dirty="0" smtClean="0"/>
              <a:t>1</a:t>
            </a:r>
            <a:r>
              <a:rPr lang="ja-JP" altLang="en-US" sz="2800" dirty="0" smtClean="0"/>
              <a:t>の角度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リンク</a:t>
            </a:r>
            <a:r>
              <a:rPr lang="en-US" altLang="ja-JP" sz="2800" dirty="0" smtClean="0"/>
              <a:t>1</a:t>
            </a:r>
            <a:r>
              <a:rPr lang="ja-JP" altLang="en-US" sz="2800" dirty="0" smtClean="0"/>
              <a:t>の角速度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リンク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の角度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リンク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の</a:t>
            </a:r>
            <a:r>
              <a:rPr lang="ja-JP" altLang="en-US" sz="2800" dirty="0"/>
              <a:t>角</a:t>
            </a:r>
            <a:r>
              <a:rPr lang="ja-JP" altLang="en-US" sz="2800" dirty="0" smtClean="0"/>
              <a:t>速度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endParaRPr lang="en-US" altLang="ja-JP" sz="2800" dirty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設定可能な環境</a:t>
            </a:r>
            <a:r>
              <a:rPr lang="en-US" altLang="ja-JP" b="1" dirty="0"/>
              <a:t>&gt;</a:t>
            </a:r>
          </a:p>
          <a:p>
            <a:r>
              <a:rPr lang="ja-JP" altLang="en-US" sz="2800" dirty="0"/>
              <a:t>ジョイント</a:t>
            </a:r>
            <a:r>
              <a:rPr lang="ja-JP" altLang="en-US" sz="2800" dirty="0" smtClean="0"/>
              <a:t>までの長さ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7458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lang="en-US" altLang="ja-JP" dirty="0"/>
              <a:t>2</a:t>
            </a:r>
            <a:r>
              <a:rPr kumimoji="1" lang="ja-JP" altLang="en-US" dirty="0" smtClean="0"/>
              <a:t>：</a:t>
            </a:r>
            <a:r>
              <a:rPr lang="en-US" altLang="ja-JP" dirty="0" err="1"/>
              <a:t>acrobot</a:t>
            </a:r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行動内容</a:t>
            </a:r>
            <a:r>
              <a:rPr lang="en-US" altLang="ja-JP" b="1" dirty="0" smtClean="0"/>
              <a:t>&gt;</a:t>
            </a:r>
          </a:p>
          <a:p>
            <a:r>
              <a:rPr lang="ja-JP" altLang="en-US" sz="2800" dirty="0"/>
              <a:t>ジョイント</a:t>
            </a:r>
            <a:r>
              <a:rPr lang="ja-JP" altLang="en-US" sz="2800" dirty="0" smtClean="0"/>
              <a:t>にトルクを加える</a:t>
            </a:r>
            <a:endParaRPr lang="en-US" altLang="ja-JP" sz="2800" dirty="0"/>
          </a:p>
          <a:p>
            <a:endParaRPr lang="en-US" altLang="ja-JP" sz="2800" dirty="0" smtClean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報酬</a:t>
            </a:r>
            <a:r>
              <a:rPr lang="en-US" altLang="ja-JP" b="1" dirty="0" smtClean="0"/>
              <a:t>&gt;</a:t>
            </a:r>
          </a:p>
          <a:p>
            <a:r>
              <a:rPr lang="en-US" altLang="ja-JP" sz="2800" dirty="0" smtClean="0"/>
              <a:t>-1(</a:t>
            </a:r>
            <a:r>
              <a:rPr lang="ja-JP" altLang="en-US" sz="2800" dirty="0" smtClean="0"/>
              <a:t>＝終了までの時間に応じた値</a:t>
            </a:r>
            <a:r>
              <a:rPr lang="en-US" altLang="ja-JP" sz="2800" dirty="0" smtClean="0"/>
              <a:t>)</a:t>
            </a:r>
          </a:p>
          <a:p>
            <a:endParaRPr lang="en-US" altLang="ja-JP" sz="2800" dirty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終了条件</a:t>
            </a:r>
            <a:r>
              <a:rPr lang="en-US" altLang="ja-JP" b="1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ポール</a:t>
            </a:r>
            <a:r>
              <a:rPr lang="ja-JP" altLang="en-US" sz="2800" dirty="0" smtClean="0"/>
              <a:t>の先端が頂点に到達する</a:t>
            </a:r>
            <a:endParaRPr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160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lang="en-US" altLang="ja-JP" dirty="0" smtClean="0"/>
              <a:t>3</a:t>
            </a:r>
            <a:r>
              <a:rPr kumimoji="1" lang="ja-JP" altLang="en-US" dirty="0" smtClean="0"/>
              <a:t>：</a:t>
            </a:r>
            <a:r>
              <a:rPr kumimoji="1" lang="en-US" altLang="ja-JP" dirty="0" smtClean="0"/>
              <a:t>pendulum</a:t>
            </a:r>
            <a:r>
              <a:rPr kumimoji="1" lang="ja-JP" altLang="en-US" dirty="0" smtClean="0"/>
              <a:t>問題</a:t>
            </a:r>
            <a:endParaRPr lang="en-US" altLang="ja-JP" b="1" dirty="0" smtClean="0"/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EBEBEE"/>
              </a:clrFrom>
              <a:clrTo>
                <a:srgbClr val="EBEB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20574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3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lang="en-US" altLang="ja-JP" dirty="0"/>
              <a:t>3</a:t>
            </a:r>
            <a:r>
              <a:rPr kumimoji="1" lang="ja-JP" altLang="en-US" dirty="0" smtClean="0"/>
              <a:t>：</a:t>
            </a:r>
            <a:r>
              <a:rPr lang="en-US" altLang="ja-JP" dirty="0" smtClean="0"/>
              <a:t>pendulum</a:t>
            </a:r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観測値</a:t>
            </a:r>
            <a:r>
              <a:rPr lang="en-US" altLang="ja-JP" b="1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ポール</a:t>
            </a:r>
            <a:r>
              <a:rPr lang="ja-JP" altLang="en-US" sz="2800" dirty="0" smtClean="0"/>
              <a:t>の角度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ポール</a:t>
            </a:r>
            <a:r>
              <a:rPr lang="ja-JP" altLang="en-US" sz="2800" dirty="0" smtClean="0"/>
              <a:t>の角速度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設定可能な環境</a:t>
            </a:r>
            <a:r>
              <a:rPr lang="en-US" altLang="ja-JP" b="1" dirty="0"/>
              <a:t>&gt;</a:t>
            </a:r>
          </a:p>
          <a:p>
            <a:r>
              <a:rPr lang="ja-JP" altLang="en-US" sz="2800" dirty="0" smtClean="0"/>
              <a:t>最大速度・トルクの大きさ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346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</a:t>
            </a:r>
            <a:r>
              <a:rPr lang="en-US" altLang="ja-JP" dirty="0" smtClean="0"/>
              <a:t>3</a:t>
            </a:r>
            <a:r>
              <a:rPr kumimoji="1" lang="ja-JP" altLang="en-US" dirty="0" smtClean="0"/>
              <a:t>：</a:t>
            </a:r>
            <a:r>
              <a:rPr lang="en-US" altLang="ja-JP" dirty="0" smtClean="0"/>
              <a:t>pendulum</a:t>
            </a:r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行動内容</a:t>
            </a:r>
            <a:r>
              <a:rPr lang="en-US" altLang="ja-JP" b="1" dirty="0" smtClean="0"/>
              <a:t>&gt;</a:t>
            </a:r>
          </a:p>
          <a:p>
            <a:r>
              <a:rPr lang="ja-JP" altLang="en-US" sz="2800" dirty="0"/>
              <a:t>ジョイント</a:t>
            </a:r>
            <a:r>
              <a:rPr lang="ja-JP" altLang="en-US" sz="2800" dirty="0" smtClean="0"/>
              <a:t>にトルクを加える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報酬</a:t>
            </a:r>
            <a:r>
              <a:rPr lang="en-US" altLang="ja-JP" b="1" dirty="0"/>
              <a:t>&gt;</a:t>
            </a:r>
          </a:p>
          <a:p>
            <a:r>
              <a:rPr lang="ja-JP" altLang="en-US" sz="2800" dirty="0"/>
              <a:t>ポールの角度</a:t>
            </a:r>
            <a:r>
              <a:rPr lang="ja-JP" altLang="en-US" sz="2800" dirty="0" smtClean="0"/>
              <a:t>・角速度</a:t>
            </a:r>
            <a:r>
              <a:rPr lang="ja-JP" altLang="en-US" sz="2800" dirty="0"/>
              <a:t>・加えるトルクに応じた</a:t>
            </a:r>
            <a:r>
              <a:rPr lang="ja-JP" altLang="en-US" sz="2800" dirty="0" smtClean="0"/>
              <a:t>値</a:t>
            </a:r>
            <a:endParaRPr lang="en-US" altLang="ja-JP" sz="2800" dirty="0" smtClean="0"/>
          </a:p>
          <a:p>
            <a:endParaRPr lang="en-US" altLang="ja-JP" sz="2800" dirty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終了条件</a:t>
            </a:r>
            <a:r>
              <a:rPr lang="en-US" altLang="ja-JP" b="1" dirty="0"/>
              <a:t>&gt;</a:t>
            </a:r>
          </a:p>
          <a:p>
            <a:r>
              <a:rPr lang="ja-JP" altLang="en-US" sz="2800" dirty="0"/>
              <a:t>特</a:t>
            </a:r>
            <a:r>
              <a:rPr lang="ja-JP" altLang="en-US" sz="2800" dirty="0" smtClean="0"/>
              <a:t>にな</a:t>
            </a:r>
            <a:r>
              <a:rPr lang="ja-JP" altLang="en-US" sz="2800" dirty="0"/>
              <a:t>し</a:t>
            </a:r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問題設定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80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各</a:t>
            </a:r>
            <a:r>
              <a:rPr kumimoji="1" lang="ja-JP" altLang="en-US" dirty="0" smtClean="0"/>
              <a:t>問題に対し，</a:t>
            </a:r>
            <a:r>
              <a:rPr kumimoji="1" lang="en-US" altLang="ja-JP" dirty="0" smtClean="0"/>
              <a:t>4</a:t>
            </a:r>
            <a:r>
              <a:rPr kumimoji="1" lang="ja-JP" altLang="en-US" dirty="0" smtClean="0"/>
              <a:t>種類の環境を設定する．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環境設定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81328"/>
              </p:ext>
            </p:extLst>
          </p:nvPr>
        </p:nvGraphicFramePr>
        <p:xfrm>
          <a:off x="144304" y="2774537"/>
          <a:ext cx="885539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455"/>
                <a:gridCol w="2256155"/>
                <a:gridCol w="1229042"/>
                <a:gridCol w="1229042"/>
                <a:gridCol w="1283018"/>
                <a:gridCol w="1249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問題名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変更する値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環境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環境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環境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環境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cartpole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ポールの長さ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0.6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0.7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0.4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acrobat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ジョイントまでの長さ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pendulum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最大速度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トルク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8 / 2.0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6 / 2.0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10 / 2.0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8 / 2.5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24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>
                <a:ea typeface="ＭＳ Ｐゴシック" panose="020B0600070205080204" pitchFamily="50" charset="-128"/>
              </a:rPr>
              <a:t>&lt;</a:t>
            </a:r>
            <a:r>
              <a:rPr lang="ja-JP" altLang="en-US" b="1" dirty="0">
                <a:ea typeface="ＭＳ Ｐゴシック" panose="020B0600070205080204" pitchFamily="50" charset="-128"/>
              </a:rPr>
              <a:t>実験設定</a:t>
            </a:r>
            <a:r>
              <a:rPr lang="en-US" altLang="ja-JP" b="1" dirty="0">
                <a:ea typeface="ＭＳ Ｐゴシック" panose="020B0600070205080204" pitchFamily="50" charset="-128"/>
              </a:rPr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ea typeface="ＭＳ Ｐゴシック" panose="020B0600070205080204" pitchFamily="50" charset="-128"/>
              </a:rPr>
              <a:t>個体群サイズ</a:t>
            </a:r>
            <a:r>
              <a:rPr lang="en-US" altLang="ja-JP" dirty="0">
                <a:ea typeface="ＭＳ Ｐゴシック" panose="020B0600070205080204" pitchFamily="50" charset="-128"/>
              </a:rPr>
              <a:t>: 100(</a:t>
            </a:r>
            <a:r>
              <a:rPr lang="ja-JP" altLang="en-US" dirty="0">
                <a:ea typeface="ＭＳ Ｐゴシック" panose="020B0600070205080204" pitchFamily="50" charset="-128"/>
              </a:rPr>
              <a:t>各タスク</a:t>
            </a:r>
            <a:r>
              <a:rPr lang="en-US" altLang="ja-JP" dirty="0">
                <a:ea typeface="ＭＳ Ｐゴシック" panose="020B0600070205080204" pitchFamily="50" charset="-128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ja-JP" i="1" dirty="0" err="1" smtClean="0">
                <a:latin typeface="Times New Roman" panose="02020603050405020304" pitchFamily="18" charset="0"/>
                <a:ea typeface="ＭＳ Ｐゴシック" panose="020B0600070205080204" pitchFamily="50" charset="-128"/>
                <a:cs typeface="Times New Roman" panose="02020603050405020304" pitchFamily="18" charset="0"/>
              </a:rPr>
              <a:t>rmp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: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0.3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ja-JP" altLang="en-US" dirty="0">
                <a:ea typeface="ＭＳ Ｐゴシック" panose="020B0600070205080204" pitchFamily="50" charset="-128"/>
              </a:rPr>
              <a:t>評価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エピソード数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: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50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ja-JP" altLang="en-US" dirty="0">
                <a:ea typeface="ＭＳ Ｐゴシック" panose="020B0600070205080204" pitchFamily="50" charset="-128"/>
              </a:rPr>
              <a:t>テスト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エピソード数</a:t>
            </a:r>
            <a:r>
              <a:rPr lang="en-US" altLang="ja-JP" dirty="0">
                <a:ea typeface="ＭＳ Ｐゴシック" panose="020B0600070205080204" pitchFamily="50" charset="-128"/>
              </a:rPr>
              <a:t>:</a:t>
            </a:r>
            <a:r>
              <a:rPr lang="ja-JP" altLang="en-US" dirty="0">
                <a:ea typeface="ＭＳ Ｐゴシック" panose="020B0600070205080204" pitchFamily="50" charset="-128"/>
              </a:rPr>
              <a:t>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250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ea typeface="ＭＳ Ｐゴシック" panose="020B0600070205080204" pitchFamily="50" charset="-128"/>
              </a:rPr>
              <a:t>評価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回数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: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6,000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回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(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各タスク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)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ea typeface="ＭＳ Ｐゴシック" panose="020B0600070205080204" pitchFamily="50" charset="-128"/>
              </a:rPr>
              <a:t>試行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回数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: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 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5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回</a:t>
            </a:r>
            <a:endParaRPr lang="en-US" altLang="ja-JP" dirty="0">
              <a:ea typeface="ＭＳ Ｐゴシック" panose="020B0600070205080204" pitchFamily="50" charset="-128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8459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各タスクに対して</a:t>
            </a:r>
            <a:r>
              <a:rPr kumimoji="1" lang="en-US" altLang="ja-JP" dirty="0" smtClean="0"/>
              <a:t>MFEA(GA)</a:t>
            </a:r>
            <a:r>
              <a:rPr kumimoji="1" lang="ja-JP" altLang="en-US" dirty="0" smtClean="0"/>
              <a:t>を適用し最適化する．</a:t>
            </a:r>
            <a:endParaRPr kumimoji="1" lang="en-US" altLang="ja-JP" dirty="0" smtClean="0"/>
          </a:p>
          <a:p>
            <a:r>
              <a:rPr lang="en-US" altLang="ja-JP" dirty="0" smtClean="0"/>
              <a:t>(</a:t>
            </a:r>
            <a:r>
              <a:rPr lang="ja-JP" altLang="en-US" dirty="0" smtClean="0"/>
              <a:t>≠　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dirty="0" smtClean="0"/>
              <a:t>＝</a:t>
            </a:r>
            <a:r>
              <a:rPr lang="en-US" altLang="ja-JP" dirty="0" smtClean="0"/>
              <a:t>0</a:t>
            </a:r>
            <a:r>
              <a:rPr lang="ja-JP" altLang="en-US" dirty="0" smtClean="0"/>
              <a:t>で全タスクを最適化する．</a:t>
            </a:r>
            <a:r>
              <a:rPr lang="en-US" altLang="ja-JP" dirty="0" smtClean="0"/>
              <a:t>)</a:t>
            </a:r>
          </a:p>
          <a:p>
            <a:endParaRPr kumimoji="1" lang="en-US" altLang="ja-JP" dirty="0"/>
          </a:p>
          <a:p>
            <a:r>
              <a:rPr lang="ja-JP" altLang="en-US" dirty="0" smtClean="0"/>
              <a:t>このとき，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探索空間の縮小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タスク間で</a:t>
            </a:r>
            <a:r>
              <a:rPr lang="ja-JP" altLang="en-US" dirty="0"/>
              <a:t>の</a:t>
            </a:r>
            <a:r>
              <a:rPr lang="ja-JP" altLang="en-US" dirty="0" smtClean="0"/>
              <a:t>情報共有の無効化</a:t>
            </a:r>
            <a:endParaRPr lang="en-US" altLang="ja-JP" dirty="0" smtClean="0"/>
          </a:p>
          <a:p>
            <a:r>
              <a:rPr kumimoji="1" lang="ja-JP" altLang="en-US" dirty="0" smtClean="0"/>
              <a:t>の影響がある．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各タスクの独立最適化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303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同時最適化時の個体表現</a:t>
            </a:r>
            <a:r>
              <a:rPr kumimoji="1" lang="en-US" altLang="ja-JP" dirty="0" smtClean="0"/>
              <a:t>(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ja-JP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dirty="0" smtClean="0"/>
              <a:t>=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962)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r>
              <a:rPr lang="ja-JP" altLang="en-US" dirty="0"/>
              <a:t>独立</a:t>
            </a:r>
            <a:r>
              <a:rPr lang="ja-JP" altLang="en-US" dirty="0" smtClean="0"/>
              <a:t>最適化時の個体表現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ja-JP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/>
              <a:t>&lt;</a:t>
            </a:r>
            <a:r>
              <a:rPr lang="ja-JP" altLang="en-US" dirty="0" smtClean="0"/>
              <a:t> </a:t>
            </a:r>
            <a:r>
              <a:rPr lang="en-US" altLang="ja-JP" dirty="0"/>
              <a:t>962)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各タスクの独立最適化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4901075"/>
              </p:ext>
            </p:extLst>
          </p:nvPr>
        </p:nvGraphicFramePr>
        <p:xfrm>
          <a:off x="457200" y="2179600"/>
          <a:ext cx="847534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1065530"/>
                <a:gridCol w="1098868"/>
                <a:gridCol w="868680"/>
                <a:gridCol w="1098868"/>
                <a:gridCol w="868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-25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endParaRPr kumimoji="1" lang="ja-JP" altLang="en-US" sz="28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b="0" i="0" kern="1200" baseline="-250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" name="グループ化 6"/>
          <p:cNvGrpSpPr/>
          <p:nvPr/>
        </p:nvGrpSpPr>
        <p:grpSpPr>
          <a:xfrm>
            <a:off x="3942608" y="2851393"/>
            <a:ext cx="4972793" cy="1466849"/>
            <a:chOff x="463138" y="2695697"/>
            <a:chExt cx="4972793" cy="1466849"/>
          </a:xfrm>
        </p:grpSpPr>
        <p:sp>
          <p:nvSpPr>
            <p:cNvPr id="8" name="左中かっこ 7"/>
            <p:cNvSpPr/>
            <p:nvPr/>
          </p:nvSpPr>
          <p:spPr>
            <a:xfrm rot="16200000">
              <a:off x="2769562" y="389273"/>
              <a:ext cx="359945" cy="4972793"/>
            </a:xfrm>
            <a:prstGeom prst="leftBrace">
              <a:avLst>
                <a:gd name="adj1" fmla="val 58727"/>
                <a:gd name="adj2" fmla="val 50000"/>
              </a:avLst>
            </a:prstGeom>
            <a:ln w="762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914504" y="3208439"/>
              <a:ext cx="4070061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独立</a:t>
              </a:r>
              <a:r>
                <a:rPr lang="ja-JP" altLang="en-US" sz="2800" dirty="0" smtClean="0"/>
                <a:t>レイヤ</a:t>
              </a:r>
              <a:r>
                <a:rPr lang="en-US" altLang="ja-JP" sz="2800" dirty="0" smtClean="0"/>
                <a:t>((</a:t>
              </a:r>
              <a:r>
                <a:rPr lang="en-US" altLang="ja-JP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sh</a:t>
              </a:r>
              <a:r>
                <a:rPr lang="ja-JP" altLang="en-US" sz="2800" dirty="0"/>
                <a:t> </a:t>
              </a:r>
              <a:r>
                <a:rPr lang="en-US" altLang="ja-JP" sz="2800" dirty="0"/>
                <a:t>+</a:t>
              </a:r>
              <a:r>
                <a:rPr lang="en-US" altLang="ja-JP" sz="2800" dirty="0" smtClean="0"/>
                <a:t>1)</a:t>
              </a:r>
              <a:r>
                <a:rPr lang="ja-JP" altLang="en-US" sz="2800" dirty="0" smtClean="0"/>
                <a:t>層</a:t>
              </a:r>
              <a:r>
                <a:rPr lang="ja-JP" altLang="en-US" sz="2800" dirty="0"/>
                <a:t>～</a:t>
              </a:r>
              <a:r>
                <a:rPr lang="en-US" altLang="ja-JP" sz="2800" dirty="0"/>
                <a:t>)</a:t>
              </a:r>
              <a:endParaRPr lang="en-US" altLang="ja-JP" sz="2800" dirty="0"/>
            </a:p>
          </p:txBody>
        </p:sp>
      </p:grpSp>
      <p:grpSp>
        <p:nvGrpSpPr>
          <p:cNvPr id="10" name="グループ化 9"/>
          <p:cNvGrpSpPr/>
          <p:nvPr/>
        </p:nvGrpSpPr>
        <p:grpSpPr>
          <a:xfrm>
            <a:off x="457201" y="2852800"/>
            <a:ext cx="3473532" cy="1466848"/>
            <a:chOff x="457201" y="2695698"/>
            <a:chExt cx="3473532" cy="1466848"/>
          </a:xfrm>
        </p:grpSpPr>
        <p:sp>
          <p:nvSpPr>
            <p:cNvPr id="11" name="左中かっこ 10"/>
            <p:cNvSpPr/>
            <p:nvPr/>
          </p:nvSpPr>
          <p:spPr>
            <a:xfrm rot="16200000">
              <a:off x="2013994" y="1138905"/>
              <a:ext cx="359945" cy="3473532"/>
            </a:xfrm>
            <a:prstGeom prst="leftBrace">
              <a:avLst>
                <a:gd name="adj1" fmla="val 58727"/>
                <a:gd name="adj2" fmla="val 50000"/>
              </a:avLst>
            </a:prstGeom>
            <a:ln w="762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500203" y="3208439"/>
              <a:ext cx="3387525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共有レイヤ</a:t>
              </a:r>
              <a:r>
                <a:rPr lang="en-US" altLang="ja-JP" sz="2800" dirty="0"/>
                <a:t>(1</a:t>
              </a:r>
              <a:r>
                <a:rPr lang="ja-JP" altLang="en-US" sz="2800" dirty="0"/>
                <a:t>～</a:t>
              </a:r>
              <a:r>
                <a:rPr lang="en-US" altLang="ja-JP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sh</a:t>
              </a:r>
              <a:r>
                <a:rPr lang="ja-JP" altLang="en-US" sz="2800" dirty="0"/>
                <a:t>層</a:t>
              </a:r>
              <a:r>
                <a:rPr lang="en-US" altLang="ja-JP" sz="2800" dirty="0"/>
                <a:t>)</a:t>
              </a:r>
              <a:endParaRPr lang="en-US" altLang="ja-JP" sz="2800" dirty="0"/>
            </a:p>
          </p:txBody>
        </p:sp>
      </p:grpSp>
      <p:graphicFrame>
        <p:nvGraphicFramePr>
          <p:cNvPr id="13" name="コンテンツ プレースホルダー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558515"/>
              </p:ext>
            </p:extLst>
          </p:nvPr>
        </p:nvGraphicFramePr>
        <p:xfrm>
          <a:off x="457200" y="5088785"/>
          <a:ext cx="650779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1065530"/>
                <a:gridCol w="1098868"/>
                <a:gridCol w="868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-25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endParaRPr kumimoji="1" lang="ja-JP" altLang="en-US" sz="28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+1</a:t>
                      </a:r>
                      <a:endParaRPr kumimoji="1" lang="ja-JP" altLang="en-US" sz="2800" b="0" i="0" kern="1200" baseline="-250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ja-JP" sz="2800" b="0" i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ja-JP" sz="2800" b="0" i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1" lang="en-US" altLang="ja-JP" sz="2800" b="0" i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+2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･･･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81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kumimoji="1" lang="en-US" altLang="ja-JP" dirty="0" err="1" smtClean="0"/>
              <a:t>cartpole</a:t>
            </a:r>
            <a:r>
              <a:rPr kumimoji="1" lang="en-US" altLang="ja-JP" dirty="0" smtClean="0"/>
              <a:t>(B)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各</a:t>
            </a:r>
            <a:r>
              <a:rPr lang="ja-JP" altLang="en-US" dirty="0"/>
              <a:t>タスク</a:t>
            </a:r>
            <a:r>
              <a:rPr lang="ja-JP" altLang="en-US" dirty="0" smtClean="0"/>
              <a:t>の</a:t>
            </a:r>
            <a:r>
              <a:rPr kumimoji="1" lang="ja-JP" altLang="en-US" dirty="0" smtClean="0"/>
              <a:t>独立最適化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318161" y="5707373"/>
            <a:ext cx="6507678" cy="10772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 smtClean="0"/>
              <a:t>10</a:t>
            </a:r>
            <a:r>
              <a:rPr lang="ja-JP" altLang="en-US" sz="3200" dirty="0" smtClean="0"/>
              <a:t>世代</a:t>
            </a:r>
            <a:r>
              <a:rPr lang="ja-JP" altLang="en-US" sz="3200" dirty="0"/>
              <a:t>付近</a:t>
            </a:r>
            <a:r>
              <a:rPr lang="ja-JP" altLang="en-US" sz="3200" dirty="0" smtClean="0"/>
              <a:t>で優れた個体を獲得</a:t>
            </a:r>
            <a:endParaRPr lang="en-US" altLang="ja-JP" sz="3200" dirty="0" smtClean="0"/>
          </a:p>
          <a:p>
            <a:pPr algn="ctr"/>
            <a:r>
              <a:rPr kumimoji="1" lang="ja-JP" altLang="en-US" sz="3200" dirty="0" smtClean="0"/>
              <a:t>ほとんどの個体が最良値に収束</a:t>
            </a:r>
            <a:endParaRPr kumimoji="1" lang="en-US" altLang="ja-JP" sz="3200" dirty="0" smtClean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5F8F8"/>
              </a:clrFrom>
              <a:clrTo>
                <a:srgbClr val="F5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3" r="839" b="65888"/>
          <a:stretch/>
        </p:blipFill>
        <p:spPr>
          <a:xfrm>
            <a:off x="964690" y="1984425"/>
            <a:ext cx="7245101" cy="3568972"/>
          </a:xfrm>
          <a:prstGeom prst="rect">
            <a:avLst/>
          </a:prstGeom>
        </p:spPr>
      </p:pic>
      <p:cxnSp>
        <p:nvCxnSpPr>
          <p:cNvPr id="14" name="直線コネクタ 13"/>
          <p:cNvCxnSpPr/>
          <p:nvPr/>
        </p:nvCxnSpPr>
        <p:spPr>
          <a:xfrm>
            <a:off x="2720340" y="2095500"/>
            <a:ext cx="0" cy="306324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91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kumimoji="1" lang="en-US" altLang="ja-JP" dirty="0" err="1" smtClean="0"/>
              <a:t>acrobot</a:t>
            </a:r>
            <a:r>
              <a:rPr kumimoji="1" lang="en-US" altLang="ja-JP" dirty="0" smtClean="0"/>
              <a:t>(B)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各</a:t>
            </a:r>
            <a:r>
              <a:rPr lang="ja-JP" altLang="en-US" dirty="0"/>
              <a:t>タスク</a:t>
            </a:r>
            <a:r>
              <a:rPr lang="ja-JP" altLang="en-US" dirty="0" smtClean="0"/>
              <a:t>の</a:t>
            </a:r>
            <a:r>
              <a:rPr kumimoji="1" lang="ja-JP" altLang="en-US" dirty="0" smtClean="0"/>
              <a:t>独立最適化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318161" y="5707373"/>
            <a:ext cx="6507678" cy="10772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 smtClean="0"/>
              <a:t>10</a:t>
            </a:r>
            <a:r>
              <a:rPr lang="ja-JP" altLang="en-US" sz="3200" dirty="0" smtClean="0"/>
              <a:t>世代</a:t>
            </a:r>
            <a:r>
              <a:rPr lang="ja-JP" altLang="en-US" sz="3200" dirty="0"/>
              <a:t>付近</a:t>
            </a:r>
            <a:r>
              <a:rPr lang="ja-JP" altLang="en-US" sz="3200" dirty="0" smtClean="0"/>
              <a:t>で優れた個体を獲得</a:t>
            </a:r>
            <a:endParaRPr lang="en-US" altLang="ja-JP" sz="3200" dirty="0" smtClean="0"/>
          </a:p>
          <a:p>
            <a:pPr algn="ctr"/>
            <a:r>
              <a:rPr kumimoji="1" lang="ja-JP" altLang="en-US" sz="3200" dirty="0" smtClean="0"/>
              <a:t>ほとんどの個体が最良値に収束</a:t>
            </a:r>
            <a:endParaRPr kumimoji="1" lang="en-US" altLang="ja-JP" sz="3200" dirty="0" smtClean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5F8F8"/>
              </a:clrFrom>
              <a:clrTo>
                <a:srgbClr val="F5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96" r="839" b="33652"/>
          <a:stretch/>
        </p:blipFill>
        <p:spPr>
          <a:xfrm>
            <a:off x="925637" y="1957755"/>
            <a:ext cx="7245101" cy="3514725"/>
          </a:xfrm>
          <a:prstGeom prst="rect">
            <a:avLst/>
          </a:prstGeom>
        </p:spPr>
      </p:pic>
      <p:cxnSp>
        <p:nvCxnSpPr>
          <p:cNvPr id="13" name="直線コネクタ 12"/>
          <p:cNvCxnSpPr/>
          <p:nvPr/>
        </p:nvCxnSpPr>
        <p:spPr>
          <a:xfrm>
            <a:off x="2720340" y="2095500"/>
            <a:ext cx="0" cy="306324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22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ja-JP" dirty="0" smtClean="0"/>
              <a:t>pendulum</a:t>
            </a:r>
            <a:r>
              <a:rPr kumimoji="1" lang="en-US" altLang="ja-JP" dirty="0" smtClean="0"/>
              <a:t>(B)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各</a:t>
            </a:r>
            <a:r>
              <a:rPr lang="ja-JP" altLang="en-US" dirty="0"/>
              <a:t>タスク</a:t>
            </a:r>
            <a:r>
              <a:rPr lang="ja-JP" altLang="en-US" dirty="0" smtClean="0"/>
              <a:t>の</a:t>
            </a:r>
            <a:r>
              <a:rPr kumimoji="1" lang="ja-JP" altLang="en-US" dirty="0" smtClean="0"/>
              <a:t>独立最適化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318161" y="5707373"/>
            <a:ext cx="6507678" cy="10772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 smtClean="0"/>
              <a:t>20</a:t>
            </a:r>
            <a:r>
              <a:rPr lang="ja-JP" altLang="en-US" sz="3200" dirty="0" smtClean="0"/>
              <a:t>世代</a:t>
            </a:r>
            <a:r>
              <a:rPr lang="ja-JP" altLang="en-US" sz="3200" dirty="0"/>
              <a:t>付近</a:t>
            </a:r>
            <a:r>
              <a:rPr lang="ja-JP" altLang="en-US" sz="3200" dirty="0" smtClean="0"/>
              <a:t>で優れた個体を獲得</a:t>
            </a:r>
            <a:endParaRPr lang="en-US" altLang="ja-JP" sz="3200" dirty="0" smtClean="0"/>
          </a:p>
          <a:p>
            <a:pPr algn="ctr"/>
            <a:r>
              <a:rPr kumimoji="1" lang="ja-JP" altLang="en-US" sz="3200" dirty="0" smtClean="0"/>
              <a:t>ほとんどの個体が最良値に収束</a:t>
            </a:r>
            <a:endParaRPr kumimoji="1" lang="en-US" altLang="ja-JP" sz="3200" dirty="0" smtClean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5F8F8"/>
              </a:clrFrom>
              <a:clrTo>
                <a:srgbClr val="F5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03" r="839" b="820"/>
          <a:stretch/>
        </p:blipFill>
        <p:spPr>
          <a:xfrm>
            <a:off x="896110" y="1973581"/>
            <a:ext cx="7245101" cy="3482340"/>
          </a:xfrm>
          <a:prstGeom prst="rect">
            <a:avLst/>
          </a:prstGeom>
        </p:spPr>
      </p:pic>
      <p:cxnSp>
        <p:nvCxnSpPr>
          <p:cNvPr id="10" name="直線コネクタ 9"/>
          <p:cNvCxnSpPr/>
          <p:nvPr/>
        </p:nvCxnSpPr>
        <p:spPr>
          <a:xfrm>
            <a:off x="3718560" y="2095500"/>
            <a:ext cx="0" cy="306324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21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すべて</a:t>
            </a:r>
            <a:r>
              <a:rPr lang="ja-JP" altLang="en-US" dirty="0"/>
              <a:t>の</a:t>
            </a:r>
            <a:r>
              <a:rPr kumimoji="1" lang="ja-JP" altLang="en-US" dirty="0" smtClean="0"/>
              <a:t>タスクに</a:t>
            </a:r>
            <a:r>
              <a:rPr kumimoji="1" lang="en-US" altLang="ja-JP" dirty="0" smtClean="0"/>
              <a:t>MFEA</a:t>
            </a:r>
            <a:r>
              <a:rPr kumimoji="1" lang="ja-JP" altLang="en-US" dirty="0" smtClean="0"/>
              <a:t>を適用し最適化する．</a:t>
            </a:r>
            <a:endParaRPr kumimoji="1" lang="en-US" altLang="ja-JP" dirty="0" smtClean="0"/>
          </a:p>
          <a:p>
            <a:endParaRPr kumimoji="1" lang="en-US" altLang="ja-JP" dirty="0"/>
          </a:p>
          <a:p>
            <a:r>
              <a:rPr lang="ja-JP" altLang="en-US" dirty="0" smtClean="0"/>
              <a:t>このとき，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探索空間の拡大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タスク間で</a:t>
            </a:r>
            <a:r>
              <a:rPr lang="ja-JP" altLang="en-US" dirty="0"/>
              <a:t>の</a:t>
            </a:r>
            <a:r>
              <a:rPr lang="ja-JP" altLang="en-US" dirty="0" smtClean="0"/>
              <a:t>情報共有の有効化</a:t>
            </a:r>
            <a:endParaRPr lang="en-US" altLang="ja-JP" dirty="0" smtClean="0"/>
          </a:p>
          <a:p>
            <a:r>
              <a:rPr kumimoji="1" lang="ja-JP" altLang="en-US" dirty="0" smtClean="0"/>
              <a:t>の影響がある．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各タスクの同時最適化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96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28600" y="5382150"/>
            <a:ext cx="8686800" cy="1475850"/>
          </a:xfrm>
        </p:spPr>
        <p:txBody>
          <a:bodyPr/>
          <a:lstStyle/>
          <a:p>
            <a:pPr algn="ctr"/>
            <a:r>
              <a:rPr kumimoji="1" lang="ja-JP" altLang="en-US" dirty="0" smtClean="0"/>
              <a:t>すべてのタスクで評価値が悪化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>
                <a:solidFill>
                  <a:schemeClr val="accent1"/>
                </a:solidFill>
              </a:rPr>
              <a:t>探索空間の拡大</a:t>
            </a:r>
            <a:r>
              <a:rPr kumimoji="1" lang="ja-JP" altLang="en-US" dirty="0" smtClean="0"/>
              <a:t>により探索性能が</a:t>
            </a:r>
            <a:r>
              <a:rPr kumimoji="1" lang="ja-JP" altLang="en-US" dirty="0" smtClean="0">
                <a:solidFill>
                  <a:schemeClr val="accent2"/>
                </a:solidFill>
              </a:rPr>
              <a:t>大きく悪化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各タスクの同時最適化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588" y="1371600"/>
            <a:ext cx="6746825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0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すべてのタスクの組合せで，タスク間交叉により生成された個体が，優れた個体であった割合を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調査する．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情報共有の定量的評価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46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28600" y="5757790"/>
            <a:ext cx="8686800" cy="795410"/>
          </a:xfrm>
        </p:spPr>
        <p:txBody>
          <a:bodyPr/>
          <a:lstStyle/>
          <a:p>
            <a:r>
              <a:rPr kumimoji="1" lang="ja-JP" altLang="en-US" dirty="0" smtClean="0"/>
              <a:t>各セルは，横のタスクと縦のタスクで交叉を行い，縦のタスクで子個体が優れていた割合を示す．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情報共有の定量的評価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67"/>
          <a:stretch/>
        </p:blipFill>
        <p:spPr>
          <a:xfrm>
            <a:off x="1652641" y="1377321"/>
            <a:ext cx="5838718" cy="43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7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情報共有の定量的評価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67"/>
          <a:stretch/>
        </p:blipFill>
        <p:spPr>
          <a:xfrm>
            <a:off x="1652641" y="1377321"/>
            <a:ext cx="5838718" cy="4380469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>
            <a:off x="4120400" y="2257426"/>
            <a:ext cx="404091" cy="31903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dirty="0" smtClean="0">
              <a:solidFill>
                <a:schemeClr val="tx1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flipV="1">
            <a:off x="2095500" y="2692400"/>
            <a:ext cx="1993900" cy="29083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コンテンツ プレースホルダー 2"/>
          <p:cNvSpPr txBox="1">
            <a:spLocks/>
          </p:cNvSpPr>
          <p:nvPr/>
        </p:nvSpPr>
        <p:spPr bwMode="auto">
          <a:xfrm>
            <a:off x="228600" y="5757790"/>
            <a:ext cx="8686800" cy="795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aseline="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 baseline="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 baseline="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dirty="0" err="1"/>
              <a:t>cartpole</a:t>
            </a:r>
            <a:r>
              <a:rPr lang="en-US" altLang="ja-JP" dirty="0"/>
              <a:t>(C)</a:t>
            </a:r>
            <a:r>
              <a:rPr lang="ja-JP" altLang="en-US" dirty="0"/>
              <a:t>と</a:t>
            </a:r>
            <a:r>
              <a:rPr lang="en-US" altLang="ja-JP" dirty="0" err="1"/>
              <a:t>acrobot</a:t>
            </a:r>
            <a:r>
              <a:rPr lang="en-US" altLang="ja-JP" dirty="0"/>
              <a:t>(A)</a:t>
            </a:r>
            <a:r>
              <a:rPr lang="ja-JP" altLang="en-US" dirty="0" smtClean="0"/>
              <a:t>でタスク間交叉</a:t>
            </a:r>
            <a:r>
              <a:rPr lang="ja-JP" altLang="en-US" dirty="0"/>
              <a:t>を行い，</a:t>
            </a:r>
            <a:r>
              <a:rPr lang="en-US" altLang="ja-JP" dirty="0"/>
              <a:t> </a:t>
            </a:r>
            <a:r>
              <a:rPr lang="en-US" altLang="ja-JP" dirty="0" err="1"/>
              <a:t>acrobot</a:t>
            </a:r>
            <a:r>
              <a:rPr lang="en-US" altLang="ja-JP" dirty="0"/>
              <a:t>(A)</a:t>
            </a:r>
            <a:r>
              <a:rPr lang="ja-JP" altLang="en-US" dirty="0"/>
              <a:t>で個体を評価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092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結論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1"/>
                </a:solidFill>
                <a:ea typeface="ＭＳ Ｐゴシック" panose="020B0600070205080204" pitchFamily="50" charset="-128"/>
              </a:rPr>
              <a:t>複数</a:t>
            </a:r>
            <a:r>
              <a:rPr lang="ja-JP" altLang="en-US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の</a:t>
            </a:r>
            <a:r>
              <a:rPr lang="en-US" altLang="ja-JP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DQN</a:t>
            </a:r>
            <a:r>
              <a:rPr lang="ja-JP" altLang="en-US" dirty="0" smtClean="0">
                <a:solidFill>
                  <a:schemeClr val="accent1"/>
                </a:solidFill>
                <a:ea typeface="ＭＳ Ｐゴシック" panose="020B0600070205080204" pitchFamily="50" charset="-128"/>
              </a:rPr>
              <a:t>のパラメータ最適化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を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MFEA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で行う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ja-JP" altLang="en-US" dirty="0" smtClean="0">
                <a:ea typeface="ＭＳ Ｐゴシック" panose="020B0600070205080204" pitchFamily="50" charset="-128"/>
              </a:rPr>
              <a:t>方法を提案した．</a:t>
            </a:r>
            <a:endParaRPr lang="en-US" altLang="ja-JP" dirty="0" smtClean="0">
              <a:ea typeface="ＭＳ Ｐゴシック" panose="020B0600070205080204" pitchFamily="50" charset="-128"/>
            </a:endParaRPr>
          </a:p>
          <a:p>
            <a:r>
              <a:rPr kumimoji="1" lang="ja-JP" altLang="en-US" dirty="0" smtClean="0">
                <a:ea typeface="ＭＳ Ｐゴシック" panose="020B0600070205080204" pitchFamily="50" charset="-128"/>
              </a:rPr>
              <a:t>数値実験では，遺伝的</a:t>
            </a:r>
            <a:r>
              <a:rPr kumimoji="1" lang="ja-JP" altLang="en-US" dirty="0">
                <a:ea typeface="ＭＳ Ｐゴシック" panose="020B0600070205080204" pitchFamily="50" charset="-128"/>
              </a:rPr>
              <a:t>アルゴリズム</a:t>
            </a:r>
            <a:r>
              <a:rPr kumimoji="1" lang="ja-JP" altLang="en-US" dirty="0" smtClean="0">
                <a:ea typeface="ＭＳ Ｐゴシック" panose="020B0600070205080204" pitchFamily="50" charset="-128"/>
              </a:rPr>
              <a:t>で</a:t>
            </a:r>
            <a:r>
              <a:rPr kumimoji="1" lang="en-US" altLang="ja-JP" dirty="0" smtClean="0">
                <a:ea typeface="ＭＳ Ｐゴシック" panose="020B0600070205080204" pitchFamily="50" charset="-128"/>
              </a:rPr>
              <a:t>DQN</a:t>
            </a:r>
            <a:r>
              <a:rPr kumimoji="1" lang="ja-JP" altLang="en-US" dirty="0" smtClean="0">
                <a:ea typeface="ＭＳ Ｐゴシック" panose="020B0600070205080204" pitchFamily="50" charset="-128"/>
              </a:rPr>
              <a:t>の</a:t>
            </a:r>
            <a:r>
              <a:rPr kumimoji="1" lang="en-US" altLang="ja-JP" dirty="0" smtClean="0">
                <a:ea typeface="ＭＳ Ｐゴシック" panose="020B0600070205080204" pitchFamily="50" charset="-128"/>
              </a:rPr>
              <a:t/>
            </a:r>
            <a:br>
              <a:rPr kumimoji="1" lang="en-US" altLang="ja-JP" dirty="0" smtClean="0">
                <a:ea typeface="ＭＳ Ｐゴシック" panose="020B0600070205080204" pitchFamily="50" charset="-128"/>
              </a:rPr>
            </a:br>
            <a:r>
              <a:rPr kumimoji="1" lang="ja-JP" altLang="en-US" dirty="0" smtClean="0">
                <a:ea typeface="ＭＳ Ｐゴシック" panose="020B0600070205080204" pitchFamily="50" charset="-128"/>
              </a:rPr>
              <a:t>パラメータが最適化できることを示した．</a:t>
            </a:r>
            <a:endParaRPr kumimoji="1" lang="en-US" altLang="ja-JP" dirty="0" smtClean="0">
              <a:ea typeface="ＭＳ Ｐゴシック" panose="020B0600070205080204" pitchFamily="50" charset="-128"/>
            </a:endParaRPr>
          </a:p>
          <a:p>
            <a:r>
              <a:rPr lang="ja-JP" altLang="en-US" dirty="0" smtClean="0">
                <a:ea typeface="ＭＳ Ｐゴシック" panose="020B0600070205080204" pitchFamily="50" charset="-128"/>
              </a:rPr>
              <a:t>しかし，複数の</a:t>
            </a:r>
            <a:r>
              <a:rPr lang="en-US" altLang="ja-JP" dirty="0" smtClean="0">
                <a:ea typeface="ＭＳ Ｐゴシック" panose="020B0600070205080204" pitchFamily="50" charset="-128"/>
              </a:rPr>
              <a:t>DQN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のパラメータを同時に最適化すると，探索</a:t>
            </a:r>
            <a:r>
              <a:rPr lang="ja-JP" altLang="en-US" dirty="0">
                <a:ea typeface="ＭＳ Ｐゴシック" panose="020B0600070205080204" pitchFamily="50" charset="-128"/>
              </a:rPr>
              <a:t>空間の大きさの影響のため，</a:t>
            </a:r>
            <a:r>
              <a:rPr lang="ja-JP" altLang="en-US" dirty="0" smtClean="0">
                <a:ea typeface="ＭＳ Ｐゴシック" panose="020B0600070205080204" pitchFamily="50" charset="-128"/>
              </a:rPr>
              <a:t>探索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r>
              <a:rPr lang="ja-JP" altLang="en-US" dirty="0" smtClean="0">
                <a:ea typeface="ＭＳ Ｐゴシック" panose="020B0600070205080204" pitchFamily="50" charset="-128"/>
              </a:rPr>
              <a:t>性能は著しく悪化した．</a:t>
            </a:r>
            <a:endParaRPr lang="en-US" altLang="ja-JP" dirty="0" smtClean="0">
              <a:ea typeface="ＭＳ Ｐゴシック" panose="020B0600070205080204" pitchFamily="50" charset="-128"/>
            </a:endParaRPr>
          </a:p>
          <a:p>
            <a:r>
              <a:rPr kumimoji="1" lang="ja-JP" altLang="en-US" dirty="0" smtClean="0">
                <a:ea typeface="ＭＳ Ｐゴシック" panose="020B0600070205080204" pitchFamily="50" charset="-128"/>
              </a:rPr>
              <a:t>タスク間交叉は，一見関係がないように思える</a:t>
            </a:r>
            <a:r>
              <a:rPr kumimoji="1" lang="en-US" altLang="ja-JP" dirty="0" smtClean="0">
                <a:ea typeface="ＭＳ Ｐゴシック" panose="020B0600070205080204" pitchFamily="50" charset="-128"/>
              </a:rPr>
              <a:t/>
            </a:r>
            <a:br>
              <a:rPr kumimoji="1" lang="en-US" altLang="ja-JP" dirty="0" smtClean="0">
                <a:ea typeface="ＭＳ Ｐゴシック" panose="020B0600070205080204" pitchFamily="50" charset="-128"/>
              </a:rPr>
            </a:br>
            <a:r>
              <a:rPr kumimoji="1" lang="ja-JP" altLang="en-US" dirty="0" smtClean="0">
                <a:ea typeface="ＭＳ Ｐゴシック" panose="020B0600070205080204" pitchFamily="50" charset="-128"/>
              </a:rPr>
              <a:t>タスク同士でもうまく機能する可能性があることを示した．</a:t>
            </a:r>
            <a:endParaRPr kumimoji="1" lang="en-US" altLang="ja-JP" dirty="0" smtClean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5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chemeClr val="tx1"/>
          </a:solidFill>
        </a:ln>
      </a:spPr>
      <a:bodyPr rtlCol="0" anchor="ctr"/>
      <a:lstStyle>
        <a:defPPr algn="ctr">
          <a:defRPr kumimoji="1"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1567</TotalTime>
  <Words>1325</Words>
  <Application>Microsoft Office PowerPoint</Application>
  <PresentationFormat>画面に合わせる (4:3)</PresentationFormat>
  <Paragraphs>398</Paragraphs>
  <Slides>37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2" baseType="lpstr">
      <vt:lpstr>ＭＳ P ゴシック</vt:lpstr>
      <vt:lpstr>ＭＳ Ｐゴシック</vt:lpstr>
      <vt:lpstr>Arial</vt:lpstr>
      <vt:lpstr>Times New Roman</vt:lpstr>
      <vt:lpstr>Theme_Lab</vt:lpstr>
      <vt:lpstr>英語論文発表(10/21)</vt:lpstr>
      <vt:lpstr>PowerPoint プレゼンテーション</vt:lpstr>
      <vt:lpstr>概要</vt:lpstr>
      <vt:lpstr>既存手法(MFEA)</vt:lpstr>
      <vt:lpstr>既存手法(MFEA)</vt:lpstr>
      <vt:lpstr>既存手法(MFEA)</vt:lpstr>
      <vt:lpstr>Deep Reinforcement Learning</vt:lpstr>
      <vt:lpstr>提案手法</vt:lpstr>
      <vt:lpstr>提案手法</vt:lpstr>
      <vt:lpstr>提案手法</vt:lpstr>
      <vt:lpstr>提案手法</vt:lpstr>
      <vt:lpstr>提案手法</vt:lpstr>
      <vt:lpstr>提案手法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実験結果</vt:lpstr>
      <vt:lpstr>実験結果</vt:lpstr>
      <vt:lpstr>実験結果</vt:lpstr>
      <vt:lpstr>数値実験</vt:lpstr>
      <vt:lpstr>実験結果</vt:lpstr>
      <vt:lpstr>数値実験</vt:lpstr>
      <vt:lpstr>実験結果</vt:lpstr>
      <vt:lpstr>実験結果</vt:lpstr>
      <vt:lpstr>結論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英語論文発表(5/20)</dc:title>
  <dc:creator>瓜田 俊貴</dc:creator>
  <cp:lastModifiedBy>瓜田 俊貴</cp:lastModifiedBy>
  <cp:revision>134</cp:revision>
  <dcterms:created xsi:type="dcterms:W3CDTF">2020-05-17T11:56:43Z</dcterms:created>
  <dcterms:modified xsi:type="dcterms:W3CDTF">2020-10-20T15:49:12Z</dcterms:modified>
</cp:coreProperties>
</file>