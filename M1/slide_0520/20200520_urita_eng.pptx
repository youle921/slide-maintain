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9" r:id="rId4"/>
    <p:sldId id="258" r:id="rId5"/>
    <p:sldId id="261" r:id="rId6"/>
    <p:sldId id="264" r:id="rId7"/>
    <p:sldId id="263" r:id="rId8"/>
    <p:sldId id="265" r:id="rId9"/>
    <p:sldId id="267" r:id="rId10"/>
    <p:sldId id="266" r:id="rId11"/>
    <p:sldId id="268" r:id="rId12"/>
    <p:sldId id="269" r:id="rId13"/>
    <p:sldId id="270" r:id="rId14"/>
    <p:sldId id="276" r:id="rId15"/>
    <p:sldId id="277" r:id="rId16"/>
    <p:sldId id="271" r:id="rId17"/>
    <p:sldId id="274" r:id="rId18"/>
    <p:sldId id="275" r:id="rId19"/>
    <p:sldId id="272" r:id="rId20"/>
    <p:sldId id="278" r:id="rId21"/>
    <p:sldId id="280" r:id="rId22"/>
    <p:sldId id="283" r:id="rId23"/>
    <p:sldId id="284" r:id="rId24"/>
    <p:sldId id="285" r:id="rId25"/>
    <p:sldId id="286" r:id="rId26"/>
    <p:sldId id="287" r:id="rId27"/>
    <p:sldId id="288" r:id="rId28"/>
    <p:sldId id="282" r:id="rId29"/>
    <p:sldId id="281" r:id="rId30"/>
    <p:sldId id="291" r:id="rId31"/>
    <p:sldId id="290" r:id="rId32"/>
    <p:sldId id="292" r:id="rId3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17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hanon05.hatenablog.com/entry/2019/02/03/183716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hellocybernetics.tech/entry/2016/04/21/132645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hanon05.hatenablog.com/entry/2019/02/03/18371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hellocybernetics.tech/entry/2016/04/21/132645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kumimoji="1" lang="en-US" altLang="ja-JP" dirty="0" smtClean="0"/>
              <a:t>(5/20)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 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775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Cognizant Multitasking in Multi-Objective Multifactorial Evolution: MO-MFEA-II</a:t>
            </a:r>
          </a:p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 err="1"/>
              <a:t>Kavitesh</a:t>
            </a:r>
            <a:r>
              <a:rPr lang="en-US" altLang="ja-JP" dirty="0"/>
              <a:t> Kumar Bali, Abhishek Gupta, Yew-Soon Ong, and </a:t>
            </a:r>
            <a:r>
              <a:rPr lang="en-US" altLang="ja-JP" dirty="0" err="1"/>
              <a:t>Puay</a:t>
            </a:r>
            <a:r>
              <a:rPr lang="en-US" altLang="ja-JP" dirty="0"/>
              <a:t> Siew </a:t>
            </a:r>
            <a:r>
              <a:rPr lang="en-US" altLang="ja-JP" dirty="0" smtClean="0"/>
              <a:t>Tan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dirty="0" smtClean="0"/>
              <a:t>IEEE Transactions </a:t>
            </a:r>
            <a:r>
              <a:rPr lang="en-US" altLang="ja-JP" dirty="0"/>
              <a:t>on </a:t>
            </a:r>
            <a:r>
              <a:rPr lang="en-US" altLang="ja-JP" dirty="0" smtClean="0"/>
              <a:t>Cybernetics (Early </a:t>
            </a:r>
            <a:r>
              <a:rPr lang="en-US" altLang="ja-JP"/>
              <a:t>Access </a:t>
            </a:r>
            <a:r>
              <a:rPr lang="en-US" altLang="ja-JP" smtClean="0"/>
              <a:t>)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496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複数の最適化問題を同時に解くマルチタスク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最適化では，</a:t>
            </a:r>
            <a:r>
              <a:rPr kumimoji="1" lang="ja-JP" altLang="en-US" dirty="0" smtClean="0">
                <a:solidFill>
                  <a:srgbClr val="FF0000"/>
                </a:solidFill>
              </a:rPr>
              <a:t>タスク間で解情報を共有する</a:t>
            </a:r>
            <a:r>
              <a:rPr kumimoji="1" lang="ja-JP" altLang="en-US" dirty="0" smtClean="0"/>
              <a:t>ことにより探索が促進することが示されている．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しかし，</a:t>
            </a:r>
            <a:r>
              <a:rPr kumimoji="1" lang="ja-JP" altLang="en-US" u="sng" dirty="0" smtClean="0"/>
              <a:t>問題間に関連性がない場合</a:t>
            </a:r>
            <a:r>
              <a:rPr kumimoji="1" lang="ja-JP" altLang="en-US" dirty="0" smtClean="0"/>
              <a:t>，</a:t>
            </a:r>
            <a:r>
              <a:rPr kumimoji="1" lang="ja-JP" altLang="en-US" dirty="0" smtClean="0">
                <a:solidFill>
                  <a:srgbClr val="FF0000"/>
                </a:solidFill>
              </a:rPr>
              <a:t>解情報の</a:t>
            </a:r>
            <a:r>
              <a:rPr kumimoji="1" lang="en-US" altLang="ja-JP" dirty="0" smtClean="0">
                <a:solidFill>
                  <a:srgbClr val="FF0000"/>
                </a:solidFill>
              </a:rPr>
              <a:t/>
            </a:r>
            <a:br>
              <a:rPr kumimoji="1" lang="en-US" altLang="ja-JP" dirty="0" smtClean="0">
                <a:solidFill>
                  <a:srgbClr val="FF0000"/>
                </a:solidFill>
              </a:rPr>
            </a:br>
            <a:r>
              <a:rPr kumimoji="1" lang="ja-JP" altLang="en-US" dirty="0" smtClean="0">
                <a:solidFill>
                  <a:srgbClr val="FF0000"/>
                </a:solidFill>
              </a:rPr>
              <a:t>共有により探索性能が悪化する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本論文では，</a:t>
            </a:r>
            <a:r>
              <a:rPr lang="en-US" altLang="ja-JP" dirty="0" smtClean="0"/>
              <a:t>MO-MFEA</a:t>
            </a:r>
            <a:r>
              <a:rPr lang="ja-JP" altLang="en-US" dirty="0" smtClean="0"/>
              <a:t>にタスク間の関係性を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学習する</a:t>
            </a:r>
            <a:r>
              <a:rPr lang="en-US" altLang="ja-JP" dirty="0" smtClean="0"/>
              <a:t>data-driven</a:t>
            </a:r>
            <a:r>
              <a:rPr lang="ja-JP" altLang="en-US" dirty="0"/>
              <a:t>型の</a:t>
            </a:r>
            <a:r>
              <a:rPr lang="ja-JP" altLang="en-US" dirty="0" smtClean="0"/>
              <a:t>手法を組み込んだ，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マルチタスク手法を提案する．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>
          <a:xfrm>
            <a:off x="4332850" y="4164038"/>
            <a:ext cx="478301" cy="689316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51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(MO-MFEA)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に対し</a:t>
            </a:r>
            <a:r>
              <a:rPr kumimoji="1" lang="en-US" altLang="ja-JP" dirty="0" smtClean="0"/>
              <a:t>Assortative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Mating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Vertical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Cultural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Transmission</a:t>
            </a:r>
            <a:r>
              <a:rPr kumimoji="1" lang="ja-JP" altLang="en-US" dirty="0" smtClean="0"/>
              <a:t> を取り入れたマルチタスクアルゴリズムである．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31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(MO-MFEA)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Assortative</a:t>
            </a:r>
            <a:r>
              <a:rPr lang="ja-JP" altLang="en-US" dirty="0"/>
              <a:t> </a:t>
            </a:r>
            <a:r>
              <a:rPr lang="en-US" altLang="ja-JP" dirty="0" smtClean="0"/>
              <a:t>Mating</a:t>
            </a:r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5" name="グループ化 54"/>
          <p:cNvGrpSpPr/>
          <p:nvPr/>
        </p:nvGrpSpPr>
        <p:grpSpPr>
          <a:xfrm>
            <a:off x="4966828" y="4686895"/>
            <a:ext cx="2988829" cy="987021"/>
            <a:chOff x="2708496" y="4405530"/>
            <a:chExt cx="2988829" cy="987021"/>
          </a:xfrm>
        </p:grpSpPr>
        <p:sp>
          <p:nvSpPr>
            <p:cNvPr id="56" name="テキスト ボックス 55"/>
            <p:cNvSpPr txBox="1"/>
            <p:nvPr/>
          </p:nvSpPr>
          <p:spPr>
            <a:xfrm>
              <a:off x="2708496" y="4869331"/>
              <a:ext cx="298882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交叉</a:t>
              </a:r>
              <a:r>
                <a:rPr lang="en-US" altLang="ja-JP" sz="2800" dirty="0" smtClean="0"/>
                <a:t>+</a:t>
              </a:r>
              <a:r>
                <a:rPr lang="ja-JP" altLang="en-US" sz="2800" dirty="0" smtClean="0"/>
                <a:t>突然変異</a:t>
              </a:r>
              <a:endParaRPr lang="en-US" altLang="ja-JP" sz="2800" dirty="0" smtClean="0"/>
            </a:p>
          </p:txBody>
        </p:sp>
        <p:sp>
          <p:nvSpPr>
            <p:cNvPr id="57" name="右矢印 56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8" name="円/楕円 57"/>
          <p:cNvSpPr/>
          <p:nvPr/>
        </p:nvSpPr>
        <p:spPr>
          <a:xfrm>
            <a:off x="7867396" y="518963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円/楕円 58"/>
          <p:cNvSpPr/>
          <p:nvPr/>
        </p:nvSpPr>
        <p:spPr>
          <a:xfrm>
            <a:off x="7867396" y="427264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2" name="グループ化 31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33" name="グループ化 32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5" name="グループ化 34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9" name="円/楕円 38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" name="テキスト ボックス 39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6" name="グループ化 35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7" name="円/楕円 36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8" name="テキスト ボックス 37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34" name="正方形/長方形 33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558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(MO-MFEA)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Assortative</a:t>
            </a:r>
            <a:r>
              <a:rPr lang="ja-JP" altLang="en-US" dirty="0"/>
              <a:t> </a:t>
            </a:r>
            <a:r>
              <a:rPr lang="en-US" altLang="ja-JP" dirty="0" smtClean="0"/>
              <a:t>Mating</a:t>
            </a:r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1" name="グループ化 40"/>
          <p:cNvGrpSpPr/>
          <p:nvPr/>
        </p:nvGrpSpPr>
        <p:grpSpPr>
          <a:xfrm>
            <a:off x="4966828" y="4680893"/>
            <a:ext cx="2988829" cy="1417908"/>
            <a:chOff x="2708496" y="4405530"/>
            <a:chExt cx="2988829" cy="1417908"/>
          </a:xfrm>
        </p:grpSpPr>
        <p:sp>
          <p:nvSpPr>
            <p:cNvPr id="42" name="テキスト ボックス 41"/>
            <p:cNvSpPr txBox="1"/>
            <p:nvPr/>
          </p:nvSpPr>
          <p:spPr>
            <a:xfrm>
              <a:off x="2708496" y="4869331"/>
              <a:ext cx="29888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突然変異</a:t>
              </a:r>
              <a:endParaRPr lang="en-US" altLang="ja-JP" sz="2800" dirty="0" smtClean="0"/>
            </a:p>
            <a:p>
              <a:pPr algn="ctr"/>
              <a:r>
                <a:rPr lang="en-US" altLang="ja-JP" sz="2800" dirty="0" smtClean="0"/>
                <a:t>(1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-</a:t>
              </a:r>
              <a:r>
                <a:rPr lang="ja-JP" altLang="en-US" sz="2800" dirty="0" smtClean="0"/>
                <a:t> </a:t>
              </a:r>
              <a:r>
                <a:rPr lang="en-US" altLang="ja-JP" sz="28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 smtClean="0"/>
                <a:t>)</a:t>
              </a:r>
            </a:p>
          </p:txBody>
        </p:sp>
        <p:sp>
          <p:nvSpPr>
            <p:cNvPr id="43" name="右矢印 42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/>
        </p:nvSpPr>
        <p:spPr>
          <a:xfrm>
            <a:off x="7867396" y="5189630"/>
            <a:ext cx="478301" cy="4783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/>
        </p:nvSpPr>
        <p:spPr>
          <a:xfrm>
            <a:off x="7867396" y="4272640"/>
            <a:ext cx="478301" cy="4783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4" name="グループ化 43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55" name="円/楕円 54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6" name="テキスト ボックス 55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48" name="グループ化 47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49" name="円/楕円 48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46" name="正方形/長方形 45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41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(MO-MFEA)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交叉時に，一定確率</a:t>
            </a:r>
            <a:r>
              <a:rPr kumimoji="1" lang="en-US" altLang="ja-JP" dirty="0" smtClean="0"/>
              <a:t>(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で他タスクに割り当て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err="1" smtClean="0"/>
              <a:t>られた</a:t>
            </a:r>
            <a:r>
              <a:rPr kumimoji="1" lang="ja-JP" altLang="en-US" dirty="0" smtClean="0"/>
              <a:t>個体とも交叉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タスク間交叉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Assortative</a:t>
            </a:r>
            <a:r>
              <a:rPr lang="ja-JP" altLang="en-US" dirty="0"/>
              <a:t> </a:t>
            </a:r>
            <a:r>
              <a:rPr lang="en-US" altLang="ja-JP" dirty="0" smtClean="0"/>
              <a:t>Mating</a:t>
            </a:r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2425142" y="4680893"/>
            <a:ext cx="1997029" cy="1417908"/>
            <a:chOff x="3137387" y="4405530"/>
            <a:chExt cx="1997029" cy="1417908"/>
          </a:xfrm>
        </p:grpSpPr>
        <p:sp>
          <p:nvSpPr>
            <p:cNvPr id="28" name="テキスト ボックス 27"/>
            <p:cNvSpPr txBox="1"/>
            <p:nvPr/>
          </p:nvSpPr>
          <p:spPr>
            <a:xfrm>
              <a:off x="3137387" y="4869331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29" name="右矢印 28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43132" y="2507911"/>
            <a:ext cx="1871002" cy="4186703"/>
            <a:chOff x="777683" y="2507911"/>
            <a:chExt cx="1871002" cy="4186703"/>
          </a:xfrm>
        </p:grpSpPr>
        <p:grpSp>
          <p:nvGrpSpPr>
            <p:cNvPr id="27" name="グループ化 26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9" name="グループ化 18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8" name="円/楕円 7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" name="円/楕円 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2" name="円/楕円 11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4" name="円/楕円 1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0" name="グループ化 19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30" name="テキスト ボックス 2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52" name="グループ化 51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37" name="グループ化 36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3" name="グループ化 32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17" name="円/楕円 16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" name="テキスト ボックス 31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4" name="グループ化 33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5" name="円/楕円 34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6" name="テキスト ボックス 35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51" name="正方形/長方形 50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4586874" y="4272640"/>
            <a:ext cx="478301" cy="1395291"/>
            <a:chOff x="4896723" y="3752124"/>
            <a:chExt cx="478301" cy="1395291"/>
          </a:xfrm>
        </p:grpSpPr>
        <p:sp>
          <p:nvSpPr>
            <p:cNvPr id="53" name="円/楕円 52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/楕円 53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1" name="グループ化 40"/>
          <p:cNvGrpSpPr/>
          <p:nvPr/>
        </p:nvGrpSpPr>
        <p:grpSpPr>
          <a:xfrm>
            <a:off x="4966828" y="4680893"/>
            <a:ext cx="2988829" cy="1417908"/>
            <a:chOff x="2708496" y="4405530"/>
            <a:chExt cx="2988829" cy="1417908"/>
          </a:xfrm>
        </p:grpSpPr>
        <p:sp>
          <p:nvSpPr>
            <p:cNvPr id="42" name="テキスト ボックス 41"/>
            <p:cNvSpPr txBox="1"/>
            <p:nvPr/>
          </p:nvSpPr>
          <p:spPr>
            <a:xfrm>
              <a:off x="2708496" y="4869331"/>
              <a:ext cx="29888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交叉</a:t>
              </a:r>
              <a:r>
                <a:rPr lang="en-US" altLang="ja-JP" sz="2800" dirty="0" smtClean="0"/>
                <a:t>+</a:t>
              </a:r>
              <a:r>
                <a:rPr lang="ja-JP" altLang="en-US" sz="2800" dirty="0" smtClean="0"/>
                <a:t>突然変異</a:t>
              </a:r>
              <a:endParaRPr lang="en-US" altLang="ja-JP" sz="2800" dirty="0" smtClean="0"/>
            </a:p>
            <a:p>
              <a:pPr algn="ctr"/>
              <a:r>
                <a:rPr lang="en-US" altLang="ja-JP" sz="2800" dirty="0" smtClean="0"/>
                <a:t>(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 smtClean="0"/>
                <a:t>)</a:t>
              </a:r>
            </a:p>
          </p:txBody>
        </p:sp>
        <p:sp>
          <p:nvSpPr>
            <p:cNvPr id="43" name="右矢印 42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7" name="円/楕円 46"/>
          <p:cNvSpPr/>
          <p:nvPr/>
        </p:nvSpPr>
        <p:spPr>
          <a:xfrm>
            <a:off x="7867396" y="5189630"/>
            <a:ext cx="478301" cy="4783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/>
        </p:nvSpPr>
        <p:spPr>
          <a:xfrm>
            <a:off x="7867396" y="4272640"/>
            <a:ext cx="478301" cy="4783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64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既存手法</a:t>
            </a:r>
            <a:r>
              <a:rPr kumimoji="1" lang="en-US" altLang="ja-JP" dirty="0" smtClean="0"/>
              <a:t>(MO-MFEA)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タスク間交叉によって生成された個体を，親個体に基づき割り当てを行う．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Vertical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Cultural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Transmission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1447076" y="3747055"/>
            <a:ext cx="478301" cy="1395291"/>
            <a:chOff x="4896723" y="3752124"/>
            <a:chExt cx="478301" cy="1395291"/>
          </a:xfrm>
        </p:grpSpPr>
        <p:sp>
          <p:nvSpPr>
            <p:cNvPr id="7" name="円/楕円 6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/楕円 7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" name="グループ化 8"/>
          <p:cNvGrpSpPr/>
          <p:nvPr/>
        </p:nvGrpSpPr>
        <p:grpSpPr>
          <a:xfrm>
            <a:off x="1827030" y="4155308"/>
            <a:ext cx="2988829" cy="1417908"/>
            <a:chOff x="2708496" y="4405530"/>
            <a:chExt cx="2988829" cy="1417908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2708496" y="4869331"/>
              <a:ext cx="29888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交叉</a:t>
              </a:r>
              <a:r>
                <a:rPr lang="en-US" altLang="ja-JP" sz="2800" dirty="0" smtClean="0"/>
                <a:t>+</a:t>
              </a:r>
              <a:r>
                <a:rPr lang="ja-JP" altLang="en-US" sz="2800" dirty="0" smtClean="0"/>
                <a:t>突然変異</a:t>
              </a:r>
              <a:endParaRPr lang="en-US" altLang="ja-JP" sz="2800" dirty="0" smtClean="0"/>
            </a:p>
            <a:p>
              <a:pPr algn="ctr"/>
              <a:r>
                <a:rPr lang="en-US" altLang="ja-JP" sz="2800" dirty="0" smtClean="0"/>
                <a:t>(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 smtClean="0"/>
                <a:t>)</a:t>
              </a:r>
            </a:p>
          </p:txBody>
        </p:sp>
        <p:sp>
          <p:nvSpPr>
            <p:cNvPr id="11" name="右矢印 10"/>
            <p:cNvSpPr/>
            <p:nvPr/>
          </p:nvSpPr>
          <p:spPr>
            <a:xfrm>
              <a:off x="3657599" y="4405530"/>
              <a:ext cx="956604" cy="46380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/>
          <p:cNvGrpSpPr/>
          <p:nvPr/>
        </p:nvGrpSpPr>
        <p:grpSpPr>
          <a:xfrm rot="10800000">
            <a:off x="6303499" y="3747055"/>
            <a:ext cx="478301" cy="1395291"/>
            <a:chOff x="4896723" y="3752124"/>
            <a:chExt cx="478301" cy="1395291"/>
          </a:xfrm>
        </p:grpSpPr>
        <p:sp>
          <p:nvSpPr>
            <p:cNvPr id="18" name="円/楕円 17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/>
          <p:cNvGrpSpPr/>
          <p:nvPr/>
        </p:nvGrpSpPr>
        <p:grpSpPr>
          <a:xfrm>
            <a:off x="4727598" y="3747055"/>
            <a:ext cx="478301" cy="1395291"/>
            <a:chOff x="4896723" y="3752124"/>
            <a:chExt cx="478301" cy="1395291"/>
          </a:xfrm>
        </p:grpSpPr>
        <p:sp>
          <p:nvSpPr>
            <p:cNvPr id="21" name="円/楕円 20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/楕円 21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5485916" y="3702136"/>
            <a:ext cx="537567" cy="1440210"/>
            <a:chOff x="4785233" y="3524336"/>
            <a:chExt cx="537567" cy="1440210"/>
          </a:xfrm>
        </p:grpSpPr>
        <p:sp>
          <p:nvSpPr>
            <p:cNvPr id="23" name="テキスト ボックス 22"/>
            <p:cNvSpPr txBox="1"/>
            <p:nvPr/>
          </p:nvSpPr>
          <p:spPr>
            <a:xfrm>
              <a:off x="4785233" y="444132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4785233" y="352433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</p:grpSp>
      <p:grpSp>
        <p:nvGrpSpPr>
          <p:cNvPr id="24" name="グループ化 23"/>
          <p:cNvGrpSpPr/>
          <p:nvPr/>
        </p:nvGrpSpPr>
        <p:grpSpPr>
          <a:xfrm>
            <a:off x="6200079" y="2592448"/>
            <a:ext cx="2767595" cy="983419"/>
            <a:chOff x="6609731" y="3254696"/>
            <a:chExt cx="2767595" cy="983419"/>
          </a:xfrm>
        </p:grpSpPr>
        <p:grpSp>
          <p:nvGrpSpPr>
            <p:cNvPr id="26" name="グループ化 25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29" name="グループ化 28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3" name="円/楕円 32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" name="テキスト ボックス 33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0" name="グループ化 29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1" name="円/楕円 30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" name="テキスト ボックス 31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28" name="正方形/長方形 27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26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rmp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をオンラインで学習する</a:t>
                </a:r>
                <a:r>
                  <a:rPr kumimoji="1" lang="ja-JP" altLang="en-US" dirty="0" smtClean="0"/>
                  <a:t>アルゴリズムを加えた</a:t>
                </a:r>
                <a:r>
                  <a:rPr kumimoji="1" lang="en-US" altLang="ja-JP" dirty="0" smtClean="0"/>
                  <a:t>MO-MFEA-II</a:t>
                </a:r>
                <a:r>
                  <a:rPr kumimoji="1" lang="ja-JP" altLang="en-US" dirty="0" smtClean="0"/>
                  <a:t>を提案する．</a:t>
                </a:r>
                <a:endParaRPr kumimoji="1" lang="en-US" altLang="ja-JP" dirty="0" smtClean="0"/>
              </a:p>
              <a:p>
                <a:pPr algn="l"/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RMP</a:t>
                </a:r>
                <a:r>
                  <a:rPr lang="ja-JP" altLang="en-US" dirty="0" smtClean="0"/>
                  <a:t>は対称行列で表現する．</a:t>
                </a:r>
                <a:r>
                  <a:rPr lang="en-US" altLang="ja-JP" dirty="0"/>
                  <a:t/>
                </a:r>
                <a:br>
                  <a:rPr lang="en-US" altLang="ja-JP" dirty="0"/>
                </a:br>
                <a:endParaRPr kumimoji="1" lang="en-US" altLang="ja-JP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RMP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kumimoji="1" lang="en-US" altLang="ja-JP" b="0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r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mp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i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rmp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i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rmp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i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rmp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i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ja-JP" b="0" baseline="-250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2000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559550" y="4876800"/>
            <a:ext cx="235585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dirty="0" smtClean="0"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r>
              <a:rPr lang="en-US" altLang="ja-JP" sz="2400" dirty="0" smtClean="0">
                <a:cs typeface="Times New Roman" panose="02020603050405020304" pitchFamily="18" charset="0"/>
              </a:rPr>
              <a:t>)</a:t>
            </a:r>
            <a:endParaRPr lang="ja-JP" alt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8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 smtClean="0"/>
                  <a:t>連続値最適化問題において初期個体群の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ja-JP" altLang="en-US" dirty="0" smtClean="0"/>
                  <a:t>確率分布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ja-JP" dirty="0" smtClean="0"/>
                  <a:t>(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ja-JP" altLang="en-US" dirty="0" smtClean="0"/>
                  <a:t> </a:t>
                </a:r>
                <a:r>
                  <a:rPr kumimoji="1" lang="en-US" altLang="ja-JP" dirty="0" smtClean="0"/>
                  <a:t>0)</a:t>
                </a:r>
                <a:r>
                  <a:rPr kumimoji="1" lang="ja-JP" altLang="en-US" dirty="0" smtClean="0"/>
                  <a:t>が，探索空間</a:t>
                </a:r>
                <a:r>
                  <a:rPr lang="en-US" altLang="ja-JP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ja-JP" altLang="en-US" dirty="0" smtClean="0"/>
                  <a:t>全体で正の値かつ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ja-JP" altLang="en-US" dirty="0" smtClean="0"/>
                  <a:t>連続で，子個体生成数を</a:t>
                </a:r>
                <a:r>
                  <a:rPr lang="ja-JP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r>
                  <a:rPr kumimoji="1" lang="ja-JP" altLang="en-US" dirty="0" smtClean="0"/>
                  <a:t>と仮定する．このとき，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ja-JP" altLang="en-US" dirty="0"/>
                  <a:t>世代</a:t>
                </a:r>
                <a:r>
                  <a:rPr kumimoji="1" lang="ja-JP" altLang="en-US" dirty="0" smtClean="0"/>
                  <a:t>において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子個体がサンプリングされる確率分布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ja-JP" dirty="0"/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ja-JP" altLang="en-US" dirty="0"/>
                  <a:t> 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ja-JP" dirty="0" smtClean="0"/>
                  <a:t>)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が真の分布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 smtClean="0"/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ja-JP" altLang="en-US" dirty="0"/>
                  <a:t> 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ja-JP" dirty="0" smtClean="0"/>
                  <a:t>)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と同一であれば</a:t>
                </a:r>
                <a:r>
                  <a:rPr kumimoji="1" lang="ja-JP" altLang="en-US" dirty="0" smtClean="0"/>
                  <a:t>，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ja-JP" altLang="en-US" dirty="0" smtClean="0"/>
                  <a:t>探索は漸近的に以下のような確率分布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/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ja-JP" altLang="en-US" dirty="0"/>
                  <a:t> 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r>
                  <a:rPr lang="en-US" altLang="ja-JP" dirty="0" smtClean="0"/>
                  <a:t>)</a:t>
                </a:r>
                <a:r>
                  <a:rPr kumimoji="1" lang="ja-JP" altLang="en-US" dirty="0" smtClean="0"/>
                  <a:t>に収束する．</a:t>
                </a:r>
                <a:endParaRPr kumimoji="1" lang="en-US" altLang="ja-JP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b="1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∞)</m:t>
                          </m:r>
                        </m:e>
                      </m:nary>
                      <m:r>
                        <m:rPr>
                          <m:nor/>
                        </m:rPr>
                        <a:rPr kumimoji="1" lang="en-US" altLang="ja-JP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dx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en-US" altLang="ja-JP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ja-JP" altLang="en-US" dirty="0" smtClean="0"/>
              <a:t>の学習原理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633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前頁の定理より，子個体群の確率分布が真の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確率分布と等しくなるようにすればよい．</a:t>
            </a:r>
            <a:endParaRPr kumimoji="1" lang="en-US" altLang="ja-JP" dirty="0" smtClean="0"/>
          </a:p>
          <a:p>
            <a:r>
              <a:rPr lang="en-US" altLang="ja-JP" dirty="0" smtClean="0"/>
              <a:t>MO-MFEA-II</a:t>
            </a:r>
            <a:r>
              <a:rPr lang="ja-JP" altLang="en-US" dirty="0" smtClean="0"/>
              <a:t>におけるタスク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ja-JP" altLang="en-US" dirty="0" smtClean="0"/>
              <a:t>の子</a:t>
            </a:r>
            <a:r>
              <a:rPr lang="ja-JP" altLang="en-US" dirty="0" smtClean="0"/>
              <a:t>個体群</a:t>
            </a:r>
            <a:r>
              <a:rPr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ja-JP" altLang="en-US" dirty="0" smtClean="0"/>
              <a:t> </a:t>
            </a:r>
            <a:r>
              <a:rPr lang="ja-JP" altLang="en-US" dirty="0" smtClean="0"/>
              <a:t>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確率分布は，以下の式で表される．</a:t>
            </a:r>
            <a:endParaRPr lang="en-US" altLang="ja-JP" dirty="0" smtClean="0"/>
          </a:p>
          <a:p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</a:t>
            </a:r>
            <a:r>
              <a:rPr lang="ja-JP" altLang="en-US" dirty="0" smtClean="0"/>
              <a:t>原理</a:t>
            </a:r>
            <a:endParaRPr lang="ja-JP" altLang="en-US" dirty="0"/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0911"/>
              </p:ext>
            </p:extLst>
          </p:nvPr>
        </p:nvGraphicFramePr>
        <p:xfrm>
          <a:off x="1301750" y="3716338"/>
          <a:ext cx="6542088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3" imgW="2044440" imgH="749160" progId="Equation.DSMT4">
                  <p:embed/>
                </p:oleObj>
              </mc:Choice>
              <mc:Fallback>
                <p:oleObj name="Equation" r:id="rId3" imgW="204444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1750" y="3716338"/>
                        <a:ext cx="6542088" cy="239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096218"/>
              </p:ext>
            </p:extLst>
          </p:nvPr>
        </p:nvGraphicFramePr>
        <p:xfrm>
          <a:off x="7846891" y="2398713"/>
          <a:ext cx="5286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5" imgW="164880" imgH="215640" progId="Equation.DSMT4">
                  <p:embed/>
                </p:oleObj>
              </mc:Choice>
              <mc:Fallback>
                <p:oleObj name="Equation" r:id="rId5" imgW="164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46891" y="2398713"/>
                        <a:ext cx="528638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905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前頁の定理より，子個体群の確率分布が真の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確率分布と等しくなるようにすればよい．</a:t>
            </a:r>
            <a:endParaRPr lang="en-US" altLang="ja-JP" dirty="0"/>
          </a:p>
          <a:p>
            <a:r>
              <a:rPr kumimoji="1" lang="ja-JP" altLang="en-US" dirty="0" smtClean="0"/>
              <a:t>従って，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ja-JP" altLang="en-US" dirty="0" smtClean="0"/>
              <a:t>タスクマルチタスク最適化問題では，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ja-JP" altLang="en-US" dirty="0" smtClean="0"/>
              <a:t>の最適化は，以下のような最大化問題として表現できる．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の学習原理</a:t>
            </a:r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561534"/>
              </p:ext>
            </p:extLst>
          </p:nvPr>
        </p:nvGraphicFramePr>
        <p:xfrm>
          <a:off x="2052576" y="3962400"/>
          <a:ext cx="5038848" cy="1421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576" y="3962400"/>
                        <a:ext cx="5038848" cy="1421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5384800" y="5722203"/>
            <a:ext cx="35306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400" dirty="0" smtClean="0"/>
              <a:t>:</a:t>
            </a:r>
            <a:r>
              <a:rPr kumimoji="1" lang="ja-JP" altLang="en-US" sz="2400" dirty="0" smtClean="0"/>
              <a:t> 個体群サイズ</a:t>
            </a:r>
            <a:endParaRPr kumimoji="1" lang="en-US" altLang="ja-JP" sz="2400" dirty="0" smtClean="0"/>
          </a:p>
          <a:p>
            <a:r>
              <a:rPr lang="en-US" altLang="ja-JP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 smtClean="0"/>
              <a:t>:</a:t>
            </a:r>
            <a:r>
              <a:rPr lang="ja-JP" altLang="en-US" sz="2400" dirty="0" smtClean="0"/>
              <a:t>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ja-JP" altLang="en-US" sz="2400" dirty="0" smtClean="0"/>
              <a:t>タスクの</a:t>
            </a:r>
            <a:r>
              <a:rPr lang="en-US" altLang="ja-JP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sz="2400" dirty="0" smtClean="0"/>
              <a:t>番目の個体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3320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 smtClean="0"/>
                  <a:t>また，前頁の最大化問題は，真の確率分布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/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ja-JP" dirty="0" smtClean="0"/>
                  <a:t>)</a:t>
                </a:r>
                <a:r>
                  <a:rPr kumimoji="1" lang="ja-JP" altLang="en-US" dirty="0" smtClean="0"/>
                  <a:t>と子個体群の確率分布の</a:t>
                </a:r>
                <a:r>
                  <a:rPr kumimoji="1" lang="en-US" altLang="ja-JP" dirty="0" smtClean="0"/>
                  <a:t>KL</a:t>
                </a:r>
                <a:r>
                  <a:rPr kumimoji="1" lang="ja-JP" altLang="en-US" dirty="0" smtClean="0"/>
                  <a:t>ダイバージェンスの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ja-JP" altLang="en-US" dirty="0" smtClean="0"/>
                  <a:t>最小化と等価である．</a:t>
                </a:r>
                <a:endParaRPr kumimoji="1" lang="en-US" altLang="ja-JP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||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ja-JP" b="1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ja-JP" b="0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∙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− 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)]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dx</m:t>
                      </m:r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2000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の学習原理</a:t>
            </a:r>
          </a:p>
        </p:txBody>
      </p:sp>
    </p:spTree>
    <p:extLst>
      <p:ext uri="{BB962C8B-B14F-4D97-AF65-F5344CB8AC3E}">
        <p14:creationId xmlns:p14="http://schemas.microsoft.com/office/powerpoint/2010/main" val="22046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Appendix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kumimoji="1" lang="ja-JP" altLang="en-US" dirty="0" smtClean="0"/>
                  <a:t>情報量</a:t>
                </a:r>
                <a:endParaRPr lang="en-US" altLang="ja-JP" dirty="0"/>
              </a:p>
              <a:p>
                <a:pPr lvl="1" algn="l"/>
                <a:r>
                  <a:rPr kumimoji="1" lang="ja-JP" altLang="en-US" dirty="0" smtClean="0"/>
                  <a:t>確率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/>
                  <a:t>(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ja-JP" dirty="0" smtClean="0"/>
                  <a:t>)</a:t>
                </a:r>
                <a:r>
                  <a:rPr kumimoji="1" lang="ja-JP" altLang="en-US" dirty="0" smtClean="0"/>
                  <a:t>で，事象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ja-JP" altLang="en-US" dirty="0" smtClean="0"/>
                  <a:t>が起きるとき，その情報量</a:t>
                </a:r>
                <a:r>
                  <a:rPr lang="ja-JP" altLang="en-US" dirty="0" smtClean="0"/>
                  <a:t>は</a:t>
                </a:r>
                <a:endParaRPr lang="en-US" altLang="ja-JP" dirty="0" smtClean="0"/>
              </a:p>
              <a:p>
                <a:pPr lvl="1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エントロピー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生じる事象すべてに対する情報量は，各情報量を各事象が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生じる確率で重みづけして平均すればよいので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))</m:t>
                          </m:r>
                          <m:r>
                            <m:rPr>
                              <m:nor/>
                            </m:rPr>
                            <a:rPr lang="en-US" altLang="ja-JP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ja-JP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交差エントロピー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確率分布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/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/>
                  <a:t>)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を，異なる確率分布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ja-JP" dirty="0" smtClean="0"/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/>
                  <a:t>)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で送る際の情報量は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))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lvl="1" indent="-342900" algn="l">
                  <a:buFont typeface="Arial" panose="020B0604020202020204" pitchFamily="34" charset="0"/>
                  <a:buChar char="•"/>
                </a:pPr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14" t="-1882" r="-1053"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KL</a:t>
            </a:r>
            <a:r>
              <a:rPr kumimoji="1" lang="ja-JP" altLang="en-US" dirty="0" smtClean="0"/>
              <a:t>ダイバージェンス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6959600"/>
            <a:ext cx="8178800" cy="120032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参考サイト</a:t>
            </a:r>
            <a:endParaRPr lang="en-US" altLang="ja-JP" sz="2400" dirty="0" smtClean="0"/>
          </a:p>
          <a:p>
            <a:r>
              <a:rPr lang="en-US" altLang="ja-JP" sz="2400" dirty="0">
                <a:hlinkClick r:id="rId3"/>
              </a:rPr>
              <a:t>http://</a:t>
            </a:r>
            <a:r>
              <a:rPr lang="en-US" altLang="ja-JP" sz="2400" dirty="0" smtClean="0">
                <a:hlinkClick r:id="rId3"/>
              </a:rPr>
              <a:t>hanon05.hatenablog.com/entry/2019/02/03/183716</a:t>
            </a:r>
            <a:endParaRPr lang="en-US" altLang="ja-JP" sz="2400" dirty="0" smtClean="0"/>
          </a:p>
          <a:p>
            <a:r>
              <a:rPr lang="en-US" altLang="ja-JP" sz="2400" dirty="0">
                <a:hlinkClick r:id="rId4"/>
              </a:rPr>
              <a:t>https://</a:t>
            </a:r>
            <a:r>
              <a:rPr lang="en-US" altLang="ja-JP" sz="2400" dirty="0" smtClean="0">
                <a:hlinkClick r:id="rId4"/>
              </a:rPr>
              <a:t>www.hellocybernetics.tech/entry/2016/04/21/132645</a:t>
            </a:r>
            <a:endParaRPr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418359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Appendix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交差エントロピー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確率分布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/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/>
                  <a:t>)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を，異なる確率分布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ja-JP" dirty="0" smtClean="0"/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/>
                  <a:t>)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で送る際の情報量は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))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ja-JP" dirty="0" smtClean="0">
                    <a:cs typeface="Times New Roman" panose="02020603050405020304" pitchFamily="18" charset="0"/>
                  </a:rPr>
                  <a:t>KL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ダイバージェンス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/>
                <a:r>
                  <a:rPr lang="ja-JP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真</a:t>
                </a:r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の確率分布で送った情報量と，</a:t>
                </a:r>
                <a:r>
                  <a:rPr kumimoji="1"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異なる確率分布で送った情報量の差は</a:t>
                </a:r>
                <a:endPara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))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)) 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dx</m:t>
                              </m:r>
                              <m:r>
                                <m:rPr>
                                  <m:nor/>
                                </m:rPr>
                                <a:rPr lang="en-US" altLang="ja-JP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ja-JP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q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ja-JP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altLang="ja-JP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/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14" t="-2000" b="-23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KL</a:t>
            </a:r>
            <a:r>
              <a:rPr kumimoji="1" lang="ja-JP" altLang="en-US" dirty="0" smtClean="0"/>
              <a:t>ダイバージェンス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6959600"/>
            <a:ext cx="8178800" cy="120032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参考サイト</a:t>
            </a:r>
            <a:endParaRPr lang="en-US" altLang="ja-JP" sz="2400" dirty="0" smtClean="0"/>
          </a:p>
          <a:p>
            <a:r>
              <a:rPr lang="en-US" altLang="ja-JP" sz="2400" dirty="0">
                <a:hlinkClick r:id="rId3"/>
              </a:rPr>
              <a:t>http://</a:t>
            </a:r>
            <a:r>
              <a:rPr lang="en-US" altLang="ja-JP" sz="2400" dirty="0" smtClean="0">
                <a:hlinkClick r:id="rId3"/>
              </a:rPr>
              <a:t>hanon05.hatenablog.com/entry/2019/02/03/183716</a:t>
            </a:r>
            <a:endParaRPr lang="en-US" altLang="ja-JP" sz="2400" dirty="0" smtClean="0"/>
          </a:p>
          <a:p>
            <a:r>
              <a:rPr lang="en-US" altLang="ja-JP" sz="2400" dirty="0">
                <a:hlinkClick r:id="rId4"/>
              </a:rPr>
              <a:t>https://</a:t>
            </a:r>
            <a:r>
              <a:rPr lang="en-US" altLang="ja-JP" sz="2400" dirty="0" smtClean="0">
                <a:hlinkClick r:id="rId4"/>
              </a:rPr>
              <a:t>www.hellocybernetics.tech/entry/2016/04/21/132645</a:t>
            </a:r>
            <a:endParaRPr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44822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&lt;</a:t>
            </a:r>
            <a:r>
              <a:rPr lang="ja-JP" altLang="en-US" dirty="0" smtClean="0"/>
              <a:t>証明</a:t>
            </a:r>
            <a:r>
              <a:rPr lang="en-US" altLang="ja-JP" dirty="0" smtClean="0"/>
              <a:t>&gt;</a:t>
            </a:r>
          </a:p>
          <a:p>
            <a:endParaRPr kumimoji="1"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の学習原理</a:t>
            </a:r>
          </a:p>
        </p:txBody>
      </p:sp>
      <p:graphicFrame>
        <p:nvGraphicFramePr>
          <p:cNvPr id="7" name="オブジェクト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322892"/>
              </p:ext>
            </p:extLst>
          </p:nvPr>
        </p:nvGraphicFramePr>
        <p:xfrm>
          <a:off x="611188" y="1663700"/>
          <a:ext cx="7923212" cy="353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3" imgW="2476440" imgH="1104840" progId="Equation.DSMT4">
                  <p:embed/>
                </p:oleObj>
              </mc:Choice>
              <mc:Fallback>
                <p:oleObj name="Equation" r:id="rId3" imgW="247644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1663700"/>
                        <a:ext cx="7923212" cy="353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842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&lt;</a:t>
            </a:r>
            <a:r>
              <a:rPr lang="ja-JP" altLang="en-US" dirty="0" smtClean="0"/>
              <a:t>証明</a:t>
            </a:r>
            <a:r>
              <a:rPr lang="en-US" altLang="ja-JP" dirty="0" smtClean="0"/>
              <a:t>&gt;</a:t>
            </a:r>
          </a:p>
          <a:p>
            <a:r>
              <a:rPr kumimoji="1" lang="ja-JP" altLang="en-US" dirty="0" smtClean="0"/>
              <a:t>よって</a:t>
            </a:r>
            <a:endParaRPr kumimoji="1"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kumimoji="1" lang="ja-JP" altLang="en-US" dirty="0" smtClean="0"/>
              <a:t>ここで，上式は以下の最小化問題と等価である．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の学習原理</a:t>
            </a:r>
          </a:p>
        </p:txBody>
      </p:sp>
      <p:graphicFrame>
        <p:nvGraphicFramePr>
          <p:cNvPr id="8" name="オブジェクト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658040"/>
              </p:ext>
            </p:extLst>
          </p:nvPr>
        </p:nvGraphicFramePr>
        <p:xfrm>
          <a:off x="1097756" y="2389188"/>
          <a:ext cx="6948488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3" imgW="2171520" imgH="825480" progId="Equation.DSMT4">
                  <p:embed/>
                </p:oleObj>
              </mc:Choice>
              <mc:Fallback>
                <p:oleObj name="Equation" r:id="rId3" imgW="21715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7756" y="2389188"/>
                        <a:ext cx="6948488" cy="263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504913"/>
              </p:ext>
            </p:extLst>
          </p:nvPr>
        </p:nvGraphicFramePr>
        <p:xfrm>
          <a:off x="589392" y="5518150"/>
          <a:ext cx="7965216" cy="128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5" imgW="2844720" imgH="457200" progId="Equation.DSMT4">
                  <p:embed/>
                </p:oleObj>
              </mc:Choice>
              <mc:Fallback>
                <p:oleObj name="Equation" r:id="rId5" imgW="2844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9392" y="5518150"/>
                        <a:ext cx="7965216" cy="1280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855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&lt;</a:t>
            </a:r>
            <a:r>
              <a:rPr lang="ja-JP" altLang="en-US" dirty="0" smtClean="0"/>
              <a:t>証明</a:t>
            </a:r>
            <a:r>
              <a:rPr lang="en-US" altLang="ja-JP" dirty="0" smtClean="0"/>
              <a:t>&gt;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dirty="0"/>
              <a:t>の学習原理</a:t>
            </a:r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152637"/>
              </p:ext>
            </p:extLst>
          </p:nvPr>
        </p:nvGraphicFramePr>
        <p:xfrm>
          <a:off x="482600" y="2070100"/>
          <a:ext cx="8178800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3" imgW="2920680" imgH="825480" progId="Equation.DSMT4">
                  <p:embed/>
                </p:oleObj>
              </mc:Choice>
              <mc:Fallback>
                <p:oleObj name="Equation" r:id="rId3" imgW="29206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600" y="2070100"/>
                        <a:ext cx="8178800" cy="2309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790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</a:t>
            </a:r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MO-MFEA-II</a:t>
            </a:r>
            <a:endParaRPr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3595914" y="1358881"/>
            <a:ext cx="1536700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初期化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3418114" y="4343895"/>
            <a:ext cx="1892300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 smtClean="0">
                <a:solidFill>
                  <a:schemeClr val="tx1"/>
                </a:solidFill>
              </a:rPr>
              <a:t>個体評価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2846614" y="2331849"/>
            <a:ext cx="3035300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 smtClean="0">
                <a:solidFill>
                  <a:schemeClr val="tx1"/>
                </a:solidFill>
              </a:rPr>
              <a:t>確率モデル生成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3327689" y="3002531"/>
            <a:ext cx="2073151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sz="2800" dirty="0" smtClean="0">
                <a:solidFill>
                  <a:schemeClr val="tx1"/>
                </a:solidFill>
              </a:rPr>
              <a:t>学習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3219423" y="3673213"/>
            <a:ext cx="2289683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 smtClean="0">
                <a:solidFill>
                  <a:schemeClr val="tx1"/>
                </a:solidFill>
              </a:rPr>
              <a:t>子個体生成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3418114" y="5014576"/>
            <a:ext cx="1892300" cy="43891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 smtClean="0">
                <a:solidFill>
                  <a:schemeClr val="tx1"/>
                </a:solidFill>
              </a:rPr>
              <a:t>環境選択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フローチャート: 判断 11"/>
          <p:cNvSpPr/>
          <p:nvPr/>
        </p:nvSpPr>
        <p:spPr>
          <a:xfrm>
            <a:off x="2607306" y="5690545"/>
            <a:ext cx="3513916" cy="78935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 smtClean="0">
                <a:solidFill>
                  <a:schemeClr val="tx1"/>
                </a:solidFill>
              </a:rPr>
              <a:t>終了条件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1" name="直線コネクタ 20"/>
          <p:cNvCxnSpPr>
            <a:stCxn id="6" idx="2"/>
            <a:endCxn id="8" idx="0"/>
          </p:cNvCxnSpPr>
          <p:nvPr/>
        </p:nvCxnSpPr>
        <p:spPr>
          <a:xfrm>
            <a:off x="4364264" y="1797799"/>
            <a:ext cx="0" cy="53405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8" idx="2"/>
            <a:endCxn id="9" idx="0"/>
          </p:cNvCxnSpPr>
          <p:nvPr/>
        </p:nvCxnSpPr>
        <p:spPr>
          <a:xfrm>
            <a:off x="4364264" y="2770767"/>
            <a:ext cx="1" cy="231764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>
            <a:stCxn id="9" idx="2"/>
            <a:endCxn id="10" idx="0"/>
          </p:cNvCxnSpPr>
          <p:nvPr/>
        </p:nvCxnSpPr>
        <p:spPr>
          <a:xfrm>
            <a:off x="4364265" y="3441449"/>
            <a:ext cx="0" cy="231764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10" idx="2"/>
            <a:endCxn id="7" idx="0"/>
          </p:cNvCxnSpPr>
          <p:nvPr/>
        </p:nvCxnSpPr>
        <p:spPr>
          <a:xfrm flipH="1">
            <a:off x="4364264" y="4112131"/>
            <a:ext cx="1" cy="231764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>
            <a:stCxn id="11" idx="2"/>
            <a:endCxn id="12" idx="0"/>
          </p:cNvCxnSpPr>
          <p:nvPr/>
        </p:nvCxnSpPr>
        <p:spPr>
          <a:xfrm>
            <a:off x="4364264" y="5453494"/>
            <a:ext cx="0" cy="237051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12" idx="2"/>
          </p:cNvCxnSpPr>
          <p:nvPr/>
        </p:nvCxnSpPr>
        <p:spPr>
          <a:xfrm>
            <a:off x="4364264" y="6479904"/>
            <a:ext cx="0" cy="3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フリーフォーム 34"/>
          <p:cNvSpPr/>
          <p:nvPr/>
        </p:nvSpPr>
        <p:spPr>
          <a:xfrm>
            <a:off x="4358841" y="2070953"/>
            <a:ext cx="2639778" cy="4023875"/>
          </a:xfrm>
          <a:custGeom>
            <a:avLst/>
            <a:gdLst>
              <a:gd name="connsiteX0" fmla="*/ 1716259 w 3038622"/>
              <a:gd name="connsiteY0" fmla="*/ 3924886 h 3924886"/>
              <a:gd name="connsiteX1" fmla="*/ 3038622 w 3038622"/>
              <a:gd name="connsiteY1" fmla="*/ 3924886 h 3924886"/>
              <a:gd name="connsiteX2" fmla="*/ 3038622 w 3038622"/>
              <a:gd name="connsiteY2" fmla="*/ 0 h 3924886"/>
              <a:gd name="connsiteX3" fmla="*/ 0 w 3038622"/>
              <a:gd name="connsiteY3" fmla="*/ 0 h 3924886"/>
              <a:gd name="connsiteX0" fmla="*/ 2100526 w 3038622"/>
              <a:gd name="connsiteY0" fmla="*/ 3924886 h 3924886"/>
              <a:gd name="connsiteX1" fmla="*/ 3038622 w 3038622"/>
              <a:gd name="connsiteY1" fmla="*/ 3924886 h 3924886"/>
              <a:gd name="connsiteX2" fmla="*/ 3038622 w 3038622"/>
              <a:gd name="connsiteY2" fmla="*/ 0 h 3924886"/>
              <a:gd name="connsiteX3" fmla="*/ 0 w 3038622"/>
              <a:gd name="connsiteY3" fmla="*/ 0 h 3924886"/>
              <a:gd name="connsiteX0" fmla="*/ 2100526 w 3038622"/>
              <a:gd name="connsiteY0" fmla="*/ 3924886 h 3928319"/>
              <a:gd name="connsiteX1" fmla="*/ 2046181 w 3038622"/>
              <a:gd name="connsiteY1" fmla="*/ 3928319 h 3928319"/>
              <a:gd name="connsiteX2" fmla="*/ 3038622 w 3038622"/>
              <a:gd name="connsiteY2" fmla="*/ 3924886 h 3928319"/>
              <a:gd name="connsiteX3" fmla="*/ 3038622 w 3038622"/>
              <a:gd name="connsiteY3" fmla="*/ 0 h 3928319"/>
              <a:gd name="connsiteX4" fmla="*/ 0 w 3038622"/>
              <a:gd name="connsiteY4" fmla="*/ 0 h 392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8622" h="3928319">
                <a:moveTo>
                  <a:pt x="2100526" y="3924886"/>
                </a:moveTo>
                <a:lnTo>
                  <a:pt x="2046181" y="3928319"/>
                </a:lnTo>
                <a:lnTo>
                  <a:pt x="3038622" y="3924886"/>
                </a:lnTo>
                <a:lnTo>
                  <a:pt x="3038622" y="0"/>
                </a:lnTo>
                <a:lnTo>
                  <a:pt x="0" y="0"/>
                </a:ln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785543" y="6328542"/>
            <a:ext cx="914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Yes</a:t>
            </a:r>
            <a:endParaRPr kumimoji="1" lang="ja-JP" altLang="en-US" sz="2800" dirty="0" smtClean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881914" y="5493744"/>
            <a:ext cx="914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N</a:t>
            </a:r>
            <a:r>
              <a:rPr lang="en-US" altLang="ja-JP" sz="2800" dirty="0"/>
              <a:t>o</a:t>
            </a:r>
            <a:endParaRPr kumimoji="1" lang="ja-JP" altLang="en-US" sz="2800" dirty="0" smtClean="0"/>
          </a:p>
        </p:txBody>
      </p:sp>
      <p:cxnSp>
        <p:nvCxnSpPr>
          <p:cNvPr id="50" name="直線コネクタ 49"/>
          <p:cNvCxnSpPr>
            <a:stCxn id="7" idx="2"/>
            <a:endCxn id="11" idx="0"/>
          </p:cNvCxnSpPr>
          <p:nvPr/>
        </p:nvCxnSpPr>
        <p:spPr>
          <a:xfrm>
            <a:off x="4364264" y="4782813"/>
            <a:ext cx="0" cy="231763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5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最適化問題として，</a:t>
            </a:r>
            <a:r>
              <a:rPr kumimoji="1" lang="en-US" altLang="ja-JP" dirty="0" smtClean="0"/>
              <a:t>5</a:t>
            </a:r>
            <a:r>
              <a:rPr kumimoji="1" lang="ja-JP" altLang="en-US" dirty="0" err="1" smtClean="0"/>
              <a:t>つの</a:t>
            </a:r>
            <a:r>
              <a:rPr kumimoji="1" lang="ja-JP" altLang="en-US" dirty="0" smtClean="0"/>
              <a:t>実数値の関数最適化を行う．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関数最適化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47793" y="2622714"/>
            <a:ext cx="2869780" cy="5785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タスク間の類似度</a:t>
            </a: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0235"/>
              </p:ext>
            </p:extLst>
          </p:nvPr>
        </p:nvGraphicFramePr>
        <p:xfrm>
          <a:off x="557823" y="3201310"/>
          <a:ext cx="6725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173480"/>
                <a:gridCol w="1173480"/>
                <a:gridCol w="1173480"/>
                <a:gridCol w="117348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1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3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4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5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1"/>
                          </a:solidFill>
                        </a:rPr>
                        <a:t>0.970</a:t>
                      </a:r>
                      <a:endParaRPr kumimoji="1" lang="ja-JP" altLang="en-US" sz="28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0.298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0.778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0.402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endParaRPr kumimoji="1" lang="ja-JP" altLang="en-US" sz="28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0.299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0.753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5"/>
                          </a:solidFill>
                        </a:rPr>
                        <a:t>0.391</a:t>
                      </a:r>
                      <a:endParaRPr kumimoji="1" lang="ja-JP" altLang="en-US" sz="28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3</a:t>
                      </a:r>
                      <a:endParaRPr kumimoji="1" lang="ja-JP" altLang="en-US" sz="28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2"/>
                          </a:solidFill>
                        </a:rPr>
                        <a:t>0.080</a:t>
                      </a:r>
                      <a:endParaRPr kumimoji="1" lang="ja-JP" alt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2"/>
                          </a:solidFill>
                        </a:rPr>
                        <a:t>0.130</a:t>
                      </a:r>
                      <a:endParaRPr kumimoji="1" lang="ja-JP" alt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4</a:t>
                      </a:r>
                      <a:endParaRPr kumimoji="1" lang="ja-JP" altLang="en-US" sz="28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accent1"/>
                          </a:solidFill>
                        </a:rPr>
                        <a:t>0.817</a:t>
                      </a:r>
                      <a:endParaRPr kumimoji="1" lang="ja-JP" altLang="en-US" sz="28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5</a:t>
                      </a:r>
                      <a:endParaRPr kumimoji="1" lang="ja-JP" altLang="en-US" sz="28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7489823" y="2587077"/>
            <a:ext cx="1444580" cy="120032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>
                <a:solidFill>
                  <a:schemeClr val="accent1"/>
                </a:solidFill>
              </a:rPr>
              <a:t>赤字</a:t>
            </a:r>
            <a:r>
              <a:rPr lang="en-US" altLang="ja-JP" sz="2400" dirty="0" smtClean="0"/>
              <a:t>: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HS</a:t>
            </a:r>
          </a:p>
          <a:p>
            <a:r>
              <a:rPr lang="ja-JP" altLang="en-US" sz="2400" dirty="0" smtClean="0">
                <a:solidFill>
                  <a:schemeClr val="accent5"/>
                </a:solidFill>
              </a:rPr>
              <a:t>緑</a:t>
            </a:r>
            <a:r>
              <a:rPr kumimoji="1" lang="ja-JP" altLang="en-US" sz="2400" dirty="0" smtClean="0">
                <a:solidFill>
                  <a:schemeClr val="accent5"/>
                </a:solidFill>
              </a:rPr>
              <a:t>字</a:t>
            </a:r>
            <a:r>
              <a:rPr kumimoji="1" lang="en-US" altLang="ja-JP" sz="2400" dirty="0" smtClean="0"/>
              <a:t>: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MS</a:t>
            </a:r>
          </a:p>
          <a:p>
            <a:r>
              <a:rPr lang="ja-JP" altLang="en-US" sz="2400" dirty="0">
                <a:solidFill>
                  <a:schemeClr val="accent2"/>
                </a:solidFill>
              </a:rPr>
              <a:t>青</a:t>
            </a:r>
            <a:r>
              <a:rPr lang="ja-JP" altLang="en-US" sz="2400" dirty="0" smtClean="0">
                <a:solidFill>
                  <a:schemeClr val="accent2"/>
                </a:solidFill>
              </a:rPr>
              <a:t>字</a:t>
            </a:r>
            <a:r>
              <a:rPr lang="en-US" altLang="ja-JP" sz="2400" dirty="0" smtClean="0"/>
              <a:t>: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LS</a:t>
            </a:r>
            <a:endParaRPr kumimoji="1"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240942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比較手法</a:t>
            </a:r>
            <a:endParaRPr lang="en-US" altLang="ja-JP" dirty="0"/>
          </a:p>
          <a:p>
            <a:pPr algn="l"/>
            <a:r>
              <a:rPr lang="ja-JP" altLang="en-US" dirty="0" smtClean="0"/>
              <a:t>・</a:t>
            </a:r>
            <a:r>
              <a:rPr lang="en-US" altLang="ja-JP" dirty="0" smtClean="0"/>
              <a:t>MO-MFEA(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ja-JP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 smtClean="0"/>
              <a:t>＝｛</a:t>
            </a:r>
            <a:r>
              <a:rPr lang="en-US" altLang="ja-JP" dirty="0" smtClean="0"/>
              <a:t>0.3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0.6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0.9</a:t>
            </a:r>
            <a:r>
              <a:rPr lang="ja-JP" altLang="en-US" dirty="0" smtClean="0"/>
              <a:t>｝</a:t>
            </a:r>
            <a:r>
              <a:rPr lang="en-US" altLang="ja-JP" dirty="0" smtClean="0"/>
              <a:t>)</a:t>
            </a:r>
            <a:br>
              <a:rPr lang="en-US" altLang="ja-JP" dirty="0" smtClean="0"/>
            </a:br>
            <a:r>
              <a:rPr lang="ja-JP" altLang="en-US" dirty="0" smtClean="0"/>
              <a:t>・</a:t>
            </a:r>
            <a:r>
              <a:rPr lang="en-US" altLang="ja-JP" dirty="0" smtClean="0"/>
              <a:t>NSGA-II</a:t>
            </a:r>
            <a:br>
              <a:rPr lang="en-US" altLang="ja-JP" dirty="0" smtClean="0"/>
            </a:br>
            <a:r>
              <a:rPr lang="ja-JP" altLang="en-US" dirty="0" smtClean="0"/>
              <a:t>・</a:t>
            </a:r>
            <a:r>
              <a:rPr lang="en-US" altLang="ja-JP" dirty="0" smtClean="0"/>
              <a:t>EMEA(</a:t>
            </a:r>
            <a:r>
              <a:rPr lang="en-US" altLang="ja-JP" sz="2400" dirty="0" smtClean="0"/>
              <a:t>evolutionary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multitasking </a:t>
            </a:r>
            <a:r>
              <a:rPr lang="en-US" altLang="ja-JP" sz="2400" dirty="0"/>
              <a:t>via explicit </a:t>
            </a:r>
            <a:r>
              <a:rPr lang="en-US" altLang="ja-JP" sz="2400" dirty="0" err="1" smtClean="0"/>
              <a:t>autoencoding</a:t>
            </a:r>
            <a:r>
              <a:rPr lang="en-US" altLang="ja-JP" dirty="0" smtClean="0"/>
              <a:t>)</a:t>
            </a:r>
          </a:p>
          <a:p>
            <a:pPr algn="l"/>
            <a:r>
              <a:rPr lang="ja-JP" altLang="en-US" dirty="0"/>
              <a:t>個体群サイズ：</a:t>
            </a:r>
            <a:r>
              <a:rPr lang="en-US" altLang="ja-JP" dirty="0"/>
              <a:t>50</a:t>
            </a:r>
            <a:r>
              <a:rPr lang="ja-JP" altLang="en-US" dirty="0"/>
              <a:t>個体</a:t>
            </a:r>
            <a:r>
              <a:rPr lang="en-US" altLang="ja-JP" dirty="0"/>
              <a:t>(</a:t>
            </a:r>
            <a:r>
              <a:rPr lang="ja-JP" altLang="en-US" dirty="0"/>
              <a:t>タスク毎</a:t>
            </a:r>
            <a:r>
              <a:rPr lang="en-US" altLang="ja-JP" dirty="0"/>
              <a:t>)</a:t>
            </a:r>
            <a:br>
              <a:rPr lang="en-US" altLang="ja-JP" dirty="0"/>
            </a:br>
            <a:r>
              <a:rPr lang="ja-JP" altLang="en-US" dirty="0"/>
              <a:t>世代数：</a:t>
            </a:r>
            <a:r>
              <a:rPr lang="en-US" altLang="ja-JP" dirty="0"/>
              <a:t>250</a:t>
            </a:r>
            <a:r>
              <a:rPr lang="ja-JP" altLang="en-US" dirty="0"/>
              <a:t>世代</a:t>
            </a:r>
            <a:endParaRPr lang="en-US" altLang="ja-JP" dirty="0"/>
          </a:p>
          <a:p>
            <a:pPr algn="l"/>
            <a:r>
              <a:rPr lang="ja-JP" altLang="en-US" dirty="0" smtClean="0"/>
              <a:t>交叉</a:t>
            </a:r>
            <a:r>
              <a:rPr lang="ja-JP" altLang="en-US" dirty="0"/>
              <a:t>操作：</a:t>
            </a:r>
            <a:r>
              <a:rPr lang="en-US" altLang="ja-JP" dirty="0"/>
              <a:t>SBX</a:t>
            </a:r>
            <a:r>
              <a:rPr lang="ja-JP" altLang="en-US" dirty="0"/>
              <a:t> 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ja-JP" dirty="0"/>
              <a:t> = 1,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altLang="ja-JP" dirty="0"/>
              <a:t> = </a:t>
            </a:r>
            <a:r>
              <a:rPr lang="en-US" altLang="ja-JP" dirty="0" smtClean="0"/>
              <a:t>10)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突然変異操作：</a:t>
            </a:r>
            <a:r>
              <a:rPr lang="en-US" altLang="ja-JP" dirty="0"/>
              <a:t>PM 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dirty="0"/>
              <a:t> = 1 /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ja-JP" dirty="0">
                <a:cs typeface="Times New Roman" panose="02020603050405020304" pitchFamily="18" charset="0"/>
              </a:rPr>
              <a:t>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altLang="ja-JP" dirty="0"/>
              <a:t>= </a:t>
            </a:r>
            <a:r>
              <a:rPr lang="en-US" altLang="ja-JP" dirty="0" smtClean="0"/>
              <a:t>10)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確率分布モデル</a:t>
            </a:r>
            <a:r>
              <a:rPr lang="ja-JP" altLang="en-US" dirty="0" smtClean="0"/>
              <a:t>：</a:t>
            </a:r>
            <a:r>
              <a:rPr lang="en-US" altLang="ja-JP" dirty="0" smtClean="0"/>
              <a:t>normal </a:t>
            </a:r>
            <a:r>
              <a:rPr lang="en-US" altLang="ja-JP" dirty="0"/>
              <a:t>distribution</a:t>
            </a:r>
            <a:br>
              <a:rPr lang="en-US" altLang="ja-JP" dirty="0"/>
            </a:br>
            <a:r>
              <a:rPr lang="ja-JP" altLang="en-US" dirty="0"/>
              <a:t>試行回数：</a:t>
            </a:r>
            <a:r>
              <a:rPr lang="en-US" altLang="ja-JP" dirty="0"/>
              <a:t>30</a:t>
            </a:r>
            <a:r>
              <a:rPr lang="ja-JP" altLang="en-US" dirty="0" smtClean="0"/>
              <a:t>回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880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と</a:t>
            </a:r>
            <a:r>
              <a:rPr lang="en-US" altLang="ja-JP" dirty="0" smtClean="0"/>
              <a:t>MO-MFEA-II</a:t>
            </a:r>
            <a:r>
              <a:rPr lang="ja-JP" altLang="en-US" dirty="0" smtClean="0"/>
              <a:t>が優れている．</a:t>
            </a:r>
            <a:endParaRPr lang="en-US" altLang="ja-JP" dirty="0" smtClean="0"/>
          </a:p>
          <a:p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kumimoji="1" lang="ja-JP" altLang="en-US" dirty="0" smtClean="0"/>
              <a:t>の値によって性能が変化している．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CI-HS(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baseline="-25000" dirty="0" smtClean="0"/>
              <a:t>1</a:t>
            </a:r>
            <a:r>
              <a:rPr kumimoji="1" lang="ja-JP" altLang="en-US" dirty="0" smtClean="0"/>
              <a:t>＆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baseline="-25000" dirty="0" smtClean="0"/>
              <a:t>2</a:t>
            </a:r>
            <a:r>
              <a:rPr kumimoji="1" lang="ja-JP" altLang="en-US" dirty="0" smtClean="0"/>
              <a:t>のみで実行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906" y="2025748"/>
            <a:ext cx="7412188" cy="35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6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類似度に応じた値になっている．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CI-HS(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baseline="-25000" dirty="0" smtClean="0"/>
              <a:t>1</a:t>
            </a:r>
            <a:r>
              <a:rPr kumimoji="1" lang="ja-JP" altLang="en-US" dirty="0" smtClean="0"/>
              <a:t>＆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baseline="-25000" dirty="0" smtClean="0"/>
              <a:t>2</a:t>
            </a:r>
            <a:r>
              <a:rPr kumimoji="1" lang="ja-JP" altLang="en-US" dirty="0" smtClean="0"/>
              <a:t>のみで実行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7811" y="1839686"/>
            <a:ext cx="4348377" cy="42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r>
              <a:rPr lang="en-US" altLang="ja-JP" dirty="0" smtClean="0"/>
              <a:t>MO-MFEA-II</a:t>
            </a:r>
            <a:r>
              <a:rPr lang="ja-JP" altLang="en-US" dirty="0" smtClean="0"/>
              <a:t>の性能が優れている．</a:t>
            </a:r>
            <a:endParaRPr lang="en-US" altLang="ja-JP" dirty="0" smtClean="0"/>
          </a:p>
          <a:p>
            <a:r>
              <a:rPr kumimoji="1" lang="en-US" altLang="ja-JP" dirty="0" smtClean="0">
                <a:cs typeface="Times New Roman" panose="02020603050405020304" pitchFamily="18" charset="0"/>
              </a:rPr>
              <a:t>MO-MFEA</a:t>
            </a:r>
            <a:r>
              <a:rPr kumimoji="1" lang="ja-JP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ja-JP" dirty="0" smtClean="0">
                <a:cs typeface="Times New Roman" panose="02020603050405020304" pitchFamily="18" charset="0"/>
              </a:rPr>
              <a:t>EMEA</a:t>
            </a:r>
            <a:r>
              <a:rPr kumimoji="1"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では情報共有で性能が低下</a:t>
            </a:r>
            <a:r>
              <a:rPr kumimoji="1" lang="ja-JP" altLang="en-US" dirty="0" smtClean="0"/>
              <a:t>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</a:t>
            </a:r>
            <a:r>
              <a:rPr kumimoji="1" lang="en-US" altLang="ja-JP" dirty="0" smtClean="0"/>
              <a:t>I-LS(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 smtClean="0"/>
              <a:t>3</a:t>
            </a:r>
            <a:r>
              <a:rPr kumimoji="1" lang="ja-JP" altLang="en-US" dirty="0" smtClean="0"/>
              <a:t>＆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/>
              <a:t>4</a:t>
            </a:r>
            <a:r>
              <a:rPr kumimoji="1" lang="ja-JP" altLang="en-US" dirty="0" smtClean="0"/>
              <a:t>のみで実行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7806" y="1949548"/>
            <a:ext cx="7368753" cy="359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類似度に応じた値になっている．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</a:t>
            </a:r>
            <a:r>
              <a:rPr kumimoji="1" lang="en-US" altLang="ja-JP" dirty="0" smtClean="0"/>
              <a:t>I-LS(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/>
              <a:t>3</a:t>
            </a:r>
            <a:r>
              <a:rPr kumimoji="1" lang="ja-JP" altLang="en-US" dirty="0" smtClean="0"/>
              <a:t>＆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/>
              <a:t>4</a:t>
            </a:r>
            <a:r>
              <a:rPr kumimoji="1" lang="ja-JP" altLang="en-US" dirty="0" smtClean="0"/>
              <a:t>のみ</a:t>
            </a:r>
            <a:r>
              <a:rPr kumimoji="1" lang="ja-JP" altLang="en-US" dirty="0" smtClean="0"/>
              <a:t>で実行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3409" y="1828115"/>
            <a:ext cx="5677182" cy="436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4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の平均値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すべてのタスクで</a:t>
            </a:r>
            <a:r>
              <a:rPr lang="en-US" altLang="ja-JP" dirty="0"/>
              <a:t>MO-MFEA-II</a:t>
            </a:r>
            <a:r>
              <a:rPr lang="ja-JP" altLang="en-US" dirty="0"/>
              <a:t>が優れている．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すべてのタスクで最適化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50" r="1528"/>
          <a:stretch/>
        </p:blipFill>
        <p:spPr>
          <a:xfrm>
            <a:off x="127000" y="1924509"/>
            <a:ext cx="8890000" cy="3008982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6781800" y="4930391"/>
            <a:ext cx="237171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※</a:t>
            </a:r>
            <a:r>
              <a:rPr kumimoji="1" lang="ja-JP" altLang="en-US" sz="2400" dirty="0" smtClean="0"/>
              <a:t>太字は最良値</a:t>
            </a:r>
          </a:p>
        </p:txBody>
      </p:sp>
    </p:spTree>
    <p:extLst>
      <p:ext uri="{BB962C8B-B14F-4D97-AF65-F5344CB8AC3E}">
        <p14:creationId xmlns:p14="http://schemas.microsoft.com/office/powerpoint/2010/main" val="263291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すべてのタスクで</a:t>
            </a:r>
            <a:r>
              <a:rPr lang="en-US" altLang="ja-JP" dirty="0" smtClean="0"/>
              <a:t>MO-MFEA-II</a:t>
            </a:r>
            <a:r>
              <a:rPr lang="ja-JP" altLang="en-US" dirty="0" smtClean="0"/>
              <a:t>が優れている．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すべてのタスクで最適化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000" y="1923647"/>
            <a:ext cx="8128000" cy="44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3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無人航空機</a:t>
            </a:r>
            <a:r>
              <a:rPr lang="en-US" altLang="ja-JP" dirty="0" smtClean="0"/>
              <a:t>(</a:t>
            </a:r>
            <a:r>
              <a:rPr lang="ja-JP" altLang="en-US" dirty="0" smtClean="0"/>
              <a:t>ドローン</a:t>
            </a:r>
            <a:r>
              <a:rPr lang="en-US" altLang="ja-JP" dirty="0" smtClean="0"/>
              <a:t>)</a:t>
            </a:r>
            <a:r>
              <a:rPr lang="ja-JP" altLang="en-US" dirty="0" smtClean="0"/>
              <a:t>の</a:t>
            </a:r>
            <a:r>
              <a:rPr lang="ja-JP" altLang="en-US" dirty="0"/>
              <a:t>飛行</a:t>
            </a:r>
            <a:r>
              <a:rPr lang="ja-JP" altLang="en-US" dirty="0" smtClean="0"/>
              <a:t>経路の最適化問題</a:t>
            </a:r>
            <a:endParaRPr lang="en-US" altLang="ja-JP" dirty="0" smtClean="0"/>
          </a:p>
          <a:p>
            <a:r>
              <a:rPr kumimoji="1" lang="ja-JP" altLang="en-US" dirty="0" smtClean="0"/>
              <a:t>本問題の目的は</a:t>
            </a:r>
            <a:r>
              <a:rPr lang="ja-JP" altLang="en-US" dirty="0"/>
              <a:t>，</a:t>
            </a:r>
            <a:r>
              <a:rPr kumimoji="1" lang="ja-JP" altLang="en-US" dirty="0" smtClean="0"/>
              <a:t>リスク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衝突・制御不能等</a:t>
            </a:r>
            <a:r>
              <a:rPr kumimoji="1" lang="en-US" altLang="ja-JP" dirty="0" smtClean="0"/>
              <a:t>)</a:t>
            </a:r>
            <a:r>
              <a:rPr kumimoji="1" lang="ja-JP" altLang="en-US" dirty="0" err="1" smtClean="0"/>
              <a:t>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飛行距離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目的最小化</a:t>
            </a:r>
            <a:endParaRPr kumimoji="1" lang="en-US" altLang="ja-JP" dirty="0" smtClean="0"/>
          </a:p>
          <a:p>
            <a:r>
              <a:rPr lang="ja-JP" altLang="en-US" dirty="0" smtClean="0"/>
              <a:t>ステップサイズにより計算コストが変化</a:t>
            </a:r>
            <a:endParaRPr lang="en-US" altLang="ja-JP" dirty="0" smtClean="0"/>
          </a:p>
          <a:p>
            <a:r>
              <a:rPr lang="ja-JP" altLang="en-US" dirty="0"/>
              <a:t>ステップサイズが異なる</a:t>
            </a:r>
            <a:r>
              <a:rPr lang="en-US" altLang="ja-JP" dirty="0"/>
              <a:t>3</a:t>
            </a:r>
            <a:r>
              <a:rPr lang="ja-JP" altLang="en-US" dirty="0" err="1"/>
              <a:t>つの</a:t>
            </a:r>
            <a:r>
              <a:rPr lang="ja-JP" altLang="en-US" dirty="0"/>
              <a:t>タスクを設定．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sz="3500" dirty="0" smtClean="0"/>
              <a:t>Unmanned Aerial Vehicle Path Planning</a:t>
            </a:r>
            <a:endParaRPr kumimoji="1" lang="ja-JP" altLang="en-US" sz="3500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66634"/>
              </p:ext>
            </p:extLst>
          </p:nvPr>
        </p:nvGraphicFramePr>
        <p:xfrm>
          <a:off x="2069783" y="4480560"/>
          <a:ext cx="500443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430"/>
                <a:gridCol w="24530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タスク名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ステップサイズ</a:t>
                      </a:r>
                      <a:endParaRPr kumimoji="1" lang="ja-JP" altLang="en-US" sz="2800" b="0" i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en-US" altLang="ja-JP" sz="28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2800" baseline="0" dirty="0" smtClean="0">
                          <a:solidFill>
                            <a:schemeClr val="tx1"/>
                          </a:solidFill>
                        </a:rPr>
                        <a:t>メインタスク</a:t>
                      </a:r>
                      <a:r>
                        <a:rPr kumimoji="1" lang="en-US" altLang="ja-JP" sz="28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r>
                        <a:rPr kumimoji="1" lang="en-US" altLang="ja-JP" sz="2800" i="0" baseline="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(</a:t>
                      </a:r>
                      <a:r>
                        <a:rPr kumimoji="1" lang="ja-JP" altLang="en-US" sz="2800" baseline="0" dirty="0" smtClean="0">
                          <a:solidFill>
                            <a:schemeClr val="tx1"/>
                          </a:solidFill>
                        </a:rPr>
                        <a:t>補助タスク</a:t>
                      </a:r>
                      <a:r>
                        <a:rPr kumimoji="1" lang="en-US" altLang="ja-JP" sz="28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750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ja-JP" sz="280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3</a:t>
                      </a:r>
                      <a:r>
                        <a:rPr kumimoji="1" lang="en-US" altLang="ja-JP" sz="2800" i="0" baseline="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(</a:t>
                      </a:r>
                      <a:r>
                        <a:rPr kumimoji="1" lang="ja-JP" altLang="en-US" sz="2800" baseline="0" dirty="0" smtClean="0">
                          <a:solidFill>
                            <a:schemeClr val="tx1"/>
                          </a:solidFill>
                        </a:rPr>
                        <a:t>補助タスク</a:t>
                      </a:r>
                      <a:r>
                        <a:rPr kumimoji="1" lang="en-US" altLang="ja-JP" sz="28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1,000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8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/>
              <a:t>比較</a:t>
            </a:r>
            <a:r>
              <a:rPr lang="ja-JP" altLang="en-US" dirty="0" smtClean="0"/>
              <a:t>手法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・</a:t>
            </a:r>
            <a:r>
              <a:rPr lang="en-US" altLang="ja-JP" dirty="0" smtClean="0"/>
              <a:t>NSGA-II</a:t>
            </a:r>
          </a:p>
          <a:p>
            <a:pPr algn="l"/>
            <a:r>
              <a:rPr lang="ja-JP" altLang="en-US" dirty="0" smtClean="0"/>
              <a:t>個体群サイズ：</a:t>
            </a:r>
            <a:r>
              <a:rPr lang="en-US" altLang="ja-JP" dirty="0" smtClean="0"/>
              <a:t>50</a:t>
            </a:r>
            <a:r>
              <a:rPr lang="ja-JP" altLang="en-US" dirty="0" smtClean="0"/>
              <a:t>個体</a:t>
            </a:r>
            <a:r>
              <a:rPr lang="en-US" altLang="ja-JP" dirty="0" smtClean="0"/>
              <a:t>(</a:t>
            </a:r>
            <a:r>
              <a:rPr lang="ja-JP" altLang="en-US" dirty="0" smtClean="0"/>
              <a:t>タスク毎</a:t>
            </a:r>
            <a:r>
              <a:rPr lang="en-US" altLang="ja-JP" dirty="0" smtClean="0"/>
              <a:t>)</a:t>
            </a:r>
            <a:br>
              <a:rPr lang="en-US" altLang="ja-JP" dirty="0" smtClean="0"/>
            </a:br>
            <a:r>
              <a:rPr lang="ja-JP" altLang="en-US" dirty="0" smtClean="0"/>
              <a:t>世代数：</a:t>
            </a:r>
            <a:r>
              <a:rPr lang="en-US" altLang="ja-JP" dirty="0" smtClean="0"/>
              <a:t>250</a:t>
            </a:r>
            <a:r>
              <a:rPr lang="ja-JP" altLang="en-US" dirty="0"/>
              <a:t>世代</a:t>
            </a:r>
            <a:endParaRPr lang="en-US" altLang="ja-JP" dirty="0" smtClean="0"/>
          </a:p>
          <a:p>
            <a:pPr algn="l"/>
            <a:r>
              <a:rPr lang="ja-JP" altLang="en-US" dirty="0" smtClean="0"/>
              <a:t>交叉</a:t>
            </a:r>
            <a:r>
              <a:rPr lang="ja-JP" altLang="en-US" dirty="0"/>
              <a:t>操作：</a:t>
            </a:r>
            <a:r>
              <a:rPr lang="en-US" altLang="ja-JP" dirty="0"/>
              <a:t>SBX</a:t>
            </a:r>
            <a:r>
              <a:rPr lang="ja-JP" altLang="en-US" dirty="0"/>
              <a:t> 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ja-JP" dirty="0"/>
              <a:t> = 1,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altLang="ja-JP" dirty="0"/>
              <a:t> = </a:t>
            </a:r>
            <a:r>
              <a:rPr lang="en-US" altLang="ja-JP" dirty="0" smtClean="0"/>
              <a:t>10)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突然変異操作：</a:t>
            </a:r>
            <a:r>
              <a:rPr lang="en-US" altLang="ja-JP" dirty="0"/>
              <a:t>PM 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ja-JP" dirty="0"/>
              <a:t> = 1 /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ja-JP" dirty="0">
                <a:cs typeface="Times New Roman" panose="02020603050405020304" pitchFamily="18" charset="0"/>
              </a:rPr>
              <a:t>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altLang="ja-JP" dirty="0"/>
              <a:t>= </a:t>
            </a:r>
            <a:r>
              <a:rPr lang="en-US" altLang="ja-JP" dirty="0" smtClean="0"/>
              <a:t>10)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確率分布モデル</a:t>
            </a:r>
            <a:r>
              <a:rPr lang="ja-JP" altLang="en-US" dirty="0" smtClean="0"/>
              <a:t>：</a:t>
            </a:r>
            <a:r>
              <a:rPr lang="en-US" altLang="ja-JP" dirty="0" smtClean="0"/>
              <a:t>normal </a:t>
            </a:r>
            <a:r>
              <a:rPr lang="en-US" altLang="ja-JP" dirty="0"/>
              <a:t>distribution</a:t>
            </a:r>
            <a:br>
              <a:rPr lang="en-US" altLang="ja-JP" dirty="0"/>
            </a:br>
            <a:r>
              <a:rPr lang="ja-JP" altLang="en-US" dirty="0"/>
              <a:t>試行回数</a:t>
            </a:r>
            <a:r>
              <a:rPr lang="ja-JP" altLang="en-US" dirty="0" smtClean="0"/>
              <a:t>：</a:t>
            </a:r>
            <a:r>
              <a:rPr lang="en-US" altLang="ja-JP" dirty="0" smtClean="0"/>
              <a:t>10</a:t>
            </a:r>
            <a:r>
              <a:rPr lang="ja-JP" altLang="en-US" dirty="0" smtClean="0"/>
              <a:t>回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502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HV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補助タスクによりメインタスクの収束が高速化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 smtClean="0"/>
              <a:t>1</a:t>
            </a:r>
            <a:r>
              <a:rPr lang="ja-JP" altLang="en-US" dirty="0"/>
              <a:t>＆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baseline="-25000" dirty="0"/>
              <a:t>3</a:t>
            </a:r>
            <a:r>
              <a:rPr lang="ja-JP" altLang="en-US" dirty="0" smtClean="0"/>
              <a:t>のみで実行</a:t>
            </a:r>
            <a:endParaRPr lang="en-US" altLang="ja-JP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28" b="2778"/>
          <a:stretch/>
        </p:blipFill>
        <p:spPr>
          <a:xfrm>
            <a:off x="1905844" y="1803400"/>
            <a:ext cx="533231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4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HV</a:t>
            </a:r>
            <a:r>
              <a:rPr kumimoji="1" lang="ja-JP" altLang="en-US" dirty="0" smtClean="0"/>
              <a:t>の推移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補助タスクの増加でメインタスクの収束が高速化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すべての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タスク</a:t>
            </a:r>
            <a:r>
              <a:rPr lang="ja-JP" altLang="en-US" dirty="0" smtClean="0"/>
              <a:t>で実行</a:t>
            </a:r>
            <a:endParaRPr lang="en-US" altLang="ja-JP" dirty="0" smtClean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28"/>
          <a:stretch/>
        </p:blipFill>
        <p:spPr>
          <a:xfrm>
            <a:off x="1813769" y="1946920"/>
            <a:ext cx="5452961" cy="418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1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結論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MO-MFEA</a:t>
            </a:r>
            <a:r>
              <a:rPr lang="ja-JP" altLang="en-US" dirty="0" smtClean="0"/>
              <a:t>に</a:t>
            </a:r>
            <a:r>
              <a:rPr lang="ja-JP" altLang="en-US" dirty="0" smtClean="0">
                <a:solidFill>
                  <a:srgbClr val="FF0000"/>
                </a:solidFill>
              </a:rPr>
              <a:t>タスク間</a:t>
            </a:r>
            <a:r>
              <a:rPr lang="ja-JP" altLang="en-US" dirty="0">
                <a:solidFill>
                  <a:srgbClr val="FF0000"/>
                </a:solidFill>
              </a:rPr>
              <a:t>の</a:t>
            </a:r>
            <a:r>
              <a:rPr lang="ja-JP" altLang="en-US" dirty="0" smtClean="0">
                <a:solidFill>
                  <a:srgbClr val="FF0000"/>
                </a:solidFill>
              </a:rPr>
              <a:t>関係性を</a:t>
            </a:r>
            <a:r>
              <a:rPr lang="ja-JP" altLang="en-US" dirty="0">
                <a:solidFill>
                  <a:srgbClr val="FF0000"/>
                </a:solidFill>
              </a:rPr>
              <a:t>，オンライン</a:t>
            </a:r>
            <a:r>
              <a:rPr lang="ja-JP" altLang="en-US" dirty="0" smtClean="0">
                <a:solidFill>
                  <a:srgbClr val="FF0000"/>
                </a:solidFill>
              </a:rPr>
              <a:t>で</a:t>
            </a:r>
            <a:r>
              <a:rPr lang="en-US" altLang="ja-JP" dirty="0" smtClean="0">
                <a:solidFill>
                  <a:srgbClr val="FF0000"/>
                </a:solidFill>
              </a:rPr>
              <a:t/>
            </a:r>
            <a:br>
              <a:rPr lang="en-US" altLang="ja-JP" dirty="0" smtClean="0">
                <a:solidFill>
                  <a:srgbClr val="FF0000"/>
                </a:solidFill>
              </a:rPr>
            </a:br>
            <a:r>
              <a:rPr lang="ja-JP" altLang="en-US" dirty="0" smtClean="0">
                <a:solidFill>
                  <a:srgbClr val="FF0000"/>
                </a:solidFill>
              </a:rPr>
              <a:t>学習する</a:t>
            </a:r>
            <a:r>
              <a:rPr lang="ja-JP" altLang="en-US" dirty="0" smtClean="0"/>
              <a:t>アルゴリズム</a:t>
            </a:r>
            <a:r>
              <a:rPr lang="ja-JP" altLang="en-US" dirty="0"/>
              <a:t>を</a:t>
            </a:r>
            <a:r>
              <a:rPr lang="ja-JP" altLang="en-US" dirty="0" smtClean="0"/>
              <a:t>組み込んだ</a:t>
            </a:r>
            <a:r>
              <a:rPr lang="en-US" altLang="ja-JP" dirty="0" smtClean="0"/>
              <a:t>MO-MFEA-II</a:t>
            </a:r>
            <a:r>
              <a:rPr lang="ja-JP" altLang="en-US" dirty="0" smtClean="0"/>
              <a:t>を提案</a:t>
            </a:r>
            <a:r>
              <a:rPr lang="ja-JP" altLang="en-US" dirty="0"/>
              <a:t>した．</a:t>
            </a:r>
            <a:endParaRPr lang="en-US" altLang="ja-JP" dirty="0"/>
          </a:p>
          <a:p>
            <a:r>
              <a:rPr lang="ja-JP" altLang="en-US" dirty="0"/>
              <a:t>数値実験において既存のマルチタスク</a:t>
            </a:r>
            <a:r>
              <a:rPr lang="ja-JP" altLang="en-US" dirty="0" smtClean="0"/>
              <a:t>手法を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上回る</a:t>
            </a:r>
            <a:r>
              <a:rPr lang="ja-JP" altLang="en-US" dirty="0"/>
              <a:t>性能を示した．</a:t>
            </a:r>
            <a:endParaRPr lang="en-US" altLang="ja-JP" dirty="0"/>
          </a:p>
          <a:p>
            <a:r>
              <a:rPr kumimoji="1" lang="ja-JP" altLang="en-US" dirty="0" smtClean="0"/>
              <a:t>計算コストの大きなタスクに対し，</a:t>
            </a:r>
            <a:r>
              <a:rPr kumimoji="1" lang="ja-JP" altLang="en-US" dirty="0" smtClean="0">
                <a:solidFill>
                  <a:srgbClr val="FF0000"/>
                </a:solidFill>
              </a:rPr>
              <a:t>計算コストが</a:t>
            </a:r>
            <a:r>
              <a:rPr kumimoji="1" lang="en-US" altLang="ja-JP" dirty="0" smtClean="0">
                <a:solidFill>
                  <a:srgbClr val="FF0000"/>
                </a:solidFill>
              </a:rPr>
              <a:t/>
            </a:r>
            <a:br>
              <a:rPr kumimoji="1" lang="en-US" altLang="ja-JP" dirty="0" smtClean="0">
                <a:solidFill>
                  <a:srgbClr val="FF0000"/>
                </a:solidFill>
              </a:rPr>
            </a:br>
            <a:r>
              <a:rPr kumimoji="1" lang="ja-JP" altLang="en-US" dirty="0" smtClean="0">
                <a:solidFill>
                  <a:srgbClr val="FF0000"/>
                </a:solidFill>
              </a:rPr>
              <a:t>小さいタスクを同時に最適化する</a:t>
            </a:r>
            <a:r>
              <a:rPr kumimoji="1" lang="ja-JP" altLang="en-US" dirty="0" smtClean="0"/>
              <a:t>ことにより，収束速度が高速化されることを示した．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5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600</TotalTime>
  <Words>830</Words>
  <Application>Microsoft Office PowerPoint</Application>
  <PresentationFormat>画面に合わせる (4:3)</PresentationFormat>
  <Paragraphs>308</Paragraphs>
  <Slides>32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32</vt:i4>
      </vt:variant>
    </vt:vector>
  </HeadingPairs>
  <TitlesOfParts>
    <vt:vector size="40" baseType="lpstr">
      <vt:lpstr>ＭＳ P ゴシック</vt:lpstr>
      <vt:lpstr>ＭＳ Ｐゴシック</vt:lpstr>
      <vt:lpstr>Arial</vt:lpstr>
      <vt:lpstr>Cambria Math</vt:lpstr>
      <vt:lpstr>Times New Roman</vt:lpstr>
      <vt:lpstr>Theme_Lab</vt:lpstr>
      <vt:lpstr>MathType 6.0 Equation</vt:lpstr>
      <vt:lpstr>Equation</vt:lpstr>
      <vt:lpstr>英語論文発表(5/20)</vt:lpstr>
      <vt:lpstr>PowerPoint プレゼンテーション</vt:lpstr>
      <vt:lpstr>概要</vt:lpstr>
      <vt:lpstr>既存手法(MO-MFEA)</vt:lpstr>
      <vt:lpstr>既存手法(MO-MFEA)</vt:lpstr>
      <vt:lpstr>既存手法(MO-MFEA)</vt:lpstr>
      <vt:lpstr>既存手法(MO-MFEA)</vt:lpstr>
      <vt:lpstr>既存手法(MO-MFEA)</vt:lpstr>
      <vt:lpstr>提案手法</vt:lpstr>
      <vt:lpstr>提案手法</vt:lpstr>
      <vt:lpstr>提案手法</vt:lpstr>
      <vt:lpstr>提案手法</vt:lpstr>
      <vt:lpstr>提案手法</vt:lpstr>
      <vt:lpstr>Appendix</vt:lpstr>
      <vt:lpstr>Appendix</vt:lpstr>
      <vt:lpstr>提案手法</vt:lpstr>
      <vt:lpstr>提案手法</vt:lpstr>
      <vt:lpstr>提案手法</vt:lpstr>
      <vt:lpstr>提案手法</vt:lpstr>
      <vt:lpstr>数値実験</vt:lpstr>
      <vt:lpstr>数値実験</vt:lpstr>
      <vt:lpstr>実験結果</vt:lpstr>
      <vt:lpstr>実験結果</vt:lpstr>
      <vt:lpstr>実験結果</vt:lpstr>
      <vt:lpstr>実験結果</vt:lpstr>
      <vt:lpstr>実験結果</vt:lpstr>
      <vt:lpstr>実験結果</vt:lpstr>
      <vt:lpstr>数値実験</vt:lpstr>
      <vt:lpstr>数値実験</vt:lpstr>
      <vt:lpstr>実験結果</vt:lpstr>
      <vt:lpstr>実験結果</vt:lpstr>
      <vt:lpstr>結論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英語論文発表(5/20)</dc:title>
  <dc:creator>瓜田 俊貴</dc:creator>
  <cp:lastModifiedBy>瓜田 俊貴</cp:lastModifiedBy>
  <cp:revision>43</cp:revision>
  <dcterms:created xsi:type="dcterms:W3CDTF">2020-05-17T11:56:43Z</dcterms:created>
  <dcterms:modified xsi:type="dcterms:W3CDTF">2020-05-20T09:19:47Z</dcterms:modified>
</cp:coreProperties>
</file>