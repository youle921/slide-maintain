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56" r:id="rId2"/>
    <p:sldId id="257" r:id="rId3"/>
    <p:sldId id="259" r:id="rId4"/>
    <p:sldId id="258" r:id="rId5"/>
    <p:sldId id="261" r:id="rId6"/>
    <p:sldId id="264" r:id="rId7"/>
    <p:sldId id="263" r:id="rId8"/>
    <p:sldId id="265" r:id="rId9"/>
    <p:sldId id="267" r:id="rId10"/>
    <p:sldId id="266" r:id="rId11"/>
    <p:sldId id="268" r:id="rId12"/>
    <p:sldId id="269" r:id="rId13"/>
    <p:sldId id="270" r:id="rId14"/>
    <p:sldId id="276" r:id="rId15"/>
    <p:sldId id="277" r:id="rId16"/>
    <p:sldId id="271" r:id="rId17"/>
    <p:sldId id="274" r:id="rId18"/>
    <p:sldId id="275" r:id="rId19"/>
    <p:sldId id="272" r:id="rId20"/>
    <p:sldId id="278" r:id="rId21"/>
    <p:sldId id="280" r:id="rId22"/>
    <p:sldId id="283" r:id="rId23"/>
    <p:sldId id="284" r:id="rId24"/>
    <p:sldId id="285" r:id="rId25"/>
    <p:sldId id="286" r:id="rId26"/>
    <p:sldId id="287" r:id="rId27"/>
    <p:sldId id="288" r:id="rId28"/>
    <p:sldId id="282" r:id="rId29"/>
    <p:sldId id="281" r:id="rId30"/>
    <p:sldId id="289" r:id="rId31"/>
    <p:sldId id="291" r:id="rId32"/>
    <p:sldId id="290" r:id="rId33"/>
    <p:sldId id="292" r:id="rId3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1" d="100"/>
          <a:sy n="81" d="100"/>
        </p:scale>
        <p:origin x="14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image" Target="../media/image1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image" Target="../media/image5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177637"/>
            <a:ext cx="7772400" cy="2422820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800"/>
            <a:ext cx="6400800" cy="27432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w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hanon05.hatenablog.com/entry/2019/02/03/183716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hellocybernetics.tech/entry/2016/04/21/132645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hanon05.hatenablog.com/entry/2019/02/03/183716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hellocybernetics.tech/entry/2016/04/21/132645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4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6.w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5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5.vml"/><Relationship Id="rId4" Type="http://schemas.openxmlformats.org/officeDocument/2006/relationships/image" Target="../media/image7.w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英語論文発表</a:t>
            </a:r>
            <a:r>
              <a:rPr kumimoji="1" lang="en-US" altLang="ja-JP" dirty="0" smtClean="0"/>
              <a:t>(5/20)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瓜田 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53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Cognizant Multitasking in Multi-Objective Multifactorial Evolution: MO-MFEA-II</a:t>
            </a:r>
          </a:p>
          <a:p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altLang="ja-JP" dirty="0" err="1"/>
              <a:t>Kavitesh</a:t>
            </a:r>
            <a:r>
              <a:rPr lang="en-US" altLang="ja-JP" dirty="0"/>
              <a:t> Kumar Bali, Abhishek Gupta, Yew-Soon Ong, and </a:t>
            </a:r>
            <a:r>
              <a:rPr lang="en-US" altLang="ja-JP" dirty="0" err="1"/>
              <a:t>Puay</a:t>
            </a:r>
            <a:r>
              <a:rPr lang="en-US" altLang="ja-JP" dirty="0"/>
              <a:t> Siew </a:t>
            </a:r>
            <a:r>
              <a:rPr lang="en-US" altLang="ja-JP" dirty="0" smtClean="0"/>
              <a:t>Tan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altLang="ja-JP" dirty="0" smtClean="0"/>
              <a:t>IEEE Transactions </a:t>
            </a:r>
            <a:r>
              <a:rPr lang="en-US" altLang="ja-JP" dirty="0"/>
              <a:t>on </a:t>
            </a:r>
            <a:r>
              <a:rPr lang="en-US" altLang="ja-JP" dirty="0" smtClean="0"/>
              <a:t>Cybernetics (Early </a:t>
            </a:r>
            <a:r>
              <a:rPr lang="en-US" altLang="ja-JP"/>
              <a:t>Access </a:t>
            </a:r>
            <a:r>
              <a:rPr lang="en-US" altLang="ja-JP" smtClean="0"/>
              <a:t>)</a:t>
            </a:r>
            <a:endParaRPr lang="ja-JP" altLang="en-US" dirty="0"/>
          </a:p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24964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概要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複数の最適化問題を同時に解くマルチタスク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最適化では，</a:t>
            </a:r>
            <a:r>
              <a:rPr kumimoji="1" lang="ja-JP" altLang="en-US" dirty="0" smtClean="0">
                <a:solidFill>
                  <a:srgbClr val="FF0000"/>
                </a:solidFill>
              </a:rPr>
              <a:t>タスク間で解情報を共有する</a:t>
            </a:r>
            <a:r>
              <a:rPr kumimoji="1" lang="ja-JP" altLang="en-US" dirty="0" smtClean="0"/>
              <a:t>ことにより探索が促進することが示されている．</a:t>
            </a:r>
            <a:endParaRPr kumimoji="1" lang="en-US" altLang="ja-JP" dirty="0" smtClean="0"/>
          </a:p>
          <a:p>
            <a:r>
              <a:rPr kumimoji="1" lang="ja-JP" altLang="en-US" dirty="0" smtClean="0"/>
              <a:t>しかし，</a:t>
            </a:r>
            <a:r>
              <a:rPr kumimoji="1" lang="ja-JP" altLang="en-US" u="sng" dirty="0" smtClean="0"/>
              <a:t>問題間に関連性がない場合</a:t>
            </a:r>
            <a:r>
              <a:rPr kumimoji="1" lang="ja-JP" altLang="en-US" dirty="0" smtClean="0"/>
              <a:t>，</a:t>
            </a:r>
            <a:r>
              <a:rPr kumimoji="1" lang="ja-JP" altLang="en-US" dirty="0" smtClean="0">
                <a:solidFill>
                  <a:srgbClr val="FF0000"/>
                </a:solidFill>
              </a:rPr>
              <a:t>解情報の</a:t>
            </a:r>
            <a:r>
              <a:rPr kumimoji="1" lang="en-US" altLang="ja-JP" dirty="0" smtClean="0">
                <a:solidFill>
                  <a:srgbClr val="FF0000"/>
                </a:solidFill>
              </a:rPr>
              <a:t/>
            </a:r>
            <a:br>
              <a:rPr kumimoji="1" lang="en-US" altLang="ja-JP" dirty="0" smtClean="0">
                <a:solidFill>
                  <a:srgbClr val="FF0000"/>
                </a:solidFill>
              </a:rPr>
            </a:br>
            <a:r>
              <a:rPr kumimoji="1" lang="ja-JP" altLang="en-US" dirty="0" smtClean="0">
                <a:solidFill>
                  <a:srgbClr val="FF0000"/>
                </a:solidFill>
              </a:rPr>
              <a:t>共有により探索性能が悪化する</a:t>
            </a:r>
            <a:r>
              <a:rPr kumimoji="1" lang="ja-JP" altLang="en-US" dirty="0" smtClean="0"/>
              <a:t>．</a:t>
            </a:r>
            <a:endParaRPr kumimoji="1" lang="en-US" altLang="ja-JP" dirty="0" smtClean="0"/>
          </a:p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本論文では，</a:t>
            </a:r>
            <a:r>
              <a:rPr lang="en-US" altLang="ja-JP" dirty="0" smtClean="0"/>
              <a:t>MO-MFEA</a:t>
            </a:r>
            <a:r>
              <a:rPr lang="ja-JP" altLang="en-US" dirty="0" smtClean="0"/>
              <a:t>にタスク間の関係性を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学習する</a:t>
            </a:r>
            <a:r>
              <a:rPr lang="en-US" altLang="ja-JP" dirty="0" smtClean="0"/>
              <a:t>data-driven</a:t>
            </a:r>
            <a:r>
              <a:rPr lang="ja-JP" altLang="en-US" dirty="0"/>
              <a:t>型の</a:t>
            </a:r>
            <a:r>
              <a:rPr lang="ja-JP" altLang="en-US" dirty="0" smtClean="0"/>
              <a:t>手法を組み込んだ，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マルチタスク手法を提案する．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sp>
        <p:nvSpPr>
          <p:cNvPr id="8" name="下矢印 7"/>
          <p:cNvSpPr/>
          <p:nvPr/>
        </p:nvSpPr>
        <p:spPr>
          <a:xfrm>
            <a:off x="4332850" y="4164038"/>
            <a:ext cx="478301" cy="689316"/>
          </a:xfrm>
          <a:prstGeom prst="down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8516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既存手法</a:t>
            </a:r>
            <a:r>
              <a:rPr kumimoji="1" lang="en-US" altLang="ja-JP" dirty="0" smtClean="0"/>
              <a:t>(MO-MFEA)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MO-MFEA</a:t>
            </a:r>
            <a:r>
              <a:rPr kumimoji="1" lang="ja-JP" altLang="en-US" dirty="0" smtClean="0"/>
              <a:t>は，</a:t>
            </a:r>
            <a:r>
              <a:rPr kumimoji="1" lang="en-US" altLang="ja-JP" dirty="0" smtClean="0"/>
              <a:t>NSGA-II</a:t>
            </a:r>
            <a:r>
              <a:rPr kumimoji="1" lang="ja-JP" altLang="en-US" dirty="0" smtClean="0"/>
              <a:t>に対し</a:t>
            </a:r>
            <a:r>
              <a:rPr kumimoji="1" lang="en-US" altLang="ja-JP" dirty="0" smtClean="0"/>
              <a:t>Assortative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Mating</a:t>
            </a:r>
            <a:r>
              <a:rPr kumimoji="1" lang="ja-JP" altLang="en-US" dirty="0" smtClean="0"/>
              <a:t>と</a:t>
            </a:r>
            <a:r>
              <a:rPr kumimoji="1" lang="en-US" altLang="ja-JP" dirty="0" smtClean="0"/>
              <a:t>Vertical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Cultural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Transmission</a:t>
            </a:r>
            <a:r>
              <a:rPr kumimoji="1" lang="ja-JP" altLang="en-US" dirty="0" smtClean="0"/>
              <a:t> を取り入れたマルチタスクアルゴリズムである．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01312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既存手法</a:t>
            </a:r>
            <a:r>
              <a:rPr kumimoji="1" lang="en-US" altLang="ja-JP" dirty="0" smtClean="0"/>
              <a:t>(MO-MFEA)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交叉時に，一定確率</a:t>
            </a:r>
            <a:r>
              <a:rPr kumimoji="1" lang="en-US" altLang="ja-JP" dirty="0" smtClean="0"/>
              <a:t>(</a:t>
            </a:r>
            <a:r>
              <a:rPr kumimoji="1"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で他タスクに割り当て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err="1" smtClean="0"/>
              <a:t>られた</a:t>
            </a:r>
            <a:r>
              <a:rPr kumimoji="1" lang="ja-JP" altLang="en-US" dirty="0" smtClean="0"/>
              <a:t>個体とも交叉</a:t>
            </a:r>
            <a:r>
              <a:rPr lang="en-US" altLang="ja-JP" dirty="0"/>
              <a:t>(</a:t>
            </a:r>
            <a:r>
              <a:rPr lang="ja-JP" altLang="en-US" dirty="0"/>
              <a:t>タスク間交叉</a:t>
            </a:r>
            <a:r>
              <a:rPr lang="en-US" altLang="ja-JP" dirty="0"/>
              <a:t>)</a:t>
            </a:r>
            <a:r>
              <a:rPr kumimoji="1" lang="ja-JP" altLang="en-US" dirty="0" smtClean="0"/>
              <a:t>を行う．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Assortative</a:t>
            </a:r>
            <a:r>
              <a:rPr lang="ja-JP" altLang="en-US" dirty="0"/>
              <a:t> </a:t>
            </a:r>
            <a:r>
              <a:rPr lang="en-US" altLang="ja-JP" dirty="0" smtClean="0"/>
              <a:t>Mating</a:t>
            </a:r>
            <a:endParaRPr kumimoji="1" lang="ja-JP" altLang="en-US" dirty="0"/>
          </a:p>
        </p:txBody>
      </p:sp>
      <p:grpSp>
        <p:nvGrpSpPr>
          <p:cNvPr id="31" name="グループ化 30"/>
          <p:cNvGrpSpPr/>
          <p:nvPr/>
        </p:nvGrpSpPr>
        <p:grpSpPr>
          <a:xfrm>
            <a:off x="2425142" y="4680893"/>
            <a:ext cx="1997029" cy="1417908"/>
            <a:chOff x="3137387" y="4405530"/>
            <a:chExt cx="1997029" cy="1417908"/>
          </a:xfrm>
        </p:grpSpPr>
        <p:sp>
          <p:nvSpPr>
            <p:cNvPr id="28" name="テキスト ボックス 27"/>
            <p:cNvSpPr txBox="1"/>
            <p:nvPr/>
          </p:nvSpPr>
          <p:spPr>
            <a:xfrm>
              <a:off x="3137387" y="4869331"/>
              <a:ext cx="1997029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トーナメント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 smtClean="0"/>
                <a:t>選択</a:t>
              </a:r>
              <a:endParaRPr lang="en-US" altLang="ja-JP" sz="2800" dirty="0" smtClean="0"/>
            </a:p>
          </p:txBody>
        </p:sp>
        <p:sp>
          <p:nvSpPr>
            <p:cNvPr id="29" name="右矢印 28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" name="グループ化 2"/>
          <p:cNvGrpSpPr/>
          <p:nvPr/>
        </p:nvGrpSpPr>
        <p:grpSpPr>
          <a:xfrm>
            <a:off x="443132" y="2507911"/>
            <a:ext cx="1871002" cy="4186703"/>
            <a:chOff x="777683" y="2507911"/>
            <a:chExt cx="1871002" cy="4186703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777683" y="3044048"/>
              <a:ext cx="1871002" cy="3650566"/>
              <a:chOff x="1083213" y="3165967"/>
              <a:chExt cx="1871002" cy="3650566"/>
            </a:xfrm>
          </p:grpSpPr>
          <p:sp>
            <p:nvSpPr>
              <p:cNvPr id="18" name="正方形/長方形 17"/>
              <p:cNvSpPr/>
              <p:nvPr/>
            </p:nvSpPr>
            <p:spPr>
              <a:xfrm>
                <a:off x="1083213" y="3165967"/>
                <a:ext cx="1871002" cy="3650566"/>
              </a:xfrm>
              <a:prstGeom prst="rect">
                <a:avLst/>
              </a:pr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6" name="グループ化 25"/>
              <p:cNvGrpSpPr/>
              <p:nvPr/>
            </p:nvGrpSpPr>
            <p:grpSpPr>
              <a:xfrm>
                <a:off x="1360354" y="3376615"/>
                <a:ext cx="1316720" cy="3229270"/>
                <a:chOff x="1443332" y="3376615"/>
                <a:chExt cx="1316720" cy="3229270"/>
              </a:xfrm>
            </p:grpSpPr>
            <p:grpSp>
              <p:nvGrpSpPr>
                <p:cNvPr id="19" name="グループ化 18"/>
                <p:cNvGrpSpPr/>
                <p:nvPr/>
              </p:nvGrpSpPr>
              <p:grpSpPr>
                <a:xfrm>
                  <a:off x="1443332" y="3376615"/>
                  <a:ext cx="478301" cy="3229270"/>
                  <a:chOff x="1553894" y="3174125"/>
                  <a:chExt cx="478301" cy="3229270"/>
                </a:xfrm>
              </p:grpSpPr>
              <p:sp>
                <p:nvSpPr>
                  <p:cNvPr id="8" name="円/楕円 7"/>
                  <p:cNvSpPr/>
                  <p:nvPr/>
                </p:nvSpPr>
                <p:spPr>
                  <a:xfrm>
                    <a:off x="1553894" y="409111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0" name="円/楕円 9"/>
                  <p:cNvSpPr/>
                  <p:nvPr/>
                </p:nvSpPr>
                <p:spPr>
                  <a:xfrm>
                    <a:off x="1553894" y="317412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2" name="円/楕円 11"/>
                  <p:cNvSpPr/>
                  <p:nvPr/>
                </p:nvSpPr>
                <p:spPr>
                  <a:xfrm>
                    <a:off x="1553894" y="5925094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4" name="円/楕円 13"/>
                  <p:cNvSpPr/>
                  <p:nvPr/>
                </p:nvSpPr>
                <p:spPr>
                  <a:xfrm>
                    <a:off x="1553894" y="500810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grpSp>
              <p:nvGrpSpPr>
                <p:cNvPr id="20" name="グループ化 19"/>
                <p:cNvGrpSpPr/>
                <p:nvPr/>
              </p:nvGrpSpPr>
              <p:grpSpPr>
                <a:xfrm>
                  <a:off x="2281751" y="3376615"/>
                  <a:ext cx="478301" cy="3229270"/>
                  <a:chOff x="1553894" y="3174125"/>
                  <a:chExt cx="478301" cy="3229270"/>
                </a:xfrm>
                <a:solidFill>
                  <a:schemeClr val="accent2"/>
                </a:solidFill>
              </p:grpSpPr>
              <p:sp>
                <p:nvSpPr>
                  <p:cNvPr id="21" name="円/楕円 20"/>
                  <p:cNvSpPr/>
                  <p:nvPr/>
                </p:nvSpPr>
                <p:spPr>
                  <a:xfrm>
                    <a:off x="1553894" y="409111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2" name="円/楕円 21"/>
                  <p:cNvSpPr/>
                  <p:nvPr/>
                </p:nvSpPr>
                <p:spPr>
                  <a:xfrm>
                    <a:off x="1553894" y="317412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3" name="円/楕円 22"/>
                  <p:cNvSpPr/>
                  <p:nvPr/>
                </p:nvSpPr>
                <p:spPr>
                  <a:xfrm>
                    <a:off x="1553894" y="5925094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4" name="円/楕円 23"/>
                  <p:cNvSpPr/>
                  <p:nvPr/>
                </p:nvSpPr>
                <p:spPr>
                  <a:xfrm>
                    <a:off x="1553894" y="500810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sp>
          <p:nvSpPr>
            <p:cNvPr id="30" name="テキスト ボックス 29"/>
            <p:cNvSpPr txBox="1"/>
            <p:nvPr/>
          </p:nvSpPr>
          <p:spPr>
            <a:xfrm>
              <a:off x="797026" y="2507911"/>
              <a:ext cx="183231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個体</a:t>
              </a:r>
              <a:r>
                <a:rPr lang="ja-JP" altLang="en-US" sz="2800" dirty="0"/>
                <a:t>群</a:t>
              </a:r>
              <a:endParaRPr kumimoji="1" lang="ja-JP" altLang="en-US" sz="2800" dirty="0" smtClean="0"/>
            </a:p>
          </p:txBody>
        </p:sp>
      </p:grpSp>
      <p:grpSp>
        <p:nvGrpSpPr>
          <p:cNvPr id="2" name="グループ化 1"/>
          <p:cNvGrpSpPr/>
          <p:nvPr/>
        </p:nvGrpSpPr>
        <p:grpSpPr>
          <a:xfrm>
            <a:off x="4586874" y="4272640"/>
            <a:ext cx="478301" cy="1395291"/>
            <a:chOff x="4896723" y="3752124"/>
            <a:chExt cx="478301" cy="1395291"/>
          </a:xfrm>
        </p:grpSpPr>
        <p:sp>
          <p:nvSpPr>
            <p:cNvPr id="53" name="円/楕円 52"/>
            <p:cNvSpPr/>
            <p:nvPr/>
          </p:nvSpPr>
          <p:spPr>
            <a:xfrm>
              <a:off x="4896723" y="466911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円/楕円 53"/>
            <p:cNvSpPr/>
            <p:nvPr/>
          </p:nvSpPr>
          <p:spPr>
            <a:xfrm>
              <a:off x="4896723" y="375212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5" name="グループ化 54"/>
          <p:cNvGrpSpPr/>
          <p:nvPr/>
        </p:nvGrpSpPr>
        <p:grpSpPr>
          <a:xfrm>
            <a:off x="4966828" y="4686895"/>
            <a:ext cx="2988829" cy="987021"/>
            <a:chOff x="2708496" y="4405530"/>
            <a:chExt cx="2988829" cy="987021"/>
          </a:xfrm>
        </p:grpSpPr>
        <p:sp>
          <p:nvSpPr>
            <p:cNvPr id="56" name="テキスト ボックス 55"/>
            <p:cNvSpPr txBox="1"/>
            <p:nvPr/>
          </p:nvSpPr>
          <p:spPr>
            <a:xfrm>
              <a:off x="2708496" y="4869331"/>
              <a:ext cx="2988829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交叉</a:t>
              </a:r>
              <a:r>
                <a:rPr lang="en-US" altLang="ja-JP" sz="2800" dirty="0" smtClean="0"/>
                <a:t>+</a:t>
              </a:r>
              <a:r>
                <a:rPr lang="ja-JP" altLang="en-US" sz="2800" dirty="0" smtClean="0"/>
                <a:t>突然変異</a:t>
              </a:r>
              <a:endParaRPr lang="en-US" altLang="ja-JP" sz="2800" dirty="0" smtClean="0"/>
            </a:p>
          </p:txBody>
        </p:sp>
        <p:sp>
          <p:nvSpPr>
            <p:cNvPr id="57" name="右矢印 56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8" name="円/楕円 57"/>
          <p:cNvSpPr/>
          <p:nvPr/>
        </p:nvSpPr>
        <p:spPr>
          <a:xfrm>
            <a:off x="7867396" y="5189630"/>
            <a:ext cx="478301" cy="4783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円/楕円 58"/>
          <p:cNvSpPr/>
          <p:nvPr/>
        </p:nvSpPr>
        <p:spPr>
          <a:xfrm>
            <a:off x="7867396" y="4272640"/>
            <a:ext cx="478301" cy="4783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582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既存手法</a:t>
            </a:r>
            <a:r>
              <a:rPr kumimoji="1" lang="en-US" altLang="ja-JP" dirty="0" smtClean="0"/>
              <a:t>(MO-MFEA)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交叉時に，一定確率</a:t>
            </a:r>
            <a:r>
              <a:rPr kumimoji="1" lang="en-US" altLang="ja-JP" dirty="0" smtClean="0"/>
              <a:t>(</a:t>
            </a:r>
            <a:r>
              <a:rPr kumimoji="1"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で他タスクに割り当て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err="1" smtClean="0"/>
              <a:t>られた</a:t>
            </a:r>
            <a:r>
              <a:rPr kumimoji="1" lang="ja-JP" altLang="en-US" dirty="0" smtClean="0"/>
              <a:t>個体とも交叉</a:t>
            </a:r>
            <a:r>
              <a:rPr lang="en-US" altLang="ja-JP" dirty="0"/>
              <a:t>(</a:t>
            </a:r>
            <a:r>
              <a:rPr lang="ja-JP" altLang="en-US" dirty="0"/>
              <a:t>タスク間交叉</a:t>
            </a:r>
            <a:r>
              <a:rPr lang="en-US" altLang="ja-JP" dirty="0"/>
              <a:t>)</a:t>
            </a:r>
            <a:r>
              <a:rPr kumimoji="1" lang="ja-JP" altLang="en-US" dirty="0" smtClean="0"/>
              <a:t>を行う．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Assortative</a:t>
            </a:r>
            <a:r>
              <a:rPr lang="ja-JP" altLang="en-US" dirty="0"/>
              <a:t> </a:t>
            </a:r>
            <a:r>
              <a:rPr lang="en-US" altLang="ja-JP" dirty="0" smtClean="0"/>
              <a:t>Mating</a:t>
            </a:r>
            <a:endParaRPr kumimoji="1" lang="ja-JP" altLang="en-US" dirty="0"/>
          </a:p>
        </p:txBody>
      </p:sp>
      <p:grpSp>
        <p:nvGrpSpPr>
          <p:cNvPr id="31" name="グループ化 30"/>
          <p:cNvGrpSpPr/>
          <p:nvPr/>
        </p:nvGrpSpPr>
        <p:grpSpPr>
          <a:xfrm>
            <a:off x="2425142" y="4680893"/>
            <a:ext cx="1997029" cy="1417908"/>
            <a:chOff x="3137387" y="4405530"/>
            <a:chExt cx="1997029" cy="1417908"/>
          </a:xfrm>
        </p:grpSpPr>
        <p:sp>
          <p:nvSpPr>
            <p:cNvPr id="28" name="テキスト ボックス 27"/>
            <p:cNvSpPr txBox="1"/>
            <p:nvPr/>
          </p:nvSpPr>
          <p:spPr>
            <a:xfrm>
              <a:off x="3137387" y="4869331"/>
              <a:ext cx="1997029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トーナメント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 smtClean="0"/>
                <a:t>選択</a:t>
              </a:r>
              <a:endParaRPr lang="en-US" altLang="ja-JP" sz="2800" dirty="0" smtClean="0"/>
            </a:p>
          </p:txBody>
        </p:sp>
        <p:sp>
          <p:nvSpPr>
            <p:cNvPr id="29" name="右矢印 28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" name="グループ化 2"/>
          <p:cNvGrpSpPr/>
          <p:nvPr/>
        </p:nvGrpSpPr>
        <p:grpSpPr>
          <a:xfrm>
            <a:off x="443132" y="2507911"/>
            <a:ext cx="1871002" cy="4186703"/>
            <a:chOff x="777683" y="2507911"/>
            <a:chExt cx="1871002" cy="4186703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777683" y="3044048"/>
              <a:ext cx="1871002" cy="3650566"/>
              <a:chOff x="1083213" y="3165967"/>
              <a:chExt cx="1871002" cy="3650566"/>
            </a:xfrm>
          </p:grpSpPr>
          <p:sp>
            <p:nvSpPr>
              <p:cNvPr id="18" name="正方形/長方形 17"/>
              <p:cNvSpPr/>
              <p:nvPr/>
            </p:nvSpPr>
            <p:spPr>
              <a:xfrm>
                <a:off x="1083213" y="3165967"/>
                <a:ext cx="1871002" cy="3650566"/>
              </a:xfrm>
              <a:prstGeom prst="rect">
                <a:avLst/>
              </a:pr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6" name="グループ化 25"/>
              <p:cNvGrpSpPr/>
              <p:nvPr/>
            </p:nvGrpSpPr>
            <p:grpSpPr>
              <a:xfrm>
                <a:off x="1360354" y="3376615"/>
                <a:ext cx="1316720" cy="3229270"/>
                <a:chOff x="1443332" y="3376615"/>
                <a:chExt cx="1316720" cy="3229270"/>
              </a:xfrm>
            </p:grpSpPr>
            <p:grpSp>
              <p:nvGrpSpPr>
                <p:cNvPr id="19" name="グループ化 18"/>
                <p:cNvGrpSpPr/>
                <p:nvPr/>
              </p:nvGrpSpPr>
              <p:grpSpPr>
                <a:xfrm>
                  <a:off x="1443332" y="3376615"/>
                  <a:ext cx="478301" cy="3229270"/>
                  <a:chOff x="1553894" y="3174125"/>
                  <a:chExt cx="478301" cy="3229270"/>
                </a:xfrm>
              </p:grpSpPr>
              <p:sp>
                <p:nvSpPr>
                  <p:cNvPr id="8" name="円/楕円 7"/>
                  <p:cNvSpPr/>
                  <p:nvPr/>
                </p:nvSpPr>
                <p:spPr>
                  <a:xfrm>
                    <a:off x="1553894" y="409111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0" name="円/楕円 9"/>
                  <p:cNvSpPr/>
                  <p:nvPr/>
                </p:nvSpPr>
                <p:spPr>
                  <a:xfrm>
                    <a:off x="1553894" y="317412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2" name="円/楕円 11"/>
                  <p:cNvSpPr/>
                  <p:nvPr/>
                </p:nvSpPr>
                <p:spPr>
                  <a:xfrm>
                    <a:off x="1553894" y="5925094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4" name="円/楕円 13"/>
                  <p:cNvSpPr/>
                  <p:nvPr/>
                </p:nvSpPr>
                <p:spPr>
                  <a:xfrm>
                    <a:off x="1553894" y="500810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grpSp>
              <p:nvGrpSpPr>
                <p:cNvPr id="20" name="グループ化 19"/>
                <p:cNvGrpSpPr/>
                <p:nvPr/>
              </p:nvGrpSpPr>
              <p:grpSpPr>
                <a:xfrm>
                  <a:off x="2281751" y="3376615"/>
                  <a:ext cx="478301" cy="3229270"/>
                  <a:chOff x="1553894" y="3174125"/>
                  <a:chExt cx="478301" cy="3229270"/>
                </a:xfrm>
                <a:solidFill>
                  <a:schemeClr val="accent2"/>
                </a:solidFill>
              </p:grpSpPr>
              <p:sp>
                <p:nvSpPr>
                  <p:cNvPr id="21" name="円/楕円 20"/>
                  <p:cNvSpPr/>
                  <p:nvPr/>
                </p:nvSpPr>
                <p:spPr>
                  <a:xfrm>
                    <a:off x="1553894" y="409111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2" name="円/楕円 21"/>
                  <p:cNvSpPr/>
                  <p:nvPr/>
                </p:nvSpPr>
                <p:spPr>
                  <a:xfrm>
                    <a:off x="1553894" y="317412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3" name="円/楕円 22"/>
                  <p:cNvSpPr/>
                  <p:nvPr/>
                </p:nvSpPr>
                <p:spPr>
                  <a:xfrm>
                    <a:off x="1553894" y="5925094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4" name="円/楕円 23"/>
                  <p:cNvSpPr/>
                  <p:nvPr/>
                </p:nvSpPr>
                <p:spPr>
                  <a:xfrm>
                    <a:off x="1553894" y="500810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sp>
          <p:nvSpPr>
            <p:cNvPr id="30" name="テキスト ボックス 29"/>
            <p:cNvSpPr txBox="1"/>
            <p:nvPr/>
          </p:nvSpPr>
          <p:spPr>
            <a:xfrm>
              <a:off x="797026" y="2507911"/>
              <a:ext cx="183231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個体</a:t>
              </a:r>
              <a:r>
                <a:rPr lang="ja-JP" altLang="en-US" sz="2800" dirty="0"/>
                <a:t>群</a:t>
              </a:r>
              <a:endParaRPr kumimoji="1" lang="ja-JP" altLang="en-US" sz="2800" dirty="0" smtClean="0"/>
            </a:p>
          </p:txBody>
        </p:sp>
      </p:grpSp>
      <p:grpSp>
        <p:nvGrpSpPr>
          <p:cNvPr id="2" name="グループ化 1"/>
          <p:cNvGrpSpPr/>
          <p:nvPr/>
        </p:nvGrpSpPr>
        <p:grpSpPr>
          <a:xfrm>
            <a:off x="4586874" y="4272640"/>
            <a:ext cx="478301" cy="1395291"/>
            <a:chOff x="4896723" y="3752124"/>
            <a:chExt cx="478301" cy="1395291"/>
          </a:xfrm>
        </p:grpSpPr>
        <p:sp>
          <p:nvSpPr>
            <p:cNvPr id="53" name="円/楕円 52"/>
            <p:cNvSpPr/>
            <p:nvPr/>
          </p:nvSpPr>
          <p:spPr>
            <a:xfrm>
              <a:off x="4896723" y="4669114"/>
              <a:ext cx="478301" cy="47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円/楕円 53"/>
            <p:cNvSpPr/>
            <p:nvPr/>
          </p:nvSpPr>
          <p:spPr>
            <a:xfrm>
              <a:off x="4896723" y="375212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1" name="グループ化 40"/>
          <p:cNvGrpSpPr/>
          <p:nvPr/>
        </p:nvGrpSpPr>
        <p:grpSpPr>
          <a:xfrm>
            <a:off x="4966828" y="4680893"/>
            <a:ext cx="2988829" cy="1417908"/>
            <a:chOff x="2708496" y="4405530"/>
            <a:chExt cx="2988829" cy="1417908"/>
          </a:xfrm>
        </p:grpSpPr>
        <p:sp>
          <p:nvSpPr>
            <p:cNvPr id="42" name="テキスト ボックス 41"/>
            <p:cNvSpPr txBox="1"/>
            <p:nvPr/>
          </p:nvSpPr>
          <p:spPr>
            <a:xfrm>
              <a:off x="2708496" y="4869331"/>
              <a:ext cx="2988829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突然変異</a:t>
              </a:r>
              <a:endParaRPr lang="en-US" altLang="ja-JP" sz="2800" dirty="0" smtClean="0"/>
            </a:p>
            <a:p>
              <a:pPr algn="ctr"/>
              <a:r>
                <a:rPr lang="en-US" altLang="ja-JP" sz="2800" dirty="0" smtClean="0"/>
                <a:t>(1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-</a:t>
              </a:r>
              <a:r>
                <a:rPr lang="ja-JP" altLang="en-US" sz="2800" dirty="0" smtClean="0"/>
                <a:t> </a:t>
              </a:r>
              <a:r>
                <a:rPr lang="en-US" altLang="ja-JP" sz="28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rmp</a:t>
              </a:r>
              <a:r>
                <a:rPr lang="en-US" altLang="ja-JP" sz="2800" dirty="0" smtClean="0"/>
                <a:t>)</a:t>
              </a:r>
            </a:p>
          </p:txBody>
        </p:sp>
        <p:sp>
          <p:nvSpPr>
            <p:cNvPr id="43" name="右矢印 42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9" name="円/楕円 38"/>
          <p:cNvSpPr/>
          <p:nvPr/>
        </p:nvSpPr>
        <p:spPr>
          <a:xfrm>
            <a:off x="7867396" y="5189630"/>
            <a:ext cx="478301" cy="47830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円/楕円 39"/>
          <p:cNvSpPr/>
          <p:nvPr/>
        </p:nvSpPr>
        <p:spPr>
          <a:xfrm>
            <a:off x="7867396" y="4272640"/>
            <a:ext cx="478301" cy="4783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4" name="グループ化 43"/>
          <p:cNvGrpSpPr/>
          <p:nvPr/>
        </p:nvGrpSpPr>
        <p:grpSpPr>
          <a:xfrm>
            <a:off x="6200079" y="2592448"/>
            <a:ext cx="2767595" cy="983419"/>
            <a:chOff x="6609731" y="3254696"/>
            <a:chExt cx="2767595" cy="983419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6746212" y="3286290"/>
              <a:ext cx="2494633" cy="920230"/>
              <a:chOff x="6806714" y="3317885"/>
              <a:chExt cx="2494633" cy="920230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6806714" y="3317885"/>
                <a:ext cx="2494633" cy="461665"/>
                <a:chOff x="6806714" y="3317885"/>
                <a:chExt cx="2494633" cy="461665"/>
              </a:xfrm>
            </p:grpSpPr>
            <p:sp>
              <p:nvSpPr>
                <p:cNvPr id="55" name="円/楕円 54"/>
                <p:cNvSpPr/>
                <p:nvPr/>
              </p:nvSpPr>
              <p:spPr>
                <a:xfrm>
                  <a:off x="6806714" y="3357778"/>
                  <a:ext cx="381878" cy="381878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56" name="テキスト ボックス 55"/>
                <p:cNvSpPr txBox="1"/>
                <p:nvPr/>
              </p:nvSpPr>
              <p:spPr>
                <a:xfrm>
                  <a:off x="7188593" y="3317885"/>
                  <a:ext cx="2112754" cy="461665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2400" dirty="0" smtClean="0"/>
                    <a:t>:</a:t>
                  </a:r>
                  <a:r>
                    <a:rPr kumimoji="1" lang="ja-JP" altLang="en-US" sz="2400" dirty="0" smtClean="0"/>
                    <a:t>タスク</a:t>
                  </a:r>
                  <a:r>
                    <a:rPr kumimoji="1" lang="en-US" altLang="ja-JP" sz="2400" dirty="0" smtClean="0"/>
                    <a:t>1</a:t>
                  </a:r>
                  <a:r>
                    <a:rPr kumimoji="1" lang="ja-JP" altLang="en-US" sz="2400" dirty="0" smtClean="0"/>
                    <a:t>の個体</a:t>
                  </a:r>
                </a:p>
              </p:txBody>
            </p:sp>
          </p:grpSp>
          <p:grpSp>
            <p:nvGrpSpPr>
              <p:cNvPr id="48" name="グループ化 47"/>
              <p:cNvGrpSpPr/>
              <p:nvPr/>
            </p:nvGrpSpPr>
            <p:grpSpPr>
              <a:xfrm>
                <a:off x="6806714" y="3776450"/>
                <a:ext cx="2494633" cy="461665"/>
                <a:chOff x="6806714" y="3317885"/>
                <a:chExt cx="2494633" cy="461665"/>
              </a:xfrm>
            </p:grpSpPr>
            <p:sp>
              <p:nvSpPr>
                <p:cNvPr id="49" name="円/楕円 48"/>
                <p:cNvSpPr/>
                <p:nvPr/>
              </p:nvSpPr>
              <p:spPr>
                <a:xfrm>
                  <a:off x="6806714" y="3357778"/>
                  <a:ext cx="381878" cy="38187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7188593" y="3317885"/>
                  <a:ext cx="2112754" cy="461665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2400" dirty="0" smtClean="0"/>
                    <a:t>:</a:t>
                  </a:r>
                  <a:r>
                    <a:rPr kumimoji="1" lang="ja-JP" altLang="en-US" sz="2400" dirty="0" smtClean="0"/>
                    <a:t>タスク</a:t>
                  </a:r>
                  <a:r>
                    <a:rPr lang="en-US" altLang="ja-JP" sz="2400" dirty="0"/>
                    <a:t>2</a:t>
                  </a:r>
                  <a:r>
                    <a:rPr kumimoji="1" lang="ja-JP" altLang="en-US" sz="2400" dirty="0" smtClean="0"/>
                    <a:t>の個体</a:t>
                  </a:r>
                </a:p>
              </p:txBody>
            </p:sp>
          </p:grpSp>
        </p:grpSp>
        <p:sp>
          <p:nvSpPr>
            <p:cNvPr id="46" name="正方形/長方形 45"/>
            <p:cNvSpPr/>
            <p:nvPr/>
          </p:nvSpPr>
          <p:spPr>
            <a:xfrm>
              <a:off x="6609731" y="3254696"/>
              <a:ext cx="2767595" cy="983419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42410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既存手法</a:t>
            </a:r>
            <a:r>
              <a:rPr kumimoji="1" lang="en-US" altLang="ja-JP" dirty="0" smtClean="0"/>
              <a:t>(MO-MFEA)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交叉時に，一定確率</a:t>
            </a:r>
            <a:r>
              <a:rPr kumimoji="1" lang="en-US" altLang="ja-JP" dirty="0" smtClean="0"/>
              <a:t>(</a:t>
            </a:r>
            <a:r>
              <a:rPr kumimoji="1"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で他タスクに割り当て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err="1" smtClean="0"/>
              <a:t>られた</a:t>
            </a:r>
            <a:r>
              <a:rPr kumimoji="1" lang="ja-JP" altLang="en-US" dirty="0" smtClean="0"/>
              <a:t>個体とも交叉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タスク間交叉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を行う．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Assortative</a:t>
            </a:r>
            <a:r>
              <a:rPr lang="ja-JP" altLang="en-US" dirty="0"/>
              <a:t> </a:t>
            </a:r>
            <a:r>
              <a:rPr lang="en-US" altLang="ja-JP" dirty="0" smtClean="0"/>
              <a:t>Mating</a:t>
            </a:r>
            <a:endParaRPr kumimoji="1" lang="ja-JP" altLang="en-US" dirty="0"/>
          </a:p>
        </p:txBody>
      </p:sp>
      <p:grpSp>
        <p:nvGrpSpPr>
          <p:cNvPr id="31" name="グループ化 30"/>
          <p:cNvGrpSpPr/>
          <p:nvPr/>
        </p:nvGrpSpPr>
        <p:grpSpPr>
          <a:xfrm>
            <a:off x="2425142" y="4680893"/>
            <a:ext cx="1997029" cy="1417908"/>
            <a:chOff x="3137387" y="4405530"/>
            <a:chExt cx="1997029" cy="1417908"/>
          </a:xfrm>
        </p:grpSpPr>
        <p:sp>
          <p:nvSpPr>
            <p:cNvPr id="28" name="テキスト ボックス 27"/>
            <p:cNvSpPr txBox="1"/>
            <p:nvPr/>
          </p:nvSpPr>
          <p:spPr>
            <a:xfrm>
              <a:off x="3137387" y="4869331"/>
              <a:ext cx="1997029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トーナメント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 smtClean="0"/>
                <a:t>選択</a:t>
              </a:r>
              <a:endParaRPr lang="en-US" altLang="ja-JP" sz="2800" dirty="0" smtClean="0"/>
            </a:p>
          </p:txBody>
        </p:sp>
        <p:sp>
          <p:nvSpPr>
            <p:cNvPr id="29" name="右矢印 28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" name="グループ化 2"/>
          <p:cNvGrpSpPr/>
          <p:nvPr/>
        </p:nvGrpSpPr>
        <p:grpSpPr>
          <a:xfrm>
            <a:off x="443132" y="2507911"/>
            <a:ext cx="1871002" cy="4186703"/>
            <a:chOff x="777683" y="2507911"/>
            <a:chExt cx="1871002" cy="4186703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777683" y="3044048"/>
              <a:ext cx="1871002" cy="3650566"/>
              <a:chOff x="1083213" y="3165967"/>
              <a:chExt cx="1871002" cy="3650566"/>
            </a:xfrm>
          </p:grpSpPr>
          <p:sp>
            <p:nvSpPr>
              <p:cNvPr id="18" name="正方形/長方形 17"/>
              <p:cNvSpPr/>
              <p:nvPr/>
            </p:nvSpPr>
            <p:spPr>
              <a:xfrm>
                <a:off x="1083213" y="3165967"/>
                <a:ext cx="1871002" cy="3650566"/>
              </a:xfrm>
              <a:prstGeom prst="rect">
                <a:avLst/>
              </a:pr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26" name="グループ化 25"/>
              <p:cNvGrpSpPr/>
              <p:nvPr/>
            </p:nvGrpSpPr>
            <p:grpSpPr>
              <a:xfrm>
                <a:off x="1360354" y="3376615"/>
                <a:ext cx="1316720" cy="3229270"/>
                <a:chOff x="1443332" y="3376615"/>
                <a:chExt cx="1316720" cy="3229270"/>
              </a:xfrm>
            </p:grpSpPr>
            <p:grpSp>
              <p:nvGrpSpPr>
                <p:cNvPr id="19" name="グループ化 18"/>
                <p:cNvGrpSpPr/>
                <p:nvPr/>
              </p:nvGrpSpPr>
              <p:grpSpPr>
                <a:xfrm>
                  <a:off x="1443332" y="3376615"/>
                  <a:ext cx="478301" cy="3229270"/>
                  <a:chOff x="1553894" y="3174125"/>
                  <a:chExt cx="478301" cy="3229270"/>
                </a:xfrm>
              </p:grpSpPr>
              <p:sp>
                <p:nvSpPr>
                  <p:cNvPr id="8" name="円/楕円 7"/>
                  <p:cNvSpPr/>
                  <p:nvPr/>
                </p:nvSpPr>
                <p:spPr>
                  <a:xfrm>
                    <a:off x="1553894" y="409111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0" name="円/楕円 9"/>
                  <p:cNvSpPr/>
                  <p:nvPr/>
                </p:nvSpPr>
                <p:spPr>
                  <a:xfrm>
                    <a:off x="1553894" y="317412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2" name="円/楕円 11"/>
                  <p:cNvSpPr/>
                  <p:nvPr/>
                </p:nvSpPr>
                <p:spPr>
                  <a:xfrm>
                    <a:off x="1553894" y="5925094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4" name="円/楕円 13"/>
                  <p:cNvSpPr/>
                  <p:nvPr/>
                </p:nvSpPr>
                <p:spPr>
                  <a:xfrm>
                    <a:off x="1553894" y="5008105"/>
                    <a:ext cx="478301" cy="478301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grpSp>
              <p:nvGrpSpPr>
                <p:cNvPr id="20" name="グループ化 19"/>
                <p:cNvGrpSpPr/>
                <p:nvPr/>
              </p:nvGrpSpPr>
              <p:grpSpPr>
                <a:xfrm>
                  <a:off x="2281751" y="3376615"/>
                  <a:ext cx="478301" cy="3229270"/>
                  <a:chOff x="1553894" y="3174125"/>
                  <a:chExt cx="478301" cy="3229270"/>
                </a:xfrm>
                <a:solidFill>
                  <a:schemeClr val="accent2"/>
                </a:solidFill>
              </p:grpSpPr>
              <p:sp>
                <p:nvSpPr>
                  <p:cNvPr id="21" name="円/楕円 20"/>
                  <p:cNvSpPr/>
                  <p:nvPr/>
                </p:nvSpPr>
                <p:spPr>
                  <a:xfrm>
                    <a:off x="1553894" y="409111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2" name="円/楕円 21"/>
                  <p:cNvSpPr/>
                  <p:nvPr/>
                </p:nvSpPr>
                <p:spPr>
                  <a:xfrm>
                    <a:off x="1553894" y="317412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3" name="円/楕円 22"/>
                  <p:cNvSpPr/>
                  <p:nvPr/>
                </p:nvSpPr>
                <p:spPr>
                  <a:xfrm>
                    <a:off x="1553894" y="5925094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4" name="円/楕円 23"/>
                  <p:cNvSpPr/>
                  <p:nvPr/>
                </p:nvSpPr>
                <p:spPr>
                  <a:xfrm>
                    <a:off x="1553894" y="5008105"/>
                    <a:ext cx="478301" cy="478301"/>
                  </a:xfrm>
                  <a:prstGeom prst="ellipse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sp>
          <p:nvSpPr>
            <p:cNvPr id="30" name="テキスト ボックス 29"/>
            <p:cNvSpPr txBox="1"/>
            <p:nvPr/>
          </p:nvSpPr>
          <p:spPr>
            <a:xfrm>
              <a:off x="797026" y="2507911"/>
              <a:ext cx="183231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個体</a:t>
              </a:r>
              <a:r>
                <a:rPr lang="ja-JP" altLang="en-US" sz="2800" dirty="0"/>
                <a:t>群</a:t>
              </a:r>
              <a:endParaRPr kumimoji="1" lang="ja-JP" altLang="en-US" sz="2800" dirty="0" smtClean="0"/>
            </a:p>
          </p:txBody>
        </p:sp>
      </p:grpSp>
      <p:grpSp>
        <p:nvGrpSpPr>
          <p:cNvPr id="52" name="グループ化 51"/>
          <p:cNvGrpSpPr/>
          <p:nvPr/>
        </p:nvGrpSpPr>
        <p:grpSpPr>
          <a:xfrm>
            <a:off x="6200079" y="2592448"/>
            <a:ext cx="2767595" cy="983419"/>
            <a:chOff x="6609731" y="3254696"/>
            <a:chExt cx="2767595" cy="983419"/>
          </a:xfrm>
        </p:grpSpPr>
        <p:grpSp>
          <p:nvGrpSpPr>
            <p:cNvPr id="37" name="グループ化 36"/>
            <p:cNvGrpSpPr/>
            <p:nvPr/>
          </p:nvGrpSpPr>
          <p:grpSpPr>
            <a:xfrm>
              <a:off x="6746212" y="3286290"/>
              <a:ext cx="2494633" cy="920230"/>
              <a:chOff x="6806714" y="3317885"/>
              <a:chExt cx="2494633" cy="920230"/>
            </a:xfrm>
          </p:grpSpPr>
          <p:grpSp>
            <p:nvGrpSpPr>
              <p:cNvPr id="33" name="グループ化 32"/>
              <p:cNvGrpSpPr/>
              <p:nvPr/>
            </p:nvGrpSpPr>
            <p:grpSpPr>
              <a:xfrm>
                <a:off x="6806714" y="3317885"/>
                <a:ext cx="2494633" cy="461665"/>
                <a:chOff x="6806714" y="3317885"/>
                <a:chExt cx="2494633" cy="461665"/>
              </a:xfrm>
            </p:grpSpPr>
            <p:sp>
              <p:nvSpPr>
                <p:cNvPr id="17" name="円/楕円 16"/>
                <p:cNvSpPr/>
                <p:nvPr/>
              </p:nvSpPr>
              <p:spPr>
                <a:xfrm>
                  <a:off x="6806714" y="3357778"/>
                  <a:ext cx="381878" cy="381878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2" name="テキスト ボックス 31"/>
                <p:cNvSpPr txBox="1"/>
                <p:nvPr/>
              </p:nvSpPr>
              <p:spPr>
                <a:xfrm>
                  <a:off x="7188593" y="3317885"/>
                  <a:ext cx="2112754" cy="461665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2400" dirty="0" smtClean="0"/>
                    <a:t>:</a:t>
                  </a:r>
                  <a:r>
                    <a:rPr kumimoji="1" lang="ja-JP" altLang="en-US" sz="2400" dirty="0" smtClean="0"/>
                    <a:t>タスク</a:t>
                  </a:r>
                  <a:r>
                    <a:rPr kumimoji="1" lang="en-US" altLang="ja-JP" sz="2400" dirty="0" smtClean="0"/>
                    <a:t>1</a:t>
                  </a:r>
                  <a:r>
                    <a:rPr kumimoji="1" lang="ja-JP" altLang="en-US" sz="2400" dirty="0" smtClean="0"/>
                    <a:t>の個体</a:t>
                  </a:r>
                </a:p>
              </p:txBody>
            </p:sp>
          </p:grpSp>
          <p:grpSp>
            <p:nvGrpSpPr>
              <p:cNvPr id="34" name="グループ化 33"/>
              <p:cNvGrpSpPr/>
              <p:nvPr/>
            </p:nvGrpSpPr>
            <p:grpSpPr>
              <a:xfrm>
                <a:off x="6806714" y="3776450"/>
                <a:ext cx="2494633" cy="461665"/>
                <a:chOff x="6806714" y="3317885"/>
                <a:chExt cx="2494633" cy="461665"/>
              </a:xfrm>
            </p:grpSpPr>
            <p:sp>
              <p:nvSpPr>
                <p:cNvPr id="35" name="円/楕円 34"/>
                <p:cNvSpPr/>
                <p:nvPr/>
              </p:nvSpPr>
              <p:spPr>
                <a:xfrm>
                  <a:off x="6806714" y="3357778"/>
                  <a:ext cx="381878" cy="38187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6" name="テキスト ボックス 35"/>
                <p:cNvSpPr txBox="1"/>
                <p:nvPr/>
              </p:nvSpPr>
              <p:spPr>
                <a:xfrm>
                  <a:off x="7188593" y="3317885"/>
                  <a:ext cx="2112754" cy="461665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2400" dirty="0" smtClean="0"/>
                    <a:t>:</a:t>
                  </a:r>
                  <a:r>
                    <a:rPr kumimoji="1" lang="ja-JP" altLang="en-US" sz="2400" dirty="0" smtClean="0"/>
                    <a:t>タスク</a:t>
                  </a:r>
                  <a:r>
                    <a:rPr lang="en-US" altLang="ja-JP" sz="2400" dirty="0"/>
                    <a:t>2</a:t>
                  </a:r>
                  <a:r>
                    <a:rPr kumimoji="1" lang="ja-JP" altLang="en-US" sz="2400" dirty="0" smtClean="0"/>
                    <a:t>の個体</a:t>
                  </a:r>
                </a:p>
              </p:txBody>
            </p:sp>
          </p:grpSp>
        </p:grpSp>
        <p:sp>
          <p:nvSpPr>
            <p:cNvPr id="51" name="正方形/長方形 50"/>
            <p:cNvSpPr/>
            <p:nvPr/>
          </p:nvSpPr>
          <p:spPr>
            <a:xfrm>
              <a:off x="6609731" y="3254696"/>
              <a:ext cx="2767595" cy="983419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" name="グループ化 1"/>
          <p:cNvGrpSpPr/>
          <p:nvPr/>
        </p:nvGrpSpPr>
        <p:grpSpPr>
          <a:xfrm>
            <a:off x="4586874" y="4272640"/>
            <a:ext cx="478301" cy="1395291"/>
            <a:chOff x="4896723" y="3752124"/>
            <a:chExt cx="478301" cy="1395291"/>
          </a:xfrm>
        </p:grpSpPr>
        <p:sp>
          <p:nvSpPr>
            <p:cNvPr id="53" name="円/楕円 52"/>
            <p:cNvSpPr/>
            <p:nvPr/>
          </p:nvSpPr>
          <p:spPr>
            <a:xfrm>
              <a:off x="4896723" y="4669114"/>
              <a:ext cx="478301" cy="47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円/楕円 53"/>
            <p:cNvSpPr/>
            <p:nvPr/>
          </p:nvSpPr>
          <p:spPr>
            <a:xfrm>
              <a:off x="4896723" y="375212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1" name="グループ化 40"/>
          <p:cNvGrpSpPr/>
          <p:nvPr/>
        </p:nvGrpSpPr>
        <p:grpSpPr>
          <a:xfrm>
            <a:off x="4966828" y="4680893"/>
            <a:ext cx="2988829" cy="1417908"/>
            <a:chOff x="2708496" y="4405530"/>
            <a:chExt cx="2988829" cy="1417908"/>
          </a:xfrm>
        </p:grpSpPr>
        <p:sp>
          <p:nvSpPr>
            <p:cNvPr id="42" name="テキスト ボックス 41"/>
            <p:cNvSpPr txBox="1"/>
            <p:nvPr/>
          </p:nvSpPr>
          <p:spPr>
            <a:xfrm>
              <a:off x="2708496" y="4869331"/>
              <a:ext cx="2988829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交叉</a:t>
              </a:r>
              <a:r>
                <a:rPr lang="en-US" altLang="ja-JP" sz="2800" dirty="0" smtClean="0"/>
                <a:t>+</a:t>
              </a:r>
              <a:r>
                <a:rPr lang="ja-JP" altLang="en-US" sz="2800" dirty="0" smtClean="0"/>
                <a:t>突然変異</a:t>
              </a:r>
              <a:endParaRPr lang="en-US" altLang="ja-JP" sz="2800" dirty="0" smtClean="0"/>
            </a:p>
            <a:p>
              <a:pPr algn="ctr"/>
              <a:r>
                <a:rPr lang="en-US" altLang="ja-JP" sz="2800" dirty="0" smtClean="0"/>
                <a:t>(</a:t>
              </a:r>
              <a:r>
                <a:rPr lang="en-US" altLang="ja-JP" sz="2800" i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rmp</a:t>
              </a:r>
              <a:r>
                <a:rPr lang="en-US" altLang="ja-JP" sz="2800" dirty="0" smtClean="0"/>
                <a:t>)</a:t>
              </a:r>
            </a:p>
          </p:txBody>
        </p:sp>
        <p:sp>
          <p:nvSpPr>
            <p:cNvPr id="43" name="右矢印 42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7" name="円/楕円 46"/>
          <p:cNvSpPr/>
          <p:nvPr/>
        </p:nvSpPr>
        <p:spPr>
          <a:xfrm>
            <a:off x="7867396" y="5189630"/>
            <a:ext cx="478301" cy="47830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円/楕円 47"/>
          <p:cNvSpPr/>
          <p:nvPr/>
        </p:nvSpPr>
        <p:spPr>
          <a:xfrm>
            <a:off x="7867396" y="4272640"/>
            <a:ext cx="478301" cy="47830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9649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既存手法</a:t>
            </a:r>
            <a:r>
              <a:rPr kumimoji="1" lang="en-US" altLang="ja-JP" dirty="0" smtClean="0"/>
              <a:t>(MO-MFEA)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タスク間交叉によって生成された個体を，親個体に基づき割り当てを行う．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Vertical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Cultural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Transmission</a:t>
            </a:r>
            <a:endParaRPr kumimoji="1" lang="ja-JP" altLang="en-US" dirty="0"/>
          </a:p>
        </p:txBody>
      </p:sp>
      <p:grpSp>
        <p:nvGrpSpPr>
          <p:cNvPr id="6" name="グループ化 5"/>
          <p:cNvGrpSpPr/>
          <p:nvPr/>
        </p:nvGrpSpPr>
        <p:grpSpPr>
          <a:xfrm>
            <a:off x="1447076" y="3569255"/>
            <a:ext cx="478301" cy="1395291"/>
            <a:chOff x="4896723" y="3752124"/>
            <a:chExt cx="478301" cy="1395291"/>
          </a:xfrm>
        </p:grpSpPr>
        <p:sp>
          <p:nvSpPr>
            <p:cNvPr id="7" name="円/楕円 6"/>
            <p:cNvSpPr/>
            <p:nvPr/>
          </p:nvSpPr>
          <p:spPr>
            <a:xfrm>
              <a:off x="4896723" y="4669114"/>
              <a:ext cx="478301" cy="47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円/楕円 7"/>
            <p:cNvSpPr/>
            <p:nvPr/>
          </p:nvSpPr>
          <p:spPr>
            <a:xfrm>
              <a:off x="4896723" y="375212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" name="グループ化 8"/>
          <p:cNvGrpSpPr/>
          <p:nvPr/>
        </p:nvGrpSpPr>
        <p:grpSpPr>
          <a:xfrm>
            <a:off x="1827030" y="3977508"/>
            <a:ext cx="2988829" cy="1417908"/>
            <a:chOff x="2708496" y="4405530"/>
            <a:chExt cx="2988829" cy="1417908"/>
          </a:xfrm>
        </p:grpSpPr>
        <p:sp>
          <p:nvSpPr>
            <p:cNvPr id="10" name="テキスト ボックス 9"/>
            <p:cNvSpPr txBox="1"/>
            <p:nvPr/>
          </p:nvSpPr>
          <p:spPr>
            <a:xfrm>
              <a:off x="2708496" y="4869331"/>
              <a:ext cx="2988829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交叉</a:t>
              </a:r>
              <a:r>
                <a:rPr lang="en-US" altLang="ja-JP" sz="2800" dirty="0" smtClean="0"/>
                <a:t>+</a:t>
              </a:r>
              <a:r>
                <a:rPr lang="ja-JP" altLang="en-US" sz="2800" dirty="0" smtClean="0"/>
                <a:t>突然変異</a:t>
              </a:r>
              <a:endParaRPr lang="en-US" altLang="ja-JP" sz="2800" dirty="0" smtClean="0"/>
            </a:p>
            <a:p>
              <a:pPr algn="ctr"/>
              <a:r>
                <a:rPr lang="en-US" altLang="ja-JP" sz="2800" dirty="0" smtClean="0"/>
                <a:t>(</a:t>
              </a:r>
              <a:r>
                <a:rPr lang="en-US" altLang="ja-JP" sz="2800" i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rmp</a:t>
              </a:r>
              <a:r>
                <a:rPr lang="en-US" altLang="ja-JP" sz="2800" dirty="0" smtClean="0"/>
                <a:t>)</a:t>
              </a:r>
            </a:p>
          </p:txBody>
        </p:sp>
        <p:sp>
          <p:nvSpPr>
            <p:cNvPr id="11" name="右矢印 10"/>
            <p:cNvSpPr/>
            <p:nvPr/>
          </p:nvSpPr>
          <p:spPr>
            <a:xfrm>
              <a:off x="3657599" y="4405530"/>
              <a:ext cx="956604" cy="46380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7" name="グループ化 16"/>
          <p:cNvGrpSpPr/>
          <p:nvPr/>
        </p:nvGrpSpPr>
        <p:grpSpPr>
          <a:xfrm>
            <a:off x="6303499" y="3569255"/>
            <a:ext cx="478301" cy="1395291"/>
            <a:chOff x="4896723" y="3752124"/>
            <a:chExt cx="478301" cy="1395291"/>
          </a:xfrm>
        </p:grpSpPr>
        <p:sp>
          <p:nvSpPr>
            <p:cNvPr id="18" name="円/楕円 17"/>
            <p:cNvSpPr/>
            <p:nvPr/>
          </p:nvSpPr>
          <p:spPr>
            <a:xfrm>
              <a:off x="4896723" y="4669114"/>
              <a:ext cx="478301" cy="47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/楕円 18"/>
            <p:cNvSpPr/>
            <p:nvPr/>
          </p:nvSpPr>
          <p:spPr>
            <a:xfrm>
              <a:off x="4896723" y="375212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0" name="グループ化 19"/>
          <p:cNvGrpSpPr/>
          <p:nvPr/>
        </p:nvGrpSpPr>
        <p:grpSpPr>
          <a:xfrm>
            <a:off x="4727598" y="3569255"/>
            <a:ext cx="478301" cy="1395291"/>
            <a:chOff x="4896723" y="3752124"/>
            <a:chExt cx="478301" cy="1395291"/>
          </a:xfrm>
        </p:grpSpPr>
        <p:sp>
          <p:nvSpPr>
            <p:cNvPr id="21" name="円/楕円 20"/>
            <p:cNvSpPr/>
            <p:nvPr/>
          </p:nvSpPr>
          <p:spPr>
            <a:xfrm>
              <a:off x="4896723" y="4669114"/>
              <a:ext cx="478301" cy="47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4896723" y="3752124"/>
              <a:ext cx="478301" cy="47830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/>
          <p:cNvGrpSpPr/>
          <p:nvPr/>
        </p:nvGrpSpPr>
        <p:grpSpPr>
          <a:xfrm>
            <a:off x="5485916" y="3524336"/>
            <a:ext cx="537567" cy="1440210"/>
            <a:chOff x="4785233" y="3524336"/>
            <a:chExt cx="537567" cy="1440210"/>
          </a:xfrm>
        </p:grpSpPr>
        <p:sp>
          <p:nvSpPr>
            <p:cNvPr id="23" name="テキスト ボックス 22"/>
            <p:cNvSpPr txBox="1"/>
            <p:nvPr/>
          </p:nvSpPr>
          <p:spPr>
            <a:xfrm>
              <a:off x="4785233" y="4441326"/>
              <a:ext cx="53756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or</a:t>
              </a:r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4785233" y="3524336"/>
              <a:ext cx="53756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8269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コンテンツ プレースホルダー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ja-JP" i="1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rmp</a:t>
                </a:r>
                <a:r>
                  <a:rPr kumimoji="1" lang="ja-JP" altLang="en-US" dirty="0" smtClean="0">
                    <a:solidFill>
                      <a:srgbClr val="FF0000"/>
                    </a:solidFill>
                  </a:rPr>
                  <a:t>をオンラインで学習する</a:t>
                </a:r>
                <a:r>
                  <a:rPr kumimoji="1" lang="ja-JP" altLang="en-US" dirty="0" smtClean="0"/>
                  <a:t>アルゴリズムを加えた</a:t>
                </a:r>
                <a:r>
                  <a:rPr kumimoji="1" lang="en-US" altLang="ja-JP" dirty="0" smtClean="0"/>
                  <a:t>MO-MFEA-II</a:t>
                </a:r>
                <a:r>
                  <a:rPr kumimoji="1" lang="ja-JP" altLang="en-US" dirty="0" smtClean="0"/>
                  <a:t>を提案する．</a:t>
                </a:r>
                <a:endParaRPr kumimoji="1" lang="en-US" altLang="ja-JP" dirty="0" smtClean="0"/>
              </a:p>
              <a:p>
                <a:pPr algn="l"/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RMP</a:t>
                </a:r>
                <a:r>
                  <a:rPr lang="ja-JP" altLang="en-US" dirty="0" smtClean="0"/>
                  <a:t>は対称行列で表現する．</a:t>
                </a:r>
                <a:r>
                  <a:rPr lang="en-US" altLang="ja-JP" dirty="0"/>
                  <a:t/>
                </a:r>
                <a:br>
                  <a:rPr lang="en-US" altLang="ja-JP" dirty="0"/>
                </a:b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RMP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  <m:brk m:alnAt="7"/>
                                  </m:rPr>
                                  <a:rPr kumimoji="1" lang="en-US" altLang="ja-JP" b="0" i="1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r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i="1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mp</m:t>
                                </m:r>
                                <m:r>
                                  <m:rPr>
                                    <m:nor/>
                                    <m:brk m:alnAt="7"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i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1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rmp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1,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i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1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rmp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2,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i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1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rmp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2,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i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kumimoji="1" lang="en-US" altLang="ja-JP" b="0" baseline="-2500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b="0" i="0" smtClean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⋱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en-US" altLang="ja-JP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コンテンツ プレースホルダー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2000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559550" y="4876800"/>
            <a:ext cx="2355850" cy="46166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ja-JP" sz="2400" dirty="0" smtClean="0"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1,2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2,1</a:t>
            </a:r>
            <a:r>
              <a:rPr lang="en-US" altLang="ja-JP" sz="2400" dirty="0" smtClean="0">
                <a:cs typeface="Times New Roman" panose="02020603050405020304" pitchFamily="18" charset="0"/>
              </a:rPr>
              <a:t>)</a:t>
            </a:r>
            <a:endParaRPr lang="ja-JP" altLang="en-US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683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ja-JP" altLang="en-US" dirty="0" smtClean="0"/>
                  <a:t>連続値最適化問題において初期個体群の</a:t>
                </a:r>
                <a:r>
                  <a:rPr kumimoji="1" lang="en-US" altLang="ja-JP" dirty="0" smtClean="0"/>
                  <a:t/>
                </a:r>
                <a:br>
                  <a:rPr kumimoji="1" lang="en-US" altLang="ja-JP" dirty="0" smtClean="0"/>
                </a:br>
                <a:r>
                  <a:rPr kumimoji="1" lang="ja-JP" altLang="en-US" dirty="0" smtClean="0"/>
                  <a:t>確率分布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kumimoji="1" lang="en-US" altLang="ja-JP" dirty="0" smtClean="0"/>
                  <a:t>(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kumimoji="1" lang="ja-JP" altLang="en-US" dirty="0" smtClean="0"/>
                  <a:t> </a:t>
                </a:r>
                <a:r>
                  <a:rPr kumimoji="1" lang="en-US" altLang="ja-JP" dirty="0" smtClean="0"/>
                  <a:t>0)</a:t>
                </a:r>
                <a:r>
                  <a:rPr kumimoji="1" lang="ja-JP" altLang="en-US" dirty="0" smtClean="0"/>
                  <a:t>が，探索空間</a:t>
                </a:r>
                <a:r>
                  <a:rPr lang="en-US" altLang="ja-JP" b="1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kumimoji="1" lang="ja-JP" altLang="en-US" dirty="0" smtClean="0"/>
                  <a:t>全体で正の値かつ</a:t>
                </a:r>
                <a:r>
                  <a:rPr kumimoji="1" lang="en-US" altLang="ja-JP" dirty="0" smtClean="0"/>
                  <a:t/>
                </a:r>
                <a:br>
                  <a:rPr kumimoji="1" lang="en-US" altLang="ja-JP" dirty="0" smtClean="0"/>
                </a:br>
                <a:r>
                  <a:rPr kumimoji="1" lang="ja-JP" altLang="en-US" dirty="0" smtClean="0"/>
                  <a:t>連続で，子個体生成数を</a:t>
                </a:r>
                <a:r>
                  <a:rPr lang="ja-JP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∞</a:t>
                </a:r>
                <a:r>
                  <a:rPr kumimoji="1" lang="ja-JP" altLang="en-US" dirty="0" smtClean="0"/>
                  <a:t>と仮定する．このとき，</a:t>
                </a:r>
                <a:r>
                  <a:rPr kumimoji="1" lang="en-US" altLang="ja-JP" dirty="0" smtClean="0"/>
                  <a:t/>
                </a:r>
                <a:br>
                  <a:rPr kumimoji="1" lang="en-US" altLang="ja-JP" dirty="0" smtClean="0"/>
                </a:b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ja-JP" altLang="en-US" dirty="0"/>
                  <a:t>世代</a:t>
                </a:r>
                <a:r>
                  <a:rPr kumimoji="1" lang="ja-JP" altLang="en-US" dirty="0" smtClean="0"/>
                  <a:t>において</a:t>
                </a:r>
                <a:r>
                  <a:rPr kumimoji="1" lang="ja-JP" altLang="en-US" dirty="0" smtClean="0">
                    <a:solidFill>
                      <a:srgbClr val="FF0000"/>
                    </a:solidFill>
                  </a:rPr>
                  <a:t>子個体がサンプリングされる確率分布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lang="en-US" altLang="ja-JP" dirty="0"/>
                  <a:t>(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ja-JP" altLang="en-US" dirty="0"/>
                  <a:t> 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altLang="ja-JP" dirty="0" smtClean="0"/>
                  <a:t>)</a:t>
                </a:r>
                <a:r>
                  <a:rPr kumimoji="1" lang="ja-JP" altLang="en-US" dirty="0" smtClean="0">
                    <a:solidFill>
                      <a:srgbClr val="FF0000"/>
                    </a:solidFill>
                  </a:rPr>
                  <a:t>が真の分布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en-US" altLang="ja-JP" dirty="0" smtClean="0"/>
                  <a:t>(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ja-JP" altLang="en-US" dirty="0"/>
                  <a:t> 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altLang="ja-JP" dirty="0" smtClean="0"/>
                  <a:t>)</a:t>
                </a:r>
                <a:r>
                  <a:rPr kumimoji="1" lang="ja-JP" altLang="en-US" dirty="0" smtClean="0">
                    <a:solidFill>
                      <a:srgbClr val="FF0000"/>
                    </a:solidFill>
                  </a:rPr>
                  <a:t>と同一であれば</a:t>
                </a:r>
                <a:r>
                  <a:rPr kumimoji="1" lang="ja-JP" altLang="en-US" dirty="0" smtClean="0"/>
                  <a:t>，</a:t>
                </a:r>
                <a:r>
                  <a:rPr kumimoji="1" lang="en-US" altLang="ja-JP" dirty="0" smtClean="0"/>
                  <a:t/>
                </a:r>
                <a:br>
                  <a:rPr kumimoji="1" lang="en-US" altLang="ja-JP" dirty="0" smtClean="0"/>
                </a:br>
                <a:r>
                  <a:rPr kumimoji="1" lang="ja-JP" altLang="en-US" dirty="0" smtClean="0"/>
                  <a:t>探索は漸近的に以下のような確率分布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en-US" altLang="ja-JP" dirty="0"/>
                  <a:t>(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ja-JP" altLang="en-US" dirty="0"/>
                  <a:t> 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∞</a:t>
                </a:r>
                <a:r>
                  <a:rPr lang="en-US" altLang="ja-JP" dirty="0" smtClean="0"/>
                  <a:t>)</a:t>
                </a:r>
                <a:r>
                  <a:rPr kumimoji="1" lang="ja-JP" altLang="en-US" dirty="0" smtClean="0"/>
                  <a:t>に収束する．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b="1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</m:sub>
                        <m:sup/>
                        <m:e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kumimoji="1" lang="en-US" altLang="ja-JP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kumimoji="1" lang="en-US" altLang="ja-JP" b="0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∞)</m:t>
                          </m:r>
                        </m:e>
                      </m:nary>
                      <m:r>
                        <m:rPr>
                          <m:nor/>
                        </m:rPr>
                        <a:rPr kumimoji="1" lang="en-US" altLang="ja-JP" b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dx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f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kumimoji="1" lang="en-US" altLang="ja-JP" b="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kumimoji="1" lang="ja-JP" altLang="en-US" dirty="0" smtClean="0"/>
              <a:t>の学習原理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96332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前頁の定理より，子個体群の確率分布が真の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確率分布と等しくなるようにすればよい．</a:t>
            </a:r>
            <a:endParaRPr kumimoji="1" lang="en-US" altLang="ja-JP" dirty="0" smtClean="0"/>
          </a:p>
          <a:p>
            <a:r>
              <a:rPr lang="en-US" altLang="ja-JP" dirty="0" smtClean="0"/>
              <a:t>MO-MFEA-II</a:t>
            </a:r>
            <a:r>
              <a:rPr lang="ja-JP" altLang="en-US" dirty="0" smtClean="0"/>
              <a:t>におけるタスク</a:t>
            </a:r>
            <a:r>
              <a:rPr lang="en-US" altLang="ja-JP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ja-JP" altLang="en-US" dirty="0" smtClean="0"/>
              <a:t>の子個体群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ja-JP" altLang="en-US" dirty="0" smtClean="0"/>
              <a:t> の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確率分布は，以下の式で表される．</a:t>
            </a:r>
            <a:endParaRPr lang="en-US" altLang="ja-JP" dirty="0" smtClean="0"/>
          </a:p>
          <a:p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dirty="0"/>
              <a:t>の学習</a:t>
            </a:r>
            <a:r>
              <a:rPr lang="ja-JP" altLang="en-US" dirty="0" smtClean="0"/>
              <a:t>原理</a:t>
            </a:r>
            <a:endParaRPr lang="ja-JP" altLang="en-US" dirty="0"/>
          </a:p>
        </p:txBody>
      </p:sp>
      <p:graphicFrame>
        <p:nvGraphicFramePr>
          <p:cNvPr id="6" name="オブジェクト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2527848"/>
              </p:ext>
            </p:extLst>
          </p:nvPr>
        </p:nvGraphicFramePr>
        <p:xfrm>
          <a:off x="1341438" y="3716338"/>
          <a:ext cx="6461125" cy="2397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1" name="Equation" r:id="rId3" imgW="2019240" imgH="749160" progId="Equation.DSMT4">
                  <p:embed/>
                </p:oleObj>
              </mc:Choice>
              <mc:Fallback>
                <p:oleObj name="Equation" r:id="rId3" imgW="2019240" imgH="7491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41438" y="3716338"/>
                        <a:ext cx="6461125" cy="2397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オブジェクト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1104481"/>
              </p:ext>
            </p:extLst>
          </p:nvPr>
        </p:nvGraphicFramePr>
        <p:xfrm>
          <a:off x="7846219" y="2398714"/>
          <a:ext cx="487363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2" name="Equation" r:id="rId5" imgW="152280" imgH="215640" progId="Equation.DSMT4">
                  <p:embed/>
                </p:oleObj>
              </mc:Choice>
              <mc:Fallback>
                <p:oleObj name="Equation" r:id="rId5" imgW="15228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846219" y="2398714"/>
                        <a:ext cx="487363" cy="6921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89058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前頁の定理より，子個体群の確率分布が真の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確率分布と等しくなるようにすればよい．</a:t>
            </a:r>
            <a:endParaRPr lang="en-US" altLang="ja-JP" dirty="0"/>
          </a:p>
          <a:p>
            <a:r>
              <a:rPr kumimoji="1" lang="ja-JP" altLang="en-US" dirty="0" smtClean="0"/>
              <a:t>従って，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ja-JP" altLang="en-US" dirty="0" smtClean="0"/>
              <a:t>タスクマルチタスク最適化問題では，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kumimoji="1" lang="ja-JP" altLang="en-US" dirty="0" smtClean="0"/>
              <a:t>の最適化は，以下のような最大化問題として表現できる．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dirty="0"/>
              <a:t>の学習原理</a:t>
            </a:r>
          </a:p>
        </p:txBody>
      </p:sp>
      <p:graphicFrame>
        <p:nvGraphicFramePr>
          <p:cNvPr id="6" name="オブジェクト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7561534"/>
              </p:ext>
            </p:extLst>
          </p:nvPr>
        </p:nvGraphicFramePr>
        <p:xfrm>
          <a:off x="2052576" y="3962400"/>
          <a:ext cx="5038848" cy="14215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6" name="Equation" r:id="rId3" imgW="1574640" imgH="444240" progId="Equation.DSMT4">
                  <p:embed/>
                </p:oleObj>
              </mc:Choice>
              <mc:Fallback>
                <p:oleObj name="Equation" r:id="rId3" imgW="1574640" imgH="4442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576" y="3962400"/>
                        <a:ext cx="5038848" cy="14215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/>
          <p:cNvSpPr txBox="1"/>
          <p:nvPr/>
        </p:nvSpPr>
        <p:spPr>
          <a:xfrm>
            <a:off x="5384800" y="5722203"/>
            <a:ext cx="3530600" cy="83099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kumimoji="1" lang="ja-JP" alt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400" dirty="0" smtClean="0"/>
              <a:t>:</a:t>
            </a:r>
            <a:r>
              <a:rPr kumimoji="1" lang="ja-JP" altLang="en-US" sz="2400" dirty="0" smtClean="0"/>
              <a:t> 個体群サイズ</a:t>
            </a:r>
            <a:endParaRPr kumimoji="1" lang="en-US" altLang="ja-JP" sz="2400" dirty="0" smtClean="0"/>
          </a:p>
          <a:p>
            <a:r>
              <a:rPr lang="en-US" altLang="ja-JP" sz="24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ik</a:t>
            </a:r>
            <a:r>
              <a:rPr lang="ja-JP" alt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400" dirty="0" smtClean="0"/>
              <a:t>:</a:t>
            </a:r>
            <a:r>
              <a:rPr lang="ja-JP" altLang="en-US" sz="2400" dirty="0" smtClean="0"/>
              <a:t>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ja-JP" altLang="en-US" sz="2400" dirty="0" smtClean="0"/>
              <a:t>タスクの</a:t>
            </a:r>
            <a:r>
              <a:rPr lang="en-US" altLang="ja-JP" sz="24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ja-JP" altLang="en-US" sz="2400" dirty="0" smtClean="0"/>
              <a:t>番目の個体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2033203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ja-JP" altLang="en-US" dirty="0" smtClean="0"/>
                  <a:t>また，前頁の最大化問題は，真の確率分布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/>
                  <a:t>(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kumimoji="1" lang="en-US" altLang="ja-JP" dirty="0" smtClean="0"/>
                  <a:t>)</a:t>
                </a:r>
                <a:r>
                  <a:rPr kumimoji="1" lang="ja-JP" altLang="en-US" dirty="0" smtClean="0"/>
                  <a:t>と子個体群の確率分布の</a:t>
                </a:r>
                <a:r>
                  <a:rPr kumimoji="1" lang="en-US" altLang="ja-JP" dirty="0" smtClean="0"/>
                  <a:t>KL</a:t>
                </a:r>
                <a:r>
                  <a:rPr kumimoji="1" lang="ja-JP" altLang="en-US" dirty="0" smtClean="0"/>
                  <a:t>ダイバージェンスの</a:t>
                </a:r>
                <a:r>
                  <a:rPr kumimoji="1" lang="en-US" altLang="ja-JP" dirty="0" smtClean="0"/>
                  <a:t/>
                </a:r>
                <a:br>
                  <a:rPr kumimoji="1" lang="en-US" altLang="ja-JP" dirty="0" smtClean="0"/>
                </a:br>
                <a:r>
                  <a:rPr kumimoji="1" lang="ja-JP" altLang="en-US" dirty="0" smtClean="0"/>
                  <a:t>最小化と等価である．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KL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||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q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</m:t>
                      </m:r>
                      <m:nary>
                        <m:naryPr>
                          <m:supHide m:val="on"/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lang="en-US" altLang="ja-JP" b="1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</m:sub>
                        <m:sup/>
                        <m:e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altLang="ja-JP" b="0" i="0" smtClean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∙</m:t>
                          </m:r>
                        </m:e>
                      </m:nary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− 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q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en-US" altLang="ja-JP" b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)]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dx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2000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dirty="0"/>
              <a:t>の学習原理</a:t>
            </a:r>
          </a:p>
        </p:txBody>
      </p:sp>
    </p:spTree>
    <p:extLst>
      <p:ext uri="{BB962C8B-B14F-4D97-AF65-F5344CB8AC3E}">
        <p14:creationId xmlns:p14="http://schemas.microsoft.com/office/powerpoint/2010/main" val="220469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Appendix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 algn="l">
                  <a:buFont typeface="Arial" panose="020B0604020202020204" pitchFamily="34" charset="0"/>
                  <a:buChar char="•"/>
                </a:pPr>
                <a:r>
                  <a:rPr kumimoji="1" lang="ja-JP" altLang="en-US" dirty="0" smtClean="0"/>
                  <a:t>情報量</a:t>
                </a:r>
                <a:endParaRPr lang="en-US" altLang="ja-JP" dirty="0"/>
              </a:p>
              <a:p>
                <a:pPr lvl="1" algn="l"/>
                <a:r>
                  <a:rPr kumimoji="1" lang="ja-JP" altLang="en-US" dirty="0" smtClean="0"/>
                  <a:t>確率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/>
                  <a:t>(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kumimoji="1" lang="en-US" altLang="ja-JP" dirty="0" smtClean="0"/>
                  <a:t>)</a:t>
                </a:r>
                <a:r>
                  <a:rPr kumimoji="1" lang="ja-JP" altLang="en-US" dirty="0" smtClean="0"/>
                  <a:t>で，事象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kumimoji="1" lang="ja-JP" altLang="en-US" dirty="0" smtClean="0"/>
                  <a:t>が起きるとき，その情報量</a:t>
                </a:r>
                <a:r>
                  <a:rPr lang="ja-JP" altLang="en-US" dirty="0" smtClean="0"/>
                  <a:t>は</a:t>
                </a:r>
                <a:endParaRPr lang="en-US" altLang="ja-JP" dirty="0" smtClean="0"/>
              </a:p>
              <a:p>
                <a:pPr lvl="1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))</m:t>
                      </m:r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 algn="l">
                  <a:buFont typeface="Arial" panose="020B0604020202020204" pitchFamily="34" charset="0"/>
                  <a:buChar char="•"/>
                </a:pP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エントロピー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生じる事象すべてに対する情報量は，各情報量を各事象が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/>
                </a:r>
                <a:b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生じる確率で重みづけして平均すればよいので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 i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 i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))</m:t>
                          </m:r>
                          <m:r>
                            <m:rPr>
                              <m:nor/>
                            </m:rPr>
                            <a:rPr lang="en-US" altLang="ja-JP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dx</m:t>
                          </m:r>
                          <m:r>
                            <m:rPr>
                              <m:nor/>
                            </m:rPr>
                            <a:rPr lang="en-US" altLang="ja-JP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altLang="ja-JP" b="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交差エントロピー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確率分布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en-US" altLang="ja-JP" dirty="0"/>
                  <a:t>(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/>
                  <a:t>)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を，異なる確率分布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lang="en-US" altLang="ja-JP" dirty="0" smtClean="0"/>
                  <a:t>(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/>
                  <a:t>)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で送る際の情報量は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))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dx</m:t>
                          </m:r>
                          <m:r>
                            <m:rPr>
                              <m:nor/>
                            </m:rPr>
                            <a:rPr lang="en-US" altLang="ja-JP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685800" lvl="1" indent="-342900" algn="l">
                  <a:buFont typeface="Arial" panose="020B0604020202020204" pitchFamily="34" charset="0"/>
                  <a:buChar char="•"/>
                </a:pPr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614" t="-1882" r="-1053" b="-5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KL</a:t>
            </a:r>
            <a:r>
              <a:rPr kumimoji="1" lang="ja-JP" altLang="en-US" dirty="0" smtClean="0"/>
              <a:t>ダイバージェンス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6959600"/>
            <a:ext cx="8178800" cy="193899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 smtClean="0"/>
              <a:t>参考サイト</a:t>
            </a:r>
            <a:endParaRPr lang="en-US" altLang="ja-JP" sz="2400" dirty="0" smtClean="0"/>
          </a:p>
          <a:p>
            <a:r>
              <a:rPr lang="en-US" altLang="ja-JP" sz="2400" dirty="0">
                <a:hlinkClick r:id="rId3"/>
              </a:rPr>
              <a:t>http://</a:t>
            </a:r>
            <a:r>
              <a:rPr lang="en-US" altLang="ja-JP" sz="2400" dirty="0" smtClean="0">
                <a:hlinkClick r:id="rId3"/>
              </a:rPr>
              <a:t>hanon05.hatenablog.com/entry/2019/02/03/183716</a:t>
            </a:r>
            <a:endParaRPr lang="en-US" altLang="ja-JP" sz="2400" dirty="0" smtClean="0"/>
          </a:p>
          <a:p>
            <a:r>
              <a:rPr lang="en-US" altLang="ja-JP" sz="2400" dirty="0">
                <a:hlinkClick r:id="rId4"/>
              </a:rPr>
              <a:t>https://</a:t>
            </a:r>
            <a:r>
              <a:rPr lang="en-US" altLang="ja-JP" sz="2400" dirty="0" smtClean="0">
                <a:hlinkClick r:id="rId4"/>
              </a:rPr>
              <a:t>www.hellocybernetics.tech/entry/2016/04/21/132645</a:t>
            </a:r>
            <a:endParaRPr lang="en-US" altLang="ja-JP" sz="2400" dirty="0" smtClean="0"/>
          </a:p>
          <a:p>
            <a:endParaRPr lang="en-US" altLang="ja-JP" sz="2400" dirty="0" smtClean="0"/>
          </a:p>
          <a:p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4183598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Appendix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交差エントロピー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確率分布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en-US" altLang="ja-JP" dirty="0"/>
                  <a:t>(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/>
                  <a:t>)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を，異なる確率分布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lang="en-US" altLang="ja-JP" dirty="0" smtClean="0"/>
                  <a:t>(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ja-JP" dirty="0"/>
                  <a:t>)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で送る際の情報量は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))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dx</m:t>
                          </m:r>
                          <m:r>
                            <m:rPr>
                              <m:nor/>
                            </m:rPr>
                            <a:rPr lang="en-US" altLang="ja-JP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ja-JP" dirty="0" smtClean="0">
                    <a:cs typeface="Times New Roman" panose="02020603050405020304" pitchFamily="18" charset="0"/>
                  </a:rPr>
                  <a:t>KL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ダイバージェンス</a:t>
                </a:r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 algn="l"/>
                <a:r>
                  <a:rPr lang="ja-JP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真</a:t>
                </a:r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の確率分布で送った情報量と，</a:t>
                </a:r>
                <a:r>
                  <a:rPr kumimoji="1"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異なる確率分布で送った情報量の差は</a:t>
                </a:r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))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dx</m:t>
                          </m:r>
                          <m:r>
                            <m:rPr>
                              <m:nor/>
                            </m:rPr>
                            <a:rPr lang="en-US" altLang="ja-JP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nary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∙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(</m:t>
                              </m:r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)) </m:t>
                              </m:r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dx</m:t>
                              </m:r>
                              <m:r>
                                <m:rPr>
                                  <m:nor/>
                                </m:rPr>
                                <a:rPr lang="en-US" altLang="ja-JP" i="1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ja-JP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(</m:t>
                          </m:r>
                          <m:f>
                            <m:fPr>
                              <m:ctrlPr>
                                <a:rPr lang="en-US" altLang="ja-JP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q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ja-JP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m:rPr>
                              <m:nor/>
                            </m:rPr>
                            <a:rPr lang="en-US" altLang="ja-JP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 </m:t>
                          </m:r>
                          <m:r>
                            <m:rPr>
                              <m:nor/>
                            </m:rPr>
                            <a:rPr lang="en-US" altLang="ja-JP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dx</m:t>
                          </m:r>
                          <m:r>
                            <m:rPr>
                              <m:nor/>
                            </m:rPr>
                            <a:rPr lang="en-US" altLang="ja-JP" i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 algn="l"/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614" t="-2000" b="-235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KL</a:t>
            </a:r>
            <a:r>
              <a:rPr kumimoji="1" lang="ja-JP" altLang="en-US" dirty="0" smtClean="0"/>
              <a:t>ダイバージェンス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6959600"/>
            <a:ext cx="8178800" cy="193899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 smtClean="0"/>
              <a:t>参考サイト</a:t>
            </a:r>
            <a:endParaRPr lang="en-US" altLang="ja-JP" sz="2400" dirty="0" smtClean="0"/>
          </a:p>
          <a:p>
            <a:r>
              <a:rPr lang="en-US" altLang="ja-JP" sz="2400" dirty="0">
                <a:hlinkClick r:id="rId3"/>
              </a:rPr>
              <a:t>http://</a:t>
            </a:r>
            <a:r>
              <a:rPr lang="en-US" altLang="ja-JP" sz="2400" dirty="0" smtClean="0">
                <a:hlinkClick r:id="rId3"/>
              </a:rPr>
              <a:t>hanon05.hatenablog.com/entry/2019/02/03/183716</a:t>
            </a:r>
            <a:endParaRPr lang="en-US" altLang="ja-JP" sz="2400" dirty="0" smtClean="0"/>
          </a:p>
          <a:p>
            <a:r>
              <a:rPr lang="en-US" altLang="ja-JP" sz="2400" dirty="0">
                <a:hlinkClick r:id="rId4"/>
              </a:rPr>
              <a:t>https://</a:t>
            </a:r>
            <a:r>
              <a:rPr lang="en-US" altLang="ja-JP" sz="2400" dirty="0" smtClean="0">
                <a:hlinkClick r:id="rId4"/>
              </a:rPr>
              <a:t>www.hellocybernetics.tech/entry/2016/04/21/132645</a:t>
            </a:r>
            <a:endParaRPr lang="en-US" altLang="ja-JP" sz="2400" dirty="0" smtClean="0"/>
          </a:p>
          <a:p>
            <a:endParaRPr lang="en-US" altLang="ja-JP" sz="2400" dirty="0" smtClean="0"/>
          </a:p>
          <a:p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448225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&lt;</a:t>
            </a:r>
            <a:r>
              <a:rPr lang="ja-JP" altLang="en-US" dirty="0" smtClean="0"/>
              <a:t>証明</a:t>
            </a:r>
            <a:r>
              <a:rPr lang="en-US" altLang="ja-JP" dirty="0" smtClean="0"/>
              <a:t>&gt;</a:t>
            </a:r>
          </a:p>
          <a:p>
            <a:endParaRPr kumimoji="1" lang="en-US" altLang="ja-JP" dirty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lang="en-US" altLang="ja-JP" dirty="0" smtClean="0"/>
          </a:p>
          <a:p>
            <a:endParaRPr kumimoji="1" lang="en-US" altLang="ja-JP" dirty="0"/>
          </a:p>
          <a:p>
            <a:r>
              <a:rPr lang="en-US" altLang="ja-JP" dirty="0"/>
              <a:t/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dirty="0"/>
              <a:t>の学習原理</a:t>
            </a:r>
          </a:p>
        </p:txBody>
      </p:sp>
      <p:graphicFrame>
        <p:nvGraphicFramePr>
          <p:cNvPr id="7" name="オブジェクト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557306"/>
              </p:ext>
            </p:extLst>
          </p:nvPr>
        </p:nvGraphicFramePr>
        <p:xfrm>
          <a:off x="712788" y="1663700"/>
          <a:ext cx="7720012" cy="353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4" name="Equation" r:id="rId3" imgW="2412720" imgH="1104840" progId="Equation.DSMT4">
                  <p:embed/>
                </p:oleObj>
              </mc:Choice>
              <mc:Fallback>
                <p:oleObj name="Equation" r:id="rId3" imgW="2412720" imgH="11048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12788" y="1663700"/>
                        <a:ext cx="7720012" cy="35321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18421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&lt;</a:t>
            </a:r>
            <a:r>
              <a:rPr lang="ja-JP" altLang="en-US" dirty="0" smtClean="0"/>
              <a:t>証明</a:t>
            </a:r>
            <a:r>
              <a:rPr lang="en-US" altLang="ja-JP" dirty="0" smtClean="0"/>
              <a:t>&gt;</a:t>
            </a:r>
          </a:p>
          <a:p>
            <a:r>
              <a:rPr kumimoji="1" lang="ja-JP" altLang="en-US" dirty="0" smtClean="0"/>
              <a:t>よって</a:t>
            </a:r>
            <a:endParaRPr kumimoji="1"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lang="en-US" altLang="ja-JP" dirty="0"/>
          </a:p>
          <a:p>
            <a:r>
              <a:rPr kumimoji="1" lang="ja-JP" altLang="en-US" dirty="0" smtClean="0"/>
              <a:t>ここで，上式は以下の最小化問題と等価である．</a:t>
            </a:r>
            <a:endParaRPr kumimoji="1"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dirty="0"/>
              <a:t>の学習原理</a:t>
            </a:r>
          </a:p>
        </p:txBody>
      </p:sp>
      <p:graphicFrame>
        <p:nvGraphicFramePr>
          <p:cNvPr id="8" name="オブジェクト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8658040"/>
              </p:ext>
            </p:extLst>
          </p:nvPr>
        </p:nvGraphicFramePr>
        <p:xfrm>
          <a:off x="1097756" y="2389188"/>
          <a:ext cx="6948488" cy="2638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2" name="Equation" r:id="rId3" imgW="2171520" imgH="825480" progId="Equation.DSMT4">
                  <p:embed/>
                </p:oleObj>
              </mc:Choice>
              <mc:Fallback>
                <p:oleObj name="Equation" r:id="rId3" imgW="2171520" imgH="825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97756" y="2389188"/>
                        <a:ext cx="6948488" cy="2638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オブジェクト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2504913"/>
              </p:ext>
            </p:extLst>
          </p:nvPr>
        </p:nvGraphicFramePr>
        <p:xfrm>
          <a:off x="589392" y="5518150"/>
          <a:ext cx="7965216" cy="12801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3" name="Equation" r:id="rId5" imgW="2844720" imgH="457200" progId="Equation.DSMT4">
                  <p:embed/>
                </p:oleObj>
              </mc:Choice>
              <mc:Fallback>
                <p:oleObj name="Equation" r:id="rId5" imgW="2844720" imgH="457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89392" y="5518150"/>
                        <a:ext cx="7965216" cy="12801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18555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&lt;</a:t>
            </a:r>
            <a:r>
              <a:rPr lang="ja-JP" altLang="en-US" dirty="0" smtClean="0"/>
              <a:t>証明</a:t>
            </a:r>
            <a:r>
              <a:rPr lang="en-US" altLang="ja-JP" dirty="0" smtClean="0"/>
              <a:t>&gt;</a:t>
            </a:r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dirty="0"/>
              <a:t>の学習原理</a:t>
            </a:r>
          </a:p>
        </p:txBody>
      </p:sp>
      <p:graphicFrame>
        <p:nvGraphicFramePr>
          <p:cNvPr id="9" name="オブジェクト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7152637"/>
              </p:ext>
            </p:extLst>
          </p:nvPr>
        </p:nvGraphicFramePr>
        <p:xfrm>
          <a:off x="482600" y="2070100"/>
          <a:ext cx="8178800" cy="2309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1" name="Equation" r:id="rId3" imgW="2920680" imgH="825480" progId="Equation.DSMT4">
                  <p:embed/>
                </p:oleObj>
              </mc:Choice>
              <mc:Fallback>
                <p:oleObj name="Equation" r:id="rId3" imgW="2920680" imgH="825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82600" y="2070100"/>
                        <a:ext cx="8178800" cy="2309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27905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</a:t>
            </a:r>
            <a:r>
              <a:rPr lang="ja-JP" altLang="en-US" dirty="0"/>
              <a:t>手法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MO-MFEA-II</a:t>
            </a:r>
            <a:endParaRPr lang="ja-JP" altLang="en-US" dirty="0"/>
          </a:p>
        </p:txBody>
      </p:sp>
      <p:sp>
        <p:nvSpPr>
          <p:cNvPr id="6" name="角丸四角形 5"/>
          <p:cNvSpPr/>
          <p:nvPr/>
        </p:nvSpPr>
        <p:spPr>
          <a:xfrm>
            <a:off x="3595914" y="1358881"/>
            <a:ext cx="1536700" cy="438918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 dirty="0">
                <a:solidFill>
                  <a:schemeClr val="tx1"/>
                </a:solidFill>
              </a:rPr>
              <a:t>初期化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3418114" y="4343895"/>
            <a:ext cx="1892300" cy="438918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 dirty="0" smtClean="0">
                <a:solidFill>
                  <a:schemeClr val="tx1"/>
                </a:solidFill>
              </a:rPr>
              <a:t>個体評価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2846614" y="2331849"/>
            <a:ext cx="3035300" cy="438918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 dirty="0" smtClean="0">
                <a:solidFill>
                  <a:schemeClr val="tx1"/>
                </a:solidFill>
              </a:rPr>
              <a:t>確率モデル生成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3327689" y="3002531"/>
            <a:ext cx="2073151" cy="438918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800" i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sz="2800" dirty="0" smtClean="0">
                <a:solidFill>
                  <a:schemeClr val="tx1"/>
                </a:solidFill>
              </a:rPr>
              <a:t>学習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3219423" y="3673213"/>
            <a:ext cx="2289683" cy="438918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 dirty="0" smtClean="0">
                <a:solidFill>
                  <a:schemeClr val="tx1"/>
                </a:solidFill>
              </a:rPr>
              <a:t>子個体生成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3418114" y="5014576"/>
            <a:ext cx="1892300" cy="438918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800" dirty="0" smtClean="0">
                <a:solidFill>
                  <a:schemeClr val="tx1"/>
                </a:solidFill>
              </a:rPr>
              <a:t>環境選択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12" name="フローチャート: 判断 11"/>
          <p:cNvSpPr/>
          <p:nvPr/>
        </p:nvSpPr>
        <p:spPr>
          <a:xfrm>
            <a:off x="2607306" y="5690545"/>
            <a:ext cx="3513916" cy="789359"/>
          </a:xfrm>
          <a:prstGeom prst="flowChartDecisio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 smtClean="0">
                <a:solidFill>
                  <a:schemeClr val="tx1"/>
                </a:solidFill>
              </a:rPr>
              <a:t>終了条件</a:t>
            </a:r>
            <a:endParaRPr kumimoji="1" lang="ja-JP" altLang="en-US" sz="2800" dirty="0">
              <a:solidFill>
                <a:schemeClr val="tx1"/>
              </a:solidFill>
            </a:endParaRPr>
          </a:p>
        </p:txBody>
      </p:sp>
      <p:cxnSp>
        <p:nvCxnSpPr>
          <p:cNvPr id="21" name="直線コネクタ 20"/>
          <p:cNvCxnSpPr>
            <a:stCxn id="6" idx="2"/>
            <a:endCxn id="8" idx="0"/>
          </p:cNvCxnSpPr>
          <p:nvPr/>
        </p:nvCxnSpPr>
        <p:spPr>
          <a:xfrm>
            <a:off x="4364264" y="1797799"/>
            <a:ext cx="0" cy="534050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/>
          <p:cNvCxnSpPr>
            <a:stCxn id="8" idx="2"/>
            <a:endCxn id="9" idx="0"/>
          </p:cNvCxnSpPr>
          <p:nvPr/>
        </p:nvCxnSpPr>
        <p:spPr>
          <a:xfrm>
            <a:off x="4364264" y="2770767"/>
            <a:ext cx="1" cy="231764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/>
          <p:cNvCxnSpPr>
            <a:stCxn id="9" idx="2"/>
            <a:endCxn id="10" idx="0"/>
          </p:cNvCxnSpPr>
          <p:nvPr/>
        </p:nvCxnSpPr>
        <p:spPr>
          <a:xfrm>
            <a:off x="4364265" y="3441449"/>
            <a:ext cx="0" cy="231764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/>
          <p:cNvCxnSpPr>
            <a:stCxn id="10" idx="2"/>
            <a:endCxn id="7" idx="0"/>
          </p:cNvCxnSpPr>
          <p:nvPr/>
        </p:nvCxnSpPr>
        <p:spPr>
          <a:xfrm flipH="1">
            <a:off x="4364264" y="4112131"/>
            <a:ext cx="1" cy="231764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/>
          <p:cNvCxnSpPr>
            <a:stCxn id="11" idx="2"/>
            <a:endCxn id="12" idx="0"/>
          </p:cNvCxnSpPr>
          <p:nvPr/>
        </p:nvCxnSpPr>
        <p:spPr>
          <a:xfrm>
            <a:off x="4364264" y="5453494"/>
            <a:ext cx="0" cy="237051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/>
          <p:cNvCxnSpPr>
            <a:stCxn id="12" idx="2"/>
          </p:cNvCxnSpPr>
          <p:nvPr/>
        </p:nvCxnSpPr>
        <p:spPr>
          <a:xfrm>
            <a:off x="4364264" y="6479904"/>
            <a:ext cx="0" cy="32570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フリーフォーム 34"/>
          <p:cNvSpPr/>
          <p:nvPr/>
        </p:nvSpPr>
        <p:spPr>
          <a:xfrm>
            <a:off x="4358841" y="2070953"/>
            <a:ext cx="2639778" cy="4023875"/>
          </a:xfrm>
          <a:custGeom>
            <a:avLst/>
            <a:gdLst>
              <a:gd name="connsiteX0" fmla="*/ 1716259 w 3038622"/>
              <a:gd name="connsiteY0" fmla="*/ 3924886 h 3924886"/>
              <a:gd name="connsiteX1" fmla="*/ 3038622 w 3038622"/>
              <a:gd name="connsiteY1" fmla="*/ 3924886 h 3924886"/>
              <a:gd name="connsiteX2" fmla="*/ 3038622 w 3038622"/>
              <a:gd name="connsiteY2" fmla="*/ 0 h 3924886"/>
              <a:gd name="connsiteX3" fmla="*/ 0 w 3038622"/>
              <a:gd name="connsiteY3" fmla="*/ 0 h 3924886"/>
              <a:gd name="connsiteX0" fmla="*/ 2100526 w 3038622"/>
              <a:gd name="connsiteY0" fmla="*/ 3924886 h 3924886"/>
              <a:gd name="connsiteX1" fmla="*/ 3038622 w 3038622"/>
              <a:gd name="connsiteY1" fmla="*/ 3924886 h 3924886"/>
              <a:gd name="connsiteX2" fmla="*/ 3038622 w 3038622"/>
              <a:gd name="connsiteY2" fmla="*/ 0 h 3924886"/>
              <a:gd name="connsiteX3" fmla="*/ 0 w 3038622"/>
              <a:gd name="connsiteY3" fmla="*/ 0 h 3924886"/>
              <a:gd name="connsiteX0" fmla="*/ 2100526 w 3038622"/>
              <a:gd name="connsiteY0" fmla="*/ 3924886 h 3928319"/>
              <a:gd name="connsiteX1" fmla="*/ 2046181 w 3038622"/>
              <a:gd name="connsiteY1" fmla="*/ 3928319 h 3928319"/>
              <a:gd name="connsiteX2" fmla="*/ 3038622 w 3038622"/>
              <a:gd name="connsiteY2" fmla="*/ 3924886 h 3928319"/>
              <a:gd name="connsiteX3" fmla="*/ 3038622 w 3038622"/>
              <a:gd name="connsiteY3" fmla="*/ 0 h 3928319"/>
              <a:gd name="connsiteX4" fmla="*/ 0 w 3038622"/>
              <a:gd name="connsiteY4" fmla="*/ 0 h 3928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38622" h="3928319">
                <a:moveTo>
                  <a:pt x="2100526" y="3924886"/>
                </a:moveTo>
                <a:lnTo>
                  <a:pt x="2046181" y="3928319"/>
                </a:lnTo>
                <a:lnTo>
                  <a:pt x="3038622" y="3924886"/>
                </a:lnTo>
                <a:lnTo>
                  <a:pt x="3038622" y="0"/>
                </a:lnTo>
                <a:lnTo>
                  <a:pt x="0" y="0"/>
                </a:lnTo>
              </a:path>
            </a:pathLst>
          </a:custGeom>
          <a:noFill/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4785543" y="6328542"/>
            <a:ext cx="91440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Yes</a:t>
            </a:r>
            <a:endParaRPr kumimoji="1" lang="ja-JP" altLang="en-US" sz="2800" dirty="0" smtClean="0"/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5881914" y="5493744"/>
            <a:ext cx="91440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N</a:t>
            </a:r>
            <a:r>
              <a:rPr lang="en-US" altLang="ja-JP" sz="2800" dirty="0"/>
              <a:t>o</a:t>
            </a:r>
            <a:endParaRPr kumimoji="1" lang="ja-JP" altLang="en-US" sz="2800" dirty="0" smtClean="0"/>
          </a:p>
        </p:txBody>
      </p:sp>
      <p:cxnSp>
        <p:nvCxnSpPr>
          <p:cNvPr id="50" name="直線コネクタ 49"/>
          <p:cNvCxnSpPr>
            <a:stCxn id="7" idx="2"/>
            <a:endCxn id="11" idx="0"/>
          </p:cNvCxnSpPr>
          <p:nvPr/>
        </p:nvCxnSpPr>
        <p:spPr>
          <a:xfrm>
            <a:off x="4364264" y="4782813"/>
            <a:ext cx="0" cy="231763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754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最適化問題として，</a:t>
            </a:r>
            <a:r>
              <a:rPr kumimoji="1" lang="en-US" altLang="ja-JP" dirty="0" smtClean="0"/>
              <a:t>5</a:t>
            </a:r>
            <a:r>
              <a:rPr kumimoji="1" lang="ja-JP" altLang="en-US" dirty="0" err="1" smtClean="0"/>
              <a:t>つの</a:t>
            </a:r>
            <a:r>
              <a:rPr kumimoji="1" lang="ja-JP" altLang="en-US" dirty="0" smtClean="0"/>
              <a:t>実数値の関数最適化を行う．</a:t>
            </a:r>
            <a:endParaRPr kumimoji="1" lang="ja-JP" altLang="en-US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関数最適化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447793" y="2622714"/>
            <a:ext cx="2869780" cy="57859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タスク間の類似度</a:t>
            </a:r>
          </a:p>
        </p:txBody>
      </p:sp>
      <p:graphicFrame>
        <p:nvGraphicFramePr>
          <p:cNvPr id="7" name="表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80235"/>
              </p:ext>
            </p:extLst>
          </p:nvPr>
        </p:nvGraphicFramePr>
        <p:xfrm>
          <a:off x="557823" y="3201310"/>
          <a:ext cx="6725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173480"/>
                <a:gridCol w="1173480"/>
                <a:gridCol w="1173480"/>
                <a:gridCol w="1173480"/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="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1</a:t>
                      </a:r>
                      <a:endParaRPr kumimoji="1" lang="ja-JP" altLang="en-US" sz="2800" b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="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2</a:t>
                      </a:r>
                      <a:endParaRPr kumimoji="1" lang="ja-JP" altLang="en-US" sz="2800" b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="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3</a:t>
                      </a:r>
                      <a:endParaRPr kumimoji="1" lang="ja-JP" altLang="en-US" sz="2800" b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="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4</a:t>
                      </a:r>
                      <a:endParaRPr kumimoji="1" lang="ja-JP" altLang="en-US" sz="2800" b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="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5</a:t>
                      </a:r>
                      <a:endParaRPr kumimoji="1" lang="ja-JP" altLang="en-US" sz="2800" b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1"/>
                          </a:solidFill>
                        </a:rPr>
                        <a:t>0.970</a:t>
                      </a:r>
                      <a:endParaRPr kumimoji="1" lang="ja-JP" altLang="en-US" sz="2800" dirty="0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5"/>
                          </a:solidFill>
                        </a:rPr>
                        <a:t>0.298</a:t>
                      </a:r>
                      <a:endParaRPr kumimoji="1" lang="ja-JP" altLang="en-US" sz="2800" dirty="0">
                        <a:solidFill>
                          <a:schemeClr val="accent5"/>
                        </a:solidFill>
                      </a:endParaRPr>
                    </a:p>
                  </a:txBody>
                  <a:tcP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5"/>
                          </a:solidFill>
                        </a:rPr>
                        <a:t>0.778</a:t>
                      </a:r>
                      <a:endParaRPr kumimoji="1" lang="ja-JP" altLang="en-US" sz="2800" dirty="0">
                        <a:solidFill>
                          <a:schemeClr val="accent5"/>
                        </a:solidFill>
                      </a:endParaRPr>
                    </a:p>
                  </a:txBody>
                  <a:tcP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5"/>
                          </a:solidFill>
                        </a:rPr>
                        <a:t>0.402</a:t>
                      </a:r>
                      <a:endParaRPr kumimoji="1" lang="ja-JP" altLang="en-US" sz="2800" dirty="0">
                        <a:solidFill>
                          <a:schemeClr val="accent5"/>
                        </a:solidFill>
                      </a:endParaRPr>
                    </a:p>
                  </a:txBody>
                  <a:tcP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2</a:t>
                      </a:r>
                      <a:endParaRPr kumimoji="1" lang="ja-JP" altLang="en-US" sz="280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5"/>
                          </a:solidFill>
                        </a:rPr>
                        <a:t>0.299</a:t>
                      </a:r>
                      <a:endParaRPr kumimoji="1" lang="ja-JP" altLang="en-US" sz="2800" dirty="0">
                        <a:solidFill>
                          <a:schemeClr val="accent5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5"/>
                          </a:solidFill>
                        </a:rPr>
                        <a:t>0.753</a:t>
                      </a:r>
                      <a:endParaRPr kumimoji="1" lang="ja-JP" altLang="en-US" sz="2800" dirty="0">
                        <a:solidFill>
                          <a:schemeClr val="accent5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5"/>
                          </a:solidFill>
                        </a:rPr>
                        <a:t>0.391</a:t>
                      </a:r>
                      <a:endParaRPr kumimoji="1" lang="ja-JP" altLang="en-US" sz="2800" dirty="0">
                        <a:solidFill>
                          <a:schemeClr val="accent5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3</a:t>
                      </a:r>
                      <a:endParaRPr kumimoji="1" lang="ja-JP" altLang="en-US" sz="280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2"/>
                          </a:solidFill>
                        </a:rPr>
                        <a:t>0.080</a:t>
                      </a:r>
                      <a:endParaRPr kumimoji="1" lang="ja-JP" alt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2"/>
                          </a:solidFill>
                        </a:rPr>
                        <a:t>0.130</a:t>
                      </a:r>
                      <a:endParaRPr kumimoji="1" lang="ja-JP" alt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4</a:t>
                      </a:r>
                      <a:endParaRPr kumimoji="1" lang="ja-JP" altLang="en-US" sz="280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accent1"/>
                          </a:solidFill>
                        </a:rPr>
                        <a:t>0.817</a:t>
                      </a:r>
                      <a:endParaRPr kumimoji="1" lang="ja-JP" altLang="en-US" sz="2800" dirty="0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5</a:t>
                      </a:r>
                      <a:endParaRPr kumimoji="1" lang="ja-JP" altLang="en-US" sz="280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-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" name="テキスト ボックス 7"/>
          <p:cNvSpPr txBox="1"/>
          <p:nvPr/>
        </p:nvSpPr>
        <p:spPr>
          <a:xfrm>
            <a:off x="7489823" y="2587077"/>
            <a:ext cx="1444580" cy="1200329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 smtClean="0">
                <a:solidFill>
                  <a:schemeClr val="accent1"/>
                </a:solidFill>
              </a:rPr>
              <a:t>赤字</a:t>
            </a:r>
            <a:r>
              <a:rPr lang="en-US" altLang="ja-JP" sz="2400" dirty="0" smtClean="0"/>
              <a:t>:</a:t>
            </a:r>
            <a:r>
              <a:rPr lang="ja-JP" altLang="en-US" sz="2400" dirty="0" smtClean="0"/>
              <a:t> </a:t>
            </a:r>
            <a:r>
              <a:rPr lang="en-US" altLang="ja-JP" sz="2400" dirty="0" smtClean="0"/>
              <a:t>HS</a:t>
            </a:r>
          </a:p>
          <a:p>
            <a:r>
              <a:rPr lang="ja-JP" altLang="en-US" sz="2400" dirty="0" smtClean="0">
                <a:solidFill>
                  <a:schemeClr val="accent5"/>
                </a:solidFill>
              </a:rPr>
              <a:t>緑</a:t>
            </a:r>
            <a:r>
              <a:rPr kumimoji="1" lang="ja-JP" altLang="en-US" sz="2400" dirty="0" smtClean="0">
                <a:solidFill>
                  <a:schemeClr val="accent5"/>
                </a:solidFill>
              </a:rPr>
              <a:t>字</a:t>
            </a:r>
            <a:r>
              <a:rPr kumimoji="1" lang="en-US" altLang="ja-JP" sz="2400" dirty="0" smtClean="0"/>
              <a:t>:</a:t>
            </a:r>
            <a:r>
              <a:rPr kumimoji="1" lang="ja-JP" altLang="en-US" sz="2400" dirty="0" smtClean="0"/>
              <a:t> </a:t>
            </a:r>
            <a:r>
              <a:rPr kumimoji="1" lang="en-US" altLang="ja-JP" sz="2400" dirty="0" smtClean="0"/>
              <a:t>MS</a:t>
            </a:r>
          </a:p>
          <a:p>
            <a:r>
              <a:rPr lang="ja-JP" altLang="en-US" sz="2400" dirty="0">
                <a:solidFill>
                  <a:schemeClr val="accent2"/>
                </a:solidFill>
              </a:rPr>
              <a:t>青</a:t>
            </a:r>
            <a:r>
              <a:rPr lang="ja-JP" altLang="en-US" sz="2400" dirty="0" smtClean="0">
                <a:solidFill>
                  <a:schemeClr val="accent2"/>
                </a:solidFill>
              </a:rPr>
              <a:t>字</a:t>
            </a:r>
            <a:r>
              <a:rPr lang="en-US" altLang="ja-JP" sz="2400" dirty="0" smtClean="0"/>
              <a:t>:</a:t>
            </a:r>
            <a:r>
              <a:rPr lang="ja-JP" altLang="en-US" sz="2400" dirty="0" smtClean="0"/>
              <a:t> </a:t>
            </a:r>
            <a:r>
              <a:rPr lang="en-US" altLang="ja-JP" sz="2400" dirty="0" smtClean="0"/>
              <a:t>LS</a:t>
            </a:r>
            <a:endParaRPr kumimoji="1" lang="en-US" altLang="ja-JP" sz="2400" dirty="0" smtClean="0"/>
          </a:p>
        </p:txBody>
      </p:sp>
    </p:spTree>
    <p:extLst>
      <p:ext uri="{BB962C8B-B14F-4D97-AF65-F5344CB8AC3E}">
        <p14:creationId xmlns:p14="http://schemas.microsoft.com/office/powerpoint/2010/main" val="240942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比較手法</a:t>
            </a:r>
            <a:endParaRPr lang="en-US" altLang="ja-JP" dirty="0"/>
          </a:p>
          <a:p>
            <a:pPr algn="l"/>
            <a:r>
              <a:rPr lang="ja-JP" altLang="en-US" dirty="0" smtClean="0"/>
              <a:t>・</a:t>
            </a:r>
            <a:r>
              <a:rPr lang="en-US" altLang="ja-JP" dirty="0" smtClean="0"/>
              <a:t>MO-MFEA(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lang="ja-JP" alt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dirty="0" smtClean="0"/>
              <a:t>＝｛</a:t>
            </a:r>
            <a:r>
              <a:rPr lang="en-US" altLang="ja-JP" dirty="0" smtClean="0"/>
              <a:t>0.3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0.6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0.9</a:t>
            </a:r>
            <a:r>
              <a:rPr lang="ja-JP" altLang="en-US" dirty="0" smtClean="0"/>
              <a:t>｝</a:t>
            </a:r>
            <a:r>
              <a:rPr lang="en-US" altLang="ja-JP" dirty="0" smtClean="0"/>
              <a:t>)</a:t>
            </a:r>
            <a:br>
              <a:rPr lang="en-US" altLang="ja-JP" dirty="0" smtClean="0"/>
            </a:br>
            <a:r>
              <a:rPr lang="ja-JP" altLang="en-US" dirty="0" smtClean="0"/>
              <a:t>・</a:t>
            </a:r>
            <a:r>
              <a:rPr lang="en-US" altLang="ja-JP" dirty="0" smtClean="0"/>
              <a:t>NSGA-II</a:t>
            </a:r>
            <a:br>
              <a:rPr lang="en-US" altLang="ja-JP" dirty="0" smtClean="0"/>
            </a:br>
            <a:r>
              <a:rPr lang="ja-JP" altLang="en-US" dirty="0" smtClean="0"/>
              <a:t>・</a:t>
            </a:r>
            <a:r>
              <a:rPr lang="en-US" altLang="ja-JP" dirty="0" smtClean="0"/>
              <a:t>EMEA(</a:t>
            </a:r>
            <a:r>
              <a:rPr lang="en-US" altLang="ja-JP" sz="2400" dirty="0" smtClean="0"/>
              <a:t>evolutionary</a:t>
            </a:r>
            <a:r>
              <a:rPr lang="ja-JP" altLang="en-US" sz="2400" dirty="0" smtClean="0"/>
              <a:t> </a:t>
            </a:r>
            <a:r>
              <a:rPr lang="en-US" altLang="ja-JP" sz="2400" dirty="0" smtClean="0"/>
              <a:t>multitasking </a:t>
            </a:r>
            <a:r>
              <a:rPr lang="en-US" altLang="ja-JP" sz="2400" dirty="0"/>
              <a:t>via explicit </a:t>
            </a:r>
            <a:r>
              <a:rPr lang="en-US" altLang="ja-JP" sz="2400" dirty="0" err="1" smtClean="0"/>
              <a:t>autoencoding</a:t>
            </a:r>
            <a:r>
              <a:rPr lang="en-US" altLang="ja-JP" dirty="0" smtClean="0"/>
              <a:t>)</a:t>
            </a:r>
          </a:p>
          <a:p>
            <a:pPr algn="l"/>
            <a:r>
              <a:rPr lang="ja-JP" altLang="en-US" dirty="0"/>
              <a:t>個体群サイズ：</a:t>
            </a:r>
            <a:r>
              <a:rPr lang="en-US" altLang="ja-JP" dirty="0"/>
              <a:t>50</a:t>
            </a:r>
            <a:r>
              <a:rPr lang="ja-JP" altLang="en-US" dirty="0"/>
              <a:t>個体</a:t>
            </a:r>
            <a:r>
              <a:rPr lang="en-US" altLang="ja-JP" dirty="0"/>
              <a:t>(</a:t>
            </a:r>
            <a:r>
              <a:rPr lang="ja-JP" altLang="en-US" dirty="0"/>
              <a:t>タスク毎</a:t>
            </a:r>
            <a:r>
              <a:rPr lang="en-US" altLang="ja-JP" dirty="0"/>
              <a:t>)</a:t>
            </a:r>
            <a:br>
              <a:rPr lang="en-US" altLang="ja-JP" dirty="0"/>
            </a:br>
            <a:r>
              <a:rPr lang="ja-JP" altLang="en-US" dirty="0"/>
              <a:t>世代数：</a:t>
            </a:r>
            <a:r>
              <a:rPr lang="en-US" altLang="ja-JP" dirty="0"/>
              <a:t>250</a:t>
            </a:r>
            <a:r>
              <a:rPr lang="ja-JP" altLang="en-US" dirty="0"/>
              <a:t>世代</a:t>
            </a:r>
            <a:endParaRPr lang="en-US" altLang="ja-JP" dirty="0"/>
          </a:p>
          <a:p>
            <a:pPr algn="l"/>
            <a:r>
              <a:rPr lang="ja-JP" altLang="en-US" dirty="0" smtClean="0"/>
              <a:t>交叉</a:t>
            </a:r>
            <a:r>
              <a:rPr lang="ja-JP" altLang="en-US" dirty="0"/>
              <a:t>操作：</a:t>
            </a:r>
            <a:r>
              <a:rPr lang="en-US" altLang="ja-JP" dirty="0"/>
              <a:t>SBX</a:t>
            </a:r>
            <a:r>
              <a:rPr lang="ja-JP" altLang="en-US" dirty="0"/>
              <a:t> </a:t>
            </a:r>
            <a:r>
              <a:rPr lang="en-US" altLang="ja-JP" dirty="0"/>
              <a:t>(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ja-JP" dirty="0"/>
              <a:t> = 1,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</a:t>
            </a:r>
            <a:r>
              <a:rPr lang="en-US" altLang="ja-JP" dirty="0"/>
              <a:t> = </a:t>
            </a:r>
            <a:r>
              <a:rPr lang="en-US" altLang="ja-JP" dirty="0" smtClean="0"/>
              <a:t>10)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突然変異操作：</a:t>
            </a:r>
            <a:r>
              <a:rPr lang="en-US" altLang="ja-JP" dirty="0"/>
              <a:t>PM (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ja-JP" dirty="0"/>
              <a:t> = 1 /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ja-JP" dirty="0">
                <a:cs typeface="Times New Roman" panose="02020603050405020304" pitchFamily="18" charset="0"/>
              </a:rPr>
              <a:t>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 </a:t>
            </a:r>
            <a:r>
              <a:rPr lang="en-US" altLang="ja-JP" dirty="0"/>
              <a:t>= </a:t>
            </a:r>
            <a:r>
              <a:rPr lang="en-US" altLang="ja-JP" dirty="0" smtClean="0"/>
              <a:t>10)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確率分布モデル</a:t>
            </a:r>
            <a:r>
              <a:rPr lang="ja-JP" altLang="en-US" dirty="0" smtClean="0"/>
              <a:t>：</a:t>
            </a:r>
            <a:r>
              <a:rPr lang="en-US" altLang="ja-JP" dirty="0" smtClean="0"/>
              <a:t>normal </a:t>
            </a:r>
            <a:r>
              <a:rPr lang="en-US" altLang="ja-JP" dirty="0"/>
              <a:t>distribution</a:t>
            </a:r>
            <a:br>
              <a:rPr lang="en-US" altLang="ja-JP" dirty="0"/>
            </a:br>
            <a:r>
              <a:rPr lang="ja-JP" altLang="en-US" dirty="0"/>
              <a:t>試行回数：</a:t>
            </a:r>
            <a:r>
              <a:rPr lang="en-US" altLang="ja-JP" dirty="0"/>
              <a:t>30</a:t>
            </a:r>
            <a:r>
              <a:rPr lang="ja-JP" altLang="en-US" dirty="0" smtClean="0"/>
              <a:t>回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88801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IGD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と</a:t>
            </a:r>
            <a:r>
              <a:rPr lang="en-US" altLang="ja-JP" dirty="0" smtClean="0"/>
              <a:t>MO-MFEA-II</a:t>
            </a:r>
            <a:r>
              <a:rPr lang="ja-JP" altLang="en-US" dirty="0" smtClean="0"/>
              <a:t>が優れている．</a:t>
            </a:r>
            <a:endParaRPr lang="en-US" altLang="ja-JP" dirty="0" smtClean="0"/>
          </a:p>
          <a:p>
            <a:r>
              <a:rPr kumimoji="1"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rmp</a:t>
            </a:r>
            <a:r>
              <a:rPr kumimoji="1" lang="ja-JP" altLang="en-US" dirty="0" smtClean="0"/>
              <a:t>の値によって性能が変化している．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CI-HS(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baseline="-25000" dirty="0" smtClean="0"/>
              <a:t>1</a:t>
            </a:r>
            <a:r>
              <a:rPr kumimoji="1" lang="ja-JP" altLang="en-US" dirty="0" smtClean="0"/>
              <a:t>＆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baseline="-25000" dirty="0" smtClean="0"/>
              <a:t>2</a:t>
            </a:r>
            <a:r>
              <a:rPr kumimoji="1" lang="ja-JP" altLang="en-US" dirty="0" smtClean="0"/>
              <a:t>のみで実行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65906" y="2025748"/>
            <a:ext cx="7412188" cy="35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660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ja-JP" altLang="en-US" dirty="0" smtClean="0"/>
              <a:t>類似度に応じた値になっている．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23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CI-HS(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baseline="-25000" dirty="0" smtClean="0"/>
              <a:t>1</a:t>
            </a:r>
            <a:r>
              <a:rPr kumimoji="1" lang="ja-JP" altLang="en-US" dirty="0" smtClean="0"/>
              <a:t>＆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baseline="-25000" dirty="0" smtClean="0"/>
              <a:t>2</a:t>
            </a:r>
            <a:r>
              <a:rPr kumimoji="1" lang="ja-JP" altLang="en-US" dirty="0" smtClean="0"/>
              <a:t>のみで実行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pic>
        <p:nvPicPr>
          <p:cNvPr id="7" name="図 6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97811" y="1839686"/>
            <a:ext cx="4348377" cy="424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08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IGD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r>
              <a:rPr lang="en-US" altLang="ja-JP" dirty="0" smtClean="0"/>
              <a:t>MO-MFEA-II</a:t>
            </a:r>
            <a:r>
              <a:rPr lang="ja-JP" altLang="en-US" dirty="0" smtClean="0"/>
              <a:t>の性能が優れている．</a:t>
            </a:r>
            <a:endParaRPr lang="en-US" altLang="ja-JP" dirty="0" smtClean="0"/>
          </a:p>
          <a:p>
            <a:r>
              <a:rPr kumimoji="1" lang="en-US" altLang="ja-JP" dirty="0" smtClean="0">
                <a:cs typeface="Times New Roman" panose="02020603050405020304" pitchFamily="18" charset="0"/>
              </a:rPr>
              <a:t>MO-MFEA</a:t>
            </a:r>
            <a:r>
              <a:rPr kumimoji="1" lang="ja-JP" alt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ja-JP" dirty="0" smtClean="0">
                <a:cs typeface="Times New Roman" panose="02020603050405020304" pitchFamily="18" charset="0"/>
              </a:rPr>
              <a:t>EMEA</a:t>
            </a:r>
            <a:r>
              <a:rPr kumimoji="1" lang="ja-JP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では情報共有で性能が低下</a:t>
            </a:r>
            <a:r>
              <a:rPr kumimoji="1" lang="ja-JP" altLang="en-US" dirty="0" smtClean="0"/>
              <a:t>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N</a:t>
            </a:r>
            <a:r>
              <a:rPr kumimoji="1" lang="en-US" altLang="ja-JP" dirty="0" smtClean="0"/>
              <a:t>I-LS(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baseline="-25000" dirty="0" smtClean="0"/>
              <a:t>3</a:t>
            </a:r>
            <a:r>
              <a:rPr kumimoji="1" lang="ja-JP" altLang="en-US" dirty="0" smtClean="0"/>
              <a:t>＆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baseline="-25000" dirty="0"/>
              <a:t>4</a:t>
            </a:r>
            <a:r>
              <a:rPr kumimoji="1" lang="ja-JP" altLang="en-US" dirty="0" smtClean="0"/>
              <a:t>のみで実行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7806" y="1949548"/>
            <a:ext cx="7368753" cy="359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164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ja-JP" altLang="en-US" dirty="0" smtClean="0"/>
              <a:t>類似度に応じた値になっている．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CI-HS(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baseline="-25000" dirty="0" smtClean="0"/>
              <a:t>1</a:t>
            </a:r>
            <a:r>
              <a:rPr kumimoji="1" lang="ja-JP" altLang="en-US" dirty="0" smtClean="0"/>
              <a:t>＆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baseline="-25000" dirty="0" smtClean="0"/>
              <a:t>2</a:t>
            </a:r>
            <a:r>
              <a:rPr kumimoji="1" lang="ja-JP" altLang="en-US" dirty="0" smtClean="0"/>
              <a:t>のみで実行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33409" y="1828115"/>
            <a:ext cx="5677182" cy="436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547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IGD</a:t>
            </a:r>
            <a:r>
              <a:rPr kumimoji="1" lang="ja-JP" altLang="en-US" dirty="0" smtClean="0"/>
              <a:t>の平均値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/>
            </a:r>
            <a:br>
              <a:rPr lang="en-US" altLang="ja-JP" dirty="0"/>
            </a:b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/>
              <a:t/>
            </a:r>
            <a:br>
              <a:rPr lang="en-US" altLang="ja-JP" dirty="0"/>
            </a:b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すべてのタスクで</a:t>
            </a:r>
            <a:r>
              <a:rPr lang="en-US" altLang="ja-JP" dirty="0"/>
              <a:t>MO-MFEA-II</a:t>
            </a:r>
            <a:r>
              <a:rPr lang="ja-JP" altLang="en-US" dirty="0"/>
              <a:t>が優れている．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26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すべてのタスクで最適化</a:t>
            </a:r>
            <a:endParaRPr kumimoji="1" lang="ja-JP" altLang="en-US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250" r="1528"/>
          <a:stretch/>
        </p:blipFill>
        <p:spPr>
          <a:xfrm>
            <a:off x="127000" y="1924509"/>
            <a:ext cx="8890000" cy="3008982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6781800" y="4930391"/>
            <a:ext cx="2371719" cy="46166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 smtClean="0"/>
              <a:t>※</a:t>
            </a:r>
            <a:r>
              <a:rPr kumimoji="1" lang="ja-JP" altLang="en-US" sz="2400" dirty="0" smtClean="0"/>
              <a:t>太字は最良値</a:t>
            </a:r>
          </a:p>
        </p:txBody>
      </p:sp>
    </p:spTree>
    <p:extLst>
      <p:ext uri="{BB962C8B-B14F-4D97-AF65-F5344CB8AC3E}">
        <p14:creationId xmlns:p14="http://schemas.microsoft.com/office/powerpoint/2010/main" val="2632916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IGD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endParaRPr kumimoji="1" lang="en-US" altLang="ja-JP" dirty="0" smtClean="0"/>
          </a:p>
          <a:p>
            <a:endParaRPr kumimoji="1" lang="en-US" altLang="ja-JP" dirty="0" smtClean="0"/>
          </a:p>
          <a:p>
            <a:r>
              <a:rPr lang="ja-JP" altLang="en-US" dirty="0" smtClean="0"/>
              <a:t>すべてのタスクで</a:t>
            </a:r>
            <a:r>
              <a:rPr lang="en-US" altLang="ja-JP" dirty="0" smtClean="0"/>
              <a:t>MO-MFEA-II</a:t>
            </a:r>
            <a:r>
              <a:rPr lang="ja-JP" altLang="en-US" dirty="0" smtClean="0"/>
              <a:t>が優れている．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すべてのタスクで最適化</a:t>
            </a:r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8000" y="1923647"/>
            <a:ext cx="8128000" cy="448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38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無人航空機</a:t>
            </a:r>
            <a:r>
              <a:rPr lang="en-US" altLang="ja-JP" dirty="0" smtClean="0"/>
              <a:t>(</a:t>
            </a:r>
            <a:r>
              <a:rPr lang="ja-JP" altLang="en-US" dirty="0" smtClean="0"/>
              <a:t>ドローン</a:t>
            </a:r>
            <a:r>
              <a:rPr lang="en-US" altLang="ja-JP" dirty="0" smtClean="0"/>
              <a:t>)</a:t>
            </a:r>
            <a:r>
              <a:rPr lang="ja-JP" altLang="en-US" dirty="0" smtClean="0"/>
              <a:t>の</a:t>
            </a:r>
            <a:r>
              <a:rPr lang="ja-JP" altLang="en-US" dirty="0"/>
              <a:t>飛行</a:t>
            </a:r>
            <a:r>
              <a:rPr lang="ja-JP" altLang="en-US" dirty="0" smtClean="0"/>
              <a:t>経路の最適化問題</a:t>
            </a:r>
            <a:endParaRPr lang="en-US" altLang="ja-JP" dirty="0" smtClean="0"/>
          </a:p>
          <a:p>
            <a:r>
              <a:rPr kumimoji="1" lang="ja-JP" altLang="en-US" dirty="0" smtClean="0"/>
              <a:t>本問題の目的は</a:t>
            </a:r>
            <a:r>
              <a:rPr lang="ja-JP" altLang="en-US" dirty="0"/>
              <a:t>，</a:t>
            </a:r>
            <a:r>
              <a:rPr kumimoji="1" lang="ja-JP" altLang="en-US" dirty="0" smtClean="0"/>
              <a:t>リスク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衝突・制御不能等</a:t>
            </a:r>
            <a:r>
              <a:rPr kumimoji="1" lang="en-US" altLang="ja-JP" dirty="0" smtClean="0"/>
              <a:t>)</a:t>
            </a:r>
            <a:r>
              <a:rPr kumimoji="1" lang="ja-JP" altLang="en-US" dirty="0" err="1" smtClean="0"/>
              <a:t>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 smtClean="0"/>
              <a:t>飛行距離</a:t>
            </a:r>
            <a:r>
              <a:rPr kumimoji="1" lang="ja-JP" altLang="en-US" dirty="0" smtClean="0"/>
              <a:t>の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目的最小化</a:t>
            </a:r>
            <a:endParaRPr kumimoji="1" lang="en-US" altLang="ja-JP" dirty="0" smtClean="0"/>
          </a:p>
          <a:p>
            <a:r>
              <a:rPr lang="ja-JP" altLang="en-US" dirty="0" smtClean="0"/>
              <a:t>ステップサイズにより計算コストが変化</a:t>
            </a:r>
            <a:endParaRPr lang="en-US" altLang="ja-JP" dirty="0" smtClean="0"/>
          </a:p>
          <a:p>
            <a:r>
              <a:rPr lang="ja-JP" altLang="en-US" dirty="0"/>
              <a:t>ステップサイズが異なる</a:t>
            </a:r>
            <a:r>
              <a:rPr lang="en-US" altLang="ja-JP" dirty="0"/>
              <a:t>3</a:t>
            </a:r>
            <a:r>
              <a:rPr lang="ja-JP" altLang="en-US" dirty="0" err="1"/>
              <a:t>つの</a:t>
            </a:r>
            <a:r>
              <a:rPr lang="ja-JP" altLang="en-US" dirty="0"/>
              <a:t>タスクを設定．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3500" dirty="0" smtClean="0"/>
              <a:t>Unmanned Aerial Vehicle Path Planning</a:t>
            </a:r>
            <a:endParaRPr kumimoji="1" lang="ja-JP" altLang="en-US" sz="3500" dirty="0"/>
          </a:p>
        </p:txBody>
      </p:sp>
      <p:graphicFrame>
        <p:nvGraphicFramePr>
          <p:cNvPr id="7" name="表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466634"/>
              </p:ext>
            </p:extLst>
          </p:nvPr>
        </p:nvGraphicFramePr>
        <p:xfrm>
          <a:off x="2069783" y="4480560"/>
          <a:ext cx="5004435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430"/>
                <a:gridCol w="245300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タスク名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800" b="0" i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ステップサイズ</a:t>
                      </a:r>
                      <a:endParaRPr kumimoji="1" lang="ja-JP" altLang="en-US" sz="2800" b="0" i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kumimoji="1" lang="en-US" altLang="ja-JP" sz="2800" baseline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kumimoji="1" lang="ja-JP" altLang="en-US" sz="2800" baseline="0" dirty="0" smtClean="0">
                          <a:solidFill>
                            <a:schemeClr val="tx1"/>
                          </a:solidFill>
                        </a:rPr>
                        <a:t>メインタスク</a:t>
                      </a:r>
                      <a:r>
                        <a:rPr kumimoji="1" lang="en-US" altLang="ja-JP" sz="28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500</a:t>
                      </a:r>
                      <a:r>
                        <a:rPr kumimoji="1" lang="ja-JP" altLang="en-US" sz="2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m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2</a:t>
                      </a:r>
                      <a:r>
                        <a:rPr kumimoji="1" lang="en-US" altLang="ja-JP" sz="2800" i="0" baseline="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(</a:t>
                      </a:r>
                      <a:r>
                        <a:rPr kumimoji="1" lang="ja-JP" altLang="en-US" sz="2800" baseline="0" dirty="0" smtClean="0">
                          <a:solidFill>
                            <a:schemeClr val="tx1"/>
                          </a:solidFill>
                        </a:rPr>
                        <a:t>補助タスク</a:t>
                      </a:r>
                      <a:r>
                        <a:rPr kumimoji="1" lang="en-US" altLang="ja-JP" sz="28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750</a:t>
                      </a:r>
                      <a:r>
                        <a:rPr kumimoji="1" lang="ja-JP" altLang="en-US" sz="2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m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3</a:t>
                      </a:r>
                      <a:r>
                        <a:rPr kumimoji="1" lang="en-US" altLang="ja-JP" sz="2800" i="0" baseline="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(</a:t>
                      </a:r>
                      <a:r>
                        <a:rPr kumimoji="1" lang="ja-JP" altLang="en-US" sz="2800" baseline="0" dirty="0" smtClean="0">
                          <a:solidFill>
                            <a:schemeClr val="tx1"/>
                          </a:solidFill>
                        </a:rPr>
                        <a:t>補助タスク</a:t>
                      </a:r>
                      <a:r>
                        <a:rPr kumimoji="1" lang="en-US" altLang="ja-JP" sz="28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1,000</a:t>
                      </a:r>
                      <a:r>
                        <a:rPr kumimoji="1" lang="ja-JP" altLang="en-US" sz="2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m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787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/>
              <a:t>比較</a:t>
            </a:r>
            <a:r>
              <a:rPr lang="ja-JP" altLang="en-US" dirty="0" smtClean="0"/>
              <a:t>手法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・</a:t>
            </a:r>
            <a:r>
              <a:rPr lang="en-US" altLang="ja-JP" dirty="0" smtClean="0"/>
              <a:t>NSGA-II</a:t>
            </a:r>
          </a:p>
          <a:p>
            <a:pPr algn="l"/>
            <a:r>
              <a:rPr lang="ja-JP" altLang="en-US" dirty="0" smtClean="0"/>
              <a:t>個体群サイズ：</a:t>
            </a:r>
            <a:r>
              <a:rPr lang="en-US" altLang="ja-JP" dirty="0" smtClean="0"/>
              <a:t>50</a:t>
            </a:r>
            <a:r>
              <a:rPr lang="ja-JP" altLang="en-US" dirty="0" smtClean="0"/>
              <a:t>個体</a:t>
            </a:r>
            <a:r>
              <a:rPr lang="en-US" altLang="ja-JP" dirty="0" smtClean="0"/>
              <a:t>(</a:t>
            </a:r>
            <a:r>
              <a:rPr lang="ja-JP" altLang="en-US" dirty="0" smtClean="0"/>
              <a:t>タスク毎</a:t>
            </a:r>
            <a:r>
              <a:rPr lang="en-US" altLang="ja-JP" dirty="0" smtClean="0"/>
              <a:t>)</a:t>
            </a:r>
            <a:br>
              <a:rPr lang="en-US" altLang="ja-JP" dirty="0" smtClean="0"/>
            </a:br>
            <a:r>
              <a:rPr lang="ja-JP" altLang="en-US" dirty="0" smtClean="0"/>
              <a:t>世代数：</a:t>
            </a:r>
            <a:r>
              <a:rPr lang="en-US" altLang="ja-JP" dirty="0" smtClean="0"/>
              <a:t>250</a:t>
            </a:r>
            <a:r>
              <a:rPr lang="ja-JP" altLang="en-US" dirty="0"/>
              <a:t>世代</a:t>
            </a:r>
            <a:endParaRPr lang="en-US" altLang="ja-JP" dirty="0" smtClean="0"/>
          </a:p>
          <a:p>
            <a:pPr algn="l"/>
            <a:r>
              <a:rPr lang="ja-JP" altLang="en-US" dirty="0" smtClean="0"/>
              <a:t>交叉</a:t>
            </a:r>
            <a:r>
              <a:rPr lang="ja-JP" altLang="en-US" dirty="0"/>
              <a:t>操作：</a:t>
            </a:r>
            <a:r>
              <a:rPr lang="en-US" altLang="ja-JP" dirty="0"/>
              <a:t>SBX</a:t>
            </a:r>
            <a:r>
              <a:rPr lang="ja-JP" altLang="en-US" dirty="0"/>
              <a:t> </a:t>
            </a:r>
            <a:r>
              <a:rPr lang="en-US" altLang="ja-JP" dirty="0"/>
              <a:t>(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ja-JP" dirty="0"/>
              <a:t> = 1,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</a:t>
            </a:r>
            <a:r>
              <a:rPr lang="en-US" altLang="ja-JP" dirty="0"/>
              <a:t> = </a:t>
            </a:r>
            <a:r>
              <a:rPr lang="en-US" altLang="ja-JP" dirty="0" smtClean="0"/>
              <a:t>10)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突然変異操作：</a:t>
            </a:r>
            <a:r>
              <a:rPr lang="en-US" altLang="ja-JP" dirty="0"/>
              <a:t>PM (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ja-JP" dirty="0"/>
              <a:t> = 1 /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ja-JP" dirty="0">
                <a:cs typeface="Times New Roman" panose="02020603050405020304" pitchFamily="18" charset="0"/>
              </a:rPr>
              <a:t>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 </a:t>
            </a:r>
            <a:r>
              <a:rPr lang="en-US" altLang="ja-JP" dirty="0"/>
              <a:t>= </a:t>
            </a:r>
            <a:r>
              <a:rPr lang="en-US" altLang="ja-JP" dirty="0" smtClean="0"/>
              <a:t>10)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確率分布モデル</a:t>
            </a:r>
            <a:r>
              <a:rPr lang="ja-JP" altLang="en-US" dirty="0" smtClean="0"/>
              <a:t>：</a:t>
            </a:r>
            <a:r>
              <a:rPr lang="en-US" altLang="ja-JP" dirty="0" smtClean="0"/>
              <a:t>normal </a:t>
            </a:r>
            <a:r>
              <a:rPr lang="en-US" altLang="ja-JP" dirty="0"/>
              <a:t>distribution</a:t>
            </a:r>
            <a:br>
              <a:rPr lang="en-US" altLang="ja-JP" dirty="0"/>
            </a:br>
            <a:r>
              <a:rPr lang="ja-JP" altLang="en-US" dirty="0"/>
              <a:t>試行回数</a:t>
            </a:r>
            <a:r>
              <a:rPr lang="ja-JP" altLang="en-US" dirty="0" smtClean="0"/>
              <a:t>：</a:t>
            </a:r>
            <a:r>
              <a:rPr lang="en-US" altLang="ja-JP" dirty="0" smtClean="0"/>
              <a:t>10</a:t>
            </a:r>
            <a:r>
              <a:rPr lang="ja-JP" altLang="en-US" dirty="0" smtClean="0"/>
              <a:t>回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29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5027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 smtClean="0"/>
              <a:t>ステップサイズが異なる</a:t>
            </a:r>
            <a:r>
              <a:rPr lang="en-US" altLang="ja-JP" dirty="0" smtClean="0"/>
              <a:t>3</a:t>
            </a:r>
            <a:r>
              <a:rPr lang="ja-JP" altLang="en-US" dirty="0" err="1" smtClean="0"/>
              <a:t>つの</a:t>
            </a:r>
            <a:r>
              <a:rPr lang="ja-JP" altLang="en-US" dirty="0" smtClean="0"/>
              <a:t>タスクを設定．</a:t>
            </a:r>
            <a:endParaRPr lang="en-US" altLang="ja-JP" dirty="0" smtClean="0"/>
          </a:p>
          <a:p>
            <a:pPr algn="l"/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実験設定</a:t>
            </a:r>
            <a:endParaRPr kumimoji="1" lang="ja-JP" altLang="en-US" dirty="0"/>
          </a:p>
        </p:txBody>
      </p:sp>
      <p:graphicFrame>
        <p:nvGraphicFramePr>
          <p:cNvPr id="6" name="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395094"/>
              </p:ext>
            </p:extLst>
          </p:nvPr>
        </p:nvGraphicFramePr>
        <p:xfrm>
          <a:off x="2049145" y="2477410"/>
          <a:ext cx="512191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8905"/>
                <a:gridCol w="245300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0" dirty="0" smtClean="0">
                          <a:solidFill>
                            <a:schemeClr val="tx1"/>
                          </a:solidFill>
                        </a:rPr>
                        <a:t>タスク名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800" b="0" i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ステップサイズ</a:t>
                      </a:r>
                      <a:endParaRPr kumimoji="1" lang="ja-JP" altLang="en-US" sz="2800" b="0" i="0" baseline="-250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kumimoji="1" lang="ja-JP" altLang="en-US" sz="2800" baseline="0" dirty="0" smtClean="0">
                          <a:solidFill>
                            <a:schemeClr val="tx1"/>
                          </a:solidFill>
                        </a:rPr>
                        <a:t>（メインタスク）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500</a:t>
                      </a:r>
                      <a:r>
                        <a:rPr kumimoji="1" lang="ja-JP" altLang="en-US" sz="2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m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2</a:t>
                      </a:r>
                      <a:r>
                        <a:rPr kumimoji="1" lang="ja-JP" altLang="en-US" sz="2800" baseline="0" dirty="0" smtClean="0">
                          <a:solidFill>
                            <a:schemeClr val="tx1"/>
                          </a:solidFill>
                        </a:rPr>
                        <a:t>（補助タスク）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750</a:t>
                      </a:r>
                      <a:r>
                        <a:rPr kumimoji="1" lang="ja-JP" altLang="en-US" sz="2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m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kumimoji="1" lang="en-US" altLang="ja-JP" sz="2800" i="0" baseline="-25000" dirty="0" smtClean="0">
                          <a:solidFill>
                            <a:schemeClr val="tx1"/>
                          </a:solidFill>
                          <a:latin typeface="+mn-lt"/>
                          <a:cs typeface="+mn-cs"/>
                        </a:rPr>
                        <a:t>3</a:t>
                      </a:r>
                      <a:r>
                        <a:rPr kumimoji="1" lang="ja-JP" altLang="en-US" sz="2800" baseline="0" dirty="0" smtClean="0">
                          <a:solidFill>
                            <a:schemeClr val="tx1"/>
                          </a:solidFill>
                        </a:rPr>
                        <a:t>（補助タスク）</a:t>
                      </a:r>
                      <a:endParaRPr kumimoji="1" lang="ja-JP" altLang="en-US" sz="28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1,000</a:t>
                      </a:r>
                      <a:r>
                        <a:rPr kumimoji="1" lang="ja-JP" altLang="en-US" sz="28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m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5433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実験</a:t>
            </a:r>
            <a:r>
              <a:rPr lang="ja-JP" altLang="en-US" dirty="0"/>
              <a:t>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HV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ja-JP" altLang="en-US" dirty="0" smtClean="0"/>
              <a:t>補助タスクによりメインタスクの収束が高速化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baseline="-25000" dirty="0" smtClean="0"/>
              <a:t>1</a:t>
            </a:r>
            <a:r>
              <a:rPr lang="ja-JP" altLang="en-US" dirty="0"/>
              <a:t>＆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baseline="-25000" dirty="0"/>
              <a:t>3</a:t>
            </a:r>
            <a:r>
              <a:rPr lang="ja-JP" altLang="en-US" dirty="0" smtClean="0"/>
              <a:t>のみで実行</a:t>
            </a:r>
            <a:endParaRPr lang="en-US" altLang="ja-JP" dirty="0" smtClean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28" b="2778"/>
          <a:stretch/>
        </p:blipFill>
        <p:spPr>
          <a:xfrm>
            <a:off x="1905844" y="1803400"/>
            <a:ext cx="5332311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947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HV</a:t>
            </a:r>
            <a:r>
              <a:rPr kumimoji="1" lang="ja-JP" altLang="en-US" dirty="0" smtClean="0"/>
              <a:t>の推移</a:t>
            </a:r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ja-JP" altLang="en-US" dirty="0" smtClean="0"/>
              <a:t>補助タスクの増加でメインタスクの収束が高速化</a:t>
            </a:r>
            <a:endParaRPr kumimoji="1"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実験</a:t>
            </a:r>
            <a:r>
              <a:rPr lang="ja-JP" altLang="en-US" dirty="0"/>
              <a:t>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すべての</a:t>
            </a:r>
            <a:r>
              <a:rPr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タスク</a:t>
            </a:r>
            <a:r>
              <a:rPr lang="ja-JP" altLang="en-US" dirty="0" smtClean="0"/>
              <a:t>で実行</a:t>
            </a:r>
            <a:endParaRPr lang="en-US" altLang="ja-JP" dirty="0" smtClean="0"/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928"/>
          <a:stretch/>
        </p:blipFill>
        <p:spPr>
          <a:xfrm>
            <a:off x="1813769" y="1946920"/>
            <a:ext cx="5452961" cy="4185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819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結論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MO-MFEA</a:t>
            </a:r>
            <a:r>
              <a:rPr lang="ja-JP" altLang="en-US" dirty="0" smtClean="0"/>
              <a:t>に</a:t>
            </a:r>
            <a:r>
              <a:rPr lang="ja-JP" altLang="en-US" dirty="0" smtClean="0">
                <a:solidFill>
                  <a:srgbClr val="FF0000"/>
                </a:solidFill>
              </a:rPr>
              <a:t>タスク間</a:t>
            </a:r>
            <a:r>
              <a:rPr lang="ja-JP" altLang="en-US" dirty="0">
                <a:solidFill>
                  <a:srgbClr val="FF0000"/>
                </a:solidFill>
              </a:rPr>
              <a:t>の</a:t>
            </a:r>
            <a:r>
              <a:rPr lang="ja-JP" altLang="en-US" dirty="0" smtClean="0">
                <a:solidFill>
                  <a:srgbClr val="FF0000"/>
                </a:solidFill>
              </a:rPr>
              <a:t>関係性を</a:t>
            </a:r>
            <a:r>
              <a:rPr lang="ja-JP" altLang="en-US" dirty="0">
                <a:solidFill>
                  <a:srgbClr val="FF0000"/>
                </a:solidFill>
              </a:rPr>
              <a:t>，オンライン</a:t>
            </a:r>
            <a:r>
              <a:rPr lang="ja-JP" altLang="en-US" dirty="0" smtClean="0">
                <a:solidFill>
                  <a:srgbClr val="FF0000"/>
                </a:solidFill>
              </a:rPr>
              <a:t>で</a:t>
            </a:r>
            <a:r>
              <a:rPr lang="en-US" altLang="ja-JP" dirty="0" smtClean="0">
                <a:solidFill>
                  <a:srgbClr val="FF0000"/>
                </a:solidFill>
              </a:rPr>
              <a:t/>
            </a:r>
            <a:br>
              <a:rPr lang="en-US" altLang="ja-JP" dirty="0" smtClean="0">
                <a:solidFill>
                  <a:srgbClr val="FF0000"/>
                </a:solidFill>
              </a:rPr>
            </a:br>
            <a:r>
              <a:rPr lang="ja-JP" altLang="en-US" dirty="0" smtClean="0">
                <a:solidFill>
                  <a:srgbClr val="FF0000"/>
                </a:solidFill>
              </a:rPr>
              <a:t>学習する</a:t>
            </a:r>
            <a:r>
              <a:rPr lang="ja-JP" altLang="en-US" dirty="0" smtClean="0"/>
              <a:t>アルゴリズム</a:t>
            </a:r>
            <a:r>
              <a:rPr lang="ja-JP" altLang="en-US" dirty="0"/>
              <a:t>を</a:t>
            </a:r>
            <a:r>
              <a:rPr lang="ja-JP" altLang="en-US" dirty="0" smtClean="0"/>
              <a:t>組み込んだ</a:t>
            </a:r>
            <a:r>
              <a:rPr lang="en-US" altLang="ja-JP" dirty="0" smtClean="0"/>
              <a:t>MO-MFEA-II</a:t>
            </a:r>
            <a:r>
              <a:rPr lang="ja-JP" altLang="en-US" dirty="0" smtClean="0"/>
              <a:t>を提案</a:t>
            </a:r>
            <a:r>
              <a:rPr lang="ja-JP" altLang="en-US" dirty="0"/>
              <a:t>した．</a:t>
            </a:r>
            <a:endParaRPr lang="en-US" altLang="ja-JP" dirty="0"/>
          </a:p>
          <a:p>
            <a:r>
              <a:rPr lang="ja-JP" altLang="en-US" dirty="0"/>
              <a:t>数値実験において既存のマルチタスク</a:t>
            </a:r>
            <a:r>
              <a:rPr lang="ja-JP" altLang="en-US" dirty="0" smtClean="0"/>
              <a:t>手法を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上回る</a:t>
            </a:r>
            <a:r>
              <a:rPr lang="ja-JP" altLang="en-US" dirty="0"/>
              <a:t>性能を示した．</a:t>
            </a:r>
            <a:endParaRPr lang="en-US" altLang="ja-JP" dirty="0"/>
          </a:p>
          <a:p>
            <a:r>
              <a:rPr kumimoji="1" lang="ja-JP" altLang="en-US" dirty="0" smtClean="0"/>
              <a:t>計算コスト</a:t>
            </a:r>
            <a:r>
              <a:rPr kumimoji="1" lang="ja-JP" altLang="en-US" smtClean="0"/>
              <a:t>の大きなタスクに</a:t>
            </a:r>
            <a:r>
              <a:rPr kumimoji="1" lang="ja-JP" altLang="en-US" dirty="0" smtClean="0"/>
              <a:t>対し，計算コストが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小さいタスクを同時に最適化することにより，収束速度が高速化されることを示した．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95496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3E27F71A-09F3-40FE-8C2D-54B13A3AB99C}" vid="{9AAC496F-98CF-44D0-8969-8E95277F123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374</TotalTime>
  <Words>846</Words>
  <Application>Microsoft Office PowerPoint</Application>
  <PresentationFormat>画面に合わせる (4:3)</PresentationFormat>
  <Paragraphs>316</Paragraphs>
  <Slides>33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ＭＳ P ゴシック</vt:lpstr>
      <vt:lpstr>ＭＳ Ｐゴシック</vt:lpstr>
      <vt:lpstr>Arial</vt:lpstr>
      <vt:lpstr>Cambria Math</vt:lpstr>
      <vt:lpstr>Times New Roman</vt:lpstr>
      <vt:lpstr>Theme_Lab</vt:lpstr>
      <vt:lpstr>Equation</vt:lpstr>
      <vt:lpstr>英語論文発表(5/20)</vt:lpstr>
      <vt:lpstr>PowerPoint プレゼンテーション</vt:lpstr>
      <vt:lpstr>概要</vt:lpstr>
      <vt:lpstr>既存手法(MO-MFEA)</vt:lpstr>
      <vt:lpstr>既存手法(MO-MFEA)</vt:lpstr>
      <vt:lpstr>既存手法(MO-MFEA)</vt:lpstr>
      <vt:lpstr>既存手法(MO-MFEA)</vt:lpstr>
      <vt:lpstr>既存手法(MO-MFEA)</vt:lpstr>
      <vt:lpstr>提案手法</vt:lpstr>
      <vt:lpstr>提案手法</vt:lpstr>
      <vt:lpstr>提案手法</vt:lpstr>
      <vt:lpstr>提案手法</vt:lpstr>
      <vt:lpstr>提案手法</vt:lpstr>
      <vt:lpstr>Appendix</vt:lpstr>
      <vt:lpstr>Appendix</vt:lpstr>
      <vt:lpstr>提案手法</vt:lpstr>
      <vt:lpstr>提案手法</vt:lpstr>
      <vt:lpstr>提案手法</vt:lpstr>
      <vt:lpstr>提案手法</vt:lpstr>
      <vt:lpstr>数値実験</vt:lpstr>
      <vt:lpstr>数値実験</vt:lpstr>
      <vt:lpstr>実験結果</vt:lpstr>
      <vt:lpstr>実験結果</vt:lpstr>
      <vt:lpstr>実験結果</vt:lpstr>
      <vt:lpstr>実験結果</vt:lpstr>
      <vt:lpstr>実験結果</vt:lpstr>
      <vt:lpstr>実験結果</vt:lpstr>
      <vt:lpstr>数値実験</vt:lpstr>
      <vt:lpstr>数値実験</vt:lpstr>
      <vt:lpstr>数値実験</vt:lpstr>
      <vt:lpstr>実験結果</vt:lpstr>
      <vt:lpstr>実験結果</vt:lpstr>
      <vt:lpstr>結論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英語論文発表(5/20)</dc:title>
  <dc:creator>瓜田 俊貴</dc:creator>
  <cp:lastModifiedBy>瓜田 俊貴</cp:lastModifiedBy>
  <cp:revision>38</cp:revision>
  <dcterms:created xsi:type="dcterms:W3CDTF">2020-05-17T11:56:43Z</dcterms:created>
  <dcterms:modified xsi:type="dcterms:W3CDTF">2020-05-19T17:02:31Z</dcterms:modified>
</cp:coreProperties>
</file>