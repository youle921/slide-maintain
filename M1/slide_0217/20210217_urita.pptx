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2"/>
  </p:notesMasterIdLst>
  <p:sldIdLst>
    <p:sldId id="256" r:id="rId2"/>
    <p:sldId id="258" r:id="rId3"/>
    <p:sldId id="321" r:id="rId4"/>
    <p:sldId id="259" r:id="rId5"/>
    <p:sldId id="263" r:id="rId6"/>
    <p:sldId id="264" r:id="rId7"/>
    <p:sldId id="268" r:id="rId8"/>
    <p:sldId id="269" r:id="rId9"/>
    <p:sldId id="312" r:id="rId10"/>
    <p:sldId id="270" r:id="rId11"/>
    <p:sldId id="272" r:id="rId12"/>
    <p:sldId id="322" r:id="rId13"/>
    <p:sldId id="323" r:id="rId14"/>
    <p:sldId id="324" r:id="rId15"/>
    <p:sldId id="326" r:id="rId16"/>
    <p:sldId id="294" r:id="rId17"/>
    <p:sldId id="317" r:id="rId18"/>
    <p:sldId id="319" r:id="rId19"/>
    <p:sldId id="320" r:id="rId20"/>
    <p:sldId id="308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5BD06287-8F13-416F-A335-0B3B8112B94B}">
          <p14:sldIdLst>
            <p14:sldId id="256"/>
            <p14:sldId id="258"/>
            <p14:sldId id="321"/>
            <p14:sldId id="259"/>
            <p14:sldId id="263"/>
            <p14:sldId id="264"/>
            <p14:sldId id="268"/>
            <p14:sldId id="269"/>
            <p14:sldId id="312"/>
            <p14:sldId id="270"/>
            <p14:sldId id="272"/>
            <p14:sldId id="322"/>
            <p14:sldId id="323"/>
            <p14:sldId id="324"/>
            <p14:sldId id="326"/>
            <p14:sldId id="294"/>
            <p14:sldId id="317"/>
            <p14:sldId id="319"/>
            <p14:sldId id="320"/>
            <p14:sldId id="308"/>
          </p14:sldIdLst>
        </p14:section>
        <p14:section name="CI" id="{73459C32-B5DF-463C-86A6-8D98FA4879AC}">
          <p14:sldIdLst/>
        </p14:section>
        <p14:section name="PI" id="{45A586A6-1B33-4090-A7BD-2B20F9A037AE}">
          <p14:sldIdLst/>
        </p14:section>
        <p14:section name="NI" id="{E4B64F91-718A-4FE6-AF7C-16037909AEB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07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36BFA-42D1-49C5-9E02-FBF1B581FD96}" type="datetimeFigureOut">
              <a:rPr kumimoji="1" lang="ja-JP" altLang="en-US" smtClean="0"/>
              <a:t>2021/2/22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B2D8E-8FE6-4FE4-8522-09623C09168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807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Scheme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取り入れた進化型マルチタスキングの実装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瓜田 俊</a:t>
            </a:r>
            <a:r>
              <a:rPr lang="ja-JP" altLang="en-US" dirty="0"/>
              <a:t>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274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</a:t>
            </a:r>
            <a:r>
              <a:rPr lang="en-US" altLang="ja-JP" sz="4300" dirty="0" smtClean="0"/>
              <a:t>Scheme(SMS)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</a:t>
            </a:r>
            <a:r>
              <a:rPr kumimoji="1" lang="ja-JP" altLang="en-US" dirty="0" smtClean="0"/>
              <a:t>．</a:t>
            </a:r>
            <a:endParaRPr kumimoji="1" lang="en-US" altLang="ja-JP" dirty="0" smtClean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147454" y="6056897"/>
            <a:ext cx="7897090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H. </a:t>
            </a:r>
            <a:r>
              <a:rPr lang="en-US" altLang="ja-JP" sz="2000" dirty="0" err="1"/>
              <a:t>Ishibuchi</a:t>
            </a:r>
            <a:r>
              <a:rPr lang="en-US" altLang="ja-JP" sz="2000" dirty="0"/>
              <a:t> and Y. Shibata ,“A similarity-based mating scheme for evolutionary 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optimization”, GECCO 2003</a:t>
            </a:r>
          </a:p>
        </p:txBody>
      </p:sp>
      <p:grpSp>
        <p:nvGrpSpPr>
          <p:cNvPr id="73" name="グループ化 72"/>
          <p:cNvGrpSpPr/>
          <p:nvPr/>
        </p:nvGrpSpPr>
        <p:grpSpPr>
          <a:xfrm>
            <a:off x="790337" y="2617496"/>
            <a:ext cx="4677100" cy="3160429"/>
            <a:chOff x="309885" y="2605621"/>
            <a:chExt cx="4677100" cy="3160429"/>
          </a:xfrm>
        </p:grpSpPr>
        <p:grpSp>
          <p:nvGrpSpPr>
            <p:cNvPr id="23" name="グループ化 22"/>
            <p:cNvGrpSpPr/>
            <p:nvPr/>
          </p:nvGrpSpPr>
          <p:grpSpPr>
            <a:xfrm>
              <a:off x="309885" y="2605621"/>
              <a:ext cx="4677100" cy="1673457"/>
              <a:chOff x="309885" y="2798065"/>
              <a:chExt cx="4677100" cy="1673457"/>
            </a:xfrm>
          </p:grpSpPr>
          <p:grpSp>
            <p:nvGrpSpPr>
              <p:cNvPr id="21" name="グループ化 20"/>
              <p:cNvGrpSpPr/>
              <p:nvPr/>
            </p:nvGrpSpPr>
            <p:grpSpPr>
              <a:xfrm>
                <a:off x="309885" y="2798065"/>
                <a:ext cx="2017027" cy="1673457"/>
                <a:chOff x="309885" y="2798065"/>
                <a:chExt cx="2017027" cy="1673457"/>
              </a:xfrm>
            </p:grpSpPr>
            <p:sp>
              <p:nvSpPr>
                <p:cNvPr id="3" name="テキスト ボックス 2"/>
                <p:cNvSpPr txBox="1"/>
                <p:nvPr/>
              </p:nvSpPr>
              <p:spPr>
                <a:xfrm>
                  <a:off x="533087" y="2798065"/>
                  <a:ext cx="1793825" cy="65659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none" tIns="54000" bIns="0" rtlCol="0" anchor="ctr" anchorCtr="1">
                  <a:no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kumimoji="1" lang="en-US" altLang="ja-JP" sz="2400" dirty="0" smtClean="0"/>
                    <a:t>Binary</a:t>
                  </a:r>
                  <a:br>
                    <a:rPr kumimoji="1" lang="en-US" altLang="ja-JP" sz="2400" dirty="0" smtClean="0"/>
                  </a:br>
                  <a:r>
                    <a:rPr kumimoji="1" lang="en-US" altLang="ja-JP" sz="2400" dirty="0" smtClean="0"/>
                    <a:t>Tournament</a:t>
                  </a:r>
                  <a:endParaRPr kumimoji="1" lang="ja-JP" altLang="en-US" sz="2400" dirty="0" smtClean="0"/>
                </a:p>
              </p:txBody>
            </p:sp>
            <p:cxnSp>
              <p:nvCxnSpPr>
                <p:cNvPr id="10" name="直線矢印コネクタ 9"/>
                <p:cNvCxnSpPr>
                  <a:stCxn id="3" idx="2"/>
                </p:cNvCxnSpPr>
                <p:nvPr/>
              </p:nvCxnSpPr>
              <p:spPr>
                <a:xfrm>
                  <a:off x="1430000" y="3454655"/>
                  <a:ext cx="0" cy="474646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円/楕円 10"/>
                <p:cNvSpPr/>
                <p:nvPr/>
              </p:nvSpPr>
              <p:spPr>
                <a:xfrm>
                  <a:off x="1302118" y="3989698"/>
                  <a:ext cx="255762" cy="25576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12" name="テキスト ボックス 11"/>
                <p:cNvSpPr txBox="1"/>
                <p:nvPr/>
              </p:nvSpPr>
              <p:spPr>
                <a:xfrm>
                  <a:off x="309885" y="3763636"/>
                  <a:ext cx="987148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000" dirty="0" smtClean="0"/>
                    <a:t>親個体</a:t>
                  </a:r>
                  <a:r>
                    <a:rPr kumimoji="1" lang="en-US" altLang="ja-JP" sz="2000" dirty="0" smtClean="0"/>
                    <a:t/>
                  </a:r>
                  <a:br>
                    <a:rPr kumimoji="1" lang="en-US" altLang="ja-JP" sz="2000" dirty="0" smtClean="0"/>
                  </a:br>
                  <a:r>
                    <a:rPr kumimoji="1" lang="ja-JP" altLang="en-US" sz="2000" dirty="0" smtClean="0"/>
                    <a:t>候補</a:t>
                  </a:r>
                  <a:r>
                    <a:rPr kumimoji="1" lang="en-US" altLang="ja-JP" sz="2000" dirty="0" smtClean="0"/>
                    <a:t>1</a:t>
                  </a:r>
                  <a:endParaRPr kumimoji="1" lang="ja-JP" altLang="en-US" sz="2000" dirty="0" smtClean="0"/>
                </a:p>
              </p:txBody>
            </p:sp>
          </p:grpSp>
          <p:sp>
            <p:nvSpPr>
              <p:cNvPr id="14" name="テキスト ボックス 13"/>
              <p:cNvSpPr txBox="1"/>
              <p:nvPr/>
            </p:nvSpPr>
            <p:spPr>
              <a:xfrm>
                <a:off x="2412074" y="2864750"/>
                <a:ext cx="6959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･･･</a:t>
                </a:r>
                <a:endParaRPr kumimoji="1" lang="ja-JP" altLang="en-US" sz="2800" dirty="0" smtClean="0"/>
              </a:p>
            </p:txBody>
          </p:sp>
          <p:grpSp>
            <p:nvGrpSpPr>
              <p:cNvPr id="22" name="グループ化 21"/>
              <p:cNvGrpSpPr/>
              <p:nvPr/>
            </p:nvGrpSpPr>
            <p:grpSpPr>
              <a:xfrm>
                <a:off x="2866308" y="2798065"/>
                <a:ext cx="2120677" cy="1673457"/>
                <a:chOff x="2866308" y="2798065"/>
                <a:chExt cx="2120677" cy="1673457"/>
              </a:xfrm>
            </p:grpSpPr>
            <p:sp>
              <p:nvSpPr>
                <p:cNvPr id="17" name="テキスト ボックス 16"/>
                <p:cNvSpPr txBox="1"/>
                <p:nvPr/>
              </p:nvSpPr>
              <p:spPr>
                <a:xfrm>
                  <a:off x="3193160" y="2798065"/>
                  <a:ext cx="1793825" cy="65659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none" tIns="54000" bIns="0" rtlCol="0" anchor="ctr" anchorCtr="1">
                  <a:no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kumimoji="1" lang="en-US" altLang="ja-JP" sz="2400" dirty="0" smtClean="0"/>
                    <a:t>Binary</a:t>
                  </a:r>
                  <a:br>
                    <a:rPr kumimoji="1" lang="en-US" altLang="ja-JP" sz="2400" dirty="0" smtClean="0"/>
                  </a:br>
                  <a:r>
                    <a:rPr kumimoji="1" lang="en-US" altLang="ja-JP" sz="2400" dirty="0" smtClean="0"/>
                    <a:t>Tournament</a:t>
                  </a:r>
                  <a:endParaRPr kumimoji="1" lang="ja-JP" altLang="en-US" sz="2400" dirty="0" smtClean="0"/>
                </a:p>
              </p:txBody>
            </p:sp>
            <p:cxnSp>
              <p:nvCxnSpPr>
                <p:cNvPr id="18" name="直線矢印コネクタ 17"/>
                <p:cNvCxnSpPr>
                  <a:stCxn id="17" idx="2"/>
                </p:cNvCxnSpPr>
                <p:nvPr/>
              </p:nvCxnSpPr>
              <p:spPr>
                <a:xfrm>
                  <a:off x="4090073" y="3454655"/>
                  <a:ext cx="0" cy="474646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円/楕円 18"/>
                <p:cNvSpPr/>
                <p:nvPr/>
              </p:nvSpPr>
              <p:spPr>
                <a:xfrm>
                  <a:off x="3962191" y="3989698"/>
                  <a:ext cx="255762" cy="255762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20" name="テキスト ボックス 19"/>
                <p:cNvSpPr txBox="1"/>
                <p:nvPr/>
              </p:nvSpPr>
              <p:spPr>
                <a:xfrm>
                  <a:off x="2866308" y="3763636"/>
                  <a:ext cx="1194449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000" dirty="0" smtClean="0"/>
                    <a:t>親個体</a:t>
                  </a:r>
                  <a:r>
                    <a:rPr kumimoji="1" lang="en-US" altLang="ja-JP" sz="2000" dirty="0" smtClean="0"/>
                    <a:t/>
                  </a:r>
                  <a:br>
                    <a:rPr kumimoji="1" lang="en-US" altLang="ja-JP" sz="2000" dirty="0" smtClean="0"/>
                  </a:br>
                  <a:r>
                    <a:rPr kumimoji="1" lang="ja-JP" altLang="en-US" sz="2000" dirty="0" smtClean="0"/>
                    <a:t>候補</a:t>
                  </a:r>
                  <a:r>
                    <a:rPr lang="en-US" altLang="ja-JP" sz="2000" i="1" dirty="0" smtClean="0">
                      <a:latin typeface="Symbol" panose="05050102010706020507" pitchFamily="18" charset="2"/>
                    </a:rPr>
                    <a:t>a</a:t>
                  </a:r>
                  <a:endParaRPr kumimoji="1" lang="ja-JP" altLang="en-US" sz="2000" i="1" dirty="0" smtClean="0">
                    <a:latin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70" name="グループ化 69"/>
            <p:cNvGrpSpPr/>
            <p:nvPr/>
          </p:nvGrpSpPr>
          <p:grpSpPr>
            <a:xfrm>
              <a:off x="533087" y="4367520"/>
              <a:ext cx="4453897" cy="1398530"/>
              <a:chOff x="533087" y="4367520"/>
              <a:chExt cx="4453897" cy="1398530"/>
            </a:xfrm>
          </p:grpSpPr>
          <p:sp>
            <p:nvSpPr>
              <p:cNvPr id="4" name="テキスト ボックス 3"/>
              <p:cNvSpPr txBox="1"/>
              <p:nvPr/>
            </p:nvSpPr>
            <p:spPr>
              <a:xfrm>
                <a:off x="533087" y="4367520"/>
                <a:ext cx="4453897" cy="578882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選択</a:t>
                </a:r>
                <a:r>
                  <a:rPr lang="ja-JP" altLang="en-US" sz="2800" dirty="0" smtClean="0"/>
                  <a:t>基準 </a:t>
                </a:r>
                <a:r>
                  <a:rPr lang="en-US" altLang="ja-JP" sz="2800" dirty="0" smtClean="0"/>
                  <a:t>1</a:t>
                </a:r>
              </a:p>
            </p:txBody>
          </p:sp>
          <p:sp>
            <p:nvSpPr>
              <p:cNvPr id="37" name="円/楕円 36"/>
              <p:cNvSpPr/>
              <p:nvPr/>
            </p:nvSpPr>
            <p:spPr>
              <a:xfrm>
                <a:off x="2632154" y="5438114"/>
                <a:ext cx="255762" cy="25576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8" name="テキスト ボックス 37"/>
              <p:cNvSpPr txBox="1"/>
              <p:nvPr/>
            </p:nvSpPr>
            <p:spPr>
              <a:xfrm>
                <a:off x="1474404" y="5365940"/>
                <a:ext cx="1194449" cy="4001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 dirty="0" smtClean="0"/>
                  <a:t>親個体</a:t>
                </a:r>
                <a:r>
                  <a:rPr kumimoji="1" lang="en-US" altLang="ja-JP" sz="2000" dirty="0" smtClean="0"/>
                  <a:t>1</a:t>
                </a:r>
                <a:endParaRPr kumimoji="1" lang="ja-JP" altLang="en-US" sz="2000" dirty="0" smtClean="0"/>
              </a:p>
            </p:txBody>
          </p:sp>
          <p:cxnSp>
            <p:nvCxnSpPr>
              <p:cNvPr id="54" name="直線矢印コネクタ 53"/>
              <p:cNvCxnSpPr/>
              <p:nvPr/>
            </p:nvCxnSpPr>
            <p:spPr>
              <a:xfrm>
                <a:off x="2760036" y="4946402"/>
                <a:ext cx="0" cy="41953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2" name="グループ化 71"/>
          <p:cNvGrpSpPr/>
          <p:nvPr/>
        </p:nvGrpSpPr>
        <p:grpSpPr>
          <a:xfrm>
            <a:off x="6620914" y="2617496"/>
            <a:ext cx="4780750" cy="3160429"/>
            <a:chOff x="6322027" y="2605621"/>
            <a:chExt cx="4780750" cy="3160429"/>
          </a:xfrm>
        </p:grpSpPr>
        <p:grpSp>
          <p:nvGrpSpPr>
            <p:cNvPr id="40" name="グループ化 39"/>
            <p:cNvGrpSpPr/>
            <p:nvPr/>
          </p:nvGrpSpPr>
          <p:grpSpPr>
            <a:xfrm>
              <a:off x="6322027" y="2605621"/>
              <a:ext cx="4780750" cy="1673457"/>
              <a:chOff x="206235" y="2798065"/>
              <a:chExt cx="4780750" cy="1673457"/>
            </a:xfrm>
          </p:grpSpPr>
          <p:grpSp>
            <p:nvGrpSpPr>
              <p:cNvPr id="41" name="グループ化 40"/>
              <p:cNvGrpSpPr/>
              <p:nvPr/>
            </p:nvGrpSpPr>
            <p:grpSpPr>
              <a:xfrm>
                <a:off x="206235" y="2798065"/>
                <a:ext cx="2120677" cy="1673457"/>
                <a:chOff x="206235" y="2798065"/>
                <a:chExt cx="2120677" cy="1673457"/>
              </a:xfrm>
            </p:grpSpPr>
            <p:sp>
              <p:nvSpPr>
                <p:cNvPr id="48" name="テキスト ボックス 47"/>
                <p:cNvSpPr txBox="1"/>
                <p:nvPr/>
              </p:nvSpPr>
              <p:spPr>
                <a:xfrm>
                  <a:off x="533087" y="2798065"/>
                  <a:ext cx="1793825" cy="65659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none" tIns="54000" bIns="0" rtlCol="0" anchor="ctr" anchorCtr="1">
                  <a:no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kumimoji="1" lang="en-US" altLang="ja-JP" sz="2400" dirty="0" smtClean="0"/>
                    <a:t>Binary</a:t>
                  </a:r>
                  <a:br>
                    <a:rPr kumimoji="1" lang="en-US" altLang="ja-JP" sz="2400" dirty="0" smtClean="0"/>
                  </a:br>
                  <a:r>
                    <a:rPr kumimoji="1" lang="en-US" altLang="ja-JP" sz="2400" dirty="0" smtClean="0"/>
                    <a:t>Tournament</a:t>
                  </a:r>
                  <a:endParaRPr kumimoji="1" lang="ja-JP" altLang="en-US" sz="2400" dirty="0" smtClean="0"/>
                </a:p>
              </p:txBody>
            </p:sp>
            <p:cxnSp>
              <p:nvCxnSpPr>
                <p:cNvPr id="49" name="直線矢印コネクタ 48"/>
                <p:cNvCxnSpPr>
                  <a:stCxn id="48" idx="2"/>
                </p:cNvCxnSpPr>
                <p:nvPr/>
              </p:nvCxnSpPr>
              <p:spPr>
                <a:xfrm>
                  <a:off x="1430000" y="3454655"/>
                  <a:ext cx="0" cy="475200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" name="円/楕円 49"/>
                <p:cNvSpPr/>
                <p:nvPr/>
              </p:nvSpPr>
              <p:spPr>
                <a:xfrm>
                  <a:off x="1302118" y="3989698"/>
                  <a:ext cx="255762" cy="25576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51" name="テキスト ボックス 50"/>
                <p:cNvSpPr txBox="1"/>
                <p:nvPr/>
              </p:nvSpPr>
              <p:spPr>
                <a:xfrm>
                  <a:off x="206235" y="3763636"/>
                  <a:ext cx="1194449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000" dirty="0" smtClean="0"/>
                    <a:t>親個体</a:t>
                  </a:r>
                  <a:r>
                    <a:rPr kumimoji="1" lang="en-US" altLang="ja-JP" sz="2000" dirty="0" smtClean="0"/>
                    <a:t/>
                  </a:r>
                  <a:br>
                    <a:rPr kumimoji="1" lang="en-US" altLang="ja-JP" sz="2000" dirty="0" smtClean="0"/>
                  </a:br>
                  <a:r>
                    <a:rPr kumimoji="1" lang="ja-JP" altLang="en-US" sz="2000" dirty="0" smtClean="0"/>
                    <a:t>候補</a:t>
                  </a:r>
                  <a:r>
                    <a:rPr kumimoji="1" lang="en-US" altLang="ja-JP" sz="2000" dirty="0" smtClean="0"/>
                    <a:t>1</a:t>
                  </a:r>
                  <a:endParaRPr kumimoji="1" lang="ja-JP" altLang="en-US" sz="2000" dirty="0" smtClean="0"/>
                </a:p>
              </p:txBody>
            </p:sp>
          </p:grpSp>
          <p:sp>
            <p:nvSpPr>
              <p:cNvPr id="42" name="テキスト ボックス 41"/>
              <p:cNvSpPr txBox="1"/>
              <p:nvPr/>
            </p:nvSpPr>
            <p:spPr>
              <a:xfrm>
                <a:off x="2412074" y="2864750"/>
                <a:ext cx="695925" cy="52322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800" dirty="0" smtClean="0"/>
                  <a:t>･･･</a:t>
                </a:r>
                <a:endParaRPr kumimoji="1" lang="ja-JP" altLang="en-US" sz="2800" dirty="0" smtClean="0"/>
              </a:p>
            </p:txBody>
          </p:sp>
          <p:grpSp>
            <p:nvGrpSpPr>
              <p:cNvPr id="43" name="グループ化 42"/>
              <p:cNvGrpSpPr/>
              <p:nvPr/>
            </p:nvGrpSpPr>
            <p:grpSpPr>
              <a:xfrm>
                <a:off x="2866308" y="2798065"/>
                <a:ext cx="2120677" cy="1673457"/>
                <a:chOff x="2866308" y="2798065"/>
                <a:chExt cx="2120677" cy="1673457"/>
              </a:xfrm>
            </p:grpSpPr>
            <p:sp>
              <p:nvSpPr>
                <p:cNvPr id="44" name="テキスト ボックス 43"/>
                <p:cNvSpPr txBox="1"/>
                <p:nvPr/>
              </p:nvSpPr>
              <p:spPr>
                <a:xfrm>
                  <a:off x="3193160" y="2798065"/>
                  <a:ext cx="1793825" cy="65659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none" tIns="54000" bIns="0" rtlCol="0" anchor="ctr" anchorCtr="1">
                  <a:noAutofit/>
                </a:bodyPr>
                <a:lstStyle/>
                <a:p>
                  <a:pPr algn="ctr">
                    <a:lnSpc>
                      <a:spcPts val="2200"/>
                    </a:lnSpc>
                  </a:pPr>
                  <a:r>
                    <a:rPr kumimoji="1" lang="en-US" altLang="ja-JP" sz="2400" dirty="0" smtClean="0"/>
                    <a:t>Binary</a:t>
                  </a:r>
                  <a:br>
                    <a:rPr kumimoji="1" lang="en-US" altLang="ja-JP" sz="2400" dirty="0" smtClean="0"/>
                  </a:br>
                  <a:r>
                    <a:rPr kumimoji="1" lang="en-US" altLang="ja-JP" sz="2400" dirty="0" smtClean="0"/>
                    <a:t>Tournament</a:t>
                  </a:r>
                  <a:endParaRPr kumimoji="1" lang="ja-JP" altLang="en-US" sz="2400" dirty="0" smtClean="0"/>
                </a:p>
              </p:txBody>
            </p:sp>
            <p:cxnSp>
              <p:nvCxnSpPr>
                <p:cNvPr id="45" name="直線矢印コネクタ 44"/>
                <p:cNvCxnSpPr>
                  <a:stCxn id="44" idx="2"/>
                </p:cNvCxnSpPr>
                <p:nvPr/>
              </p:nvCxnSpPr>
              <p:spPr>
                <a:xfrm>
                  <a:off x="4090073" y="3454655"/>
                  <a:ext cx="0" cy="475200"/>
                </a:xfrm>
                <a:prstGeom prst="straightConnector1">
                  <a:avLst/>
                </a:prstGeom>
                <a:ln w="762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円/楕円 45"/>
                <p:cNvSpPr/>
                <p:nvPr/>
              </p:nvSpPr>
              <p:spPr>
                <a:xfrm>
                  <a:off x="3962191" y="3989698"/>
                  <a:ext cx="255762" cy="25576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47" name="テキスト ボックス 46"/>
                <p:cNvSpPr txBox="1"/>
                <p:nvPr/>
              </p:nvSpPr>
              <p:spPr>
                <a:xfrm>
                  <a:off x="2866308" y="3763636"/>
                  <a:ext cx="1194449" cy="707886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ja-JP" altLang="en-US" sz="2000" dirty="0" smtClean="0"/>
                    <a:t>親個体</a:t>
                  </a:r>
                  <a:r>
                    <a:rPr kumimoji="1" lang="en-US" altLang="ja-JP" sz="2000" dirty="0" smtClean="0"/>
                    <a:t/>
                  </a:r>
                  <a:br>
                    <a:rPr kumimoji="1" lang="en-US" altLang="ja-JP" sz="2000" dirty="0" smtClean="0"/>
                  </a:br>
                  <a:r>
                    <a:rPr kumimoji="1" lang="ja-JP" altLang="en-US" sz="2000" dirty="0" smtClean="0"/>
                    <a:t>候補</a:t>
                  </a:r>
                  <a:r>
                    <a:rPr lang="en-US" altLang="ja-JP" sz="2000" i="1" dirty="0" smtClean="0">
                      <a:latin typeface="Symbol" panose="05050102010706020507" pitchFamily="18" charset="2"/>
                    </a:rPr>
                    <a:t>b</a:t>
                  </a:r>
                  <a:endParaRPr kumimoji="1" lang="ja-JP" altLang="en-US" sz="2000" i="1" dirty="0" smtClean="0">
                    <a:latin typeface="Symbol" panose="05050102010706020507" pitchFamily="18" charset="2"/>
                  </a:endParaRPr>
                </a:p>
              </p:txBody>
            </p:sp>
          </p:grpSp>
        </p:grpSp>
        <p:grpSp>
          <p:nvGrpSpPr>
            <p:cNvPr id="71" name="グループ化 70"/>
            <p:cNvGrpSpPr/>
            <p:nvPr/>
          </p:nvGrpSpPr>
          <p:grpSpPr>
            <a:xfrm>
              <a:off x="6648879" y="4367520"/>
              <a:ext cx="4453897" cy="1398530"/>
              <a:chOff x="6648879" y="4367520"/>
              <a:chExt cx="4453897" cy="1398530"/>
            </a:xfrm>
          </p:grpSpPr>
          <p:sp>
            <p:nvSpPr>
              <p:cNvPr id="63" name="テキスト ボックス 62"/>
              <p:cNvSpPr txBox="1"/>
              <p:nvPr/>
            </p:nvSpPr>
            <p:spPr>
              <a:xfrm>
                <a:off x="6648879" y="4367520"/>
                <a:ext cx="4453897" cy="578882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800" dirty="0"/>
                  <a:t>選択</a:t>
                </a:r>
                <a:r>
                  <a:rPr lang="ja-JP" altLang="en-US" sz="2800" dirty="0" smtClean="0"/>
                  <a:t>基準 </a:t>
                </a:r>
                <a:r>
                  <a:rPr lang="en-US" altLang="ja-JP" sz="2800" dirty="0" smtClean="0"/>
                  <a:t>2</a:t>
                </a:r>
              </a:p>
            </p:txBody>
          </p:sp>
          <p:sp>
            <p:nvSpPr>
              <p:cNvPr id="64" name="円/楕円 63"/>
              <p:cNvSpPr/>
              <p:nvPr/>
            </p:nvSpPr>
            <p:spPr>
              <a:xfrm>
                <a:off x="8747946" y="5438114"/>
                <a:ext cx="255762" cy="255762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テキスト ボックス 64"/>
              <p:cNvSpPr txBox="1"/>
              <p:nvPr/>
            </p:nvSpPr>
            <p:spPr>
              <a:xfrm>
                <a:off x="7590196" y="5365940"/>
                <a:ext cx="1194449" cy="400110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ja-JP" altLang="en-US" sz="2000" dirty="0" smtClean="0"/>
                  <a:t>親個体</a:t>
                </a:r>
                <a:r>
                  <a:rPr lang="en-US" altLang="ja-JP" sz="2000" dirty="0"/>
                  <a:t>2</a:t>
                </a:r>
                <a:endParaRPr kumimoji="1" lang="ja-JP" altLang="en-US" sz="2000" dirty="0" smtClean="0"/>
              </a:p>
            </p:txBody>
          </p:sp>
          <p:cxnSp>
            <p:nvCxnSpPr>
              <p:cNvPr id="66" name="直線矢印コネクタ 65"/>
              <p:cNvCxnSpPr/>
              <p:nvPr/>
            </p:nvCxnSpPr>
            <p:spPr>
              <a:xfrm>
                <a:off x="8875828" y="4946402"/>
                <a:ext cx="0" cy="419538"/>
              </a:xfrm>
              <a:prstGeom prst="straightConnector1">
                <a:avLst/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369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</a:t>
            </a:r>
            <a:r>
              <a:rPr lang="en-US" altLang="ja-JP" sz="4300" dirty="0" smtClean="0"/>
              <a:t>Scheme(SMS)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今回使用する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では，親</a:t>
            </a:r>
            <a:r>
              <a:rPr kumimoji="1" lang="ja-JP" altLang="en-US" dirty="0" smtClean="0"/>
              <a:t>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端</a:t>
            </a:r>
            <a:r>
              <a:rPr kumimoji="1" lang="ja-JP" altLang="en-US" dirty="0" smtClean="0"/>
              <a:t>から</a:t>
            </a:r>
            <a:r>
              <a:rPr kumimoji="1" lang="ja-JP" altLang="en-US" dirty="0" smtClean="0"/>
              <a:t>選択し，親個体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親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した個体を選択</a:t>
            </a:r>
            <a:r>
              <a:rPr kumimoji="1" lang="ja-JP" altLang="en-US" dirty="0" smtClean="0"/>
              <a:t>する．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47454" y="6056897"/>
            <a:ext cx="7897090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H. </a:t>
            </a:r>
            <a:r>
              <a:rPr lang="en-US" altLang="ja-JP" sz="2000" dirty="0" err="1"/>
              <a:t>Ishibuchi</a:t>
            </a:r>
            <a:r>
              <a:rPr lang="en-US" altLang="ja-JP" sz="2000" dirty="0"/>
              <a:t> and Y. Shibata ,“A similarity-based mating scheme for evolutionary 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optimization”, GECCO 2003</a:t>
            </a:r>
          </a:p>
        </p:txBody>
      </p:sp>
    </p:spTree>
    <p:extLst>
      <p:ext uri="{BB962C8B-B14F-4D97-AF65-F5344CB8AC3E}">
        <p14:creationId xmlns:p14="http://schemas.microsoft.com/office/powerpoint/2010/main" val="65965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208033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2.</a:t>
                </a:r>
              </a:p>
              <a:p>
                <a:r>
                  <a:rPr lang="ja-JP" altLang="en-US" dirty="0"/>
                  <a:t>解</a:t>
                </a:r>
                <a:r>
                  <a:rPr lang="ja-JP" altLang="en-US" dirty="0" smtClean="0"/>
                  <a:t>の平均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を導出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6169380" y="4511337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5526580" y="3866464"/>
                <a:ext cx="1436914" cy="463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sz="2400" dirty="0"/>
                  <a:t>(</a:t>
                </a:r>
                <a:r>
                  <a:rPr lang="en-US" altLang="ja-JP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dirty="0"/>
                  <a:t>)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80" y="3866464"/>
                <a:ext cx="1436914" cy="463332"/>
              </a:xfrm>
              <a:prstGeom prst="rect">
                <a:avLst/>
              </a:prstGeom>
              <a:blipFill rotWithShape="0">
                <a:blip r:embed="rId3"/>
                <a:stretch>
                  <a:fillRect t="-9211" b="-3026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フリーフォーム 22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326720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3.</a:t>
                </a:r>
              </a:p>
              <a:p>
                <a:r>
                  <a:rPr lang="ja-JP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から再遠方の解を選択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2865087" y="3045282"/>
            <a:ext cx="5895772" cy="3593676"/>
            <a:chOff x="2865087" y="3045282"/>
            <a:chExt cx="5895772" cy="3593676"/>
          </a:xfrm>
        </p:grpSpPr>
        <p:cxnSp>
          <p:nvCxnSpPr>
            <p:cNvPr id="30" name="直線コネクタ 29"/>
            <p:cNvCxnSpPr/>
            <p:nvPr/>
          </p:nvCxnSpPr>
          <p:spPr>
            <a:xfrm>
              <a:off x="4853483" y="3904644"/>
              <a:ext cx="1245421" cy="63101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 flipV="1">
              <a:off x="6426977" y="4094521"/>
              <a:ext cx="702607" cy="40820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/>
            <p:cNvCxnSpPr/>
            <p:nvPr/>
          </p:nvCxnSpPr>
          <p:spPr>
            <a:xfrm>
              <a:off x="6451698" y="4605361"/>
              <a:ext cx="313771" cy="4903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線コネクタ 2"/>
            <p:cNvCxnSpPr/>
            <p:nvPr/>
          </p:nvCxnSpPr>
          <p:spPr>
            <a:xfrm flipH="1">
              <a:off x="6012345" y="4754178"/>
              <a:ext cx="151336" cy="20112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円/楕円 8"/>
            <p:cNvSpPr/>
            <p:nvPr/>
          </p:nvSpPr>
          <p:spPr>
            <a:xfrm>
              <a:off x="4658162" y="3748369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円/楕円 9"/>
            <p:cNvSpPr/>
            <p:nvPr/>
          </p:nvSpPr>
          <p:spPr>
            <a:xfrm>
              <a:off x="7249951" y="5042451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7039162" y="395618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6623525" y="4512452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5804127" y="492808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4" name="円/楕円 13"/>
            <p:cNvSpPr/>
            <p:nvPr/>
          </p:nvSpPr>
          <p:spPr>
            <a:xfrm>
              <a:off x="6169380" y="4511337"/>
              <a:ext cx="193897" cy="193897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4367213" y="3045282"/>
              <a:ext cx="1436914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1</a:t>
              </a:r>
              <a:endParaRPr lang="ja-JP" altLang="en-US" sz="2400" dirty="0"/>
            </a:p>
          </p:txBody>
        </p:sp>
        <p:cxnSp>
          <p:nvCxnSpPr>
            <p:cNvPr id="24" name="直線コネクタ 23"/>
            <p:cNvCxnSpPr/>
            <p:nvPr/>
          </p:nvCxnSpPr>
          <p:spPr>
            <a:xfrm>
              <a:off x="6415444" y="4698251"/>
              <a:ext cx="860712" cy="414101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フリーフォーム 33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1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2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37" name="テキスト ボックス 36"/>
            <p:cNvSpPr txBox="1"/>
            <p:nvPr/>
          </p:nvSpPr>
          <p:spPr>
            <a:xfrm>
              <a:off x="4818743" y="6115738"/>
              <a:ext cx="2554514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目的関数空間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584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421844" y="425066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31314" y="417519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716437" y="47429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1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2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5850214" y="4459083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182391" y="511033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決定変数空間</a:t>
            </a:r>
          </a:p>
        </p:txBody>
      </p:sp>
    </p:spTree>
    <p:extLst>
      <p:ext uri="{BB962C8B-B14F-4D97-AF65-F5344CB8AC3E}">
        <p14:creationId xmlns:p14="http://schemas.microsoft.com/office/powerpoint/2010/main" val="121786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2.</a:t>
            </a:r>
          </a:p>
          <a:p>
            <a:r>
              <a:rPr lang="ja-JP" altLang="en-US" dirty="0" smtClean="0"/>
              <a:t>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と最近傍の解を選択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grpSp>
        <p:nvGrpSpPr>
          <p:cNvPr id="2" name="グループ化 1"/>
          <p:cNvGrpSpPr/>
          <p:nvPr/>
        </p:nvGrpSpPr>
        <p:grpSpPr>
          <a:xfrm>
            <a:off x="2865087" y="3045282"/>
            <a:ext cx="5895772" cy="3593676"/>
            <a:chOff x="2865087" y="3045282"/>
            <a:chExt cx="5895772" cy="3593676"/>
          </a:xfrm>
        </p:grpSpPr>
        <p:cxnSp>
          <p:nvCxnSpPr>
            <p:cNvPr id="26" name="直線コネクタ 25"/>
            <p:cNvCxnSpPr/>
            <p:nvPr/>
          </p:nvCxnSpPr>
          <p:spPr>
            <a:xfrm>
              <a:off x="4946842" y="3847329"/>
              <a:ext cx="2455415" cy="46191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/>
            <p:cNvCxnSpPr/>
            <p:nvPr/>
          </p:nvCxnSpPr>
          <p:spPr>
            <a:xfrm>
              <a:off x="4953404" y="3896018"/>
              <a:ext cx="1896358" cy="970673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/>
            <p:cNvCxnSpPr/>
            <p:nvPr/>
          </p:nvCxnSpPr>
          <p:spPr>
            <a:xfrm>
              <a:off x="4940305" y="3949052"/>
              <a:ext cx="1059473" cy="6595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>
              <a:off x="4816931" y="4012316"/>
              <a:ext cx="480686" cy="119424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 flipH="1">
              <a:off x="4542813" y="4005426"/>
              <a:ext cx="139577" cy="42752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円/楕円 8"/>
            <p:cNvSpPr/>
            <p:nvPr/>
          </p:nvSpPr>
          <p:spPr>
            <a:xfrm>
              <a:off x="4421844" y="4250665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0" name="円/楕円 9"/>
            <p:cNvSpPr/>
            <p:nvPr/>
          </p:nvSpPr>
          <p:spPr>
            <a:xfrm>
              <a:off x="7231314" y="417519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1" name="円/楕円 10"/>
            <p:cNvSpPr/>
            <p:nvPr/>
          </p:nvSpPr>
          <p:spPr>
            <a:xfrm>
              <a:off x="6716437" y="474296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7" name="フリーフォーム 16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1</a:t>
              </a:r>
              <a:endParaRPr lang="ja-JP" altLang="en-US" sz="2400" dirty="0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2</a:t>
              </a:r>
              <a:endParaRPr lang="ja-JP" altLang="en-US" sz="2400" dirty="0"/>
            </a:p>
          </p:txBody>
        </p:sp>
        <p:sp>
          <p:nvSpPr>
            <p:cNvPr id="20" name="円/楕円 19"/>
            <p:cNvSpPr/>
            <p:nvPr/>
          </p:nvSpPr>
          <p:spPr>
            <a:xfrm>
              <a:off x="5850214" y="4459083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円/楕円 20"/>
            <p:cNvSpPr/>
            <p:nvPr/>
          </p:nvSpPr>
          <p:spPr>
            <a:xfrm>
              <a:off x="5182391" y="5110335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4818743" y="6115738"/>
              <a:ext cx="2554514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決定変数空間</a:t>
              </a:r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4658162" y="3748369"/>
              <a:ext cx="194400" cy="194400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4038900" y="4577277"/>
              <a:ext cx="1195088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2</a:t>
              </a:r>
              <a:endParaRPr lang="ja-JP" altLang="en-US" sz="2400" dirty="0"/>
            </a:p>
          </p:txBody>
        </p:sp>
        <p:sp>
          <p:nvSpPr>
            <p:cNvPr id="30" name="テキスト ボックス 29"/>
            <p:cNvSpPr txBox="1"/>
            <p:nvPr/>
          </p:nvSpPr>
          <p:spPr>
            <a:xfrm>
              <a:off x="4367213" y="3045282"/>
              <a:ext cx="1436914" cy="83099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親個体</a:t>
              </a:r>
              <a:r>
                <a:rPr lang="en-US" altLang="ja-JP" sz="2400" dirty="0"/>
                <a:t/>
              </a:r>
              <a:br>
                <a:rPr lang="en-US" altLang="ja-JP" sz="2400" dirty="0"/>
              </a:br>
              <a:r>
                <a:rPr lang="en-US" altLang="ja-JP" sz="2400" dirty="0"/>
                <a:t>1</a:t>
              </a:r>
              <a:endParaRPr lang="ja-JP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1922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空間の端</a:t>
            </a:r>
            <a:r>
              <a:rPr kumimoji="1" lang="ja-JP" altLang="en-US" dirty="0" smtClean="0"/>
              <a:t>の方から選択し，親個体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親個体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</a:t>
            </a:r>
            <a:r>
              <a:rPr kumimoji="1" lang="ja-JP" altLang="en-US" dirty="0" smtClean="0"/>
              <a:t>選択</a:t>
            </a:r>
            <a:r>
              <a:rPr lang="ja-JP" altLang="en-US" dirty="0"/>
              <a:t>する</a:t>
            </a:r>
            <a:r>
              <a:rPr kumimoji="1" lang="ja-JP" altLang="en-US" dirty="0" smtClean="0"/>
              <a:t>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grpSp>
        <p:nvGrpSpPr>
          <p:cNvPr id="8" name="グループ化 7"/>
          <p:cNvGrpSpPr>
            <a:grpSpLocks noChangeAspect="1"/>
          </p:cNvGrpSpPr>
          <p:nvPr/>
        </p:nvGrpSpPr>
        <p:grpSpPr>
          <a:xfrm>
            <a:off x="717763" y="3678259"/>
            <a:ext cx="4716618" cy="2874941"/>
            <a:chOff x="2865087" y="3045282"/>
            <a:chExt cx="5895772" cy="3593676"/>
          </a:xfrm>
        </p:grpSpPr>
        <p:cxnSp>
          <p:nvCxnSpPr>
            <p:cNvPr id="9" name="直線コネクタ 8"/>
            <p:cNvCxnSpPr/>
            <p:nvPr/>
          </p:nvCxnSpPr>
          <p:spPr>
            <a:xfrm>
              <a:off x="4853483" y="3904644"/>
              <a:ext cx="1245421" cy="631018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コネクタ 9"/>
            <p:cNvCxnSpPr/>
            <p:nvPr/>
          </p:nvCxnSpPr>
          <p:spPr>
            <a:xfrm flipV="1">
              <a:off x="6426977" y="4094521"/>
              <a:ext cx="702607" cy="408207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/>
            <p:cNvCxnSpPr/>
            <p:nvPr/>
          </p:nvCxnSpPr>
          <p:spPr>
            <a:xfrm>
              <a:off x="6451698" y="4605361"/>
              <a:ext cx="313771" cy="4903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/>
            <p:cNvCxnSpPr/>
            <p:nvPr/>
          </p:nvCxnSpPr>
          <p:spPr>
            <a:xfrm flipH="1">
              <a:off x="6012345" y="4754178"/>
              <a:ext cx="151336" cy="201129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円/楕円 12"/>
            <p:cNvSpPr/>
            <p:nvPr/>
          </p:nvSpPr>
          <p:spPr>
            <a:xfrm>
              <a:off x="4658162" y="3748369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4" name="円/楕円 13"/>
            <p:cNvSpPr/>
            <p:nvPr/>
          </p:nvSpPr>
          <p:spPr>
            <a:xfrm>
              <a:off x="7249951" y="5042451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5" name="円/楕円 14"/>
            <p:cNvSpPr/>
            <p:nvPr/>
          </p:nvSpPr>
          <p:spPr>
            <a:xfrm>
              <a:off x="7039162" y="395618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6" name="円/楕円 15"/>
            <p:cNvSpPr/>
            <p:nvPr/>
          </p:nvSpPr>
          <p:spPr>
            <a:xfrm>
              <a:off x="6623525" y="4512452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7" name="円/楕円 16"/>
            <p:cNvSpPr/>
            <p:nvPr/>
          </p:nvSpPr>
          <p:spPr>
            <a:xfrm>
              <a:off x="5804127" y="492808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8" name="円/楕円 17"/>
            <p:cNvSpPr/>
            <p:nvPr/>
          </p:nvSpPr>
          <p:spPr>
            <a:xfrm>
              <a:off x="6169380" y="4511337"/>
              <a:ext cx="193897" cy="193897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4058783" y="3045282"/>
              <a:ext cx="1821964" cy="5770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</a:t>
              </a:r>
              <a:r>
                <a:rPr lang="ja-JP" altLang="en-US" sz="2400" dirty="0" smtClean="0"/>
                <a:t>個体</a:t>
              </a:r>
              <a:r>
                <a:rPr lang="en-US" altLang="ja-JP" sz="2400" dirty="0" smtClean="0"/>
                <a:t>1</a:t>
              </a:r>
              <a:endParaRPr lang="ja-JP" altLang="en-US" sz="2400" dirty="0"/>
            </a:p>
          </p:txBody>
        </p:sp>
        <p:cxnSp>
          <p:nvCxnSpPr>
            <p:cNvPr id="20" name="直線コネクタ 19"/>
            <p:cNvCxnSpPr/>
            <p:nvPr/>
          </p:nvCxnSpPr>
          <p:spPr>
            <a:xfrm>
              <a:off x="6415444" y="4698251"/>
              <a:ext cx="860712" cy="414101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フリーフォーム 20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2" name="テキスト ボックス 21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1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ja-JP" sz="2400" baseline="-25000" dirty="0"/>
                <a:t>2</a:t>
              </a:r>
              <a:r>
                <a:rPr lang="en-US" altLang="ja-JP" sz="2400" dirty="0"/>
                <a:t>(</a:t>
              </a:r>
              <a:r>
                <a:rPr lang="en-US" altLang="ja-JP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dirty="0"/>
                <a:t>)</a:t>
              </a:r>
              <a:endParaRPr lang="ja-JP" altLang="en-US" sz="2400" dirty="0"/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4550519" y="6115738"/>
              <a:ext cx="309096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目的関数空間</a:t>
              </a:r>
            </a:p>
          </p:txBody>
        </p:sp>
      </p:grpSp>
      <p:grpSp>
        <p:nvGrpSpPr>
          <p:cNvPr id="25" name="グループ化 24"/>
          <p:cNvGrpSpPr>
            <a:grpSpLocks noChangeAspect="1"/>
          </p:cNvGrpSpPr>
          <p:nvPr/>
        </p:nvGrpSpPr>
        <p:grpSpPr>
          <a:xfrm>
            <a:off x="6757619" y="3678259"/>
            <a:ext cx="4716618" cy="2874941"/>
            <a:chOff x="2865087" y="3045282"/>
            <a:chExt cx="5895772" cy="3593676"/>
          </a:xfrm>
        </p:grpSpPr>
        <p:cxnSp>
          <p:nvCxnSpPr>
            <p:cNvPr id="26" name="直線コネクタ 25"/>
            <p:cNvCxnSpPr/>
            <p:nvPr/>
          </p:nvCxnSpPr>
          <p:spPr>
            <a:xfrm>
              <a:off x="4946842" y="3847329"/>
              <a:ext cx="2455415" cy="46191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/>
            <p:cNvCxnSpPr/>
            <p:nvPr/>
          </p:nvCxnSpPr>
          <p:spPr>
            <a:xfrm>
              <a:off x="4953404" y="3896018"/>
              <a:ext cx="1896358" cy="970673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/>
            <p:cNvCxnSpPr/>
            <p:nvPr/>
          </p:nvCxnSpPr>
          <p:spPr>
            <a:xfrm>
              <a:off x="4940305" y="3949052"/>
              <a:ext cx="1059473" cy="659594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/>
            <p:cNvCxnSpPr/>
            <p:nvPr/>
          </p:nvCxnSpPr>
          <p:spPr>
            <a:xfrm>
              <a:off x="4816931" y="4012316"/>
              <a:ext cx="480686" cy="1194242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/>
            <p:cNvCxnSpPr/>
            <p:nvPr/>
          </p:nvCxnSpPr>
          <p:spPr>
            <a:xfrm flipH="1">
              <a:off x="4542813" y="4005426"/>
              <a:ext cx="139577" cy="427525"/>
            </a:xfrm>
            <a:prstGeom prst="line">
              <a:avLst/>
            </a:prstGeom>
            <a:ln w="38100"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円/楕円 30"/>
            <p:cNvSpPr/>
            <p:nvPr/>
          </p:nvSpPr>
          <p:spPr>
            <a:xfrm>
              <a:off x="4421844" y="4250665"/>
              <a:ext cx="283886" cy="28388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2" name="円/楕円 31"/>
            <p:cNvSpPr/>
            <p:nvPr/>
          </p:nvSpPr>
          <p:spPr>
            <a:xfrm>
              <a:off x="7231314" y="4175197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3" name="円/楕円 32"/>
            <p:cNvSpPr/>
            <p:nvPr/>
          </p:nvSpPr>
          <p:spPr>
            <a:xfrm>
              <a:off x="6716437" y="4742969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4" name="フリーフォーム 33"/>
            <p:cNvSpPr/>
            <p:nvPr/>
          </p:nvSpPr>
          <p:spPr>
            <a:xfrm>
              <a:off x="4041570" y="3240955"/>
              <a:ext cx="4108863" cy="2587195"/>
            </a:xfrm>
            <a:custGeom>
              <a:avLst/>
              <a:gdLst>
                <a:gd name="connsiteX0" fmla="*/ 0 w 4108863"/>
                <a:gd name="connsiteY0" fmla="*/ 0 h 2185060"/>
                <a:gd name="connsiteX1" fmla="*/ 0 w 4108863"/>
                <a:gd name="connsiteY1" fmla="*/ 2185060 h 2185060"/>
                <a:gd name="connsiteX2" fmla="*/ 4108863 w 4108863"/>
                <a:gd name="connsiteY2" fmla="*/ 2185060 h 218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8863" h="2185060">
                  <a:moveTo>
                    <a:pt x="0" y="0"/>
                  </a:moveTo>
                  <a:lnTo>
                    <a:pt x="0" y="2185060"/>
                  </a:lnTo>
                  <a:lnTo>
                    <a:pt x="4108863" y="2185060"/>
                  </a:lnTo>
                </a:path>
              </a:pathLst>
            </a:custGeom>
            <a:noFill/>
            <a:ln w="762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5" name="テキスト ボックス 34"/>
            <p:cNvSpPr txBox="1"/>
            <p:nvPr/>
          </p:nvSpPr>
          <p:spPr>
            <a:xfrm>
              <a:off x="7323945" y="59463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1</a:t>
              </a:r>
              <a:endParaRPr lang="ja-JP" altLang="en-US" sz="2400" dirty="0"/>
            </a:p>
          </p:txBody>
        </p:sp>
        <p:sp>
          <p:nvSpPr>
            <p:cNvPr id="36" name="テキスト ボックス 35"/>
            <p:cNvSpPr txBox="1"/>
            <p:nvPr/>
          </p:nvSpPr>
          <p:spPr>
            <a:xfrm>
              <a:off x="2865087" y="3355596"/>
              <a:ext cx="1436914" cy="46166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ja-JP" sz="2400" baseline="-25000" dirty="0"/>
                <a:t>2</a:t>
              </a:r>
              <a:endParaRPr lang="ja-JP" altLang="en-US" sz="2400" dirty="0"/>
            </a:p>
          </p:txBody>
        </p:sp>
        <p:sp>
          <p:nvSpPr>
            <p:cNvPr id="37" name="円/楕円 36"/>
            <p:cNvSpPr/>
            <p:nvPr/>
          </p:nvSpPr>
          <p:spPr>
            <a:xfrm>
              <a:off x="5850214" y="4459083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8" name="円/楕円 37"/>
            <p:cNvSpPr/>
            <p:nvPr/>
          </p:nvSpPr>
          <p:spPr>
            <a:xfrm>
              <a:off x="5182391" y="5110335"/>
              <a:ext cx="283886" cy="28388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39" name="テキスト ボックス 38"/>
            <p:cNvSpPr txBox="1"/>
            <p:nvPr/>
          </p:nvSpPr>
          <p:spPr>
            <a:xfrm>
              <a:off x="4550519" y="6115738"/>
              <a:ext cx="3090961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/>
                <a:t>決定変数空間</a:t>
              </a:r>
            </a:p>
          </p:txBody>
        </p:sp>
        <p:sp>
          <p:nvSpPr>
            <p:cNvPr id="40" name="円/楕円 39"/>
            <p:cNvSpPr/>
            <p:nvPr/>
          </p:nvSpPr>
          <p:spPr>
            <a:xfrm>
              <a:off x="4658162" y="3748369"/>
              <a:ext cx="194400" cy="194400"/>
            </a:xfrm>
            <a:prstGeom prst="ellipse">
              <a:avLst/>
            </a:prstGeom>
            <a:solidFill>
              <a:schemeClr val="tx1"/>
            </a:solidFill>
            <a:ln w="127000" cmpd="thinThick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41" name="テキスト ボックス 40"/>
            <p:cNvSpPr txBox="1"/>
            <p:nvPr/>
          </p:nvSpPr>
          <p:spPr>
            <a:xfrm>
              <a:off x="4172581" y="4506937"/>
              <a:ext cx="1314596" cy="103874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ja-JP" altLang="en-US" sz="2400" b="1" dirty="0">
                  <a:ln w="6350">
                    <a:solidFill>
                      <a:schemeClr val="bg1"/>
                    </a:solidFill>
                  </a:ln>
                </a:rPr>
                <a:t>親個体</a:t>
              </a:r>
              <a:r>
                <a:rPr lang="en-US" altLang="ja-JP" sz="2400" dirty="0" smtClean="0"/>
                <a:t/>
              </a:r>
              <a:br>
                <a:rPr lang="en-US" altLang="ja-JP" sz="2400" dirty="0" smtClean="0"/>
              </a:br>
              <a:r>
                <a:rPr lang="en-US" altLang="ja-JP" sz="2400" dirty="0" smtClean="0"/>
                <a:t>2</a:t>
              </a:r>
              <a:endParaRPr lang="ja-JP" altLang="en-US" sz="2400" dirty="0"/>
            </a:p>
          </p:txBody>
        </p:sp>
        <p:sp>
          <p:nvSpPr>
            <p:cNvPr id="42" name="テキスト ボックス 41"/>
            <p:cNvSpPr txBox="1"/>
            <p:nvPr/>
          </p:nvSpPr>
          <p:spPr>
            <a:xfrm>
              <a:off x="4071197" y="3045282"/>
              <a:ext cx="1738665" cy="577081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400" dirty="0"/>
                <a:t>親</a:t>
              </a:r>
              <a:r>
                <a:rPr lang="ja-JP" altLang="en-US" sz="2400" dirty="0" smtClean="0"/>
                <a:t>個体</a:t>
              </a:r>
              <a:r>
                <a:rPr lang="en-US" altLang="ja-JP" sz="2400" dirty="0" smtClean="0"/>
                <a:t>1</a:t>
              </a:r>
              <a:endParaRPr lang="ja-JP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88051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疑問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最適</a:t>
            </a:r>
            <a:r>
              <a:rPr lang="ja-JP" altLang="en-US" dirty="0" smtClean="0"/>
              <a:t>なパラメータをどのように決定するか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1</a:t>
            </a:r>
          </a:p>
          <a:p>
            <a:pPr lvl="1"/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各問題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(CIHS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～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NILS)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で得られた結果をランク付けして，合計ランクが優れている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/>
            </a:r>
            <a:b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方法</a:t>
            </a:r>
            <a:r>
              <a:rPr lang="en-US" altLang="ja-JP" dirty="0" smtClean="0"/>
              <a:t>2</a:t>
            </a:r>
          </a:p>
          <a:p>
            <a:pPr lvl="1"/>
            <a:r>
              <a:rPr lang="ja-JP" altLang="en-US" dirty="0"/>
              <a:t>各問題</a:t>
            </a:r>
            <a:r>
              <a:rPr lang="ja-JP" altLang="en-US" dirty="0" smtClean="0"/>
              <a:t>で得られた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を正規化</a:t>
            </a:r>
            <a:r>
              <a:rPr lang="en-US" altLang="ja-JP" dirty="0" smtClean="0"/>
              <a:t>([0, 1])</a:t>
            </a:r>
            <a:r>
              <a:rPr lang="ja-JP" altLang="en-US" dirty="0" smtClean="0"/>
              <a:t>し，その合計値が優れているパラメータを採用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3</a:t>
            </a:r>
          </a:p>
          <a:p>
            <a:pPr lvl="1"/>
            <a:r>
              <a:rPr lang="ja-JP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元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の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NSGA-II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との性能差を計算し，差が大きいパラメータを採用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0" lvl="1"/>
            <a:r>
              <a:rPr lang="ja-JP" altLang="en-US" sz="3200" dirty="0">
                <a:cs typeface="+mn-cs"/>
              </a:rPr>
              <a:t>結果と</a:t>
            </a:r>
            <a:r>
              <a:rPr lang="ja-JP" altLang="en-US" sz="3200" dirty="0" smtClean="0">
                <a:cs typeface="+mn-cs"/>
              </a:rPr>
              <a:t>して</a:t>
            </a:r>
            <a:r>
              <a:rPr lang="en-US" altLang="ja-JP" sz="3200" i="1" dirty="0">
                <a:latin typeface="Symbol" panose="05050102010706020507" pitchFamily="18" charset="2"/>
              </a:rPr>
              <a:t>a </a:t>
            </a:r>
            <a:r>
              <a:rPr lang="en-US" altLang="ja-JP" sz="3200" dirty="0" smtClean="0">
                <a:cs typeface="+mn-cs"/>
              </a:rPr>
              <a:t>= 10,</a:t>
            </a:r>
            <a:r>
              <a:rPr lang="en-US" altLang="ja-JP" sz="3200" i="1" dirty="0">
                <a:latin typeface="Symbol" panose="05050102010706020507" pitchFamily="18" charset="2"/>
              </a:rPr>
              <a:t> </a:t>
            </a:r>
            <a:r>
              <a:rPr lang="en-US" altLang="ja-JP" sz="3200" i="1" dirty="0" smtClean="0">
                <a:latin typeface="Symbol" panose="05050102010706020507" pitchFamily="18" charset="2"/>
              </a:rPr>
              <a:t>b</a:t>
            </a:r>
            <a:r>
              <a:rPr lang="en-US" altLang="ja-JP" sz="3200" dirty="0" smtClean="0">
                <a:cs typeface="+mn-cs"/>
              </a:rPr>
              <a:t> =</a:t>
            </a:r>
            <a:r>
              <a:rPr lang="ja-JP" altLang="en-US" sz="3200" dirty="0" smtClean="0">
                <a:cs typeface="+mn-cs"/>
              </a:rPr>
              <a:t> </a:t>
            </a:r>
            <a:r>
              <a:rPr lang="en-US" altLang="ja-JP" sz="3200" dirty="0" smtClean="0">
                <a:cs typeface="+mn-cs"/>
              </a:rPr>
              <a:t>2</a:t>
            </a:r>
            <a:r>
              <a:rPr lang="ja-JP" altLang="en-US" sz="3200" dirty="0" smtClean="0">
                <a:cs typeface="+mn-cs"/>
              </a:rPr>
              <a:t>が最適なパラメータとなった．</a:t>
            </a:r>
            <a:endParaRPr lang="en-US" altLang="ja-JP" sz="3200" dirty="0" smtClean="0">
              <a:cs typeface="+mn-cs"/>
            </a:endParaRPr>
          </a:p>
          <a:p>
            <a:pPr marL="0" lvl="1"/>
            <a:r>
              <a:rPr lang="ja-JP" altLang="en-US" sz="3200" dirty="0" smtClean="0">
                <a:cs typeface="+mn-cs"/>
              </a:rPr>
              <a:t>親個体は，目的関数空間の端から選ぶことが適当</a:t>
            </a:r>
            <a:r>
              <a:rPr lang="en-US" altLang="ja-JP" sz="3200" dirty="0" smtClean="0">
                <a:cs typeface="+mn-cs"/>
              </a:rPr>
              <a:t>?</a:t>
            </a:r>
            <a:endParaRPr lang="en-US" altLang="ja-JP" sz="3200" dirty="0"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36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SMS</a:t>
            </a:r>
            <a:r>
              <a:rPr lang="ja-JP" altLang="en-US" dirty="0" smtClean="0"/>
              <a:t>を取り入れたマルチタスク手法の実装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本研究では島モデル型マルチタスキング手法に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を取り入れる．</a:t>
            </a:r>
            <a:endParaRPr lang="en-US" altLang="ja-JP" dirty="0"/>
          </a:p>
          <a:p>
            <a:pPr algn="l">
              <a:tabLst>
                <a:tab pos="3235325" algn="l"/>
              </a:tabLst>
            </a:pPr>
            <a:r>
              <a:rPr lang="ja-JP" altLang="en-US" dirty="0"/>
              <a:t>タスク間交叉</a:t>
            </a:r>
            <a:r>
              <a:rPr kumimoji="1" lang="ja-JP" altLang="en-US" dirty="0" smtClean="0"/>
              <a:t>時の親個体は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   </a:t>
            </a:r>
            <a:r>
              <a:rPr lang="ja-JP" altLang="en-US" dirty="0"/>
              <a:t>他タスク</a:t>
            </a:r>
            <a:r>
              <a:rPr lang="ja-JP" altLang="en-US" dirty="0" smtClean="0"/>
              <a:t>の個体</a:t>
            </a:r>
            <a:r>
              <a:rPr kumimoji="1" lang="en-US" altLang="ja-JP" dirty="0" smtClean="0"/>
              <a:t>:	</a:t>
            </a:r>
            <a:r>
              <a:rPr kumimoji="1" lang="ja-JP" altLang="en-US" dirty="0" smtClean="0"/>
              <a:t>バイナリトーナメント</a:t>
            </a:r>
            <a:r>
              <a:rPr lang="ja-JP" altLang="en-US" dirty="0" smtClean="0"/>
              <a:t>で</a:t>
            </a:r>
            <a:r>
              <a:rPr kumimoji="1" lang="ja-JP" altLang="en-US" dirty="0" smtClean="0"/>
              <a:t>選択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 </a:t>
            </a:r>
            <a:r>
              <a:rPr lang="en-US" altLang="ja-JP" dirty="0"/>
              <a:t>= </a:t>
            </a:r>
            <a:r>
              <a:rPr lang="en-US" altLang="ja-JP" dirty="0" smtClean="0"/>
              <a:t>1 or 2</a:t>
            </a:r>
            <a:r>
              <a:rPr kumimoji="1" lang="en-US" altLang="ja-JP" dirty="0" smtClean="0"/>
              <a:t>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 smtClean="0"/>
              <a:t>   </a:t>
            </a:r>
            <a:r>
              <a:rPr lang="ja-JP" altLang="en-US" dirty="0"/>
              <a:t>自タスクの個体</a:t>
            </a:r>
            <a:r>
              <a:rPr kumimoji="1" lang="en-US" altLang="ja-JP" dirty="0" smtClean="0"/>
              <a:t>:	1.</a:t>
            </a:r>
            <a:r>
              <a:rPr kumimoji="1" lang="ja-JP" altLang="en-US" dirty="0" smtClean="0"/>
              <a:t> 独立探索時の親個体</a:t>
            </a:r>
            <a:r>
              <a:rPr kumimoji="1" lang="en-US" altLang="ja-JP" dirty="0" smtClean="0"/>
              <a:t>2</a:t>
            </a:r>
            <a:r>
              <a:rPr lang="ja-JP" altLang="en-US" dirty="0" smtClean="0"/>
              <a:t>と同じ選択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/>
              <a:t>	</a:t>
            </a:r>
            <a:r>
              <a:rPr lang="en-US" altLang="ja-JP" dirty="0" smtClean="0"/>
              <a:t>2.</a:t>
            </a:r>
            <a:r>
              <a:rPr lang="ja-JP" altLang="en-US" dirty="0" smtClean="0"/>
              <a:t> 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</a:t>
            </a:r>
            <a:r>
              <a:rPr lang="en-US" altLang="ja-JP" dirty="0" smtClean="0"/>
              <a:t>(NN</a:t>
            </a:r>
            <a:r>
              <a:rPr lang="ja-JP" altLang="en-US" dirty="0" smtClean="0"/>
              <a:t>と呼ぶ</a:t>
            </a:r>
            <a:r>
              <a:rPr lang="en-US" altLang="ja-JP" dirty="0" smtClean="0"/>
              <a:t>)</a:t>
            </a:r>
          </a:p>
          <a:p>
            <a:pPr algn="l"/>
            <a:r>
              <a:rPr lang="ja-JP" altLang="en-US" dirty="0" smtClean="0"/>
              <a:t>とする</a:t>
            </a:r>
            <a:r>
              <a:rPr lang="en-US" altLang="ja-JP" dirty="0" smtClean="0"/>
              <a:t>.</a:t>
            </a:r>
          </a:p>
          <a:p>
            <a:pPr algn="l"/>
            <a:r>
              <a:rPr lang="ja-JP" altLang="en-US" dirty="0" smtClean="0"/>
              <a:t>情報</a:t>
            </a:r>
            <a:r>
              <a:rPr lang="ja-JP" altLang="en-US" dirty="0"/>
              <a:t>共有</a:t>
            </a:r>
            <a:r>
              <a:rPr lang="ja-JP" altLang="en-US" dirty="0" smtClean="0"/>
              <a:t>は，一定世代間隔で一定数の個体で行う．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544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に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が適用しづらい理由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lang="ja-JP" altLang="en-US" dirty="0"/>
              <a:t>で</a:t>
            </a:r>
            <a:r>
              <a:rPr lang="ja-JP" altLang="en-US" dirty="0" smtClean="0"/>
              <a:t>は，親個体はタスクに関係なく選択される．</a:t>
            </a:r>
            <a:endParaRPr lang="en-US" altLang="ja-JP" dirty="0"/>
          </a:p>
          <a:p>
            <a:r>
              <a:rPr kumimoji="1" lang="ja-JP" altLang="en-US" dirty="0" smtClean="0"/>
              <a:t>そのため，複数個体中の選択基準である最近傍・再遠方は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望んだ結果にならない可能性が高い．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618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の子個体生成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MO-MFEA</a:t>
            </a:r>
            <a:r>
              <a:rPr lang="ja-JP" altLang="en-US" dirty="0" smtClean="0"/>
              <a:t>では，一定</a:t>
            </a:r>
            <a:r>
              <a:rPr lang="ja-JP" altLang="en-US" dirty="0"/>
              <a:t>確率</a:t>
            </a:r>
            <a:r>
              <a:rPr lang="en-US" altLang="ja-JP" dirty="0"/>
              <a:t>(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dirty="0"/>
              <a:t>)</a:t>
            </a:r>
            <a:r>
              <a:rPr lang="ja-JP" altLang="en-US" dirty="0"/>
              <a:t>で他タスクに</a:t>
            </a:r>
            <a:r>
              <a:rPr lang="ja-JP" altLang="en-US" dirty="0" smtClean="0"/>
              <a:t>割り当てられた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個体</a:t>
            </a:r>
            <a:r>
              <a:rPr lang="ja-JP" altLang="en-US" dirty="0"/>
              <a:t>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lang="ja-JP" altLang="en-US" dirty="0"/>
              <a:t>を行う．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grpSp>
        <p:nvGrpSpPr>
          <p:cNvPr id="27" name="グループ化 26"/>
          <p:cNvGrpSpPr/>
          <p:nvPr/>
        </p:nvGrpSpPr>
        <p:grpSpPr>
          <a:xfrm>
            <a:off x="9119605" y="2592448"/>
            <a:ext cx="2767595" cy="983419"/>
            <a:chOff x="6609731" y="3254696"/>
            <a:chExt cx="2767595" cy="983419"/>
          </a:xfrm>
        </p:grpSpPr>
        <p:grpSp>
          <p:nvGrpSpPr>
            <p:cNvPr id="28" name="グループ化 27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0" name="グループ化 29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4" name="円/楕円 33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5" name="テキスト ボックス 34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2" name="円/楕円 31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3" name="テキスト ボックス 32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29" name="正方形/長方形 28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6" name="グループ化 45"/>
          <p:cNvGrpSpPr/>
          <p:nvPr/>
        </p:nvGrpSpPr>
        <p:grpSpPr>
          <a:xfrm>
            <a:off x="4311744" y="4132207"/>
            <a:ext cx="1997029" cy="1912938"/>
            <a:chOff x="3095658" y="4461313"/>
            <a:chExt cx="1997029" cy="1912938"/>
          </a:xfrm>
        </p:grpSpPr>
        <p:sp>
          <p:nvSpPr>
            <p:cNvPr id="6" name="テキスト ボックス 5"/>
            <p:cNvSpPr txBox="1"/>
            <p:nvPr/>
          </p:nvSpPr>
          <p:spPr>
            <a:xfrm>
              <a:off x="3095658" y="5420144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7" name="二等辺三角形 6"/>
            <p:cNvSpPr/>
            <p:nvPr/>
          </p:nvSpPr>
          <p:spPr>
            <a:xfrm rot="5400000">
              <a:off x="368615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2136336" y="2507911"/>
            <a:ext cx="1871002" cy="4186703"/>
            <a:chOff x="777683" y="2507911"/>
            <a:chExt cx="1871002" cy="4186703"/>
          </a:xfrm>
        </p:grpSpPr>
        <p:grpSp>
          <p:nvGrpSpPr>
            <p:cNvPr id="9" name="グループ化 8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1" name="正方形/長方形 10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3" name="グループ化 12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19" name="円/楕円 18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0" name="円/楕円 1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14" name="グループ化 13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15" name="円/楕円 14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6" name="円/楕円 15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" name="円/楕円 16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8" name="円/楕円 17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10" name="テキスト ボックス 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23" name="グループ化 22"/>
          <p:cNvGrpSpPr/>
          <p:nvPr/>
        </p:nvGrpSpPr>
        <p:grpSpPr>
          <a:xfrm>
            <a:off x="6573193" y="3842578"/>
            <a:ext cx="478301" cy="1395291"/>
            <a:chOff x="4896723" y="3752124"/>
            <a:chExt cx="478301" cy="1395291"/>
          </a:xfrm>
        </p:grpSpPr>
        <p:sp>
          <p:nvSpPr>
            <p:cNvPr id="24" name="円/楕円 23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9" name="グループ化 38"/>
          <p:cNvGrpSpPr/>
          <p:nvPr/>
        </p:nvGrpSpPr>
        <p:grpSpPr>
          <a:xfrm>
            <a:off x="9577363" y="3842578"/>
            <a:ext cx="478301" cy="1395291"/>
            <a:chOff x="10544253" y="4272640"/>
            <a:chExt cx="478301" cy="1395291"/>
          </a:xfrm>
        </p:grpSpPr>
        <p:sp>
          <p:nvSpPr>
            <p:cNvPr id="36" name="円/楕円 35"/>
            <p:cNvSpPr/>
            <p:nvPr/>
          </p:nvSpPr>
          <p:spPr>
            <a:xfrm>
              <a:off x="10544253" y="5189630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/>
          </p:nvSpPr>
          <p:spPr>
            <a:xfrm>
              <a:off x="10544253" y="4272640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/>
        </p:nvGrpSpPr>
        <p:grpSpPr>
          <a:xfrm>
            <a:off x="7315913" y="4132207"/>
            <a:ext cx="1997029" cy="2205326"/>
            <a:chOff x="6099827" y="4461313"/>
            <a:chExt cx="1997029" cy="2205326"/>
          </a:xfrm>
        </p:grpSpPr>
        <p:sp>
          <p:nvSpPr>
            <p:cNvPr id="42" name="テキスト ボックス 41"/>
            <p:cNvSpPr txBox="1"/>
            <p:nvPr/>
          </p:nvSpPr>
          <p:spPr>
            <a:xfrm>
              <a:off x="6099827" y="5420144"/>
              <a:ext cx="1997029" cy="124649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ja-JP" altLang="en-US" sz="2800" dirty="0"/>
                <a:t>交叉</a:t>
              </a:r>
              <a:endParaRPr lang="en-US" altLang="ja-JP" sz="2800" dirty="0"/>
            </a:p>
            <a:p>
              <a:pPr algn="ctr">
                <a:lnSpc>
                  <a:spcPts val="3000"/>
                </a:lnSpc>
              </a:pPr>
              <a:r>
                <a:rPr lang="en-US" altLang="ja-JP" sz="2800" dirty="0"/>
                <a:t>+</a:t>
              </a:r>
            </a:p>
            <a:p>
              <a:pPr algn="ctr">
                <a:lnSpc>
                  <a:spcPts val="3000"/>
                </a:lnSpc>
              </a:pPr>
              <a:r>
                <a:rPr lang="ja-JP" altLang="en-US" sz="2800" dirty="0"/>
                <a:t>突然変異</a:t>
              </a:r>
              <a:endParaRPr lang="en-US" altLang="ja-JP" sz="2800" dirty="0"/>
            </a:p>
          </p:txBody>
        </p:sp>
        <p:sp>
          <p:nvSpPr>
            <p:cNvPr id="43" name="二等辺三角形 42"/>
            <p:cNvSpPr/>
            <p:nvPr/>
          </p:nvSpPr>
          <p:spPr>
            <a:xfrm rot="5400000">
              <a:off x="669032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908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の子個体生成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MO-MFEA</a:t>
            </a:r>
            <a:r>
              <a:rPr lang="ja-JP" altLang="en-US" dirty="0" smtClean="0"/>
              <a:t>では，一定</a:t>
            </a:r>
            <a:r>
              <a:rPr lang="ja-JP" altLang="en-US" dirty="0"/>
              <a:t>確率</a:t>
            </a:r>
            <a:r>
              <a:rPr lang="en-US" altLang="ja-JP" dirty="0"/>
              <a:t>(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dirty="0"/>
              <a:t>)</a:t>
            </a:r>
            <a:r>
              <a:rPr lang="ja-JP" altLang="en-US" dirty="0"/>
              <a:t>で他タスクに</a:t>
            </a:r>
            <a:r>
              <a:rPr lang="ja-JP" altLang="en-US" dirty="0" smtClean="0"/>
              <a:t>割り当てられた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個体</a:t>
            </a:r>
            <a:r>
              <a:rPr lang="ja-JP" altLang="en-US" dirty="0"/>
              <a:t>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lang="ja-JP" altLang="en-US" dirty="0"/>
              <a:t>を行う．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grpSp>
        <p:nvGrpSpPr>
          <p:cNvPr id="27" name="グループ化 26"/>
          <p:cNvGrpSpPr/>
          <p:nvPr/>
        </p:nvGrpSpPr>
        <p:grpSpPr>
          <a:xfrm>
            <a:off x="9119605" y="2592448"/>
            <a:ext cx="2767595" cy="983419"/>
            <a:chOff x="6609731" y="3254696"/>
            <a:chExt cx="2767595" cy="983419"/>
          </a:xfrm>
        </p:grpSpPr>
        <p:grpSp>
          <p:nvGrpSpPr>
            <p:cNvPr id="28" name="グループ化 27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0" name="グループ化 29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4" name="円/楕円 33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5" name="テキスト ボックス 34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2" name="円/楕円 31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3" name="テキスト ボックス 32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29" name="正方形/長方形 28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2136336" y="2507911"/>
            <a:ext cx="1871002" cy="4186703"/>
            <a:chOff x="777683" y="2507911"/>
            <a:chExt cx="1871002" cy="4186703"/>
          </a:xfrm>
        </p:grpSpPr>
        <p:grpSp>
          <p:nvGrpSpPr>
            <p:cNvPr id="9" name="グループ化 8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1" name="正方形/長方形 10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3" name="グループ化 12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19" name="円/楕円 18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0" name="円/楕円 1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14" name="グループ化 13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15" name="円/楕円 14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6" name="円/楕円 15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" name="円/楕円 16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8" name="円/楕円 17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10" name="テキスト ボックス 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45" name="グループ化 44"/>
          <p:cNvGrpSpPr/>
          <p:nvPr/>
        </p:nvGrpSpPr>
        <p:grpSpPr>
          <a:xfrm>
            <a:off x="4311744" y="4132207"/>
            <a:ext cx="1997029" cy="1912938"/>
            <a:chOff x="3095658" y="4461313"/>
            <a:chExt cx="1997029" cy="1912938"/>
          </a:xfrm>
        </p:grpSpPr>
        <p:sp>
          <p:nvSpPr>
            <p:cNvPr id="48" name="テキスト ボックス 47"/>
            <p:cNvSpPr txBox="1"/>
            <p:nvPr/>
          </p:nvSpPr>
          <p:spPr>
            <a:xfrm>
              <a:off x="3095658" y="5420144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49" name="二等辺三角形 48"/>
            <p:cNvSpPr/>
            <p:nvPr/>
          </p:nvSpPr>
          <p:spPr>
            <a:xfrm rot="5400000">
              <a:off x="368615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0" name="グループ化 49"/>
          <p:cNvGrpSpPr/>
          <p:nvPr/>
        </p:nvGrpSpPr>
        <p:grpSpPr>
          <a:xfrm>
            <a:off x="6573193" y="3842578"/>
            <a:ext cx="478301" cy="1395291"/>
            <a:chOff x="4896723" y="3752124"/>
            <a:chExt cx="478301" cy="1395291"/>
          </a:xfrm>
        </p:grpSpPr>
        <p:sp>
          <p:nvSpPr>
            <p:cNvPr id="51" name="円/楕円 50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グループ化 52"/>
          <p:cNvGrpSpPr/>
          <p:nvPr/>
        </p:nvGrpSpPr>
        <p:grpSpPr>
          <a:xfrm>
            <a:off x="9577363" y="3842578"/>
            <a:ext cx="478301" cy="1395291"/>
            <a:chOff x="10544253" y="4272640"/>
            <a:chExt cx="478301" cy="1395291"/>
          </a:xfrm>
        </p:grpSpPr>
        <p:sp>
          <p:nvSpPr>
            <p:cNvPr id="54" name="円/楕円 53"/>
            <p:cNvSpPr/>
            <p:nvPr/>
          </p:nvSpPr>
          <p:spPr>
            <a:xfrm>
              <a:off x="10544253" y="5189630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円/楕円 54"/>
            <p:cNvSpPr/>
            <p:nvPr/>
          </p:nvSpPr>
          <p:spPr>
            <a:xfrm>
              <a:off x="10544253" y="4272640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6" name="グループ化 55"/>
          <p:cNvGrpSpPr/>
          <p:nvPr/>
        </p:nvGrpSpPr>
        <p:grpSpPr>
          <a:xfrm>
            <a:off x="7315913" y="4132207"/>
            <a:ext cx="1997029" cy="2205326"/>
            <a:chOff x="6099827" y="4461313"/>
            <a:chExt cx="1997029" cy="2205326"/>
          </a:xfrm>
        </p:grpSpPr>
        <p:sp>
          <p:nvSpPr>
            <p:cNvPr id="57" name="テキスト ボックス 56"/>
            <p:cNvSpPr txBox="1"/>
            <p:nvPr/>
          </p:nvSpPr>
          <p:spPr>
            <a:xfrm>
              <a:off x="6099827" y="5420144"/>
              <a:ext cx="1997029" cy="1246495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ja-JP" altLang="en-US" sz="2800" dirty="0"/>
                <a:t>突然変異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/>
                <a:t>(</a:t>
              </a:r>
              <a:r>
                <a:rPr lang="ja-JP" altLang="en-US" sz="2800" dirty="0"/>
                <a:t>確率</a:t>
              </a:r>
              <a:r>
                <a:rPr lang="en-US" altLang="ja-JP" sz="2800" dirty="0"/>
                <a:t>: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1</a:t>
              </a:r>
              <a:r>
                <a:rPr lang="ja-JP" altLang="en-US" sz="2800" dirty="0"/>
                <a:t> </a:t>
              </a:r>
              <a:r>
                <a:rPr lang="en-US" altLang="ja-JP" sz="2800" dirty="0"/>
                <a:t>-</a:t>
              </a:r>
              <a:r>
                <a:rPr lang="ja-JP" altLang="en-US" sz="2800" dirty="0"/>
                <a:t> </a:t>
              </a:r>
              <a:r>
                <a:rPr lang="en-US" altLang="ja-JP" sz="28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/>
                <a:t>)</a:t>
              </a:r>
              <a:endParaRPr lang="en-US" altLang="ja-JP" sz="2800" dirty="0"/>
            </a:p>
          </p:txBody>
        </p:sp>
        <p:sp>
          <p:nvSpPr>
            <p:cNvPr id="58" name="二等辺三角形 57"/>
            <p:cNvSpPr/>
            <p:nvPr/>
          </p:nvSpPr>
          <p:spPr>
            <a:xfrm rot="5400000">
              <a:off x="669032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8547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MO-MFEA</a:t>
            </a:r>
            <a:r>
              <a:rPr kumimoji="1" lang="ja-JP" altLang="en-US" dirty="0" smtClean="0"/>
              <a:t>の子個体生成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smtClean="0"/>
              <a:t>MO-MFEA</a:t>
            </a:r>
            <a:r>
              <a:rPr lang="ja-JP" altLang="en-US" dirty="0" smtClean="0"/>
              <a:t>では，一定</a:t>
            </a:r>
            <a:r>
              <a:rPr lang="ja-JP" altLang="en-US" dirty="0"/>
              <a:t>確率</a:t>
            </a:r>
            <a:r>
              <a:rPr lang="en-US" altLang="ja-JP" dirty="0"/>
              <a:t>(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rmp</a:t>
            </a:r>
            <a:r>
              <a:rPr lang="en-US" altLang="ja-JP" dirty="0"/>
              <a:t>)</a:t>
            </a:r>
            <a:r>
              <a:rPr lang="ja-JP" altLang="en-US" dirty="0"/>
              <a:t>で他タスクに</a:t>
            </a:r>
            <a:r>
              <a:rPr lang="ja-JP" altLang="en-US" dirty="0" smtClean="0"/>
              <a:t>割り当てられた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個体</a:t>
            </a:r>
            <a:r>
              <a:rPr lang="ja-JP" altLang="en-US" dirty="0"/>
              <a:t>とも交叉</a:t>
            </a:r>
            <a:r>
              <a:rPr lang="en-US" altLang="ja-JP" dirty="0"/>
              <a:t>(</a:t>
            </a:r>
            <a:r>
              <a:rPr lang="ja-JP" altLang="en-US" dirty="0"/>
              <a:t>タスク間交叉</a:t>
            </a:r>
            <a:r>
              <a:rPr lang="en-US" altLang="ja-JP" dirty="0"/>
              <a:t>)</a:t>
            </a:r>
            <a:r>
              <a:rPr lang="ja-JP" altLang="en-US" dirty="0"/>
              <a:t>を行う．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grpSp>
        <p:nvGrpSpPr>
          <p:cNvPr id="27" name="グループ化 26"/>
          <p:cNvGrpSpPr/>
          <p:nvPr/>
        </p:nvGrpSpPr>
        <p:grpSpPr>
          <a:xfrm>
            <a:off x="9119605" y="2592448"/>
            <a:ext cx="2767595" cy="983419"/>
            <a:chOff x="6609731" y="3254696"/>
            <a:chExt cx="2767595" cy="983419"/>
          </a:xfrm>
        </p:grpSpPr>
        <p:grpSp>
          <p:nvGrpSpPr>
            <p:cNvPr id="28" name="グループ化 27"/>
            <p:cNvGrpSpPr/>
            <p:nvPr/>
          </p:nvGrpSpPr>
          <p:grpSpPr>
            <a:xfrm>
              <a:off x="6746212" y="3286290"/>
              <a:ext cx="2494633" cy="920230"/>
              <a:chOff x="6806714" y="3317885"/>
              <a:chExt cx="2494633" cy="920230"/>
            </a:xfrm>
          </p:grpSpPr>
          <p:grpSp>
            <p:nvGrpSpPr>
              <p:cNvPr id="30" name="グループ化 29"/>
              <p:cNvGrpSpPr/>
              <p:nvPr/>
            </p:nvGrpSpPr>
            <p:grpSpPr>
              <a:xfrm>
                <a:off x="6806714" y="3317885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4" name="円/楕円 33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5" name="テキスト ボックス 34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kumimoji="1" lang="en-US" altLang="ja-JP" sz="2400" dirty="0" smtClean="0"/>
                    <a:t>1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  <p:grpSp>
            <p:nvGrpSpPr>
              <p:cNvPr id="31" name="グループ化 30"/>
              <p:cNvGrpSpPr/>
              <p:nvPr/>
            </p:nvGrpSpPr>
            <p:grpSpPr>
              <a:xfrm>
                <a:off x="6806714" y="3776450"/>
                <a:ext cx="2494633" cy="461665"/>
                <a:chOff x="6806714" y="3317885"/>
                <a:chExt cx="2494633" cy="461665"/>
              </a:xfrm>
            </p:grpSpPr>
            <p:sp>
              <p:nvSpPr>
                <p:cNvPr id="32" name="円/楕円 31"/>
                <p:cNvSpPr/>
                <p:nvPr/>
              </p:nvSpPr>
              <p:spPr>
                <a:xfrm>
                  <a:off x="6806714" y="3357778"/>
                  <a:ext cx="381878" cy="38187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sp>
              <p:nvSpPr>
                <p:cNvPr id="33" name="テキスト ボックス 32"/>
                <p:cNvSpPr txBox="1"/>
                <p:nvPr/>
              </p:nvSpPr>
              <p:spPr>
                <a:xfrm>
                  <a:off x="7188593" y="3317885"/>
                  <a:ext cx="2112754" cy="461665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400" dirty="0" smtClean="0"/>
                    <a:t>:</a:t>
                  </a:r>
                  <a:r>
                    <a:rPr kumimoji="1" lang="ja-JP" altLang="en-US" sz="2400" dirty="0" smtClean="0"/>
                    <a:t>タスク</a:t>
                  </a:r>
                  <a:r>
                    <a:rPr lang="en-US" altLang="ja-JP" sz="2400" dirty="0"/>
                    <a:t>2</a:t>
                  </a:r>
                  <a:r>
                    <a:rPr kumimoji="1" lang="ja-JP" altLang="en-US" sz="2400" dirty="0" smtClean="0"/>
                    <a:t>の個体</a:t>
                  </a:r>
                </a:p>
              </p:txBody>
            </p:sp>
          </p:grpSp>
        </p:grpSp>
        <p:sp>
          <p:nvSpPr>
            <p:cNvPr id="29" name="正方形/長方形 28"/>
            <p:cNvSpPr/>
            <p:nvPr/>
          </p:nvSpPr>
          <p:spPr>
            <a:xfrm>
              <a:off x="6609731" y="3254696"/>
              <a:ext cx="2767595" cy="983419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/>
          <p:cNvGrpSpPr/>
          <p:nvPr/>
        </p:nvGrpSpPr>
        <p:grpSpPr>
          <a:xfrm>
            <a:off x="2136336" y="2507911"/>
            <a:ext cx="1871002" cy="4186703"/>
            <a:chOff x="777683" y="2507911"/>
            <a:chExt cx="1871002" cy="4186703"/>
          </a:xfrm>
        </p:grpSpPr>
        <p:grpSp>
          <p:nvGrpSpPr>
            <p:cNvPr id="9" name="グループ化 8"/>
            <p:cNvGrpSpPr/>
            <p:nvPr/>
          </p:nvGrpSpPr>
          <p:grpSpPr>
            <a:xfrm>
              <a:off x="777683" y="3044048"/>
              <a:ext cx="1871002" cy="3650566"/>
              <a:chOff x="1083213" y="3165967"/>
              <a:chExt cx="1871002" cy="3650566"/>
            </a:xfrm>
          </p:grpSpPr>
          <p:sp>
            <p:nvSpPr>
              <p:cNvPr id="11" name="正方形/長方形 10"/>
              <p:cNvSpPr/>
              <p:nvPr/>
            </p:nvSpPr>
            <p:spPr>
              <a:xfrm>
                <a:off x="1083213" y="3165967"/>
                <a:ext cx="1871002" cy="3650566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12" name="グループ化 11"/>
              <p:cNvGrpSpPr/>
              <p:nvPr/>
            </p:nvGrpSpPr>
            <p:grpSpPr>
              <a:xfrm>
                <a:off x="1360354" y="3376615"/>
                <a:ext cx="1316720" cy="3229270"/>
                <a:chOff x="1443332" y="3376615"/>
                <a:chExt cx="1316720" cy="3229270"/>
              </a:xfrm>
            </p:grpSpPr>
            <p:grpSp>
              <p:nvGrpSpPr>
                <p:cNvPr id="13" name="グループ化 12"/>
                <p:cNvGrpSpPr/>
                <p:nvPr/>
              </p:nvGrpSpPr>
              <p:grpSpPr>
                <a:xfrm>
                  <a:off x="1443332" y="3376615"/>
                  <a:ext cx="478301" cy="3229270"/>
                  <a:chOff x="1553894" y="3174125"/>
                  <a:chExt cx="478301" cy="3229270"/>
                </a:xfrm>
              </p:grpSpPr>
              <p:sp>
                <p:nvSpPr>
                  <p:cNvPr id="19" name="円/楕円 18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0" name="円/楕円 19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1" name="円/楕円 20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22" name="円/楕円 21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  <p:grpSp>
              <p:nvGrpSpPr>
                <p:cNvPr id="14" name="グループ化 13"/>
                <p:cNvGrpSpPr/>
                <p:nvPr/>
              </p:nvGrpSpPr>
              <p:grpSpPr>
                <a:xfrm>
                  <a:off x="2281751" y="3376615"/>
                  <a:ext cx="478301" cy="3229270"/>
                  <a:chOff x="1553894" y="3174125"/>
                  <a:chExt cx="478301" cy="3229270"/>
                </a:xfrm>
                <a:solidFill>
                  <a:schemeClr val="accent2"/>
                </a:solidFill>
              </p:grpSpPr>
              <p:sp>
                <p:nvSpPr>
                  <p:cNvPr id="15" name="円/楕円 14"/>
                  <p:cNvSpPr/>
                  <p:nvPr/>
                </p:nvSpPr>
                <p:spPr>
                  <a:xfrm>
                    <a:off x="1553894" y="409111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6" name="円/楕円 15"/>
                  <p:cNvSpPr/>
                  <p:nvPr/>
                </p:nvSpPr>
                <p:spPr>
                  <a:xfrm>
                    <a:off x="1553894" y="317412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7" name="円/楕円 16"/>
                  <p:cNvSpPr/>
                  <p:nvPr/>
                </p:nvSpPr>
                <p:spPr>
                  <a:xfrm>
                    <a:off x="1553894" y="5925094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  <p:sp>
                <p:nvSpPr>
                  <p:cNvPr id="18" name="円/楕円 17"/>
                  <p:cNvSpPr/>
                  <p:nvPr/>
                </p:nvSpPr>
                <p:spPr>
                  <a:xfrm>
                    <a:off x="1553894" y="5008105"/>
                    <a:ext cx="478301" cy="478301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ja-JP" altLang="en-US"/>
                  </a:p>
                </p:txBody>
              </p:sp>
            </p:grpSp>
          </p:grpSp>
        </p:grpSp>
        <p:sp>
          <p:nvSpPr>
            <p:cNvPr id="10" name="テキスト ボックス 9"/>
            <p:cNvSpPr txBox="1"/>
            <p:nvPr/>
          </p:nvSpPr>
          <p:spPr>
            <a:xfrm>
              <a:off x="797026" y="2507911"/>
              <a:ext cx="183231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個体</a:t>
              </a:r>
              <a:r>
                <a:rPr lang="ja-JP" altLang="en-US" sz="2800" dirty="0"/>
                <a:t>群</a:t>
              </a:r>
              <a:endParaRPr kumimoji="1" lang="ja-JP" altLang="en-US" sz="2800" dirty="0" smtClean="0"/>
            </a:p>
          </p:txBody>
        </p:sp>
      </p:grpSp>
      <p:grpSp>
        <p:nvGrpSpPr>
          <p:cNvPr id="45" name="グループ化 44"/>
          <p:cNvGrpSpPr/>
          <p:nvPr/>
        </p:nvGrpSpPr>
        <p:grpSpPr>
          <a:xfrm>
            <a:off x="4311744" y="4132207"/>
            <a:ext cx="1997029" cy="1912938"/>
            <a:chOff x="3095658" y="4461313"/>
            <a:chExt cx="1997029" cy="1912938"/>
          </a:xfrm>
        </p:grpSpPr>
        <p:sp>
          <p:nvSpPr>
            <p:cNvPr id="48" name="テキスト ボックス 47"/>
            <p:cNvSpPr txBox="1"/>
            <p:nvPr/>
          </p:nvSpPr>
          <p:spPr>
            <a:xfrm>
              <a:off x="3095658" y="5420144"/>
              <a:ext cx="1997029" cy="95410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dirty="0" smtClean="0"/>
                <a:t>トーナメント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ja-JP" altLang="en-US" sz="2800" dirty="0" smtClean="0"/>
                <a:t>選択</a:t>
              </a:r>
              <a:endParaRPr lang="en-US" altLang="ja-JP" sz="2800" dirty="0" smtClean="0"/>
            </a:p>
          </p:txBody>
        </p:sp>
        <p:sp>
          <p:nvSpPr>
            <p:cNvPr id="49" name="二等辺三角形 48"/>
            <p:cNvSpPr/>
            <p:nvPr/>
          </p:nvSpPr>
          <p:spPr>
            <a:xfrm rot="5400000">
              <a:off x="368615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0" name="グループ化 49"/>
          <p:cNvGrpSpPr/>
          <p:nvPr/>
        </p:nvGrpSpPr>
        <p:grpSpPr>
          <a:xfrm>
            <a:off x="6573193" y="3842578"/>
            <a:ext cx="478301" cy="1395291"/>
            <a:chOff x="4896723" y="3752124"/>
            <a:chExt cx="478301" cy="1395291"/>
          </a:xfrm>
        </p:grpSpPr>
        <p:sp>
          <p:nvSpPr>
            <p:cNvPr id="51" name="円/楕円 50"/>
            <p:cNvSpPr/>
            <p:nvPr/>
          </p:nvSpPr>
          <p:spPr>
            <a:xfrm>
              <a:off x="4896723" y="4669114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/>
            <p:cNvSpPr/>
            <p:nvPr/>
          </p:nvSpPr>
          <p:spPr>
            <a:xfrm>
              <a:off x="4896723" y="3752124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6" name="グループ化 55"/>
          <p:cNvGrpSpPr/>
          <p:nvPr/>
        </p:nvGrpSpPr>
        <p:grpSpPr>
          <a:xfrm>
            <a:off x="6985404" y="4132207"/>
            <a:ext cx="2658046" cy="2590047"/>
            <a:chOff x="5769318" y="4461313"/>
            <a:chExt cx="2658046" cy="2590047"/>
          </a:xfrm>
        </p:grpSpPr>
        <p:sp>
          <p:nvSpPr>
            <p:cNvPr id="57" name="テキスト ボックス 56"/>
            <p:cNvSpPr txBox="1"/>
            <p:nvPr/>
          </p:nvSpPr>
          <p:spPr>
            <a:xfrm>
              <a:off x="5769318" y="5420144"/>
              <a:ext cx="2658046" cy="163121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ja-JP" altLang="en-US" sz="2800" dirty="0" smtClean="0"/>
                <a:t>交叉</a:t>
              </a:r>
              <a:r>
                <a:rPr lang="en-US" altLang="ja-JP" sz="2800" dirty="0" smtClean="0"/>
                <a:t/>
              </a:r>
              <a:br>
                <a:rPr lang="en-US" altLang="ja-JP" sz="2800" dirty="0" smtClean="0"/>
              </a:br>
              <a:r>
                <a:rPr lang="en-US" altLang="ja-JP" sz="2800" dirty="0" smtClean="0"/>
                <a:t>+</a:t>
              </a:r>
              <a:br>
                <a:rPr lang="en-US" altLang="ja-JP" sz="2800" dirty="0" smtClean="0"/>
              </a:br>
              <a:r>
                <a:rPr lang="ja-JP" altLang="en-US" sz="2800" dirty="0" smtClean="0"/>
                <a:t>突然</a:t>
              </a:r>
              <a:r>
                <a:rPr lang="ja-JP" altLang="en-US" sz="2800" dirty="0"/>
                <a:t>変異</a:t>
              </a:r>
              <a:r>
                <a:rPr lang="en-US" altLang="ja-JP" sz="2800" dirty="0"/>
                <a:t/>
              </a:r>
              <a:br>
                <a:rPr lang="en-US" altLang="ja-JP" sz="2800" dirty="0"/>
              </a:br>
              <a:r>
                <a:rPr lang="en-US" altLang="ja-JP" sz="2800" dirty="0"/>
                <a:t>(</a:t>
              </a:r>
              <a:r>
                <a:rPr lang="ja-JP" altLang="en-US" sz="2800" dirty="0"/>
                <a:t>確率</a:t>
              </a:r>
              <a:r>
                <a:rPr lang="en-US" altLang="ja-JP" sz="2800" dirty="0"/>
                <a:t>:</a:t>
              </a:r>
              <a:r>
                <a:rPr lang="ja-JP" altLang="en-US" sz="2800" dirty="0"/>
                <a:t> </a:t>
              </a:r>
              <a:r>
                <a:rPr lang="en-US" altLang="ja-JP" sz="2800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rmp</a:t>
              </a:r>
              <a:r>
                <a:rPr lang="en-US" altLang="ja-JP" sz="2800" dirty="0"/>
                <a:t>)</a:t>
              </a:r>
              <a:endParaRPr lang="en-US" altLang="ja-JP" sz="2800" dirty="0"/>
            </a:p>
          </p:txBody>
        </p:sp>
        <p:sp>
          <p:nvSpPr>
            <p:cNvPr id="58" name="二等辺三角形 57"/>
            <p:cNvSpPr/>
            <p:nvPr/>
          </p:nvSpPr>
          <p:spPr>
            <a:xfrm rot="5400000">
              <a:off x="6690325" y="4637430"/>
              <a:ext cx="816035" cy="463801"/>
            </a:xfrm>
            <a:prstGeom prst="triangle">
              <a:avLst/>
            </a:prstGeom>
            <a:solidFill>
              <a:schemeClr val="tx2"/>
            </a:solidFill>
            <a:ln w="1270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2" name="グループ化 71"/>
          <p:cNvGrpSpPr/>
          <p:nvPr/>
        </p:nvGrpSpPr>
        <p:grpSpPr>
          <a:xfrm>
            <a:off x="9577363" y="3842578"/>
            <a:ext cx="478301" cy="1395291"/>
            <a:chOff x="10544253" y="4272640"/>
            <a:chExt cx="478301" cy="1395291"/>
          </a:xfrm>
        </p:grpSpPr>
        <p:sp>
          <p:nvSpPr>
            <p:cNvPr id="73" name="円/楕円 72"/>
            <p:cNvSpPr/>
            <p:nvPr/>
          </p:nvSpPr>
          <p:spPr>
            <a:xfrm>
              <a:off x="10544253" y="5189630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円/楕円 73"/>
            <p:cNvSpPr/>
            <p:nvPr/>
          </p:nvSpPr>
          <p:spPr>
            <a:xfrm>
              <a:off x="10544253" y="4272640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5" name="グループ化 74"/>
          <p:cNvGrpSpPr/>
          <p:nvPr/>
        </p:nvGrpSpPr>
        <p:grpSpPr>
          <a:xfrm>
            <a:off x="11074735" y="3842578"/>
            <a:ext cx="478301" cy="1395291"/>
            <a:chOff x="10544253" y="4272640"/>
            <a:chExt cx="478301" cy="1395291"/>
          </a:xfrm>
        </p:grpSpPr>
        <p:sp>
          <p:nvSpPr>
            <p:cNvPr id="76" name="円/楕円 75"/>
            <p:cNvSpPr/>
            <p:nvPr/>
          </p:nvSpPr>
          <p:spPr>
            <a:xfrm>
              <a:off x="10544253" y="5189630"/>
              <a:ext cx="478301" cy="47830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/>
          </p:nvSpPr>
          <p:spPr>
            <a:xfrm>
              <a:off x="10544253" y="4272640"/>
              <a:ext cx="478301" cy="47830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8" name="グループ化 77"/>
          <p:cNvGrpSpPr/>
          <p:nvPr/>
        </p:nvGrpSpPr>
        <p:grpSpPr>
          <a:xfrm>
            <a:off x="10296416" y="3804467"/>
            <a:ext cx="537567" cy="1440210"/>
            <a:chOff x="4785233" y="3524336"/>
            <a:chExt cx="537567" cy="1440210"/>
          </a:xfrm>
        </p:grpSpPr>
        <p:sp>
          <p:nvSpPr>
            <p:cNvPr id="79" name="テキスト ボックス 78"/>
            <p:cNvSpPr txBox="1"/>
            <p:nvPr/>
          </p:nvSpPr>
          <p:spPr>
            <a:xfrm>
              <a:off x="4785233" y="444132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  <p:sp>
          <p:nvSpPr>
            <p:cNvPr id="80" name="テキスト ボックス 79"/>
            <p:cNvSpPr txBox="1"/>
            <p:nvPr/>
          </p:nvSpPr>
          <p:spPr>
            <a:xfrm>
              <a:off x="4785233" y="3524336"/>
              <a:ext cx="537567" cy="523220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679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lang="en-US" altLang="ja-JP" dirty="0" smtClean="0"/>
              <a:t>= </a:t>
            </a:r>
            <a:r>
              <a:rPr lang="en-US" altLang="ja-JP" dirty="0"/>
              <a:t>10,</a:t>
            </a:r>
            <a:r>
              <a:rPr lang="en-US" altLang="ja-JP" i="1" dirty="0">
                <a:latin typeface="Symbol" panose="05050102010706020507" pitchFamily="18" charset="2"/>
              </a:rPr>
              <a:t> b</a:t>
            </a:r>
            <a:r>
              <a:rPr lang="en-US" altLang="ja-JP" dirty="0"/>
              <a:t> =</a:t>
            </a:r>
            <a:r>
              <a:rPr lang="ja-JP" altLang="en-US" dirty="0"/>
              <a:t> 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移住間隔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世代，移住個体数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個体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19389"/>
              </p:ext>
            </p:extLst>
          </p:nvPr>
        </p:nvGraphicFramePr>
        <p:xfrm>
          <a:off x="510914" y="2096001"/>
          <a:ext cx="5304172" cy="459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2.36E-3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2.65E-3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8.89E-2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4.57E-2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5.80E-2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8.77E-3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2.71E-4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3.76E-4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1.10E-3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2.51E-2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PIMS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4.13E-3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4.30E-3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2.62E-3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1.72E+1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1.83E+1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</a:t>
                      </a: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3.24E-4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1.10E-2</a:t>
                      </a: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141918"/>
              </p:ext>
            </p:extLst>
          </p:nvPr>
        </p:nvGraphicFramePr>
        <p:xfrm>
          <a:off x="6354689" y="2096001"/>
          <a:ext cx="5304172" cy="243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b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5.35E+0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4.27E+0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1.55E+0</a:t>
                      </a: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5.02E-4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4.21E-1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3.34E-1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2.79E-1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5.62E-2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2.86E-2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7.91E-4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8.35E-4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6.43E-1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7160701" y="5128632"/>
            <a:ext cx="3692146" cy="1200329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tabLst>
                <a:tab pos="1614488" algn="l"/>
              </a:tabLst>
            </a:pPr>
            <a:r>
              <a:rPr lang="en-US" altLang="ja-JP" sz="2400" i="1" dirty="0" smtClean="0">
                <a:latin typeface="Symbol" panose="05050102010706020507" pitchFamily="18" charset="2"/>
              </a:rPr>
              <a:t>b</a:t>
            </a:r>
            <a:r>
              <a:rPr lang="en-US" altLang="ja-JP" sz="2400" dirty="0" smtClean="0"/>
              <a:t> =</a:t>
            </a:r>
            <a:r>
              <a:rPr lang="ja-JP" altLang="en-US" sz="2400" dirty="0" smtClean="0"/>
              <a:t> </a:t>
            </a:r>
            <a:r>
              <a:rPr lang="en-US" altLang="ja-JP" sz="2400" dirty="0"/>
              <a:t>2 </a:t>
            </a:r>
            <a:r>
              <a:rPr kumimoji="1" lang="en-US" altLang="ja-JP" sz="2400" dirty="0" smtClean="0"/>
              <a:t>	:</a:t>
            </a:r>
            <a:r>
              <a:rPr kumimoji="1" lang="ja-JP" altLang="en-US" sz="2400" dirty="0" smtClean="0"/>
              <a:t> </a:t>
            </a:r>
            <a:r>
              <a:rPr lang="ja-JP" altLang="en-US" sz="2400" dirty="0"/>
              <a:t>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5</a:t>
            </a:r>
            <a:r>
              <a:rPr kumimoji="1" lang="en-US" altLang="ja-JP" sz="2400" dirty="0" smtClean="0"/>
              <a:t>/18</a:t>
            </a:r>
            <a:r>
              <a:rPr kumimoji="1" lang="ja-JP" altLang="en-US" sz="2400" dirty="0" smtClean="0"/>
              <a:t>で最良</a:t>
            </a:r>
            <a:endParaRPr kumimoji="1" lang="en-US" altLang="ja-JP" sz="2400" dirty="0" smtClean="0"/>
          </a:p>
          <a:p>
            <a:pPr>
              <a:tabLst>
                <a:tab pos="1614488" algn="l"/>
              </a:tabLst>
            </a:pPr>
            <a:r>
              <a:rPr kumimoji="1" lang="en-US" altLang="ja-JP" sz="2400" dirty="0" smtClean="0"/>
              <a:t>NN	:   4/18</a:t>
            </a:r>
            <a:r>
              <a:rPr kumimoji="1" lang="ja-JP" altLang="en-US" sz="2400" dirty="0" smtClean="0"/>
              <a:t>で最良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MO-MFEA	:</a:t>
            </a:r>
            <a:r>
              <a:rPr kumimoji="1" lang="ja-JP" altLang="en-US" sz="2400" dirty="0" smtClean="0"/>
              <a:t>   </a:t>
            </a:r>
            <a:r>
              <a:rPr lang="en-US" altLang="ja-JP" sz="2400" dirty="0"/>
              <a:t>9</a:t>
            </a:r>
            <a:r>
              <a:rPr kumimoji="1" lang="en-US" altLang="ja-JP" sz="2400" dirty="0" smtClean="0"/>
              <a:t>/18</a:t>
            </a:r>
            <a:r>
              <a:rPr kumimoji="1" lang="ja-JP" altLang="en-US" sz="2400" dirty="0" smtClean="0"/>
              <a:t>で最良</a:t>
            </a:r>
          </a:p>
        </p:txBody>
      </p:sp>
    </p:spTree>
    <p:extLst>
      <p:ext uri="{BB962C8B-B14F-4D97-AF65-F5344CB8AC3E}">
        <p14:creationId xmlns:p14="http://schemas.microsoft.com/office/powerpoint/2010/main" val="337015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SMS</a:t>
            </a:r>
            <a:r>
              <a:rPr lang="ja-JP" altLang="en-US" dirty="0" smtClean="0"/>
              <a:t>を取り入れたマルチタスク手法の実装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65125" indent="-365125" algn="l">
                  <a:tabLst>
                    <a:tab pos="3235325" algn="l"/>
                  </a:tabLst>
                </a:pPr>
                <a:r>
                  <a:rPr lang="ja-JP" altLang="en-US" dirty="0" smtClean="0"/>
                  <a:t>先ほどの実験では，タスク間</a:t>
                </a:r>
                <a:r>
                  <a:rPr lang="ja-JP" altLang="en-US" dirty="0"/>
                  <a:t>交叉</a:t>
                </a:r>
                <a:r>
                  <a:rPr kumimoji="1" lang="ja-JP" altLang="en-US" dirty="0" smtClean="0"/>
                  <a:t>時の親個体は</a:t>
                </a:r>
                <a:endParaRPr lang="en-US" altLang="ja-JP" dirty="0"/>
              </a:p>
              <a:p>
                <a:pPr marL="365125" algn="l">
                  <a:tabLst>
                    <a:tab pos="3235325" algn="l"/>
                  </a:tabLst>
                </a:pPr>
                <a:r>
                  <a:rPr lang="ja-JP" altLang="en-US" dirty="0" smtClean="0"/>
                  <a:t>他</a:t>
                </a:r>
                <a:r>
                  <a:rPr lang="ja-JP" altLang="en-US" dirty="0"/>
                  <a:t>タスク</a:t>
                </a:r>
                <a:r>
                  <a:rPr lang="ja-JP" altLang="en-US" dirty="0" smtClean="0"/>
                  <a:t>の個体</a:t>
                </a:r>
                <a:r>
                  <a:rPr kumimoji="1" lang="en-US" altLang="ja-JP" dirty="0" smtClean="0"/>
                  <a:t>:	</a:t>
                </a:r>
                <a:r>
                  <a:rPr kumimoji="1" lang="ja-JP" altLang="en-US" dirty="0" smtClean="0"/>
                  <a:t>バイナリトーナメント</a:t>
                </a:r>
                <a:r>
                  <a:rPr lang="ja-JP" altLang="en-US" dirty="0" smtClean="0"/>
                  <a:t>で</a:t>
                </a:r>
                <a:r>
                  <a:rPr kumimoji="1" lang="ja-JP" altLang="en-US" dirty="0" smtClean="0"/>
                  <a:t>選択</a:t>
                </a:r>
                <a:r>
                  <a:rPr kumimoji="1" lang="en-US" altLang="ja-JP" dirty="0" smtClean="0"/>
                  <a:t>(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a </a:t>
                </a:r>
                <a:r>
                  <a:rPr lang="en-US" altLang="ja-JP" dirty="0"/>
                  <a:t>= </a:t>
                </a:r>
                <a:r>
                  <a:rPr lang="en-US" altLang="ja-JP" dirty="0" smtClean="0"/>
                  <a:t>1 or 2</a:t>
                </a:r>
                <a:r>
                  <a:rPr kumimoji="1" lang="en-US" altLang="ja-JP" dirty="0" smtClean="0"/>
                  <a:t>)</a:t>
                </a:r>
                <a:r>
                  <a:rPr lang="en-US" altLang="ja-JP" dirty="0"/>
                  <a:t/>
                </a:r>
                <a:br>
                  <a:rPr lang="en-US" altLang="ja-JP" dirty="0"/>
                </a:br>
                <a:r>
                  <a:rPr lang="ja-JP" altLang="en-US" dirty="0" smtClean="0"/>
                  <a:t>自タスク</a:t>
                </a:r>
                <a:r>
                  <a:rPr lang="ja-JP" altLang="en-US" dirty="0"/>
                  <a:t>の個体</a:t>
                </a:r>
                <a:r>
                  <a:rPr kumimoji="1" lang="en-US" altLang="ja-JP" dirty="0" smtClean="0"/>
                  <a:t>:	1.</a:t>
                </a:r>
                <a:r>
                  <a:rPr kumimoji="1" lang="ja-JP" altLang="en-US" dirty="0" smtClean="0"/>
                  <a:t> 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b</a:t>
                </a:r>
                <a:r>
                  <a:rPr lang="en-US" altLang="ja-JP" dirty="0"/>
                  <a:t> </a:t>
                </a:r>
                <a:r>
                  <a:rPr lang="ja-JP" altLang="en-US" dirty="0" smtClean="0"/>
                  <a:t>回のバイナリトーナメントでの最近傍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en-US" altLang="ja-JP" dirty="0"/>
                  <a:t>	</a:t>
                </a:r>
                <a:r>
                  <a:rPr lang="en-US" altLang="ja-JP" dirty="0" smtClean="0"/>
                  <a:t>2.</a:t>
                </a:r>
                <a:r>
                  <a:rPr lang="ja-JP" altLang="en-US" dirty="0" smtClean="0"/>
                  <a:t> 親個体</a:t>
                </a:r>
                <a:r>
                  <a:rPr lang="en-US" altLang="ja-JP" dirty="0" smtClean="0"/>
                  <a:t>1</a:t>
                </a:r>
                <a:r>
                  <a:rPr lang="ja-JP" altLang="en-US" dirty="0" smtClean="0"/>
                  <a:t>と最近傍</a:t>
                </a:r>
                <a:endParaRPr lang="en-US" altLang="ja-JP" dirty="0" smtClean="0"/>
              </a:p>
              <a:p>
                <a:pPr marL="365125" indent="-365125" algn="l">
                  <a:tabLst>
                    <a:tab pos="3235325" algn="l"/>
                  </a:tabLst>
                </a:pPr>
                <a:r>
                  <a:rPr lang="ja-JP" altLang="en-US" dirty="0" smtClean="0"/>
                  <a:t>としたが，本実験では</a:t>
                </a:r>
                <a:endParaRPr lang="en-US" altLang="ja-JP" dirty="0"/>
              </a:p>
              <a:p>
                <a:pPr marL="365125" algn="l">
                  <a:tabLst>
                    <a:tab pos="3235325" algn="l"/>
                  </a:tabLst>
                </a:pPr>
                <a:r>
                  <a:rPr lang="ja-JP" altLang="en-US" dirty="0" smtClean="0"/>
                  <a:t>他</a:t>
                </a:r>
                <a:r>
                  <a:rPr lang="ja-JP" altLang="en-US" dirty="0"/>
                  <a:t>タスクの個体</a:t>
                </a:r>
                <a:r>
                  <a:rPr lang="en-US" altLang="ja-JP" dirty="0"/>
                  <a:t>:	</a:t>
                </a:r>
                <a:r>
                  <a:rPr lang="ja-JP" altLang="en-US" dirty="0"/>
                  <a:t>バイナリトーナメントで選択</a:t>
                </a:r>
                <a:r>
                  <a:rPr lang="en-US" altLang="ja-JP" dirty="0"/>
                  <a:t>(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a </a:t>
                </a:r>
                <a:r>
                  <a:rPr lang="en-US" altLang="ja-JP" dirty="0"/>
                  <a:t>= 1 or 2</a:t>
                </a:r>
                <a:r>
                  <a:rPr lang="en-US" altLang="ja-JP" dirty="0" smtClean="0"/>
                  <a:t>)</a:t>
                </a:r>
                <a:br>
                  <a:rPr lang="en-US" altLang="ja-JP" dirty="0" smtClean="0"/>
                </a:br>
                <a:r>
                  <a:rPr lang="ja-JP" altLang="en-US" dirty="0" smtClean="0"/>
                  <a:t>自タスク</a:t>
                </a:r>
                <a:r>
                  <a:rPr lang="ja-JP" altLang="en-US" dirty="0"/>
                  <a:t>の個体</a:t>
                </a:r>
                <a:r>
                  <a:rPr lang="en-US" altLang="ja-JP" dirty="0"/>
                  <a:t>:	1.</a:t>
                </a:r>
                <a:r>
                  <a:rPr lang="ja-JP" altLang="en-US" dirty="0"/>
                  <a:t> 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b</a:t>
                </a:r>
                <a:r>
                  <a:rPr lang="en-US" altLang="ja-JP" dirty="0"/>
                  <a:t> </a:t>
                </a:r>
                <a:r>
                  <a:rPr lang="ja-JP" altLang="en-US" dirty="0"/>
                  <a:t>回のバイナリトーナメントでの最近</a:t>
                </a:r>
                <a:r>
                  <a:rPr lang="ja-JP" altLang="en-US" dirty="0" smtClean="0"/>
                  <a:t>傍</a:t>
                </a:r>
                <a:r>
                  <a:rPr lang="en-US" altLang="ja-JP" dirty="0"/>
                  <a:t/>
                </a:r>
                <a:br>
                  <a:rPr lang="en-US" altLang="ja-JP" dirty="0"/>
                </a:br>
                <a:r>
                  <a:rPr lang="en-US" altLang="ja-JP" dirty="0" smtClean="0"/>
                  <a:t>	</a:t>
                </a:r>
                <a:r>
                  <a:rPr lang="en-US" altLang="ja-JP" b="1" dirty="0" smtClean="0">
                    <a:solidFill>
                      <a:schemeClr val="accent1"/>
                    </a:solidFill>
                  </a:rPr>
                  <a:t>2.</a:t>
                </a:r>
                <a:r>
                  <a:rPr lang="en-US" altLang="ja-JP" b="1" i="1" dirty="0">
                    <a:solidFill>
                      <a:schemeClr val="accent1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en-US" altLang="ja-JP" b="1" i="1" dirty="0" smtClean="0">
                    <a:solidFill>
                      <a:schemeClr val="accent1"/>
                    </a:solidFill>
                    <a:latin typeface="Symbol" panose="05050102010706020507" pitchFamily="18" charset="2"/>
                  </a:rPr>
                  <a:t>g</a:t>
                </a:r>
                <a:r>
                  <a:rPr lang="en-US" altLang="ja-JP" b="1" dirty="0" smtClean="0">
                    <a:solidFill>
                      <a:schemeClr val="accent1"/>
                    </a:solidFill>
                  </a:rPr>
                  <a:t> </a:t>
                </a:r>
                <a:r>
                  <a:rPr lang="ja-JP" altLang="en-US" b="1" dirty="0" smtClean="0">
                    <a:solidFill>
                      <a:schemeClr val="accent1"/>
                    </a:solidFill>
                  </a:rPr>
                  <a:t>回</a:t>
                </a:r>
                <a:r>
                  <a:rPr lang="ja-JP" altLang="en-US" b="1" dirty="0">
                    <a:solidFill>
                      <a:schemeClr val="accent1"/>
                    </a:solidFill>
                  </a:rPr>
                  <a:t>のバイナリトーナメントでの最近</a:t>
                </a:r>
                <a:r>
                  <a:rPr lang="ja-JP" altLang="en-US" b="1" dirty="0" smtClean="0">
                    <a:solidFill>
                      <a:schemeClr val="accent1"/>
                    </a:solidFill>
                  </a:rPr>
                  <a:t>傍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en-US" altLang="ja-JP" dirty="0"/>
                  <a:t>	</a:t>
                </a:r>
                <a:r>
                  <a:rPr lang="en-US" altLang="ja-JP" dirty="0" smtClean="0"/>
                  <a:t>3.</a:t>
                </a:r>
                <a:r>
                  <a:rPr lang="ja-JP" altLang="en-US" dirty="0" smtClean="0"/>
                  <a:t> </a:t>
                </a:r>
                <a:r>
                  <a:rPr lang="ja-JP" altLang="en-US" dirty="0"/>
                  <a:t>親個体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と最近傍</a:t>
                </a:r>
                <a:r>
                  <a:rPr lang="en-US" altLang="ja-JP" dirty="0" smtClean="0"/>
                  <a:t>(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g</a:t>
                </a:r>
                <a:r>
                  <a:rPr lang="en-US" altLang="ja-JP" b="1" i="1" dirty="0">
                    <a:solidFill>
                      <a:schemeClr val="accent1"/>
                    </a:solidFill>
                    <a:latin typeface="Symbol" panose="05050102010706020507" pitchFamily="18" charset="2"/>
                  </a:rPr>
                  <a:t> </a:t>
                </a:r>
                <a:r>
                  <a:rPr lang="ja-JP" altLang="en-US" dirty="0" smtClean="0"/>
                  <a:t>→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i="0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ja-JP" dirty="0" smtClean="0"/>
                  <a:t>)</a:t>
                </a:r>
              </a:p>
              <a:p>
                <a:pPr marL="365125" indent="-365125" algn="l">
                  <a:tabLst>
                    <a:tab pos="3235325" algn="l"/>
                  </a:tabLst>
                </a:pPr>
                <a:r>
                  <a:rPr lang="ja-JP" altLang="en-US" dirty="0" smtClean="0"/>
                  <a:t>の</a:t>
                </a:r>
                <a:r>
                  <a:rPr lang="en-US" altLang="ja-JP" dirty="0"/>
                  <a:t>3</a:t>
                </a:r>
                <a:r>
                  <a:rPr lang="ja-JP" altLang="en-US" dirty="0" smtClean="0"/>
                  <a:t>種類で実験する．</a:t>
                </a:r>
                <a:endParaRPr kumimoji="1" lang="en-US" altLang="ja-JP" dirty="0" smtClean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16" t="-1882" b="-74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自タスクの個体を選択する方法の変更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849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lang="en-US" altLang="ja-JP" dirty="0" smtClean="0"/>
              <a:t>= </a:t>
            </a:r>
            <a:r>
              <a:rPr lang="en-US" altLang="ja-JP" dirty="0"/>
              <a:t>10,</a:t>
            </a:r>
            <a:r>
              <a:rPr lang="en-US" altLang="ja-JP" i="1" dirty="0">
                <a:latin typeface="Symbol" panose="05050102010706020507" pitchFamily="18" charset="2"/>
              </a:rPr>
              <a:t> b</a:t>
            </a:r>
            <a:r>
              <a:rPr lang="en-US" altLang="ja-JP" dirty="0"/>
              <a:t> =</a:t>
            </a:r>
            <a:r>
              <a:rPr lang="ja-JP" altLang="en-US" dirty="0"/>
              <a:t> 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移住間隔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世代，移住個体数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個体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563328"/>
              </p:ext>
            </p:extLst>
          </p:nvPr>
        </p:nvGraphicFramePr>
        <p:xfrm>
          <a:off x="222395" y="2096001"/>
          <a:ext cx="11747211" cy="459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7037"/>
                <a:gridCol w="1064105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1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3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5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10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40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3.31E-4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3.54E-4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3.38E-4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3.43E-4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2.33E-3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2.37E-3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2.25E-3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2.36E-3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2.43E-3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2.38E-3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2.65E-3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1.15E-1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6.42E-2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9.84E-2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8.38E-2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8.47E-2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7.54E-2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8.89E-2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4.57E-2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5.67E-2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6.11E-2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6.55E-2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5.43E-2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5.59E-2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5.80E-2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8.77E-3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1.98E-4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1.94E-4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2.71E-4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1.84E-4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1.90E-4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3.64E-4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3.64E-4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3.35E-4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3.51E-4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3.60E-4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3.76E-4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1.10E-3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2.32E-2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2.26E-2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2.11E-2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2.60E-2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2.49E-2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3.04E-2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PIMS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4.30E-3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4.13E-3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4.26E-3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3.81E-3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4.38E-3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3.94E-3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4.30E-3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2.62E-3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1.81E+1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1.72E+1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1.79E+1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1.80E+1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1.85E+1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1.80E+1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1.75E+1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1.83E+1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</a:t>
                      </a: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2.52E-4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2.25E-4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3.24E-4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6.33E-1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1.10E-2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323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lang="en-US" altLang="ja-JP" dirty="0" smtClean="0"/>
              <a:t>= </a:t>
            </a:r>
            <a:r>
              <a:rPr lang="en-US" altLang="ja-JP" dirty="0"/>
              <a:t>10,</a:t>
            </a:r>
            <a:r>
              <a:rPr lang="en-US" altLang="ja-JP" i="1" dirty="0">
                <a:latin typeface="Symbol" panose="05050102010706020507" pitchFamily="18" charset="2"/>
              </a:rPr>
              <a:t> b</a:t>
            </a:r>
            <a:r>
              <a:rPr lang="en-US" altLang="ja-JP" dirty="0"/>
              <a:t> =</a:t>
            </a:r>
            <a:r>
              <a:rPr lang="ja-JP" altLang="en-US" dirty="0"/>
              <a:t> 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移住間隔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世代，移住個体数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個体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87845"/>
              </p:ext>
            </p:extLst>
          </p:nvPr>
        </p:nvGraphicFramePr>
        <p:xfrm>
          <a:off x="222395" y="2096001"/>
          <a:ext cx="11747211" cy="243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7037"/>
                <a:gridCol w="1064105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044000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1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3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5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10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20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ja-JP" sz="1800" b="1" i="1" dirty="0" smtClean="0">
                          <a:latin typeface="Symbol" panose="05050102010706020507" pitchFamily="18" charset="2"/>
                        </a:rPr>
                        <a:t>g</a:t>
                      </a:r>
                      <a:r>
                        <a:rPr lang="en-US" altLang="ja-JP" sz="1800" b="1" dirty="0" smtClean="0"/>
                        <a:t> =</a:t>
                      </a:r>
                      <a:r>
                        <a:rPr lang="ja-JP" altLang="en-US" sz="1800" b="1" dirty="0" smtClean="0"/>
                        <a:t> </a:t>
                      </a:r>
                      <a:r>
                        <a:rPr lang="en-US" altLang="ja-JP" sz="1800" b="1" dirty="0" smtClean="0"/>
                        <a:t>40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altLang="ja-JP" sz="18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4.65E+0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5.35E+0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5.61E+0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5.16E+0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4.76E+0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5.42E+0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4.73E+0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4.27E+0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1.55E+0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7.45E-4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7.55E-4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6.79E-4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7.05E-4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7.67E-4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7.38E-4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6.69E-4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5.02E-4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3.30E-1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4.21E-1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4.64E-1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3.96E-1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9.18E-1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4.70E-1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5.28E-1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3.34E-1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2.79E-1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6.53E-2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5.62E-2</a:t>
                      </a:r>
                      <a:endParaRPr kumimoji="1" lang="en-US" sz="1800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5.96E-2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9.21E-2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8.21E-2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5.65E-2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6.46E-2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7.34E-2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2.86E-2</a:t>
                      </a: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7.98E-4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7.91E-4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8.03E-4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7.89E-4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8.10E-4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7.89E-4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8.05E-4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8.35E-4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6.43E-1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8277459" y="4843964"/>
            <a:ext cx="3692146" cy="83099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tabLst>
                <a:tab pos="1614488" algn="l"/>
              </a:tabLst>
            </a:pPr>
            <a:r>
              <a:rPr lang="en-US" altLang="ja-JP" sz="2400" smtClean="0"/>
              <a:t>MT-SMS</a:t>
            </a:r>
            <a:r>
              <a:rPr kumimoji="1" lang="en-US" altLang="ja-JP" sz="2400" dirty="0" smtClean="0"/>
              <a:t>	:   9/18</a:t>
            </a:r>
            <a:r>
              <a:rPr kumimoji="1" lang="ja-JP" altLang="en-US" sz="2400" dirty="0" smtClean="0"/>
              <a:t>で最良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MO-MFEA	:</a:t>
            </a:r>
            <a:r>
              <a:rPr kumimoji="1" lang="ja-JP" altLang="en-US" sz="2400" dirty="0" smtClean="0"/>
              <a:t>   </a:t>
            </a:r>
            <a:r>
              <a:rPr lang="en-US" altLang="ja-JP" sz="2400" dirty="0"/>
              <a:t>9</a:t>
            </a:r>
            <a:r>
              <a:rPr kumimoji="1" lang="en-US" altLang="ja-JP" sz="2400" dirty="0" smtClean="0"/>
              <a:t>/18</a:t>
            </a:r>
            <a:r>
              <a:rPr kumimoji="1" lang="ja-JP" altLang="en-US" sz="2400" dirty="0" smtClean="0"/>
              <a:t>で最良</a:t>
            </a:r>
          </a:p>
        </p:txBody>
      </p:sp>
    </p:spTree>
    <p:extLst>
      <p:ext uri="{BB962C8B-B14F-4D97-AF65-F5344CB8AC3E}">
        <p14:creationId xmlns:p14="http://schemas.microsoft.com/office/powerpoint/2010/main" val="216834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9347200" y="333375"/>
            <a:ext cx="28448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0712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517</TotalTime>
  <Words>921</Words>
  <Application>Microsoft Office PowerPoint</Application>
  <PresentationFormat>ワイド画面</PresentationFormat>
  <Paragraphs>454</Paragraphs>
  <Slides>20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8" baseType="lpstr">
      <vt:lpstr>ＭＳ P ゴシック</vt:lpstr>
      <vt:lpstr>ＭＳ Ｐゴシック</vt:lpstr>
      <vt:lpstr>Arial</vt:lpstr>
      <vt:lpstr>Calibri</vt:lpstr>
      <vt:lpstr>Cambria Math</vt:lpstr>
      <vt:lpstr>Symbol</vt:lpstr>
      <vt:lpstr>Times New Roman</vt:lpstr>
      <vt:lpstr>Theme_Lab</vt:lpstr>
      <vt:lpstr>Similarity-based Mating Schemeを 取り入れた進化型マルチタスキングの実装</vt:lpstr>
      <vt:lpstr>Similarity-based Mating Scheme(SMS)</vt:lpstr>
      <vt:lpstr>Similarity-based Mating Scheme(SMS)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疑問</vt:lpstr>
      <vt:lpstr>SMSを取り入れたマルチタスク手法の実装</vt:lpstr>
      <vt:lpstr>MO-MFEAにSMSが適用しづらい理由</vt:lpstr>
      <vt:lpstr>MO-MFEAの子個体生成</vt:lpstr>
      <vt:lpstr>MO-MFEAの子個体生成</vt:lpstr>
      <vt:lpstr>MO-MFEAの子個体生成</vt:lpstr>
      <vt:lpstr>実験結果</vt:lpstr>
      <vt:lpstr>SMSを取り入れたマルチタスク手法の実装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Similarity-based Mating Schemeを取り入れた マルチタスク最適化の実装</dc:title>
  <dc:creator>瓜田 俊貴</dc:creator>
  <cp:lastModifiedBy>瓜田 俊貴</cp:lastModifiedBy>
  <cp:revision>42</cp:revision>
  <dcterms:created xsi:type="dcterms:W3CDTF">2020-11-24T15:20:35Z</dcterms:created>
  <dcterms:modified xsi:type="dcterms:W3CDTF">2021-02-22T06:27:48Z</dcterms:modified>
</cp:coreProperties>
</file>