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  <p:sldId id="259" r:id="rId4"/>
    <p:sldId id="338" r:id="rId5"/>
    <p:sldId id="339" r:id="rId6"/>
    <p:sldId id="371" r:id="rId7"/>
    <p:sldId id="374" r:id="rId8"/>
    <p:sldId id="375" r:id="rId9"/>
    <p:sldId id="377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386" r:id="rId18"/>
    <p:sldId id="388" r:id="rId19"/>
    <p:sldId id="390" r:id="rId20"/>
    <p:sldId id="391" r:id="rId21"/>
    <p:sldId id="392" r:id="rId22"/>
    <p:sldId id="393" r:id="rId23"/>
    <p:sldId id="394" r:id="rId24"/>
    <p:sldId id="395" r:id="rId25"/>
    <p:sldId id="292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F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888" y="21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12192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177637"/>
            <a:ext cx="103632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14800"/>
            <a:ext cx="85344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04800" y="1365255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4800" y="312544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04800" y="472440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438400" y="1368796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438400" y="3125441"/>
            <a:ext cx="94488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2438400" y="4724401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05064" y="191543"/>
            <a:ext cx="4655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25908" y="-102870"/>
            <a:ext cx="12243816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" y="0"/>
            <a:ext cx="12090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1158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 baseline="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 baseline="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 baseline="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 baseline="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emf"/><Relationship Id="rId4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英語論文発表</a:t>
            </a:r>
            <a:r>
              <a:rPr kumimoji="1" lang="en-US" altLang="ja-JP" dirty="0" smtClean="0"/>
              <a:t>(</a:t>
            </a:r>
            <a:r>
              <a:rPr lang="en-US" altLang="ja-JP" dirty="0" smtClean="0"/>
              <a:t>2</a:t>
            </a:r>
            <a:r>
              <a:rPr kumimoji="1" lang="en-US" altLang="ja-JP" dirty="0" smtClean="0"/>
              <a:t>/10)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 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775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Learning Task Relationships in </a:t>
            </a:r>
            <a:r>
              <a:rPr lang="en-US" altLang="ja-JP" dirty="0" smtClean="0"/>
              <a:t>Evolutionary</a:t>
            </a:r>
            <a:r>
              <a:rPr lang="ja-JP" altLang="en-US" dirty="0"/>
              <a:t> </a:t>
            </a:r>
            <a:r>
              <a:rPr lang="en-US" altLang="ja-JP" dirty="0" smtClean="0"/>
              <a:t>Multitasking </a:t>
            </a:r>
            <a:r>
              <a:rPr lang="en-US" altLang="ja-JP" dirty="0"/>
              <a:t>for </a:t>
            </a:r>
            <a:r>
              <a:rPr lang="en-US" altLang="ja-JP" dirty="0" err="1"/>
              <a:t>Multiobjective</a:t>
            </a:r>
            <a:r>
              <a:rPr lang="en-US" altLang="ja-JP" dirty="0"/>
              <a:t> </a:t>
            </a:r>
            <a:r>
              <a:rPr lang="en-US" altLang="ja-JP" dirty="0" smtClean="0"/>
              <a:t>Continuous</a:t>
            </a:r>
            <a:r>
              <a:rPr lang="ja-JP" altLang="en-US" dirty="0" smtClean="0"/>
              <a:t> </a:t>
            </a:r>
            <a:r>
              <a:rPr lang="en-US" altLang="ja-JP" dirty="0" smtClean="0"/>
              <a:t>Optimization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ja-JP" dirty="0" err="1" smtClean="0"/>
              <a:t>Zefeng</a:t>
            </a:r>
            <a:r>
              <a:rPr lang="en-US" altLang="ja-JP" dirty="0" smtClean="0"/>
              <a:t> Chen, </a:t>
            </a:r>
            <a:r>
              <a:rPr lang="en-US" altLang="ja-JP" dirty="0" err="1" smtClean="0"/>
              <a:t>Yuren</a:t>
            </a:r>
            <a:r>
              <a:rPr lang="en-US" altLang="ja-JP" dirty="0" smtClean="0"/>
              <a:t> Zhou, </a:t>
            </a:r>
            <a:r>
              <a:rPr lang="en-US" altLang="ja-JP" dirty="0" err="1" smtClean="0"/>
              <a:t>Xiaoyu</a:t>
            </a:r>
            <a:r>
              <a:rPr lang="en-US" altLang="ja-JP" dirty="0" smtClean="0"/>
              <a:t> He, and Jun </a:t>
            </a:r>
            <a:r>
              <a:rPr lang="en-US" altLang="ja-JP" dirty="0"/>
              <a:t>Z</a:t>
            </a:r>
            <a:r>
              <a:rPr lang="en-US" altLang="ja-JP" dirty="0" smtClean="0"/>
              <a:t>hang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ja-JP" dirty="0"/>
              <a:t>IEEE Transactions on </a:t>
            </a:r>
            <a:r>
              <a:rPr lang="en-US" altLang="ja-JP" dirty="0" smtClean="0"/>
              <a:t>Cybernetics, pp.1-12, 2020(Early Access)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496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概要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2070399"/>
          </a:xfrm>
        </p:spPr>
        <p:txBody>
          <a:bodyPr/>
          <a:lstStyle/>
          <a:p>
            <a:r>
              <a:rPr lang="ja-JP" altLang="en-US" dirty="0" smtClean="0"/>
              <a:t>多目的マルチタスク最適化</a:t>
            </a:r>
            <a:r>
              <a:rPr lang="en-US" altLang="ja-JP" dirty="0" smtClean="0"/>
              <a:t>(MO-MFO)</a:t>
            </a:r>
            <a:r>
              <a:rPr lang="ja-JP" altLang="en-US" dirty="0" smtClean="0"/>
              <a:t>において，異なるタスク間の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関係性を探る研究は限られている．特に，異なるタスク間の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関係性をモデル化</a:t>
            </a:r>
            <a:r>
              <a:rPr lang="ja-JP" altLang="en-US" dirty="0" smtClean="0"/>
              <a:t>し，</a:t>
            </a:r>
            <a:r>
              <a:rPr lang="ja-JP" altLang="en-US" b="1" dirty="0">
                <a:solidFill>
                  <a:schemeClr val="accent1"/>
                </a:solidFill>
              </a:rPr>
              <a:t>効率的に情報共有を行う</a:t>
            </a:r>
            <a:r>
              <a:rPr lang="ja-JP" altLang="en-US" dirty="0" smtClean="0"/>
              <a:t>手法は存在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していない．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9" name="コンテンツ プレースホルダー 6"/>
          <p:cNvSpPr txBox="1">
            <a:spLocks/>
          </p:cNvSpPr>
          <p:nvPr/>
        </p:nvSpPr>
        <p:spPr bwMode="auto">
          <a:xfrm>
            <a:off x="304800" y="4264971"/>
            <a:ext cx="11582400" cy="1957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aseline="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 baseline="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kern="0" dirty="0" smtClean="0"/>
              <a:t>本論文では，各タスクの決定変数空間を多様体として扱い，</a:t>
            </a:r>
            <a:r>
              <a:rPr lang="ja-JP" altLang="en-US" b="1" dirty="0">
                <a:solidFill>
                  <a:schemeClr val="accent1"/>
                </a:solidFill>
              </a:rPr>
              <a:t>共通の潜在空間に射影する</a:t>
            </a:r>
            <a:r>
              <a:rPr lang="ja-JP" altLang="en-US" kern="0" dirty="0" smtClean="0"/>
              <a:t>ことで，タスク間の関係性をモデル化する．</a:t>
            </a:r>
            <a:r>
              <a:rPr lang="en-US" altLang="ja-JP" kern="0" dirty="0" smtClean="0"/>
              <a:t/>
            </a:r>
            <a:br>
              <a:rPr lang="en-US" altLang="ja-JP" kern="0" dirty="0" smtClean="0"/>
            </a:br>
            <a:r>
              <a:rPr lang="ja-JP" altLang="en-US" kern="0" dirty="0" smtClean="0"/>
              <a:t>また，最適化プロセスを</a:t>
            </a:r>
            <a:r>
              <a:rPr lang="ja-JP" altLang="en-US" b="1" dirty="0">
                <a:solidFill>
                  <a:schemeClr val="accent1"/>
                </a:solidFill>
              </a:rPr>
              <a:t>潜在空間で実行する</a:t>
            </a:r>
            <a:r>
              <a:rPr lang="ja-JP" altLang="en-US" kern="0" dirty="0" smtClean="0"/>
              <a:t>ことで効率的に情報</a:t>
            </a:r>
            <a:r>
              <a:rPr lang="en-US" altLang="ja-JP" kern="0" dirty="0" smtClean="0"/>
              <a:t/>
            </a:r>
            <a:br>
              <a:rPr lang="en-US" altLang="ja-JP" kern="0" dirty="0" smtClean="0"/>
            </a:br>
            <a:r>
              <a:rPr lang="ja-JP" altLang="en-US" kern="0" dirty="0" smtClean="0"/>
              <a:t>共有を行う．</a:t>
            </a:r>
            <a:endParaRPr lang="ja-JP" altLang="en-US" kern="0" dirty="0"/>
          </a:p>
        </p:txBody>
      </p:sp>
      <p:sp>
        <p:nvSpPr>
          <p:cNvPr id="2" name="二等辺三角形 1"/>
          <p:cNvSpPr/>
          <p:nvPr/>
        </p:nvSpPr>
        <p:spPr>
          <a:xfrm rot="10800000">
            <a:off x="5737778" y="3631948"/>
            <a:ext cx="716445" cy="443074"/>
          </a:xfrm>
          <a:prstGeom prst="triangle">
            <a:avLst/>
          </a:prstGeom>
          <a:solidFill>
            <a:schemeClr val="accent2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51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提案手法</a:t>
            </a:r>
            <a:r>
              <a:rPr lang="en-US" altLang="ja-JP" dirty="0" smtClean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各タスクの個体群を共通の潜在空間上で最適化する．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264" name="テキスト プレースホルダー 26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アルゴリズムのフレームワーク</a:t>
            </a:r>
            <a:endParaRPr kumimoji="1" lang="ja-JP" altLang="en-US" dirty="0"/>
          </a:p>
        </p:txBody>
      </p:sp>
      <p:grpSp>
        <p:nvGrpSpPr>
          <p:cNvPr id="260" name="グループ化 259"/>
          <p:cNvGrpSpPr/>
          <p:nvPr/>
        </p:nvGrpSpPr>
        <p:grpSpPr>
          <a:xfrm>
            <a:off x="370621" y="2010065"/>
            <a:ext cx="1832317" cy="4568503"/>
            <a:chOff x="856175" y="2010065"/>
            <a:chExt cx="1832317" cy="4568503"/>
          </a:xfrm>
        </p:grpSpPr>
        <p:grpSp>
          <p:nvGrpSpPr>
            <p:cNvPr id="48" name="グループ化 47"/>
            <p:cNvGrpSpPr/>
            <p:nvPr/>
          </p:nvGrpSpPr>
          <p:grpSpPr>
            <a:xfrm>
              <a:off x="856175" y="2010065"/>
              <a:ext cx="1832317" cy="1476967"/>
              <a:chOff x="856175" y="2010065"/>
              <a:chExt cx="1832317" cy="1476967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921878" y="2471667"/>
                <a:ext cx="1700911" cy="1015365"/>
                <a:chOff x="921878" y="2471667"/>
                <a:chExt cx="1700911" cy="1015365"/>
              </a:xfrm>
            </p:grpSpPr>
            <p:sp>
              <p:nvSpPr>
                <p:cNvPr id="18" name="正方形/長方形 17"/>
                <p:cNvSpPr/>
                <p:nvPr/>
              </p:nvSpPr>
              <p:spPr>
                <a:xfrm>
                  <a:off x="921878" y="2471667"/>
                  <a:ext cx="1700911" cy="1015365"/>
                </a:xfrm>
                <a:prstGeom prst="rect">
                  <a:avLst/>
                </a:prstGeom>
                <a:noFill/>
                <a:ln w="44450">
                  <a:solidFill>
                    <a:schemeClr val="tx1"/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grpSp>
              <p:nvGrpSpPr>
                <p:cNvPr id="13" name="グループ化 12"/>
                <p:cNvGrpSpPr/>
                <p:nvPr/>
              </p:nvGrpSpPr>
              <p:grpSpPr>
                <a:xfrm>
                  <a:off x="1151730" y="2646531"/>
                  <a:ext cx="1241206" cy="665636"/>
                  <a:chOff x="2244273" y="3457447"/>
                  <a:chExt cx="1241206" cy="665636"/>
                </a:xfrm>
              </p:grpSpPr>
              <p:grpSp>
                <p:nvGrpSpPr>
                  <p:cNvPr id="19" name="グループ化 18"/>
                  <p:cNvGrpSpPr/>
                  <p:nvPr/>
                </p:nvGrpSpPr>
                <p:grpSpPr>
                  <a:xfrm>
                    <a:off x="2244273" y="3457447"/>
                    <a:ext cx="235238" cy="665636"/>
                    <a:chOff x="1553894" y="3376875"/>
                    <a:chExt cx="235238" cy="665636"/>
                  </a:xfrm>
                </p:grpSpPr>
                <p:sp>
                  <p:nvSpPr>
                    <p:cNvPr id="8" name="円/楕円 7"/>
                    <p:cNvSpPr>
                      <a:spLocks/>
                    </p:cNvSpPr>
                    <p:nvPr/>
                  </p:nvSpPr>
                  <p:spPr>
                    <a:xfrm>
                      <a:off x="1553894" y="3807273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10" name="円/楕円 9"/>
                    <p:cNvSpPr>
                      <a:spLocks/>
                    </p:cNvSpPr>
                    <p:nvPr/>
                  </p:nvSpPr>
                  <p:spPr>
                    <a:xfrm>
                      <a:off x="1553894" y="3376875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9" name="グループ化 8"/>
                  <p:cNvGrpSpPr/>
                  <p:nvPr/>
                </p:nvGrpSpPr>
                <p:grpSpPr>
                  <a:xfrm>
                    <a:off x="2747257" y="3457447"/>
                    <a:ext cx="235238" cy="665636"/>
                    <a:chOff x="2678239" y="3457447"/>
                    <a:chExt cx="235238" cy="665636"/>
                  </a:xfrm>
                </p:grpSpPr>
                <p:sp>
                  <p:nvSpPr>
                    <p:cNvPr id="21" name="円/楕円 20"/>
                    <p:cNvSpPr>
                      <a:spLocks/>
                    </p:cNvSpPr>
                    <p:nvPr/>
                  </p:nvSpPr>
                  <p:spPr>
                    <a:xfrm>
                      <a:off x="2678239" y="3887845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22" name="円/楕円 21"/>
                    <p:cNvSpPr>
                      <a:spLocks/>
                    </p:cNvSpPr>
                    <p:nvPr/>
                  </p:nvSpPr>
                  <p:spPr>
                    <a:xfrm>
                      <a:off x="2678239" y="3457447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11" name="グループ化 10"/>
                  <p:cNvGrpSpPr/>
                  <p:nvPr/>
                </p:nvGrpSpPr>
                <p:grpSpPr>
                  <a:xfrm>
                    <a:off x="3250241" y="3457447"/>
                    <a:ext cx="235238" cy="665635"/>
                    <a:chOff x="3250241" y="3457447"/>
                    <a:chExt cx="235238" cy="665635"/>
                  </a:xfrm>
                </p:grpSpPr>
                <p:sp>
                  <p:nvSpPr>
                    <p:cNvPr id="44" name="円/楕円 43"/>
                    <p:cNvSpPr>
                      <a:spLocks/>
                    </p:cNvSpPr>
                    <p:nvPr/>
                  </p:nvSpPr>
                  <p:spPr>
                    <a:xfrm>
                      <a:off x="3250241" y="3887844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45" name="円/楕円 44"/>
                    <p:cNvSpPr>
                      <a:spLocks/>
                    </p:cNvSpPr>
                    <p:nvPr/>
                  </p:nvSpPr>
                  <p:spPr>
                    <a:xfrm>
                      <a:off x="3250241" y="3457447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</p:grpSp>
          </p:grpSp>
          <p:sp>
            <p:nvSpPr>
              <p:cNvPr id="30" name="テキスト ボックス 29"/>
              <p:cNvSpPr txBox="1"/>
              <p:nvPr/>
            </p:nvSpPr>
            <p:spPr>
              <a:xfrm>
                <a:off x="856175" y="2010065"/>
                <a:ext cx="1832317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400" dirty="0" smtClean="0"/>
                  <a:t>Task</a:t>
                </a:r>
                <a:r>
                  <a:rPr lang="ja-JP" altLang="en-US" sz="2400" dirty="0" smtClean="0"/>
                  <a:t> </a:t>
                </a:r>
                <a:r>
                  <a:rPr lang="en-US" altLang="ja-JP" sz="2400" dirty="0" smtClean="0"/>
                  <a:t>1</a:t>
                </a:r>
                <a:endParaRPr lang="ja-JP" altLang="en-US" sz="2400" dirty="0"/>
              </a:p>
            </p:txBody>
          </p:sp>
        </p:grpSp>
        <p:grpSp>
          <p:nvGrpSpPr>
            <p:cNvPr id="95" name="グループ化 94"/>
            <p:cNvGrpSpPr/>
            <p:nvPr/>
          </p:nvGrpSpPr>
          <p:grpSpPr>
            <a:xfrm>
              <a:off x="856175" y="3555833"/>
              <a:ext cx="1832317" cy="1476967"/>
              <a:chOff x="856175" y="2010065"/>
              <a:chExt cx="1832317" cy="1476967"/>
            </a:xfrm>
          </p:grpSpPr>
          <p:grpSp>
            <p:nvGrpSpPr>
              <p:cNvPr id="96" name="グループ化 95"/>
              <p:cNvGrpSpPr/>
              <p:nvPr/>
            </p:nvGrpSpPr>
            <p:grpSpPr>
              <a:xfrm>
                <a:off x="921878" y="2471667"/>
                <a:ext cx="1700911" cy="1015365"/>
                <a:chOff x="921878" y="2471667"/>
                <a:chExt cx="1700911" cy="1015365"/>
              </a:xfrm>
            </p:grpSpPr>
            <p:sp>
              <p:nvSpPr>
                <p:cNvPr id="98" name="正方形/長方形 97"/>
                <p:cNvSpPr/>
                <p:nvPr/>
              </p:nvSpPr>
              <p:spPr>
                <a:xfrm>
                  <a:off x="921878" y="2471667"/>
                  <a:ext cx="1700911" cy="1015365"/>
                </a:xfrm>
                <a:prstGeom prst="rect">
                  <a:avLst/>
                </a:prstGeom>
                <a:noFill/>
                <a:ln w="44450">
                  <a:solidFill>
                    <a:schemeClr val="tx1"/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grpSp>
              <p:nvGrpSpPr>
                <p:cNvPr id="99" name="グループ化 98"/>
                <p:cNvGrpSpPr/>
                <p:nvPr/>
              </p:nvGrpSpPr>
              <p:grpSpPr>
                <a:xfrm>
                  <a:off x="1151730" y="2646531"/>
                  <a:ext cx="1241206" cy="665636"/>
                  <a:chOff x="2244273" y="3457447"/>
                  <a:chExt cx="1241206" cy="665636"/>
                </a:xfrm>
              </p:grpSpPr>
              <p:grpSp>
                <p:nvGrpSpPr>
                  <p:cNvPr id="100" name="グループ化 99"/>
                  <p:cNvGrpSpPr/>
                  <p:nvPr/>
                </p:nvGrpSpPr>
                <p:grpSpPr>
                  <a:xfrm>
                    <a:off x="2244273" y="3457447"/>
                    <a:ext cx="235238" cy="665636"/>
                    <a:chOff x="1553894" y="3376875"/>
                    <a:chExt cx="235238" cy="665636"/>
                  </a:xfrm>
                </p:grpSpPr>
                <p:sp>
                  <p:nvSpPr>
                    <p:cNvPr id="107" name="円/楕円 106"/>
                    <p:cNvSpPr>
                      <a:spLocks/>
                    </p:cNvSpPr>
                    <p:nvPr/>
                  </p:nvSpPr>
                  <p:spPr>
                    <a:xfrm>
                      <a:off x="1553894" y="3807273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108" name="円/楕円 107"/>
                    <p:cNvSpPr>
                      <a:spLocks/>
                    </p:cNvSpPr>
                    <p:nvPr/>
                  </p:nvSpPr>
                  <p:spPr>
                    <a:xfrm>
                      <a:off x="1553894" y="3376875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101" name="グループ化 100"/>
                  <p:cNvGrpSpPr/>
                  <p:nvPr/>
                </p:nvGrpSpPr>
                <p:grpSpPr>
                  <a:xfrm>
                    <a:off x="2747257" y="3457447"/>
                    <a:ext cx="235238" cy="665636"/>
                    <a:chOff x="2678239" y="3457447"/>
                    <a:chExt cx="235238" cy="665636"/>
                  </a:xfrm>
                </p:grpSpPr>
                <p:sp>
                  <p:nvSpPr>
                    <p:cNvPr id="105" name="円/楕円 104"/>
                    <p:cNvSpPr>
                      <a:spLocks/>
                    </p:cNvSpPr>
                    <p:nvPr/>
                  </p:nvSpPr>
                  <p:spPr>
                    <a:xfrm>
                      <a:off x="2678239" y="3887845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106" name="円/楕円 105"/>
                    <p:cNvSpPr>
                      <a:spLocks/>
                    </p:cNvSpPr>
                    <p:nvPr/>
                  </p:nvSpPr>
                  <p:spPr>
                    <a:xfrm>
                      <a:off x="2678239" y="3457447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102" name="グループ化 101"/>
                  <p:cNvGrpSpPr/>
                  <p:nvPr/>
                </p:nvGrpSpPr>
                <p:grpSpPr>
                  <a:xfrm>
                    <a:off x="3250241" y="3457447"/>
                    <a:ext cx="235238" cy="665635"/>
                    <a:chOff x="3250241" y="3457447"/>
                    <a:chExt cx="235238" cy="665635"/>
                  </a:xfrm>
                </p:grpSpPr>
                <p:sp>
                  <p:nvSpPr>
                    <p:cNvPr id="103" name="円/楕円 102"/>
                    <p:cNvSpPr>
                      <a:spLocks/>
                    </p:cNvSpPr>
                    <p:nvPr/>
                  </p:nvSpPr>
                  <p:spPr>
                    <a:xfrm>
                      <a:off x="3250241" y="3887844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104" name="円/楕円 103"/>
                    <p:cNvSpPr>
                      <a:spLocks/>
                    </p:cNvSpPr>
                    <p:nvPr/>
                  </p:nvSpPr>
                  <p:spPr>
                    <a:xfrm>
                      <a:off x="3250241" y="3457447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</p:grpSp>
          </p:grpSp>
          <p:sp>
            <p:nvSpPr>
              <p:cNvPr id="97" name="テキスト ボックス 96"/>
              <p:cNvSpPr txBox="1"/>
              <p:nvPr/>
            </p:nvSpPr>
            <p:spPr>
              <a:xfrm>
                <a:off x="856175" y="2010065"/>
                <a:ext cx="1832317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400" dirty="0" smtClean="0"/>
                  <a:t>Task</a:t>
                </a:r>
                <a:r>
                  <a:rPr lang="ja-JP" altLang="en-US" sz="2400" dirty="0" smtClean="0"/>
                  <a:t> </a:t>
                </a:r>
                <a:r>
                  <a:rPr lang="en-US" altLang="ja-JP" sz="2400" dirty="0"/>
                  <a:t>2</a:t>
                </a:r>
                <a:endParaRPr lang="ja-JP" altLang="en-US" sz="2400" dirty="0"/>
              </a:p>
            </p:txBody>
          </p:sp>
        </p:grpSp>
        <p:grpSp>
          <p:nvGrpSpPr>
            <p:cNvPr id="109" name="グループ化 108"/>
            <p:cNvGrpSpPr/>
            <p:nvPr/>
          </p:nvGrpSpPr>
          <p:grpSpPr>
            <a:xfrm>
              <a:off x="856175" y="5101601"/>
              <a:ext cx="1832317" cy="1476967"/>
              <a:chOff x="856175" y="2010065"/>
              <a:chExt cx="1832317" cy="1476967"/>
            </a:xfrm>
          </p:grpSpPr>
          <p:grpSp>
            <p:nvGrpSpPr>
              <p:cNvPr id="110" name="グループ化 109"/>
              <p:cNvGrpSpPr/>
              <p:nvPr/>
            </p:nvGrpSpPr>
            <p:grpSpPr>
              <a:xfrm>
                <a:off x="921878" y="2471667"/>
                <a:ext cx="1700911" cy="1015365"/>
                <a:chOff x="921878" y="2471667"/>
                <a:chExt cx="1700911" cy="1015365"/>
              </a:xfrm>
            </p:grpSpPr>
            <p:sp>
              <p:nvSpPr>
                <p:cNvPr id="112" name="正方形/長方形 111"/>
                <p:cNvSpPr/>
                <p:nvPr/>
              </p:nvSpPr>
              <p:spPr>
                <a:xfrm>
                  <a:off x="921878" y="2471667"/>
                  <a:ext cx="1700911" cy="1015365"/>
                </a:xfrm>
                <a:prstGeom prst="rect">
                  <a:avLst/>
                </a:prstGeom>
                <a:noFill/>
                <a:ln w="44450">
                  <a:solidFill>
                    <a:schemeClr val="tx1"/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grpSp>
              <p:nvGrpSpPr>
                <p:cNvPr id="113" name="グループ化 112"/>
                <p:cNvGrpSpPr/>
                <p:nvPr/>
              </p:nvGrpSpPr>
              <p:grpSpPr>
                <a:xfrm>
                  <a:off x="1151730" y="2646531"/>
                  <a:ext cx="1241206" cy="665636"/>
                  <a:chOff x="2244273" y="3457447"/>
                  <a:chExt cx="1241206" cy="665636"/>
                </a:xfrm>
              </p:grpSpPr>
              <p:grpSp>
                <p:nvGrpSpPr>
                  <p:cNvPr id="114" name="グループ化 113"/>
                  <p:cNvGrpSpPr/>
                  <p:nvPr/>
                </p:nvGrpSpPr>
                <p:grpSpPr>
                  <a:xfrm>
                    <a:off x="2244273" y="3457447"/>
                    <a:ext cx="235238" cy="665636"/>
                    <a:chOff x="1553894" y="3376875"/>
                    <a:chExt cx="235238" cy="665636"/>
                  </a:xfrm>
                </p:grpSpPr>
                <p:sp>
                  <p:nvSpPr>
                    <p:cNvPr id="121" name="円/楕円 120"/>
                    <p:cNvSpPr>
                      <a:spLocks/>
                    </p:cNvSpPr>
                    <p:nvPr/>
                  </p:nvSpPr>
                  <p:spPr>
                    <a:xfrm>
                      <a:off x="1553894" y="3807273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122" name="円/楕円 121"/>
                    <p:cNvSpPr>
                      <a:spLocks/>
                    </p:cNvSpPr>
                    <p:nvPr/>
                  </p:nvSpPr>
                  <p:spPr>
                    <a:xfrm>
                      <a:off x="1553894" y="3376875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115" name="グループ化 114"/>
                  <p:cNvGrpSpPr/>
                  <p:nvPr/>
                </p:nvGrpSpPr>
                <p:grpSpPr>
                  <a:xfrm>
                    <a:off x="2747257" y="3457447"/>
                    <a:ext cx="235238" cy="665636"/>
                    <a:chOff x="2678239" y="3457447"/>
                    <a:chExt cx="235238" cy="665636"/>
                  </a:xfrm>
                </p:grpSpPr>
                <p:sp>
                  <p:nvSpPr>
                    <p:cNvPr id="119" name="円/楕円 118"/>
                    <p:cNvSpPr>
                      <a:spLocks/>
                    </p:cNvSpPr>
                    <p:nvPr/>
                  </p:nvSpPr>
                  <p:spPr>
                    <a:xfrm>
                      <a:off x="2678239" y="3887845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120" name="円/楕円 119"/>
                    <p:cNvSpPr>
                      <a:spLocks/>
                    </p:cNvSpPr>
                    <p:nvPr/>
                  </p:nvSpPr>
                  <p:spPr>
                    <a:xfrm>
                      <a:off x="2678239" y="3457447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116" name="グループ化 115"/>
                  <p:cNvGrpSpPr/>
                  <p:nvPr/>
                </p:nvGrpSpPr>
                <p:grpSpPr>
                  <a:xfrm>
                    <a:off x="3250241" y="3457447"/>
                    <a:ext cx="235238" cy="665635"/>
                    <a:chOff x="3250241" y="3457447"/>
                    <a:chExt cx="235238" cy="665635"/>
                  </a:xfrm>
                </p:grpSpPr>
                <p:sp>
                  <p:nvSpPr>
                    <p:cNvPr id="117" name="円/楕円 116"/>
                    <p:cNvSpPr>
                      <a:spLocks/>
                    </p:cNvSpPr>
                    <p:nvPr/>
                  </p:nvSpPr>
                  <p:spPr>
                    <a:xfrm>
                      <a:off x="3250241" y="3887844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118" name="円/楕円 117"/>
                    <p:cNvSpPr>
                      <a:spLocks/>
                    </p:cNvSpPr>
                    <p:nvPr/>
                  </p:nvSpPr>
                  <p:spPr>
                    <a:xfrm>
                      <a:off x="3250241" y="3457447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</p:grpSp>
          </p:grpSp>
          <p:sp>
            <p:nvSpPr>
              <p:cNvPr id="111" name="テキスト ボックス 110"/>
              <p:cNvSpPr txBox="1"/>
              <p:nvPr/>
            </p:nvSpPr>
            <p:spPr>
              <a:xfrm>
                <a:off x="856175" y="2010065"/>
                <a:ext cx="1832317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400" dirty="0" smtClean="0"/>
                  <a:t>Task</a:t>
                </a:r>
                <a:r>
                  <a:rPr lang="ja-JP" altLang="en-US" sz="2400" dirty="0"/>
                  <a:t> </a:t>
                </a:r>
                <a:r>
                  <a:rPr lang="en-US" altLang="ja-JP" sz="2400" dirty="0" smtClean="0"/>
                  <a:t>3</a:t>
                </a:r>
                <a:endParaRPr lang="ja-JP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82" name="グループ化 181"/>
          <p:cNvGrpSpPr/>
          <p:nvPr/>
        </p:nvGrpSpPr>
        <p:grpSpPr>
          <a:xfrm>
            <a:off x="3142975" y="2421881"/>
            <a:ext cx="1832317" cy="3771988"/>
            <a:chOff x="4297875" y="2421881"/>
            <a:chExt cx="1832317" cy="3771988"/>
          </a:xfrm>
        </p:grpSpPr>
        <p:grpSp>
          <p:nvGrpSpPr>
            <p:cNvPr id="181" name="グループ化 180"/>
            <p:cNvGrpSpPr/>
            <p:nvPr/>
          </p:nvGrpSpPr>
          <p:grpSpPr>
            <a:xfrm>
              <a:off x="4363578" y="2907174"/>
              <a:ext cx="1700911" cy="3286695"/>
              <a:chOff x="4363578" y="2881769"/>
              <a:chExt cx="1700911" cy="3286695"/>
            </a:xfrm>
          </p:grpSpPr>
          <p:sp>
            <p:nvSpPr>
              <p:cNvPr id="127" name="正方形/長方形 126"/>
              <p:cNvSpPr/>
              <p:nvPr/>
            </p:nvSpPr>
            <p:spPr>
              <a:xfrm>
                <a:off x="4363578" y="2881769"/>
                <a:ext cx="1700911" cy="328669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180" name="グループ化 179"/>
              <p:cNvGrpSpPr/>
              <p:nvPr/>
            </p:nvGrpSpPr>
            <p:grpSpPr>
              <a:xfrm>
                <a:off x="4593430" y="3218710"/>
                <a:ext cx="1246278" cy="2612812"/>
                <a:chOff x="4593430" y="3283209"/>
                <a:chExt cx="1246278" cy="2612812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4598502" y="3283209"/>
                  <a:ext cx="1241206" cy="665636"/>
                  <a:chOff x="4593430" y="2646531"/>
                  <a:chExt cx="1241206" cy="665636"/>
                </a:xfrm>
              </p:grpSpPr>
              <p:sp>
                <p:nvSpPr>
                  <p:cNvPr id="136" name="円/楕円 135"/>
                  <p:cNvSpPr>
                    <a:spLocks/>
                  </p:cNvSpPr>
                  <p:nvPr/>
                </p:nvSpPr>
                <p:spPr>
                  <a:xfrm>
                    <a:off x="4593430" y="3076929"/>
                    <a:ext cx="235238" cy="235238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37" name="円/楕円 136"/>
                  <p:cNvSpPr>
                    <a:spLocks/>
                  </p:cNvSpPr>
                  <p:nvPr/>
                </p:nvSpPr>
                <p:spPr>
                  <a:xfrm>
                    <a:off x="4593430" y="2646531"/>
                    <a:ext cx="235238" cy="235238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34" name="円/楕円 133"/>
                  <p:cNvSpPr>
                    <a:spLocks/>
                  </p:cNvSpPr>
                  <p:nvPr/>
                </p:nvSpPr>
                <p:spPr>
                  <a:xfrm>
                    <a:off x="5096414" y="3076929"/>
                    <a:ext cx="235238" cy="235238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35" name="円/楕円 134"/>
                  <p:cNvSpPr>
                    <a:spLocks/>
                  </p:cNvSpPr>
                  <p:nvPr/>
                </p:nvSpPr>
                <p:spPr>
                  <a:xfrm>
                    <a:off x="5096414" y="2646531"/>
                    <a:ext cx="235238" cy="235238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32" name="円/楕円 131"/>
                  <p:cNvSpPr>
                    <a:spLocks/>
                  </p:cNvSpPr>
                  <p:nvPr/>
                </p:nvSpPr>
                <p:spPr>
                  <a:xfrm>
                    <a:off x="5599398" y="3076928"/>
                    <a:ext cx="235238" cy="235238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33" name="円/楕円 132"/>
                  <p:cNvSpPr>
                    <a:spLocks/>
                  </p:cNvSpPr>
                  <p:nvPr/>
                </p:nvSpPr>
                <p:spPr>
                  <a:xfrm>
                    <a:off x="5599398" y="2646531"/>
                    <a:ext cx="235238" cy="235238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</p:grpSp>
            <p:grpSp>
              <p:nvGrpSpPr>
                <p:cNvPr id="178" name="グループ化 177"/>
                <p:cNvGrpSpPr/>
                <p:nvPr/>
              </p:nvGrpSpPr>
              <p:grpSpPr>
                <a:xfrm>
                  <a:off x="4593430" y="4256797"/>
                  <a:ext cx="1241206" cy="665636"/>
                  <a:chOff x="4593430" y="4192299"/>
                  <a:chExt cx="1241206" cy="665636"/>
                </a:xfrm>
              </p:grpSpPr>
              <p:sp>
                <p:nvSpPr>
                  <p:cNvPr id="166" name="円/楕円 165"/>
                  <p:cNvSpPr>
                    <a:spLocks/>
                  </p:cNvSpPr>
                  <p:nvPr/>
                </p:nvSpPr>
                <p:spPr>
                  <a:xfrm>
                    <a:off x="4593430" y="4622697"/>
                    <a:ext cx="235238" cy="235238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67" name="円/楕円 166"/>
                  <p:cNvSpPr>
                    <a:spLocks/>
                  </p:cNvSpPr>
                  <p:nvPr/>
                </p:nvSpPr>
                <p:spPr>
                  <a:xfrm>
                    <a:off x="4593430" y="4192299"/>
                    <a:ext cx="235238" cy="235238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68" name="円/楕円 167"/>
                  <p:cNvSpPr>
                    <a:spLocks/>
                  </p:cNvSpPr>
                  <p:nvPr/>
                </p:nvSpPr>
                <p:spPr>
                  <a:xfrm>
                    <a:off x="5096414" y="4622697"/>
                    <a:ext cx="235238" cy="235238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69" name="円/楕円 168"/>
                  <p:cNvSpPr>
                    <a:spLocks/>
                  </p:cNvSpPr>
                  <p:nvPr/>
                </p:nvSpPr>
                <p:spPr>
                  <a:xfrm>
                    <a:off x="5096414" y="4192299"/>
                    <a:ext cx="235238" cy="235238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70" name="円/楕円 169"/>
                  <p:cNvSpPr>
                    <a:spLocks/>
                  </p:cNvSpPr>
                  <p:nvPr/>
                </p:nvSpPr>
                <p:spPr>
                  <a:xfrm>
                    <a:off x="5599398" y="4622696"/>
                    <a:ext cx="235238" cy="235238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71" name="円/楕円 170"/>
                  <p:cNvSpPr>
                    <a:spLocks/>
                  </p:cNvSpPr>
                  <p:nvPr/>
                </p:nvSpPr>
                <p:spPr>
                  <a:xfrm>
                    <a:off x="5599398" y="4192299"/>
                    <a:ext cx="235238" cy="235238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</p:grpSp>
            <p:grpSp>
              <p:nvGrpSpPr>
                <p:cNvPr id="179" name="グループ化 178"/>
                <p:cNvGrpSpPr/>
                <p:nvPr/>
              </p:nvGrpSpPr>
              <p:grpSpPr>
                <a:xfrm>
                  <a:off x="4593430" y="5230385"/>
                  <a:ext cx="1241206" cy="665636"/>
                  <a:chOff x="4593430" y="5738067"/>
                  <a:chExt cx="1241206" cy="665636"/>
                </a:xfrm>
              </p:grpSpPr>
              <p:sp>
                <p:nvSpPr>
                  <p:cNvPr id="172" name="円/楕円 171"/>
                  <p:cNvSpPr>
                    <a:spLocks/>
                  </p:cNvSpPr>
                  <p:nvPr/>
                </p:nvSpPr>
                <p:spPr>
                  <a:xfrm>
                    <a:off x="4593430" y="6168465"/>
                    <a:ext cx="235238" cy="235238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73" name="円/楕円 172"/>
                  <p:cNvSpPr>
                    <a:spLocks/>
                  </p:cNvSpPr>
                  <p:nvPr/>
                </p:nvSpPr>
                <p:spPr>
                  <a:xfrm>
                    <a:off x="4593430" y="5738067"/>
                    <a:ext cx="235238" cy="235238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74" name="円/楕円 173"/>
                  <p:cNvSpPr>
                    <a:spLocks/>
                  </p:cNvSpPr>
                  <p:nvPr/>
                </p:nvSpPr>
                <p:spPr>
                  <a:xfrm>
                    <a:off x="5096414" y="6168465"/>
                    <a:ext cx="235238" cy="235238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75" name="円/楕円 174"/>
                  <p:cNvSpPr>
                    <a:spLocks/>
                  </p:cNvSpPr>
                  <p:nvPr/>
                </p:nvSpPr>
                <p:spPr>
                  <a:xfrm>
                    <a:off x="5096414" y="5738067"/>
                    <a:ext cx="235238" cy="235238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76" name="円/楕円 175"/>
                  <p:cNvSpPr>
                    <a:spLocks/>
                  </p:cNvSpPr>
                  <p:nvPr/>
                </p:nvSpPr>
                <p:spPr>
                  <a:xfrm>
                    <a:off x="5599398" y="6168464"/>
                    <a:ext cx="235238" cy="235238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77" name="円/楕円 176"/>
                  <p:cNvSpPr>
                    <a:spLocks/>
                  </p:cNvSpPr>
                  <p:nvPr/>
                </p:nvSpPr>
                <p:spPr>
                  <a:xfrm>
                    <a:off x="5599398" y="5738067"/>
                    <a:ext cx="235238" cy="235238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</p:grpSp>
          </p:grpSp>
        </p:grpSp>
        <p:sp>
          <p:nvSpPr>
            <p:cNvPr id="126" name="テキスト ボックス 125"/>
            <p:cNvSpPr txBox="1"/>
            <p:nvPr/>
          </p:nvSpPr>
          <p:spPr>
            <a:xfrm>
              <a:off x="4297875" y="2421881"/>
              <a:ext cx="1832317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潜在空間</a:t>
              </a:r>
            </a:p>
          </p:txBody>
        </p:sp>
      </p:grpSp>
      <p:grpSp>
        <p:nvGrpSpPr>
          <p:cNvPr id="184" name="グループ化 183"/>
          <p:cNvGrpSpPr/>
          <p:nvPr/>
        </p:nvGrpSpPr>
        <p:grpSpPr>
          <a:xfrm>
            <a:off x="2155809" y="3443679"/>
            <a:ext cx="1034295" cy="1465065"/>
            <a:chOff x="3041739" y="3443679"/>
            <a:chExt cx="1034295" cy="1465065"/>
          </a:xfrm>
        </p:grpSpPr>
        <p:sp>
          <p:nvSpPr>
            <p:cNvPr id="123" name="二等辺三角形 122"/>
            <p:cNvSpPr/>
            <p:nvPr/>
          </p:nvSpPr>
          <p:spPr>
            <a:xfrm rot="5400000">
              <a:off x="3200664" y="4328985"/>
              <a:ext cx="716445" cy="443074"/>
            </a:xfrm>
            <a:prstGeom prst="triangle">
              <a:avLst/>
            </a:prstGeom>
            <a:solidFill>
              <a:schemeClr val="accent2"/>
            </a:solidFill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2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83" name="テキスト ボックス 182"/>
            <p:cNvSpPr txBox="1"/>
            <p:nvPr/>
          </p:nvSpPr>
          <p:spPr>
            <a:xfrm>
              <a:off x="3041739" y="3443679"/>
              <a:ext cx="1034295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射影</a:t>
              </a:r>
            </a:p>
          </p:txBody>
        </p:sp>
      </p:grpSp>
      <p:grpSp>
        <p:nvGrpSpPr>
          <p:cNvPr id="185" name="グループ化 184"/>
          <p:cNvGrpSpPr/>
          <p:nvPr/>
        </p:nvGrpSpPr>
        <p:grpSpPr>
          <a:xfrm>
            <a:off x="6395347" y="2421881"/>
            <a:ext cx="1832317" cy="3771988"/>
            <a:chOff x="4297875" y="2421881"/>
            <a:chExt cx="1832317" cy="3771988"/>
          </a:xfrm>
        </p:grpSpPr>
        <p:grpSp>
          <p:nvGrpSpPr>
            <p:cNvPr id="186" name="グループ化 185"/>
            <p:cNvGrpSpPr/>
            <p:nvPr/>
          </p:nvGrpSpPr>
          <p:grpSpPr>
            <a:xfrm>
              <a:off x="4363578" y="2907174"/>
              <a:ext cx="1700911" cy="3286695"/>
              <a:chOff x="4363578" y="2881769"/>
              <a:chExt cx="1700911" cy="3286695"/>
            </a:xfrm>
          </p:grpSpPr>
          <p:sp>
            <p:nvSpPr>
              <p:cNvPr id="188" name="正方形/長方形 187"/>
              <p:cNvSpPr/>
              <p:nvPr/>
            </p:nvSpPr>
            <p:spPr>
              <a:xfrm>
                <a:off x="4363578" y="2881769"/>
                <a:ext cx="1700911" cy="328669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189" name="グループ化 188"/>
              <p:cNvGrpSpPr/>
              <p:nvPr/>
            </p:nvGrpSpPr>
            <p:grpSpPr>
              <a:xfrm>
                <a:off x="4593430" y="3218710"/>
                <a:ext cx="1246278" cy="2612812"/>
                <a:chOff x="4593430" y="3283209"/>
                <a:chExt cx="1246278" cy="2612812"/>
              </a:xfrm>
            </p:grpSpPr>
            <p:grpSp>
              <p:nvGrpSpPr>
                <p:cNvPr id="190" name="グループ化 189"/>
                <p:cNvGrpSpPr/>
                <p:nvPr/>
              </p:nvGrpSpPr>
              <p:grpSpPr>
                <a:xfrm>
                  <a:off x="4598502" y="3283209"/>
                  <a:ext cx="1241206" cy="665636"/>
                  <a:chOff x="4593430" y="2646531"/>
                  <a:chExt cx="1241206" cy="665636"/>
                </a:xfrm>
              </p:grpSpPr>
              <p:sp>
                <p:nvSpPr>
                  <p:cNvPr id="205" name="星 5 204"/>
                  <p:cNvSpPr>
                    <a:spLocks/>
                  </p:cNvSpPr>
                  <p:nvPr/>
                </p:nvSpPr>
                <p:spPr>
                  <a:xfrm>
                    <a:off x="4593430" y="3076929"/>
                    <a:ext cx="235238" cy="235238"/>
                  </a:xfrm>
                  <a:prstGeom prst="star5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206" name="円/楕円 205"/>
                  <p:cNvSpPr>
                    <a:spLocks/>
                  </p:cNvSpPr>
                  <p:nvPr/>
                </p:nvSpPr>
                <p:spPr>
                  <a:xfrm>
                    <a:off x="4593430" y="2646531"/>
                    <a:ext cx="235238" cy="235238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207" name="正方形/長方形 206"/>
                  <p:cNvSpPr>
                    <a:spLocks/>
                  </p:cNvSpPr>
                  <p:nvPr/>
                </p:nvSpPr>
                <p:spPr>
                  <a:xfrm>
                    <a:off x="5096414" y="3076929"/>
                    <a:ext cx="235238" cy="2352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208" name="二等辺三角形 207"/>
                  <p:cNvSpPr>
                    <a:spLocks/>
                  </p:cNvSpPr>
                  <p:nvPr/>
                </p:nvSpPr>
                <p:spPr>
                  <a:xfrm>
                    <a:off x="5096414" y="2646531"/>
                    <a:ext cx="235238" cy="235238"/>
                  </a:xfrm>
                  <a:prstGeom prst="triangl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209" name="正方形/長方形 208"/>
                  <p:cNvSpPr>
                    <a:spLocks/>
                  </p:cNvSpPr>
                  <p:nvPr/>
                </p:nvSpPr>
                <p:spPr>
                  <a:xfrm>
                    <a:off x="5599398" y="3076928"/>
                    <a:ext cx="235238" cy="2352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210" name="二等辺三角形 209"/>
                  <p:cNvSpPr>
                    <a:spLocks/>
                  </p:cNvSpPr>
                  <p:nvPr/>
                </p:nvSpPr>
                <p:spPr>
                  <a:xfrm>
                    <a:off x="5599398" y="2646531"/>
                    <a:ext cx="235238" cy="235238"/>
                  </a:xfrm>
                  <a:prstGeom prst="triangl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</p:grpSp>
            <p:grpSp>
              <p:nvGrpSpPr>
                <p:cNvPr id="191" name="グループ化 190"/>
                <p:cNvGrpSpPr/>
                <p:nvPr/>
              </p:nvGrpSpPr>
              <p:grpSpPr>
                <a:xfrm>
                  <a:off x="4593430" y="4256797"/>
                  <a:ext cx="1241206" cy="665636"/>
                  <a:chOff x="4593430" y="4192299"/>
                  <a:chExt cx="1241206" cy="665636"/>
                </a:xfrm>
              </p:grpSpPr>
              <p:sp>
                <p:nvSpPr>
                  <p:cNvPr id="199" name="星 5 198"/>
                  <p:cNvSpPr>
                    <a:spLocks/>
                  </p:cNvSpPr>
                  <p:nvPr/>
                </p:nvSpPr>
                <p:spPr>
                  <a:xfrm>
                    <a:off x="4593430" y="4622697"/>
                    <a:ext cx="235238" cy="235238"/>
                  </a:xfrm>
                  <a:prstGeom prst="star5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200" name="正方形/長方形 199"/>
                  <p:cNvSpPr>
                    <a:spLocks/>
                  </p:cNvSpPr>
                  <p:nvPr/>
                </p:nvSpPr>
                <p:spPr>
                  <a:xfrm>
                    <a:off x="4593430" y="4192299"/>
                    <a:ext cx="235238" cy="23523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201" name="星 5 200"/>
                  <p:cNvSpPr>
                    <a:spLocks/>
                  </p:cNvSpPr>
                  <p:nvPr/>
                </p:nvSpPr>
                <p:spPr>
                  <a:xfrm>
                    <a:off x="5096414" y="4622697"/>
                    <a:ext cx="235238" cy="235238"/>
                  </a:xfrm>
                  <a:prstGeom prst="star5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202" name="正方形/長方形 201"/>
                  <p:cNvSpPr>
                    <a:spLocks/>
                  </p:cNvSpPr>
                  <p:nvPr/>
                </p:nvSpPr>
                <p:spPr>
                  <a:xfrm>
                    <a:off x="5096414" y="4192299"/>
                    <a:ext cx="235238" cy="23523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203" name="円/楕円 202"/>
                  <p:cNvSpPr>
                    <a:spLocks/>
                  </p:cNvSpPr>
                  <p:nvPr/>
                </p:nvSpPr>
                <p:spPr>
                  <a:xfrm>
                    <a:off x="5599398" y="4622696"/>
                    <a:ext cx="235238" cy="235238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204" name="星 5 203"/>
                  <p:cNvSpPr>
                    <a:spLocks/>
                  </p:cNvSpPr>
                  <p:nvPr/>
                </p:nvSpPr>
                <p:spPr>
                  <a:xfrm>
                    <a:off x="5599398" y="4192299"/>
                    <a:ext cx="235238" cy="235238"/>
                  </a:xfrm>
                  <a:prstGeom prst="star5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</p:grpSp>
            <p:grpSp>
              <p:nvGrpSpPr>
                <p:cNvPr id="192" name="グループ化 191"/>
                <p:cNvGrpSpPr/>
                <p:nvPr/>
              </p:nvGrpSpPr>
              <p:grpSpPr>
                <a:xfrm>
                  <a:off x="4593430" y="5230385"/>
                  <a:ext cx="1241206" cy="665636"/>
                  <a:chOff x="4593430" y="5738067"/>
                  <a:chExt cx="1241206" cy="665636"/>
                </a:xfrm>
              </p:grpSpPr>
              <p:sp>
                <p:nvSpPr>
                  <p:cNvPr id="193" name="ひし形 192"/>
                  <p:cNvSpPr>
                    <a:spLocks/>
                  </p:cNvSpPr>
                  <p:nvPr/>
                </p:nvSpPr>
                <p:spPr>
                  <a:xfrm>
                    <a:off x="4593430" y="6168465"/>
                    <a:ext cx="235238" cy="235238"/>
                  </a:xfrm>
                  <a:prstGeom prst="diamond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94" name="円/楕円 193"/>
                  <p:cNvSpPr>
                    <a:spLocks/>
                  </p:cNvSpPr>
                  <p:nvPr/>
                </p:nvSpPr>
                <p:spPr>
                  <a:xfrm>
                    <a:off x="4593430" y="5738067"/>
                    <a:ext cx="235238" cy="235238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95" name="星 5 194"/>
                  <p:cNvSpPr>
                    <a:spLocks/>
                  </p:cNvSpPr>
                  <p:nvPr/>
                </p:nvSpPr>
                <p:spPr>
                  <a:xfrm>
                    <a:off x="5096414" y="6168465"/>
                    <a:ext cx="235238" cy="235238"/>
                  </a:xfrm>
                  <a:prstGeom prst="star5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96" name="ひし形 195"/>
                  <p:cNvSpPr>
                    <a:spLocks/>
                  </p:cNvSpPr>
                  <p:nvPr/>
                </p:nvSpPr>
                <p:spPr>
                  <a:xfrm>
                    <a:off x="5096414" y="5738067"/>
                    <a:ext cx="235238" cy="235238"/>
                  </a:xfrm>
                  <a:prstGeom prst="diamond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97" name="正方形/長方形 196"/>
                  <p:cNvSpPr>
                    <a:spLocks/>
                  </p:cNvSpPr>
                  <p:nvPr/>
                </p:nvSpPr>
                <p:spPr>
                  <a:xfrm>
                    <a:off x="5599398" y="6168464"/>
                    <a:ext cx="235238" cy="235238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  <p:sp>
                <p:nvSpPr>
                  <p:cNvPr id="198" name="ひし形 197"/>
                  <p:cNvSpPr>
                    <a:spLocks/>
                  </p:cNvSpPr>
                  <p:nvPr/>
                </p:nvSpPr>
                <p:spPr>
                  <a:xfrm>
                    <a:off x="5599398" y="5738067"/>
                    <a:ext cx="235238" cy="235238"/>
                  </a:xfrm>
                  <a:prstGeom prst="diamond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/>
                  </a:p>
                </p:txBody>
              </p:sp>
            </p:grpSp>
          </p:grpSp>
        </p:grpSp>
        <p:sp>
          <p:nvSpPr>
            <p:cNvPr id="187" name="テキスト ボックス 186"/>
            <p:cNvSpPr txBox="1"/>
            <p:nvPr/>
          </p:nvSpPr>
          <p:spPr>
            <a:xfrm>
              <a:off x="4297875" y="2421881"/>
              <a:ext cx="1832317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潜在空間</a:t>
              </a:r>
            </a:p>
          </p:txBody>
        </p:sp>
      </p:grpSp>
      <p:grpSp>
        <p:nvGrpSpPr>
          <p:cNvPr id="211" name="グループ化 210"/>
          <p:cNvGrpSpPr/>
          <p:nvPr/>
        </p:nvGrpSpPr>
        <p:grpSpPr>
          <a:xfrm>
            <a:off x="4928163" y="3443679"/>
            <a:ext cx="1514313" cy="1465065"/>
            <a:chOff x="2801730" y="3443679"/>
            <a:chExt cx="1514313" cy="1465065"/>
          </a:xfrm>
        </p:grpSpPr>
        <p:sp>
          <p:nvSpPr>
            <p:cNvPr id="212" name="二等辺三角形 211"/>
            <p:cNvSpPr/>
            <p:nvPr/>
          </p:nvSpPr>
          <p:spPr>
            <a:xfrm rot="5400000">
              <a:off x="3200664" y="4328985"/>
              <a:ext cx="716445" cy="443074"/>
            </a:xfrm>
            <a:prstGeom prst="triangle">
              <a:avLst/>
            </a:prstGeom>
            <a:solidFill>
              <a:schemeClr val="accent2"/>
            </a:solidFill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2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213" name="テキスト ボックス 212"/>
            <p:cNvSpPr txBox="1"/>
            <p:nvPr/>
          </p:nvSpPr>
          <p:spPr>
            <a:xfrm>
              <a:off x="2801730" y="3443679"/>
              <a:ext cx="1514313" cy="73866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 smtClean="0"/>
                <a:t>最適化</a:t>
              </a:r>
              <a:r>
                <a:rPr lang="en-US" altLang="ja-JP" sz="2400" dirty="0" smtClean="0"/>
                <a:t/>
              </a:r>
              <a:br>
                <a:rPr lang="en-US" altLang="ja-JP" sz="2400" dirty="0" smtClean="0"/>
              </a:br>
              <a:r>
                <a:rPr lang="en-US" altLang="ja-JP" dirty="0" smtClean="0"/>
                <a:t>(MO-MFEA)</a:t>
              </a:r>
              <a:endParaRPr lang="ja-JP" altLang="en-US" sz="2400" dirty="0"/>
            </a:p>
          </p:txBody>
        </p:sp>
      </p:grpSp>
      <p:grpSp>
        <p:nvGrpSpPr>
          <p:cNvPr id="214" name="グループ化 213"/>
          <p:cNvGrpSpPr/>
          <p:nvPr/>
        </p:nvGrpSpPr>
        <p:grpSpPr>
          <a:xfrm>
            <a:off x="8180535" y="3443679"/>
            <a:ext cx="1034295" cy="1465065"/>
            <a:chOff x="3041739" y="3443679"/>
            <a:chExt cx="1034295" cy="1465065"/>
          </a:xfrm>
        </p:grpSpPr>
        <p:sp>
          <p:nvSpPr>
            <p:cNvPr id="215" name="二等辺三角形 214"/>
            <p:cNvSpPr/>
            <p:nvPr/>
          </p:nvSpPr>
          <p:spPr>
            <a:xfrm rot="5400000">
              <a:off x="3200664" y="4328985"/>
              <a:ext cx="716445" cy="443074"/>
            </a:xfrm>
            <a:prstGeom prst="triangle">
              <a:avLst/>
            </a:prstGeom>
            <a:solidFill>
              <a:schemeClr val="accent2"/>
            </a:solidFill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2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216" name="テキスト ボックス 215"/>
            <p:cNvSpPr txBox="1"/>
            <p:nvPr/>
          </p:nvSpPr>
          <p:spPr>
            <a:xfrm>
              <a:off x="3041739" y="3443679"/>
              <a:ext cx="1034295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射影</a:t>
              </a:r>
            </a:p>
          </p:txBody>
        </p:sp>
      </p:grpSp>
      <p:grpSp>
        <p:nvGrpSpPr>
          <p:cNvPr id="259" name="グループ化 258"/>
          <p:cNvGrpSpPr/>
          <p:nvPr/>
        </p:nvGrpSpPr>
        <p:grpSpPr>
          <a:xfrm>
            <a:off x="9167699" y="2010065"/>
            <a:ext cx="1832317" cy="4568503"/>
            <a:chOff x="10356043" y="2010065"/>
            <a:chExt cx="1832317" cy="4568503"/>
          </a:xfrm>
        </p:grpSpPr>
        <p:grpSp>
          <p:nvGrpSpPr>
            <p:cNvPr id="217" name="グループ化 216"/>
            <p:cNvGrpSpPr/>
            <p:nvPr/>
          </p:nvGrpSpPr>
          <p:grpSpPr>
            <a:xfrm>
              <a:off x="10356043" y="2010065"/>
              <a:ext cx="1832317" cy="1476967"/>
              <a:chOff x="856175" y="2010065"/>
              <a:chExt cx="1832317" cy="1476967"/>
            </a:xfrm>
          </p:grpSpPr>
          <p:grpSp>
            <p:nvGrpSpPr>
              <p:cNvPr id="218" name="グループ化 217"/>
              <p:cNvGrpSpPr/>
              <p:nvPr/>
            </p:nvGrpSpPr>
            <p:grpSpPr>
              <a:xfrm>
                <a:off x="921878" y="2471667"/>
                <a:ext cx="1700911" cy="1015365"/>
                <a:chOff x="921878" y="2471667"/>
                <a:chExt cx="1700911" cy="1015365"/>
              </a:xfrm>
            </p:grpSpPr>
            <p:sp>
              <p:nvSpPr>
                <p:cNvPr id="220" name="正方形/長方形 219"/>
                <p:cNvSpPr/>
                <p:nvPr/>
              </p:nvSpPr>
              <p:spPr>
                <a:xfrm>
                  <a:off x="921878" y="2471667"/>
                  <a:ext cx="1700911" cy="1015365"/>
                </a:xfrm>
                <a:prstGeom prst="rect">
                  <a:avLst/>
                </a:prstGeom>
                <a:noFill/>
                <a:ln w="44450">
                  <a:solidFill>
                    <a:schemeClr val="tx1"/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grpSp>
              <p:nvGrpSpPr>
                <p:cNvPr id="221" name="グループ化 220"/>
                <p:cNvGrpSpPr/>
                <p:nvPr/>
              </p:nvGrpSpPr>
              <p:grpSpPr>
                <a:xfrm>
                  <a:off x="1151730" y="2646531"/>
                  <a:ext cx="1241206" cy="665636"/>
                  <a:chOff x="2244273" y="3457447"/>
                  <a:chExt cx="1241206" cy="665636"/>
                </a:xfrm>
              </p:grpSpPr>
              <p:grpSp>
                <p:nvGrpSpPr>
                  <p:cNvPr id="222" name="グループ化 221"/>
                  <p:cNvGrpSpPr/>
                  <p:nvPr/>
                </p:nvGrpSpPr>
                <p:grpSpPr>
                  <a:xfrm>
                    <a:off x="2244273" y="3457447"/>
                    <a:ext cx="235238" cy="665636"/>
                    <a:chOff x="1553894" y="3376875"/>
                    <a:chExt cx="235238" cy="665636"/>
                  </a:xfrm>
                </p:grpSpPr>
                <p:sp>
                  <p:nvSpPr>
                    <p:cNvPr id="229" name="星 5 228"/>
                    <p:cNvSpPr>
                      <a:spLocks/>
                    </p:cNvSpPr>
                    <p:nvPr/>
                  </p:nvSpPr>
                  <p:spPr>
                    <a:xfrm>
                      <a:off x="1553894" y="3807273"/>
                      <a:ext cx="235238" cy="235238"/>
                    </a:xfrm>
                    <a:prstGeom prst="star5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230" name="円/楕円 229"/>
                    <p:cNvSpPr>
                      <a:spLocks/>
                    </p:cNvSpPr>
                    <p:nvPr/>
                  </p:nvSpPr>
                  <p:spPr>
                    <a:xfrm>
                      <a:off x="1553894" y="3376875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223" name="グループ化 222"/>
                  <p:cNvGrpSpPr/>
                  <p:nvPr/>
                </p:nvGrpSpPr>
                <p:grpSpPr>
                  <a:xfrm>
                    <a:off x="2747257" y="3457447"/>
                    <a:ext cx="235238" cy="665636"/>
                    <a:chOff x="2678239" y="3457447"/>
                    <a:chExt cx="235238" cy="665636"/>
                  </a:xfrm>
                </p:grpSpPr>
                <p:sp>
                  <p:nvSpPr>
                    <p:cNvPr id="227" name="正方形/長方形 226"/>
                    <p:cNvSpPr>
                      <a:spLocks/>
                    </p:cNvSpPr>
                    <p:nvPr/>
                  </p:nvSpPr>
                  <p:spPr>
                    <a:xfrm>
                      <a:off x="2678239" y="3887845"/>
                      <a:ext cx="235238" cy="2352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228" name="二等辺三角形 227"/>
                    <p:cNvSpPr>
                      <a:spLocks/>
                    </p:cNvSpPr>
                    <p:nvPr/>
                  </p:nvSpPr>
                  <p:spPr>
                    <a:xfrm>
                      <a:off x="2678239" y="3457447"/>
                      <a:ext cx="235238" cy="235238"/>
                    </a:xfrm>
                    <a:prstGeom prst="triangl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224" name="グループ化 223"/>
                  <p:cNvGrpSpPr/>
                  <p:nvPr/>
                </p:nvGrpSpPr>
                <p:grpSpPr>
                  <a:xfrm>
                    <a:off x="3250241" y="3457447"/>
                    <a:ext cx="235238" cy="665635"/>
                    <a:chOff x="3250241" y="3457447"/>
                    <a:chExt cx="235238" cy="665635"/>
                  </a:xfrm>
                </p:grpSpPr>
                <p:sp>
                  <p:nvSpPr>
                    <p:cNvPr id="225" name="正方形/長方形 224"/>
                    <p:cNvSpPr>
                      <a:spLocks/>
                    </p:cNvSpPr>
                    <p:nvPr/>
                  </p:nvSpPr>
                  <p:spPr>
                    <a:xfrm>
                      <a:off x="3250241" y="3887844"/>
                      <a:ext cx="235238" cy="2352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226" name="二等辺三角形 225"/>
                    <p:cNvSpPr>
                      <a:spLocks/>
                    </p:cNvSpPr>
                    <p:nvPr/>
                  </p:nvSpPr>
                  <p:spPr>
                    <a:xfrm>
                      <a:off x="3250241" y="3457447"/>
                      <a:ext cx="235238" cy="235238"/>
                    </a:xfrm>
                    <a:prstGeom prst="triangl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</p:grpSp>
          </p:grpSp>
          <p:sp>
            <p:nvSpPr>
              <p:cNvPr id="219" name="テキスト ボックス 218"/>
              <p:cNvSpPr txBox="1"/>
              <p:nvPr/>
            </p:nvSpPr>
            <p:spPr>
              <a:xfrm>
                <a:off x="856175" y="2010065"/>
                <a:ext cx="1832317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400" dirty="0" smtClean="0"/>
                  <a:t>Task</a:t>
                </a:r>
                <a:r>
                  <a:rPr lang="ja-JP" altLang="en-US" sz="2400" dirty="0" smtClean="0"/>
                  <a:t> </a:t>
                </a:r>
                <a:r>
                  <a:rPr lang="en-US" altLang="ja-JP" sz="2400" dirty="0" smtClean="0"/>
                  <a:t>1</a:t>
                </a:r>
                <a:endParaRPr lang="ja-JP" altLang="en-US" sz="2400" dirty="0"/>
              </a:p>
            </p:txBody>
          </p:sp>
        </p:grpSp>
        <p:grpSp>
          <p:nvGrpSpPr>
            <p:cNvPr id="231" name="グループ化 230"/>
            <p:cNvGrpSpPr/>
            <p:nvPr/>
          </p:nvGrpSpPr>
          <p:grpSpPr>
            <a:xfrm>
              <a:off x="10356043" y="3555833"/>
              <a:ext cx="1832317" cy="1476967"/>
              <a:chOff x="856175" y="2010065"/>
              <a:chExt cx="1832317" cy="1476967"/>
            </a:xfrm>
          </p:grpSpPr>
          <p:grpSp>
            <p:nvGrpSpPr>
              <p:cNvPr id="232" name="グループ化 231"/>
              <p:cNvGrpSpPr/>
              <p:nvPr/>
            </p:nvGrpSpPr>
            <p:grpSpPr>
              <a:xfrm>
                <a:off x="921878" y="2471667"/>
                <a:ext cx="1700911" cy="1015365"/>
                <a:chOff x="921878" y="2471667"/>
                <a:chExt cx="1700911" cy="1015365"/>
              </a:xfrm>
            </p:grpSpPr>
            <p:sp>
              <p:nvSpPr>
                <p:cNvPr id="234" name="正方形/長方形 233"/>
                <p:cNvSpPr/>
                <p:nvPr/>
              </p:nvSpPr>
              <p:spPr>
                <a:xfrm>
                  <a:off x="921878" y="2471667"/>
                  <a:ext cx="1700911" cy="1015365"/>
                </a:xfrm>
                <a:prstGeom prst="rect">
                  <a:avLst/>
                </a:prstGeom>
                <a:noFill/>
                <a:ln w="44450">
                  <a:solidFill>
                    <a:schemeClr val="tx1"/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grpSp>
              <p:nvGrpSpPr>
                <p:cNvPr id="235" name="グループ化 234"/>
                <p:cNvGrpSpPr/>
                <p:nvPr/>
              </p:nvGrpSpPr>
              <p:grpSpPr>
                <a:xfrm>
                  <a:off x="1151730" y="2646531"/>
                  <a:ext cx="1241206" cy="665636"/>
                  <a:chOff x="2244273" y="3457447"/>
                  <a:chExt cx="1241206" cy="665636"/>
                </a:xfrm>
              </p:grpSpPr>
              <p:grpSp>
                <p:nvGrpSpPr>
                  <p:cNvPr id="236" name="グループ化 235"/>
                  <p:cNvGrpSpPr/>
                  <p:nvPr/>
                </p:nvGrpSpPr>
                <p:grpSpPr>
                  <a:xfrm>
                    <a:off x="2244273" y="3457447"/>
                    <a:ext cx="235238" cy="665636"/>
                    <a:chOff x="1553894" y="3376875"/>
                    <a:chExt cx="235238" cy="665636"/>
                  </a:xfrm>
                </p:grpSpPr>
                <p:sp>
                  <p:nvSpPr>
                    <p:cNvPr id="243" name="星 5 242"/>
                    <p:cNvSpPr>
                      <a:spLocks/>
                    </p:cNvSpPr>
                    <p:nvPr/>
                  </p:nvSpPr>
                  <p:spPr>
                    <a:xfrm>
                      <a:off x="1553894" y="3807273"/>
                      <a:ext cx="235238" cy="235238"/>
                    </a:xfrm>
                    <a:prstGeom prst="star5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244" name="正方形/長方形 243"/>
                    <p:cNvSpPr>
                      <a:spLocks/>
                    </p:cNvSpPr>
                    <p:nvPr/>
                  </p:nvSpPr>
                  <p:spPr>
                    <a:xfrm>
                      <a:off x="1553894" y="3376875"/>
                      <a:ext cx="235238" cy="23523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237" name="グループ化 236"/>
                  <p:cNvGrpSpPr/>
                  <p:nvPr/>
                </p:nvGrpSpPr>
                <p:grpSpPr>
                  <a:xfrm>
                    <a:off x="2747257" y="3457447"/>
                    <a:ext cx="235238" cy="665636"/>
                    <a:chOff x="2678239" y="3457447"/>
                    <a:chExt cx="235238" cy="665636"/>
                  </a:xfrm>
                </p:grpSpPr>
                <p:sp>
                  <p:nvSpPr>
                    <p:cNvPr id="241" name="星 5 240"/>
                    <p:cNvSpPr>
                      <a:spLocks/>
                    </p:cNvSpPr>
                    <p:nvPr/>
                  </p:nvSpPr>
                  <p:spPr>
                    <a:xfrm>
                      <a:off x="2678239" y="3887845"/>
                      <a:ext cx="235238" cy="235238"/>
                    </a:xfrm>
                    <a:prstGeom prst="star5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242" name="正方形/長方形 241"/>
                    <p:cNvSpPr>
                      <a:spLocks/>
                    </p:cNvSpPr>
                    <p:nvPr/>
                  </p:nvSpPr>
                  <p:spPr>
                    <a:xfrm>
                      <a:off x="2678239" y="3457447"/>
                      <a:ext cx="235238" cy="23523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238" name="グループ化 237"/>
                  <p:cNvGrpSpPr/>
                  <p:nvPr/>
                </p:nvGrpSpPr>
                <p:grpSpPr>
                  <a:xfrm>
                    <a:off x="3250241" y="3457447"/>
                    <a:ext cx="235238" cy="665635"/>
                    <a:chOff x="3250241" y="3457447"/>
                    <a:chExt cx="235238" cy="665635"/>
                  </a:xfrm>
                </p:grpSpPr>
                <p:sp>
                  <p:nvSpPr>
                    <p:cNvPr id="239" name="円/楕円 238"/>
                    <p:cNvSpPr>
                      <a:spLocks/>
                    </p:cNvSpPr>
                    <p:nvPr/>
                  </p:nvSpPr>
                  <p:spPr>
                    <a:xfrm>
                      <a:off x="3250241" y="3887844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240" name="星 5 239"/>
                    <p:cNvSpPr>
                      <a:spLocks/>
                    </p:cNvSpPr>
                    <p:nvPr/>
                  </p:nvSpPr>
                  <p:spPr>
                    <a:xfrm>
                      <a:off x="3250241" y="3457447"/>
                      <a:ext cx="235238" cy="235238"/>
                    </a:xfrm>
                    <a:prstGeom prst="star5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</p:grpSp>
          </p:grpSp>
          <p:sp>
            <p:nvSpPr>
              <p:cNvPr id="233" name="テキスト ボックス 232"/>
              <p:cNvSpPr txBox="1"/>
              <p:nvPr/>
            </p:nvSpPr>
            <p:spPr>
              <a:xfrm>
                <a:off x="856175" y="2010065"/>
                <a:ext cx="1832317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400" dirty="0" smtClean="0"/>
                  <a:t>Task</a:t>
                </a:r>
                <a:r>
                  <a:rPr lang="ja-JP" altLang="en-US" sz="2400" dirty="0" smtClean="0"/>
                  <a:t> </a:t>
                </a:r>
                <a:r>
                  <a:rPr lang="en-US" altLang="ja-JP" sz="2400" dirty="0"/>
                  <a:t>2</a:t>
                </a:r>
                <a:endParaRPr lang="ja-JP" altLang="en-US" sz="2400" dirty="0"/>
              </a:p>
            </p:txBody>
          </p:sp>
        </p:grpSp>
        <p:grpSp>
          <p:nvGrpSpPr>
            <p:cNvPr id="245" name="グループ化 244"/>
            <p:cNvGrpSpPr/>
            <p:nvPr/>
          </p:nvGrpSpPr>
          <p:grpSpPr>
            <a:xfrm>
              <a:off x="10356043" y="5101601"/>
              <a:ext cx="1832317" cy="1476967"/>
              <a:chOff x="856175" y="2010065"/>
              <a:chExt cx="1832317" cy="1476967"/>
            </a:xfrm>
          </p:grpSpPr>
          <p:grpSp>
            <p:nvGrpSpPr>
              <p:cNvPr id="246" name="グループ化 245"/>
              <p:cNvGrpSpPr/>
              <p:nvPr/>
            </p:nvGrpSpPr>
            <p:grpSpPr>
              <a:xfrm>
                <a:off x="921878" y="2471667"/>
                <a:ext cx="1700911" cy="1015365"/>
                <a:chOff x="921878" y="2471667"/>
                <a:chExt cx="1700911" cy="1015365"/>
              </a:xfrm>
            </p:grpSpPr>
            <p:sp>
              <p:nvSpPr>
                <p:cNvPr id="248" name="正方形/長方形 247"/>
                <p:cNvSpPr/>
                <p:nvPr/>
              </p:nvSpPr>
              <p:spPr>
                <a:xfrm>
                  <a:off x="921878" y="2471667"/>
                  <a:ext cx="1700911" cy="1015365"/>
                </a:xfrm>
                <a:prstGeom prst="rect">
                  <a:avLst/>
                </a:prstGeom>
                <a:noFill/>
                <a:ln w="44450">
                  <a:solidFill>
                    <a:schemeClr val="tx1"/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grpSp>
              <p:nvGrpSpPr>
                <p:cNvPr id="249" name="グループ化 248"/>
                <p:cNvGrpSpPr/>
                <p:nvPr/>
              </p:nvGrpSpPr>
              <p:grpSpPr>
                <a:xfrm>
                  <a:off x="1151730" y="2646531"/>
                  <a:ext cx="1241206" cy="665636"/>
                  <a:chOff x="2244273" y="3457447"/>
                  <a:chExt cx="1241206" cy="665636"/>
                </a:xfrm>
              </p:grpSpPr>
              <p:grpSp>
                <p:nvGrpSpPr>
                  <p:cNvPr id="250" name="グループ化 249"/>
                  <p:cNvGrpSpPr/>
                  <p:nvPr/>
                </p:nvGrpSpPr>
                <p:grpSpPr>
                  <a:xfrm>
                    <a:off x="2244273" y="3457447"/>
                    <a:ext cx="235238" cy="665636"/>
                    <a:chOff x="1553894" y="3376875"/>
                    <a:chExt cx="235238" cy="665636"/>
                  </a:xfrm>
                </p:grpSpPr>
                <p:sp>
                  <p:nvSpPr>
                    <p:cNvPr id="257" name="ひし形 256"/>
                    <p:cNvSpPr>
                      <a:spLocks/>
                    </p:cNvSpPr>
                    <p:nvPr/>
                  </p:nvSpPr>
                  <p:spPr>
                    <a:xfrm>
                      <a:off x="1553894" y="3807273"/>
                      <a:ext cx="235238" cy="235238"/>
                    </a:xfrm>
                    <a:prstGeom prst="diamond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258" name="円/楕円 257"/>
                    <p:cNvSpPr>
                      <a:spLocks/>
                    </p:cNvSpPr>
                    <p:nvPr/>
                  </p:nvSpPr>
                  <p:spPr>
                    <a:xfrm>
                      <a:off x="1553894" y="3376875"/>
                      <a:ext cx="235238" cy="235238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251" name="グループ化 250"/>
                  <p:cNvGrpSpPr/>
                  <p:nvPr/>
                </p:nvGrpSpPr>
                <p:grpSpPr>
                  <a:xfrm>
                    <a:off x="2747257" y="3457447"/>
                    <a:ext cx="235238" cy="665636"/>
                    <a:chOff x="2678239" y="3457447"/>
                    <a:chExt cx="235238" cy="665636"/>
                  </a:xfrm>
                </p:grpSpPr>
                <p:sp>
                  <p:nvSpPr>
                    <p:cNvPr id="255" name="星 5 254"/>
                    <p:cNvSpPr>
                      <a:spLocks/>
                    </p:cNvSpPr>
                    <p:nvPr/>
                  </p:nvSpPr>
                  <p:spPr>
                    <a:xfrm>
                      <a:off x="2678239" y="3887845"/>
                      <a:ext cx="235238" cy="235238"/>
                    </a:xfrm>
                    <a:prstGeom prst="star5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256" name="ひし形 255"/>
                    <p:cNvSpPr>
                      <a:spLocks/>
                    </p:cNvSpPr>
                    <p:nvPr/>
                  </p:nvSpPr>
                  <p:spPr>
                    <a:xfrm>
                      <a:off x="2678239" y="3457447"/>
                      <a:ext cx="235238" cy="235238"/>
                    </a:xfrm>
                    <a:prstGeom prst="diamond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  <p:grpSp>
                <p:nvGrpSpPr>
                  <p:cNvPr id="252" name="グループ化 251"/>
                  <p:cNvGrpSpPr/>
                  <p:nvPr/>
                </p:nvGrpSpPr>
                <p:grpSpPr>
                  <a:xfrm>
                    <a:off x="3250241" y="3457447"/>
                    <a:ext cx="235238" cy="665635"/>
                    <a:chOff x="3250241" y="3457447"/>
                    <a:chExt cx="235238" cy="665635"/>
                  </a:xfrm>
                </p:grpSpPr>
                <p:sp>
                  <p:nvSpPr>
                    <p:cNvPr id="253" name="正方形/長方形 252"/>
                    <p:cNvSpPr>
                      <a:spLocks/>
                    </p:cNvSpPr>
                    <p:nvPr/>
                  </p:nvSpPr>
                  <p:spPr>
                    <a:xfrm>
                      <a:off x="3250241" y="3887844"/>
                      <a:ext cx="235238" cy="235238"/>
                    </a:xfrm>
                    <a:prstGeom prst="rect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  <p:sp>
                  <p:nvSpPr>
                    <p:cNvPr id="254" name="ひし形 253"/>
                    <p:cNvSpPr>
                      <a:spLocks/>
                    </p:cNvSpPr>
                    <p:nvPr/>
                  </p:nvSpPr>
                  <p:spPr>
                    <a:xfrm>
                      <a:off x="3250241" y="3457447"/>
                      <a:ext cx="235238" cy="235238"/>
                    </a:xfrm>
                    <a:prstGeom prst="diamond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/>
                    </a:p>
                  </p:txBody>
                </p:sp>
              </p:grpSp>
            </p:grpSp>
          </p:grpSp>
          <p:sp>
            <p:nvSpPr>
              <p:cNvPr id="247" name="テキスト ボックス 246"/>
              <p:cNvSpPr txBox="1"/>
              <p:nvPr/>
            </p:nvSpPr>
            <p:spPr>
              <a:xfrm>
                <a:off x="856175" y="2010065"/>
                <a:ext cx="1832317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400" dirty="0" smtClean="0"/>
                  <a:t>Task</a:t>
                </a:r>
                <a:r>
                  <a:rPr lang="ja-JP" altLang="en-US" sz="2400" dirty="0"/>
                  <a:t> </a:t>
                </a:r>
                <a:r>
                  <a:rPr lang="en-US" altLang="ja-JP" sz="2400" dirty="0" smtClean="0"/>
                  <a:t>3</a:t>
                </a:r>
                <a:endParaRPr lang="ja-JP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63" name="テキスト ボックス 262"/>
          <p:cNvSpPr txBox="1"/>
          <p:nvPr/>
        </p:nvSpPr>
        <p:spPr>
          <a:xfrm>
            <a:off x="10961633" y="4258133"/>
            <a:ext cx="1034295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・・・</a:t>
            </a:r>
          </a:p>
        </p:txBody>
      </p:sp>
    </p:spTree>
    <p:extLst>
      <p:ext uri="{BB962C8B-B14F-4D97-AF65-F5344CB8AC3E}">
        <p14:creationId xmlns:p14="http://schemas.microsoft.com/office/powerpoint/2010/main" val="69013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各</a:t>
            </a:r>
            <a:r>
              <a:rPr kumimoji="1" lang="ja-JP" altLang="en-US" dirty="0" smtClean="0"/>
              <a:t>タスクから</a:t>
            </a:r>
            <a:r>
              <a:rPr lang="ja-JP" altLang="en-US" dirty="0"/>
              <a:t>サンプリングした</a:t>
            </a:r>
            <a:r>
              <a:rPr kumimoji="1" lang="ja-JP" altLang="en-US" dirty="0" smtClean="0"/>
              <a:t>個体</a:t>
            </a:r>
            <a:r>
              <a:rPr kumimoji="1" lang="ja-JP" altLang="en-US" dirty="0" smtClean="0"/>
              <a:t>について，タスク内で</a:t>
            </a:r>
            <a:r>
              <a:rPr kumimoji="1" lang="ja-JP" altLang="en-US" dirty="0" smtClean="0"/>
              <a:t>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優越</a:t>
            </a:r>
            <a:r>
              <a:rPr kumimoji="1" lang="ja-JP" altLang="en-US" dirty="0" smtClean="0"/>
              <a:t>関係･目的関数値</a:t>
            </a:r>
            <a:r>
              <a:rPr kumimoji="1" lang="ja-JP" altLang="en-US" dirty="0" smtClean="0"/>
              <a:t>の総和</a:t>
            </a:r>
            <a:r>
              <a:rPr kumimoji="1" lang="ja-JP" altLang="en-US" dirty="0" smtClean="0"/>
              <a:t>に応じでクラス分けを行う．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4466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各タスクからサンプリングした個体について，タスク内での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優越関係･目的関数値の総和に応じでクラス分けを行う．</a:t>
            </a:r>
          </a:p>
          <a:p>
            <a:r>
              <a:rPr lang="en-US" altLang="ja-JP" dirty="0" smtClean="0"/>
              <a:t>1</a:t>
            </a:r>
            <a:r>
              <a:rPr lang="en-US" altLang="ja-JP" dirty="0" smtClean="0"/>
              <a:t>.</a:t>
            </a:r>
            <a:r>
              <a:rPr lang="ja-JP" altLang="en-US" dirty="0" smtClean="0"/>
              <a:t>優越関係によるクラス分け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grpSp>
        <p:nvGrpSpPr>
          <p:cNvPr id="12" name="グループ化 11"/>
          <p:cNvGrpSpPr/>
          <p:nvPr/>
        </p:nvGrpSpPr>
        <p:grpSpPr>
          <a:xfrm>
            <a:off x="2409904" y="3240000"/>
            <a:ext cx="2164864" cy="3372242"/>
            <a:chOff x="823776" y="3150000"/>
            <a:chExt cx="2164864" cy="3372242"/>
          </a:xfrm>
        </p:grpSpPr>
        <p:grpSp>
          <p:nvGrpSpPr>
            <p:cNvPr id="9" name="グループ化 8"/>
            <p:cNvGrpSpPr/>
            <p:nvPr/>
          </p:nvGrpSpPr>
          <p:grpSpPr>
            <a:xfrm>
              <a:off x="823776" y="3150000"/>
              <a:ext cx="2164864" cy="2819400"/>
              <a:chOff x="823776" y="3556000"/>
              <a:chExt cx="2164864" cy="2819400"/>
            </a:xfrm>
          </p:grpSpPr>
          <p:grpSp>
            <p:nvGrpSpPr>
              <p:cNvPr id="8" name="グループ化 7"/>
              <p:cNvGrpSpPr/>
              <p:nvPr/>
            </p:nvGrpSpPr>
            <p:grpSpPr>
              <a:xfrm>
                <a:off x="1162914" y="3799688"/>
                <a:ext cx="1486588" cy="2332024"/>
                <a:chOff x="1169411" y="3799693"/>
                <a:chExt cx="1486588" cy="2332024"/>
              </a:xfrm>
            </p:grpSpPr>
            <p:sp>
              <p:nvSpPr>
                <p:cNvPr id="74" name="円/楕円 73"/>
                <p:cNvSpPr>
                  <a:spLocks/>
                </p:cNvSpPr>
                <p:nvPr/>
              </p:nvSpPr>
              <p:spPr>
                <a:xfrm>
                  <a:off x="1179555" y="3799693"/>
                  <a:ext cx="470476" cy="47047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76" name="円/楕円 75"/>
                <p:cNvSpPr>
                  <a:spLocks/>
                </p:cNvSpPr>
                <p:nvPr/>
              </p:nvSpPr>
              <p:spPr>
                <a:xfrm>
                  <a:off x="2185523" y="3799693"/>
                  <a:ext cx="470476" cy="47047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68" name="円/楕円 67"/>
                <p:cNvSpPr>
                  <a:spLocks/>
                </p:cNvSpPr>
                <p:nvPr/>
              </p:nvSpPr>
              <p:spPr>
                <a:xfrm>
                  <a:off x="1169411" y="5661241"/>
                  <a:ext cx="470476" cy="47047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69" name="円/楕円 68"/>
                <p:cNvSpPr>
                  <a:spLocks/>
                </p:cNvSpPr>
                <p:nvPr/>
              </p:nvSpPr>
              <p:spPr>
                <a:xfrm>
                  <a:off x="1169411" y="4730467"/>
                  <a:ext cx="470476" cy="47047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70" name="円/楕円 69"/>
                <p:cNvSpPr>
                  <a:spLocks/>
                </p:cNvSpPr>
                <p:nvPr/>
              </p:nvSpPr>
              <p:spPr>
                <a:xfrm>
                  <a:off x="2175379" y="5661241"/>
                  <a:ext cx="470476" cy="47047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71" name="円/楕円 70"/>
                <p:cNvSpPr>
                  <a:spLocks/>
                </p:cNvSpPr>
                <p:nvPr/>
              </p:nvSpPr>
              <p:spPr>
                <a:xfrm>
                  <a:off x="2175379" y="4730467"/>
                  <a:ext cx="470476" cy="47047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</p:grpSp>
          <p:sp>
            <p:nvSpPr>
              <p:cNvPr id="27" name="正方形/長方形 26"/>
              <p:cNvSpPr/>
              <p:nvPr/>
            </p:nvSpPr>
            <p:spPr>
              <a:xfrm>
                <a:off x="823776" y="3556000"/>
                <a:ext cx="2164864" cy="2819400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2" name="テキスト ボックス 1"/>
            <p:cNvSpPr txBox="1"/>
            <p:nvPr/>
          </p:nvSpPr>
          <p:spPr>
            <a:xfrm>
              <a:off x="1214058" y="5999022"/>
              <a:ext cx="13843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非劣解</a:t>
              </a:r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5602448" y="3240000"/>
            <a:ext cx="4179648" cy="3372242"/>
            <a:chOff x="5023713" y="3150000"/>
            <a:chExt cx="4179648" cy="3372242"/>
          </a:xfrm>
        </p:grpSpPr>
        <p:grpSp>
          <p:nvGrpSpPr>
            <p:cNvPr id="11" name="グループ化 10"/>
            <p:cNvGrpSpPr/>
            <p:nvPr/>
          </p:nvGrpSpPr>
          <p:grpSpPr>
            <a:xfrm>
              <a:off x="5023713" y="3150000"/>
              <a:ext cx="4179648" cy="2819400"/>
              <a:chOff x="5023713" y="3556000"/>
              <a:chExt cx="4179648" cy="2819400"/>
            </a:xfrm>
          </p:grpSpPr>
          <p:sp>
            <p:nvSpPr>
              <p:cNvPr id="57" name="正方形/長方形 56"/>
              <p:cNvSpPr/>
              <p:nvPr/>
            </p:nvSpPr>
            <p:spPr>
              <a:xfrm>
                <a:off x="5023713" y="3556000"/>
                <a:ext cx="4179648" cy="2819400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10" name="グループ化 9"/>
              <p:cNvGrpSpPr/>
              <p:nvPr/>
            </p:nvGrpSpPr>
            <p:grpSpPr>
              <a:xfrm>
                <a:off x="5357779" y="3799686"/>
                <a:ext cx="3511517" cy="2332028"/>
                <a:chOff x="5346210" y="3799683"/>
                <a:chExt cx="3511517" cy="2332028"/>
              </a:xfrm>
            </p:grpSpPr>
            <p:sp>
              <p:nvSpPr>
                <p:cNvPr id="78" name="円/楕円 77"/>
                <p:cNvSpPr>
                  <a:spLocks/>
                </p:cNvSpPr>
                <p:nvPr/>
              </p:nvSpPr>
              <p:spPr>
                <a:xfrm>
                  <a:off x="5356354" y="3799691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72" name="円/楕円 71"/>
                <p:cNvSpPr>
                  <a:spLocks/>
                </p:cNvSpPr>
                <p:nvPr/>
              </p:nvSpPr>
              <p:spPr>
                <a:xfrm>
                  <a:off x="5346210" y="5661235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73" name="円/楕円 72"/>
                <p:cNvSpPr>
                  <a:spLocks/>
                </p:cNvSpPr>
                <p:nvPr/>
              </p:nvSpPr>
              <p:spPr>
                <a:xfrm>
                  <a:off x="5346210" y="4730463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62" name="円/楕円 61"/>
                <p:cNvSpPr>
                  <a:spLocks/>
                </p:cNvSpPr>
                <p:nvPr/>
              </p:nvSpPr>
              <p:spPr>
                <a:xfrm>
                  <a:off x="6375315" y="3799693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64" name="円/楕円 63"/>
                <p:cNvSpPr>
                  <a:spLocks/>
                </p:cNvSpPr>
                <p:nvPr/>
              </p:nvSpPr>
              <p:spPr>
                <a:xfrm>
                  <a:off x="7381283" y="3799693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66" name="円/楕円 65"/>
                <p:cNvSpPr>
                  <a:spLocks/>
                </p:cNvSpPr>
                <p:nvPr/>
              </p:nvSpPr>
              <p:spPr>
                <a:xfrm>
                  <a:off x="8387251" y="3799683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80" name="円/楕円 79"/>
                <p:cNvSpPr>
                  <a:spLocks/>
                </p:cNvSpPr>
                <p:nvPr/>
              </p:nvSpPr>
              <p:spPr>
                <a:xfrm>
                  <a:off x="6375315" y="5661235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81" name="円/楕円 80"/>
                <p:cNvSpPr>
                  <a:spLocks/>
                </p:cNvSpPr>
                <p:nvPr/>
              </p:nvSpPr>
              <p:spPr>
                <a:xfrm>
                  <a:off x="6375315" y="4730467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82" name="円/楕円 81"/>
                <p:cNvSpPr>
                  <a:spLocks/>
                </p:cNvSpPr>
                <p:nvPr/>
              </p:nvSpPr>
              <p:spPr>
                <a:xfrm>
                  <a:off x="7381283" y="5661235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83" name="円/楕円 82"/>
                <p:cNvSpPr>
                  <a:spLocks/>
                </p:cNvSpPr>
                <p:nvPr/>
              </p:nvSpPr>
              <p:spPr>
                <a:xfrm>
                  <a:off x="7381283" y="4730467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84" name="円/楕円 83"/>
                <p:cNvSpPr>
                  <a:spLocks/>
                </p:cNvSpPr>
                <p:nvPr/>
              </p:nvSpPr>
              <p:spPr>
                <a:xfrm>
                  <a:off x="8387251" y="5661233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85" name="円/楕円 84"/>
                <p:cNvSpPr>
                  <a:spLocks/>
                </p:cNvSpPr>
                <p:nvPr/>
              </p:nvSpPr>
              <p:spPr>
                <a:xfrm>
                  <a:off x="8387251" y="4730455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</p:grpSp>
        </p:grpSp>
        <p:sp>
          <p:nvSpPr>
            <p:cNvPr id="29" name="テキスト ボックス 28"/>
            <p:cNvSpPr txBox="1"/>
            <p:nvPr/>
          </p:nvSpPr>
          <p:spPr>
            <a:xfrm>
              <a:off x="6421387" y="5999022"/>
              <a:ext cx="13843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劣解</a:t>
              </a:r>
            </a:p>
          </p:txBody>
        </p:sp>
      </p:grpSp>
      <p:grpSp>
        <p:nvGrpSpPr>
          <p:cNvPr id="38" name="グループ化 37"/>
          <p:cNvGrpSpPr/>
          <p:nvPr/>
        </p:nvGrpSpPr>
        <p:grpSpPr>
          <a:xfrm>
            <a:off x="2988639" y="3240000"/>
            <a:ext cx="6214722" cy="2819400"/>
            <a:chOff x="2988639" y="3556000"/>
            <a:chExt cx="6214722" cy="2819400"/>
          </a:xfrm>
        </p:grpSpPr>
        <p:sp>
          <p:nvSpPr>
            <p:cNvPr id="39" name="正方形/長方形 38"/>
            <p:cNvSpPr/>
            <p:nvPr/>
          </p:nvSpPr>
          <p:spPr>
            <a:xfrm>
              <a:off x="2988639" y="3556000"/>
              <a:ext cx="6214722" cy="2819400"/>
            </a:xfrm>
            <a:prstGeom prst="rect">
              <a:avLst/>
            </a:prstGeom>
            <a:noFill/>
            <a:ln w="4445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grpSp>
          <p:nvGrpSpPr>
            <p:cNvPr id="40" name="グループ化 39"/>
            <p:cNvGrpSpPr/>
            <p:nvPr/>
          </p:nvGrpSpPr>
          <p:grpSpPr>
            <a:xfrm>
              <a:off x="3334274" y="3799683"/>
              <a:ext cx="5523453" cy="2332034"/>
              <a:chOff x="3334274" y="3807869"/>
              <a:chExt cx="5523453" cy="2332034"/>
            </a:xfrm>
          </p:grpSpPr>
          <p:sp>
            <p:nvSpPr>
              <p:cNvPr id="41" name="円/楕円 40"/>
              <p:cNvSpPr>
                <a:spLocks/>
              </p:cNvSpPr>
              <p:nvPr/>
            </p:nvSpPr>
            <p:spPr>
              <a:xfrm>
                <a:off x="3344418" y="3807879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2" name="円/楕円 41"/>
              <p:cNvSpPr>
                <a:spLocks/>
              </p:cNvSpPr>
              <p:nvPr/>
            </p:nvSpPr>
            <p:spPr>
              <a:xfrm>
                <a:off x="4350386" y="3807879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3" name="円/楕円 42"/>
              <p:cNvSpPr>
                <a:spLocks/>
              </p:cNvSpPr>
              <p:nvPr/>
            </p:nvSpPr>
            <p:spPr>
              <a:xfrm>
                <a:off x="5356354" y="3807877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4" name="円/楕円 43"/>
              <p:cNvSpPr>
                <a:spLocks/>
              </p:cNvSpPr>
              <p:nvPr/>
            </p:nvSpPr>
            <p:spPr>
              <a:xfrm>
                <a:off x="3334274" y="5669427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5" name="円/楕円 44"/>
              <p:cNvSpPr>
                <a:spLocks/>
              </p:cNvSpPr>
              <p:nvPr/>
            </p:nvSpPr>
            <p:spPr>
              <a:xfrm>
                <a:off x="3334274" y="4738653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6" name="円/楕円 45"/>
              <p:cNvSpPr>
                <a:spLocks/>
              </p:cNvSpPr>
              <p:nvPr/>
            </p:nvSpPr>
            <p:spPr>
              <a:xfrm>
                <a:off x="4340242" y="5669427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7" name="円/楕円 46"/>
              <p:cNvSpPr>
                <a:spLocks/>
              </p:cNvSpPr>
              <p:nvPr/>
            </p:nvSpPr>
            <p:spPr>
              <a:xfrm>
                <a:off x="4340242" y="4738653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8" name="円/楕円 47"/>
              <p:cNvSpPr>
                <a:spLocks/>
              </p:cNvSpPr>
              <p:nvPr/>
            </p:nvSpPr>
            <p:spPr>
              <a:xfrm>
                <a:off x="5346210" y="5669421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9" name="円/楕円 48"/>
              <p:cNvSpPr>
                <a:spLocks/>
              </p:cNvSpPr>
              <p:nvPr/>
            </p:nvSpPr>
            <p:spPr>
              <a:xfrm>
                <a:off x="5346210" y="4738649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0" name="円/楕円 49"/>
              <p:cNvSpPr>
                <a:spLocks/>
              </p:cNvSpPr>
              <p:nvPr/>
            </p:nvSpPr>
            <p:spPr>
              <a:xfrm>
                <a:off x="6375315" y="3807879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1" name="円/楕円 50"/>
              <p:cNvSpPr>
                <a:spLocks/>
              </p:cNvSpPr>
              <p:nvPr/>
            </p:nvSpPr>
            <p:spPr>
              <a:xfrm>
                <a:off x="7381283" y="3807879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2" name="円/楕円 51"/>
              <p:cNvSpPr>
                <a:spLocks/>
              </p:cNvSpPr>
              <p:nvPr/>
            </p:nvSpPr>
            <p:spPr>
              <a:xfrm>
                <a:off x="8387251" y="3807869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3" name="円/楕円 52"/>
              <p:cNvSpPr>
                <a:spLocks/>
              </p:cNvSpPr>
              <p:nvPr/>
            </p:nvSpPr>
            <p:spPr>
              <a:xfrm>
                <a:off x="6375315" y="5669421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4" name="円/楕円 53"/>
              <p:cNvSpPr>
                <a:spLocks/>
              </p:cNvSpPr>
              <p:nvPr/>
            </p:nvSpPr>
            <p:spPr>
              <a:xfrm>
                <a:off x="6375315" y="4738653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5" name="円/楕円 54"/>
              <p:cNvSpPr>
                <a:spLocks/>
              </p:cNvSpPr>
              <p:nvPr/>
            </p:nvSpPr>
            <p:spPr>
              <a:xfrm>
                <a:off x="7381283" y="5669421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6" name="円/楕円 55"/>
              <p:cNvSpPr>
                <a:spLocks/>
              </p:cNvSpPr>
              <p:nvPr/>
            </p:nvSpPr>
            <p:spPr>
              <a:xfrm>
                <a:off x="7381283" y="4738653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8" name="円/楕円 57"/>
              <p:cNvSpPr>
                <a:spLocks/>
              </p:cNvSpPr>
              <p:nvPr/>
            </p:nvSpPr>
            <p:spPr>
              <a:xfrm>
                <a:off x="8387251" y="5669419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9" name="円/楕円 58"/>
              <p:cNvSpPr>
                <a:spLocks/>
              </p:cNvSpPr>
              <p:nvPr/>
            </p:nvSpPr>
            <p:spPr>
              <a:xfrm>
                <a:off x="8387251" y="4738641"/>
                <a:ext cx="470476" cy="4704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411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各タスクからサンプリングした個体について，タスク内での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優越関係･目的関数値の総和に応じでクラス分けを行う．</a:t>
            </a:r>
          </a:p>
          <a:p>
            <a:r>
              <a:rPr lang="en-US" altLang="ja-JP" dirty="0" smtClean="0"/>
              <a:t>2</a:t>
            </a:r>
            <a:r>
              <a:rPr lang="en-US" altLang="ja-JP" dirty="0" smtClean="0"/>
              <a:t>.</a:t>
            </a:r>
            <a:r>
              <a:rPr lang="ja-JP" altLang="en-US" dirty="0" smtClean="0"/>
              <a:t>目的関数値によるクラス分け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grpSp>
        <p:nvGrpSpPr>
          <p:cNvPr id="14" name="グループ化 13"/>
          <p:cNvGrpSpPr/>
          <p:nvPr/>
        </p:nvGrpSpPr>
        <p:grpSpPr>
          <a:xfrm>
            <a:off x="1789263" y="3240000"/>
            <a:ext cx="1384300" cy="3372242"/>
            <a:chOff x="605503" y="3240000"/>
            <a:chExt cx="1384300" cy="3372242"/>
          </a:xfrm>
        </p:grpSpPr>
        <p:sp>
          <p:nvSpPr>
            <p:cNvPr id="60" name="テキスト ボックス 59"/>
            <p:cNvSpPr txBox="1"/>
            <p:nvPr/>
          </p:nvSpPr>
          <p:spPr>
            <a:xfrm>
              <a:off x="605503" y="6089022"/>
              <a:ext cx="13843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上位</a:t>
              </a:r>
              <a:endParaRPr kumimoji="1" lang="ja-JP" altLang="en-US" sz="2800" dirty="0" smtClean="0"/>
            </a:p>
          </p:txBody>
        </p:sp>
        <p:grpSp>
          <p:nvGrpSpPr>
            <p:cNvPr id="3" name="グループ化 2"/>
            <p:cNvGrpSpPr/>
            <p:nvPr/>
          </p:nvGrpSpPr>
          <p:grpSpPr>
            <a:xfrm>
              <a:off x="733886" y="3240000"/>
              <a:ext cx="1117390" cy="2819400"/>
              <a:chOff x="733886" y="3240000"/>
              <a:chExt cx="1117390" cy="2819400"/>
            </a:xfrm>
          </p:grpSpPr>
          <p:grpSp>
            <p:nvGrpSpPr>
              <p:cNvPr id="65" name="グループ化 64"/>
              <p:cNvGrpSpPr/>
              <p:nvPr/>
            </p:nvGrpSpPr>
            <p:grpSpPr>
              <a:xfrm>
                <a:off x="1052271" y="3483688"/>
                <a:ext cx="480620" cy="2332024"/>
                <a:chOff x="1169411" y="3799693"/>
                <a:chExt cx="480620" cy="2332024"/>
              </a:xfrm>
            </p:grpSpPr>
            <p:sp>
              <p:nvSpPr>
                <p:cNvPr id="75" name="円/楕円 74"/>
                <p:cNvSpPr>
                  <a:spLocks/>
                </p:cNvSpPr>
                <p:nvPr/>
              </p:nvSpPr>
              <p:spPr>
                <a:xfrm>
                  <a:off x="1179555" y="3799693"/>
                  <a:ext cx="470476" cy="47047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79" name="円/楕円 78"/>
                <p:cNvSpPr>
                  <a:spLocks/>
                </p:cNvSpPr>
                <p:nvPr/>
              </p:nvSpPr>
              <p:spPr>
                <a:xfrm>
                  <a:off x="1169411" y="5661241"/>
                  <a:ext cx="470476" cy="47047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86" name="円/楕円 85"/>
                <p:cNvSpPr>
                  <a:spLocks/>
                </p:cNvSpPr>
                <p:nvPr/>
              </p:nvSpPr>
              <p:spPr>
                <a:xfrm>
                  <a:off x="1169411" y="4730467"/>
                  <a:ext cx="470476" cy="47047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</p:grpSp>
          <p:sp>
            <p:nvSpPr>
              <p:cNvPr id="67" name="正方形/長方形 66"/>
              <p:cNvSpPr/>
              <p:nvPr/>
            </p:nvSpPr>
            <p:spPr>
              <a:xfrm>
                <a:off x="733886" y="3240000"/>
                <a:ext cx="1117390" cy="2819400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</p:grpSp>
      <p:grpSp>
        <p:nvGrpSpPr>
          <p:cNvPr id="97" name="グループ化 96"/>
          <p:cNvGrpSpPr/>
          <p:nvPr/>
        </p:nvGrpSpPr>
        <p:grpSpPr>
          <a:xfrm>
            <a:off x="3327438" y="3240000"/>
            <a:ext cx="1384300" cy="3372242"/>
            <a:chOff x="605503" y="3240000"/>
            <a:chExt cx="1384300" cy="3372242"/>
          </a:xfrm>
        </p:grpSpPr>
        <p:sp>
          <p:nvSpPr>
            <p:cNvPr id="98" name="テキスト ボックス 97"/>
            <p:cNvSpPr txBox="1"/>
            <p:nvPr/>
          </p:nvSpPr>
          <p:spPr>
            <a:xfrm>
              <a:off x="605503" y="6089022"/>
              <a:ext cx="13843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下位</a:t>
              </a:r>
              <a:endParaRPr kumimoji="1" lang="ja-JP" altLang="en-US" sz="2800" dirty="0" smtClean="0"/>
            </a:p>
          </p:txBody>
        </p:sp>
        <p:grpSp>
          <p:nvGrpSpPr>
            <p:cNvPr id="99" name="グループ化 98"/>
            <p:cNvGrpSpPr/>
            <p:nvPr/>
          </p:nvGrpSpPr>
          <p:grpSpPr>
            <a:xfrm>
              <a:off x="733886" y="3240000"/>
              <a:ext cx="1117390" cy="2819400"/>
              <a:chOff x="733886" y="3240000"/>
              <a:chExt cx="1117390" cy="2819400"/>
            </a:xfrm>
          </p:grpSpPr>
          <p:grpSp>
            <p:nvGrpSpPr>
              <p:cNvPr id="100" name="グループ化 99"/>
              <p:cNvGrpSpPr/>
              <p:nvPr/>
            </p:nvGrpSpPr>
            <p:grpSpPr>
              <a:xfrm>
                <a:off x="1052271" y="3483688"/>
                <a:ext cx="480620" cy="2332024"/>
                <a:chOff x="1169411" y="3799693"/>
                <a:chExt cx="480620" cy="2332024"/>
              </a:xfrm>
            </p:grpSpPr>
            <p:sp>
              <p:nvSpPr>
                <p:cNvPr id="102" name="円/楕円 101"/>
                <p:cNvSpPr>
                  <a:spLocks/>
                </p:cNvSpPr>
                <p:nvPr/>
              </p:nvSpPr>
              <p:spPr>
                <a:xfrm>
                  <a:off x="1179555" y="3799693"/>
                  <a:ext cx="470476" cy="470476"/>
                </a:xfrm>
                <a:prstGeom prst="ellipse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103" name="円/楕円 102"/>
                <p:cNvSpPr>
                  <a:spLocks/>
                </p:cNvSpPr>
                <p:nvPr/>
              </p:nvSpPr>
              <p:spPr>
                <a:xfrm>
                  <a:off x="1169411" y="5661241"/>
                  <a:ext cx="470476" cy="470476"/>
                </a:xfrm>
                <a:prstGeom prst="ellipse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104" name="円/楕円 103"/>
                <p:cNvSpPr>
                  <a:spLocks/>
                </p:cNvSpPr>
                <p:nvPr/>
              </p:nvSpPr>
              <p:spPr>
                <a:xfrm>
                  <a:off x="1169411" y="4730467"/>
                  <a:ext cx="470476" cy="470476"/>
                </a:xfrm>
                <a:prstGeom prst="ellipse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</p:grpSp>
          <p:sp>
            <p:nvSpPr>
              <p:cNvPr id="101" name="正方形/長方形 100"/>
              <p:cNvSpPr/>
              <p:nvPr/>
            </p:nvSpPr>
            <p:spPr>
              <a:xfrm>
                <a:off x="733886" y="3240000"/>
                <a:ext cx="1117390" cy="2819400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</p:grpSp>
      <p:grpSp>
        <p:nvGrpSpPr>
          <p:cNvPr id="18" name="グループ化 17"/>
          <p:cNvGrpSpPr/>
          <p:nvPr/>
        </p:nvGrpSpPr>
        <p:grpSpPr>
          <a:xfrm>
            <a:off x="5602448" y="3240000"/>
            <a:ext cx="2017552" cy="3372242"/>
            <a:chOff x="5602448" y="3240000"/>
            <a:chExt cx="2017552" cy="3372242"/>
          </a:xfrm>
        </p:grpSpPr>
        <p:grpSp>
          <p:nvGrpSpPr>
            <p:cNvPr id="17" name="グループ化 16"/>
            <p:cNvGrpSpPr/>
            <p:nvPr/>
          </p:nvGrpSpPr>
          <p:grpSpPr>
            <a:xfrm>
              <a:off x="5602448" y="3240000"/>
              <a:ext cx="2017552" cy="2819400"/>
              <a:chOff x="5602448" y="3240000"/>
              <a:chExt cx="2017552" cy="2819400"/>
            </a:xfrm>
          </p:grpSpPr>
          <p:sp>
            <p:nvSpPr>
              <p:cNvPr id="57" name="正方形/長方形 56"/>
              <p:cNvSpPr/>
              <p:nvPr/>
            </p:nvSpPr>
            <p:spPr>
              <a:xfrm>
                <a:off x="5602448" y="3240000"/>
                <a:ext cx="2017552" cy="2819400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15" name="グループ化 14"/>
              <p:cNvGrpSpPr/>
              <p:nvPr/>
            </p:nvGrpSpPr>
            <p:grpSpPr>
              <a:xfrm>
                <a:off x="5861434" y="3483690"/>
                <a:ext cx="1499581" cy="2332020"/>
                <a:chOff x="5936514" y="3483694"/>
                <a:chExt cx="1499581" cy="2332020"/>
              </a:xfrm>
            </p:grpSpPr>
            <p:sp>
              <p:nvSpPr>
                <p:cNvPr id="78" name="円/楕円 77"/>
                <p:cNvSpPr>
                  <a:spLocks/>
                </p:cNvSpPr>
                <p:nvPr/>
              </p:nvSpPr>
              <p:spPr>
                <a:xfrm>
                  <a:off x="5946658" y="3483694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72" name="円/楕円 71"/>
                <p:cNvSpPr>
                  <a:spLocks/>
                </p:cNvSpPr>
                <p:nvPr/>
              </p:nvSpPr>
              <p:spPr>
                <a:xfrm>
                  <a:off x="5936514" y="5345238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73" name="円/楕円 72"/>
                <p:cNvSpPr>
                  <a:spLocks/>
                </p:cNvSpPr>
                <p:nvPr/>
              </p:nvSpPr>
              <p:spPr>
                <a:xfrm>
                  <a:off x="5936514" y="4414466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62" name="円/楕円 61"/>
                <p:cNvSpPr>
                  <a:spLocks/>
                </p:cNvSpPr>
                <p:nvPr/>
              </p:nvSpPr>
              <p:spPr>
                <a:xfrm>
                  <a:off x="6965619" y="3483696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80" name="円/楕円 79"/>
                <p:cNvSpPr>
                  <a:spLocks/>
                </p:cNvSpPr>
                <p:nvPr/>
              </p:nvSpPr>
              <p:spPr>
                <a:xfrm>
                  <a:off x="6965619" y="5345238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81" name="円/楕円 80"/>
                <p:cNvSpPr>
                  <a:spLocks/>
                </p:cNvSpPr>
                <p:nvPr/>
              </p:nvSpPr>
              <p:spPr>
                <a:xfrm>
                  <a:off x="6965619" y="4414470"/>
                  <a:ext cx="470476" cy="47047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</p:grpSp>
        </p:grpSp>
        <p:sp>
          <p:nvSpPr>
            <p:cNvPr id="107" name="テキスト ボックス 106"/>
            <p:cNvSpPr txBox="1"/>
            <p:nvPr/>
          </p:nvSpPr>
          <p:spPr>
            <a:xfrm>
              <a:off x="5936514" y="6089022"/>
              <a:ext cx="13843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上位</a:t>
              </a:r>
              <a:endParaRPr kumimoji="1" lang="ja-JP" altLang="en-US" sz="2800" dirty="0" smtClean="0"/>
            </a:p>
          </p:txBody>
        </p:sp>
      </p:grpSp>
      <p:grpSp>
        <p:nvGrpSpPr>
          <p:cNvPr id="108" name="グループ化 107"/>
          <p:cNvGrpSpPr/>
          <p:nvPr/>
        </p:nvGrpSpPr>
        <p:grpSpPr>
          <a:xfrm>
            <a:off x="8033624" y="3240000"/>
            <a:ext cx="2017552" cy="3372242"/>
            <a:chOff x="5602448" y="3240000"/>
            <a:chExt cx="2017552" cy="3372242"/>
          </a:xfrm>
        </p:grpSpPr>
        <p:grpSp>
          <p:nvGrpSpPr>
            <p:cNvPr id="109" name="グループ化 108"/>
            <p:cNvGrpSpPr/>
            <p:nvPr/>
          </p:nvGrpSpPr>
          <p:grpSpPr>
            <a:xfrm>
              <a:off x="5602448" y="3240000"/>
              <a:ext cx="2017552" cy="2819400"/>
              <a:chOff x="5602448" y="3240000"/>
              <a:chExt cx="2017552" cy="2819400"/>
            </a:xfrm>
          </p:grpSpPr>
          <p:sp>
            <p:nvSpPr>
              <p:cNvPr id="111" name="正方形/長方形 110"/>
              <p:cNvSpPr/>
              <p:nvPr/>
            </p:nvSpPr>
            <p:spPr>
              <a:xfrm>
                <a:off x="5602448" y="3240000"/>
                <a:ext cx="2017552" cy="2819400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112" name="グループ化 111"/>
              <p:cNvGrpSpPr/>
              <p:nvPr/>
            </p:nvGrpSpPr>
            <p:grpSpPr>
              <a:xfrm>
                <a:off x="5861434" y="3483690"/>
                <a:ext cx="1499581" cy="2332020"/>
                <a:chOff x="5936514" y="3483694"/>
                <a:chExt cx="1499581" cy="2332020"/>
              </a:xfrm>
            </p:grpSpPr>
            <p:sp>
              <p:nvSpPr>
                <p:cNvPr id="113" name="円/楕円 112"/>
                <p:cNvSpPr>
                  <a:spLocks/>
                </p:cNvSpPr>
                <p:nvPr/>
              </p:nvSpPr>
              <p:spPr>
                <a:xfrm>
                  <a:off x="5946658" y="3483694"/>
                  <a:ext cx="470476" cy="470476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114" name="円/楕円 113"/>
                <p:cNvSpPr>
                  <a:spLocks/>
                </p:cNvSpPr>
                <p:nvPr/>
              </p:nvSpPr>
              <p:spPr>
                <a:xfrm>
                  <a:off x="5936514" y="5345238"/>
                  <a:ext cx="470476" cy="470476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115" name="円/楕円 114"/>
                <p:cNvSpPr>
                  <a:spLocks/>
                </p:cNvSpPr>
                <p:nvPr/>
              </p:nvSpPr>
              <p:spPr>
                <a:xfrm>
                  <a:off x="5936514" y="4414466"/>
                  <a:ext cx="470476" cy="470476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116" name="円/楕円 115"/>
                <p:cNvSpPr>
                  <a:spLocks/>
                </p:cNvSpPr>
                <p:nvPr/>
              </p:nvSpPr>
              <p:spPr>
                <a:xfrm>
                  <a:off x="6965619" y="3483696"/>
                  <a:ext cx="470476" cy="470476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117" name="円/楕円 116"/>
                <p:cNvSpPr>
                  <a:spLocks/>
                </p:cNvSpPr>
                <p:nvPr/>
              </p:nvSpPr>
              <p:spPr>
                <a:xfrm>
                  <a:off x="6965619" y="5345238"/>
                  <a:ext cx="470476" cy="470476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118" name="円/楕円 117"/>
                <p:cNvSpPr>
                  <a:spLocks/>
                </p:cNvSpPr>
                <p:nvPr/>
              </p:nvSpPr>
              <p:spPr>
                <a:xfrm>
                  <a:off x="6965619" y="4414470"/>
                  <a:ext cx="470476" cy="470476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</p:grpSp>
        </p:grpSp>
        <p:sp>
          <p:nvSpPr>
            <p:cNvPr id="110" name="テキスト ボックス 109"/>
            <p:cNvSpPr txBox="1"/>
            <p:nvPr/>
          </p:nvSpPr>
          <p:spPr>
            <a:xfrm>
              <a:off x="5936514" y="6089022"/>
              <a:ext cx="13843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下位</a:t>
              </a:r>
              <a:endParaRPr kumimoji="1" lang="ja-JP" altLang="en-US" sz="2800" dirty="0" smtClean="0"/>
            </a:p>
          </p:txBody>
        </p:sp>
      </p:grpSp>
      <p:grpSp>
        <p:nvGrpSpPr>
          <p:cNvPr id="120" name="グループ化 119"/>
          <p:cNvGrpSpPr/>
          <p:nvPr/>
        </p:nvGrpSpPr>
        <p:grpSpPr>
          <a:xfrm>
            <a:off x="2409904" y="3240000"/>
            <a:ext cx="2164864" cy="2819400"/>
            <a:chOff x="823776" y="3556000"/>
            <a:chExt cx="2164864" cy="2819400"/>
          </a:xfrm>
        </p:grpSpPr>
        <p:grpSp>
          <p:nvGrpSpPr>
            <p:cNvPr id="122" name="グループ化 121"/>
            <p:cNvGrpSpPr/>
            <p:nvPr/>
          </p:nvGrpSpPr>
          <p:grpSpPr>
            <a:xfrm>
              <a:off x="1162914" y="3799688"/>
              <a:ext cx="1486588" cy="2332024"/>
              <a:chOff x="1169411" y="3799693"/>
              <a:chExt cx="1486588" cy="2332024"/>
            </a:xfrm>
          </p:grpSpPr>
          <p:sp>
            <p:nvSpPr>
              <p:cNvPr id="124" name="円/楕円 123"/>
              <p:cNvSpPr>
                <a:spLocks/>
              </p:cNvSpPr>
              <p:nvPr/>
            </p:nvSpPr>
            <p:spPr>
              <a:xfrm>
                <a:off x="1179555" y="3799693"/>
                <a:ext cx="470476" cy="47047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5" name="円/楕円 124"/>
              <p:cNvSpPr>
                <a:spLocks/>
              </p:cNvSpPr>
              <p:nvPr/>
            </p:nvSpPr>
            <p:spPr>
              <a:xfrm>
                <a:off x="2185523" y="3799693"/>
                <a:ext cx="470476" cy="47047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6" name="円/楕円 125"/>
              <p:cNvSpPr>
                <a:spLocks/>
              </p:cNvSpPr>
              <p:nvPr/>
            </p:nvSpPr>
            <p:spPr>
              <a:xfrm>
                <a:off x="1169411" y="5661241"/>
                <a:ext cx="470476" cy="47047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7" name="円/楕円 126"/>
              <p:cNvSpPr>
                <a:spLocks/>
              </p:cNvSpPr>
              <p:nvPr/>
            </p:nvSpPr>
            <p:spPr>
              <a:xfrm>
                <a:off x="1169411" y="4730467"/>
                <a:ext cx="470476" cy="47047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8" name="円/楕円 127"/>
              <p:cNvSpPr>
                <a:spLocks/>
              </p:cNvSpPr>
              <p:nvPr/>
            </p:nvSpPr>
            <p:spPr>
              <a:xfrm>
                <a:off x="2175379" y="5661241"/>
                <a:ext cx="470476" cy="47047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9" name="円/楕円 128"/>
              <p:cNvSpPr>
                <a:spLocks/>
              </p:cNvSpPr>
              <p:nvPr/>
            </p:nvSpPr>
            <p:spPr>
              <a:xfrm>
                <a:off x="2175379" y="4730467"/>
                <a:ext cx="470476" cy="47047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123" name="正方形/長方形 122"/>
            <p:cNvSpPr/>
            <p:nvPr/>
          </p:nvSpPr>
          <p:spPr>
            <a:xfrm>
              <a:off x="823776" y="3556000"/>
              <a:ext cx="2164864" cy="2819400"/>
            </a:xfrm>
            <a:prstGeom prst="rect">
              <a:avLst/>
            </a:prstGeom>
            <a:noFill/>
            <a:ln w="4445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</p:grpSp>
      <p:grpSp>
        <p:nvGrpSpPr>
          <p:cNvPr id="131" name="グループ化 130"/>
          <p:cNvGrpSpPr/>
          <p:nvPr/>
        </p:nvGrpSpPr>
        <p:grpSpPr>
          <a:xfrm>
            <a:off x="5602448" y="3240000"/>
            <a:ext cx="4179648" cy="2819400"/>
            <a:chOff x="5023713" y="3556000"/>
            <a:chExt cx="4179648" cy="2819400"/>
          </a:xfrm>
        </p:grpSpPr>
        <p:sp>
          <p:nvSpPr>
            <p:cNvPr id="133" name="正方形/長方形 132"/>
            <p:cNvSpPr/>
            <p:nvPr/>
          </p:nvSpPr>
          <p:spPr>
            <a:xfrm>
              <a:off x="5023713" y="3556000"/>
              <a:ext cx="4179648" cy="2819400"/>
            </a:xfrm>
            <a:prstGeom prst="rect">
              <a:avLst/>
            </a:prstGeom>
            <a:noFill/>
            <a:ln w="4445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grpSp>
          <p:nvGrpSpPr>
            <p:cNvPr id="134" name="グループ化 133"/>
            <p:cNvGrpSpPr/>
            <p:nvPr/>
          </p:nvGrpSpPr>
          <p:grpSpPr>
            <a:xfrm>
              <a:off x="5357779" y="3799686"/>
              <a:ext cx="3511517" cy="2332028"/>
              <a:chOff x="5346210" y="3799683"/>
              <a:chExt cx="3511517" cy="2332028"/>
            </a:xfrm>
          </p:grpSpPr>
          <p:sp>
            <p:nvSpPr>
              <p:cNvPr id="135" name="円/楕円 134"/>
              <p:cNvSpPr>
                <a:spLocks/>
              </p:cNvSpPr>
              <p:nvPr/>
            </p:nvSpPr>
            <p:spPr>
              <a:xfrm>
                <a:off x="5356354" y="3799691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6" name="円/楕円 135"/>
              <p:cNvSpPr>
                <a:spLocks/>
              </p:cNvSpPr>
              <p:nvPr/>
            </p:nvSpPr>
            <p:spPr>
              <a:xfrm>
                <a:off x="5346210" y="5661235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7" name="円/楕円 136"/>
              <p:cNvSpPr>
                <a:spLocks/>
              </p:cNvSpPr>
              <p:nvPr/>
            </p:nvSpPr>
            <p:spPr>
              <a:xfrm>
                <a:off x="5346210" y="4730463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8" name="円/楕円 137"/>
              <p:cNvSpPr>
                <a:spLocks/>
              </p:cNvSpPr>
              <p:nvPr/>
            </p:nvSpPr>
            <p:spPr>
              <a:xfrm>
                <a:off x="6375315" y="3799693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9" name="円/楕円 138"/>
              <p:cNvSpPr>
                <a:spLocks/>
              </p:cNvSpPr>
              <p:nvPr/>
            </p:nvSpPr>
            <p:spPr>
              <a:xfrm>
                <a:off x="7381283" y="3799693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0" name="円/楕円 139"/>
              <p:cNvSpPr>
                <a:spLocks/>
              </p:cNvSpPr>
              <p:nvPr/>
            </p:nvSpPr>
            <p:spPr>
              <a:xfrm>
                <a:off x="8387251" y="3799683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1" name="円/楕円 140"/>
              <p:cNvSpPr>
                <a:spLocks/>
              </p:cNvSpPr>
              <p:nvPr/>
            </p:nvSpPr>
            <p:spPr>
              <a:xfrm>
                <a:off x="6375315" y="5661235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2" name="円/楕円 141"/>
              <p:cNvSpPr>
                <a:spLocks/>
              </p:cNvSpPr>
              <p:nvPr/>
            </p:nvSpPr>
            <p:spPr>
              <a:xfrm>
                <a:off x="6375315" y="4730467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3" name="円/楕円 142"/>
              <p:cNvSpPr>
                <a:spLocks/>
              </p:cNvSpPr>
              <p:nvPr/>
            </p:nvSpPr>
            <p:spPr>
              <a:xfrm>
                <a:off x="7381283" y="5661235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4" name="円/楕円 143"/>
              <p:cNvSpPr>
                <a:spLocks/>
              </p:cNvSpPr>
              <p:nvPr/>
            </p:nvSpPr>
            <p:spPr>
              <a:xfrm>
                <a:off x="7381283" y="4730467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5" name="円/楕円 144"/>
              <p:cNvSpPr>
                <a:spLocks/>
              </p:cNvSpPr>
              <p:nvPr/>
            </p:nvSpPr>
            <p:spPr>
              <a:xfrm>
                <a:off x="8387251" y="5661233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6" name="円/楕円 145"/>
              <p:cNvSpPr>
                <a:spLocks/>
              </p:cNvSpPr>
              <p:nvPr/>
            </p:nvSpPr>
            <p:spPr>
              <a:xfrm>
                <a:off x="8387251" y="4730455"/>
                <a:ext cx="470476" cy="47047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835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射影後の潜在空間内において，以下の</a:t>
            </a:r>
            <a:r>
              <a:rPr lang="en-US" altLang="ja-JP" dirty="0" smtClean="0"/>
              <a:t>3</a:t>
            </a:r>
            <a:r>
              <a:rPr lang="ja-JP" altLang="en-US" dirty="0" err="1" smtClean="0"/>
              <a:t>つの</a:t>
            </a:r>
            <a:r>
              <a:rPr lang="ja-JP" altLang="en-US" dirty="0" smtClean="0"/>
              <a:t>特徴を保持したい．</a:t>
            </a:r>
            <a:endParaRPr lang="en-US" altLang="ja-JP" dirty="0" smtClean="0"/>
          </a:p>
          <a:p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潜在空間内で，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同じクラスに属する個体は近く</a:t>
            </a:r>
            <a:r>
              <a:rPr kumimoji="1" lang="ja-JP" altLang="en-US" dirty="0" smtClean="0"/>
              <a:t>に配置される．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潜在空間内で，</a:t>
            </a:r>
            <a:r>
              <a:rPr lang="ja-JP" altLang="en-US" b="1" dirty="0">
                <a:solidFill>
                  <a:schemeClr val="accent1"/>
                </a:solidFill>
              </a:rPr>
              <a:t>異なるクラスに属する個体は遠く</a:t>
            </a:r>
            <a:r>
              <a:rPr lang="ja-JP" altLang="en-US" dirty="0" smtClean="0"/>
              <a:t>に配置される．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射影の前後で，個体の</a:t>
            </a:r>
            <a:r>
              <a:rPr lang="ja-JP" altLang="en-US" b="1" dirty="0">
                <a:solidFill>
                  <a:schemeClr val="accent1"/>
                </a:solidFill>
              </a:rPr>
              <a:t>相対的な位置関係が変わらない</a:t>
            </a:r>
            <a:r>
              <a:rPr kumimoji="1" lang="ja-JP" altLang="en-US" dirty="0" smtClean="0"/>
              <a:t>．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r>
              <a:rPr lang="ja-JP" altLang="en-US" dirty="0" smtClean="0"/>
              <a:t>なお，任意</a:t>
            </a:r>
            <a:r>
              <a:rPr lang="ja-JP" altLang="en-US" dirty="0"/>
              <a:t>の</a:t>
            </a:r>
            <a:r>
              <a:rPr lang="ja-JP" altLang="en-US" dirty="0" smtClean="0"/>
              <a:t>タスク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ja-JP" altLang="en-US" dirty="0" smtClean="0"/>
              <a:t>について，個体</a:t>
            </a:r>
            <a:r>
              <a:rPr lang="en-US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ja-JP" altLang="en-US" dirty="0" smtClean="0"/>
              <a:t>の</a:t>
            </a:r>
            <a:r>
              <a:rPr kumimoji="1" lang="ja-JP" altLang="en-US" dirty="0" smtClean="0"/>
              <a:t>潜在空間への射影は，</a:t>
            </a:r>
            <a:endParaRPr kumimoji="1" lang="en-US" altLang="ja-JP" dirty="0" smtClean="0"/>
          </a:p>
          <a:p>
            <a:endParaRPr lang="en-US" altLang="ja-JP" dirty="0" smtClean="0"/>
          </a:p>
          <a:p>
            <a:r>
              <a:rPr lang="ja-JP" altLang="en-US" dirty="0" smtClean="0"/>
              <a:t>とする．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graphicFrame>
        <p:nvGraphicFramePr>
          <p:cNvPr id="2" name="オブジェクト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009618"/>
              </p:ext>
            </p:extLst>
          </p:nvPr>
        </p:nvGraphicFramePr>
        <p:xfrm>
          <a:off x="5632450" y="5456238"/>
          <a:ext cx="927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927000" imgH="609480" progId="Equation.DSMT4">
                  <p:embed/>
                </p:oleObj>
              </mc:Choice>
              <mc:Fallback>
                <p:oleObj name="Equation" r:id="rId3" imgW="92700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2450" y="5456238"/>
                        <a:ext cx="9271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388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1270000"/>
          </a:xfrm>
        </p:spPr>
        <p:txBody>
          <a:bodyPr/>
          <a:lstStyle/>
          <a:p>
            <a:r>
              <a:rPr lang="en-US" altLang="ja-JP" b="1" dirty="0" smtClean="0">
                <a:ea typeface="ＭＳ Ｐゴシック" panose="020B0600070205080204" pitchFamily="50" charset="-128"/>
              </a:rPr>
              <a:t>&lt;</a:t>
            </a:r>
            <a:r>
              <a:rPr lang="ja-JP" altLang="en-US" b="1" dirty="0" smtClean="0">
                <a:ea typeface="ＭＳ Ｐゴシック" panose="020B0600070205080204" pitchFamily="50" charset="-128"/>
              </a:rPr>
              <a:t>定式化</a:t>
            </a:r>
            <a:r>
              <a:rPr lang="en-US" altLang="ja-JP" b="1" dirty="0" smtClean="0">
                <a:ea typeface="ＭＳ Ｐゴシック" panose="020B0600070205080204" pitchFamily="50" charset="-128"/>
              </a:rPr>
              <a:t>&gt;</a:t>
            </a:r>
          </a:p>
          <a:p>
            <a:r>
              <a:rPr lang="ja-JP" altLang="en-US" dirty="0">
                <a:ea typeface="ＭＳ Ｐゴシック" panose="020B0600070205080204" pitchFamily="50" charset="-128"/>
              </a:rPr>
              <a:t>潜在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空間への射影を行う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baseline="-25000" dirty="0" smtClean="0">
                <a:ea typeface="ＭＳ Ｐゴシック" panose="020B0600070205080204" pitchFamily="50" charset="-128"/>
              </a:rPr>
              <a:t>1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,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baseline="-25000" dirty="0" smtClean="0">
                <a:ea typeface="ＭＳ Ｐゴシック" panose="020B0600070205080204" pitchFamily="50" charset="-128"/>
              </a:rPr>
              <a:t>2 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…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は，損失関数</a:t>
            </a:r>
            <a:endParaRPr lang="en-US" altLang="ja-JP" dirty="0">
              <a:ea typeface="ＭＳ Ｐゴシック" panose="020B060007020508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0905" y="2642234"/>
            <a:ext cx="5530191" cy="1341328"/>
          </a:xfrm>
          <a:prstGeom prst="rect">
            <a:avLst/>
          </a:prstGeom>
        </p:spPr>
      </p:pic>
      <p:sp>
        <p:nvSpPr>
          <p:cNvPr id="8" name="コンテンツ プレースホルダー 5"/>
          <p:cNvSpPr txBox="1">
            <a:spLocks/>
          </p:cNvSpPr>
          <p:nvPr/>
        </p:nvSpPr>
        <p:spPr bwMode="auto">
          <a:xfrm>
            <a:off x="304800" y="3984196"/>
            <a:ext cx="11582400" cy="677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aseline="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 baseline="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kern="0" dirty="0" smtClean="0">
                <a:ea typeface="ＭＳ Ｐゴシック" panose="020B0600070205080204" pitchFamily="50" charset="-128"/>
              </a:rPr>
              <a:t>を最小化するベクトルとして与えられる．</a:t>
            </a:r>
            <a:endParaRPr lang="en-US" altLang="ja-JP" kern="0" dirty="0" smtClean="0">
              <a:ea typeface="ＭＳ Ｐゴシック" panose="020B060007020508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7277100" y="2730500"/>
            <a:ext cx="546100" cy="5588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38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736366"/>
          </a:xfrm>
        </p:spPr>
        <p:txBody>
          <a:bodyPr/>
          <a:lstStyle/>
          <a:p>
            <a:r>
              <a:rPr lang="en-US" altLang="ja-JP" b="1" dirty="0" smtClean="0">
                <a:ea typeface="ＭＳ Ｐゴシック" panose="020B0600070205080204" pitchFamily="50" charset="-128"/>
              </a:rPr>
              <a:t>&lt;</a:t>
            </a:r>
            <a:r>
              <a:rPr lang="ja-JP" altLang="en-US" b="1" dirty="0" smtClean="0">
                <a:ea typeface="ＭＳ Ｐゴシック" panose="020B0600070205080204" pitchFamily="50" charset="-128"/>
              </a:rPr>
              <a:t>定式化</a:t>
            </a:r>
            <a:r>
              <a:rPr lang="en-US" altLang="ja-JP" b="1" dirty="0" smtClean="0">
                <a:ea typeface="ＭＳ Ｐゴシック" panose="020B0600070205080204" pitchFamily="50" charset="-128"/>
              </a:rPr>
              <a:t>&gt;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sp>
        <p:nvSpPr>
          <p:cNvPr id="8" name="コンテンツ プレースホルダー 5"/>
          <p:cNvSpPr txBox="1">
            <a:spLocks/>
          </p:cNvSpPr>
          <p:nvPr/>
        </p:nvSpPr>
        <p:spPr bwMode="auto">
          <a:xfrm>
            <a:off x="304800" y="3898900"/>
            <a:ext cx="115824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aseline="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 baseline="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r">
              <a:tabLst>
                <a:tab pos="1701800" algn="l"/>
              </a:tabLst>
            </a:pPr>
            <a:r>
              <a:rPr lang="en-US" altLang="ja-JP" kern="0" dirty="0" smtClean="0">
                <a:ea typeface="ＭＳ Ｐゴシック" panose="020B0600070205080204" pitchFamily="50" charset="-128"/>
              </a:rPr>
              <a:t>: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個体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と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が同じクラスのときのみ</a:t>
            </a:r>
            <a:r>
              <a:rPr lang="en-US" altLang="ja-JP" kern="0" dirty="0" smtClean="0">
                <a:ea typeface="ＭＳ Ｐゴシック" panose="020B0600070205080204" pitchFamily="50" charset="-128"/>
              </a:rPr>
              <a:t>1</a:t>
            </a:r>
          </a:p>
          <a:p>
            <a:pPr>
              <a:tabLst>
                <a:tab pos="1701800" algn="l"/>
              </a:tabLst>
            </a:pPr>
            <a:endParaRPr lang="en-US" altLang="ja-JP" kern="0" dirty="0">
              <a:ea typeface="ＭＳ Ｐゴシック" panose="020B0600070205080204" pitchFamily="50" charset="-128"/>
            </a:endParaRPr>
          </a:p>
          <a:p>
            <a:pPr>
              <a:tabLst>
                <a:tab pos="533400" algn="l"/>
              </a:tabLst>
            </a:pPr>
            <a:r>
              <a:rPr lang="en-US" altLang="ja-JP" kern="0" dirty="0" smtClean="0">
                <a:ea typeface="ＭＳ Ｐゴシック" panose="020B0600070205080204" pitchFamily="50" charset="-128"/>
              </a:rPr>
              <a:t>	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は同じクラスに属する個体のペアについて，射影後の距離の</a:t>
            </a:r>
            <a:r>
              <a:rPr lang="en-US" altLang="ja-JP" kern="0" dirty="0" smtClean="0">
                <a:ea typeface="ＭＳ Ｐゴシック" panose="020B0600070205080204" pitchFamily="50" charset="-128"/>
              </a:rPr>
              <a:t/>
            </a:r>
            <a:br>
              <a:rPr lang="en-US" altLang="ja-JP" kern="0" dirty="0" smtClean="0">
                <a:ea typeface="ＭＳ Ｐゴシック" panose="020B0600070205080204" pitchFamily="50" charset="-128"/>
              </a:rPr>
            </a:br>
            <a:r>
              <a:rPr lang="ja-JP" altLang="en-US" kern="0" dirty="0" smtClean="0">
                <a:ea typeface="ＭＳ Ｐゴシック" panose="020B0600070205080204" pitchFamily="50" charset="-128"/>
              </a:rPr>
              <a:t>総和になる．</a:t>
            </a:r>
            <a:endParaRPr lang="en-US" altLang="ja-JP" kern="0" dirty="0" smtClean="0">
              <a:ea typeface="ＭＳ Ｐゴシック" panose="020B0600070205080204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1739" y="2041964"/>
            <a:ext cx="9428522" cy="1700532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1627" t="28807" b="28624"/>
          <a:stretch/>
        </p:blipFill>
        <p:spPr>
          <a:xfrm>
            <a:off x="4191000" y="3840092"/>
            <a:ext cx="1732322" cy="723900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0284" r="92322" b="27894"/>
          <a:stretch/>
        </p:blipFill>
        <p:spPr>
          <a:xfrm>
            <a:off x="304800" y="5021048"/>
            <a:ext cx="723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8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1270000"/>
          </a:xfrm>
        </p:spPr>
        <p:txBody>
          <a:bodyPr/>
          <a:lstStyle/>
          <a:p>
            <a:r>
              <a:rPr lang="en-US" altLang="ja-JP" b="1" dirty="0" smtClean="0">
                <a:ea typeface="ＭＳ Ｐゴシック" panose="020B0600070205080204" pitchFamily="50" charset="-128"/>
              </a:rPr>
              <a:t>&lt;</a:t>
            </a:r>
            <a:r>
              <a:rPr lang="ja-JP" altLang="en-US" b="1" dirty="0" smtClean="0">
                <a:ea typeface="ＭＳ Ｐゴシック" panose="020B0600070205080204" pitchFamily="50" charset="-128"/>
              </a:rPr>
              <a:t>定式化</a:t>
            </a:r>
            <a:r>
              <a:rPr lang="en-US" altLang="ja-JP" b="1" dirty="0" smtClean="0">
                <a:ea typeface="ＭＳ Ｐゴシック" panose="020B0600070205080204" pitchFamily="50" charset="-128"/>
              </a:rPr>
              <a:t>&gt;</a:t>
            </a:r>
          </a:p>
          <a:p>
            <a:r>
              <a:rPr lang="ja-JP" altLang="en-US" dirty="0">
                <a:ea typeface="ＭＳ Ｐゴシック" panose="020B0600070205080204" pitchFamily="50" charset="-128"/>
              </a:rPr>
              <a:t>潜在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空間への射影を行う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baseline="-25000" dirty="0" smtClean="0">
                <a:ea typeface="ＭＳ Ｐゴシック" panose="020B0600070205080204" pitchFamily="50" charset="-128"/>
              </a:rPr>
              <a:t>1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,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baseline="-25000" dirty="0" smtClean="0">
                <a:ea typeface="ＭＳ Ｐゴシック" panose="020B0600070205080204" pitchFamily="50" charset="-128"/>
              </a:rPr>
              <a:t>2 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…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は，損失関数</a:t>
            </a:r>
            <a:endParaRPr lang="en-US" altLang="ja-JP" dirty="0">
              <a:ea typeface="ＭＳ Ｐゴシック" panose="020B060007020508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0905" y="2642234"/>
            <a:ext cx="5530191" cy="1341328"/>
          </a:xfrm>
          <a:prstGeom prst="rect">
            <a:avLst/>
          </a:prstGeom>
        </p:spPr>
      </p:pic>
      <p:sp>
        <p:nvSpPr>
          <p:cNvPr id="8" name="コンテンツ プレースホルダー 5"/>
          <p:cNvSpPr txBox="1">
            <a:spLocks/>
          </p:cNvSpPr>
          <p:nvPr/>
        </p:nvSpPr>
        <p:spPr bwMode="auto">
          <a:xfrm>
            <a:off x="304800" y="3984196"/>
            <a:ext cx="11582400" cy="677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aseline="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 baseline="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kern="0" dirty="0" smtClean="0">
                <a:ea typeface="ＭＳ Ｐゴシック" panose="020B0600070205080204" pitchFamily="50" charset="-128"/>
              </a:rPr>
              <a:t>を最小化するベクトルとして与えられる．</a:t>
            </a:r>
            <a:endParaRPr lang="en-US" altLang="ja-JP" kern="0" dirty="0" smtClean="0">
              <a:ea typeface="ＭＳ Ｐゴシック" panose="020B060007020508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7772400" y="3372160"/>
            <a:ext cx="546100" cy="5588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96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736366"/>
          </a:xfrm>
        </p:spPr>
        <p:txBody>
          <a:bodyPr/>
          <a:lstStyle/>
          <a:p>
            <a:r>
              <a:rPr lang="en-US" altLang="ja-JP" b="1" dirty="0" smtClean="0">
                <a:ea typeface="ＭＳ Ｐゴシック" panose="020B0600070205080204" pitchFamily="50" charset="-128"/>
              </a:rPr>
              <a:t>&lt;</a:t>
            </a:r>
            <a:r>
              <a:rPr lang="ja-JP" altLang="en-US" b="1" dirty="0" smtClean="0">
                <a:ea typeface="ＭＳ Ｐゴシック" panose="020B0600070205080204" pitchFamily="50" charset="-128"/>
              </a:rPr>
              <a:t>定式化</a:t>
            </a:r>
            <a:r>
              <a:rPr lang="en-US" altLang="ja-JP" b="1" dirty="0" smtClean="0">
                <a:ea typeface="ＭＳ Ｐゴシック" panose="020B0600070205080204" pitchFamily="50" charset="-128"/>
              </a:rPr>
              <a:t>&gt;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sp>
        <p:nvSpPr>
          <p:cNvPr id="8" name="コンテンツ プレースホルダー 5"/>
          <p:cNvSpPr txBox="1">
            <a:spLocks/>
          </p:cNvSpPr>
          <p:nvPr/>
        </p:nvSpPr>
        <p:spPr bwMode="auto">
          <a:xfrm>
            <a:off x="304800" y="3898900"/>
            <a:ext cx="115824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aseline="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 baseline="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r">
              <a:tabLst>
                <a:tab pos="1701800" algn="l"/>
              </a:tabLst>
            </a:pPr>
            <a:r>
              <a:rPr lang="en-US" altLang="ja-JP" kern="0" dirty="0" smtClean="0">
                <a:ea typeface="ＭＳ Ｐゴシック" panose="020B0600070205080204" pitchFamily="50" charset="-128"/>
              </a:rPr>
              <a:t>: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個体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と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が異なるクラスのときのみ</a:t>
            </a:r>
            <a:r>
              <a:rPr lang="en-US" altLang="ja-JP" kern="0" dirty="0" smtClean="0">
                <a:ea typeface="ＭＳ Ｐゴシック" panose="020B0600070205080204" pitchFamily="50" charset="-128"/>
              </a:rPr>
              <a:t>1</a:t>
            </a:r>
          </a:p>
          <a:p>
            <a:pPr>
              <a:tabLst>
                <a:tab pos="1701800" algn="l"/>
              </a:tabLst>
            </a:pPr>
            <a:endParaRPr lang="en-US" altLang="ja-JP" kern="0" dirty="0">
              <a:ea typeface="ＭＳ Ｐゴシック" panose="020B0600070205080204" pitchFamily="50" charset="-128"/>
            </a:endParaRPr>
          </a:p>
          <a:p>
            <a:pPr>
              <a:tabLst>
                <a:tab pos="533400" algn="l"/>
              </a:tabLst>
            </a:pPr>
            <a:r>
              <a:rPr lang="en-US" altLang="ja-JP" kern="0" dirty="0" smtClean="0">
                <a:ea typeface="ＭＳ Ｐゴシック" panose="020B0600070205080204" pitchFamily="50" charset="-128"/>
              </a:rPr>
              <a:t>	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は</a:t>
            </a:r>
            <a:r>
              <a:rPr lang="ja-JP" altLang="en-US" kern="0" dirty="0">
                <a:ea typeface="ＭＳ Ｐゴシック" panose="020B0600070205080204" pitchFamily="50" charset="-128"/>
              </a:rPr>
              <a:t>異なる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クラスに属する個体のペアについて，射影後の距離の</a:t>
            </a:r>
            <a:r>
              <a:rPr lang="en-US" altLang="ja-JP" kern="0" dirty="0" smtClean="0">
                <a:ea typeface="ＭＳ Ｐゴシック" panose="020B0600070205080204" pitchFamily="50" charset="-128"/>
              </a:rPr>
              <a:t/>
            </a:r>
            <a:br>
              <a:rPr lang="en-US" altLang="ja-JP" kern="0" dirty="0" smtClean="0">
                <a:ea typeface="ＭＳ Ｐゴシック" panose="020B0600070205080204" pitchFamily="50" charset="-128"/>
              </a:rPr>
            </a:br>
            <a:r>
              <a:rPr lang="ja-JP" altLang="en-US" kern="0" dirty="0" smtClean="0">
                <a:ea typeface="ＭＳ Ｐゴシック" panose="020B0600070205080204" pitchFamily="50" charset="-128"/>
              </a:rPr>
              <a:t>総和になる．</a:t>
            </a:r>
            <a:endParaRPr lang="en-US" altLang="ja-JP" kern="0" dirty="0" smtClean="0">
              <a:ea typeface="ＭＳ Ｐゴシック" panose="020B0600070205080204" pitchFamily="50" charset="-128"/>
            </a:endParaRPr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8937" y="2101481"/>
            <a:ext cx="9374127" cy="1623235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1407" t="24372" b="24850"/>
          <a:stretch/>
        </p:blipFill>
        <p:spPr>
          <a:xfrm>
            <a:off x="3797300" y="3811517"/>
            <a:ext cx="1742953" cy="824248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2647" r="93521" b="31363"/>
          <a:stretch/>
        </p:blipFill>
        <p:spPr>
          <a:xfrm>
            <a:off x="421389" y="5084548"/>
            <a:ext cx="607311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1270000"/>
          </a:xfrm>
        </p:spPr>
        <p:txBody>
          <a:bodyPr/>
          <a:lstStyle/>
          <a:p>
            <a:r>
              <a:rPr lang="en-US" altLang="ja-JP" b="1" dirty="0" smtClean="0">
                <a:ea typeface="ＭＳ Ｐゴシック" panose="020B0600070205080204" pitchFamily="50" charset="-128"/>
              </a:rPr>
              <a:t>&lt;</a:t>
            </a:r>
            <a:r>
              <a:rPr lang="ja-JP" altLang="en-US" b="1" dirty="0" smtClean="0">
                <a:ea typeface="ＭＳ Ｐゴシック" panose="020B0600070205080204" pitchFamily="50" charset="-128"/>
              </a:rPr>
              <a:t>定式化</a:t>
            </a:r>
            <a:r>
              <a:rPr lang="en-US" altLang="ja-JP" b="1" dirty="0" smtClean="0">
                <a:ea typeface="ＭＳ Ｐゴシック" panose="020B0600070205080204" pitchFamily="50" charset="-128"/>
              </a:rPr>
              <a:t>&gt;</a:t>
            </a:r>
          </a:p>
          <a:p>
            <a:r>
              <a:rPr lang="ja-JP" altLang="en-US" dirty="0">
                <a:ea typeface="ＭＳ Ｐゴシック" panose="020B0600070205080204" pitchFamily="50" charset="-128"/>
              </a:rPr>
              <a:t>潜在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空間への射影を行う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baseline="-25000" dirty="0" smtClean="0">
                <a:ea typeface="ＭＳ Ｐゴシック" panose="020B0600070205080204" pitchFamily="50" charset="-128"/>
              </a:rPr>
              <a:t>1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,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baseline="-25000" dirty="0" smtClean="0">
                <a:ea typeface="ＭＳ Ｐゴシック" panose="020B0600070205080204" pitchFamily="50" charset="-128"/>
              </a:rPr>
              <a:t>2 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…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は，損失関数</a:t>
            </a:r>
            <a:endParaRPr lang="en-US" altLang="ja-JP" dirty="0">
              <a:ea typeface="ＭＳ Ｐゴシック" panose="020B060007020508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0905" y="2642234"/>
            <a:ext cx="5530191" cy="1341328"/>
          </a:xfrm>
          <a:prstGeom prst="rect">
            <a:avLst/>
          </a:prstGeom>
        </p:spPr>
      </p:pic>
      <p:sp>
        <p:nvSpPr>
          <p:cNvPr id="8" name="コンテンツ プレースホルダー 5"/>
          <p:cNvSpPr txBox="1">
            <a:spLocks/>
          </p:cNvSpPr>
          <p:nvPr/>
        </p:nvSpPr>
        <p:spPr bwMode="auto">
          <a:xfrm>
            <a:off x="304800" y="3984196"/>
            <a:ext cx="11582400" cy="677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aseline="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 baseline="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kern="0" dirty="0" smtClean="0">
                <a:ea typeface="ＭＳ Ｐゴシック" panose="020B0600070205080204" pitchFamily="50" charset="-128"/>
              </a:rPr>
              <a:t>を最小化するベクトルとして与えられる．</a:t>
            </a:r>
            <a:endParaRPr lang="en-US" altLang="ja-JP" kern="0" dirty="0" smtClean="0">
              <a:ea typeface="ＭＳ Ｐゴシック" panose="020B060007020508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7772400" y="3372160"/>
            <a:ext cx="546100" cy="5588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30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736366"/>
          </a:xfrm>
        </p:spPr>
        <p:txBody>
          <a:bodyPr/>
          <a:lstStyle/>
          <a:p>
            <a:r>
              <a:rPr lang="en-US" altLang="ja-JP" b="1" dirty="0" smtClean="0">
                <a:ea typeface="ＭＳ Ｐゴシック" panose="020B0600070205080204" pitchFamily="50" charset="-128"/>
              </a:rPr>
              <a:t>&lt;</a:t>
            </a:r>
            <a:r>
              <a:rPr lang="ja-JP" altLang="en-US" b="1" dirty="0" smtClean="0">
                <a:ea typeface="ＭＳ Ｐゴシック" panose="020B0600070205080204" pitchFamily="50" charset="-128"/>
              </a:rPr>
              <a:t>定式化</a:t>
            </a:r>
            <a:r>
              <a:rPr lang="en-US" altLang="ja-JP" b="1" dirty="0" smtClean="0">
                <a:ea typeface="ＭＳ Ｐゴシック" panose="020B0600070205080204" pitchFamily="50" charset="-128"/>
              </a:rPr>
              <a:t>&gt;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sp>
        <p:nvSpPr>
          <p:cNvPr id="8" name="コンテンツ プレースホルダー 5"/>
          <p:cNvSpPr txBox="1">
            <a:spLocks/>
          </p:cNvSpPr>
          <p:nvPr/>
        </p:nvSpPr>
        <p:spPr bwMode="auto">
          <a:xfrm>
            <a:off x="304800" y="3898900"/>
            <a:ext cx="115824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aseline="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 baseline="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r">
              <a:tabLst>
                <a:tab pos="1701800" algn="l"/>
              </a:tabLst>
            </a:pPr>
            <a:endParaRPr lang="en-US" altLang="ja-JP" kern="0" dirty="0" smtClean="0">
              <a:ea typeface="ＭＳ Ｐゴシック" panose="020B0600070205080204" pitchFamily="50" charset="-128"/>
            </a:endParaRPr>
          </a:p>
          <a:p>
            <a:pPr>
              <a:tabLst>
                <a:tab pos="1701800" algn="l"/>
              </a:tabLst>
            </a:pPr>
            <a:endParaRPr lang="en-US" altLang="ja-JP" kern="0" dirty="0">
              <a:ea typeface="ＭＳ Ｐゴシック" panose="020B0600070205080204" pitchFamily="50" charset="-128"/>
            </a:endParaRPr>
          </a:p>
          <a:p>
            <a:pPr>
              <a:tabLst>
                <a:tab pos="533400" algn="l"/>
              </a:tabLst>
            </a:pPr>
            <a:r>
              <a:rPr lang="en-US" altLang="ja-JP" kern="0" dirty="0" smtClean="0">
                <a:ea typeface="ＭＳ Ｐゴシック" panose="020B0600070205080204" pitchFamily="50" charset="-128"/>
              </a:rPr>
              <a:t>	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は</a:t>
            </a:r>
            <a:r>
              <a:rPr lang="ja-JP" altLang="en-US" kern="0" dirty="0">
                <a:ea typeface="ＭＳ Ｐゴシック" panose="020B0600070205080204" pitchFamily="50" charset="-128"/>
              </a:rPr>
              <a:t>射影前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の空間での類似度で重みづけした，射影後の距離の</a:t>
            </a:r>
            <a:r>
              <a:rPr lang="en-US" altLang="ja-JP" kern="0" dirty="0" smtClean="0">
                <a:ea typeface="ＭＳ Ｐゴシック" panose="020B0600070205080204" pitchFamily="50" charset="-128"/>
              </a:rPr>
              <a:t/>
            </a:r>
            <a:br>
              <a:rPr lang="en-US" altLang="ja-JP" kern="0" dirty="0" smtClean="0">
                <a:ea typeface="ＭＳ Ｐゴシック" panose="020B0600070205080204" pitchFamily="50" charset="-128"/>
              </a:rPr>
            </a:br>
            <a:r>
              <a:rPr lang="ja-JP" altLang="en-US" kern="0" dirty="0" smtClean="0">
                <a:ea typeface="ＭＳ Ｐゴシック" panose="020B0600070205080204" pitchFamily="50" charset="-128"/>
              </a:rPr>
              <a:t>総和になる．</a:t>
            </a:r>
            <a:endParaRPr lang="en-US" altLang="ja-JP" kern="0" dirty="0" smtClean="0">
              <a:ea typeface="ＭＳ Ｐゴシック" panose="020B0600070205080204" pitchFamily="50" charset="-128"/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1297" y="2074112"/>
            <a:ext cx="8449407" cy="1691438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46834" y="3649465"/>
            <a:ext cx="3898332" cy="1027594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50" t="31363" r="90935" b="31846"/>
          <a:stretch/>
        </p:blipFill>
        <p:spPr>
          <a:xfrm>
            <a:off x="371475" y="5055973"/>
            <a:ext cx="6096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736366"/>
          </a:xfrm>
        </p:spPr>
        <p:txBody>
          <a:bodyPr/>
          <a:lstStyle/>
          <a:p>
            <a:r>
              <a:rPr lang="en-US" altLang="ja-JP" b="1" dirty="0" smtClean="0">
                <a:ea typeface="ＭＳ Ｐゴシック" panose="020B0600070205080204" pitchFamily="50" charset="-128"/>
              </a:rPr>
              <a:t>&lt;</a:t>
            </a:r>
            <a:r>
              <a:rPr lang="ja-JP" altLang="en-US" b="1" dirty="0" smtClean="0">
                <a:ea typeface="ＭＳ Ｐゴシック" panose="020B0600070205080204" pitchFamily="50" charset="-128"/>
              </a:rPr>
              <a:t>定式化</a:t>
            </a:r>
            <a:r>
              <a:rPr lang="en-US" altLang="ja-JP" b="1" dirty="0" smtClean="0">
                <a:ea typeface="ＭＳ Ｐゴシック" panose="020B0600070205080204" pitchFamily="50" charset="-128"/>
              </a:rPr>
              <a:t>&gt;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sp>
        <p:nvSpPr>
          <p:cNvPr id="8" name="コンテンツ プレースホルダー 5"/>
          <p:cNvSpPr txBox="1">
            <a:spLocks/>
          </p:cNvSpPr>
          <p:nvPr/>
        </p:nvSpPr>
        <p:spPr bwMode="auto">
          <a:xfrm>
            <a:off x="304800" y="3323162"/>
            <a:ext cx="115824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aseline="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 baseline="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1701800" algn="l"/>
              </a:tabLst>
            </a:pPr>
            <a:r>
              <a:rPr lang="ja-JP" altLang="en-US" kern="0" dirty="0" smtClean="0">
                <a:ea typeface="ＭＳ Ｐゴシック" panose="020B0600070205080204" pitchFamily="50" charset="-128"/>
              </a:rPr>
              <a:t>について，</a:t>
            </a:r>
            <a:endParaRPr lang="en-US" altLang="ja-JP" kern="0" dirty="0" smtClean="0">
              <a:ea typeface="ＭＳ Ｐゴシック" panose="020B0600070205080204" pitchFamily="50" charset="-128"/>
            </a:endParaRPr>
          </a:p>
          <a:p>
            <a:pPr>
              <a:tabLst>
                <a:tab pos="533400" algn="l"/>
              </a:tabLst>
            </a:pPr>
            <a:r>
              <a:rPr lang="en-US" altLang="ja-JP" kern="0" dirty="0" smtClean="0">
                <a:ea typeface="ＭＳ Ｐゴシック" panose="020B0600070205080204" pitchFamily="50" charset="-128"/>
              </a:rPr>
              <a:t>	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は</a:t>
            </a:r>
            <a:r>
              <a:rPr lang="ja-JP" altLang="en-US" b="1" dirty="0" smtClean="0">
                <a:solidFill>
                  <a:schemeClr val="accent1"/>
                </a:solidFill>
                <a:ea typeface="ＭＳ Ｐゴシック" panose="020B0600070205080204" pitchFamily="50" charset="-128"/>
              </a:rPr>
              <a:t>同じ</a:t>
            </a:r>
            <a:r>
              <a:rPr lang="ja-JP" altLang="en-US" b="1" dirty="0">
                <a:solidFill>
                  <a:schemeClr val="accent1"/>
                </a:solidFill>
                <a:ea typeface="ＭＳ Ｐゴシック" panose="020B0600070205080204" pitchFamily="50" charset="-128"/>
              </a:rPr>
              <a:t>クラスに属する</a:t>
            </a:r>
            <a:r>
              <a:rPr lang="ja-JP" altLang="en-US" b="1" dirty="0" smtClean="0">
                <a:solidFill>
                  <a:schemeClr val="accent1"/>
                </a:solidFill>
                <a:ea typeface="ＭＳ Ｐゴシック" panose="020B0600070205080204" pitchFamily="50" charset="-128"/>
              </a:rPr>
              <a:t>個体を近く</a:t>
            </a:r>
            <a:r>
              <a:rPr lang="ja-JP" altLang="en-US" dirty="0">
                <a:ea typeface="ＭＳ Ｐゴシック" panose="020B0600070205080204" pitchFamily="50" charset="-128"/>
              </a:rPr>
              <a:t>に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配置すると小さく，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/>
            </a:r>
            <a:br>
              <a:rPr lang="en-US" altLang="ja-JP" dirty="0" smtClean="0">
                <a:ea typeface="ＭＳ Ｐゴシック" panose="020B0600070205080204" pitchFamily="50" charset="-128"/>
              </a:rPr>
            </a:br>
            <a:r>
              <a:rPr lang="en-US" altLang="ja-JP" dirty="0" smtClean="0">
                <a:ea typeface="ＭＳ Ｐゴシック" panose="020B0600070205080204" pitchFamily="50" charset="-128"/>
              </a:rPr>
              <a:t>	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は</a:t>
            </a:r>
            <a:r>
              <a:rPr lang="ja-JP" altLang="en-US" b="1" dirty="0" smtClean="0">
                <a:solidFill>
                  <a:schemeClr val="accent1"/>
                </a:solidFill>
                <a:ea typeface="ＭＳ Ｐゴシック" panose="020B0600070205080204" pitchFamily="50" charset="-128"/>
              </a:rPr>
              <a:t>異なる</a:t>
            </a:r>
            <a:r>
              <a:rPr lang="ja-JP" altLang="en-US" b="1" dirty="0">
                <a:solidFill>
                  <a:schemeClr val="accent1"/>
                </a:solidFill>
                <a:ea typeface="ＭＳ Ｐゴシック" panose="020B0600070205080204" pitchFamily="50" charset="-128"/>
              </a:rPr>
              <a:t>クラスに属する</a:t>
            </a:r>
            <a:r>
              <a:rPr lang="ja-JP" altLang="en-US" b="1" dirty="0" smtClean="0">
                <a:solidFill>
                  <a:schemeClr val="accent1"/>
                </a:solidFill>
                <a:ea typeface="ＭＳ Ｐゴシック" panose="020B0600070205080204" pitchFamily="50" charset="-128"/>
              </a:rPr>
              <a:t>個体を遠く</a:t>
            </a:r>
            <a:r>
              <a:rPr lang="ja-JP" altLang="en-US" dirty="0">
                <a:ea typeface="ＭＳ Ｐゴシック" panose="020B0600070205080204" pitchFamily="50" charset="-128"/>
              </a:rPr>
              <a:t>に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配置</a:t>
            </a:r>
            <a:r>
              <a:rPr lang="ja-JP" altLang="en-US" dirty="0">
                <a:ea typeface="ＭＳ Ｐゴシック" panose="020B0600070205080204" pitchFamily="50" charset="-128"/>
              </a:rPr>
              <a:t>する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と大きく</a:t>
            </a:r>
            <a:r>
              <a:rPr lang="en-US" altLang="ja-JP" dirty="0" smtClean="0">
                <a:ea typeface="ＭＳ Ｐゴシック" panose="020B0600070205080204" pitchFamily="50" charset="-128"/>
              </a:rPr>
              <a:t/>
            </a:r>
            <a:br>
              <a:rPr lang="en-US" altLang="ja-JP" dirty="0" smtClean="0">
                <a:ea typeface="ＭＳ Ｐゴシック" panose="020B0600070205080204" pitchFamily="50" charset="-128"/>
              </a:rPr>
            </a:br>
            <a:r>
              <a:rPr lang="en-US" altLang="ja-JP" dirty="0" smtClean="0">
                <a:ea typeface="ＭＳ Ｐゴシック" panose="020B0600070205080204" pitchFamily="50" charset="-128"/>
              </a:rPr>
              <a:t>	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は射影前後</a:t>
            </a:r>
            <a:r>
              <a:rPr lang="ja-JP" altLang="en-US" dirty="0">
                <a:ea typeface="ＭＳ Ｐゴシック" panose="020B0600070205080204" pitchFamily="50" charset="-128"/>
              </a:rPr>
              <a:t>で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個体</a:t>
            </a:r>
            <a:r>
              <a:rPr lang="ja-JP" altLang="en-US" dirty="0">
                <a:ea typeface="ＭＳ Ｐゴシック" panose="020B0600070205080204" pitchFamily="50" charset="-128"/>
              </a:rPr>
              <a:t>の</a:t>
            </a:r>
            <a:r>
              <a:rPr lang="ja-JP" altLang="en-US" b="1" dirty="0">
                <a:solidFill>
                  <a:schemeClr val="accent1"/>
                </a:solidFill>
                <a:ea typeface="ＭＳ Ｐゴシック" panose="020B0600070205080204" pitchFamily="50" charset="-128"/>
              </a:rPr>
              <a:t>相対的な位置関係が</a:t>
            </a:r>
            <a:r>
              <a:rPr lang="ja-JP" altLang="en-US" b="1" dirty="0" smtClean="0">
                <a:solidFill>
                  <a:schemeClr val="accent1"/>
                </a:solidFill>
                <a:ea typeface="ＭＳ Ｐゴシック" panose="020B0600070205080204" pitchFamily="50" charset="-128"/>
              </a:rPr>
              <a:t>変わらない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と小さく</a:t>
            </a:r>
            <a:r>
              <a:rPr lang="en-US" altLang="ja-JP" dirty="0" smtClean="0">
                <a:ea typeface="ＭＳ Ｐゴシック" panose="020B0600070205080204" pitchFamily="50" charset="-128"/>
              </a:rPr>
              <a:t/>
            </a:r>
            <a:br>
              <a:rPr lang="en-US" altLang="ja-JP" dirty="0" smtClean="0">
                <a:ea typeface="ＭＳ Ｐゴシック" panose="020B0600070205080204" pitchFamily="50" charset="-128"/>
              </a:rPr>
            </a:br>
            <a:r>
              <a:rPr lang="ja-JP" altLang="en-US" dirty="0" smtClean="0">
                <a:ea typeface="ＭＳ Ｐゴシック" panose="020B0600070205080204" pitchFamily="50" charset="-128"/>
              </a:rPr>
              <a:t>なる．</a:t>
            </a:r>
            <a:endParaRPr lang="en-US" altLang="ja-JP" dirty="0">
              <a:ea typeface="ＭＳ Ｐゴシック" panose="020B0600070205080204" pitchFamily="50" charset="-128"/>
            </a:endParaRPr>
          </a:p>
          <a:p>
            <a:pPr>
              <a:tabLst>
                <a:tab pos="533400" algn="l"/>
              </a:tabLst>
            </a:pPr>
            <a:endParaRPr lang="en-US" altLang="ja-JP" kern="0" dirty="0">
              <a:ea typeface="ＭＳ Ｐゴシック" panose="020B0600070205080204" pitchFamily="50" charset="-128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0905" y="1981834"/>
            <a:ext cx="5530191" cy="1341328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0284" r="92322" b="27894"/>
          <a:stretch/>
        </p:blipFill>
        <p:spPr>
          <a:xfrm>
            <a:off x="304800" y="3878048"/>
            <a:ext cx="723900" cy="711200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2647" r="93521" b="31363"/>
          <a:stretch/>
        </p:blipFill>
        <p:spPr>
          <a:xfrm>
            <a:off x="410276" y="4439218"/>
            <a:ext cx="607311" cy="584200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50" t="31363" r="90935" b="31846"/>
          <a:stretch/>
        </p:blipFill>
        <p:spPr>
          <a:xfrm>
            <a:off x="370586" y="4873387"/>
            <a:ext cx="6096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3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r>
              <a:rPr lang="en-US" altLang="ja-JP" dirty="0"/>
              <a:t>(EMT-LTR)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304800" y="1371599"/>
            <a:ext cx="11582400" cy="2345378"/>
          </a:xfrm>
        </p:spPr>
        <p:txBody>
          <a:bodyPr/>
          <a:lstStyle/>
          <a:p>
            <a:r>
              <a:rPr lang="ja-JP" altLang="en-US" dirty="0" smtClean="0">
                <a:ea typeface="ＭＳ Ｐゴシック" panose="020B0600070205080204" pitchFamily="50" charset="-128"/>
              </a:rPr>
              <a:t>損失関数を最小化する最適解</a:t>
            </a:r>
            <a:r>
              <a:rPr lang="en-US" altLang="ja-JP" i="1" dirty="0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M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は，一般固有値問題</a:t>
            </a:r>
            <a:endParaRPr lang="en-US" altLang="ja-JP" dirty="0" smtClean="0">
              <a:ea typeface="ＭＳ Ｐゴシック" panose="020B0600070205080204" pitchFamily="50" charset="-128"/>
            </a:endParaRPr>
          </a:p>
          <a:p>
            <a:endParaRPr lang="en-US" altLang="ja-JP" dirty="0">
              <a:ea typeface="ＭＳ Ｐゴシック" panose="020B0600070205080204" pitchFamily="50" charset="-128"/>
            </a:endParaRPr>
          </a:p>
          <a:p>
            <a:r>
              <a:rPr lang="ja-JP" altLang="en-US" dirty="0" smtClean="0">
                <a:ea typeface="ＭＳ Ｐゴシック" panose="020B0600070205080204" pitchFamily="50" charset="-128"/>
              </a:rPr>
              <a:t>の固有値が上位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D</a:t>
            </a:r>
            <a:r>
              <a:rPr lang="ja-JP" altLang="en-US" dirty="0">
                <a:ea typeface="ＭＳ Ｐゴシック" panose="020B0600070205080204" pitchFamily="50" charset="-128"/>
              </a:rPr>
              <a:t>個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の固有ベクトルとして与えられる．</a:t>
            </a:r>
            <a:endParaRPr lang="en-US" altLang="ja-JP" dirty="0" smtClean="0">
              <a:ea typeface="ＭＳ Ｐゴシック" panose="020B0600070205080204" pitchFamily="50" charset="-128"/>
            </a:endParaRPr>
          </a:p>
          <a:p>
            <a:r>
              <a:rPr lang="ja-JP" altLang="en-US" dirty="0">
                <a:ea typeface="ＭＳ Ｐゴシック" panose="020B0600070205080204" pitchFamily="50" charset="-128"/>
              </a:rPr>
              <a:t>ここ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で，</a:t>
            </a:r>
            <a:endParaRPr lang="en-US" altLang="ja-JP" dirty="0" smtClean="0">
              <a:ea typeface="ＭＳ Ｐゴシック" panose="020B060007020508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Task</a:t>
            </a:r>
            <a:r>
              <a:rPr lang="ja-JP" altLang="en-US" dirty="0" smtClean="0"/>
              <a:t> </a:t>
            </a:r>
            <a:r>
              <a:rPr lang="en-US" altLang="ja-JP" dirty="0" smtClean="0"/>
              <a:t>Relationships</a:t>
            </a:r>
            <a:endParaRPr kumimoji="1" lang="ja-JP" altLang="en-US" dirty="0"/>
          </a:p>
        </p:txBody>
      </p:sp>
      <p:graphicFrame>
        <p:nvGraphicFramePr>
          <p:cNvPr id="2" name="オブジェクト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949066"/>
              </p:ext>
            </p:extLst>
          </p:nvPr>
        </p:nvGraphicFramePr>
        <p:xfrm>
          <a:off x="3695700" y="1913845"/>
          <a:ext cx="4800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4800600" imgH="622080" progId="Equation.DSMT4">
                  <p:embed/>
                </p:oleObj>
              </mc:Choice>
              <mc:Fallback>
                <p:oleObj name="Equation" r:id="rId3" imgW="480060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95700" y="1913845"/>
                        <a:ext cx="48006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図 2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18649" y="3405778"/>
            <a:ext cx="4554702" cy="2364375"/>
          </a:xfrm>
          <a:prstGeom prst="rect">
            <a:avLst/>
          </a:prstGeom>
        </p:spPr>
      </p:pic>
      <p:sp>
        <p:nvSpPr>
          <p:cNvPr id="15" name="コンテンツ プレースホルダー 5"/>
          <p:cNvSpPr txBox="1">
            <a:spLocks/>
          </p:cNvSpPr>
          <p:nvPr/>
        </p:nvSpPr>
        <p:spPr bwMode="auto">
          <a:xfrm>
            <a:off x="304800" y="5955475"/>
            <a:ext cx="11582400" cy="1276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aseline="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 baseline="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kern="0" dirty="0" smtClean="0">
                <a:ea typeface="ＭＳ Ｐゴシック" panose="020B0600070205080204" pitchFamily="50" charset="-128"/>
              </a:rPr>
              <a:t>かつ，</a:t>
            </a:r>
            <a:r>
              <a:rPr lang="en-US" altLang="ja-JP" i="1" kern="0" dirty="0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L</a:t>
            </a:r>
            <a:r>
              <a:rPr lang="ja-JP" altLang="en-US" kern="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，</a:t>
            </a:r>
            <a:r>
              <a:rPr lang="en-US" altLang="ja-JP" i="1" kern="0" dirty="0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L</a:t>
            </a:r>
            <a:r>
              <a:rPr lang="en-US" altLang="ja-JP" i="1" kern="0" baseline="-25000" dirty="0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s</a:t>
            </a:r>
            <a:r>
              <a:rPr lang="ja-JP" altLang="en-US" kern="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，</a:t>
            </a:r>
            <a:r>
              <a:rPr lang="en-US" altLang="ja-JP" i="1" kern="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L</a:t>
            </a:r>
            <a:r>
              <a:rPr lang="en-US" altLang="ja-JP" i="1" kern="0" baseline="-2500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d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はそれぞれ</a:t>
            </a:r>
            <a:r>
              <a:rPr lang="en-US" altLang="ja-JP" i="1" kern="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W</a:t>
            </a:r>
            <a:r>
              <a:rPr lang="en-US" altLang="ja-JP" i="1" kern="0" baseline="-2500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s</a:t>
            </a:r>
            <a:r>
              <a:rPr lang="ja-JP" altLang="en-US" kern="0" dirty="0" err="1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，</a:t>
            </a:r>
            <a:r>
              <a:rPr lang="en-US" altLang="ja-JP" i="1" kern="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W</a:t>
            </a:r>
            <a:r>
              <a:rPr lang="en-US" altLang="ja-JP" i="1" kern="0" baseline="-2500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d</a:t>
            </a:r>
            <a:r>
              <a:rPr lang="ja-JP" altLang="en-US" kern="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，</a:t>
            </a:r>
            <a:r>
              <a:rPr lang="en-US" altLang="ja-JP" i="1" kern="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W</a:t>
            </a:r>
            <a:r>
              <a:rPr lang="en-US" altLang="ja-JP" i="1" kern="0" baseline="-25000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t</a:t>
            </a:r>
            <a:r>
              <a:rPr lang="ja-JP" altLang="en-US" kern="0" dirty="0" smtClean="0">
                <a:ea typeface="ＭＳ Ｐゴシック" panose="020B0600070205080204" pitchFamily="50" charset="-128"/>
              </a:rPr>
              <a:t>のラプラシアン行列である．</a:t>
            </a:r>
            <a:endParaRPr lang="en-US" altLang="ja-JP" kern="0" dirty="0" smtClean="0">
              <a:ea typeface="ＭＳ Ｐゴシック" panose="020B060007020508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8942119" y="5308488"/>
            <a:ext cx="29450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ja-JP" sz="2400" i="1" kern="0" dirty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S</a:t>
            </a:r>
            <a:r>
              <a:rPr lang="en-US" altLang="ja-JP" sz="2400" i="1" kern="0" baseline="-25000" dirty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n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:</a:t>
            </a:r>
            <a:r>
              <a:rPr kumimoji="1" lang="ja-JP" altLang="en-US" sz="2400" dirty="0" smtClean="0"/>
              <a:t>タスク</a:t>
            </a:r>
            <a:r>
              <a:rPr lang="en-US" altLang="ja-JP" sz="2400" i="1" kern="0" dirty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n</a:t>
            </a:r>
            <a:r>
              <a:rPr kumimoji="1" lang="ja-JP" altLang="en-US" sz="2400" dirty="0" smtClean="0"/>
              <a:t>の個体群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37627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ZDT</a:t>
            </a:r>
            <a:r>
              <a:rPr kumimoji="1" lang="ja-JP" altLang="en-US" dirty="0" smtClean="0"/>
              <a:t>問題の亜種である，</a:t>
            </a:r>
            <a:r>
              <a:rPr kumimoji="1" lang="en-US" altLang="ja-JP" dirty="0" smtClean="0"/>
              <a:t>ZDT-R-G</a:t>
            </a:r>
            <a:r>
              <a:rPr kumimoji="1" lang="ja-JP" altLang="en-US" dirty="0" smtClean="0"/>
              <a:t>と</a:t>
            </a:r>
            <a:r>
              <a:rPr kumimoji="1" lang="en-US" altLang="ja-JP" dirty="0" smtClean="0"/>
              <a:t>ZDT-RC-A</a:t>
            </a:r>
            <a:r>
              <a:rPr kumimoji="1" lang="ja-JP" altLang="en-US" dirty="0" smtClean="0"/>
              <a:t>で探索性能を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比較する</a:t>
            </a:r>
            <a:r>
              <a:rPr kumimoji="1" lang="en-US" altLang="ja-JP" dirty="0" smtClean="0"/>
              <a:t>[1]</a:t>
            </a:r>
            <a:r>
              <a:rPr kumimoji="1" lang="ja-JP" altLang="en-US" dirty="0" err="1" smtClean="0"/>
              <a:t>．</a:t>
            </a:r>
            <a:endParaRPr kumimoji="1" lang="en-US" altLang="ja-JP" dirty="0" smtClean="0"/>
          </a:p>
          <a:p>
            <a:r>
              <a:rPr lang="ja-JP" altLang="en-US" dirty="0" smtClean="0"/>
              <a:t>性能は，各世代および各経過時間の</a:t>
            </a:r>
            <a:r>
              <a:rPr lang="en-US" altLang="ja-JP" dirty="0" smtClean="0"/>
              <a:t>IGD</a:t>
            </a:r>
            <a:r>
              <a:rPr lang="ja-JP" altLang="en-US" dirty="0" smtClean="0"/>
              <a:t>値で比較する．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との比較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7756" y="3010643"/>
            <a:ext cx="8716488" cy="3011113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455221" y="6094690"/>
            <a:ext cx="11281558" cy="70788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ja-JP" sz="2000" dirty="0"/>
              <a:t>A. Gupta, Y.-S. Ong, L. Feng, and K. C. Tan, “</a:t>
            </a:r>
            <a:r>
              <a:rPr lang="en-US" altLang="ja-JP" sz="2000" dirty="0" err="1"/>
              <a:t>Multiobjective</a:t>
            </a:r>
            <a:r>
              <a:rPr lang="en-US" altLang="ja-JP" sz="2000" dirty="0"/>
              <a:t> </a:t>
            </a:r>
            <a:r>
              <a:rPr lang="en-US" altLang="ja-JP" sz="2000" dirty="0" smtClean="0"/>
              <a:t>multifactorial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optimization in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evolutionary </a:t>
            </a:r>
            <a:r>
              <a:rPr lang="en-US" altLang="ja-JP" sz="2000" dirty="0"/>
              <a:t>multitasking,” </a:t>
            </a:r>
            <a:r>
              <a:rPr lang="en-US" altLang="ja-JP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</a:t>
            </a:r>
            <a:r>
              <a:rPr lang="en-US" altLang="ja-JP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Cybern</a:t>
            </a:r>
            <a:r>
              <a:rPr lang="en-US" altLang="ja-JP" sz="2000" i="1" dirty="0" smtClean="0"/>
              <a:t>.</a:t>
            </a:r>
            <a:r>
              <a:rPr lang="en-US" altLang="ja-JP" sz="2000" dirty="0" smtClean="0"/>
              <a:t>,vol</a:t>
            </a:r>
            <a:r>
              <a:rPr lang="en-US" altLang="ja-JP" sz="2000" dirty="0"/>
              <a:t>. 47, no. 7, pp. 1652–1665, Jul. 2017.</a:t>
            </a:r>
            <a:endParaRPr kumimoji="1" lang="ja-JP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03260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04800" y="6067265"/>
            <a:ext cx="11582400" cy="639287"/>
          </a:xfrm>
        </p:spPr>
        <p:txBody>
          <a:bodyPr/>
          <a:lstStyle/>
          <a:p>
            <a:r>
              <a:rPr lang="ja-JP" altLang="en-US" dirty="0"/>
              <a:t>全世代に</a:t>
            </a:r>
            <a:r>
              <a:rPr lang="ja-JP" altLang="en-US" dirty="0" smtClean="0"/>
              <a:t>おいて提案手法の</a:t>
            </a:r>
            <a:r>
              <a:rPr lang="en-US" altLang="ja-JP" dirty="0" smtClean="0"/>
              <a:t>IGD</a:t>
            </a:r>
            <a:r>
              <a:rPr lang="ja-JP" altLang="en-US" dirty="0" smtClean="0"/>
              <a:t>が優れている．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との比較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050" t="10672" r="3429" b="4500"/>
          <a:stretch/>
        </p:blipFill>
        <p:spPr>
          <a:xfrm>
            <a:off x="1129310" y="1995094"/>
            <a:ext cx="4298950" cy="3384550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848" t="7251" b="6558"/>
          <a:stretch/>
        </p:blipFill>
        <p:spPr>
          <a:xfrm>
            <a:off x="7020544" y="2007795"/>
            <a:ext cx="4409801" cy="3371849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 rot="16200000">
            <a:off x="-234527" y="3493664"/>
            <a:ext cx="2327564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 smtClean="0"/>
              <a:t>IGD(log)</a:t>
            </a:r>
            <a:endParaRPr kumimoji="1" lang="ja-JP" altLang="en-US" sz="20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729791" y="5359379"/>
            <a:ext cx="309798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smtClean="0"/>
              <a:t>Number of Generations</a:t>
            </a:r>
            <a:br>
              <a:rPr lang="en-US" altLang="ja-JP" sz="2000" dirty="0" smtClean="0"/>
            </a:br>
            <a:r>
              <a:rPr lang="en-US" altLang="ja-JP" sz="2000" dirty="0" smtClean="0"/>
              <a:t>Task 1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676450" y="5359379"/>
            <a:ext cx="309798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smtClean="0"/>
              <a:t>Number of Generations</a:t>
            </a:r>
            <a:br>
              <a:rPr lang="en-US" altLang="ja-JP" sz="2000" dirty="0" smtClean="0"/>
            </a:br>
            <a:r>
              <a:rPr lang="en-US" altLang="ja-JP" sz="2000" dirty="0" smtClean="0"/>
              <a:t>Task 2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436286" y="1381274"/>
            <a:ext cx="531942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ZDT-R-G</a:t>
            </a:r>
            <a:r>
              <a:rPr kumimoji="1" lang="ja-JP" altLang="en-US" sz="2800" dirty="0" smtClean="0"/>
              <a:t> 世代数による比較</a:t>
            </a:r>
            <a:endParaRPr kumimoji="1"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276069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04800" y="6067265"/>
            <a:ext cx="11582400" cy="639287"/>
          </a:xfrm>
        </p:spPr>
        <p:txBody>
          <a:bodyPr/>
          <a:lstStyle/>
          <a:p>
            <a:r>
              <a:rPr lang="ja-JP" altLang="en-US" dirty="0" smtClean="0"/>
              <a:t>全時間において提案手法の</a:t>
            </a:r>
            <a:r>
              <a:rPr lang="en-US" altLang="ja-JP" dirty="0" smtClean="0"/>
              <a:t>IGD</a:t>
            </a:r>
            <a:r>
              <a:rPr lang="ja-JP" altLang="en-US" dirty="0" smtClean="0"/>
              <a:t>が優れている．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との比較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 rot="16200000">
            <a:off x="-234527" y="3493664"/>
            <a:ext cx="2327564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 smtClean="0"/>
              <a:t>IGD(log)</a:t>
            </a:r>
            <a:endParaRPr kumimoji="1" lang="ja-JP" altLang="en-US" sz="20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729791" y="5359379"/>
            <a:ext cx="309798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smtClean="0"/>
              <a:t>Running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Time</a:t>
            </a:r>
            <a:br>
              <a:rPr lang="en-US" altLang="ja-JP" sz="2000" dirty="0" smtClean="0"/>
            </a:br>
            <a:r>
              <a:rPr lang="en-US" altLang="ja-JP" sz="2000" dirty="0" smtClean="0"/>
              <a:t>Task 1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676450" y="5359379"/>
            <a:ext cx="309798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smtClean="0"/>
              <a:t>Running Time</a:t>
            </a:r>
            <a:br>
              <a:rPr lang="en-US" altLang="ja-JP" sz="2000" dirty="0" smtClean="0"/>
            </a:br>
            <a:r>
              <a:rPr lang="en-US" altLang="ja-JP" sz="2000" dirty="0" smtClean="0"/>
              <a:t>Task 2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436286" y="1381274"/>
            <a:ext cx="531942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ZDT-R-G</a:t>
            </a:r>
            <a:r>
              <a:rPr kumimoji="1" lang="ja-JP" altLang="en-US" sz="2800" dirty="0" smtClean="0"/>
              <a:t> </a:t>
            </a:r>
            <a:r>
              <a:rPr lang="ja-JP" altLang="en-US" sz="2800" dirty="0"/>
              <a:t>実行時間</a:t>
            </a:r>
            <a:r>
              <a:rPr kumimoji="1" lang="ja-JP" altLang="en-US" sz="2800" dirty="0" smtClean="0"/>
              <a:t>による比較</a:t>
            </a:r>
            <a:endParaRPr kumimoji="1" lang="en-US" altLang="ja-JP" sz="2800" dirty="0" smtClean="0"/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234" t="7513" r="2204" b="2719"/>
          <a:stretch/>
        </p:blipFill>
        <p:spPr>
          <a:xfrm>
            <a:off x="1117941" y="2014462"/>
            <a:ext cx="4300538" cy="3357562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373" t="8642" r="10820" b="5460"/>
          <a:stretch/>
        </p:blipFill>
        <p:spPr>
          <a:xfrm>
            <a:off x="7034264" y="1996474"/>
            <a:ext cx="4320540" cy="336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1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04800" y="6067265"/>
            <a:ext cx="11582400" cy="639287"/>
          </a:xfrm>
        </p:spPr>
        <p:txBody>
          <a:bodyPr/>
          <a:lstStyle/>
          <a:p>
            <a:r>
              <a:rPr lang="ja-JP" altLang="en-US" dirty="0"/>
              <a:t>全世代に</a:t>
            </a:r>
            <a:r>
              <a:rPr lang="ja-JP" altLang="en-US" dirty="0" smtClean="0"/>
              <a:t>おいて提案手法の</a:t>
            </a:r>
            <a:r>
              <a:rPr lang="en-US" altLang="ja-JP" dirty="0" smtClean="0"/>
              <a:t>IGD</a:t>
            </a:r>
            <a:r>
              <a:rPr lang="ja-JP" altLang="en-US" dirty="0" smtClean="0"/>
              <a:t>が優れている．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との比較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 rot="16200000">
            <a:off x="-234527" y="3493664"/>
            <a:ext cx="2327564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 smtClean="0"/>
              <a:t>IGD(log)</a:t>
            </a:r>
            <a:endParaRPr kumimoji="1" lang="ja-JP" altLang="en-US" sz="20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729791" y="5359379"/>
            <a:ext cx="309798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smtClean="0"/>
              <a:t>Number of Generations</a:t>
            </a:r>
            <a:br>
              <a:rPr lang="en-US" altLang="ja-JP" sz="2000" dirty="0" smtClean="0"/>
            </a:br>
            <a:r>
              <a:rPr lang="en-US" altLang="ja-JP" sz="2000" dirty="0" smtClean="0"/>
              <a:t>Task 1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676450" y="5359379"/>
            <a:ext cx="309798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smtClean="0"/>
              <a:t>Number of Generations</a:t>
            </a:r>
            <a:br>
              <a:rPr lang="en-US" altLang="ja-JP" sz="2000" dirty="0" smtClean="0"/>
            </a:br>
            <a:r>
              <a:rPr lang="en-US" altLang="ja-JP" sz="2000" dirty="0" smtClean="0"/>
              <a:t>Task 2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436286" y="1381274"/>
            <a:ext cx="531942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ZDT-RC-A</a:t>
            </a:r>
            <a:r>
              <a:rPr kumimoji="1" lang="ja-JP" altLang="en-US" sz="2800" dirty="0" smtClean="0"/>
              <a:t> 世代数による比較</a:t>
            </a:r>
            <a:endParaRPr kumimoji="1" lang="en-US" altLang="ja-JP" sz="2800" dirty="0" smtClean="0"/>
          </a:p>
        </p:txBody>
      </p:sp>
      <p:pic>
        <p:nvPicPr>
          <p:cNvPr id="16" name="図 1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038" t="3983" r="3854" b="4762"/>
          <a:stretch/>
        </p:blipFill>
        <p:spPr>
          <a:xfrm>
            <a:off x="1121320" y="1988745"/>
            <a:ext cx="4283759" cy="3379565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661" t="3056" r="8682" b="5278"/>
          <a:stretch/>
        </p:blipFill>
        <p:spPr>
          <a:xfrm>
            <a:off x="7041053" y="1998843"/>
            <a:ext cx="4305622" cy="339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8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04800" y="6067265"/>
            <a:ext cx="11582400" cy="639287"/>
          </a:xfrm>
        </p:spPr>
        <p:txBody>
          <a:bodyPr/>
          <a:lstStyle/>
          <a:p>
            <a:r>
              <a:rPr lang="ja-JP" altLang="en-US" dirty="0" smtClean="0"/>
              <a:t>全時間において提案手法の</a:t>
            </a:r>
            <a:r>
              <a:rPr lang="en-US" altLang="ja-JP" dirty="0" smtClean="0"/>
              <a:t>IGD</a:t>
            </a:r>
            <a:r>
              <a:rPr lang="ja-JP" altLang="en-US" dirty="0" smtClean="0"/>
              <a:t>が優れている．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との比較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 rot="16200000">
            <a:off x="-234527" y="3493664"/>
            <a:ext cx="2327564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 smtClean="0"/>
              <a:t>IGD(log)</a:t>
            </a:r>
            <a:endParaRPr kumimoji="1" lang="ja-JP" altLang="en-US" sz="20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729791" y="5359379"/>
            <a:ext cx="309798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smtClean="0"/>
              <a:t>Running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Time</a:t>
            </a:r>
            <a:br>
              <a:rPr lang="en-US" altLang="ja-JP" sz="2000" dirty="0" smtClean="0"/>
            </a:br>
            <a:r>
              <a:rPr lang="en-US" altLang="ja-JP" sz="2000" dirty="0" smtClean="0"/>
              <a:t>Task 1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676450" y="5359379"/>
            <a:ext cx="309798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smtClean="0"/>
              <a:t>Running Time</a:t>
            </a:r>
            <a:br>
              <a:rPr lang="en-US" altLang="ja-JP" sz="2000" dirty="0" smtClean="0"/>
            </a:br>
            <a:r>
              <a:rPr lang="en-US" altLang="ja-JP" sz="2000" dirty="0" smtClean="0"/>
              <a:t>Task 2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436286" y="1381274"/>
            <a:ext cx="531942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ZDT-RC-A</a:t>
            </a:r>
            <a:r>
              <a:rPr kumimoji="1" lang="ja-JP" altLang="en-US" sz="2800" dirty="0" smtClean="0"/>
              <a:t> </a:t>
            </a:r>
            <a:r>
              <a:rPr lang="ja-JP" altLang="en-US" sz="2800" dirty="0"/>
              <a:t>実行時間</a:t>
            </a:r>
            <a:r>
              <a:rPr kumimoji="1" lang="ja-JP" altLang="en-US" sz="2800" dirty="0" smtClean="0"/>
              <a:t>による比較</a:t>
            </a:r>
            <a:endParaRPr kumimoji="1" lang="en-US" altLang="ja-JP" sz="2800" dirty="0" smtClean="0"/>
          </a:p>
        </p:txBody>
      </p:sp>
      <p:pic>
        <p:nvPicPr>
          <p:cNvPr id="17" name="図 16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1347" t="9166" r="4112" b="5417"/>
          <a:stretch/>
        </p:blipFill>
        <p:spPr>
          <a:xfrm>
            <a:off x="1134599" y="2011800"/>
            <a:ext cx="4276730" cy="3359102"/>
          </a:xfrm>
          <a:prstGeom prst="rect">
            <a:avLst/>
          </a:prstGeom>
        </p:spPr>
      </p:pic>
      <p:pic>
        <p:nvPicPr>
          <p:cNvPr id="18" name="図 17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047" t="6425" r="6355" b="5381"/>
          <a:stretch/>
        </p:blipFill>
        <p:spPr>
          <a:xfrm>
            <a:off x="7039163" y="1993116"/>
            <a:ext cx="4298614" cy="334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7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>
                <a:ea typeface="ＭＳ Ｐゴシック" panose="020B0600070205080204" pitchFamily="50" charset="-128"/>
              </a:rPr>
              <a:t>&lt;</a:t>
            </a:r>
            <a:r>
              <a:rPr lang="ja-JP" altLang="en-US" b="1" dirty="0">
                <a:ea typeface="ＭＳ Ｐゴシック" panose="020B0600070205080204" pitchFamily="50" charset="-128"/>
              </a:rPr>
              <a:t>実験設定</a:t>
            </a:r>
            <a:r>
              <a:rPr lang="en-US" altLang="ja-JP" b="1" dirty="0">
                <a:ea typeface="ＭＳ Ｐゴシック" panose="020B0600070205080204" pitchFamily="50" charset="-128"/>
              </a:rPr>
              <a:t>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>
                <a:ea typeface="ＭＳ Ｐゴシック" panose="020B0600070205080204" pitchFamily="50" charset="-128"/>
              </a:rPr>
              <a:t>テスト問題</a:t>
            </a:r>
            <a:endParaRPr lang="en-US" altLang="ja-JP" dirty="0">
              <a:ea typeface="ＭＳ Ｐゴシック" panose="020B0600070205080204" pitchFamily="50" charset="-128"/>
            </a:endParaRPr>
          </a:p>
          <a:p>
            <a:pPr lvl="1" algn="l"/>
            <a:r>
              <a:rPr lang="en-US" altLang="ja-JP" dirty="0">
                <a:ea typeface="ＭＳ Ｐゴシック" panose="020B0600070205080204" pitchFamily="50" charset="-128"/>
              </a:rPr>
              <a:t>CEC 2017</a:t>
            </a:r>
            <a:r>
              <a:rPr lang="ja-JP" altLang="en-US" dirty="0">
                <a:ea typeface="ＭＳ Ｐゴシック" panose="020B0600070205080204" pitchFamily="50" charset="-128"/>
              </a:rPr>
              <a:t> </a:t>
            </a:r>
            <a:r>
              <a:rPr lang="en-US" altLang="ja-JP" dirty="0">
                <a:ea typeface="ＭＳ Ｐゴシック" panose="020B0600070205080204" pitchFamily="50" charset="-128"/>
              </a:rPr>
              <a:t>Evolutionary </a:t>
            </a:r>
            <a:r>
              <a:rPr lang="en-US" altLang="ja-JP" dirty="0" err="1">
                <a:ea typeface="ＭＳ Ｐゴシック" panose="020B0600070205080204" pitchFamily="50" charset="-128"/>
              </a:rPr>
              <a:t>MultiTask</a:t>
            </a:r>
            <a:r>
              <a:rPr lang="en-US" altLang="ja-JP" dirty="0">
                <a:ea typeface="ＭＳ Ｐゴシック" panose="020B0600070205080204" pitchFamily="50" charset="-128"/>
              </a:rPr>
              <a:t> Optimization 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Competition</a:t>
            </a:r>
            <a:br>
              <a:rPr lang="en-US" altLang="ja-JP" dirty="0" smtClean="0">
                <a:ea typeface="ＭＳ Ｐゴシック" panose="020B0600070205080204" pitchFamily="50" charset="-128"/>
              </a:rPr>
            </a:br>
            <a:r>
              <a:rPr lang="ja-JP" altLang="en-US" dirty="0" smtClean="0">
                <a:ea typeface="ＭＳ Ｐゴシック" panose="020B0600070205080204" pitchFamily="50" charset="-128"/>
              </a:rPr>
              <a:t>タスクの共通度が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CI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PI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NI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タスク類似度が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HS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MS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LS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の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3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種類</a:t>
            </a:r>
            <a:endParaRPr lang="en-US" altLang="ja-JP" dirty="0">
              <a:ea typeface="ＭＳ Ｐゴシック" panose="020B0600070205080204" pitchFamily="50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>
                <a:ea typeface="ＭＳ Ｐゴシック" panose="020B0600070205080204" pitchFamily="50" charset="-128"/>
              </a:rPr>
              <a:t>比較アルゴリズム</a:t>
            </a:r>
            <a:endParaRPr lang="en-US" altLang="ja-JP" dirty="0">
              <a:ea typeface="ＭＳ Ｐゴシック" panose="020B0600070205080204" pitchFamily="50" charset="-128"/>
            </a:endParaRPr>
          </a:p>
          <a:p>
            <a:pPr lvl="1"/>
            <a:r>
              <a:rPr lang="en-US" altLang="ja-JP" dirty="0">
                <a:ea typeface="ＭＳ Ｐゴシック" panose="020B0600070205080204" pitchFamily="50" charset="-128"/>
              </a:rPr>
              <a:t>NSGA-II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dirty="0">
                <a:ea typeface="ＭＳ Ｐゴシック" panose="020B0600070205080204" pitchFamily="50" charset="-128"/>
              </a:rPr>
              <a:t>MO-MFEA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MM-DE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GDE-MO-MFEA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EMT-A</a:t>
            </a:r>
            <a:r>
              <a:rPr lang="ja-JP" altLang="en-US" dirty="0" err="1" smtClean="0">
                <a:ea typeface="ＭＳ Ｐゴシック" panose="020B0600070205080204" pitchFamily="50" charset="-128"/>
              </a:rPr>
              <a:t>，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RPB-MO-MFEA, EMTIL</a:t>
            </a:r>
            <a:endParaRPr lang="en-US" altLang="ja-JP" dirty="0">
              <a:ea typeface="ＭＳ Ｐゴシック" panose="020B0600070205080204" pitchFamily="50" charset="-128"/>
            </a:endParaRPr>
          </a:p>
          <a:p>
            <a:endParaRPr kumimoji="1" lang="ja-JP" altLang="en-US" dirty="0">
              <a:ea typeface="ＭＳ Ｐゴシック" panose="020B060007020508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他のアルゴリズムとの比較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4268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lang="ja-JP" altLang="en-US" dirty="0" smtClean="0"/>
              <a:t>結果</a:t>
            </a:r>
            <a:r>
              <a:rPr lang="en-US" altLang="ja-JP" dirty="0" smtClean="0"/>
              <a:t>(IGD)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04800" y="6182968"/>
            <a:ext cx="11582400" cy="586132"/>
          </a:xfrm>
        </p:spPr>
        <p:txBody>
          <a:bodyPr/>
          <a:lstStyle/>
          <a:p>
            <a:r>
              <a:rPr kumimoji="1" lang="ja-JP" altLang="en-US" dirty="0" smtClean="0"/>
              <a:t>提案手法は多くのアルゴリズムと同等以上の性能を示した．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他のアルゴリズムとの比較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916"/>
          <a:stretch/>
        </p:blipFill>
        <p:spPr>
          <a:xfrm>
            <a:off x="939800" y="1371600"/>
            <a:ext cx="10312400" cy="476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70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lang="ja-JP" altLang="en-US" dirty="0" smtClean="0"/>
              <a:t>結果</a:t>
            </a:r>
            <a:r>
              <a:rPr lang="en-US" altLang="ja-JP" dirty="0" smtClean="0"/>
              <a:t>(</a:t>
            </a:r>
            <a:r>
              <a:rPr lang="ja-JP" altLang="en-US" dirty="0" smtClean="0"/>
              <a:t>平均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04800" y="6182968"/>
            <a:ext cx="11582400" cy="560732"/>
          </a:xfrm>
        </p:spPr>
        <p:txBody>
          <a:bodyPr/>
          <a:lstStyle/>
          <a:p>
            <a:r>
              <a:rPr kumimoji="1" lang="ja-JP" altLang="en-US" dirty="0" smtClean="0"/>
              <a:t>提案手法は</a:t>
            </a:r>
            <a:r>
              <a:rPr lang="ja-JP" altLang="en-US" dirty="0"/>
              <a:t>一番</a:t>
            </a:r>
            <a:r>
              <a:rPr lang="ja-JP" altLang="en-US" dirty="0" smtClean="0"/>
              <a:t>高い平均ランクを獲得した</a:t>
            </a:r>
            <a:r>
              <a:rPr kumimoji="1" lang="ja-JP" altLang="en-US" dirty="0" smtClean="0"/>
              <a:t>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他のアルゴリズムとの比較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13048" y="1531231"/>
            <a:ext cx="5765904" cy="445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68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結論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>
                <a:ea typeface="ＭＳ Ｐゴシック" panose="020B0600070205080204" pitchFamily="50" charset="-128"/>
              </a:rPr>
              <a:t>タスク間の関係性を明確に計算する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EMT-LTR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アルゴリズムを</a:t>
            </a:r>
            <a:r>
              <a:rPr lang="en-US" altLang="ja-JP" dirty="0" smtClean="0">
                <a:ea typeface="ＭＳ Ｐゴシック" panose="020B0600070205080204" pitchFamily="50" charset="-128"/>
              </a:rPr>
              <a:t/>
            </a:r>
            <a:br>
              <a:rPr lang="en-US" altLang="ja-JP" dirty="0" smtClean="0">
                <a:ea typeface="ＭＳ Ｐゴシック" panose="020B0600070205080204" pitchFamily="50" charset="-128"/>
              </a:rPr>
            </a:br>
            <a:r>
              <a:rPr lang="ja-JP" altLang="en-US" dirty="0" smtClean="0">
                <a:ea typeface="ＭＳ Ｐゴシック" panose="020B0600070205080204" pitchFamily="50" charset="-128"/>
              </a:rPr>
              <a:t>提案した．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EMT-LTR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では，タスク間の関係性の導出を一般</a:t>
            </a:r>
            <a:r>
              <a:rPr lang="en-US" altLang="ja-JP" dirty="0" smtClean="0">
                <a:ea typeface="ＭＳ Ｐゴシック" panose="020B0600070205080204" pitchFamily="50" charset="-128"/>
              </a:rPr>
              <a:t/>
            </a:r>
            <a:br>
              <a:rPr lang="en-US" altLang="ja-JP" dirty="0" smtClean="0">
                <a:ea typeface="ＭＳ Ｐゴシック" panose="020B0600070205080204" pitchFamily="50" charset="-128"/>
              </a:rPr>
            </a:br>
            <a:r>
              <a:rPr lang="ja-JP" altLang="en-US" dirty="0" smtClean="0">
                <a:ea typeface="ＭＳ Ｐゴシック" panose="020B0600070205080204" pitchFamily="50" charset="-128"/>
              </a:rPr>
              <a:t>固有値問題として定式化した．</a:t>
            </a:r>
            <a:endParaRPr lang="en-US" altLang="ja-JP" dirty="0" smtClean="0">
              <a:ea typeface="ＭＳ Ｐゴシック" panose="020B0600070205080204" pitchFamily="50" charset="-128"/>
            </a:endParaRPr>
          </a:p>
          <a:p>
            <a:r>
              <a:rPr kumimoji="1" lang="ja-JP" altLang="en-US" dirty="0" smtClean="0">
                <a:ea typeface="ＭＳ Ｐゴシック" panose="020B0600070205080204" pitchFamily="50" charset="-128"/>
              </a:rPr>
              <a:t>数値実験では，他の</a:t>
            </a:r>
            <a:r>
              <a:rPr kumimoji="1" lang="en-US" altLang="ja-JP" dirty="0" smtClean="0">
                <a:ea typeface="ＭＳ Ｐゴシック" panose="020B0600070205080204" pitchFamily="50" charset="-128"/>
              </a:rPr>
              <a:t>State-of-the-art</a:t>
            </a:r>
            <a:r>
              <a:rPr kumimoji="1" lang="ja-JP" altLang="en-US" dirty="0" smtClean="0">
                <a:ea typeface="ＭＳ Ｐゴシック" panose="020B0600070205080204" pitchFamily="50" charset="-128"/>
              </a:rPr>
              <a:t>と比較しても優れた</a:t>
            </a:r>
            <a:r>
              <a:rPr kumimoji="1" lang="en-US" altLang="ja-JP" dirty="0" smtClean="0">
                <a:ea typeface="ＭＳ Ｐゴシック" panose="020B0600070205080204" pitchFamily="50" charset="-128"/>
              </a:rPr>
              <a:t/>
            </a:r>
            <a:br>
              <a:rPr kumimoji="1" lang="en-US" altLang="ja-JP" dirty="0" smtClean="0">
                <a:ea typeface="ＭＳ Ｐゴシック" panose="020B0600070205080204" pitchFamily="50" charset="-128"/>
              </a:rPr>
            </a:br>
            <a:r>
              <a:rPr kumimoji="1" lang="ja-JP" altLang="en-US" dirty="0" smtClean="0">
                <a:ea typeface="ＭＳ Ｐゴシック" panose="020B0600070205080204" pitchFamily="50" charset="-128"/>
              </a:rPr>
              <a:t>性能を示した．</a:t>
            </a:r>
            <a:endParaRPr kumimoji="1" lang="en-US" altLang="ja-JP" dirty="0" smtClean="0">
              <a:ea typeface="ＭＳ Ｐゴシック" panose="020B0600070205080204" pitchFamily="50" charset="-128"/>
            </a:endParaRPr>
          </a:p>
          <a:p>
            <a:r>
              <a:rPr lang="ja-JP" altLang="en-US" dirty="0">
                <a:ea typeface="ＭＳ Ｐゴシック" panose="020B0600070205080204" pitchFamily="50" charset="-128"/>
              </a:rPr>
              <a:t>今後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の研究方針として，</a:t>
            </a:r>
            <a:endParaRPr lang="en-US" altLang="ja-JP" dirty="0" smtClean="0">
              <a:ea typeface="ＭＳ Ｐゴシック" panose="020B0600070205080204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>
                <a:ea typeface="ＭＳ Ｐゴシック" panose="020B0600070205080204" pitchFamily="50" charset="-128"/>
              </a:rPr>
              <a:t>多くのタスクから成る新たなベンチマーク問題の提案</a:t>
            </a:r>
            <a:endParaRPr kumimoji="1" lang="en-US" altLang="ja-JP" dirty="0" smtClean="0">
              <a:ea typeface="ＭＳ Ｐゴシック" panose="020B0600070205080204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dirty="0">
                <a:ea typeface="ＭＳ Ｐゴシック" panose="020B0600070205080204" pitchFamily="50" charset="-128"/>
              </a:rPr>
              <a:t>実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問題に対するマルチタスク手法の適用</a:t>
            </a:r>
            <a:endParaRPr lang="en-US" altLang="ja-JP" dirty="0" smtClean="0">
              <a:ea typeface="ＭＳ Ｐゴシック" panose="020B0600070205080204" pitchFamily="50" charset="-128"/>
            </a:endParaRPr>
          </a:p>
          <a:p>
            <a:r>
              <a:rPr kumimoji="1" lang="ja-JP" altLang="en-US" dirty="0" smtClean="0">
                <a:ea typeface="ＭＳ Ｐゴシック" panose="020B0600070205080204" pitchFamily="50" charset="-128"/>
              </a:rPr>
              <a:t>が挙げられる．</a:t>
            </a:r>
            <a:endParaRPr kumimoji="1" lang="en-US" altLang="ja-JP" dirty="0" smtClean="0">
              <a:ea typeface="ＭＳ Ｐゴシック" panose="020B060007020508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5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chemeClr val="tx1"/>
          </a:solidFill>
        </a:ln>
      </a:spPr>
      <a:bodyPr rtlCol="0" anchor="ctr"/>
      <a:lstStyle>
        <a:defPPr algn="ctr">
          <a:defRPr kumimoji="1"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1780</TotalTime>
  <Words>816</Words>
  <Application>Microsoft Office PowerPoint</Application>
  <PresentationFormat>ワイド画面</PresentationFormat>
  <Paragraphs>174</Paragraphs>
  <Slides>25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ＭＳ P ゴシック</vt:lpstr>
      <vt:lpstr>ＭＳ Ｐゴシック</vt:lpstr>
      <vt:lpstr>Arial</vt:lpstr>
      <vt:lpstr>Times New Roman</vt:lpstr>
      <vt:lpstr>Theme_Lab</vt:lpstr>
      <vt:lpstr>Equation</vt:lpstr>
      <vt:lpstr>MathType 6.0 Equation</vt:lpstr>
      <vt:lpstr>英語論文発表(2/10)</vt:lpstr>
      <vt:lpstr>PowerPoint プレゼンテーション</vt:lpstr>
      <vt:lpstr>概要</vt:lpstr>
      <vt:lpstr>提案手法(EMT-LTR)</vt:lpstr>
      <vt:lpstr>提案手法(EMT-LTR)</vt:lpstr>
      <vt:lpstr>提案手法(EMT-LTR)</vt:lpstr>
      <vt:lpstr>提案手法(EMT-LTR)</vt:lpstr>
      <vt:lpstr>提案手法(EMT-LTR)</vt:lpstr>
      <vt:lpstr>提案手法(EMT-LTR)</vt:lpstr>
      <vt:lpstr>提案手法(EMT-LTR)</vt:lpstr>
      <vt:lpstr>提案手法(EMT-LTR)</vt:lpstr>
      <vt:lpstr>提案手法(EMT-LTR)</vt:lpstr>
      <vt:lpstr>提案手法(EMT-LTR)</vt:lpstr>
      <vt:lpstr>提案手法(EMT-LTR)</vt:lpstr>
      <vt:lpstr>提案手法(EMT-LTR)</vt:lpstr>
      <vt:lpstr>提案手法(EMT-LTR)</vt:lpstr>
      <vt:lpstr>数値実験</vt:lpstr>
      <vt:lpstr>実験結果</vt:lpstr>
      <vt:lpstr>実験結果</vt:lpstr>
      <vt:lpstr>実験結果</vt:lpstr>
      <vt:lpstr>実験結果</vt:lpstr>
      <vt:lpstr>数値実験</vt:lpstr>
      <vt:lpstr>実験結果(IGD)</vt:lpstr>
      <vt:lpstr>実験結果(平均)</vt:lpstr>
      <vt:lpstr>結論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英語論文発表(5/20)</dc:title>
  <dc:creator>瓜田 俊貴</dc:creator>
  <cp:lastModifiedBy>瓜田 俊貴</cp:lastModifiedBy>
  <cp:revision>160</cp:revision>
  <dcterms:created xsi:type="dcterms:W3CDTF">2020-05-17T11:56:43Z</dcterms:created>
  <dcterms:modified xsi:type="dcterms:W3CDTF">2021-02-09T22:11:46Z</dcterms:modified>
</cp:coreProperties>
</file>