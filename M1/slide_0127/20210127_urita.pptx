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41"/>
  </p:notesMasterIdLst>
  <p:sldIdLst>
    <p:sldId id="256" r:id="rId2"/>
    <p:sldId id="258" r:id="rId3"/>
    <p:sldId id="259" r:id="rId4"/>
    <p:sldId id="263" r:id="rId5"/>
    <p:sldId id="264" r:id="rId6"/>
    <p:sldId id="268" r:id="rId7"/>
    <p:sldId id="269" r:id="rId8"/>
    <p:sldId id="312" r:id="rId9"/>
    <p:sldId id="257" r:id="rId10"/>
    <p:sldId id="270" r:id="rId11"/>
    <p:sldId id="311" r:id="rId12"/>
    <p:sldId id="272" r:id="rId13"/>
    <p:sldId id="294" r:id="rId14"/>
    <p:sldId id="313" r:id="rId15"/>
    <p:sldId id="314" r:id="rId16"/>
    <p:sldId id="315" r:id="rId17"/>
    <p:sldId id="316" r:id="rId18"/>
    <p:sldId id="309" r:id="rId19"/>
    <p:sldId id="310" r:id="rId20"/>
    <p:sldId id="308" r:id="rId21"/>
    <p:sldId id="274" r:id="rId22"/>
    <p:sldId id="284" r:id="rId23"/>
    <p:sldId id="285" r:id="rId24"/>
    <p:sldId id="297" r:id="rId25"/>
    <p:sldId id="298" r:id="rId26"/>
    <p:sldId id="286" r:id="rId27"/>
    <p:sldId id="287" r:id="rId28"/>
    <p:sldId id="288" r:id="rId29"/>
    <p:sldId id="289" r:id="rId30"/>
    <p:sldId id="295" r:id="rId31"/>
    <p:sldId id="296" r:id="rId32"/>
    <p:sldId id="290" r:id="rId33"/>
    <p:sldId id="299" r:id="rId34"/>
    <p:sldId id="291" r:id="rId35"/>
    <p:sldId id="300" r:id="rId36"/>
    <p:sldId id="301" r:id="rId37"/>
    <p:sldId id="302" r:id="rId38"/>
    <p:sldId id="292" r:id="rId39"/>
    <p:sldId id="293" r:id="rId4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5BD06287-8F13-416F-A335-0B3B8112B94B}">
          <p14:sldIdLst>
            <p14:sldId id="256"/>
            <p14:sldId id="258"/>
            <p14:sldId id="259"/>
            <p14:sldId id="263"/>
            <p14:sldId id="264"/>
            <p14:sldId id="268"/>
            <p14:sldId id="269"/>
            <p14:sldId id="312"/>
            <p14:sldId id="257"/>
            <p14:sldId id="270"/>
            <p14:sldId id="311"/>
            <p14:sldId id="272"/>
            <p14:sldId id="294"/>
            <p14:sldId id="313"/>
            <p14:sldId id="314"/>
            <p14:sldId id="315"/>
            <p14:sldId id="316"/>
            <p14:sldId id="309"/>
            <p14:sldId id="310"/>
            <p14:sldId id="308"/>
            <p14:sldId id="274"/>
          </p14:sldIdLst>
        </p14:section>
        <p14:section name="CI" id="{73459C32-B5DF-463C-86A6-8D98FA4879AC}">
          <p14:sldIdLst>
            <p14:sldId id="284"/>
            <p14:sldId id="285"/>
            <p14:sldId id="297"/>
            <p14:sldId id="298"/>
            <p14:sldId id="286"/>
            <p14:sldId id="287"/>
          </p14:sldIdLst>
        </p14:section>
        <p14:section name="PI" id="{45A586A6-1B33-4090-A7BD-2B20F9A037AE}">
          <p14:sldIdLst>
            <p14:sldId id="288"/>
            <p14:sldId id="289"/>
            <p14:sldId id="295"/>
            <p14:sldId id="296"/>
            <p14:sldId id="290"/>
            <p14:sldId id="299"/>
          </p14:sldIdLst>
        </p14:section>
        <p14:section name="NI" id="{E4B64F91-718A-4FE6-AF7C-16037909AEBB}">
          <p14:sldIdLst>
            <p14:sldId id="291"/>
            <p14:sldId id="300"/>
            <p14:sldId id="301"/>
            <p14:sldId id="302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07" autoAdjust="0"/>
    <p:restoredTop sz="94660"/>
  </p:normalViewPr>
  <p:slideViewPr>
    <p:cSldViewPr snapToGrid="0">
      <p:cViewPr>
        <p:scale>
          <a:sx n="66" d="100"/>
          <a:sy n="66" d="100"/>
        </p:scale>
        <p:origin x="966" y="48"/>
      </p:cViewPr>
      <p:guideLst/>
    </p:cSldViewPr>
  </p:slideViewPr>
  <p:notesTextViewPr>
    <p:cViewPr>
      <p:scale>
        <a:sx n="1" d="1"/>
        <a:sy n="1" d="1"/>
      </p:scale>
      <p:origin x="0" y="-47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36BFA-42D1-49C5-9E02-FBF1B581FD96}" type="datetimeFigureOut">
              <a:rPr kumimoji="1" lang="ja-JP" altLang="en-US" smtClean="0"/>
              <a:t>2021/1/27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9B2D8E-8FE6-4FE4-8522-09623C0916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8072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 smtClean="0"/>
              <a:t>next</a:t>
            </a:r>
            <a:br>
              <a:rPr kumimoji="1" lang="en-US" altLang="ja-JP" dirty="0" smtClean="0"/>
            </a:br>
            <a:r>
              <a:rPr kumimoji="1" lang="en-US" altLang="ja-JP" dirty="0" smtClean="0"/>
              <a:t>1.</a:t>
            </a:r>
            <a:r>
              <a:rPr kumimoji="1" lang="ja-JP" altLang="en-US" dirty="0" smtClean="0"/>
              <a:t>ベータを変更した</a:t>
            </a:r>
            <a:r>
              <a:rPr kumimoji="1" lang="en-US" altLang="ja-JP" dirty="0" smtClean="0"/>
              <a:t>MT-SMS</a:t>
            </a:r>
            <a:br>
              <a:rPr kumimoji="1" lang="en-US" altLang="ja-JP" dirty="0" smtClean="0"/>
            </a:br>
            <a:r>
              <a:rPr kumimoji="1" lang="en-US" altLang="ja-JP" dirty="0" smtClean="0"/>
              <a:t>2.MO-MFEA</a:t>
            </a:r>
            <a:r>
              <a:rPr kumimoji="1" lang="ja-JP" altLang="en-US" dirty="0" smtClean="0"/>
              <a:t>に</a:t>
            </a:r>
            <a:r>
              <a:rPr kumimoji="1" lang="en-US" altLang="ja-JP" dirty="0" smtClean="0"/>
              <a:t>SMS</a:t>
            </a:r>
            <a:r>
              <a:rPr kumimoji="1" lang="ja-JP" altLang="en-US" dirty="0" smtClean="0"/>
              <a:t>適用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できない気がするので，</a:t>
            </a:r>
            <a:r>
              <a:rPr kumimoji="1" lang="en-US" altLang="ja-JP" dirty="0" smtClean="0"/>
              <a:t>MO-MFEA</a:t>
            </a:r>
            <a:r>
              <a:rPr kumimoji="1" lang="ja-JP" altLang="en-US" dirty="0" smtClean="0"/>
              <a:t>の交叉を説明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smtClean="0"/>
              <a:t>3.</a:t>
            </a:r>
            <a:r>
              <a:rPr kumimoji="1" lang="ja-JP" altLang="en-US" dirty="0" smtClean="0"/>
              <a:t>独立探索を多様性度外視で探索</a:t>
            </a:r>
            <a:r>
              <a:rPr kumimoji="1" lang="en-US" altLang="ja-JP" dirty="0" smtClean="0"/>
              <a:t>?</a:t>
            </a:r>
            <a:br>
              <a:rPr kumimoji="1" lang="en-US" altLang="ja-JP" dirty="0" smtClean="0"/>
            </a:br>
            <a:r>
              <a:rPr kumimoji="1" lang="ja-JP" altLang="en-US" smtClean="0"/>
              <a:t>多様性は情報共有で担保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9B2D8E-8FE6-4FE4-8522-09623C09168B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3145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12192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177637"/>
            <a:ext cx="10363200" cy="242282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114800"/>
            <a:ext cx="8534400" cy="27432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304800" y="1365255"/>
            <a:ext cx="195580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4800" y="3125441"/>
            <a:ext cx="195580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04800" y="4724401"/>
            <a:ext cx="195580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438400" y="1368796"/>
            <a:ext cx="94488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438400" y="3125441"/>
            <a:ext cx="94488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2438400" y="4724401"/>
            <a:ext cx="94488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05064" y="191543"/>
            <a:ext cx="46551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01600" y="0"/>
            <a:ext cx="120904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101600" y="570781"/>
            <a:ext cx="120904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01600" y="0"/>
            <a:ext cx="120904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101600" y="570781"/>
            <a:ext cx="120904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25908" y="-102870"/>
            <a:ext cx="12243816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12192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600" y="0"/>
            <a:ext cx="12090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71600"/>
            <a:ext cx="11582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smtClean="0"/>
              <a:t>Similarity-based Mating Scheme</a:t>
            </a:r>
            <a:r>
              <a:rPr kumimoji="1" lang="ja-JP" altLang="en-US" dirty="0" smtClean="0"/>
              <a:t>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取り入れた進化型マルチタスキングの実装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 smtClean="0"/>
              <a:t>瓜田 俊</a:t>
            </a:r>
            <a:r>
              <a:rPr lang="ja-JP" altLang="en-US" dirty="0"/>
              <a:t>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82747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lang="ja-JP" altLang="en-US" sz="4300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複数回のバイナリトーナメントで選ばれた個体から，親個体となる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個体を選択する手法である．</a:t>
            </a:r>
            <a:endParaRPr kumimoji="1" lang="en-US" altLang="ja-JP" dirty="0" smtClean="0"/>
          </a:p>
          <a:p>
            <a:r>
              <a:rPr kumimoji="1" lang="ja-JP" altLang="en-US" dirty="0" smtClean="0"/>
              <a:t>親個体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は目的関数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空間の端</a:t>
            </a:r>
            <a:r>
              <a:rPr kumimoji="1" lang="ja-JP" altLang="en-US" dirty="0" smtClean="0"/>
              <a:t>の方から選択し，親個体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は，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b="1" dirty="0" smtClean="0">
                <a:solidFill>
                  <a:schemeClr val="accent1"/>
                </a:solidFill>
              </a:rPr>
              <a:t>親個体</a:t>
            </a:r>
            <a:r>
              <a:rPr kumimoji="1" lang="en-US" altLang="ja-JP" b="1" dirty="0" smtClean="0">
                <a:solidFill>
                  <a:schemeClr val="accent1"/>
                </a:solidFill>
              </a:rPr>
              <a:t>1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と類似</a:t>
            </a:r>
            <a:r>
              <a:rPr kumimoji="1" lang="ja-JP" altLang="en-US" dirty="0" smtClean="0"/>
              <a:t>した個体を選択する親個体選択方法である．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2147454" y="5845314"/>
            <a:ext cx="7897090" cy="707886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/>
              <a:t>H. </a:t>
            </a:r>
            <a:r>
              <a:rPr lang="en-US" altLang="ja-JP" sz="2000" dirty="0" err="1"/>
              <a:t>Ishibuchi</a:t>
            </a:r>
            <a:r>
              <a:rPr lang="en-US" altLang="ja-JP" sz="2000" dirty="0"/>
              <a:t> and Y. Shibata ,“A similarity-based mating scheme for evolutionary </a:t>
            </a:r>
            <a:r>
              <a:rPr lang="en-US" altLang="ja-JP" sz="2000" dirty="0" err="1"/>
              <a:t>multiobjective</a:t>
            </a:r>
            <a:r>
              <a:rPr lang="en-US" altLang="ja-JP" sz="2000" dirty="0"/>
              <a:t> optimization”, GECCO 2003</a:t>
            </a:r>
          </a:p>
        </p:txBody>
      </p:sp>
    </p:spTree>
    <p:extLst>
      <p:ext uri="{BB962C8B-B14F-4D97-AF65-F5344CB8AC3E}">
        <p14:creationId xmlns:p14="http://schemas.microsoft.com/office/powerpoint/2010/main" val="3563698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lang="ja-JP" altLang="en-US" sz="4300" dirty="0"/>
          </a:p>
        </p:txBody>
      </p:sp>
      <p:sp>
        <p:nvSpPr>
          <p:cNvPr id="16" name="コンテンツ プレースホルダー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Step 1.</a:t>
            </a:r>
          </a:p>
          <a:p>
            <a:r>
              <a:rPr kumimoji="1" lang="ja-JP" altLang="en-US" dirty="0" smtClean="0"/>
              <a:t>バイナリトーナメントを</a:t>
            </a:r>
            <a:r>
              <a:rPr lang="en-US" altLang="ja-JP" i="1" dirty="0" smtClean="0">
                <a:latin typeface="Symbol" panose="05050102010706020507" pitchFamily="18" charset="2"/>
              </a:rPr>
              <a:t>a </a:t>
            </a:r>
            <a:r>
              <a:rPr kumimoji="1" lang="ja-JP" altLang="en-US" dirty="0" smtClean="0"/>
              <a:t>回実行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親個体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の選択方法</a:t>
            </a:r>
            <a:endParaRPr kumimoji="1" lang="ja-JP" altLang="en-US" dirty="0"/>
          </a:p>
        </p:txBody>
      </p:sp>
      <p:sp>
        <p:nvSpPr>
          <p:cNvPr id="9" name="円/楕円 8"/>
          <p:cNvSpPr/>
          <p:nvPr/>
        </p:nvSpPr>
        <p:spPr>
          <a:xfrm>
            <a:off x="4658162" y="3748369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円/楕円 9"/>
          <p:cNvSpPr/>
          <p:nvPr/>
        </p:nvSpPr>
        <p:spPr>
          <a:xfrm>
            <a:off x="7249951" y="5042451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7039162" y="3956187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7" name="フリーフォーム 16"/>
          <p:cNvSpPr/>
          <p:nvPr/>
        </p:nvSpPr>
        <p:spPr>
          <a:xfrm>
            <a:off x="4041570" y="3240955"/>
            <a:ext cx="4108863" cy="2587195"/>
          </a:xfrm>
          <a:custGeom>
            <a:avLst/>
            <a:gdLst>
              <a:gd name="connsiteX0" fmla="*/ 0 w 4108863"/>
              <a:gd name="connsiteY0" fmla="*/ 0 h 2185060"/>
              <a:gd name="connsiteX1" fmla="*/ 0 w 4108863"/>
              <a:gd name="connsiteY1" fmla="*/ 2185060 h 2185060"/>
              <a:gd name="connsiteX2" fmla="*/ 4108863 w 4108863"/>
              <a:gd name="connsiteY2" fmla="*/ 2185060 h 2185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08863" h="2185060">
                <a:moveTo>
                  <a:pt x="0" y="0"/>
                </a:moveTo>
                <a:lnTo>
                  <a:pt x="0" y="2185060"/>
                </a:lnTo>
                <a:lnTo>
                  <a:pt x="4108863" y="2185060"/>
                </a:lnTo>
              </a:path>
            </a:pathLst>
          </a:custGeom>
          <a:noFill/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7323945" y="5946396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ja-JP" sz="2400" baseline="-25000" dirty="0"/>
              <a:t>1</a:t>
            </a:r>
            <a:r>
              <a:rPr lang="en-US" altLang="ja-JP" sz="2400" dirty="0"/>
              <a:t>(</a:t>
            </a:r>
            <a:r>
              <a:rPr lang="en-US" altLang="ja-JP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dirty="0"/>
              <a:t>)</a:t>
            </a:r>
            <a:endParaRPr lang="ja-JP" altLang="en-US" sz="2400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2865087" y="3355596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ja-JP" sz="2400" baseline="-25000" dirty="0"/>
              <a:t>2</a:t>
            </a:r>
            <a:r>
              <a:rPr lang="en-US" altLang="ja-JP" sz="2400" dirty="0"/>
              <a:t>(</a:t>
            </a:r>
            <a:r>
              <a:rPr lang="en-US" altLang="ja-JP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dirty="0"/>
              <a:t>)</a:t>
            </a:r>
            <a:endParaRPr lang="ja-JP" altLang="en-US" sz="2400" dirty="0"/>
          </a:p>
        </p:txBody>
      </p:sp>
      <p:sp>
        <p:nvSpPr>
          <p:cNvPr id="20" name="円/楕円 19"/>
          <p:cNvSpPr/>
          <p:nvPr/>
        </p:nvSpPr>
        <p:spPr>
          <a:xfrm>
            <a:off x="6623525" y="4512452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1" name="円/楕円 20"/>
          <p:cNvSpPr/>
          <p:nvPr/>
        </p:nvSpPr>
        <p:spPr>
          <a:xfrm>
            <a:off x="5804127" y="4928089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4818743" y="6115738"/>
            <a:ext cx="255451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/>
              <a:t>目的関数空間</a:t>
            </a:r>
          </a:p>
        </p:txBody>
      </p:sp>
    </p:spTree>
    <p:extLst>
      <p:ext uri="{BB962C8B-B14F-4D97-AF65-F5344CB8AC3E}">
        <p14:creationId xmlns:p14="http://schemas.microsoft.com/office/powerpoint/2010/main" val="20803333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lang="ja-JP" altLang="en-US" sz="4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コンテンツ プレースホルダー 1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ja-JP" dirty="0" smtClean="0"/>
                  <a:t>Step 2.</a:t>
                </a:r>
              </a:p>
              <a:p>
                <a:r>
                  <a:rPr lang="ja-JP" altLang="en-US" dirty="0"/>
                  <a:t>解</a:t>
                </a:r>
                <a:r>
                  <a:rPr lang="ja-JP" altLang="en-US" dirty="0" smtClean="0"/>
                  <a:t>の平均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ja-JP" b="1" i="1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altLang="ja-JP" b="1" i="1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altLang="ja-JP" dirty="0" smtClean="0"/>
                  <a:t>(</a:t>
                </a:r>
                <a:r>
                  <a:rPr lang="en-US" altLang="ja-JP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dirty="0" smtClean="0"/>
                  <a:t>)</a:t>
                </a:r>
                <a:r>
                  <a:rPr lang="ja-JP" altLang="en-US" dirty="0" smtClean="0"/>
                  <a:t>を導出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16" name="コンテンツ プレースホルダー 1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25" t="-15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親個体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の選択方法</a:t>
            </a:r>
            <a:endParaRPr kumimoji="1" lang="ja-JP" altLang="en-US" dirty="0"/>
          </a:p>
        </p:txBody>
      </p:sp>
      <p:sp>
        <p:nvSpPr>
          <p:cNvPr id="9" name="円/楕円 8"/>
          <p:cNvSpPr/>
          <p:nvPr/>
        </p:nvSpPr>
        <p:spPr>
          <a:xfrm>
            <a:off x="4658162" y="3748369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円/楕円 9"/>
          <p:cNvSpPr/>
          <p:nvPr/>
        </p:nvSpPr>
        <p:spPr>
          <a:xfrm>
            <a:off x="7249951" y="5042451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7039162" y="3956187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0" name="円/楕円 19"/>
          <p:cNvSpPr/>
          <p:nvPr/>
        </p:nvSpPr>
        <p:spPr>
          <a:xfrm>
            <a:off x="6623525" y="4512452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1" name="円/楕円 20"/>
          <p:cNvSpPr/>
          <p:nvPr/>
        </p:nvSpPr>
        <p:spPr>
          <a:xfrm>
            <a:off x="5804127" y="4928089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4" name="円/楕円 13"/>
          <p:cNvSpPr/>
          <p:nvPr/>
        </p:nvSpPr>
        <p:spPr>
          <a:xfrm>
            <a:off x="6169380" y="4511337"/>
            <a:ext cx="193897" cy="193897"/>
          </a:xfrm>
          <a:prstGeom prst="ellipse">
            <a:avLst/>
          </a:prstGeom>
          <a:solidFill>
            <a:schemeClr val="tx1"/>
          </a:solidFill>
          <a:ln w="127000" cmpd="thinThick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/>
              <p:cNvSpPr txBox="1"/>
              <p:nvPr/>
            </p:nvSpPr>
            <p:spPr>
              <a:xfrm>
                <a:off x="5526580" y="3866464"/>
                <a:ext cx="1436914" cy="463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ja-JP" sz="2400" b="1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altLang="ja-JP" sz="2400" b="1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altLang="ja-JP" sz="2400" dirty="0"/>
                  <a:t>(</a:t>
                </a:r>
                <a:r>
                  <a:rPr lang="en-US" altLang="ja-JP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sz="2400" dirty="0"/>
                  <a:t>)</a:t>
                </a:r>
                <a:endParaRPr lang="ja-JP" altLang="en-US" sz="2400" dirty="0"/>
              </a:p>
            </p:txBody>
          </p:sp>
        </mc:Choice>
        <mc:Fallback xmlns="">
          <p:sp>
            <p:nvSpPr>
              <p:cNvPr id="15" name="テキスト ボックス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580" y="3866464"/>
                <a:ext cx="1436914" cy="463332"/>
              </a:xfrm>
              <a:prstGeom prst="rect">
                <a:avLst/>
              </a:prstGeom>
              <a:blipFill rotWithShape="0">
                <a:blip r:embed="rId3"/>
                <a:stretch>
                  <a:fillRect t="-9211" b="-3026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フリーフォーム 22"/>
          <p:cNvSpPr/>
          <p:nvPr/>
        </p:nvSpPr>
        <p:spPr>
          <a:xfrm>
            <a:off x="4041570" y="3240955"/>
            <a:ext cx="4108863" cy="2587195"/>
          </a:xfrm>
          <a:custGeom>
            <a:avLst/>
            <a:gdLst>
              <a:gd name="connsiteX0" fmla="*/ 0 w 4108863"/>
              <a:gd name="connsiteY0" fmla="*/ 0 h 2185060"/>
              <a:gd name="connsiteX1" fmla="*/ 0 w 4108863"/>
              <a:gd name="connsiteY1" fmla="*/ 2185060 h 2185060"/>
              <a:gd name="connsiteX2" fmla="*/ 4108863 w 4108863"/>
              <a:gd name="connsiteY2" fmla="*/ 2185060 h 2185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08863" h="2185060">
                <a:moveTo>
                  <a:pt x="0" y="0"/>
                </a:moveTo>
                <a:lnTo>
                  <a:pt x="0" y="2185060"/>
                </a:lnTo>
                <a:lnTo>
                  <a:pt x="4108863" y="2185060"/>
                </a:lnTo>
              </a:path>
            </a:pathLst>
          </a:custGeom>
          <a:noFill/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7323945" y="5946396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ja-JP" sz="2400" baseline="-25000" dirty="0"/>
              <a:t>1</a:t>
            </a:r>
            <a:r>
              <a:rPr lang="en-US" altLang="ja-JP" sz="2400" dirty="0"/>
              <a:t>(</a:t>
            </a:r>
            <a:r>
              <a:rPr lang="en-US" altLang="ja-JP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dirty="0"/>
              <a:t>)</a:t>
            </a:r>
            <a:endParaRPr lang="ja-JP" altLang="en-US" sz="2400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2865087" y="3355596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ja-JP" sz="2400" baseline="-25000" dirty="0"/>
              <a:t>2</a:t>
            </a:r>
            <a:r>
              <a:rPr lang="en-US" altLang="ja-JP" sz="2400" dirty="0"/>
              <a:t>(</a:t>
            </a:r>
            <a:r>
              <a:rPr lang="en-US" altLang="ja-JP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dirty="0"/>
              <a:t>)</a:t>
            </a:r>
            <a:endParaRPr lang="ja-JP" altLang="en-US" sz="2400" dirty="0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4818743" y="6115738"/>
            <a:ext cx="255451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/>
              <a:t>目的関数空間</a:t>
            </a:r>
          </a:p>
        </p:txBody>
      </p:sp>
    </p:spTree>
    <p:extLst>
      <p:ext uri="{BB962C8B-B14F-4D97-AF65-F5344CB8AC3E}">
        <p14:creationId xmlns:p14="http://schemas.microsoft.com/office/powerpoint/2010/main" val="3267202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lang="ja-JP" altLang="en-US" sz="4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コンテンツ プレースホルダー 1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ja-JP" dirty="0" smtClean="0"/>
                  <a:t>Step 3.</a:t>
                </a:r>
              </a:p>
              <a:p>
                <a:r>
                  <a:rPr lang="ja-JP" altLang="en-US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ja-JP" b="1" i="1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  <m:r>
                          <a:rPr lang="en-US" altLang="ja-JP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altLang="ja-JP" dirty="0" smtClean="0"/>
                  <a:t>(</a:t>
                </a:r>
                <a:r>
                  <a:rPr lang="en-US" altLang="ja-JP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dirty="0" smtClean="0"/>
                  <a:t>)</a:t>
                </a:r>
                <a:r>
                  <a:rPr lang="ja-JP" altLang="en-US" dirty="0" smtClean="0"/>
                  <a:t>から再遠方の解を選択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16" name="コンテンツ プレースホルダー 1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25" t="-15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親個体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の選択方法</a:t>
            </a:r>
            <a:endParaRPr kumimoji="1" lang="ja-JP" altLang="en-US" dirty="0"/>
          </a:p>
        </p:txBody>
      </p:sp>
      <p:grpSp>
        <p:nvGrpSpPr>
          <p:cNvPr id="2" name="グループ化 1"/>
          <p:cNvGrpSpPr/>
          <p:nvPr/>
        </p:nvGrpSpPr>
        <p:grpSpPr>
          <a:xfrm>
            <a:off x="2865087" y="3045282"/>
            <a:ext cx="5895772" cy="3593676"/>
            <a:chOff x="2865087" y="3045282"/>
            <a:chExt cx="5895772" cy="3593676"/>
          </a:xfrm>
        </p:grpSpPr>
        <p:cxnSp>
          <p:nvCxnSpPr>
            <p:cNvPr id="30" name="直線コネクタ 29"/>
            <p:cNvCxnSpPr/>
            <p:nvPr/>
          </p:nvCxnSpPr>
          <p:spPr>
            <a:xfrm>
              <a:off x="4853483" y="3904644"/>
              <a:ext cx="1245421" cy="631018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コネクタ 27"/>
            <p:cNvCxnSpPr/>
            <p:nvPr/>
          </p:nvCxnSpPr>
          <p:spPr>
            <a:xfrm flipV="1">
              <a:off x="6426977" y="4094521"/>
              <a:ext cx="702607" cy="408207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コネクタ 21"/>
            <p:cNvCxnSpPr/>
            <p:nvPr/>
          </p:nvCxnSpPr>
          <p:spPr>
            <a:xfrm>
              <a:off x="6451698" y="4605361"/>
              <a:ext cx="313771" cy="49035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直線コネクタ 2"/>
            <p:cNvCxnSpPr/>
            <p:nvPr/>
          </p:nvCxnSpPr>
          <p:spPr>
            <a:xfrm flipH="1">
              <a:off x="6012345" y="4754178"/>
              <a:ext cx="151336" cy="201129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円/楕円 8"/>
            <p:cNvSpPr/>
            <p:nvPr/>
          </p:nvSpPr>
          <p:spPr>
            <a:xfrm>
              <a:off x="4658162" y="3748369"/>
              <a:ext cx="283886" cy="28388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0" name="円/楕円 9"/>
            <p:cNvSpPr/>
            <p:nvPr/>
          </p:nvSpPr>
          <p:spPr>
            <a:xfrm>
              <a:off x="7249951" y="5042451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1" name="円/楕円 10"/>
            <p:cNvSpPr/>
            <p:nvPr/>
          </p:nvSpPr>
          <p:spPr>
            <a:xfrm>
              <a:off x="7039162" y="3956187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0" name="円/楕円 19"/>
            <p:cNvSpPr/>
            <p:nvPr/>
          </p:nvSpPr>
          <p:spPr>
            <a:xfrm>
              <a:off x="6623525" y="4512452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1" name="円/楕円 20"/>
            <p:cNvSpPr/>
            <p:nvPr/>
          </p:nvSpPr>
          <p:spPr>
            <a:xfrm>
              <a:off x="5804127" y="4928089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4" name="円/楕円 13"/>
            <p:cNvSpPr/>
            <p:nvPr/>
          </p:nvSpPr>
          <p:spPr>
            <a:xfrm>
              <a:off x="6169380" y="4511337"/>
              <a:ext cx="193897" cy="193897"/>
            </a:xfrm>
            <a:prstGeom prst="ellipse">
              <a:avLst/>
            </a:prstGeom>
            <a:solidFill>
              <a:schemeClr val="tx1"/>
            </a:solidFill>
            <a:ln w="127000" cmpd="thinThick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4367213" y="3045282"/>
              <a:ext cx="1436914" cy="83099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dirty="0"/>
                <a:t>親個体</a:t>
              </a:r>
              <a:r>
                <a:rPr lang="en-US" altLang="ja-JP" sz="2400" dirty="0"/>
                <a:t/>
              </a:r>
              <a:br>
                <a:rPr lang="en-US" altLang="ja-JP" sz="2400" dirty="0"/>
              </a:br>
              <a:r>
                <a:rPr lang="en-US" altLang="ja-JP" sz="2400" dirty="0"/>
                <a:t>1</a:t>
              </a:r>
              <a:endParaRPr lang="ja-JP" altLang="en-US" sz="2400" dirty="0"/>
            </a:p>
          </p:txBody>
        </p:sp>
        <p:cxnSp>
          <p:nvCxnSpPr>
            <p:cNvPr id="24" name="直線コネクタ 23"/>
            <p:cNvCxnSpPr/>
            <p:nvPr/>
          </p:nvCxnSpPr>
          <p:spPr>
            <a:xfrm>
              <a:off x="6415444" y="4698251"/>
              <a:ext cx="860712" cy="414101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フリーフォーム 33"/>
            <p:cNvSpPr/>
            <p:nvPr/>
          </p:nvSpPr>
          <p:spPr>
            <a:xfrm>
              <a:off x="4041570" y="3240955"/>
              <a:ext cx="4108863" cy="2587195"/>
            </a:xfrm>
            <a:custGeom>
              <a:avLst/>
              <a:gdLst>
                <a:gd name="connsiteX0" fmla="*/ 0 w 4108863"/>
                <a:gd name="connsiteY0" fmla="*/ 0 h 2185060"/>
                <a:gd name="connsiteX1" fmla="*/ 0 w 4108863"/>
                <a:gd name="connsiteY1" fmla="*/ 2185060 h 2185060"/>
                <a:gd name="connsiteX2" fmla="*/ 4108863 w 4108863"/>
                <a:gd name="connsiteY2" fmla="*/ 2185060 h 218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8863" h="2185060">
                  <a:moveTo>
                    <a:pt x="0" y="0"/>
                  </a:moveTo>
                  <a:lnTo>
                    <a:pt x="0" y="2185060"/>
                  </a:lnTo>
                  <a:lnTo>
                    <a:pt x="4108863" y="2185060"/>
                  </a:lnTo>
                </a:path>
              </a:pathLst>
            </a:custGeom>
            <a:noFill/>
            <a:ln w="762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5" name="テキスト ボックス 34"/>
            <p:cNvSpPr txBox="1"/>
            <p:nvPr/>
          </p:nvSpPr>
          <p:spPr>
            <a:xfrm>
              <a:off x="7323945" y="5946396"/>
              <a:ext cx="1436914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ja-JP" sz="2400" baseline="-25000" dirty="0"/>
                <a:t>1</a:t>
              </a:r>
              <a:r>
                <a:rPr lang="en-US" altLang="ja-JP" sz="2400" dirty="0"/>
                <a:t>(</a:t>
              </a:r>
              <a:r>
                <a:rPr lang="en-US" altLang="ja-JP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400" dirty="0"/>
                <a:t>)</a:t>
              </a:r>
              <a:endParaRPr lang="ja-JP" altLang="en-US" sz="2400" dirty="0"/>
            </a:p>
          </p:txBody>
        </p:sp>
        <p:sp>
          <p:nvSpPr>
            <p:cNvPr id="36" name="テキスト ボックス 35"/>
            <p:cNvSpPr txBox="1"/>
            <p:nvPr/>
          </p:nvSpPr>
          <p:spPr>
            <a:xfrm>
              <a:off x="2865087" y="3355596"/>
              <a:ext cx="1436914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ja-JP" sz="2400" baseline="-25000" dirty="0"/>
                <a:t>2</a:t>
              </a:r>
              <a:r>
                <a:rPr lang="en-US" altLang="ja-JP" sz="2400" dirty="0"/>
                <a:t>(</a:t>
              </a:r>
              <a:r>
                <a:rPr lang="en-US" altLang="ja-JP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400" dirty="0"/>
                <a:t>)</a:t>
              </a:r>
              <a:endParaRPr lang="ja-JP" altLang="en-US" sz="2400" dirty="0"/>
            </a:p>
          </p:txBody>
        </p:sp>
        <p:sp>
          <p:nvSpPr>
            <p:cNvPr id="37" name="テキスト ボックス 36"/>
            <p:cNvSpPr txBox="1"/>
            <p:nvPr/>
          </p:nvSpPr>
          <p:spPr>
            <a:xfrm>
              <a:off x="4818743" y="6115738"/>
              <a:ext cx="2554514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/>
                <a:t>目的関数空間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58452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lang="ja-JP" altLang="en-US" sz="4300" dirty="0"/>
          </a:p>
        </p:txBody>
      </p:sp>
      <p:sp>
        <p:nvSpPr>
          <p:cNvPr id="16" name="コンテンツ プレースホルダー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Step 1.</a:t>
            </a:r>
          </a:p>
          <a:p>
            <a:r>
              <a:rPr kumimoji="1" lang="ja-JP" altLang="en-US" dirty="0" smtClean="0"/>
              <a:t>バイナリトーナメントを</a:t>
            </a:r>
            <a:r>
              <a:rPr lang="en-US" altLang="ja-JP" i="1" dirty="0" smtClean="0">
                <a:latin typeface="Symbol" panose="05050102010706020507" pitchFamily="18" charset="2"/>
              </a:rPr>
              <a:t>b </a:t>
            </a:r>
            <a:r>
              <a:rPr kumimoji="1" lang="ja-JP" altLang="en-US" dirty="0" smtClean="0"/>
              <a:t>回実行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親個体</a:t>
            </a:r>
            <a:r>
              <a:rPr lang="en-US" altLang="ja-JP" dirty="0"/>
              <a:t>2</a:t>
            </a:r>
            <a:r>
              <a:rPr kumimoji="1" lang="ja-JP" altLang="en-US" dirty="0" smtClean="0"/>
              <a:t>の選択方法</a:t>
            </a:r>
            <a:endParaRPr kumimoji="1" lang="ja-JP" altLang="en-US" dirty="0"/>
          </a:p>
        </p:txBody>
      </p:sp>
      <p:sp>
        <p:nvSpPr>
          <p:cNvPr id="9" name="円/楕円 8"/>
          <p:cNvSpPr/>
          <p:nvPr/>
        </p:nvSpPr>
        <p:spPr>
          <a:xfrm>
            <a:off x="4421844" y="4250665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円/楕円 9"/>
          <p:cNvSpPr/>
          <p:nvPr/>
        </p:nvSpPr>
        <p:spPr>
          <a:xfrm>
            <a:off x="7231314" y="4175197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6716437" y="4742969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7" name="フリーフォーム 16"/>
          <p:cNvSpPr/>
          <p:nvPr/>
        </p:nvSpPr>
        <p:spPr>
          <a:xfrm>
            <a:off x="4041570" y="3240955"/>
            <a:ext cx="4108863" cy="2587195"/>
          </a:xfrm>
          <a:custGeom>
            <a:avLst/>
            <a:gdLst>
              <a:gd name="connsiteX0" fmla="*/ 0 w 4108863"/>
              <a:gd name="connsiteY0" fmla="*/ 0 h 2185060"/>
              <a:gd name="connsiteX1" fmla="*/ 0 w 4108863"/>
              <a:gd name="connsiteY1" fmla="*/ 2185060 h 2185060"/>
              <a:gd name="connsiteX2" fmla="*/ 4108863 w 4108863"/>
              <a:gd name="connsiteY2" fmla="*/ 2185060 h 2185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08863" h="2185060">
                <a:moveTo>
                  <a:pt x="0" y="0"/>
                </a:moveTo>
                <a:lnTo>
                  <a:pt x="0" y="2185060"/>
                </a:lnTo>
                <a:lnTo>
                  <a:pt x="4108863" y="2185060"/>
                </a:lnTo>
              </a:path>
            </a:pathLst>
          </a:custGeom>
          <a:noFill/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7323945" y="5946396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baseline="-25000" dirty="0"/>
              <a:t>1</a:t>
            </a:r>
            <a:endParaRPr lang="ja-JP" altLang="en-US" sz="2400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2865087" y="3355596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baseline="-25000" dirty="0"/>
              <a:t>2</a:t>
            </a:r>
            <a:endParaRPr lang="ja-JP" altLang="en-US" sz="2400" dirty="0"/>
          </a:p>
        </p:txBody>
      </p:sp>
      <p:sp>
        <p:nvSpPr>
          <p:cNvPr id="20" name="円/楕円 19"/>
          <p:cNvSpPr/>
          <p:nvPr/>
        </p:nvSpPr>
        <p:spPr>
          <a:xfrm>
            <a:off x="5850214" y="4459083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1" name="円/楕円 20"/>
          <p:cNvSpPr/>
          <p:nvPr/>
        </p:nvSpPr>
        <p:spPr>
          <a:xfrm>
            <a:off x="5182391" y="5110335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4818743" y="6115738"/>
            <a:ext cx="255451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/>
              <a:t>決定変数空間</a:t>
            </a:r>
          </a:p>
        </p:txBody>
      </p:sp>
    </p:spTree>
    <p:extLst>
      <p:ext uri="{BB962C8B-B14F-4D97-AF65-F5344CB8AC3E}">
        <p14:creationId xmlns:p14="http://schemas.microsoft.com/office/powerpoint/2010/main" val="1217865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lang="ja-JP" altLang="en-US" sz="4300" dirty="0"/>
          </a:p>
        </p:txBody>
      </p:sp>
      <p:sp>
        <p:nvSpPr>
          <p:cNvPr id="16" name="コンテンツ プレースホルダー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Step 2.</a:t>
            </a:r>
          </a:p>
          <a:p>
            <a:r>
              <a:rPr lang="ja-JP" altLang="en-US" dirty="0" smtClean="0"/>
              <a:t>親個体</a:t>
            </a:r>
            <a:r>
              <a:rPr lang="en-US" altLang="ja-JP" dirty="0" smtClean="0"/>
              <a:t>1</a:t>
            </a:r>
            <a:r>
              <a:rPr lang="ja-JP" altLang="en-US" dirty="0" smtClean="0"/>
              <a:t>と最近傍の解を選択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親個体</a:t>
            </a:r>
            <a:r>
              <a:rPr lang="en-US" altLang="ja-JP" dirty="0"/>
              <a:t>2</a:t>
            </a:r>
            <a:r>
              <a:rPr kumimoji="1" lang="ja-JP" altLang="en-US" dirty="0" smtClean="0"/>
              <a:t>の選択方法</a:t>
            </a:r>
            <a:endParaRPr kumimoji="1" lang="ja-JP" altLang="en-US" dirty="0"/>
          </a:p>
        </p:txBody>
      </p:sp>
      <p:grpSp>
        <p:nvGrpSpPr>
          <p:cNvPr id="2" name="グループ化 1"/>
          <p:cNvGrpSpPr/>
          <p:nvPr/>
        </p:nvGrpSpPr>
        <p:grpSpPr>
          <a:xfrm>
            <a:off x="2865087" y="3045282"/>
            <a:ext cx="5895772" cy="3593676"/>
            <a:chOff x="2865087" y="3045282"/>
            <a:chExt cx="5895772" cy="3593676"/>
          </a:xfrm>
        </p:grpSpPr>
        <p:cxnSp>
          <p:nvCxnSpPr>
            <p:cNvPr id="26" name="直線コネクタ 25"/>
            <p:cNvCxnSpPr/>
            <p:nvPr/>
          </p:nvCxnSpPr>
          <p:spPr>
            <a:xfrm>
              <a:off x="4946842" y="3847329"/>
              <a:ext cx="2455415" cy="461912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コネクタ 26"/>
            <p:cNvCxnSpPr/>
            <p:nvPr/>
          </p:nvCxnSpPr>
          <p:spPr>
            <a:xfrm>
              <a:off x="4953404" y="3896018"/>
              <a:ext cx="1896358" cy="970673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/>
            <p:cNvCxnSpPr/>
            <p:nvPr/>
          </p:nvCxnSpPr>
          <p:spPr>
            <a:xfrm>
              <a:off x="4940305" y="3949052"/>
              <a:ext cx="1059473" cy="659594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コネクタ 27"/>
            <p:cNvCxnSpPr/>
            <p:nvPr/>
          </p:nvCxnSpPr>
          <p:spPr>
            <a:xfrm>
              <a:off x="4816931" y="4012316"/>
              <a:ext cx="480686" cy="1194242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コネクタ 28"/>
            <p:cNvCxnSpPr/>
            <p:nvPr/>
          </p:nvCxnSpPr>
          <p:spPr>
            <a:xfrm flipH="1">
              <a:off x="4542813" y="4005426"/>
              <a:ext cx="139577" cy="427525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円/楕円 8"/>
            <p:cNvSpPr/>
            <p:nvPr/>
          </p:nvSpPr>
          <p:spPr>
            <a:xfrm>
              <a:off x="4421844" y="4250665"/>
              <a:ext cx="283886" cy="28388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0" name="円/楕円 9"/>
            <p:cNvSpPr/>
            <p:nvPr/>
          </p:nvSpPr>
          <p:spPr>
            <a:xfrm>
              <a:off x="7231314" y="4175197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1" name="円/楕円 10"/>
            <p:cNvSpPr/>
            <p:nvPr/>
          </p:nvSpPr>
          <p:spPr>
            <a:xfrm>
              <a:off x="6716437" y="4742969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7" name="フリーフォーム 16"/>
            <p:cNvSpPr/>
            <p:nvPr/>
          </p:nvSpPr>
          <p:spPr>
            <a:xfrm>
              <a:off x="4041570" y="3240955"/>
              <a:ext cx="4108863" cy="2587195"/>
            </a:xfrm>
            <a:custGeom>
              <a:avLst/>
              <a:gdLst>
                <a:gd name="connsiteX0" fmla="*/ 0 w 4108863"/>
                <a:gd name="connsiteY0" fmla="*/ 0 h 2185060"/>
                <a:gd name="connsiteX1" fmla="*/ 0 w 4108863"/>
                <a:gd name="connsiteY1" fmla="*/ 2185060 h 2185060"/>
                <a:gd name="connsiteX2" fmla="*/ 4108863 w 4108863"/>
                <a:gd name="connsiteY2" fmla="*/ 2185060 h 218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8863" h="2185060">
                  <a:moveTo>
                    <a:pt x="0" y="0"/>
                  </a:moveTo>
                  <a:lnTo>
                    <a:pt x="0" y="2185060"/>
                  </a:lnTo>
                  <a:lnTo>
                    <a:pt x="4108863" y="2185060"/>
                  </a:lnTo>
                </a:path>
              </a:pathLst>
            </a:custGeom>
            <a:noFill/>
            <a:ln w="762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7323945" y="5946396"/>
              <a:ext cx="1436914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400" baseline="-25000" dirty="0"/>
                <a:t>1</a:t>
              </a:r>
              <a:endParaRPr lang="ja-JP" altLang="en-US" sz="2400" dirty="0"/>
            </a:p>
          </p:txBody>
        </p:sp>
        <p:sp>
          <p:nvSpPr>
            <p:cNvPr id="19" name="テキスト ボックス 18"/>
            <p:cNvSpPr txBox="1"/>
            <p:nvPr/>
          </p:nvSpPr>
          <p:spPr>
            <a:xfrm>
              <a:off x="2865087" y="3355596"/>
              <a:ext cx="1436914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400" baseline="-25000" dirty="0"/>
                <a:t>2</a:t>
              </a:r>
              <a:endParaRPr lang="ja-JP" altLang="en-US" sz="2400" dirty="0"/>
            </a:p>
          </p:txBody>
        </p:sp>
        <p:sp>
          <p:nvSpPr>
            <p:cNvPr id="20" name="円/楕円 19"/>
            <p:cNvSpPr/>
            <p:nvPr/>
          </p:nvSpPr>
          <p:spPr>
            <a:xfrm>
              <a:off x="5850214" y="4459083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1" name="円/楕円 20"/>
            <p:cNvSpPr/>
            <p:nvPr/>
          </p:nvSpPr>
          <p:spPr>
            <a:xfrm>
              <a:off x="5182391" y="5110335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2" name="テキスト ボックス 21"/>
            <p:cNvSpPr txBox="1"/>
            <p:nvPr/>
          </p:nvSpPr>
          <p:spPr>
            <a:xfrm>
              <a:off x="4818743" y="6115738"/>
              <a:ext cx="2554514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/>
                <a:t>決定変数空間</a:t>
              </a:r>
            </a:p>
          </p:txBody>
        </p:sp>
        <p:sp>
          <p:nvSpPr>
            <p:cNvPr id="15" name="円/楕円 14"/>
            <p:cNvSpPr/>
            <p:nvPr/>
          </p:nvSpPr>
          <p:spPr>
            <a:xfrm>
              <a:off x="4658162" y="3748369"/>
              <a:ext cx="194400" cy="194400"/>
            </a:xfrm>
            <a:prstGeom prst="ellipse">
              <a:avLst/>
            </a:prstGeom>
            <a:solidFill>
              <a:schemeClr val="tx1"/>
            </a:solidFill>
            <a:ln w="127000" cmpd="thinThick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4" name="テキスト ボックス 23"/>
            <p:cNvSpPr txBox="1"/>
            <p:nvPr/>
          </p:nvSpPr>
          <p:spPr>
            <a:xfrm>
              <a:off x="4038900" y="4577277"/>
              <a:ext cx="1195088" cy="83099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0" rtlCol="0">
              <a:spAutoFit/>
            </a:bodyPr>
            <a:lstStyle/>
            <a:p>
              <a:pPr algn="ctr"/>
              <a:r>
                <a:rPr lang="ja-JP" altLang="en-US" sz="2400" dirty="0"/>
                <a:t>親個体</a:t>
              </a:r>
              <a:r>
                <a:rPr lang="en-US" altLang="ja-JP" sz="2400" dirty="0"/>
                <a:t/>
              </a:r>
              <a:br>
                <a:rPr lang="en-US" altLang="ja-JP" sz="2400" dirty="0"/>
              </a:br>
              <a:r>
                <a:rPr lang="en-US" altLang="ja-JP" sz="2400" dirty="0"/>
                <a:t>2</a:t>
              </a:r>
              <a:endParaRPr lang="ja-JP" altLang="en-US" sz="2400" dirty="0"/>
            </a:p>
          </p:txBody>
        </p:sp>
        <p:sp>
          <p:nvSpPr>
            <p:cNvPr id="30" name="テキスト ボックス 29"/>
            <p:cNvSpPr txBox="1"/>
            <p:nvPr/>
          </p:nvSpPr>
          <p:spPr>
            <a:xfrm>
              <a:off x="4367213" y="3045282"/>
              <a:ext cx="1436914" cy="83099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dirty="0"/>
                <a:t>親個体</a:t>
              </a:r>
              <a:r>
                <a:rPr lang="en-US" altLang="ja-JP" sz="2400" dirty="0"/>
                <a:t/>
              </a:r>
              <a:br>
                <a:rPr lang="en-US" altLang="ja-JP" sz="2400" dirty="0"/>
              </a:br>
              <a:r>
                <a:rPr lang="en-US" altLang="ja-JP" sz="2400" dirty="0"/>
                <a:t>1</a:t>
              </a:r>
              <a:endParaRPr lang="ja-JP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19225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lang="ja-JP" altLang="en-US" sz="4300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複数回のバイナリトーナメントで選ばれた個体から，親個体となる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個体を選択する手法である．</a:t>
            </a:r>
            <a:endParaRPr kumimoji="1" lang="en-US" altLang="ja-JP" dirty="0" smtClean="0"/>
          </a:p>
          <a:p>
            <a:r>
              <a:rPr kumimoji="1" lang="ja-JP" altLang="en-US" dirty="0" smtClean="0"/>
              <a:t>親個体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は目的関数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空間の端</a:t>
            </a:r>
            <a:r>
              <a:rPr kumimoji="1" lang="ja-JP" altLang="en-US" dirty="0" smtClean="0"/>
              <a:t>の方から選択し，親個体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は，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b="1" dirty="0" smtClean="0">
                <a:solidFill>
                  <a:schemeClr val="accent1"/>
                </a:solidFill>
              </a:rPr>
              <a:t>親個体</a:t>
            </a:r>
            <a:r>
              <a:rPr kumimoji="1" lang="en-US" altLang="ja-JP" b="1" dirty="0" smtClean="0">
                <a:solidFill>
                  <a:schemeClr val="accent1"/>
                </a:solidFill>
              </a:rPr>
              <a:t>1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と類似</a:t>
            </a:r>
            <a:r>
              <a:rPr kumimoji="1" lang="ja-JP" altLang="en-US" dirty="0" smtClean="0"/>
              <a:t>した個体を</a:t>
            </a:r>
            <a:r>
              <a:rPr kumimoji="1" lang="ja-JP" altLang="en-US" dirty="0" smtClean="0"/>
              <a:t>選択．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grpSp>
        <p:nvGrpSpPr>
          <p:cNvPr id="8" name="グループ化 7"/>
          <p:cNvGrpSpPr>
            <a:grpSpLocks noChangeAspect="1"/>
          </p:cNvGrpSpPr>
          <p:nvPr/>
        </p:nvGrpSpPr>
        <p:grpSpPr>
          <a:xfrm>
            <a:off x="717763" y="3678259"/>
            <a:ext cx="4716618" cy="2874941"/>
            <a:chOff x="2865087" y="3045282"/>
            <a:chExt cx="5895772" cy="3593676"/>
          </a:xfrm>
        </p:grpSpPr>
        <p:cxnSp>
          <p:nvCxnSpPr>
            <p:cNvPr id="9" name="直線コネクタ 8"/>
            <p:cNvCxnSpPr/>
            <p:nvPr/>
          </p:nvCxnSpPr>
          <p:spPr>
            <a:xfrm>
              <a:off x="4853483" y="3904644"/>
              <a:ext cx="1245421" cy="631018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コネクタ 9"/>
            <p:cNvCxnSpPr/>
            <p:nvPr/>
          </p:nvCxnSpPr>
          <p:spPr>
            <a:xfrm flipV="1">
              <a:off x="6426977" y="4094521"/>
              <a:ext cx="702607" cy="408207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コネクタ 10"/>
            <p:cNvCxnSpPr/>
            <p:nvPr/>
          </p:nvCxnSpPr>
          <p:spPr>
            <a:xfrm>
              <a:off x="6451698" y="4605361"/>
              <a:ext cx="313771" cy="49035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/>
            <p:cNvCxnSpPr/>
            <p:nvPr/>
          </p:nvCxnSpPr>
          <p:spPr>
            <a:xfrm flipH="1">
              <a:off x="6012345" y="4754178"/>
              <a:ext cx="151336" cy="201129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円/楕円 12"/>
            <p:cNvSpPr/>
            <p:nvPr/>
          </p:nvSpPr>
          <p:spPr>
            <a:xfrm>
              <a:off x="4658162" y="3748369"/>
              <a:ext cx="283886" cy="28388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4" name="円/楕円 13"/>
            <p:cNvSpPr/>
            <p:nvPr/>
          </p:nvSpPr>
          <p:spPr>
            <a:xfrm>
              <a:off x="7249951" y="5042451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5" name="円/楕円 14"/>
            <p:cNvSpPr/>
            <p:nvPr/>
          </p:nvSpPr>
          <p:spPr>
            <a:xfrm>
              <a:off x="7039162" y="3956187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6" name="円/楕円 15"/>
            <p:cNvSpPr/>
            <p:nvPr/>
          </p:nvSpPr>
          <p:spPr>
            <a:xfrm>
              <a:off x="6623525" y="4512452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7" name="円/楕円 16"/>
            <p:cNvSpPr/>
            <p:nvPr/>
          </p:nvSpPr>
          <p:spPr>
            <a:xfrm>
              <a:off x="5804127" y="4928089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8" name="円/楕円 17"/>
            <p:cNvSpPr/>
            <p:nvPr/>
          </p:nvSpPr>
          <p:spPr>
            <a:xfrm>
              <a:off x="6169380" y="4511337"/>
              <a:ext cx="193897" cy="193897"/>
            </a:xfrm>
            <a:prstGeom prst="ellipse">
              <a:avLst/>
            </a:prstGeom>
            <a:solidFill>
              <a:schemeClr val="tx1"/>
            </a:solidFill>
            <a:ln w="127000" cmpd="thinThick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9" name="テキスト ボックス 18"/>
            <p:cNvSpPr txBox="1"/>
            <p:nvPr/>
          </p:nvSpPr>
          <p:spPr>
            <a:xfrm>
              <a:off x="4058783" y="3045282"/>
              <a:ext cx="1821964" cy="57708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dirty="0"/>
                <a:t>親</a:t>
              </a:r>
              <a:r>
                <a:rPr lang="ja-JP" altLang="en-US" sz="2400" dirty="0" smtClean="0"/>
                <a:t>個体</a:t>
              </a:r>
              <a:r>
                <a:rPr lang="en-US" altLang="ja-JP" sz="2400" dirty="0" smtClean="0"/>
                <a:t>1</a:t>
              </a:r>
              <a:endParaRPr lang="ja-JP" altLang="en-US" sz="2400" dirty="0"/>
            </a:p>
          </p:txBody>
        </p:sp>
        <p:cxnSp>
          <p:nvCxnSpPr>
            <p:cNvPr id="20" name="直線コネクタ 19"/>
            <p:cNvCxnSpPr/>
            <p:nvPr/>
          </p:nvCxnSpPr>
          <p:spPr>
            <a:xfrm>
              <a:off x="6415444" y="4698251"/>
              <a:ext cx="860712" cy="414101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フリーフォーム 20"/>
            <p:cNvSpPr/>
            <p:nvPr/>
          </p:nvSpPr>
          <p:spPr>
            <a:xfrm>
              <a:off x="4041570" y="3240955"/>
              <a:ext cx="4108863" cy="2587195"/>
            </a:xfrm>
            <a:custGeom>
              <a:avLst/>
              <a:gdLst>
                <a:gd name="connsiteX0" fmla="*/ 0 w 4108863"/>
                <a:gd name="connsiteY0" fmla="*/ 0 h 2185060"/>
                <a:gd name="connsiteX1" fmla="*/ 0 w 4108863"/>
                <a:gd name="connsiteY1" fmla="*/ 2185060 h 2185060"/>
                <a:gd name="connsiteX2" fmla="*/ 4108863 w 4108863"/>
                <a:gd name="connsiteY2" fmla="*/ 2185060 h 218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8863" h="2185060">
                  <a:moveTo>
                    <a:pt x="0" y="0"/>
                  </a:moveTo>
                  <a:lnTo>
                    <a:pt x="0" y="2185060"/>
                  </a:lnTo>
                  <a:lnTo>
                    <a:pt x="4108863" y="2185060"/>
                  </a:lnTo>
                </a:path>
              </a:pathLst>
            </a:custGeom>
            <a:noFill/>
            <a:ln w="762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2" name="テキスト ボックス 21"/>
            <p:cNvSpPr txBox="1"/>
            <p:nvPr/>
          </p:nvSpPr>
          <p:spPr>
            <a:xfrm>
              <a:off x="7323945" y="5946396"/>
              <a:ext cx="1436914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ja-JP" sz="2400" baseline="-25000" dirty="0"/>
                <a:t>1</a:t>
              </a:r>
              <a:r>
                <a:rPr lang="en-US" altLang="ja-JP" sz="2400" dirty="0"/>
                <a:t>(</a:t>
              </a:r>
              <a:r>
                <a:rPr lang="en-US" altLang="ja-JP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400" dirty="0"/>
                <a:t>)</a:t>
              </a:r>
              <a:endParaRPr lang="ja-JP" altLang="en-US" sz="2400" dirty="0"/>
            </a:p>
          </p:txBody>
        </p:sp>
        <p:sp>
          <p:nvSpPr>
            <p:cNvPr id="23" name="テキスト ボックス 22"/>
            <p:cNvSpPr txBox="1"/>
            <p:nvPr/>
          </p:nvSpPr>
          <p:spPr>
            <a:xfrm>
              <a:off x="2865087" y="3355596"/>
              <a:ext cx="1436914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ja-JP" sz="2400" baseline="-25000" dirty="0"/>
                <a:t>2</a:t>
              </a:r>
              <a:r>
                <a:rPr lang="en-US" altLang="ja-JP" sz="2400" dirty="0"/>
                <a:t>(</a:t>
              </a:r>
              <a:r>
                <a:rPr lang="en-US" altLang="ja-JP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400" dirty="0"/>
                <a:t>)</a:t>
              </a:r>
              <a:endParaRPr lang="ja-JP" altLang="en-US" sz="2400" dirty="0"/>
            </a:p>
          </p:txBody>
        </p:sp>
        <p:sp>
          <p:nvSpPr>
            <p:cNvPr id="24" name="テキスト ボックス 23"/>
            <p:cNvSpPr txBox="1"/>
            <p:nvPr/>
          </p:nvSpPr>
          <p:spPr>
            <a:xfrm>
              <a:off x="4550519" y="6115738"/>
              <a:ext cx="3090961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/>
                <a:t>目的関数空間</a:t>
              </a:r>
            </a:p>
          </p:txBody>
        </p:sp>
      </p:grpSp>
      <p:grpSp>
        <p:nvGrpSpPr>
          <p:cNvPr id="25" name="グループ化 24"/>
          <p:cNvGrpSpPr>
            <a:grpSpLocks noChangeAspect="1"/>
          </p:cNvGrpSpPr>
          <p:nvPr/>
        </p:nvGrpSpPr>
        <p:grpSpPr>
          <a:xfrm>
            <a:off x="6757619" y="3678259"/>
            <a:ext cx="4716618" cy="2874941"/>
            <a:chOff x="2865087" y="3045282"/>
            <a:chExt cx="5895772" cy="3593676"/>
          </a:xfrm>
        </p:grpSpPr>
        <p:cxnSp>
          <p:nvCxnSpPr>
            <p:cNvPr id="26" name="直線コネクタ 25"/>
            <p:cNvCxnSpPr/>
            <p:nvPr/>
          </p:nvCxnSpPr>
          <p:spPr>
            <a:xfrm>
              <a:off x="4946842" y="3847329"/>
              <a:ext cx="2455415" cy="461912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コネクタ 26"/>
            <p:cNvCxnSpPr/>
            <p:nvPr/>
          </p:nvCxnSpPr>
          <p:spPr>
            <a:xfrm>
              <a:off x="4953404" y="3896018"/>
              <a:ext cx="1896358" cy="970673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コネクタ 27"/>
            <p:cNvCxnSpPr/>
            <p:nvPr/>
          </p:nvCxnSpPr>
          <p:spPr>
            <a:xfrm>
              <a:off x="4940305" y="3949052"/>
              <a:ext cx="1059473" cy="659594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コネクタ 28"/>
            <p:cNvCxnSpPr/>
            <p:nvPr/>
          </p:nvCxnSpPr>
          <p:spPr>
            <a:xfrm>
              <a:off x="4816931" y="4012316"/>
              <a:ext cx="480686" cy="1194242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コネクタ 29"/>
            <p:cNvCxnSpPr/>
            <p:nvPr/>
          </p:nvCxnSpPr>
          <p:spPr>
            <a:xfrm flipH="1">
              <a:off x="4542813" y="4005426"/>
              <a:ext cx="139577" cy="427525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円/楕円 30"/>
            <p:cNvSpPr/>
            <p:nvPr/>
          </p:nvSpPr>
          <p:spPr>
            <a:xfrm>
              <a:off x="4421844" y="4250665"/>
              <a:ext cx="283886" cy="28388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2" name="円/楕円 31"/>
            <p:cNvSpPr/>
            <p:nvPr/>
          </p:nvSpPr>
          <p:spPr>
            <a:xfrm>
              <a:off x="7231314" y="4175197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3" name="円/楕円 32"/>
            <p:cNvSpPr/>
            <p:nvPr/>
          </p:nvSpPr>
          <p:spPr>
            <a:xfrm>
              <a:off x="6716437" y="4742969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4" name="フリーフォーム 33"/>
            <p:cNvSpPr/>
            <p:nvPr/>
          </p:nvSpPr>
          <p:spPr>
            <a:xfrm>
              <a:off x="4041570" y="3240955"/>
              <a:ext cx="4108863" cy="2587195"/>
            </a:xfrm>
            <a:custGeom>
              <a:avLst/>
              <a:gdLst>
                <a:gd name="connsiteX0" fmla="*/ 0 w 4108863"/>
                <a:gd name="connsiteY0" fmla="*/ 0 h 2185060"/>
                <a:gd name="connsiteX1" fmla="*/ 0 w 4108863"/>
                <a:gd name="connsiteY1" fmla="*/ 2185060 h 2185060"/>
                <a:gd name="connsiteX2" fmla="*/ 4108863 w 4108863"/>
                <a:gd name="connsiteY2" fmla="*/ 2185060 h 218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8863" h="2185060">
                  <a:moveTo>
                    <a:pt x="0" y="0"/>
                  </a:moveTo>
                  <a:lnTo>
                    <a:pt x="0" y="2185060"/>
                  </a:lnTo>
                  <a:lnTo>
                    <a:pt x="4108863" y="2185060"/>
                  </a:lnTo>
                </a:path>
              </a:pathLst>
            </a:custGeom>
            <a:noFill/>
            <a:ln w="762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5" name="テキスト ボックス 34"/>
            <p:cNvSpPr txBox="1"/>
            <p:nvPr/>
          </p:nvSpPr>
          <p:spPr>
            <a:xfrm>
              <a:off x="7323945" y="5946396"/>
              <a:ext cx="1436914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400" baseline="-25000" dirty="0"/>
                <a:t>1</a:t>
              </a:r>
              <a:endParaRPr lang="ja-JP" altLang="en-US" sz="2400" dirty="0"/>
            </a:p>
          </p:txBody>
        </p:sp>
        <p:sp>
          <p:nvSpPr>
            <p:cNvPr id="36" name="テキスト ボックス 35"/>
            <p:cNvSpPr txBox="1"/>
            <p:nvPr/>
          </p:nvSpPr>
          <p:spPr>
            <a:xfrm>
              <a:off x="2865087" y="3355596"/>
              <a:ext cx="1436914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400" baseline="-25000" dirty="0"/>
                <a:t>2</a:t>
              </a:r>
              <a:endParaRPr lang="ja-JP" altLang="en-US" sz="2400" dirty="0"/>
            </a:p>
          </p:txBody>
        </p:sp>
        <p:sp>
          <p:nvSpPr>
            <p:cNvPr id="37" name="円/楕円 36"/>
            <p:cNvSpPr/>
            <p:nvPr/>
          </p:nvSpPr>
          <p:spPr>
            <a:xfrm>
              <a:off x="5850214" y="4459083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8" name="円/楕円 37"/>
            <p:cNvSpPr/>
            <p:nvPr/>
          </p:nvSpPr>
          <p:spPr>
            <a:xfrm>
              <a:off x="5182391" y="5110335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9" name="テキスト ボックス 38"/>
            <p:cNvSpPr txBox="1"/>
            <p:nvPr/>
          </p:nvSpPr>
          <p:spPr>
            <a:xfrm>
              <a:off x="4550519" y="6115738"/>
              <a:ext cx="3090961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/>
                <a:t>決定変数空間</a:t>
              </a:r>
            </a:p>
          </p:txBody>
        </p:sp>
        <p:sp>
          <p:nvSpPr>
            <p:cNvPr id="40" name="円/楕円 39"/>
            <p:cNvSpPr/>
            <p:nvPr/>
          </p:nvSpPr>
          <p:spPr>
            <a:xfrm>
              <a:off x="4658162" y="3748369"/>
              <a:ext cx="194400" cy="194400"/>
            </a:xfrm>
            <a:prstGeom prst="ellipse">
              <a:avLst/>
            </a:prstGeom>
            <a:solidFill>
              <a:schemeClr val="tx1"/>
            </a:solidFill>
            <a:ln w="127000" cmpd="thinThick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41" name="テキスト ボックス 40"/>
            <p:cNvSpPr txBox="1"/>
            <p:nvPr/>
          </p:nvSpPr>
          <p:spPr>
            <a:xfrm>
              <a:off x="4172581" y="4506937"/>
              <a:ext cx="1314596" cy="103874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0" rtlCol="0">
              <a:spAutoFit/>
            </a:bodyPr>
            <a:lstStyle/>
            <a:p>
              <a:pPr algn="ctr"/>
              <a:r>
                <a:rPr lang="ja-JP" altLang="en-US" sz="2400" b="1" dirty="0">
                  <a:ln w="6350">
                    <a:solidFill>
                      <a:schemeClr val="bg1"/>
                    </a:solidFill>
                  </a:ln>
                </a:rPr>
                <a:t>親個体</a:t>
              </a:r>
              <a:r>
                <a:rPr lang="en-US" altLang="ja-JP" sz="2400" dirty="0" smtClean="0"/>
                <a:t/>
              </a:r>
              <a:br>
                <a:rPr lang="en-US" altLang="ja-JP" sz="2400" dirty="0" smtClean="0"/>
              </a:br>
              <a:r>
                <a:rPr lang="en-US" altLang="ja-JP" sz="2400" dirty="0" smtClean="0"/>
                <a:t>2</a:t>
              </a:r>
              <a:endParaRPr lang="ja-JP" altLang="en-US" sz="2400" dirty="0"/>
            </a:p>
          </p:txBody>
        </p:sp>
        <p:sp>
          <p:nvSpPr>
            <p:cNvPr id="42" name="テキスト ボックス 41"/>
            <p:cNvSpPr txBox="1"/>
            <p:nvPr/>
          </p:nvSpPr>
          <p:spPr>
            <a:xfrm>
              <a:off x="4071197" y="3045282"/>
              <a:ext cx="1738665" cy="57708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dirty="0"/>
                <a:t>親</a:t>
              </a:r>
              <a:r>
                <a:rPr lang="ja-JP" altLang="en-US" sz="2400" dirty="0" smtClean="0"/>
                <a:t>個体</a:t>
              </a:r>
              <a:r>
                <a:rPr lang="en-US" altLang="ja-JP" sz="2400" dirty="0" smtClean="0"/>
                <a:t>1</a:t>
              </a:r>
              <a:endParaRPr lang="ja-JP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880515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概要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Similarity-based Mating </a:t>
            </a:r>
            <a:r>
              <a:rPr kumimoji="1" lang="en-US" altLang="ja-JP" dirty="0" err="1" smtClean="0"/>
              <a:t>Sheme</a:t>
            </a:r>
            <a:r>
              <a:rPr kumimoji="1" lang="en-US" altLang="ja-JP" dirty="0" smtClean="0"/>
              <a:t>(SMS)</a:t>
            </a:r>
            <a:r>
              <a:rPr kumimoji="1" lang="ja-JP" altLang="en-US" dirty="0" smtClean="0"/>
              <a:t>を取り入れたマルチタスク最適化アルゴリズムを実装する．</a:t>
            </a:r>
            <a:endParaRPr kumimoji="1" lang="en-US" altLang="ja-JP" dirty="0" smtClean="0"/>
          </a:p>
          <a:p>
            <a:r>
              <a:rPr lang="ja-JP" altLang="en-US" dirty="0" smtClean="0"/>
              <a:t>最初に，最適なパラメータを決定するために，</a:t>
            </a:r>
            <a:r>
              <a:rPr lang="en-US" altLang="ja-JP" dirty="0" smtClean="0"/>
              <a:t>NSGA-II</a:t>
            </a:r>
            <a:r>
              <a:rPr lang="ja-JP" altLang="en-US" dirty="0" smtClean="0"/>
              <a:t>でパラメータの検証を行う．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9568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疑問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最適</a:t>
            </a:r>
            <a:r>
              <a:rPr lang="ja-JP" altLang="en-US" dirty="0" smtClean="0"/>
              <a:t>なパラメータをどのように決定するか</a:t>
            </a:r>
            <a:endParaRPr kumimoji="1"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方法</a:t>
            </a:r>
            <a:r>
              <a:rPr kumimoji="1"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1</a:t>
            </a:r>
          </a:p>
          <a:p>
            <a:pPr lvl="1"/>
            <a:r>
              <a:rPr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各問題</a:t>
            </a:r>
            <a:r>
              <a:rPr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(CIHS</a:t>
            </a:r>
            <a:r>
              <a:rPr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～</a:t>
            </a:r>
            <a:r>
              <a:rPr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NILS)</a:t>
            </a:r>
            <a:r>
              <a:rPr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で得られた結果をランク付けして，合計ランクが優れている</a:t>
            </a:r>
            <a:r>
              <a:rPr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/>
            </a:r>
            <a:br>
              <a:rPr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r>
              <a:rPr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パラメータを採用</a:t>
            </a:r>
            <a:endParaRPr lang="en-US" altLang="ja-JP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dirty="0" smtClean="0"/>
              <a:t>方法</a:t>
            </a:r>
            <a:r>
              <a:rPr lang="en-US" altLang="ja-JP" dirty="0" smtClean="0"/>
              <a:t>2</a:t>
            </a:r>
          </a:p>
          <a:p>
            <a:pPr lvl="1"/>
            <a:r>
              <a:rPr lang="ja-JP" altLang="en-US" dirty="0"/>
              <a:t>各問題</a:t>
            </a:r>
            <a:r>
              <a:rPr lang="ja-JP" altLang="en-US" dirty="0" smtClean="0"/>
              <a:t>で得られた</a:t>
            </a:r>
            <a:r>
              <a:rPr lang="en-US" altLang="ja-JP" dirty="0" smtClean="0"/>
              <a:t>IGD</a:t>
            </a:r>
            <a:r>
              <a:rPr lang="ja-JP" altLang="en-US" dirty="0" smtClean="0"/>
              <a:t>を正規化</a:t>
            </a:r>
            <a:r>
              <a:rPr lang="en-US" altLang="ja-JP" dirty="0" smtClean="0"/>
              <a:t>([0, 1])</a:t>
            </a:r>
            <a:r>
              <a:rPr lang="ja-JP" altLang="en-US" dirty="0" smtClean="0"/>
              <a:t>し，その合計値が優れているパラメータを採用</a:t>
            </a:r>
            <a:endParaRPr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方法</a:t>
            </a:r>
            <a:r>
              <a:rPr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3</a:t>
            </a:r>
          </a:p>
          <a:p>
            <a:pPr lvl="1"/>
            <a:r>
              <a:rPr lang="ja-JP" alt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元</a:t>
            </a:r>
            <a:r>
              <a:rPr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の</a:t>
            </a:r>
            <a:r>
              <a:rPr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NSGA-II</a:t>
            </a:r>
            <a:r>
              <a:rPr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との性能差を計算し，差が大きいパラメータを採用</a:t>
            </a:r>
            <a:endParaRPr lang="en-US" altLang="ja-JP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0" lvl="1"/>
            <a:r>
              <a:rPr lang="ja-JP" altLang="en-US" sz="3200" dirty="0">
                <a:cs typeface="+mn-cs"/>
              </a:rPr>
              <a:t>結果と</a:t>
            </a:r>
            <a:r>
              <a:rPr lang="ja-JP" altLang="en-US" sz="3200" dirty="0" smtClean="0">
                <a:cs typeface="+mn-cs"/>
              </a:rPr>
              <a:t>して</a:t>
            </a:r>
            <a:r>
              <a:rPr lang="en-US" altLang="ja-JP" sz="3200" i="1" dirty="0">
                <a:latin typeface="Symbol" panose="05050102010706020507" pitchFamily="18" charset="2"/>
              </a:rPr>
              <a:t>a </a:t>
            </a:r>
            <a:r>
              <a:rPr lang="en-US" altLang="ja-JP" sz="3200" dirty="0" smtClean="0">
                <a:cs typeface="+mn-cs"/>
              </a:rPr>
              <a:t>= 10,</a:t>
            </a:r>
            <a:r>
              <a:rPr lang="en-US" altLang="ja-JP" sz="3200" i="1" dirty="0">
                <a:latin typeface="Symbol" panose="05050102010706020507" pitchFamily="18" charset="2"/>
              </a:rPr>
              <a:t> </a:t>
            </a:r>
            <a:r>
              <a:rPr lang="en-US" altLang="ja-JP" sz="3200" i="1" dirty="0" smtClean="0">
                <a:latin typeface="Symbol" panose="05050102010706020507" pitchFamily="18" charset="2"/>
              </a:rPr>
              <a:t>b</a:t>
            </a:r>
            <a:r>
              <a:rPr lang="en-US" altLang="ja-JP" sz="3200" dirty="0" smtClean="0">
                <a:cs typeface="+mn-cs"/>
              </a:rPr>
              <a:t> =</a:t>
            </a:r>
            <a:r>
              <a:rPr lang="ja-JP" altLang="en-US" sz="3200" dirty="0" smtClean="0">
                <a:cs typeface="+mn-cs"/>
              </a:rPr>
              <a:t> </a:t>
            </a:r>
            <a:r>
              <a:rPr lang="en-US" altLang="ja-JP" sz="3200" dirty="0" smtClean="0">
                <a:cs typeface="+mn-cs"/>
              </a:rPr>
              <a:t>2</a:t>
            </a:r>
            <a:r>
              <a:rPr lang="ja-JP" altLang="en-US" sz="3200" dirty="0" smtClean="0">
                <a:cs typeface="+mn-cs"/>
              </a:rPr>
              <a:t>が最適なパラメータとなった．</a:t>
            </a:r>
            <a:endParaRPr lang="en-US" altLang="ja-JP" sz="3200" dirty="0" smtClean="0">
              <a:cs typeface="+mn-cs"/>
            </a:endParaRPr>
          </a:p>
          <a:p>
            <a:pPr marL="0" lvl="1"/>
            <a:r>
              <a:rPr lang="ja-JP" altLang="en-US" sz="3200" dirty="0" smtClean="0">
                <a:cs typeface="+mn-cs"/>
              </a:rPr>
              <a:t>親個体は，目的関数空間の端から選ぶことが適当</a:t>
            </a:r>
            <a:r>
              <a:rPr lang="en-US" altLang="ja-JP" sz="3200" dirty="0" smtClean="0">
                <a:cs typeface="+mn-cs"/>
              </a:rPr>
              <a:t>?</a:t>
            </a:r>
            <a:endParaRPr lang="en-US" altLang="ja-JP" sz="3200" dirty="0"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2365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セル内の数値は，正規化後の</a:t>
            </a:r>
            <a:r>
              <a:rPr kumimoji="1" lang="en-US" altLang="ja-JP" dirty="0" smtClean="0"/>
              <a:t>IGD</a:t>
            </a:r>
            <a:r>
              <a:rPr kumimoji="1" lang="ja-JP" altLang="en-US" dirty="0" smtClean="0"/>
              <a:t>の総和を表す．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3" t="9571" r="15782" b="5298"/>
          <a:stretch/>
        </p:blipFill>
        <p:spPr>
          <a:xfrm>
            <a:off x="3495305" y="1992337"/>
            <a:ext cx="5201391" cy="4560863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 rot="16200000">
            <a:off x="2548019" y="4072712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69725" y="6393565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981510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SMS</a:t>
            </a:r>
            <a:r>
              <a:rPr lang="ja-JP" altLang="en-US" dirty="0" smtClean="0"/>
              <a:t>を取り入れたマルチタスク手法の実装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NSGA-II</a:t>
            </a:r>
            <a:r>
              <a:rPr kumimoji="1" lang="ja-JP" altLang="en-US" dirty="0" smtClean="0"/>
              <a:t>をベースとして，独立探索時は</a:t>
            </a:r>
            <a:r>
              <a:rPr kumimoji="1" lang="en-US" altLang="ja-JP" dirty="0" smtClean="0"/>
              <a:t>SMS</a:t>
            </a:r>
            <a:r>
              <a:rPr kumimoji="1" lang="ja-JP" altLang="en-US" dirty="0" smtClean="0"/>
              <a:t>を用いる．</a:t>
            </a:r>
            <a:endParaRPr lang="en-US" altLang="ja-JP" dirty="0"/>
          </a:p>
          <a:p>
            <a:r>
              <a:rPr kumimoji="1" lang="ja-JP" altLang="en-US" dirty="0" smtClean="0"/>
              <a:t>情報共有は，タスク間での交叉による行う．</a:t>
            </a:r>
            <a:endParaRPr lang="en-US" altLang="ja-JP" dirty="0"/>
          </a:p>
          <a:p>
            <a:pPr algn="l"/>
            <a:r>
              <a:rPr kumimoji="1" lang="ja-JP" altLang="en-US" dirty="0" smtClean="0"/>
              <a:t>情報共有時の親個体は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   移住先</a:t>
            </a:r>
            <a:r>
              <a:rPr kumimoji="1" lang="en-US" altLang="ja-JP" dirty="0" smtClean="0"/>
              <a:t>: </a:t>
            </a:r>
            <a:r>
              <a:rPr kumimoji="1" lang="ja-JP" altLang="en-US" dirty="0" smtClean="0"/>
              <a:t>バイナリトーナメント</a:t>
            </a:r>
            <a:r>
              <a:rPr lang="ja-JP" altLang="en-US" dirty="0" smtClean="0"/>
              <a:t>で</a:t>
            </a:r>
            <a:r>
              <a:rPr kumimoji="1" lang="ja-JP" altLang="en-US" dirty="0" smtClean="0"/>
              <a:t>選択</a:t>
            </a:r>
            <a:r>
              <a:rPr kumimoji="1" lang="en-US" altLang="ja-JP" dirty="0" smtClean="0"/>
              <a:t>(</a:t>
            </a:r>
            <a:r>
              <a:rPr lang="en-US" altLang="ja-JP" i="1" dirty="0">
                <a:latin typeface="Symbol" panose="05050102010706020507" pitchFamily="18" charset="2"/>
              </a:rPr>
              <a:t>a </a:t>
            </a:r>
            <a:r>
              <a:rPr lang="en-US" altLang="ja-JP" dirty="0"/>
              <a:t>= </a:t>
            </a:r>
            <a:r>
              <a:rPr lang="en-US" altLang="ja-JP" dirty="0" smtClean="0"/>
              <a:t>1 or 2</a:t>
            </a:r>
            <a:r>
              <a:rPr kumimoji="1" lang="en-US" altLang="ja-JP" dirty="0" smtClean="0"/>
              <a:t>)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   </a:t>
            </a:r>
            <a:r>
              <a:rPr kumimoji="1" lang="ja-JP" altLang="en-US" dirty="0" smtClean="0"/>
              <a:t>移住元</a:t>
            </a:r>
            <a:r>
              <a:rPr kumimoji="1" lang="en-US" altLang="ja-JP" dirty="0" smtClean="0"/>
              <a:t>: </a:t>
            </a:r>
            <a:r>
              <a:rPr kumimoji="1" lang="en-US" altLang="ja-JP" dirty="0" smtClean="0"/>
              <a:t>1.</a:t>
            </a:r>
            <a:r>
              <a:rPr kumimoji="1" lang="ja-JP" altLang="en-US" dirty="0" smtClean="0"/>
              <a:t> 独立</a:t>
            </a:r>
            <a:r>
              <a:rPr kumimoji="1" lang="ja-JP" altLang="en-US" dirty="0" smtClean="0"/>
              <a:t>探索時の親個体</a:t>
            </a:r>
            <a:r>
              <a:rPr kumimoji="1" lang="en-US" altLang="ja-JP" dirty="0" smtClean="0"/>
              <a:t>2</a:t>
            </a:r>
            <a:r>
              <a:rPr lang="ja-JP" altLang="en-US" dirty="0" smtClean="0"/>
              <a:t>と同じ</a:t>
            </a:r>
            <a:r>
              <a:rPr lang="ja-JP" altLang="en-US" dirty="0" smtClean="0"/>
              <a:t>選択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   </a:t>
            </a:r>
            <a:r>
              <a:rPr lang="ja-JP" altLang="en-US" dirty="0" smtClean="0">
                <a:solidFill>
                  <a:schemeClr val="bg1"/>
                </a:solidFill>
              </a:rPr>
              <a:t>移住元</a:t>
            </a:r>
            <a:r>
              <a:rPr lang="en-US" altLang="ja-JP" dirty="0">
                <a:solidFill>
                  <a:schemeClr val="bg1"/>
                </a:solidFill>
              </a:rPr>
              <a:t>: </a:t>
            </a:r>
            <a:r>
              <a:rPr lang="en-US" altLang="ja-JP" dirty="0" smtClean="0"/>
              <a:t>2.</a:t>
            </a:r>
            <a:r>
              <a:rPr lang="ja-JP" altLang="en-US" dirty="0" smtClean="0"/>
              <a:t> 親個体</a:t>
            </a:r>
            <a:r>
              <a:rPr lang="en-US" altLang="ja-JP" dirty="0" smtClean="0"/>
              <a:t>1</a:t>
            </a:r>
            <a:r>
              <a:rPr lang="ja-JP" altLang="en-US" dirty="0" smtClean="0"/>
              <a:t>と最近傍</a:t>
            </a:r>
            <a:r>
              <a:rPr lang="en-US" altLang="ja-JP" dirty="0" smtClean="0"/>
              <a:t>(NN</a:t>
            </a:r>
            <a:r>
              <a:rPr lang="ja-JP" altLang="en-US" dirty="0" smtClean="0"/>
              <a:t>と呼ぶ</a:t>
            </a:r>
            <a:r>
              <a:rPr lang="en-US" altLang="ja-JP" dirty="0" smtClean="0"/>
              <a:t>)</a:t>
            </a:r>
            <a:endParaRPr lang="en-US" altLang="ja-JP" dirty="0" smtClean="0"/>
          </a:p>
          <a:p>
            <a:pPr algn="l"/>
            <a:r>
              <a:rPr lang="ja-JP" altLang="en-US" dirty="0" smtClean="0"/>
              <a:t>と</a:t>
            </a:r>
            <a:r>
              <a:rPr lang="ja-JP" altLang="en-US" dirty="0" smtClean="0"/>
              <a:t>する</a:t>
            </a:r>
            <a:r>
              <a:rPr lang="en-US" altLang="ja-JP" dirty="0" smtClean="0"/>
              <a:t>.</a:t>
            </a:r>
          </a:p>
          <a:p>
            <a:pPr algn="l"/>
            <a:r>
              <a:rPr lang="ja-JP" altLang="en-US" dirty="0" smtClean="0"/>
              <a:t>情報</a:t>
            </a:r>
            <a:r>
              <a:rPr lang="ja-JP" altLang="en-US" dirty="0"/>
              <a:t>共有</a:t>
            </a:r>
            <a:r>
              <a:rPr lang="ja-JP" altLang="en-US" dirty="0" smtClean="0"/>
              <a:t>は，一定世代間隔で一定数の個体で行う．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65446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i="1" dirty="0" smtClean="0">
                <a:latin typeface="Symbol" panose="05050102010706020507" pitchFamily="18" charset="2"/>
              </a:rPr>
              <a:t>a </a:t>
            </a:r>
            <a:r>
              <a:rPr lang="en-US" altLang="ja-JP" dirty="0" smtClean="0"/>
              <a:t>= </a:t>
            </a:r>
            <a:r>
              <a:rPr lang="en-US" altLang="ja-JP" dirty="0"/>
              <a:t>10,</a:t>
            </a:r>
            <a:r>
              <a:rPr lang="en-US" altLang="ja-JP" i="1" dirty="0">
                <a:latin typeface="Symbol" panose="05050102010706020507" pitchFamily="18" charset="2"/>
              </a:rPr>
              <a:t> b</a:t>
            </a:r>
            <a:r>
              <a:rPr lang="en-US" altLang="ja-JP" dirty="0"/>
              <a:t> =</a:t>
            </a:r>
            <a:r>
              <a:rPr lang="ja-JP" altLang="en-US" dirty="0"/>
              <a:t> </a:t>
            </a:r>
            <a:r>
              <a:rPr lang="en-US" altLang="ja-JP" dirty="0" smtClean="0"/>
              <a:t>2</a:t>
            </a:r>
            <a:r>
              <a:rPr lang="ja-JP" altLang="en-US" dirty="0" err="1" smtClean="0"/>
              <a:t>，</a:t>
            </a:r>
            <a:r>
              <a:rPr lang="ja-JP" altLang="en-US" dirty="0" smtClean="0"/>
              <a:t>移住間隔</a:t>
            </a:r>
            <a:r>
              <a:rPr lang="en-US" altLang="ja-JP" dirty="0" smtClean="0"/>
              <a:t>:</a:t>
            </a:r>
            <a:r>
              <a:rPr lang="ja-JP" altLang="en-US" dirty="0" smtClean="0"/>
              <a:t> </a:t>
            </a:r>
            <a:r>
              <a:rPr lang="en-US" altLang="ja-JP" dirty="0" smtClean="0"/>
              <a:t>10</a:t>
            </a:r>
            <a:r>
              <a:rPr lang="ja-JP" altLang="en-US" dirty="0" smtClean="0"/>
              <a:t>世代，移住個体数</a:t>
            </a:r>
            <a:r>
              <a:rPr lang="en-US" altLang="ja-JP" dirty="0" smtClean="0"/>
              <a:t>:</a:t>
            </a:r>
            <a:r>
              <a:rPr lang="ja-JP" altLang="en-US" dirty="0" smtClean="0"/>
              <a:t> </a:t>
            </a:r>
            <a:r>
              <a:rPr lang="en-US" altLang="ja-JP" dirty="0" smtClean="0"/>
              <a:t>10</a:t>
            </a:r>
            <a:r>
              <a:rPr lang="ja-JP" altLang="en-US" dirty="0" smtClean="0"/>
              <a:t>個体</a:t>
            </a:r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919389"/>
              </p:ext>
            </p:extLst>
          </p:nvPr>
        </p:nvGraphicFramePr>
        <p:xfrm>
          <a:off x="510914" y="2096001"/>
          <a:ext cx="5304172" cy="4599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3269"/>
                <a:gridCol w="997415"/>
                <a:gridCol w="1066800"/>
                <a:gridCol w="982619"/>
                <a:gridCol w="1154069"/>
              </a:tblGrid>
              <a:tr h="23229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Problems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Task No.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800" b="1" i="1" dirty="0" smtClean="0">
                          <a:latin typeface="Symbol" panose="05050102010706020507" pitchFamily="18" charset="2"/>
                        </a:rPr>
                        <a:t>b</a:t>
                      </a:r>
                      <a:r>
                        <a:rPr lang="en-US" altLang="ja-JP" sz="1800" b="1" dirty="0" smtClean="0"/>
                        <a:t> =</a:t>
                      </a:r>
                      <a:r>
                        <a:rPr lang="ja-JP" altLang="en-US" sz="1800" b="1" dirty="0" smtClean="0"/>
                        <a:t> </a:t>
                      </a:r>
                      <a:r>
                        <a:rPr lang="en-US" altLang="ja-JP" sz="1800" b="1" dirty="0" smtClean="0"/>
                        <a:t>2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altLang="ja-JP" sz="1800" b="1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MO-MFEA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CIHS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3.54E-4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3.77E-4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3.99E-4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41" marR="4741" marT="4741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2.36E-3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2.54E-3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2.65E-3</a:t>
                      </a: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CIMS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1.15E-1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8.89E-2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4.57E-2</a:t>
                      </a: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6.41E-2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5.80E-2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8.77E-3</a:t>
                      </a: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CILS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2.00E-4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1.94E-4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2.71E-4</a:t>
                      </a: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1.82E-4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1.82E-4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1.90E-4</a:t>
                      </a: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PIHS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3.64E-4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3.76E-4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1.10E-3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2.54E-2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2.51E-2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3.04E-2</a:t>
                      </a: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PIMS</a:t>
                      </a:r>
                      <a:endParaRPr lang="en-US" sz="1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4.13E-3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4.30E-3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2.62E-3</a:t>
                      </a: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1.72E+1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1.83E+1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altLang="ja-JP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1.09</a:t>
                      </a:r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kumimoji="1" lang="en-US" altLang="ja-JP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+1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PILS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3.03E-4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2.25E-4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3.24E-4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6.33E-1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6.33E-1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1.10E-2</a:t>
                      </a:r>
                    </a:p>
                  </a:txBody>
                  <a:tcPr marL="4741" marR="4741" marT="4741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141918"/>
              </p:ext>
            </p:extLst>
          </p:nvPr>
        </p:nvGraphicFramePr>
        <p:xfrm>
          <a:off x="6354689" y="2096001"/>
          <a:ext cx="5304172" cy="2439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3269"/>
                <a:gridCol w="997415"/>
                <a:gridCol w="1066800"/>
                <a:gridCol w="982619"/>
                <a:gridCol w="1154069"/>
              </a:tblGrid>
              <a:tr h="23229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Problems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Task No.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800" b="1" i="1" dirty="0" smtClean="0">
                          <a:latin typeface="Symbol" panose="05050102010706020507" pitchFamily="18" charset="2"/>
                        </a:rPr>
                        <a:t>b</a:t>
                      </a:r>
                      <a:r>
                        <a:rPr lang="en-US" altLang="ja-JP" sz="1800" b="1" dirty="0" smtClean="0"/>
                        <a:t> =</a:t>
                      </a:r>
                      <a:r>
                        <a:rPr lang="ja-JP" altLang="en-US" sz="1800" b="1" dirty="0" smtClean="0"/>
                        <a:t> </a:t>
                      </a:r>
                      <a:r>
                        <a:rPr lang="en-US" altLang="ja-JP" sz="1800" b="1" dirty="0" smtClean="0"/>
                        <a:t>2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altLang="ja-JP" sz="1800" b="1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MO-MFEA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NIHS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5.35E+0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4.27E+0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1.55E+0</a:t>
                      </a:r>
                    </a:p>
                  </a:txBody>
                  <a:tcPr marL="4741" marR="4741" marT="4741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7.67E-4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6.69E-4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5.02E-4</a:t>
                      </a: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NIMS</a:t>
                      </a:r>
                      <a:endParaRPr lang="en-US" sz="1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4.21E-1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3.34E-1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2.79E-1</a:t>
                      </a: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5.62E-2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7.34E-2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2.86E-2</a:t>
                      </a: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NILS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7.91E-4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8.05E-4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8.35E-4</a:t>
                      </a:r>
                      <a:endParaRPr lang="en-US" sz="1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6.42E-1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6.42E-1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6.43E-1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7160701" y="5128632"/>
            <a:ext cx="3692146" cy="1200329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>
              <a:tabLst>
                <a:tab pos="1614488" algn="l"/>
              </a:tabLst>
            </a:pPr>
            <a:r>
              <a:rPr lang="en-US" altLang="ja-JP" sz="2400" i="1" dirty="0" smtClean="0">
                <a:latin typeface="Symbol" panose="05050102010706020507" pitchFamily="18" charset="2"/>
              </a:rPr>
              <a:t>b</a:t>
            </a:r>
            <a:r>
              <a:rPr lang="en-US" altLang="ja-JP" sz="2400" dirty="0" smtClean="0"/>
              <a:t> =</a:t>
            </a:r>
            <a:r>
              <a:rPr lang="ja-JP" altLang="en-US" sz="2400" dirty="0" smtClean="0"/>
              <a:t> </a:t>
            </a:r>
            <a:r>
              <a:rPr lang="en-US" altLang="ja-JP" sz="2400" dirty="0"/>
              <a:t>2 </a:t>
            </a:r>
            <a:r>
              <a:rPr kumimoji="1" lang="en-US" altLang="ja-JP" sz="2400" dirty="0" smtClean="0"/>
              <a:t>	:</a:t>
            </a:r>
            <a:r>
              <a:rPr kumimoji="1" lang="ja-JP" altLang="en-US" sz="2400" dirty="0" smtClean="0"/>
              <a:t> </a:t>
            </a:r>
            <a:r>
              <a:rPr lang="ja-JP" altLang="en-US" sz="2400" dirty="0"/>
              <a:t> 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5</a:t>
            </a:r>
            <a:r>
              <a:rPr kumimoji="1" lang="en-US" altLang="ja-JP" sz="2400" dirty="0" smtClean="0"/>
              <a:t>/18</a:t>
            </a:r>
            <a:r>
              <a:rPr kumimoji="1" lang="ja-JP" altLang="en-US" sz="2400" dirty="0" smtClean="0"/>
              <a:t>で</a:t>
            </a:r>
            <a:r>
              <a:rPr kumimoji="1" lang="ja-JP" altLang="en-US" sz="2400" dirty="0" smtClean="0"/>
              <a:t>最良</a:t>
            </a:r>
            <a:endParaRPr kumimoji="1" lang="en-US" altLang="ja-JP" sz="2400" dirty="0" smtClean="0"/>
          </a:p>
          <a:p>
            <a:pPr>
              <a:tabLst>
                <a:tab pos="1614488" algn="l"/>
              </a:tabLst>
            </a:pPr>
            <a:r>
              <a:rPr kumimoji="1" lang="en-US" altLang="ja-JP" sz="2400" dirty="0" smtClean="0"/>
              <a:t>NN	:   4/18</a:t>
            </a:r>
            <a:r>
              <a:rPr kumimoji="1" lang="ja-JP" altLang="en-US" sz="2400" dirty="0" smtClean="0"/>
              <a:t>で最良</a:t>
            </a:r>
            <a:r>
              <a:rPr kumimoji="1" lang="en-US" altLang="ja-JP" sz="2400" dirty="0" smtClean="0"/>
              <a:t/>
            </a:r>
            <a:br>
              <a:rPr kumimoji="1" lang="en-US" altLang="ja-JP" sz="2400" dirty="0" smtClean="0"/>
            </a:br>
            <a:r>
              <a:rPr kumimoji="1" lang="en-US" altLang="ja-JP" sz="2400" dirty="0" smtClean="0"/>
              <a:t>MO-MFEA	:</a:t>
            </a:r>
            <a:r>
              <a:rPr kumimoji="1" lang="ja-JP" altLang="en-US" sz="2400" dirty="0" smtClean="0"/>
              <a:t>   </a:t>
            </a:r>
            <a:r>
              <a:rPr lang="en-US" altLang="ja-JP" sz="2400" dirty="0"/>
              <a:t>9</a:t>
            </a:r>
            <a:r>
              <a:rPr kumimoji="1" lang="en-US" altLang="ja-JP" sz="2400" dirty="0" smtClean="0"/>
              <a:t>/18</a:t>
            </a:r>
            <a:r>
              <a:rPr kumimoji="1" lang="ja-JP" altLang="en-US" sz="2400" dirty="0" smtClean="0"/>
              <a:t>で最良</a:t>
            </a:r>
          </a:p>
        </p:txBody>
      </p:sp>
    </p:spTree>
    <p:extLst>
      <p:ext uri="{BB962C8B-B14F-4D97-AF65-F5344CB8AC3E}">
        <p14:creationId xmlns:p14="http://schemas.microsoft.com/office/powerpoint/2010/main" val="337015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14</a:t>
            </a:fld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独立探索で得られた</a:t>
            </a:r>
            <a:r>
              <a:rPr lang="en-US" altLang="ja-JP" dirty="0" smtClean="0"/>
              <a:t>IGD(Proposed</a:t>
            </a:r>
            <a:r>
              <a:rPr lang="ja-JP" altLang="en-US" dirty="0" smtClean="0"/>
              <a:t>が性能高</a:t>
            </a:r>
            <a:r>
              <a:rPr lang="en-US" altLang="ja-JP" dirty="0" smtClean="0"/>
              <a:t>)</a:t>
            </a:r>
            <a:endParaRPr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0" y="1283053"/>
            <a:ext cx="7137080" cy="5358693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 rot="16200000">
            <a:off x="2460937" y="3778217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024582" y="6262937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  <p:sp>
        <p:nvSpPr>
          <p:cNvPr id="9" name="正方形/長方形 8"/>
          <p:cNvSpPr/>
          <p:nvPr/>
        </p:nvSpPr>
        <p:spPr>
          <a:xfrm>
            <a:off x="3721100" y="3689348"/>
            <a:ext cx="603250" cy="577851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128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15</a:t>
            </a:fld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独立探索で</a:t>
            </a:r>
            <a:r>
              <a:rPr lang="ja-JP" altLang="en-US" dirty="0" smtClean="0"/>
              <a:t>得られた</a:t>
            </a:r>
            <a:r>
              <a:rPr lang="en-US" altLang="ja-JP" dirty="0"/>
              <a:t>IGD(Proposed</a:t>
            </a:r>
            <a:r>
              <a:rPr lang="ja-JP" altLang="en-US" dirty="0"/>
              <a:t>が性能高</a:t>
            </a:r>
            <a:r>
              <a:rPr lang="en-US" altLang="ja-JP" dirty="0"/>
              <a:t>)</a:t>
            </a:r>
            <a:endParaRPr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0" y="1283053"/>
            <a:ext cx="7137079" cy="5358691"/>
          </a:xfrm>
          <a:prstGeom prst="rect">
            <a:avLst/>
          </a:prstGeom>
        </p:spPr>
      </p:pic>
      <p:sp>
        <p:nvSpPr>
          <p:cNvPr id="9" name="正方形/長方形 8"/>
          <p:cNvSpPr/>
          <p:nvPr/>
        </p:nvSpPr>
        <p:spPr>
          <a:xfrm>
            <a:off x="3721100" y="3689348"/>
            <a:ext cx="603250" cy="577851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 rot="16200000">
            <a:off x="2460937" y="3778217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024582" y="6262937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409916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16</a:t>
            </a:fld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独立探索で</a:t>
            </a:r>
            <a:r>
              <a:rPr lang="ja-JP" altLang="en-US" dirty="0" smtClean="0"/>
              <a:t>得られた</a:t>
            </a:r>
            <a:r>
              <a:rPr lang="en-US" altLang="ja-JP" dirty="0"/>
              <a:t>IGD(Proposed</a:t>
            </a:r>
            <a:r>
              <a:rPr lang="ja-JP" altLang="en-US" dirty="0"/>
              <a:t>が</a:t>
            </a:r>
            <a:r>
              <a:rPr lang="ja-JP" altLang="en-US" dirty="0" smtClean="0"/>
              <a:t>性能低</a:t>
            </a:r>
            <a:r>
              <a:rPr lang="en-US" altLang="ja-JP" dirty="0" smtClean="0"/>
              <a:t>)</a:t>
            </a:r>
            <a:endParaRPr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0" y="1283053"/>
            <a:ext cx="7137081" cy="5358693"/>
          </a:xfrm>
          <a:prstGeom prst="rect">
            <a:avLst/>
          </a:prstGeom>
        </p:spPr>
      </p:pic>
      <p:sp>
        <p:nvSpPr>
          <p:cNvPr id="9" name="正方形/長方形 8"/>
          <p:cNvSpPr/>
          <p:nvPr/>
        </p:nvSpPr>
        <p:spPr>
          <a:xfrm>
            <a:off x="3721100" y="3689348"/>
            <a:ext cx="603250" cy="577851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 rot="16200000">
            <a:off x="2460937" y="3778217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024582" y="6262937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801251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17</a:t>
            </a:fld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独立探索で</a:t>
            </a:r>
            <a:r>
              <a:rPr lang="ja-JP" altLang="en-US" dirty="0" smtClean="0"/>
              <a:t>得られた</a:t>
            </a:r>
            <a:r>
              <a:rPr lang="en-US" altLang="ja-JP" dirty="0"/>
              <a:t>IGD(Proposed</a:t>
            </a:r>
            <a:r>
              <a:rPr lang="ja-JP" altLang="en-US" dirty="0"/>
              <a:t>が性能低</a:t>
            </a:r>
            <a:r>
              <a:rPr lang="en-US" altLang="ja-JP" dirty="0"/>
              <a:t>)</a:t>
            </a:r>
            <a:endParaRPr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0" y="1283053"/>
            <a:ext cx="7137080" cy="5358693"/>
          </a:xfrm>
          <a:prstGeom prst="rect">
            <a:avLst/>
          </a:prstGeom>
        </p:spPr>
      </p:pic>
      <p:sp>
        <p:nvSpPr>
          <p:cNvPr id="9" name="正方形/長方形 8"/>
          <p:cNvSpPr/>
          <p:nvPr/>
        </p:nvSpPr>
        <p:spPr>
          <a:xfrm>
            <a:off x="3721100" y="3689348"/>
            <a:ext cx="603250" cy="577851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 rot="16200000">
            <a:off x="2460937" y="3778217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024582" y="6262937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79165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今期のまとめ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b="1" dirty="0" smtClean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実装関連</a:t>
            </a:r>
            <a:endParaRPr kumimoji="1" lang="en-US" altLang="ja-JP" b="1" dirty="0" smtClean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355600" algn="l"/>
            <a:r>
              <a:rPr lang="ja-JP" altLang="en-US" sz="2800" dirty="0" smtClean="0">
                <a:ea typeface="ＭＳ Ｐゴシック" panose="020B0600070205080204" pitchFamily="50" charset="-128"/>
              </a:rPr>
              <a:t>マルチタスクベンチマーク問題の</a:t>
            </a:r>
            <a:r>
              <a:rPr lang="en-US" altLang="ja-JP" sz="2800" dirty="0" smtClean="0">
                <a:ea typeface="ＭＳ Ｐゴシック" panose="020B0600070205080204" pitchFamily="50" charset="-128"/>
              </a:rPr>
              <a:t>Python</a:t>
            </a:r>
            <a:r>
              <a:rPr lang="ja-JP" altLang="en-US" sz="2800" dirty="0" smtClean="0">
                <a:ea typeface="ＭＳ Ｐゴシック" panose="020B0600070205080204" pitchFamily="50" charset="-128"/>
              </a:rPr>
              <a:t>実装</a:t>
            </a:r>
            <a:r>
              <a:rPr lang="en-US" altLang="ja-JP" sz="2800" dirty="0" smtClean="0">
                <a:ea typeface="ＭＳ Ｐゴシック" panose="020B0600070205080204" pitchFamily="50" charset="-128"/>
              </a:rPr>
              <a:t/>
            </a:r>
            <a:br>
              <a:rPr lang="en-US" altLang="ja-JP" sz="2800" dirty="0" smtClean="0">
                <a:ea typeface="ＭＳ Ｐゴシック" panose="020B0600070205080204" pitchFamily="50" charset="-128"/>
              </a:rPr>
            </a:br>
            <a:r>
              <a:rPr lang="en-US" altLang="ja-JP" sz="2800" dirty="0" smtClean="0">
                <a:ea typeface="ＭＳ Ｐゴシック" panose="020B0600070205080204" pitchFamily="50" charset="-128"/>
              </a:rPr>
              <a:t>SMS</a:t>
            </a:r>
            <a:r>
              <a:rPr lang="ja-JP" altLang="en-US" sz="2800" dirty="0" smtClean="0">
                <a:ea typeface="ＭＳ Ｐゴシック" panose="020B0600070205080204" pitchFamily="50" charset="-128"/>
              </a:rPr>
              <a:t>の実装</a:t>
            </a:r>
            <a:r>
              <a:rPr lang="en-US" altLang="ja-JP" sz="2800" dirty="0" smtClean="0">
                <a:ea typeface="ＭＳ Ｐゴシック" panose="020B0600070205080204" pitchFamily="50" charset="-128"/>
              </a:rPr>
              <a:t>(</a:t>
            </a:r>
            <a:r>
              <a:rPr lang="ja-JP" altLang="en-US" sz="2800" dirty="0" smtClean="0">
                <a:ea typeface="ＭＳ Ｐゴシック" panose="020B0600070205080204" pitchFamily="50" charset="-128"/>
              </a:rPr>
              <a:t>シングルタスク</a:t>
            </a:r>
            <a:r>
              <a:rPr lang="en-US" altLang="ja-JP" sz="2800" dirty="0" smtClean="0">
                <a:ea typeface="ＭＳ Ｐゴシック" panose="020B0600070205080204" pitchFamily="50" charset="-128"/>
              </a:rPr>
              <a:t>&amp;</a:t>
            </a:r>
            <a:r>
              <a:rPr lang="ja-JP" altLang="en-US" sz="2800" dirty="0" smtClean="0">
                <a:ea typeface="ＭＳ Ｐゴシック" panose="020B0600070205080204" pitchFamily="50" charset="-128"/>
              </a:rPr>
              <a:t>マルチタスク</a:t>
            </a:r>
            <a:r>
              <a:rPr lang="en-US" altLang="ja-JP" sz="2800" dirty="0" smtClean="0">
                <a:ea typeface="ＭＳ Ｐゴシック" panose="020B0600070205080204" pitchFamily="50" charset="-128"/>
              </a:rPr>
              <a:t>)</a:t>
            </a:r>
            <a:br>
              <a:rPr lang="en-US" altLang="ja-JP" sz="2800" dirty="0" smtClean="0">
                <a:ea typeface="ＭＳ Ｐゴシック" panose="020B0600070205080204" pitchFamily="50" charset="-128"/>
              </a:rPr>
            </a:br>
            <a:r>
              <a:rPr lang="ja-JP" altLang="en-US" sz="2800" dirty="0" smtClean="0">
                <a:ea typeface="ＭＳ Ｐゴシック" panose="020B0600070205080204" pitchFamily="50" charset="-128"/>
              </a:rPr>
              <a:t>アルゴリズム</a:t>
            </a:r>
            <a:r>
              <a:rPr lang="ja-JP" altLang="en-US" sz="2800" dirty="0" smtClean="0">
                <a:ea typeface="ＭＳ Ｐゴシック" panose="020B0600070205080204" pitchFamily="50" charset="-128"/>
              </a:rPr>
              <a:t>分析用のメソッドの</a:t>
            </a:r>
            <a:r>
              <a:rPr lang="ja-JP" altLang="en-US" sz="2800" dirty="0" smtClean="0">
                <a:ea typeface="ＭＳ Ｐゴシック" panose="020B0600070205080204" pitchFamily="50" charset="-128"/>
              </a:rPr>
              <a:t>実装</a:t>
            </a:r>
            <a:r>
              <a:rPr lang="en-US" altLang="ja-JP" sz="2800" dirty="0" smtClean="0">
                <a:ea typeface="ＭＳ Ｐゴシック" panose="020B0600070205080204" pitchFamily="50" charset="-128"/>
              </a:rPr>
              <a:t>(</a:t>
            </a:r>
            <a:r>
              <a:rPr lang="ja-JP" altLang="en-US" sz="2800" dirty="0" smtClean="0">
                <a:ea typeface="ＭＳ Ｐゴシック" panose="020B0600070205080204" pitchFamily="50" charset="-128"/>
              </a:rPr>
              <a:t>実装途中</a:t>
            </a:r>
            <a:r>
              <a:rPr lang="en-US" altLang="ja-JP" sz="2800" dirty="0" smtClean="0">
                <a:ea typeface="ＭＳ Ｐゴシック" panose="020B0600070205080204" pitchFamily="50" charset="-128"/>
              </a:rPr>
              <a:t>)</a:t>
            </a:r>
            <a:r>
              <a:rPr lang="en-US" altLang="ja-JP" dirty="0" smtClean="0">
                <a:ea typeface="ＭＳ Ｐゴシック" panose="020B0600070205080204" pitchFamily="50" charset="-128"/>
              </a:rPr>
              <a:t/>
            </a:r>
            <a:br>
              <a:rPr lang="en-US" altLang="ja-JP" dirty="0" smtClean="0">
                <a:ea typeface="ＭＳ Ｐゴシック" panose="020B0600070205080204" pitchFamily="50" charset="-128"/>
              </a:rPr>
            </a:br>
            <a:endParaRPr lang="en-US" altLang="ja-JP" dirty="0" smtClean="0">
              <a:ea typeface="ＭＳ Ｐゴシック" panose="020B0600070205080204" pitchFamily="50" charset="-128"/>
            </a:endParaRPr>
          </a:p>
          <a:p>
            <a:pPr algn="l"/>
            <a:r>
              <a:rPr lang="ja-JP" altLang="en-US" b="1" dirty="0" smtClean="0">
                <a:ea typeface="ＭＳ Ｐゴシック" panose="020B0600070205080204" pitchFamily="50" charset="-128"/>
              </a:rPr>
              <a:t>検証関連</a:t>
            </a:r>
            <a:endParaRPr lang="en-US" altLang="ja-JP" b="1" dirty="0" smtClean="0">
              <a:ea typeface="ＭＳ Ｐゴシック" panose="020B0600070205080204" pitchFamily="50" charset="-128"/>
            </a:endParaRPr>
          </a:p>
          <a:p>
            <a:pPr marL="355600" algn="l"/>
            <a:r>
              <a:rPr lang="ja-JP" altLang="en-US" sz="2800" dirty="0" smtClean="0">
                <a:ea typeface="ＭＳ Ｐゴシック" panose="020B0600070205080204" pitchFamily="50" charset="-128"/>
              </a:rPr>
              <a:t>ナップサック問題での交叉操作時，生成個体数による探索性能の影響を</a:t>
            </a:r>
            <a:r>
              <a:rPr lang="en-US" altLang="ja-JP" sz="2800" dirty="0" smtClean="0">
                <a:ea typeface="ＭＳ Ｐゴシック" panose="020B0600070205080204" pitchFamily="50" charset="-128"/>
              </a:rPr>
              <a:t>(</a:t>
            </a:r>
            <a:r>
              <a:rPr lang="ja-JP" altLang="en-US" sz="2800" dirty="0" smtClean="0">
                <a:ea typeface="ＭＳ Ｐゴシック" panose="020B0600070205080204" pitchFamily="50" charset="-128"/>
              </a:rPr>
              <a:t>実験的に</a:t>
            </a:r>
            <a:r>
              <a:rPr lang="en-US" altLang="ja-JP" sz="2800" dirty="0" smtClean="0">
                <a:ea typeface="ＭＳ Ｐゴシック" panose="020B0600070205080204" pitchFamily="50" charset="-128"/>
              </a:rPr>
              <a:t>)</a:t>
            </a:r>
            <a:r>
              <a:rPr lang="ja-JP" altLang="en-US" sz="2800" dirty="0" smtClean="0">
                <a:ea typeface="ＭＳ Ｐゴシック" panose="020B0600070205080204" pitchFamily="50" charset="-128"/>
              </a:rPr>
              <a:t>検証</a:t>
            </a:r>
            <a:r>
              <a:rPr lang="en-US" altLang="ja-JP" sz="2800" dirty="0" smtClean="0">
                <a:ea typeface="ＭＳ Ｐゴシック" panose="020B0600070205080204" pitchFamily="50" charset="-128"/>
              </a:rPr>
              <a:t/>
            </a:r>
            <a:br>
              <a:rPr lang="en-US" altLang="ja-JP" sz="2800" dirty="0" smtClean="0">
                <a:ea typeface="ＭＳ Ｐゴシック" panose="020B0600070205080204" pitchFamily="50" charset="-128"/>
              </a:rPr>
            </a:br>
            <a:r>
              <a:rPr lang="en-US" altLang="ja-JP" sz="2800" dirty="0" smtClean="0">
                <a:ea typeface="ＭＳ Ｐゴシック" panose="020B0600070205080204" pitchFamily="50" charset="-128"/>
              </a:rPr>
              <a:t>Java</a:t>
            </a:r>
            <a:r>
              <a:rPr lang="ja-JP" altLang="en-US" sz="2800" dirty="0" smtClean="0">
                <a:ea typeface="ＭＳ Ｐゴシック" panose="020B0600070205080204" pitchFamily="50" charset="-128"/>
              </a:rPr>
              <a:t>実装との交叉操作の差異を検証</a:t>
            </a:r>
            <a:r>
              <a:rPr lang="en-US" altLang="ja-JP" sz="2800" dirty="0" smtClean="0">
                <a:ea typeface="ＭＳ Ｐゴシック" panose="020B0600070205080204" pitchFamily="50" charset="-128"/>
              </a:rPr>
              <a:t/>
            </a:r>
            <a:br>
              <a:rPr lang="en-US" altLang="ja-JP" sz="2800" dirty="0" smtClean="0">
                <a:ea typeface="ＭＳ Ｐゴシック" panose="020B0600070205080204" pitchFamily="50" charset="-128"/>
              </a:rPr>
            </a:br>
            <a:r>
              <a:rPr lang="en-US" altLang="ja-JP" sz="2800" dirty="0" smtClean="0">
                <a:ea typeface="ＭＳ Ｐゴシック" panose="020B0600070205080204" pitchFamily="50" charset="-128"/>
              </a:rPr>
              <a:t>SMS</a:t>
            </a:r>
            <a:r>
              <a:rPr lang="ja-JP" altLang="en-US" sz="2800" dirty="0" smtClean="0">
                <a:ea typeface="ＭＳ Ｐゴシック" panose="020B0600070205080204" pitchFamily="50" charset="-128"/>
              </a:rPr>
              <a:t>のハイパーパラメータの検証</a:t>
            </a:r>
            <a:r>
              <a:rPr lang="en-US" altLang="ja-JP" sz="2800" dirty="0">
                <a:ea typeface="ＭＳ Ｐゴシック" panose="020B0600070205080204" pitchFamily="50" charset="-128"/>
              </a:rPr>
              <a:t/>
            </a:r>
            <a:br>
              <a:rPr lang="en-US" altLang="ja-JP" sz="2800" dirty="0">
                <a:ea typeface="ＭＳ Ｐゴシック" panose="020B0600070205080204" pitchFamily="50" charset="-128"/>
              </a:rPr>
            </a:br>
            <a:r>
              <a:rPr lang="en-US" altLang="ja-JP" sz="2800" dirty="0" smtClean="0">
                <a:ea typeface="ＭＳ Ｐゴシック" panose="020B0600070205080204" pitchFamily="50" charset="-128"/>
              </a:rPr>
              <a:t>MT-SMS</a:t>
            </a:r>
            <a:r>
              <a:rPr lang="ja-JP" altLang="en-US" sz="2800" dirty="0" smtClean="0">
                <a:ea typeface="ＭＳ Ｐゴシック" panose="020B0600070205080204" pitchFamily="50" charset="-128"/>
              </a:rPr>
              <a:t>の探索性能の</a:t>
            </a:r>
            <a:r>
              <a:rPr lang="ja-JP" altLang="en-US" sz="2800" dirty="0" smtClean="0">
                <a:ea typeface="ＭＳ Ｐゴシック" panose="020B0600070205080204" pitchFamily="50" charset="-128"/>
              </a:rPr>
              <a:t>調査</a:t>
            </a:r>
            <a:endParaRPr kumimoji="1" lang="ja-JP" altLang="en-US" dirty="0">
              <a:ea typeface="ＭＳ Ｐゴシック" panose="020B060007020508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18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5999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SBX</a:t>
            </a:r>
            <a:r>
              <a:rPr kumimoji="1" lang="ja-JP" altLang="en-US" dirty="0" smtClean="0"/>
              <a:t>の影響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2</a:t>
            </a:r>
            <a:r>
              <a:rPr kumimoji="1" lang="ja-JP" altLang="en-US" dirty="0" smtClean="0"/>
              <a:t>次元で子個体の分布を確認</a:t>
            </a:r>
            <a:endParaRPr kumimoji="1" lang="en-US" altLang="ja-JP" dirty="0" smtClean="0"/>
          </a:p>
          <a:p>
            <a:r>
              <a:rPr lang="ja-JP" altLang="en-US" dirty="0"/>
              <a:t>親個体は</a:t>
            </a:r>
            <a:r>
              <a:rPr lang="en-US" altLang="ja-JP" dirty="0"/>
              <a:t>{(0.25</a:t>
            </a:r>
            <a:r>
              <a:rPr lang="ja-JP" altLang="en-US" dirty="0" err="1"/>
              <a:t>，</a:t>
            </a:r>
            <a:r>
              <a:rPr lang="en-US" altLang="ja-JP" dirty="0"/>
              <a:t>0.25)</a:t>
            </a:r>
            <a:r>
              <a:rPr lang="ja-JP" altLang="en-US" dirty="0" err="1"/>
              <a:t>，</a:t>
            </a:r>
            <a:r>
              <a:rPr lang="en-US" altLang="ja-JP" dirty="0"/>
              <a:t>(0.75</a:t>
            </a:r>
            <a:r>
              <a:rPr lang="ja-JP" altLang="en-US" dirty="0" err="1"/>
              <a:t>，</a:t>
            </a:r>
            <a:r>
              <a:rPr lang="en-US" altLang="ja-JP" dirty="0"/>
              <a:t>0.75)}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19</a:t>
            </a:fld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978" y="2817642"/>
            <a:ext cx="3327163" cy="3327163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478" y="2817641"/>
            <a:ext cx="3327163" cy="3327163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2488858" y="6029980"/>
            <a:ext cx="3200400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/>
              <a:t>SBX</a:t>
            </a:r>
            <a:endParaRPr lang="ja-JP" altLang="en-US" sz="28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616358" y="6029980"/>
            <a:ext cx="3200400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 err="1"/>
              <a:t>SBX_java</a:t>
            </a: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4752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4294967295"/>
          </p:nvPr>
        </p:nvSpPr>
        <p:spPr>
          <a:xfrm>
            <a:off x="9347200" y="333375"/>
            <a:ext cx="2844800" cy="476250"/>
          </a:xfrm>
          <a:prstGeom prst="rect">
            <a:avLst/>
          </a:prstGeom>
        </p:spPr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20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07120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セル内の数値は，正規化後の</a:t>
            </a:r>
            <a:r>
              <a:rPr kumimoji="1" lang="en-US" altLang="ja-JP" dirty="0" smtClean="0"/>
              <a:t>IGD</a:t>
            </a:r>
            <a:r>
              <a:rPr kumimoji="1" lang="ja-JP" altLang="en-US" dirty="0" smtClean="0"/>
              <a:t>の総和を表す．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21</a:t>
            </a:fld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3" t="9571" r="15782" b="5298"/>
          <a:stretch/>
        </p:blipFill>
        <p:spPr>
          <a:xfrm>
            <a:off x="3495305" y="1992337"/>
            <a:ext cx="5201391" cy="4560863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 rot="16200000">
            <a:off x="2548019" y="4072712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69725" y="6393565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290306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22</a:t>
            </a:fld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独立探索で得られた</a:t>
            </a:r>
            <a:r>
              <a:rPr lang="en-US" altLang="ja-JP" dirty="0" smtClean="0"/>
              <a:t>IGD</a:t>
            </a:r>
            <a:endParaRPr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0" y="1283053"/>
            <a:ext cx="7137080" cy="5358693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 rot="16200000">
            <a:off x="2548019" y="4072712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69725" y="6393565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  <p:sp>
        <p:nvSpPr>
          <p:cNvPr id="9" name="正方形/長方形 8"/>
          <p:cNvSpPr/>
          <p:nvPr/>
        </p:nvSpPr>
        <p:spPr>
          <a:xfrm>
            <a:off x="3721100" y="3689348"/>
            <a:ext cx="603250" cy="577851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751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23</a:t>
            </a:fld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独立探索で得られた</a:t>
            </a:r>
            <a:r>
              <a:rPr lang="en-US" altLang="ja-JP" dirty="0" smtClean="0"/>
              <a:t>IGD</a:t>
            </a:r>
            <a:endParaRPr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0" y="1283053"/>
            <a:ext cx="7137080" cy="5358692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 rot="16200000">
            <a:off x="2548019" y="4072712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69725" y="6393565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  <p:sp>
        <p:nvSpPr>
          <p:cNvPr id="9" name="正方形/長方形 8"/>
          <p:cNvSpPr/>
          <p:nvPr/>
        </p:nvSpPr>
        <p:spPr>
          <a:xfrm>
            <a:off x="3721100" y="3689348"/>
            <a:ext cx="603250" cy="577851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6048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24</a:t>
            </a:fld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独立探索で得られた</a:t>
            </a:r>
            <a:r>
              <a:rPr lang="en-US" altLang="ja-JP" dirty="0" smtClean="0"/>
              <a:t>IGD</a:t>
            </a:r>
            <a:endParaRPr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0" y="1283053"/>
            <a:ext cx="7137081" cy="5358693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 rot="16200000">
            <a:off x="2548019" y="4072712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69725" y="6393565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  <p:sp>
        <p:nvSpPr>
          <p:cNvPr id="9" name="正方形/長方形 8"/>
          <p:cNvSpPr/>
          <p:nvPr/>
        </p:nvSpPr>
        <p:spPr>
          <a:xfrm>
            <a:off x="3721100" y="3689348"/>
            <a:ext cx="603250" cy="577851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8609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25</a:t>
            </a:fld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独立探索で得られた</a:t>
            </a:r>
            <a:r>
              <a:rPr lang="en-US" altLang="ja-JP" dirty="0" smtClean="0"/>
              <a:t>IGD</a:t>
            </a:r>
            <a:endParaRPr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0" y="1283053"/>
            <a:ext cx="7137080" cy="5358693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 rot="16200000">
            <a:off x="2548019" y="4072712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69725" y="6393565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  <p:sp>
        <p:nvSpPr>
          <p:cNvPr id="9" name="正方形/長方形 8"/>
          <p:cNvSpPr/>
          <p:nvPr/>
        </p:nvSpPr>
        <p:spPr>
          <a:xfrm>
            <a:off x="3721100" y="3689348"/>
            <a:ext cx="603250" cy="577851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2518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26</a:t>
            </a:fld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独立探索で得られた</a:t>
            </a:r>
            <a:r>
              <a:rPr lang="en-US" altLang="ja-JP" dirty="0" smtClean="0"/>
              <a:t>IGD</a:t>
            </a:r>
            <a:endParaRPr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0" y="1283053"/>
            <a:ext cx="7137080" cy="5358692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 rot="16200000">
            <a:off x="2548019" y="4072712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69725" y="6393565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  <p:sp>
        <p:nvSpPr>
          <p:cNvPr id="9" name="正方形/長方形 8"/>
          <p:cNvSpPr/>
          <p:nvPr/>
        </p:nvSpPr>
        <p:spPr>
          <a:xfrm>
            <a:off x="3721100" y="3689348"/>
            <a:ext cx="603250" cy="577851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1183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27</a:t>
            </a:fld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独立探索で得られた</a:t>
            </a:r>
            <a:r>
              <a:rPr lang="en-US" altLang="ja-JP" dirty="0" smtClean="0"/>
              <a:t>IGD</a:t>
            </a:r>
            <a:endParaRPr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0" y="1283053"/>
            <a:ext cx="7137079" cy="5358692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 rot="16200000">
            <a:off x="2548019" y="4072712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69725" y="6393565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  <p:sp>
        <p:nvSpPr>
          <p:cNvPr id="9" name="正方形/長方形 8"/>
          <p:cNvSpPr/>
          <p:nvPr/>
        </p:nvSpPr>
        <p:spPr>
          <a:xfrm>
            <a:off x="3721100" y="3689348"/>
            <a:ext cx="603250" cy="577851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4399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28</a:t>
            </a:fld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独立探索で得られた</a:t>
            </a:r>
            <a:r>
              <a:rPr lang="en-US" altLang="ja-JP" dirty="0" smtClean="0"/>
              <a:t>IGD</a:t>
            </a:r>
            <a:endParaRPr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0" y="1283053"/>
            <a:ext cx="7137080" cy="5358692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 rot="16200000">
            <a:off x="2548019" y="4072712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69725" y="6393565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  <p:sp>
        <p:nvSpPr>
          <p:cNvPr id="9" name="正方形/長方形 8"/>
          <p:cNvSpPr/>
          <p:nvPr/>
        </p:nvSpPr>
        <p:spPr>
          <a:xfrm>
            <a:off x="3721100" y="3689348"/>
            <a:ext cx="603250" cy="577851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6875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29</a:t>
            </a:fld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独立探索で得られた</a:t>
            </a:r>
            <a:r>
              <a:rPr lang="en-US" altLang="ja-JP" dirty="0" smtClean="0"/>
              <a:t>IGD</a:t>
            </a:r>
            <a:endParaRPr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0" y="1283053"/>
            <a:ext cx="7137079" cy="5358692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 rot="16200000">
            <a:off x="2548019" y="4072712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69725" y="6393565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  <p:sp>
        <p:nvSpPr>
          <p:cNvPr id="9" name="正方形/長方形 8"/>
          <p:cNvSpPr/>
          <p:nvPr/>
        </p:nvSpPr>
        <p:spPr>
          <a:xfrm>
            <a:off x="3721100" y="3689348"/>
            <a:ext cx="603250" cy="577851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24201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30</a:t>
            </a:fld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独立探索で得られた</a:t>
            </a:r>
            <a:r>
              <a:rPr lang="en-US" altLang="ja-JP" dirty="0" smtClean="0"/>
              <a:t>IGD</a:t>
            </a:r>
            <a:endParaRPr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0" y="1283053"/>
            <a:ext cx="7137080" cy="5358693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 rot="16200000">
            <a:off x="2548019" y="4072712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69725" y="6393565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  <p:sp>
        <p:nvSpPr>
          <p:cNvPr id="9" name="正方形/長方形 8"/>
          <p:cNvSpPr/>
          <p:nvPr/>
        </p:nvSpPr>
        <p:spPr>
          <a:xfrm>
            <a:off x="3721100" y="3689348"/>
            <a:ext cx="603250" cy="577851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83180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31</a:t>
            </a:fld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独立探索で得られた</a:t>
            </a:r>
            <a:r>
              <a:rPr lang="en-US" altLang="ja-JP" dirty="0" smtClean="0"/>
              <a:t>IGD</a:t>
            </a:r>
            <a:endParaRPr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0" y="1283053"/>
            <a:ext cx="7137080" cy="5358692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 rot="16200000">
            <a:off x="2548019" y="4072712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69725" y="6393565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  <p:sp>
        <p:nvSpPr>
          <p:cNvPr id="9" name="正方形/長方形 8"/>
          <p:cNvSpPr/>
          <p:nvPr/>
        </p:nvSpPr>
        <p:spPr>
          <a:xfrm>
            <a:off x="3721100" y="3689348"/>
            <a:ext cx="603250" cy="577851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24140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32</a:t>
            </a:fld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独立探索で得られた</a:t>
            </a:r>
            <a:r>
              <a:rPr lang="en-US" altLang="ja-JP" dirty="0" smtClean="0"/>
              <a:t>IGD</a:t>
            </a:r>
            <a:endParaRPr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0" y="1283053"/>
            <a:ext cx="7137079" cy="5358692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 rot="16200000">
            <a:off x="2548019" y="4072712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69725" y="6393565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  <p:sp>
        <p:nvSpPr>
          <p:cNvPr id="9" name="正方形/長方形 8"/>
          <p:cNvSpPr/>
          <p:nvPr/>
        </p:nvSpPr>
        <p:spPr>
          <a:xfrm>
            <a:off x="3721100" y="3689348"/>
            <a:ext cx="603250" cy="577851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52760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33</a:t>
            </a:fld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独立探索で得られた</a:t>
            </a:r>
            <a:r>
              <a:rPr lang="en-US" altLang="ja-JP" dirty="0" smtClean="0"/>
              <a:t>IGD</a:t>
            </a:r>
            <a:endParaRPr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0" y="1283053"/>
            <a:ext cx="7137080" cy="5358693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 rot="16200000">
            <a:off x="2548019" y="4072712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69725" y="6393565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  <p:sp>
        <p:nvSpPr>
          <p:cNvPr id="9" name="正方形/長方形 8"/>
          <p:cNvSpPr/>
          <p:nvPr/>
        </p:nvSpPr>
        <p:spPr>
          <a:xfrm>
            <a:off x="3721100" y="3689348"/>
            <a:ext cx="603250" cy="577851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00655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34</a:t>
            </a:fld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独立探索で得られた</a:t>
            </a:r>
            <a:r>
              <a:rPr lang="en-US" altLang="ja-JP" dirty="0" smtClean="0"/>
              <a:t>IGD</a:t>
            </a:r>
            <a:endParaRPr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0" y="1283053"/>
            <a:ext cx="7137079" cy="5358691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 rot="16200000">
            <a:off x="2548019" y="4072712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69725" y="6393565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  <p:sp>
        <p:nvSpPr>
          <p:cNvPr id="9" name="正方形/長方形 8"/>
          <p:cNvSpPr/>
          <p:nvPr/>
        </p:nvSpPr>
        <p:spPr>
          <a:xfrm>
            <a:off x="3721100" y="3689348"/>
            <a:ext cx="603250" cy="577851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9819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35</a:t>
            </a:fld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独立探索で得られた</a:t>
            </a:r>
            <a:r>
              <a:rPr lang="en-US" altLang="ja-JP" dirty="0" smtClean="0"/>
              <a:t>IGD</a:t>
            </a:r>
            <a:endParaRPr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0" y="1283053"/>
            <a:ext cx="7137079" cy="5358692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 rot="16200000">
            <a:off x="2548019" y="4072712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69725" y="6393565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  <p:sp>
        <p:nvSpPr>
          <p:cNvPr id="9" name="正方形/長方形 8"/>
          <p:cNvSpPr/>
          <p:nvPr/>
        </p:nvSpPr>
        <p:spPr>
          <a:xfrm>
            <a:off x="3721100" y="3689348"/>
            <a:ext cx="603250" cy="577851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35150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36</a:t>
            </a:fld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独立探索で得られた</a:t>
            </a:r>
            <a:r>
              <a:rPr lang="en-US" altLang="ja-JP" dirty="0" smtClean="0"/>
              <a:t>IGD</a:t>
            </a:r>
            <a:endParaRPr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0" y="1283053"/>
            <a:ext cx="7137080" cy="5358692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 rot="16200000">
            <a:off x="2548019" y="4072712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69725" y="6393565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  <p:sp>
        <p:nvSpPr>
          <p:cNvPr id="9" name="正方形/長方形 8"/>
          <p:cNvSpPr/>
          <p:nvPr/>
        </p:nvSpPr>
        <p:spPr>
          <a:xfrm>
            <a:off x="3721100" y="3689348"/>
            <a:ext cx="603250" cy="577851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61803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37</a:t>
            </a:fld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独立探索で得られた</a:t>
            </a:r>
            <a:r>
              <a:rPr lang="en-US" altLang="ja-JP" dirty="0" smtClean="0"/>
              <a:t>IGD</a:t>
            </a:r>
            <a:endParaRPr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0" y="1283053"/>
            <a:ext cx="7137079" cy="5358692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 rot="16200000">
            <a:off x="2548019" y="4072712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69725" y="6393565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  <p:sp>
        <p:nvSpPr>
          <p:cNvPr id="9" name="正方形/長方形 8"/>
          <p:cNvSpPr/>
          <p:nvPr/>
        </p:nvSpPr>
        <p:spPr>
          <a:xfrm>
            <a:off x="3721100" y="3689348"/>
            <a:ext cx="603250" cy="577851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136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38</a:t>
            </a:fld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独立探索で得られた</a:t>
            </a:r>
            <a:r>
              <a:rPr lang="en-US" altLang="ja-JP" dirty="0" smtClean="0"/>
              <a:t>IGD</a:t>
            </a:r>
            <a:endParaRPr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0" y="1283053"/>
            <a:ext cx="7137079" cy="5358692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 rot="16200000">
            <a:off x="2548019" y="4072712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69725" y="6393565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  <p:sp>
        <p:nvSpPr>
          <p:cNvPr id="9" name="正方形/長方形 8"/>
          <p:cNvSpPr/>
          <p:nvPr/>
        </p:nvSpPr>
        <p:spPr>
          <a:xfrm>
            <a:off x="3721100" y="3689348"/>
            <a:ext cx="603250" cy="577851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34750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39</a:t>
            </a:fld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独立探索で得られた</a:t>
            </a:r>
            <a:r>
              <a:rPr lang="en-US" altLang="ja-JP" dirty="0" smtClean="0"/>
              <a:t>IGD</a:t>
            </a:r>
            <a:endParaRPr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60" y="1283053"/>
            <a:ext cx="7137079" cy="5358691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 rot="16200000">
            <a:off x="2548019" y="4072712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69725" y="6393565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  <p:sp>
        <p:nvSpPr>
          <p:cNvPr id="9" name="正方形/長方形 8"/>
          <p:cNvSpPr/>
          <p:nvPr/>
        </p:nvSpPr>
        <p:spPr>
          <a:xfrm>
            <a:off x="3721100" y="3689348"/>
            <a:ext cx="603250" cy="577851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94907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3E27F71A-09F3-40FE-8C2D-54B13A3AB99C}" vid="{9AAC496F-98CF-44D0-8969-8E95277F1232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405</TotalTime>
  <Words>749</Words>
  <Application>Microsoft Office PowerPoint</Application>
  <PresentationFormat>ワイド画面</PresentationFormat>
  <Paragraphs>317</Paragraphs>
  <Slides>39</Slides>
  <Notes>1</Notes>
  <HiddenSlides>6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39</vt:i4>
      </vt:variant>
    </vt:vector>
  </HeadingPairs>
  <TitlesOfParts>
    <vt:vector size="47" baseType="lpstr">
      <vt:lpstr>ＭＳ P ゴシック</vt:lpstr>
      <vt:lpstr>ＭＳ Ｐゴシック</vt:lpstr>
      <vt:lpstr>Arial</vt:lpstr>
      <vt:lpstr>Calibri</vt:lpstr>
      <vt:lpstr>Cambria Math</vt:lpstr>
      <vt:lpstr>Symbol</vt:lpstr>
      <vt:lpstr>Times New Roman</vt:lpstr>
      <vt:lpstr>Theme_Lab</vt:lpstr>
      <vt:lpstr>Similarity-based Mating Schemeを 取り入れた進化型マルチタスキングの実装</vt:lpstr>
      <vt:lpstr>Similarity-based Mating Scheme</vt:lpstr>
      <vt:lpstr>Similarity-based Mating Scheme</vt:lpstr>
      <vt:lpstr>Similarity-based Mating Scheme</vt:lpstr>
      <vt:lpstr>Similarity-based Mating Scheme</vt:lpstr>
      <vt:lpstr>Similarity-based Mating Scheme</vt:lpstr>
      <vt:lpstr>Similarity-based Mating Scheme</vt:lpstr>
      <vt:lpstr>Similarity-based Mating Scheme</vt:lpstr>
      <vt:lpstr>概要</vt:lpstr>
      <vt:lpstr>疑問</vt:lpstr>
      <vt:lpstr>実験結果</vt:lpstr>
      <vt:lpstr>SMSを取り入れたマルチタスク手法の実装</vt:lpstr>
      <vt:lpstr>実験結果</vt:lpstr>
      <vt:lpstr>実験結果</vt:lpstr>
      <vt:lpstr>実験結果</vt:lpstr>
      <vt:lpstr>実験結果</vt:lpstr>
      <vt:lpstr>実験結果</vt:lpstr>
      <vt:lpstr>今期のまとめ</vt:lpstr>
      <vt:lpstr>SBXの影響</vt:lpstr>
      <vt:lpstr>PowerPoint プレゼンテーション</vt:lpstr>
      <vt:lpstr>実験結果</vt:lpstr>
      <vt:lpstr>実験結果</vt:lpstr>
      <vt:lpstr>実験結果</vt:lpstr>
      <vt:lpstr>実験結果</vt:lpstr>
      <vt:lpstr>実験結果</vt:lpstr>
      <vt:lpstr>実験結果</vt:lpstr>
      <vt:lpstr>実験結果</vt:lpstr>
      <vt:lpstr>実験結果</vt:lpstr>
      <vt:lpstr>実験結果</vt:lpstr>
      <vt:lpstr>実験結果</vt:lpstr>
      <vt:lpstr>実験結果</vt:lpstr>
      <vt:lpstr>実験結果</vt:lpstr>
      <vt:lpstr>実験結果</vt:lpstr>
      <vt:lpstr>実験結果</vt:lpstr>
      <vt:lpstr>実験結果</vt:lpstr>
      <vt:lpstr>実験結果</vt:lpstr>
      <vt:lpstr>実験結果</vt:lpstr>
      <vt:lpstr>実験結果</vt:lpstr>
      <vt:lpstr>実験結果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Similarity-based Mating Schemeを取り入れた マルチタスク最適化の実装</dc:title>
  <dc:creator>瓜田 俊貴</dc:creator>
  <cp:lastModifiedBy>瓜田 俊貴</cp:lastModifiedBy>
  <cp:revision>30</cp:revision>
  <dcterms:created xsi:type="dcterms:W3CDTF">2020-11-24T15:20:35Z</dcterms:created>
  <dcterms:modified xsi:type="dcterms:W3CDTF">2021-01-27T08:41:10Z</dcterms:modified>
</cp:coreProperties>
</file>