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9" r:id="rId3"/>
    <p:sldId id="257" r:id="rId4"/>
    <p:sldId id="263" r:id="rId5"/>
    <p:sldId id="261" r:id="rId6"/>
    <p:sldId id="260" r:id="rId7"/>
    <p:sldId id="258" r:id="rId8"/>
    <p:sldId id="262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kumimoji="1" lang="ja-JP" altLang="en-US" dirty="0" smtClean="0"/>
              <a:t>多目的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制約取り扱い手法の適用について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78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前提条件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799112"/>
          </a:xfrm>
        </p:spPr>
        <p:txBody>
          <a:bodyPr/>
          <a:lstStyle/>
          <a:p>
            <a:r>
              <a:rPr lang="ja-JP" altLang="en-US" dirty="0"/>
              <a:t>各アイテム</a:t>
            </a:r>
            <a:r>
              <a:rPr lang="ja-JP" altLang="en-US" dirty="0" smtClean="0"/>
              <a:t>の価値・重みは</a:t>
            </a:r>
            <a:r>
              <a:rPr lang="en-US" altLang="ja-JP" dirty="0" smtClean="0"/>
              <a:t>[10,</a:t>
            </a:r>
            <a:r>
              <a:rPr lang="ja-JP" altLang="en-US" dirty="0" smtClean="0"/>
              <a:t> </a:t>
            </a:r>
            <a:r>
              <a:rPr lang="en-US" altLang="ja-JP" dirty="0" smtClean="0"/>
              <a:t>100]</a:t>
            </a:r>
            <a:r>
              <a:rPr lang="ja-JP" altLang="en-US" dirty="0" smtClean="0"/>
              <a:t>の一様乱数から生成される．</a:t>
            </a:r>
            <a:endParaRPr lang="en-US" altLang="ja-JP" dirty="0" smtClean="0"/>
          </a:p>
          <a:p>
            <a:r>
              <a:rPr lang="ja-JP" altLang="en-US" dirty="0" smtClean="0"/>
              <a:t>元の問題のナップサックの容量は，すべてのアイテムの重みの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総和</a:t>
            </a:r>
            <a:r>
              <a:rPr lang="en-US" altLang="ja-JP" dirty="0" smtClean="0"/>
              <a:t>×0.5</a:t>
            </a:r>
            <a:r>
              <a:rPr lang="ja-JP" altLang="en-US" dirty="0" smtClean="0"/>
              <a:t>に設定している．</a:t>
            </a:r>
            <a:r>
              <a:rPr lang="en-US" altLang="ja-JP" dirty="0" smtClean="0"/>
              <a:t>(</a:t>
            </a:r>
            <a:r>
              <a:rPr lang="ja-JP" altLang="en-US" dirty="0" smtClean="0"/>
              <a:t>以降，容量</a:t>
            </a:r>
            <a:r>
              <a:rPr lang="en-US" altLang="ja-JP" dirty="0" smtClean="0"/>
              <a:t>0.5</a:t>
            </a:r>
            <a:r>
              <a:rPr lang="ja-JP" altLang="en-US" dirty="0" smtClean="0"/>
              <a:t>と表記</a:t>
            </a:r>
            <a:r>
              <a:rPr lang="en-US" altLang="ja-JP" dirty="0" smtClean="0"/>
              <a:t>)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304800" y="3946933"/>
            <a:ext cx="11582400" cy="179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just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25475" indent="-625475"/>
            <a:r>
              <a:rPr lang="en-US" altLang="ja-JP" dirty="0" smtClean="0"/>
              <a:t>1.</a:t>
            </a:r>
            <a:r>
              <a:rPr lang="ja-JP" altLang="en-US" dirty="0" smtClean="0"/>
              <a:t> すべて</a:t>
            </a:r>
            <a:r>
              <a:rPr lang="ja-JP" altLang="en-US" dirty="0"/>
              <a:t>の解の内，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/>
              <a:t>個のアイテムを含む解の割合</a:t>
            </a:r>
            <a:r>
              <a:rPr lang="ja-JP" altLang="en-US" dirty="0" smtClean="0"/>
              <a:t>は計算可能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かつ正規分布で近似可能</a:t>
            </a:r>
            <a:endParaRPr lang="en-US" altLang="ja-JP" dirty="0"/>
          </a:p>
          <a:p>
            <a:r>
              <a:rPr lang="en-US" altLang="ja-JP" dirty="0" smtClean="0">
                <a:cs typeface="Times New Roman" panose="02020603050405020304" pitchFamily="18" charset="0"/>
              </a:rPr>
              <a:t>2.</a:t>
            </a:r>
            <a:r>
              <a:rPr lang="ja-JP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/>
              <a:t>個のアイテムを含む</a:t>
            </a:r>
            <a:r>
              <a:rPr lang="ja-JP" altLang="en-US" dirty="0" smtClean="0"/>
              <a:t>解について，制約違反の確率は近似可能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ja-JP" altLang="en-US" kern="0" dirty="0"/>
          </a:p>
        </p:txBody>
      </p:sp>
      <p:sp>
        <p:nvSpPr>
          <p:cNvPr id="7" name="二等辺三角形 6"/>
          <p:cNvSpPr/>
          <p:nvPr/>
        </p:nvSpPr>
        <p:spPr>
          <a:xfrm rot="10800000">
            <a:off x="5703780" y="3332386"/>
            <a:ext cx="784441" cy="452873"/>
          </a:xfrm>
          <a:prstGeom prst="triangle">
            <a:avLst/>
          </a:prstGeom>
          <a:solidFill>
            <a:schemeClr val="accent2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19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実行可能割合の</a:t>
            </a:r>
            <a:r>
              <a:rPr kumimoji="1" lang="ja-JP" altLang="en-US" dirty="0" smtClean="0"/>
              <a:t>導出</a:t>
            </a:r>
            <a:r>
              <a:rPr lang="ja-JP" altLang="en-US" dirty="0"/>
              <a:t>方法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すべての解の内，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個のアイテムを含む解の割合は</a:t>
            </a:r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で計算できる．</a:t>
            </a:r>
            <a:endParaRPr lang="en-US" altLang="ja-JP" dirty="0" smtClean="0"/>
          </a:p>
          <a:p>
            <a:r>
              <a:rPr lang="ja-JP" altLang="en-US" dirty="0" smtClean="0"/>
              <a:t>このとき，ド・モアブル</a:t>
            </a:r>
            <a:r>
              <a:rPr lang="en-US" altLang="ja-JP" dirty="0" smtClean="0"/>
              <a:t>-</a:t>
            </a:r>
            <a:r>
              <a:rPr lang="ja-JP" altLang="en-US" dirty="0" smtClean="0"/>
              <a:t>ラプラスの定理を認めると，</a:t>
            </a:r>
            <a:endParaRPr lang="en-US" altLang="ja-JP" dirty="0" smtClean="0"/>
          </a:p>
          <a:p>
            <a:pPr algn="ctr"/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 smtClean="0"/>
              <a:t>(250, 125)</a:t>
            </a:r>
          </a:p>
          <a:p>
            <a:r>
              <a:rPr lang="ja-JP" altLang="en-US" dirty="0" smtClean="0"/>
              <a:t>の正規分布に近似できる．</a:t>
            </a:r>
            <a:endParaRPr lang="en-US" altLang="ja-JP" dirty="0" smtClean="0"/>
          </a:p>
          <a:p>
            <a:r>
              <a:rPr lang="ja-JP" altLang="en-US" dirty="0" smtClean="0"/>
              <a:t>したがって，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/>
              <a:t>個のアイテムを含む解の</a:t>
            </a:r>
            <a:r>
              <a:rPr lang="ja-JP" altLang="en-US" dirty="0" smtClean="0"/>
              <a:t>割合は計算可能である．</a:t>
            </a:r>
            <a:endParaRPr lang="en-US" altLang="ja-JP" dirty="0" smtClean="0"/>
          </a:p>
          <a:p>
            <a:endParaRPr kumimoji="1" lang="en-US" altLang="ja-JP" dirty="0" smtClean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/>
              <a:t>個のアイテムを含む解の割合</a:t>
            </a:r>
            <a:endParaRPr kumimoji="1" lang="ja-JP" altLang="en-US" dirty="0"/>
          </a:p>
        </p:txBody>
      </p:sp>
      <p:graphicFrame>
        <p:nvGraphicFramePr>
          <p:cNvPr id="8" name="オブジェクト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472947"/>
              </p:ext>
            </p:extLst>
          </p:nvPr>
        </p:nvGraphicFramePr>
        <p:xfrm>
          <a:off x="4991100" y="2106406"/>
          <a:ext cx="2209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2209680" imgH="1091880" progId="Equation.DSMT4">
                  <p:embed/>
                </p:oleObj>
              </mc:Choice>
              <mc:Fallback>
                <p:oleObj name="Equation" r:id="rId3" imgW="2209680" imgH="1091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91100" y="2106406"/>
                        <a:ext cx="22098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16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実行可能割合の導出方法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各アイテムの重みは</a:t>
            </a:r>
            <a:r>
              <a:rPr lang="en-US" altLang="ja-JP" dirty="0" smtClean="0"/>
              <a:t>[10,</a:t>
            </a:r>
            <a:r>
              <a:rPr lang="ja-JP" altLang="en-US" dirty="0" smtClean="0"/>
              <a:t> </a:t>
            </a:r>
            <a:r>
              <a:rPr lang="en-US" altLang="ja-JP" dirty="0" smtClean="0"/>
              <a:t>100]</a:t>
            </a:r>
            <a:r>
              <a:rPr lang="ja-JP" altLang="en-US" dirty="0" smtClean="0"/>
              <a:t>の一様乱数から生成されるため，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/>
              <a:t>個</a:t>
            </a:r>
            <a:r>
              <a:rPr lang="ja-JP" altLang="en-US" smtClean="0"/>
              <a:t>のアイテムを含む</a:t>
            </a:r>
            <a:r>
              <a:rPr lang="ja-JP" altLang="en-US"/>
              <a:t>解</a:t>
            </a:r>
            <a:r>
              <a:rPr lang="ja-JP" altLang="en-US" smtClean="0"/>
              <a:t>の総重量は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個</a:t>
            </a:r>
            <a:r>
              <a:rPr lang="ja-JP" altLang="en-US" dirty="0"/>
              <a:t>のアイテムを含む</a:t>
            </a:r>
            <a:r>
              <a:rPr lang="ja-JP" altLang="en-US" dirty="0" smtClean="0"/>
              <a:t>解</a:t>
            </a:r>
            <a:r>
              <a:rPr lang="ja-JP" altLang="en-US" dirty="0"/>
              <a:t>の</a:t>
            </a:r>
            <a:r>
              <a:rPr lang="ja-JP" altLang="en-US" dirty="0" smtClean="0"/>
              <a:t>制約違反確率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4311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実行可能割合の導出について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近似的には，容量</a:t>
            </a:r>
            <a:r>
              <a:rPr kumimoji="1" lang="en-US" altLang="ja-JP" i="1" dirty="0" smtClean="0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の問題では，実行可能解の割合はアイテム数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i="1" dirty="0" err="1">
                <a:latin typeface="Symbol" panose="05050102010706020507" pitchFamily="18" charset="2"/>
              </a:rPr>
              <a:t>a</a:t>
            </a:r>
            <a:r>
              <a:rPr kumimoji="1" lang="ja-JP" altLang="en-US" dirty="0" smtClean="0"/>
              <a:t>の解の割合とみなせる．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正確には正しくない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実行可能解と含まれるアイテム数の関係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8253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制限容量と実行可能解の関係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容量</a:t>
            </a:r>
            <a:r>
              <a:rPr lang="en-US" altLang="ja-JP" dirty="0" smtClean="0"/>
              <a:t>0.5</a:t>
            </a:r>
            <a:r>
              <a:rPr lang="ja-JP" altLang="en-US" dirty="0" smtClean="0"/>
              <a:t>の問題では，実行可能解の割合は</a:t>
            </a:r>
            <a:r>
              <a:rPr lang="en-US" altLang="ja-JP" dirty="0" smtClean="0"/>
              <a:t>0</a:t>
            </a:r>
            <a:r>
              <a:rPr lang="en-US" altLang="ja-JP" dirty="0"/>
              <a:t>.</a:t>
            </a:r>
            <a:r>
              <a:rPr lang="en-US" altLang="ja-JP" dirty="0" smtClean="0"/>
              <a:t>5</a:t>
            </a:r>
            <a:r>
              <a:rPr lang="ja-JP" altLang="en-US" dirty="0" smtClean="0"/>
              <a:t>となる．</a:t>
            </a:r>
            <a:endParaRPr lang="en-US" altLang="ja-JP" dirty="0" smtClean="0"/>
          </a:p>
          <a:p>
            <a:r>
              <a:rPr kumimoji="1" lang="ja-JP" altLang="en-US" dirty="0" smtClean="0"/>
              <a:t>しかし容量</a:t>
            </a:r>
            <a:r>
              <a:rPr kumimoji="1" lang="en-US" altLang="ja-JP" dirty="0" smtClean="0"/>
              <a:t>0.25</a:t>
            </a:r>
            <a:r>
              <a:rPr kumimoji="1" lang="ja-JP" altLang="en-US" dirty="0" smtClean="0"/>
              <a:t>の問題では，実行可能解の割合は</a:t>
            </a:r>
            <a:r>
              <a:rPr kumimoji="1" lang="en-US" altLang="ja-JP" dirty="0" smtClean="0"/>
              <a:t>0.25</a:t>
            </a:r>
            <a:r>
              <a:rPr kumimoji="1" lang="ja-JP" altLang="en-US" dirty="0" smtClean="0"/>
              <a:t>にならない．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262" y="3046457"/>
            <a:ext cx="4551477" cy="3506743"/>
          </a:xfrm>
          <a:prstGeom prst="rect">
            <a:avLst/>
          </a:prstGeom>
        </p:spPr>
      </p:pic>
      <p:cxnSp>
        <p:nvCxnSpPr>
          <p:cNvPr id="7" name="直線コネクタ 6"/>
          <p:cNvCxnSpPr/>
          <p:nvPr/>
        </p:nvCxnSpPr>
        <p:spPr>
          <a:xfrm>
            <a:off x="5557652" y="3277590"/>
            <a:ext cx="0" cy="3004457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562597" y="2754370"/>
            <a:ext cx="218506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実行可能解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4108863" y="3297599"/>
            <a:ext cx="1401288" cy="3004458"/>
          </a:xfrm>
          <a:prstGeom prst="rect">
            <a:avLst/>
          </a:prstGeom>
          <a:solidFill>
            <a:srgbClr val="FFD2D7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/>
          <p:nvPr/>
        </p:nvCxnSpPr>
        <p:spPr>
          <a:xfrm flipH="1">
            <a:off x="4180114" y="3657600"/>
            <a:ext cx="125878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54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制限容量の変更の影響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例えば，容量</a:t>
            </a:r>
            <a:r>
              <a:rPr kumimoji="1" lang="en-US" altLang="ja-JP" dirty="0" smtClean="0"/>
              <a:t>0.25</a:t>
            </a:r>
            <a:r>
              <a:rPr kumimoji="1" lang="ja-JP" altLang="en-US" dirty="0" smtClean="0"/>
              <a:t>としたとき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 smtClean="0"/>
              <a:t>PF</a:t>
            </a:r>
            <a:r>
              <a:rPr kumimoji="1" lang="ja-JP" altLang="en-US" dirty="0" smtClean="0"/>
              <a:t>となる解に含まれるアイテム数が減るため</a:t>
            </a:r>
            <a:r>
              <a:rPr kumimoji="1" lang="en-US" altLang="ja-JP" dirty="0" smtClean="0"/>
              <a:t>PF</a:t>
            </a:r>
            <a:r>
              <a:rPr lang="ja-JP" altLang="en-US" dirty="0" smtClean="0"/>
              <a:t>となる解が減り探索難易度が低下</a:t>
            </a:r>
            <a:r>
              <a:rPr lang="en-US" altLang="ja-JP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実行可能解の</a:t>
            </a:r>
            <a:r>
              <a:rPr lang="ja-JP" altLang="en-US" dirty="0" smtClean="0"/>
              <a:t>割合が大きく減少するため，探索難易度が大きく上昇</a:t>
            </a:r>
            <a:r>
              <a:rPr lang="en-US" altLang="ja-JP" dirty="0" smtClean="0"/>
              <a:t>?</a:t>
            </a:r>
          </a:p>
          <a:p>
            <a:r>
              <a:rPr lang="ja-JP" altLang="en-US" dirty="0" smtClean="0"/>
              <a:t>と懸念</a:t>
            </a:r>
            <a:r>
              <a:rPr lang="ja-JP" altLang="en-US" dirty="0"/>
              <a:t>材料</a:t>
            </a:r>
            <a:r>
              <a:rPr lang="ja-JP" altLang="en-US" dirty="0" smtClean="0"/>
              <a:t>が増加してしまう．</a:t>
            </a:r>
            <a:endParaRPr lang="en-US" altLang="ja-JP" dirty="0" smtClean="0"/>
          </a:p>
          <a:p>
            <a:r>
              <a:rPr lang="en-US" altLang="ja-JP" dirty="0" smtClean="0"/>
              <a:t>1.2.</a:t>
            </a:r>
            <a:r>
              <a:rPr lang="ja-JP" altLang="en-US" dirty="0" smtClean="0"/>
              <a:t>の影響を排除したうえで，制約取り扱い手法の影響を見るのは難しいのでは</a:t>
            </a:r>
            <a:r>
              <a:rPr lang="en-US" altLang="ja-JP" dirty="0" smtClean="0"/>
              <a:t>?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539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初期解のアイテム数変更による影響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容量</a:t>
            </a:r>
            <a:r>
              <a:rPr kumimoji="1" lang="en-US" altLang="ja-JP" dirty="0" smtClean="0"/>
              <a:t>0.5</a:t>
            </a:r>
            <a:r>
              <a:rPr kumimoji="1" lang="ja-JP" altLang="en-US" dirty="0" smtClean="0"/>
              <a:t>のまま，初期解に含まれるアイテム数を</a:t>
            </a:r>
            <a:r>
              <a:rPr kumimoji="1" lang="en-US" altLang="ja-JP" dirty="0" smtClean="0"/>
              <a:t>75%</a:t>
            </a:r>
            <a:r>
              <a:rPr kumimoji="1" lang="ja-JP" altLang="en-US" dirty="0" smtClean="0"/>
              <a:t>にすると</a:t>
            </a:r>
            <a:endParaRPr kumimoji="1" lang="en-US" altLang="ja-JP" dirty="0" smtClean="0"/>
          </a:p>
          <a:p>
            <a:pPr marL="514350" indent="-514350" algn="l">
              <a:buFont typeface="+mj-lt"/>
              <a:buAutoNum type="arabicPeriod"/>
            </a:pPr>
            <a:r>
              <a:rPr lang="ja-JP" altLang="en-US" dirty="0" smtClean="0"/>
              <a:t>初期</a:t>
            </a:r>
            <a:r>
              <a:rPr lang="ja-JP" altLang="en-US" dirty="0"/>
              <a:t>解</a:t>
            </a:r>
            <a:r>
              <a:rPr lang="ja-JP" altLang="en-US" dirty="0" smtClean="0"/>
              <a:t>の実行可能割合の低下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>=</a:t>
            </a:r>
            <a:r>
              <a:rPr lang="ja-JP" altLang="en-US" dirty="0" smtClean="0"/>
              <a:t>制約違反解の取り扱いが重要に</a:t>
            </a:r>
            <a:endParaRPr lang="en-US" altLang="ja-JP" dirty="0" smtClean="0"/>
          </a:p>
          <a:p>
            <a:pPr marL="514350" indent="-514350" algn="l">
              <a:buFont typeface="+mj-lt"/>
              <a:buAutoNum type="arabicPeriod"/>
            </a:pPr>
            <a:r>
              <a:rPr kumimoji="1" lang="ja-JP" altLang="en-US" dirty="0" smtClean="0"/>
              <a:t>初期解から</a:t>
            </a:r>
            <a:r>
              <a:rPr kumimoji="1" lang="en-US" altLang="ja-JP" dirty="0" smtClean="0"/>
              <a:t>PF</a:t>
            </a:r>
            <a:r>
              <a:rPr kumimoji="1" lang="ja-JP" altLang="en-US" dirty="0" err="1" smtClean="0"/>
              <a:t>への</a:t>
            </a:r>
            <a:r>
              <a:rPr kumimoji="1" lang="ja-JP" altLang="en-US" dirty="0" smtClean="0"/>
              <a:t>距離の増加</a:t>
            </a:r>
            <a:endParaRPr kumimoji="1" lang="en-US" altLang="ja-JP" dirty="0" smtClean="0"/>
          </a:p>
          <a:p>
            <a:r>
              <a:rPr kumimoji="1" lang="ja-JP" altLang="en-US" dirty="0" smtClean="0"/>
              <a:t>の影響がある．</a:t>
            </a:r>
            <a:endParaRPr kumimoji="1" lang="en-US" altLang="ja-JP" dirty="0" smtClean="0"/>
          </a:p>
          <a:p>
            <a:r>
              <a:rPr lang="ja-JP" altLang="en-US" dirty="0" smtClean="0"/>
              <a:t>そのため，</a:t>
            </a:r>
            <a:r>
              <a:rPr lang="en-US" altLang="ja-JP" dirty="0" smtClean="0"/>
              <a:t>2.</a:t>
            </a:r>
            <a:r>
              <a:rPr lang="ja-JP" altLang="en-US" dirty="0" smtClean="0"/>
              <a:t>の影響は残るが，制約取り扱い手法による影響を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直接観測しやすくなる</a:t>
            </a:r>
            <a:r>
              <a:rPr lang="en-US" altLang="ja-JP" dirty="0" smtClean="0"/>
              <a:t>?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652829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chemeClr val="accent2"/>
          </a:solidFill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185</TotalTime>
  <Words>377</Words>
  <Application>Microsoft Office PowerPoint</Application>
  <PresentationFormat>ワイド画面</PresentationFormat>
  <Paragraphs>45</Paragraphs>
  <Slides>8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ＭＳ P ゴシック</vt:lpstr>
      <vt:lpstr>ＭＳ Ｐゴシック</vt:lpstr>
      <vt:lpstr>Arial</vt:lpstr>
      <vt:lpstr>Symbol</vt:lpstr>
      <vt:lpstr>Times New Roman</vt:lpstr>
      <vt:lpstr>Theme_Lab</vt:lpstr>
      <vt:lpstr>Equation</vt:lpstr>
      <vt:lpstr>(多目的)ナップサック問題の 制約取り扱い手法の適用について</vt:lpstr>
      <vt:lpstr>前提条件</vt:lpstr>
      <vt:lpstr>実行可能割合の導出方法</vt:lpstr>
      <vt:lpstr>実行可能割合の導出方法</vt:lpstr>
      <vt:lpstr>実行可能割合の導出について</vt:lpstr>
      <vt:lpstr>制限容量と実行可能解の関係</vt:lpstr>
      <vt:lpstr>制限容量の変更の影響</vt:lpstr>
      <vt:lpstr>初期解のアイテム数変更による影響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(多目的)ナップサック問題の 制約取り扱い手法の適用について</dc:title>
  <dc:creator>瓜田 俊貴</dc:creator>
  <cp:lastModifiedBy>瓜田 俊貴</cp:lastModifiedBy>
  <cp:revision>10</cp:revision>
  <dcterms:created xsi:type="dcterms:W3CDTF">2020-12-29T09:07:51Z</dcterms:created>
  <dcterms:modified xsi:type="dcterms:W3CDTF">2021-01-27T09:25:28Z</dcterms:modified>
</cp:coreProperties>
</file>