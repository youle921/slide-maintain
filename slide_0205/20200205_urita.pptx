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74" r:id="rId3"/>
    <p:sldId id="268" r:id="rId4"/>
    <p:sldId id="262" r:id="rId5"/>
    <p:sldId id="271" r:id="rId6"/>
    <p:sldId id="259" r:id="rId7"/>
    <p:sldId id="263" r:id="rId8"/>
    <p:sldId id="266" r:id="rId9"/>
    <p:sldId id="272" r:id="rId10"/>
    <p:sldId id="273" r:id="rId11"/>
    <p:sldId id="275" r:id="rId12"/>
    <p:sldId id="276" r:id="rId13"/>
    <p:sldId id="277" r:id="rId14"/>
    <p:sldId id="278" r:id="rId15"/>
    <p:sldId id="279" r:id="rId16"/>
    <p:sldId id="261" r:id="rId17"/>
    <p:sldId id="257" r:id="rId18"/>
    <p:sldId id="269" r:id="rId19"/>
    <p:sldId id="270" r:id="rId2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多目的マルチタスク</a:t>
            </a:r>
            <a:r>
              <a:rPr lang="ja-JP" altLang="en-US" dirty="0" smtClean="0"/>
              <a:t>最適化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バイナリベンチマーク問題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8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pic>
        <p:nvPicPr>
          <p:cNvPr id="6" name="コンテンツ プレースホルダー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57" y="1371600"/>
            <a:ext cx="7367885" cy="5181600"/>
          </a:xfr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目的ごとに異なる縮小率を</a:t>
            </a:r>
            <a:r>
              <a:rPr lang="ja-JP" altLang="en-US" dirty="0" smtClean="0"/>
              <a:t>適用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90841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ja-JP" altLang="en-US" dirty="0"/>
          </a:p>
        </p:txBody>
      </p:sp>
      <p:grpSp>
        <p:nvGrpSpPr>
          <p:cNvPr id="20" name="グループ化 19"/>
          <p:cNvGrpSpPr/>
          <p:nvPr/>
        </p:nvGrpSpPr>
        <p:grpSpPr>
          <a:xfrm>
            <a:off x="1388226" y="2083444"/>
            <a:ext cx="6252210" cy="4361045"/>
            <a:chOff x="1170833" y="2013995"/>
            <a:chExt cx="6252210" cy="436104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0957" y="2013995"/>
              <a:ext cx="5702086" cy="3923466"/>
            </a:xfrm>
            <a:prstGeom prst="rect">
              <a:avLst/>
            </a:prstGeom>
          </p:spPr>
        </p:pic>
        <p:sp>
          <p:nvSpPr>
            <p:cNvPr id="22" name="テキスト ボックス 21"/>
            <p:cNvSpPr txBox="1"/>
            <p:nvPr/>
          </p:nvSpPr>
          <p:spPr>
            <a:xfrm>
              <a:off x="2218668" y="5913375"/>
              <a:ext cx="3675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/>
                <a:t>1</a:t>
              </a:r>
              <a:r>
                <a:rPr lang="ja-JP" altLang="en-US" sz="2400" dirty="0" smtClean="0"/>
                <a:t>→</a:t>
              </a:r>
              <a:r>
                <a:rPr lang="en-US" altLang="ja-JP" sz="2400" dirty="0"/>
                <a:t>0</a:t>
              </a:r>
              <a:r>
                <a:rPr lang="ja-JP" altLang="en-US" sz="2400" dirty="0" smtClean="0"/>
                <a:t>に</a:t>
              </a:r>
              <a:r>
                <a:rPr lang="ja-JP" altLang="en-US" sz="2400" dirty="0"/>
                <a:t>変わったビット数</a:t>
              </a: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 rot="16200000">
              <a:off x="-237402" y="3743820"/>
              <a:ext cx="3278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/>
                <a:t>0</a:t>
              </a:r>
              <a:r>
                <a:rPr kumimoji="1" lang="ja-JP" altLang="en-US" sz="2400" dirty="0" smtClean="0"/>
                <a:t>→</a:t>
              </a:r>
              <a:r>
                <a:rPr lang="en-US" altLang="ja-JP" sz="2400" dirty="0"/>
                <a:t>1</a:t>
              </a:r>
              <a:r>
                <a:rPr kumimoji="1" lang="ja-JP" altLang="en-US" sz="2400" dirty="0" smtClean="0"/>
                <a:t>に変わったビット数</a:t>
              </a: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近傍</a:t>
            </a:r>
            <a:r>
              <a:rPr lang="ja-JP" altLang="en-US" dirty="0"/>
              <a:t>個体</a:t>
            </a:r>
            <a:r>
              <a:rPr kumimoji="1" lang="ja-JP" altLang="en-US" dirty="0" smtClean="0"/>
              <a:t>の</a:t>
            </a:r>
            <a:r>
              <a:rPr kumimoji="1" lang="ja-JP" altLang="en-US" dirty="0" smtClean="0"/>
              <a:t>類似度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6356037" y="2225032"/>
            <a:ext cx="604298" cy="1489695"/>
            <a:chOff x="6363657" y="2225032"/>
            <a:chExt cx="604298" cy="1489695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95648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</a:t>
            </a:r>
            <a:r>
              <a:rPr lang="en-US" altLang="ja-JP" dirty="0" smtClean="0"/>
              <a:t>Tas</a:t>
            </a:r>
            <a:r>
              <a:rPr lang="en-US" altLang="ja-JP" dirty="0"/>
              <a:t>k</a:t>
            </a:r>
            <a:r>
              <a:rPr lang="ja-JP" altLang="en-US" dirty="0" smtClean="0"/>
              <a:t>１を作成</a:t>
            </a:r>
            <a:endParaRPr lang="en-US" altLang="ja-JP" dirty="0" smtClean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>Task2</a:t>
            </a:r>
            <a:r>
              <a:rPr lang="ja-JP" altLang="en-US" dirty="0" smtClean="0"/>
              <a:t>は</a:t>
            </a:r>
            <a:r>
              <a:rPr lang="en-US" altLang="ja-JP" dirty="0" smtClean="0"/>
              <a:t>Task1</a:t>
            </a:r>
            <a:r>
              <a:rPr lang="ja-JP" altLang="en-US" dirty="0" smtClean="0"/>
              <a:t>を以下のように変更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許容量</a:t>
            </a:r>
            <a:r>
              <a:rPr lang="ja-JP" altLang="en-US" dirty="0" smtClean="0"/>
              <a:t>の変更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一部ビットの反転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アイテム集合</a:t>
            </a:r>
            <a:r>
              <a:rPr lang="en-US" altLang="ja-JP" dirty="0" smtClean="0"/>
              <a:t>2</a:t>
            </a:r>
            <a:r>
              <a:rPr lang="ja-JP" altLang="en-US" dirty="0" smtClean="0"/>
              <a:t>の価値を一部変更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4</a:t>
            </a:fld>
            <a:endParaRPr kumimoji="0" lang="en-US" altLang="ja-JP" dirty="0" smtClean="0">
              <a:solidFill>
                <a:srgbClr val="FFFF00"/>
              </a:solidFill>
            </a:endParaRPr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</a:t>
            </a:r>
            <a:endParaRPr lang="en-US" altLang="ja-JP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7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  <a:p>
            <a:r>
              <a:rPr kumimoji="1" lang="ja-JP" altLang="en-US" dirty="0" smtClean="0"/>
              <a:t>目的関数 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baseline="-25000" dirty="0" smtClean="0"/>
              <a:t>2</a:t>
            </a:r>
            <a:r>
              <a:rPr kumimoji="1" lang="ja-JP" altLang="en-US" dirty="0" smtClean="0"/>
              <a:t>を以下のように変更</a:t>
            </a:r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5994126" y="5654569"/>
            <a:ext cx="2990724" cy="923330"/>
            <a:chOff x="-120569" y="5677715"/>
            <a:chExt cx="2990724" cy="923330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0569" y="5677715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</a:t>
              </a:r>
              <a:r>
                <a:rPr lang="ja-JP" altLang="en-US" sz="2400" dirty="0"/>
                <a:t>価値</a:t>
              </a:r>
              <a:endParaRPr kumimoji="1" lang="ja-JP" altLang="en-US" sz="24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-120569" y="6139380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/>
                <a:t>: </a:t>
              </a:r>
              <a:r>
                <a:rPr lang="ja-JP" altLang="en-US" sz="2400" dirty="0"/>
                <a:t>変更率</a:t>
              </a:r>
              <a:r>
                <a:rPr lang="en-US" altLang="ja-JP" sz="2400" dirty="0"/>
                <a:t>[0.0, 1.0</a:t>
              </a:r>
              <a:r>
                <a:rPr lang="en-US" altLang="ja-JP" sz="2400" dirty="0" smtClean="0"/>
                <a:t>]</a:t>
              </a:r>
              <a:endParaRPr lang="ja-JP" altLang="en-US" sz="2400" dirty="0"/>
            </a:p>
          </p:txBody>
        </p:sp>
      </p:grpSp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5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アイテムの価値の反転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</a:t>
            </a:r>
            <a:endParaRPr lang="en-US" altLang="ja-JP" sz="2800" i="1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1041968" y="4202726"/>
                <a:ext cx="7060074" cy="1262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sz="280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kumimoji="1" lang="en-US" altLang="ja-JP" sz="2800" b="0" i="0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kumimoji="1"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+</m:t>
                          </m:r>
                          <m:nary>
                            <m:naryPr>
                              <m:chr m:val="∑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Symbol" panose="05050102010706020507" pitchFamily="18" charset="2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68" y="4202726"/>
                <a:ext cx="7060074" cy="1262718"/>
              </a:xfrm>
              <a:prstGeom prst="rect">
                <a:avLst/>
              </a:prstGeom>
              <a:blipFill>
                <a:blip r:embed="rId2"/>
                <a:stretch>
                  <a:fillRect l="-432" b="-5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26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r>
              <a:rPr lang="ja-JP" altLang="en-US" dirty="0" smtClean="0"/>
              <a:t>する．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目的数： </a:t>
            </a:r>
            <a:r>
              <a:rPr lang="en-US" altLang="ja-JP" sz="2800" dirty="0" smtClean="0"/>
              <a:t>2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アイテム数： </a:t>
            </a:r>
            <a:r>
              <a:rPr lang="en-US" altLang="ja-JP" sz="2800" dirty="0" smtClean="0"/>
              <a:t>500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縮小率</a:t>
            </a:r>
            <a:r>
              <a:rPr lang="en-US" altLang="ja-JP" sz="2800" b="1" i="1" dirty="0" err="1" smtClean="0">
                <a:solidFill>
                  <a:schemeClr val="accent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800" b="1" baseline="-250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[0.6, 0.8, 1.0, 1.2, 1.4]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変更率</a:t>
            </a:r>
            <a:r>
              <a:rPr lang="en-US" altLang="ja-JP" sz="2800" b="1" i="1" dirty="0" err="1" smtClean="0">
                <a:solidFill>
                  <a:schemeClr val="accent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800" baseline="-250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[0.1, 0.2, 0.3, 0.4, 0.5]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修復操作は，</a:t>
            </a:r>
            <a:r>
              <a:rPr lang="en-US" altLang="ja-JP" dirty="0" smtClean="0"/>
              <a:t>Greedy</a:t>
            </a:r>
            <a:r>
              <a:rPr lang="ja-JP" altLang="en-US" dirty="0" smtClean="0"/>
              <a:t> </a:t>
            </a:r>
            <a:r>
              <a:rPr lang="en-US" altLang="ja-JP" dirty="0" smtClean="0"/>
              <a:t>Repair</a:t>
            </a:r>
            <a:r>
              <a:rPr lang="ja-JP" altLang="en-US" dirty="0" smtClean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2771339"/>
            <a:ext cx="189913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実験設定</a:t>
            </a:r>
          </a:p>
        </p:txBody>
      </p:sp>
    </p:spTree>
    <p:extLst>
      <p:ext uri="{BB962C8B-B14F-4D97-AF65-F5344CB8AC3E}">
        <p14:creationId xmlns:p14="http://schemas.microsoft.com/office/powerpoint/2010/main" val="29112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sz="2800" b="1" dirty="0" smtClean="0">
                <a:solidFill>
                  <a:schemeClr val="accent2"/>
                </a:solidFill>
              </a:rPr>
              <a:t>EMO</a:t>
            </a:r>
            <a:r>
              <a:rPr lang="en-US" altLang="ja-JP" sz="2800" b="1" dirty="0">
                <a:solidFill>
                  <a:schemeClr val="accent2"/>
                </a:solidFill>
              </a:rPr>
              <a:t>A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MOEA/D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スカラー化</a:t>
            </a:r>
            <a:r>
              <a:rPr lang="ja-JP" altLang="en-US" sz="2800" b="1" dirty="0">
                <a:solidFill>
                  <a:schemeClr val="accent2"/>
                </a:solidFill>
              </a:rPr>
              <a:t>関数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err="1" smtClean="0"/>
              <a:t>Tchebycheff</a:t>
            </a:r>
            <a:r>
              <a:rPr lang="ja-JP" altLang="en-US" sz="2800" dirty="0" smtClean="0"/>
              <a:t>関数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>
                <a:solidFill>
                  <a:schemeClr val="accent2"/>
                </a:solidFill>
              </a:rPr>
              <a:t>個体数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200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近傍サイズ： </a:t>
            </a:r>
            <a:r>
              <a:rPr lang="ja-JP" altLang="en-US" sz="2800" dirty="0" smtClean="0"/>
              <a:t>個体数</a:t>
            </a:r>
            <a:r>
              <a:rPr lang="en-US" altLang="ja-JP" sz="2800" dirty="0" smtClean="0"/>
              <a:t>/10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評価回数： </a:t>
            </a:r>
            <a:r>
              <a:rPr lang="en-US" altLang="ja-JP" sz="2800" dirty="0" smtClean="0"/>
              <a:t>100,000</a:t>
            </a:r>
            <a:r>
              <a:rPr lang="ja-JP" altLang="en-US" sz="2800" dirty="0" smtClean="0"/>
              <a:t>回</a:t>
            </a: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599" y="2771339"/>
            <a:ext cx="323444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アルゴリズム</a:t>
            </a:r>
            <a:r>
              <a:rPr kumimoji="1" lang="ja-JP" altLang="en-US" sz="3200" dirty="0" smtClean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118829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アイテムの価値を</a:t>
            </a:r>
            <a:r>
              <a:rPr kumimoji="1" lang="ja-JP" altLang="en-US" dirty="0" smtClean="0"/>
              <a:t>変更した問題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タスク間の類似度</a:t>
            </a:r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682170" y="2083444"/>
            <a:ext cx="7779660" cy="4361045"/>
            <a:chOff x="464777" y="2013995"/>
            <a:chExt cx="7779660" cy="4361045"/>
          </a:xfrm>
        </p:grpSpPr>
        <p:pic>
          <p:nvPicPr>
            <p:cNvPr id="12" name="図 11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64" y="2013995"/>
              <a:ext cx="7344873" cy="3923466"/>
            </a:xfrm>
            <a:prstGeom prst="rect">
              <a:avLst/>
            </a:prstGeom>
          </p:spPr>
        </p:pic>
        <p:sp>
          <p:nvSpPr>
            <p:cNvPr id="18" name="テキスト ボックス 17"/>
            <p:cNvSpPr txBox="1"/>
            <p:nvPr/>
          </p:nvSpPr>
          <p:spPr>
            <a:xfrm>
              <a:off x="3012873" y="5913375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世</a:t>
              </a:r>
              <a:r>
                <a:rPr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代</a:t>
              </a:r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</a:t>
              </a:r>
              <a:endParaRPr kumimoji="1" lang="ja-JP" altLang="en-US" sz="2400" dirty="0" smtClean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 rot="16200000">
              <a:off x="-802067" y="3602430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 smtClean="0"/>
                <a:t>個体群間の距離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82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アイテムの価値を変更した問題</a:t>
            </a:r>
            <a:endParaRPr lang="en-US" altLang="ja-JP" dirty="0"/>
          </a:p>
        </p:txBody>
      </p:sp>
      <p:grpSp>
        <p:nvGrpSpPr>
          <p:cNvPr id="20" name="グループ化 19"/>
          <p:cNvGrpSpPr/>
          <p:nvPr/>
        </p:nvGrpSpPr>
        <p:grpSpPr>
          <a:xfrm>
            <a:off x="1388226" y="2083444"/>
            <a:ext cx="6137931" cy="4361045"/>
            <a:chOff x="1170833" y="2013995"/>
            <a:chExt cx="6137931" cy="436104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5236" y="2013995"/>
              <a:ext cx="5473528" cy="3923466"/>
            </a:xfrm>
            <a:prstGeom prst="rect">
              <a:avLst/>
            </a:prstGeom>
          </p:spPr>
        </p:pic>
        <p:sp>
          <p:nvSpPr>
            <p:cNvPr id="22" name="テキスト ボックス 21"/>
            <p:cNvSpPr txBox="1"/>
            <p:nvPr/>
          </p:nvSpPr>
          <p:spPr>
            <a:xfrm>
              <a:off x="2218668" y="5913375"/>
              <a:ext cx="3675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/>
                <a:t>1</a:t>
              </a:r>
              <a:r>
                <a:rPr lang="ja-JP" altLang="en-US" sz="2400" dirty="0" smtClean="0"/>
                <a:t>→</a:t>
              </a:r>
              <a:r>
                <a:rPr lang="en-US" altLang="ja-JP" sz="2400" dirty="0"/>
                <a:t>0</a:t>
              </a:r>
              <a:r>
                <a:rPr lang="ja-JP" altLang="en-US" sz="2400" dirty="0" smtClean="0"/>
                <a:t>に</a:t>
              </a:r>
              <a:r>
                <a:rPr lang="ja-JP" altLang="en-US" sz="2400" dirty="0"/>
                <a:t>変わったビット数</a:t>
              </a: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 rot="16200000">
              <a:off x="-237402" y="3743820"/>
              <a:ext cx="3278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/>
                <a:t>0</a:t>
              </a:r>
              <a:r>
                <a:rPr kumimoji="1" lang="ja-JP" altLang="en-US" sz="2400" dirty="0" smtClean="0"/>
                <a:t>→</a:t>
              </a:r>
              <a:r>
                <a:rPr lang="en-US" altLang="ja-JP" sz="2400" dirty="0"/>
                <a:t>1</a:t>
              </a:r>
              <a:r>
                <a:rPr kumimoji="1" lang="ja-JP" altLang="en-US" sz="2400" dirty="0" smtClean="0"/>
                <a:t>に変わったビット数</a:t>
              </a: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近傍</a:t>
            </a:r>
            <a:r>
              <a:rPr lang="ja-JP" altLang="en-US" dirty="0"/>
              <a:t>個体</a:t>
            </a:r>
            <a:r>
              <a:rPr kumimoji="1" lang="ja-JP" altLang="en-US" dirty="0" smtClean="0"/>
              <a:t>の</a:t>
            </a:r>
            <a:r>
              <a:rPr kumimoji="1" lang="ja-JP" altLang="en-US" dirty="0" smtClean="0"/>
              <a:t>類似度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6268355" y="2262610"/>
            <a:ext cx="604298" cy="1489695"/>
            <a:chOff x="6363657" y="2225032"/>
            <a:chExt cx="604298" cy="1489695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433746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en-US" altLang="ja-JP" dirty="0" smtClean="0"/>
          </a:p>
          <a:p>
            <a:pPr algn="l"/>
            <a:r>
              <a:rPr lang="en-US" altLang="ja-JP" i="1" dirty="0" err="1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ja-JP" altLang="en-US" b="1" dirty="0"/>
              <a:t>：</a:t>
            </a:r>
            <a:r>
              <a:rPr lang="ja-JP" altLang="en-US" b="1" dirty="0">
                <a:solidFill>
                  <a:schemeClr val="accent2"/>
                </a:solidFill>
              </a:rPr>
              <a:t> </a:t>
            </a:r>
            <a:r>
              <a:rPr lang="en-US" altLang="ja-JP" dirty="0" smtClean="0"/>
              <a:t>1.2</a:t>
            </a:r>
            <a:r>
              <a:rPr lang="en-US" altLang="ja-JP" dirty="0"/>
              <a:t/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Task2</a:t>
            </a:r>
            <a:r>
              <a:rPr kumimoji="1" lang="ja-JP" altLang="en-US" dirty="0" smtClean="0"/>
              <a:t>の</a:t>
            </a:r>
            <a:r>
              <a:rPr lang="ja-JP" altLang="en-US" dirty="0"/>
              <a:t>個体</a:t>
            </a:r>
            <a:r>
              <a:rPr lang="ja-JP" altLang="en-US" dirty="0" smtClean="0"/>
              <a:t>の</a:t>
            </a:r>
            <a:r>
              <a:rPr kumimoji="1" lang="en-US" altLang="ja-JP" dirty="0" smtClean="0"/>
              <a:t>Task1</a:t>
            </a:r>
            <a:r>
              <a:rPr kumimoji="1" lang="ja-JP" altLang="en-US" dirty="0" err="1" smtClean="0"/>
              <a:t>への</a:t>
            </a:r>
            <a:r>
              <a:rPr kumimoji="1" lang="ja-JP" altLang="en-US" dirty="0" smtClean="0"/>
              <a:t>射影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移住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023754" y="2526560"/>
            <a:ext cx="7033863" cy="4168449"/>
            <a:chOff x="619540" y="2276040"/>
            <a:chExt cx="7033863" cy="4168449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581" y="2276040"/>
              <a:ext cx="6591822" cy="3721881"/>
            </a:xfrm>
            <a:prstGeom prst="rect">
              <a:avLst/>
            </a:prstGeom>
          </p:spPr>
        </p:pic>
        <p:sp>
          <p:nvSpPr>
            <p:cNvPr id="8" name="テキスト ボックス 7"/>
            <p:cNvSpPr txBox="1"/>
            <p:nvPr/>
          </p:nvSpPr>
          <p:spPr>
            <a:xfrm>
              <a:off x="3368052" y="5982824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 smtClean="0">
                  <a:cs typeface="Times New Roman" panose="02020603050405020304" pitchFamily="18" charset="0"/>
                </a:rPr>
                <a:t>1</a:t>
              </a:r>
              <a:endParaRPr kumimoji="1" lang="ja-JP" altLang="en-US" sz="2400" baseline="-250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 rot="16200000">
              <a:off x="-647304" y="3671879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400" baseline="-25000" dirty="0" smtClean="0"/>
                <a:t>2</a:t>
              </a:r>
              <a:endParaRPr kumimoji="1" lang="ja-JP" altLang="en-US" sz="2400" baseline="-25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47915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en-US" altLang="ja-JP" dirty="0" smtClean="0"/>
          </a:p>
          <a:p>
            <a:pPr algn="l"/>
            <a:r>
              <a:rPr lang="en-US" altLang="ja-JP" i="1" dirty="0" err="1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ja-JP" altLang="en-US" b="1" dirty="0"/>
              <a:t>：</a:t>
            </a:r>
            <a:r>
              <a:rPr lang="ja-JP" altLang="en-US" b="1" dirty="0">
                <a:solidFill>
                  <a:schemeClr val="accent2"/>
                </a:solidFill>
              </a:rPr>
              <a:t> </a:t>
            </a:r>
            <a:r>
              <a:rPr lang="en-US" altLang="ja-JP" dirty="0" smtClean="0"/>
              <a:t>1.4</a:t>
            </a:r>
            <a:r>
              <a:rPr lang="en-US" altLang="ja-JP" dirty="0"/>
              <a:t/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Task2</a:t>
            </a:r>
            <a:r>
              <a:rPr kumimoji="1" lang="ja-JP" altLang="en-US" dirty="0" smtClean="0"/>
              <a:t>の</a:t>
            </a:r>
            <a:r>
              <a:rPr lang="ja-JP" altLang="en-US" dirty="0"/>
              <a:t>個体</a:t>
            </a:r>
            <a:r>
              <a:rPr lang="ja-JP" altLang="en-US" dirty="0" smtClean="0"/>
              <a:t>の</a:t>
            </a:r>
            <a:r>
              <a:rPr kumimoji="1" lang="en-US" altLang="ja-JP" dirty="0" smtClean="0"/>
              <a:t>Task1</a:t>
            </a:r>
            <a:r>
              <a:rPr kumimoji="1" lang="ja-JP" altLang="en-US" dirty="0" err="1" smtClean="0"/>
              <a:t>への</a:t>
            </a:r>
            <a:r>
              <a:rPr kumimoji="1" lang="ja-JP" altLang="en-US" dirty="0" smtClean="0"/>
              <a:t>射影 </a:t>
            </a:r>
            <a:r>
              <a:rPr lang="en-US" altLang="ja-JP" dirty="0" smtClean="0"/>
              <a:t>(</a:t>
            </a:r>
            <a:r>
              <a:rPr lang="ja-JP" altLang="en-US" dirty="0"/>
              <a:t>移住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023754" y="2526560"/>
            <a:ext cx="7033863" cy="4168449"/>
            <a:chOff x="619540" y="2276040"/>
            <a:chExt cx="7033863" cy="4168449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581" y="2276040"/>
              <a:ext cx="6591822" cy="3721880"/>
            </a:xfrm>
            <a:prstGeom prst="rect">
              <a:avLst/>
            </a:prstGeom>
          </p:spPr>
        </p:pic>
        <p:sp>
          <p:nvSpPr>
            <p:cNvPr id="8" name="テキスト ボックス 7"/>
            <p:cNvSpPr txBox="1"/>
            <p:nvPr/>
          </p:nvSpPr>
          <p:spPr>
            <a:xfrm>
              <a:off x="3368052" y="5982824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 smtClean="0">
                  <a:cs typeface="Times New Roman" panose="02020603050405020304" pitchFamily="18" charset="0"/>
                </a:rPr>
                <a:t>1</a:t>
              </a:r>
              <a:endParaRPr kumimoji="1" lang="ja-JP" altLang="en-US" sz="2400" baseline="-250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 rot="16200000">
              <a:off x="-647304" y="3671879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400" baseline="-25000" dirty="0" smtClean="0"/>
                <a:t>2</a:t>
              </a:r>
              <a:endParaRPr kumimoji="1" lang="ja-JP" altLang="en-US" sz="2400" baseline="-25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73613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一部ビット</a:t>
            </a:r>
            <a:r>
              <a:rPr kumimoji="1" lang="ja-JP" altLang="en-US" dirty="0" smtClean="0"/>
              <a:t>を変更した問題</a:t>
            </a:r>
            <a:endParaRPr kumimoji="1" lang="en-US" altLang="ja-JP" dirty="0" smtClean="0"/>
          </a:p>
          <a:p>
            <a:pPr algn="l"/>
            <a:r>
              <a:rPr lang="en-US" altLang="ja-JP" i="1" dirty="0" err="1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b="1" dirty="0" smtClean="0"/>
              <a:t>：</a:t>
            </a:r>
            <a:r>
              <a:rPr lang="ja-JP" altLang="en-US" b="1" dirty="0" smtClean="0">
                <a:solidFill>
                  <a:schemeClr val="accent2"/>
                </a:solidFill>
              </a:rPr>
              <a:t> </a:t>
            </a:r>
            <a:r>
              <a:rPr lang="en-US" altLang="ja-JP" dirty="0" smtClean="0"/>
              <a:t>0.</a:t>
            </a:r>
            <a:r>
              <a:rPr lang="en-US" altLang="ja-JP" dirty="0"/>
              <a:t>1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Task2</a:t>
            </a:r>
            <a:r>
              <a:rPr kumimoji="1" lang="ja-JP" altLang="en-US" dirty="0" smtClean="0"/>
              <a:t>の</a:t>
            </a:r>
            <a:r>
              <a:rPr lang="ja-JP" altLang="en-US" dirty="0"/>
              <a:t>個体</a:t>
            </a:r>
            <a:r>
              <a:rPr lang="ja-JP" altLang="en-US" dirty="0" smtClean="0"/>
              <a:t>の</a:t>
            </a:r>
            <a:r>
              <a:rPr kumimoji="1" lang="en-US" altLang="ja-JP" dirty="0" smtClean="0"/>
              <a:t>Task1</a:t>
            </a:r>
            <a:r>
              <a:rPr kumimoji="1" lang="ja-JP" altLang="en-US" dirty="0" err="1" smtClean="0"/>
              <a:t>への</a:t>
            </a:r>
            <a:r>
              <a:rPr kumimoji="1" lang="ja-JP" altLang="en-US" dirty="0" smtClean="0"/>
              <a:t>射影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移住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023754" y="2526560"/>
            <a:ext cx="7033863" cy="4168449"/>
            <a:chOff x="619540" y="2276040"/>
            <a:chExt cx="7033863" cy="4168449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581" y="2276040"/>
              <a:ext cx="6591822" cy="3721880"/>
            </a:xfrm>
            <a:prstGeom prst="rect">
              <a:avLst/>
            </a:prstGeom>
          </p:spPr>
        </p:pic>
        <p:sp>
          <p:nvSpPr>
            <p:cNvPr id="8" name="テキスト ボックス 7"/>
            <p:cNvSpPr txBox="1"/>
            <p:nvPr/>
          </p:nvSpPr>
          <p:spPr>
            <a:xfrm>
              <a:off x="3368052" y="5982824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 smtClean="0">
                  <a:cs typeface="Times New Roman" panose="02020603050405020304" pitchFamily="18" charset="0"/>
                </a:rPr>
                <a:t>1</a:t>
              </a:r>
              <a:endParaRPr kumimoji="1" lang="ja-JP" altLang="en-US" sz="2400" baseline="-250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 rot="16200000">
              <a:off x="-647304" y="3671879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400" baseline="-25000" dirty="0" smtClean="0"/>
                <a:t>2</a:t>
              </a:r>
              <a:endParaRPr kumimoji="1" lang="ja-JP" altLang="en-US" sz="2400" baseline="-25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423046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一部</a:t>
            </a:r>
            <a:r>
              <a:rPr lang="ja-JP" altLang="en-US" dirty="0"/>
              <a:t>ビット</a:t>
            </a:r>
            <a:r>
              <a:rPr kumimoji="1" lang="ja-JP" altLang="en-US" dirty="0" smtClean="0"/>
              <a:t>を変更した問題</a:t>
            </a:r>
            <a:endParaRPr kumimoji="1" lang="en-US" altLang="ja-JP" dirty="0" smtClean="0"/>
          </a:p>
          <a:p>
            <a:pPr algn="l"/>
            <a:r>
              <a:rPr lang="en-US" altLang="ja-JP" i="1" dirty="0" err="1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b="1" dirty="0" smtClean="0"/>
              <a:t>：</a:t>
            </a:r>
            <a:r>
              <a:rPr lang="ja-JP" altLang="en-US" b="1" dirty="0" smtClean="0">
                <a:solidFill>
                  <a:schemeClr val="accent2"/>
                </a:solidFill>
              </a:rPr>
              <a:t> </a:t>
            </a:r>
            <a:r>
              <a:rPr lang="en-US" altLang="ja-JP" dirty="0" smtClean="0"/>
              <a:t>0.</a:t>
            </a:r>
            <a:r>
              <a:rPr lang="en-US" altLang="ja-JP" dirty="0"/>
              <a:t>3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Task2</a:t>
            </a:r>
            <a:r>
              <a:rPr kumimoji="1" lang="ja-JP" altLang="en-US" dirty="0" smtClean="0"/>
              <a:t>の</a:t>
            </a:r>
            <a:r>
              <a:rPr lang="ja-JP" altLang="en-US" dirty="0"/>
              <a:t>個体</a:t>
            </a:r>
            <a:r>
              <a:rPr lang="ja-JP" altLang="en-US" dirty="0" smtClean="0"/>
              <a:t>の</a:t>
            </a:r>
            <a:r>
              <a:rPr kumimoji="1" lang="en-US" altLang="ja-JP" dirty="0" smtClean="0"/>
              <a:t>Task1</a:t>
            </a:r>
            <a:r>
              <a:rPr kumimoji="1" lang="ja-JP" altLang="en-US" dirty="0" err="1" smtClean="0"/>
              <a:t>への</a:t>
            </a:r>
            <a:r>
              <a:rPr kumimoji="1" lang="ja-JP" altLang="en-US" dirty="0" smtClean="0"/>
              <a:t>射影 </a:t>
            </a:r>
            <a:r>
              <a:rPr lang="en-US" altLang="ja-JP" dirty="0" smtClean="0"/>
              <a:t>(</a:t>
            </a:r>
            <a:r>
              <a:rPr lang="ja-JP" altLang="en-US" dirty="0"/>
              <a:t>移住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023754" y="2526560"/>
            <a:ext cx="7033862" cy="4168449"/>
            <a:chOff x="619540" y="2276040"/>
            <a:chExt cx="7033862" cy="4168449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582" y="2276040"/>
              <a:ext cx="6591820" cy="3721880"/>
            </a:xfrm>
            <a:prstGeom prst="rect">
              <a:avLst/>
            </a:prstGeom>
          </p:spPr>
        </p:pic>
        <p:sp>
          <p:nvSpPr>
            <p:cNvPr id="8" name="テキスト ボックス 7"/>
            <p:cNvSpPr txBox="1"/>
            <p:nvPr/>
          </p:nvSpPr>
          <p:spPr>
            <a:xfrm>
              <a:off x="3368052" y="5982824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 smtClean="0">
                  <a:cs typeface="Times New Roman" panose="02020603050405020304" pitchFamily="18" charset="0"/>
                </a:rPr>
                <a:t>1</a:t>
              </a:r>
              <a:endParaRPr kumimoji="1" lang="ja-JP" altLang="en-US" sz="2400" baseline="-250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 rot="16200000">
              <a:off x="-647304" y="3671879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400" baseline="-25000" dirty="0" smtClean="0"/>
                <a:t>2</a:t>
              </a:r>
              <a:endParaRPr kumimoji="1" lang="ja-JP" altLang="en-US" sz="2400" baseline="-25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572413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アイテム</a:t>
            </a:r>
            <a:r>
              <a:rPr lang="ja-JP" altLang="en-US" dirty="0" smtClean="0"/>
              <a:t>の価値</a:t>
            </a:r>
            <a:r>
              <a:rPr kumimoji="1" lang="ja-JP" altLang="en-US" dirty="0" smtClean="0"/>
              <a:t>を変更した問題</a:t>
            </a:r>
            <a:endParaRPr kumimoji="1" lang="en-US" altLang="ja-JP" dirty="0" smtClean="0"/>
          </a:p>
          <a:p>
            <a:pPr algn="l"/>
            <a:r>
              <a:rPr lang="en-US" altLang="ja-JP" i="1" dirty="0" err="1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b="1" dirty="0" smtClean="0"/>
              <a:t>：</a:t>
            </a:r>
            <a:r>
              <a:rPr lang="ja-JP" altLang="en-US" b="1" dirty="0" smtClean="0">
                <a:solidFill>
                  <a:schemeClr val="accent2"/>
                </a:solidFill>
              </a:rPr>
              <a:t> </a:t>
            </a:r>
            <a:r>
              <a:rPr lang="en-US" altLang="ja-JP" dirty="0" smtClean="0"/>
              <a:t>0.</a:t>
            </a:r>
            <a:r>
              <a:rPr lang="en-US" altLang="ja-JP" dirty="0"/>
              <a:t>1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Task2</a:t>
            </a:r>
            <a:r>
              <a:rPr kumimoji="1" lang="ja-JP" altLang="en-US" dirty="0" smtClean="0"/>
              <a:t>の</a:t>
            </a:r>
            <a:r>
              <a:rPr lang="ja-JP" altLang="en-US" dirty="0"/>
              <a:t>個体</a:t>
            </a:r>
            <a:r>
              <a:rPr lang="ja-JP" altLang="en-US" dirty="0" smtClean="0"/>
              <a:t>の</a:t>
            </a:r>
            <a:r>
              <a:rPr kumimoji="1" lang="en-US" altLang="ja-JP" dirty="0" smtClean="0"/>
              <a:t>Task1</a:t>
            </a:r>
            <a:r>
              <a:rPr kumimoji="1" lang="ja-JP" altLang="en-US" dirty="0" err="1" smtClean="0"/>
              <a:t>への</a:t>
            </a:r>
            <a:r>
              <a:rPr kumimoji="1" lang="ja-JP" altLang="en-US" dirty="0" smtClean="0"/>
              <a:t>射影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移住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023754" y="2526560"/>
            <a:ext cx="7033862" cy="4168449"/>
            <a:chOff x="619540" y="2276040"/>
            <a:chExt cx="7033862" cy="4168449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582" y="2276040"/>
              <a:ext cx="6591820" cy="3721880"/>
            </a:xfrm>
            <a:prstGeom prst="rect">
              <a:avLst/>
            </a:prstGeom>
          </p:spPr>
        </p:pic>
        <p:sp>
          <p:nvSpPr>
            <p:cNvPr id="8" name="テキスト ボックス 7"/>
            <p:cNvSpPr txBox="1"/>
            <p:nvPr/>
          </p:nvSpPr>
          <p:spPr>
            <a:xfrm>
              <a:off x="3368052" y="5982824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 smtClean="0">
                  <a:cs typeface="Times New Roman" panose="02020603050405020304" pitchFamily="18" charset="0"/>
                </a:rPr>
                <a:t>1</a:t>
              </a:r>
              <a:endParaRPr kumimoji="1" lang="ja-JP" altLang="en-US" sz="2400" baseline="-250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 rot="16200000">
              <a:off x="-647304" y="3671879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400" baseline="-25000" dirty="0" smtClean="0"/>
                <a:t>2</a:t>
              </a:r>
              <a:endParaRPr kumimoji="1" lang="ja-JP" altLang="en-US" sz="2400" baseline="-25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815607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アイテム</a:t>
            </a:r>
            <a:r>
              <a:rPr lang="ja-JP" altLang="en-US" dirty="0" smtClean="0"/>
              <a:t>の価値</a:t>
            </a:r>
            <a:r>
              <a:rPr kumimoji="1" lang="ja-JP" altLang="en-US" dirty="0" smtClean="0"/>
              <a:t>を変更した問題</a:t>
            </a:r>
            <a:endParaRPr kumimoji="1" lang="en-US" altLang="ja-JP" dirty="0" smtClean="0"/>
          </a:p>
          <a:p>
            <a:pPr algn="l"/>
            <a:r>
              <a:rPr lang="en-US" altLang="ja-JP" i="1" dirty="0" err="1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b="1" dirty="0" smtClean="0"/>
              <a:t>：</a:t>
            </a:r>
            <a:r>
              <a:rPr lang="ja-JP" altLang="en-US" b="1" dirty="0" smtClean="0">
                <a:solidFill>
                  <a:schemeClr val="accent2"/>
                </a:solidFill>
              </a:rPr>
              <a:t> </a:t>
            </a:r>
            <a:r>
              <a:rPr lang="en-US" altLang="ja-JP" dirty="0" smtClean="0"/>
              <a:t>0.</a:t>
            </a:r>
            <a:r>
              <a:rPr lang="en-US" altLang="ja-JP" dirty="0"/>
              <a:t>3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Task2</a:t>
            </a:r>
            <a:r>
              <a:rPr kumimoji="1" lang="ja-JP" altLang="en-US" dirty="0" smtClean="0"/>
              <a:t>の</a:t>
            </a:r>
            <a:r>
              <a:rPr lang="ja-JP" altLang="en-US" dirty="0"/>
              <a:t>個体</a:t>
            </a:r>
            <a:r>
              <a:rPr lang="ja-JP" altLang="en-US" dirty="0" smtClean="0"/>
              <a:t>の</a:t>
            </a:r>
            <a:r>
              <a:rPr kumimoji="1" lang="en-US" altLang="ja-JP" dirty="0" smtClean="0"/>
              <a:t>Task1</a:t>
            </a:r>
            <a:r>
              <a:rPr kumimoji="1" lang="ja-JP" altLang="en-US" dirty="0" err="1" smtClean="0"/>
              <a:t>への</a:t>
            </a:r>
            <a:r>
              <a:rPr kumimoji="1" lang="ja-JP" altLang="en-US" dirty="0" smtClean="0"/>
              <a:t>射影 </a:t>
            </a:r>
            <a:r>
              <a:rPr lang="en-US" altLang="ja-JP" dirty="0" smtClean="0"/>
              <a:t>(</a:t>
            </a:r>
            <a:r>
              <a:rPr lang="ja-JP" altLang="en-US" dirty="0"/>
              <a:t>移住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1023754" y="2526560"/>
            <a:ext cx="7033862" cy="4168449"/>
            <a:chOff x="619540" y="2276040"/>
            <a:chExt cx="7033862" cy="4168449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582" y="2276040"/>
              <a:ext cx="6591820" cy="3721879"/>
            </a:xfrm>
            <a:prstGeom prst="rect">
              <a:avLst/>
            </a:prstGeom>
          </p:spPr>
        </p:pic>
        <p:sp>
          <p:nvSpPr>
            <p:cNvPr id="8" name="テキスト ボックス 7"/>
            <p:cNvSpPr txBox="1"/>
            <p:nvPr/>
          </p:nvSpPr>
          <p:spPr>
            <a:xfrm>
              <a:off x="3368052" y="5982824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 smtClean="0">
                  <a:cs typeface="Times New Roman" panose="02020603050405020304" pitchFamily="18" charset="0"/>
                </a:rPr>
                <a:t>1</a:t>
              </a:r>
              <a:endParaRPr kumimoji="1" lang="ja-JP" altLang="en-US" sz="2400" baseline="-250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 rot="16200000">
              <a:off x="-647304" y="3671879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400" baseline="-25000" dirty="0" smtClean="0"/>
                <a:t>2</a:t>
              </a:r>
              <a:endParaRPr kumimoji="1" lang="ja-JP" altLang="en-US" sz="2400" baseline="-25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218459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36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</a:t>
            </a:r>
            <a:r>
              <a:rPr lang="ja-JP" altLang="en-US" dirty="0" smtClean="0"/>
              <a:t>する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を加えず，制約のみを変化させたタスクを作成する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59118" y="2560320"/>
                <a:ext cx="2129301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118" y="2560320"/>
                <a:ext cx="2129301" cy="1254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084387" y="4719930"/>
                <a:ext cx="2478755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387" y="4719930"/>
                <a:ext cx="2478755" cy="125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6575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299072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縮小率</a:t>
              </a:r>
              <a:r>
                <a:rPr kumimoji="1" lang="en-US" altLang="ja-JP" sz="2400" dirty="0" smtClean="0"/>
                <a:t>(0.0, 2.0)</a:t>
              </a:r>
              <a:endParaRPr kumimoji="1" lang="ja-JP" altLang="en-US" sz="2400" dirty="0" smtClean="0"/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2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18</a:t>
            </a:fld>
            <a:endParaRPr kumimoji="0" lang="en-US" altLang="ja-JP" dirty="0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許容量の変更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×</a:t>
            </a:r>
            <a:r>
              <a:rPr lang="en-US" altLang="ja-JP" sz="2800" i="1" dirty="0" smtClean="0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en-US" altLang="ja-JP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</a:t>
            </a:r>
            <a:endParaRPr lang="en-US" altLang="ja-JP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24676" y="3409358"/>
            <a:ext cx="299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ja-JP" sz="2400" dirty="0" smtClean="0"/>
              <a:t>: </a:t>
            </a:r>
            <a:r>
              <a:rPr kumimoji="1" lang="ja-JP" altLang="en-US" sz="2400" dirty="0" smtClean="0"/>
              <a:t>縮小率</a:t>
            </a:r>
            <a:r>
              <a:rPr kumimoji="1" lang="en-US" altLang="ja-JP" sz="2400" dirty="0" smtClean="0"/>
              <a:t>(0.0, 2.0)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4503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  <a:p>
            <a:r>
              <a:rPr kumimoji="1" lang="ja-JP" altLang="en-US" dirty="0" smtClean="0"/>
              <a:t>目的関数を以下のように変更</a:t>
            </a:r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5994126" y="5654569"/>
            <a:ext cx="2990724" cy="923330"/>
            <a:chOff x="-120569" y="5677715"/>
            <a:chExt cx="2990724" cy="923330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0569" y="5677715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</a:t>
              </a:r>
              <a:r>
                <a:rPr lang="ja-JP" altLang="en-US" sz="2400" dirty="0"/>
                <a:t>価値</a:t>
              </a:r>
              <a:endParaRPr kumimoji="1" lang="ja-JP" altLang="en-US" sz="24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-120569" y="6139380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/>
                <a:t>: </a:t>
              </a:r>
              <a:r>
                <a:rPr lang="ja-JP" altLang="en-US" sz="2400" dirty="0"/>
                <a:t>変更率</a:t>
              </a:r>
              <a:r>
                <a:rPr lang="en-US" altLang="ja-JP" sz="2400" dirty="0"/>
                <a:t>[0.0, 1.0</a:t>
              </a:r>
              <a:r>
                <a:rPr lang="en-US" altLang="ja-JP" sz="2400" dirty="0" smtClean="0"/>
                <a:t>]</a:t>
              </a:r>
              <a:endParaRPr lang="ja-JP" altLang="en-US" sz="2400" dirty="0"/>
            </a:p>
          </p:txBody>
        </p:sp>
      </p:grpSp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19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一部ビットの反転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</a:t>
            </a:r>
            <a:endParaRPr lang="en-US" altLang="ja-JP" sz="2800" i="1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2071092" y="4202726"/>
                <a:ext cx="5001817" cy="1262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sz="2800" b="1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kumimoji="1"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1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+</m:t>
                          </m:r>
                          <m:nary>
                            <m:naryPr>
                              <m:chr m:val="∑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Symbol" panose="05050102010706020507" pitchFamily="18" charset="2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ja-JP" sz="2800" b="1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092" y="4202726"/>
                <a:ext cx="5001817" cy="1262718"/>
              </a:xfrm>
              <a:prstGeom prst="rect">
                <a:avLst/>
              </a:prstGeom>
              <a:blipFill>
                <a:blip r:embed="rId2"/>
                <a:stretch>
                  <a:fillRect l="-732" b="-5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78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331</TotalTime>
  <Words>556</Words>
  <Application>Microsoft Office PowerPoint</Application>
  <PresentationFormat>画面に合わせる (4:3)</PresentationFormat>
  <Paragraphs>137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7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Wingdings</vt:lpstr>
      <vt:lpstr>Theme_Lab</vt:lpstr>
      <vt:lpstr>多目的マルチタスク最適化 バイナリベンチマーク問題の 提案</vt:lpstr>
      <vt:lpstr>予備実験</vt:lpstr>
      <vt:lpstr>予備実験</vt:lpstr>
      <vt:lpstr>提案する問題</vt:lpstr>
      <vt:lpstr>提案する問題</vt:lpstr>
      <vt:lpstr>予備実験</vt:lpstr>
      <vt:lpstr>予備実験</vt:lpstr>
      <vt:lpstr>予備実験</vt:lpstr>
      <vt:lpstr>予備実験</vt:lpstr>
      <vt:lpstr>予備実験</vt:lpstr>
      <vt:lpstr>予備実験</vt:lpstr>
      <vt:lpstr>予備実験</vt:lpstr>
      <vt:lpstr>予備実験</vt:lpstr>
      <vt:lpstr>予備実験</vt:lpstr>
      <vt:lpstr>予備実験</vt:lpstr>
      <vt:lpstr>PowerPoint プレゼンテーション</vt:lpstr>
      <vt:lpstr>提案する問題</vt:lpstr>
      <vt:lpstr>提案する問題</vt:lpstr>
      <vt:lpstr>提案する問題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Multitask</dc:title>
  <dc:creator>瓜田 俊貴</dc:creator>
  <cp:lastModifiedBy>俊貴 瓜田</cp:lastModifiedBy>
  <cp:revision>38</cp:revision>
  <dcterms:created xsi:type="dcterms:W3CDTF">2019-12-22T18:07:24Z</dcterms:created>
  <dcterms:modified xsi:type="dcterms:W3CDTF">2020-02-05T05:33:23Z</dcterms:modified>
</cp:coreProperties>
</file>