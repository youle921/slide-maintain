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sldIdLst>
    <p:sldId id="256" r:id="rId2"/>
    <p:sldId id="274" r:id="rId3"/>
    <p:sldId id="268" r:id="rId4"/>
    <p:sldId id="262" r:id="rId5"/>
    <p:sldId id="271" r:id="rId6"/>
    <p:sldId id="259" r:id="rId7"/>
    <p:sldId id="263" r:id="rId8"/>
    <p:sldId id="266" r:id="rId9"/>
    <p:sldId id="272" r:id="rId10"/>
    <p:sldId id="273" r:id="rId11"/>
    <p:sldId id="275" r:id="rId12"/>
    <p:sldId id="276" r:id="rId13"/>
    <p:sldId id="277" r:id="rId14"/>
    <p:sldId id="278" r:id="rId15"/>
    <p:sldId id="279" r:id="rId16"/>
    <p:sldId id="261" r:id="rId17"/>
    <p:sldId id="257" r:id="rId18"/>
    <p:sldId id="269" r:id="rId19"/>
    <p:sldId id="270" r:id="rId2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138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kumimoji="1" lang="ja-JP" altLang="en-US" dirty="0" smtClean="0"/>
              <a:t>論文情報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28600" y="1323977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23977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多目的マルチタスク</a:t>
            </a:r>
            <a:r>
              <a:rPr lang="ja-JP" altLang="en-US" dirty="0" smtClean="0"/>
              <a:t>最適化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バイナリベンチマーク問題</a:t>
            </a:r>
            <a:r>
              <a:rPr kumimoji="1" lang="ja-JP" altLang="en-US" dirty="0" smtClean="0"/>
              <a:t>の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提案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40880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pic>
        <p:nvPicPr>
          <p:cNvPr id="6" name="コンテンツ プレースホルダー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057" y="1371600"/>
            <a:ext cx="7367885" cy="5181600"/>
          </a:xfrm>
        </p:spPr>
      </p:pic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目的ごとに異なる縮小率を</a:t>
            </a:r>
            <a:r>
              <a:rPr lang="ja-JP" altLang="en-US" dirty="0" smtClean="0"/>
              <a:t>適用</a:t>
            </a:r>
            <a:endParaRPr kumimoji="1" lang="en-US" altLang="ja-JP" dirty="0" smtClean="0"/>
          </a:p>
        </p:txBody>
      </p:sp>
    </p:spTree>
    <p:extLst>
      <p:ext uri="{BB962C8B-B14F-4D97-AF65-F5344CB8AC3E}">
        <p14:creationId xmlns:p14="http://schemas.microsoft.com/office/powerpoint/2010/main" val="1908418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コンテンツ プレースホルダー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許容量を変更した問題</a:t>
            </a:r>
            <a:endParaRPr kumimoji="1" lang="ja-JP" altLang="en-US" dirty="0"/>
          </a:p>
        </p:txBody>
      </p:sp>
      <p:grpSp>
        <p:nvGrpSpPr>
          <p:cNvPr id="20" name="グループ化 19"/>
          <p:cNvGrpSpPr/>
          <p:nvPr/>
        </p:nvGrpSpPr>
        <p:grpSpPr>
          <a:xfrm>
            <a:off x="1388226" y="2083444"/>
            <a:ext cx="6252210" cy="4361045"/>
            <a:chOff x="1170833" y="2013995"/>
            <a:chExt cx="6252210" cy="4361045"/>
          </a:xfrm>
        </p:grpSpPr>
        <p:pic>
          <p:nvPicPr>
            <p:cNvPr id="21" name="図 20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0957" y="2013995"/>
              <a:ext cx="5702086" cy="3923466"/>
            </a:xfrm>
            <a:prstGeom prst="rect">
              <a:avLst/>
            </a:prstGeom>
          </p:spPr>
        </p:pic>
        <p:sp>
          <p:nvSpPr>
            <p:cNvPr id="22" name="テキスト ボックス 21"/>
            <p:cNvSpPr txBox="1"/>
            <p:nvPr/>
          </p:nvSpPr>
          <p:spPr>
            <a:xfrm>
              <a:off x="2218668" y="5913375"/>
              <a:ext cx="3675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/>
                <a:t>1</a:t>
              </a:r>
              <a:r>
                <a:rPr lang="ja-JP" altLang="en-US" sz="2400" dirty="0" smtClean="0"/>
                <a:t>→</a:t>
              </a:r>
              <a:r>
                <a:rPr lang="en-US" altLang="ja-JP" sz="2400" dirty="0"/>
                <a:t>0</a:t>
              </a:r>
              <a:r>
                <a:rPr lang="ja-JP" altLang="en-US" sz="2400" dirty="0" smtClean="0"/>
                <a:t>に</a:t>
              </a:r>
              <a:r>
                <a:rPr lang="ja-JP" altLang="en-US" sz="2400" dirty="0"/>
                <a:t>変わったビット数</a:t>
              </a: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 rot="16200000">
              <a:off x="-237402" y="3743820"/>
              <a:ext cx="327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/>
                <a:t>0</a:t>
              </a:r>
              <a:r>
                <a:rPr kumimoji="1" lang="ja-JP" altLang="en-US" sz="2400" dirty="0" smtClean="0"/>
                <a:t>→</a:t>
              </a:r>
              <a:r>
                <a:rPr lang="en-US" altLang="ja-JP" sz="2400" dirty="0"/>
                <a:t>1</a:t>
              </a:r>
              <a:r>
                <a:rPr kumimoji="1" lang="ja-JP" altLang="en-US" sz="2400" dirty="0" smtClean="0"/>
                <a:t>に変わったビット数</a:t>
              </a:r>
            </a:p>
          </p:txBody>
        </p:sp>
      </p:grp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 smtClean="0"/>
              <a:t>近傍</a:t>
            </a:r>
            <a:r>
              <a:rPr lang="ja-JP" altLang="en-US" dirty="0"/>
              <a:t>個体</a:t>
            </a:r>
            <a:r>
              <a:rPr kumimoji="1" lang="ja-JP" altLang="en-US" dirty="0" smtClean="0"/>
              <a:t>の類似度</a:t>
            </a:r>
            <a:endParaRPr kumimoji="1" lang="ja-JP" altLang="en-US" dirty="0"/>
          </a:p>
        </p:txBody>
      </p:sp>
      <p:grpSp>
        <p:nvGrpSpPr>
          <p:cNvPr id="13" name="グループ化 12"/>
          <p:cNvGrpSpPr/>
          <p:nvPr/>
        </p:nvGrpSpPr>
        <p:grpSpPr>
          <a:xfrm>
            <a:off x="6356037" y="2225032"/>
            <a:ext cx="604298" cy="1489695"/>
            <a:chOff x="6363657" y="2225032"/>
            <a:chExt cx="604298" cy="1489695"/>
          </a:xfrm>
        </p:grpSpPr>
        <p:sp>
          <p:nvSpPr>
            <p:cNvPr id="11" name="テキスト ボックス 10"/>
            <p:cNvSpPr txBox="1"/>
            <p:nvPr/>
          </p:nvSpPr>
          <p:spPr>
            <a:xfrm>
              <a:off x="6363657" y="2225032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5" name="テキスト ボックス 14"/>
            <p:cNvSpPr txBox="1"/>
            <p:nvPr/>
          </p:nvSpPr>
          <p:spPr>
            <a:xfrm>
              <a:off x="6363657" y="2497428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6" name="テキスト ボックス 15"/>
            <p:cNvSpPr txBox="1"/>
            <p:nvPr/>
          </p:nvSpPr>
          <p:spPr>
            <a:xfrm>
              <a:off x="6363657" y="2769824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7" name="テキスト ボックス 16"/>
            <p:cNvSpPr txBox="1"/>
            <p:nvPr/>
          </p:nvSpPr>
          <p:spPr>
            <a:xfrm>
              <a:off x="6363657" y="3042220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6363657" y="3314617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3956480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タイトル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提案する問題</a:t>
            </a:r>
            <a:endParaRPr lang="ja-JP" altLang="en-US" dirty="0" smtClean="0"/>
          </a:p>
        </p:txBody>
      </p:sp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下記のパラメータを</a:t>
            </a:r>
            <a:r>
              <a:rPr lang="ja-JP" altLang="en-US" dirty="0" smtClean="0"/>
              <a:t>用いて</a:t>
            </a:r>
            <a:r>
              <a:rPr lang="en-US" altLang="ja-JP" dirty="0" smtClean="0"/>
              <a:t>Tas</a:t>
            </a:r>
            <a:r>
              <a:rPr lang="en-US" altLang="ja-JP" dirty="0"/>
              <a:t>k</a:t>
            </a:r>
            <a:r>
              <a:rPr lang="ja-JP" altLang="en-US" dirty="0" smtClean="0"/>
              <a:t>１を作成</a:t>
            </a:r>
            <a:endParaRPr lang="en-US" altLang="ja-JP" dirty="0" smtClean="0"/>
          </a:p>
          <a:p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>Task2</a:t>
            </a:r>
            <a:r>
              <a:rPr lang="ja-JP" altLang="en-US" dirty="0" smtClean="0"/>
              <a:t>は</a:t>
            </a:r>
            <a:r>
              <a:rPr lang="en-US" altLang="ja-JP" dirty="0" smtClean="0"/>
              <a:t>Task1</a:t>
            </a:r>
            <a:r>
              <a:rPr lang="ja-JP" altLang="en-US" dirty="0" smtClean="0"/>
              <a:t>を以下のように変更</a:t>
            </a:r>
            <a:endParaRPr lang="en-US" altLang="ja-JP" dirty="0" smtClean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許容量</a:t>
            </a:r>
            <a:r>
              <a:rPr lang="ja-JP" altLang="en-US" dirty="0" smtClean="0"/>
              <a:t>の変更</a:t>
            </a:r>
            <a:endParaRPr lang="en-US" altLang="ja-JP" dirty="0" smtClean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 smtClean="0"/>
              <a:t>一部ビットの反転</a:t>
            </a:r>
            <a:endParaRPr lang="en-US" altLang="ja-JP" dirty="0" smtClean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 smtClean="0"/>
              <a:t>アイテム集合</a:t>
            </a:r>
            <a:r>
              <a:rPr lang="en-US" altLang="ja-JP" dirty="0" smtClean="0"/>
              <a:t>2</a:t>
            </a:r>
            <a:r>
              <a:rPr lang="ja-JP" altLang="en-US" dirty="0" smtClean="0"/>
              <a:t>の価値を一部変更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6147" name="スライド番号プレースホルダー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fld id="{B3E09C8F-164A-4527-82A3-08940CF398CC}" type="slidenum">
              <a:rPr kumimoji="0" lang="en-US" altLang="ja-JP" smtClean="0">
                <a:solidFill>
                  <a:srgbClr val="FFFF00"/>
                </a:solidFill>
              </a:rPr>
              <a:pPr/>
              <a:t>4</a:t>
            </a:fld>
            <a:endParaRPr kumimoji="0" lang="en-US" altLang="ja-JP" dirty="0" smtClean="0">
              <a:solidFill>
                <a:srgbClr val="FFFF00"/>
              </a:solidFill>
            </a:endParaRPr>
          </a:p>
        </p:txBody>
      </p:sp>
      <p:sp>
        <p:nvSpPr>
          <p:cNvPr id="6149" name="テキスト ボックス 1"/>
          <p:cNvSpPr txBox="1">
            <a:spLocks noChangeArrowheads="1"/>
          </p:cNvSpPr>
          <p:nvPr/>
        </p:nvSpPr>
        <p:spPr bwMode="auto">
          <a:xfrm>
            <a:off x="342900" y="2036616"/>
            <a:ext cx="8275806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r>
              <a:rPr lang="ja-JP" altLang="en-US" sz="2800" dirty="0" smtClean="0"/>
              <a:t>重さ </a:t>
            </a:r>
            <a:r>
              <a:rPr lang="en-US" altLang="ja-JP" sz="2800" dirty="0" smtClean="0"/>
              <a:t>: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 smtClean="0"/>
              <a:t>価値 </a:t>
            </a:r>
            <a:r>
              <a:rPr lang="en-US" altLang="ja-JP" sz="2800" dirty="0" smtClean="0"/>
              <a:t>: 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/>
              <a:t>ナップサック許容量</a:t>
            </a:r>
            <a:r>
              <a:rPr lang="en-US" altLang="ja-JP" sz="2800" dirty="0">
                <a:sym typeface="Wingdings" panose="05000000000000000000" pitchFamily="2" charset="2"/>
              </a:rPr>
              <a:t>: (</a:t>
            </a:r>
            <a:r>
              <a:rPr lang="ja-JP" altLang="en-US" sz="2800" dirty="0">
                <a:sym typeface="Wingdings" panose="05000000000000000000" pitchFamily="2" charset="2"/>
              </a:rPr>
              <a:t>アイテムの総重量</a:t>
            </a:r>
            <a:r>
              <a:rPr lang="en-US" altLang="ja-JP" sz="2800" dirty="0">
                <a:sym typeface="Wingdings" panose="05000000000000000000" pitchFamily="2" charset="2"/>
              </a:rPr>
              <a:t>)/</a:t>
            </a:r>
            <a:r>
              <a:rPr lang="en-US" altLang="ja-JP" sz="2800" dirty="0" smtClean="0">
                <a:sym typeface="Wingdings" panose="05000000000000000000" pitchFamily="2" charset="2"/>
              </a:rPr>
              <a:t>2</a:t>
            </a:r>
            <a:endParaRPr lang="en-US" altLang="ja-JP" sz="28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3759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下記のパラメータを</a:t>
            </a:r>
            <a:r>
              <a:rPr lang="ja-JP" altLang="en-US" dirty="0" smtClean="0"/>
              <a:t>用いてナップサック</a:t>
            </a:r>
            <a:r>
              <a:rPr lang="ja-JP" altLang="en-US" dirty="0"/>
              <a:t>問題</a:t>
            </a:r>
            <a:r>
              <a:rPr lang="ja-JP" altLang="en-US" dirty="0" smtClean="0"/>
              <a:t>を作成</a:t>
            </a:r>
            <a:endParaRPr lang="en-US" altLang="ja-JP" dirty="0"/>
          </a:p>
          <a:p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kumimoji="1" lang="en-US" altLang="ja-JP" dirty="0" smtClean="0"/>
          </a:p>
          <a:p>
            <a:r>
              <a:rPr kumimoji="1" lang="ja-JP" altLang="en-US" dirty="0" smtClean="0"/>
              <a:t>目的関数 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kumimoji="1" lang="en-US" altLang="ja-JP" baseline="-25000" dirty="0" smtClean="0"/>
              <a:t>2</a:t>
            </a:r>
            <a:r>
              <a:rPr kumimoji="1" lang="ja-JP" altLang="en-US" dirty="0" smtClean="0"/>
              <a:t>を以下のように変更</a:t>
            </a:r>
            <a:endParaRPr kumimoji="1" lang="ja-JP" altLang="en-US" dirty="0"/>
          </a:p>
        </p:txBody>
      </p:sp>
      <p:grpSp>
        <p:nvGrpSpPr>
          <p:cNvPr id="4" name="グループ化 3"/>
          <p:cNvGrpSpPr/>
          <p:nvPr/>
        </p:nvGrpSpPr>
        <p:grpSpPr>
          <a:xfrm>
            <a:off x="5994126" y="5654569"/>
            <a:ext cx="2990724" cy="923330"/>
            <a:chOff x="-120569" y="5677715"/>
            <a:chExt cx="2990724" cy="923330"/>
          </a:xfrm>
        </p:grpSpPr>
        <p:sp>
          <p:nvSpPr>
            <p:cNvPr id="10" name="テキスト ボックス 9"/>
            <p:cNvSpPr txBox="1"/>
            <p:nvPr/>
          </p:nvSpPr>
          <p:spPr>
            <a:xfrm>
              <a:off x="-120569" y="5677715"/>
              <a:ext cx="29907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b="1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  <a:r>
                <a:rPr kumimoji="1" lang="en-US" altLang="ja-JP" sz="2400" i="1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アイテム</a:t>
              </a:r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ja-JP" altLang="en-US" sz="2400" dirty="0" smtClean="0"/>
                <a:t>の</a:t>
              </a:r>
              <a:r>
                <a:rPr lang="ja-JP" altLang="en-US" sz="2400" dirty="0"/>
                <a:t>価値</a:t>
              </a:r>
              <a:endParaRPr kumimoji="1" lang="ja-JP" altLang="en-US" sz="2400" dirty="0" smtClean="0"/>
            </a:p>
          </p:txBody>
        </p:sp>
        <p:sp>
          <p:nvSpPr>
            <p:cNvPr id="13" name="テキスト ボックス 12"/>
            <p:cNvSpPr txBox="1"/>
            <p:nvPr/>
          </p:nvSpPr>
          <p:spPr>
            <a:xfrm>
              <a:off x="-120569" y="6139380"/>
              <a:ext cx="29907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err="1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4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2400" dirty="0"/>
                <a:t>: </a:t>
              </a:r>
              <a:r>
                <a:rPr lang="ja-JP" altLang="en-US" sz="2400" dirty="0"/>
                <a:t>変更率</a:t>
              </a:r>
              <a:r>
                <a:rPr lang="en-US" altLang="ja-JP" sz="2400" dirty="0"/>
                <a:t>[0.0, 1.0</a:t>
              </a:r>
              <a:r>
                <a:rPr lang="en-US" altLang="ja-JP" sz="2400" dirty="0" smtClean="0"/>
                <a:t>]</a:t>
              </a:r>
              <a:endParaRPr lang="ja-JP" altLang="en-US" sz="2400" dirty="0"/>
            </a:p>
          </p:txBody>
        </p:sp>
      </p:grpSp>
      <p:sp>
        <p:nvSpPr>
          <p:cNvPr id="6146" name="タイトル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提案する問題</a:t>
            </a:r>
            <a:endParaRPr lang="ja-JP" altLang="en-US" dirty="0" smtClean="0"/>
          </a:p>
        </p:txBody>
      </p:sp>
      <p:sp>
        <p:nvSpPr>
          <p:cNvPr id="6147" name="スライド番号プレースホルダー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fld id="{B3E09C8F-164A-4527-82A3-08940CF398CC}" type="slidenum">
              <a:rPr kumimoji="0" lang="en-US" altLang="ja-JP" smtClean="0">
                <a:solidFill>
                  <a:srgbClr val="FFFF00"/>
                </a:solidFill>
              </a:rPr>
              <a:pPr/>
              <a:t>5</a:t>
            </a:fld>
            <a:endParaRPr kumimoji="0" lang="en-US" altLang="ja-JP" smtClean="0">
              <a:solidFill>
                <a:srgbClr val="FFFF00"/>
              </a:solidFill>
            </a:endParaRP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アイテムの価値の反転</a:t>
            </a:r>
            <a:endParaRPr kumimoji="1" lang="ja-JP" altLang="en-US" dirty="0"/>
          </a:p>
        </p:txBody>
      </p:sp>
      <p:sp>
        <p:nvSpPr>
          <p:cNvPr id="6149" name="テキスト ボックス 1"/>
          <p:cNvSpPr txBox="1">
            <a:spLocks noChangeArrowheads="1"/>
          </p:cNvSpPr>
          <p:nvPr/>
        </p:nvSpPr>
        <p:spPr bwMode="auto">
          <a:xfrm>
            <a:off x="342900" y="2036616"/>
            <a:ext cx="8275806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r>
              <a:rPr lang="ja-JP" altLang="en-US" sz="2800" dirty="0" smtClean="0"/>
              <a:t>重さ </a:t>
            </a:r>
            <a:r>
              <a:rPr lang="en-US" altLang="ja-JP" sz="2800" dirty="0" smtClean="0"/>
              <a:t>: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 smtClean="0"/>
              <a:t>価値 </a:t>
            </a:r>
            <a:r>
              <a:rPr lang="en-US" altLang="ja-JP" sz="2800" dirty="0" smtClean="0"/>
              <a:t>: 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/>
              <a:t>ナップサック許容量</a:t>
            </a:r>
            <a:r>
              <a:rPr lang="en-US" altLang="ja-JP" sz="2800" dirty="0">
                <a:sym typeface="Wingdings" panose="05000000000000000000" pitchFamily="2" charset="2"/>
              </a:rPr>
              <a:t>: (</a:t>
            </a:r>
            <a:r>
              <a:rPr lang="ja-JP" altLang="en-US" sz="2800" dirty="0">
                <a:sym typeface="Wingdings" panose="05000000000000000000" pitchFamily="2" charset="2"/>
              </a:rPr>
              <a:t>アイテムの総重量</a:t>
            </a:r>
            <a:r>
              <a:rPr lang="en-US" altLang="ja-JP" sz="2800" dirty="0">
                <a:sym typeface="Wingdings" panose="05000000000000000000" pitchFamily="2" charset="2"/>
              </a:rPr>
              <a:t>)/</a:t>
            </a:r>
            <a:r>
              <a:rPr lang="en-US" altLang="ja-JP" sz="2800" dirty="0" smtClean="0">
                <a:sym typeface="Wingdings" panose="05000000000000000000" pitchFamily="2" charset="2"/>
              </a:rPr>
              <a:t>2 </a:t>
            </a:r>
            <a:endParaRPr lang="en-US" altLang="ja-JP" sz="2800" i="1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テキスト ボックス 7"/>
              <p:cNvSpPr txBox="1"/>
              <p:nvPr/>
            </p:nvSpPr>
            <p:spPr>
              <a:xfrm>
                <a:off x="1075631" y="4202726"/>
                <a:ext cx="6992748" cy="12781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ja-JP" sz="2800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kumimoji="1" lang="en-US" altLang="ja-JP" sz="2800" b="0" i="0" baseline="-25000" smtClean="0">
                          <a:cs typeface="Times New Roman" panose="02020603050405020304" pitchFamily="18" charset="0"/>
                        </a:rPr>
                        <m:t>2</m:t>
                      </m:r>
                      <m:r>
                        <m:rPr>
                          <m:nor/>
                        </m:rPr>
                        <a:rPr kumimoji="1" lang="en-US" altLang="ja-JP" sz="2800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</m:t>
                      </m:r>
                      <m:nary>
                        <m:naryPr>
                          <m:chr m:val="∑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Symbol" panose="05050102010706020507" pitchFamily="18" charset="2"/>
                              <a:cs typeface="Times New Roman" panose="02020603050405020304" pitchFamily="18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F</m:t>
                          </m:r>
                        </m:sup>
                        <m:e>
                          <m:r>
                            <m:rPr>
                              <m:nor/>
                            </m:rPr>
                            <a:rPr kumimoji="1" lang="en-US" altLang="ja-JP" sz="2800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max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min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 </m:t>
                          </m:r>
                          <m:r>
                            <m:rPr>
                              <m:nor/>
                            </m:rPr>
                            <a:rPr kumimoji="1" lang="en-US" altLang="ja-JP" sz="2800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baseline="-25000" smtClean="0">
                              <a:cs typeface="Times New Roman" panose="02020603050405020304" pitchFamily="18" charset="0"/>
                            </a:rPr>
                            <m:t>2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sz="2800" i="1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 sz="2800" i="1" baseline="-25000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 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1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1" smtClean="0">
                                  <a:latin typeface="Symbol" panose="05050102010706020507" pitchFamily="18" charset="2"/>
                                  <a:cs typeface="Times New Roman" panose="02020603050405020304" pitchFamily="18" charset="0"/>
                                </a:rPr>
                                <m:t>a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0" baseline="-2500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0" smtClean="0"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p>
                            <m:e>
                              <m:r>
                                <m:rPr>
                                  <m:nor/>
                                </m:rPr>
                                <a:rPr lang="en-US" altLang="ja-JP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 baseline="-2500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0" baseline="-25000" smtClean="0"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1" baseline="-2500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 baseline="-2500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kumimoji="1" lang="ja-JP" altLang="en-US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631" y="4202726"/>
                <a:ext cx="6992748" cy="1278170"/>
              </a:xfrm>
              <a:prstGeom prst="rect">
                <a:avLst/>
              </a:prstGeom>
              <a:blipFill rotWithShape="0">
                <a:blip r:embed="rId2"/>
                <a:stretch>
                  <a:fillRect l="-697" b="-57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8262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異なる縮小率において，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独立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探索中の個体が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どのように異なるか調査</a:t>
            </a:r>
            <a:r>
              <a:rPr lang="ja-JP" altLang="en-US" dirty="0" smtClean="0"/>
              <a:t>する．</a:t>
            </a:r>
            <a:endParaRPr kumimoji="1" lang="en-US" altLang="ja-JP" dirty="0" smtClean="0"/>
          </a:p>
          <a:p>
            <a:pPr algn="l"/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sz="2800" b="1" dirty="0" smtClean="0">
                <a:solidFill>
                  <a:schemeClr val="accent2"/>
                </a:solidFill>
              </a:rPr>
              <a:t>目的数： </a:t>
            </a:r>
            <a:r>
              <a:rPr lang="en-US" altLang="ja-JP" sz="2800" dirty="0" smtClean="0"/>
              <a:t>2</a:t>
            </a:r>
            <a:br>
              <a:rPr lang="en-US" altLang="ja-JP" sz="2800" dirty="0" smtClean="0"/>
            </a:br>
            <a:r>
              <a:rPr lang="ja-JP" altLang="en-US" sz="2800" b="1" dirty="0" smtClean="0">
                <a:solidFill>
                  <a:schemeClr val="accent2"/>
                </a:solidFill>
              </a:rPr>
              <a:t>アイテム数： </a:t>
            </a:r>
            <a:r>
              <a:rPr lang="en-US" altLang="ja-JP" sz="2800" dirty="0" smtClean="0"/>
              <a:t>500</a:t>
            </a:r>
            <a:br>
              <a:rPr lang="en-US" altLang="ja-JP" sz="2800" dirty="0" smtClean="0"/>
            </a:br>
            <a:r>
              <a:rPr lang="ja-JP" altLang="en-US" sz="2800" b="1" dirty="0" smtClean="0">
                <a:solidFill>
                  <a:schemeClr val="accent2"/>
                </a:solidFill>
              </a:rPr>
              <a:t>縮小率</a:t>
            </a:r>
            <a:r>
              <a:rPr lang="en-US" altLang="ja-JP" sz="2800" b="1" i="1" dirty="0" err="1" smtClean="0">
                <a:solidFill>
                  <a:schemeClr val="accent2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800" b="1" baseline="-25000" dirty="0" err="1" smtClean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： </a:t>
            </a:r>
            <a:r>
              <a:rPr lang="en-US" altLang="ja-JP" sz="2800" dirty="0" smtClean="0"/>
              <a:t>[0.6, 0.8, 1.0, 1.2, 1.4]</a:t>
            </a:r>
            <a:br>
              <a:rPr lang="en-US" altLang="ja-JP" sz="2800" dirty="0" smtClean="0"/>
            </a:br>
            <a:r>
              <a:rPr lang="ja-JP" altLang="en-US" sz="2800" b="1" dirty="0" smtClean="0">
                <a:solidFill>
                  <a:schemeClr val="accent2"/>
                </a:solidFill>
              </a:rPr>
              <a:t>変更率</a:t>
            </a:r>
            <a:r>
              <a:rPr lang="en-US" altLang="ja-JP" sz="2800" b="1" i="1" dirty="0" err="1" smtClean="0">
                <a:solidFill>
                  <a:schemeClr val="accent2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800" baseline="-25000" dirty="0" err="1" smtClean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： </a:t>
            </a:r>
            <a:r>
              <a:rPr lang="en-US" altLang="ja-JP" sz="2800" dirty="0" smtClean="0"/>
              <a:t>[0.1, 0.2, 0.3, 0.4, 0.5]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修復操作は，</a:t>
            </a:r>
            <a:r>
              <a:rPr lang="en-US" altLang="ja-JP" dirty="0" smtClean="0"/>
              <a:t>Greedy</a:t>
            </a:r>
            <a:r>
              <a:rPr lang="ja-JP" altLang="en-US" dirty="0" smtClean="0"/>
              <a:t> </a:t>
            </a:r>
            <a:r>
              <a:rPr lang="en-US" altLang="ja-JP" dirty="0" smtClean="0"/>
              <a:t>Repair</a:t>
            </a:r>
            <a:r>
              <a:rPr lang="ja-JP" altLang="en-US" dirty="0" smtClean="0"/>
              <a:t>を使用</a:t>
            </a:r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2771339"/>
            <a:ext cx="189913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実験設定</a:t>
            </a:r>
          </a:p>
        </p:txBody>
      </p:sp>
    </p:spTree>
    <p:extLst>
      <p:ext uri="{BB962C8B-B14F-4D97-AF65-F5344CB8AC3E}">
        <p14:creationId xmlns:p14="http://schemas.microsoft.com/office/powerpoint/2010/main" val="2911259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異なる縮小率において，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独立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探索中の個体が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どのように異なるか調査</a:t>
            </a:r>
            <a:endParaRPr kumimoji="1" lang="en-US" altLang="ja-JP" dirty="0" smtClean="0"/>
          </a:p>
          <a:p>
            <a:pPr algn="l"/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sz="2800" b="1" dirty="0" smtClean="0">
                <a:solidFill>
                  <a:schemeClr val="accent2"/>
                </a:solidFill>
              </a:rPr>
              <a:t>EMO</a:t>
            </a:r>
            <a:r>
              <a:rPr lang="en-US" altLang="ja-JP" sz="2800" b="1" dirty="0">
                <a:solidFill>
                  <a:schemeClr val="accent2"/>
                </a:solidFill>
              </a:rPr>
              <a:t>A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： </a:t>
            </a:r>
            <a:r>
              <a:rPr lang="en-US" altLang="ja-JP" sz="2800" dirty="0" smtClean="0"/>
              <a:t>MOEA/D</a:t>
            </a:r>
            <a:br>
              <a:rPr lang="en-US" altLang="ja-JP" sz="2800" dirty="0" smtClean="0"/>
            </a:br>
            <a:r>
              <a:rPr lang="ja-JP" altLang="en-US" sz="2800" b="1" dirty="0" smtClean="0">
                <a:solidFill>
                  <a:schemeClr val="accent2"/>
                </a:solidFill>
              </a:rPr>
              <a:t>スカラー化</a:t>
            </a:r>
            <a:r>
              <a:rPr lang="ja-JP" altLang="en-US" sz="2800" b="1" dirty="0">
                <a:solidFill>
                  <a:schemeClr val="accent2"/>
                </a:solidFill>
              </a:rPr>
              <a:t>関数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： </a:t>
            </a:r>
            <a:r>
              <a:rPr lang="en-US" altLang="ja-JP" sz="2800" dirty="0" err="1" smtClean="0"/>
              <a:t>Tchebycheff</a:t>
            </a:r>
            <a:r>
              <a:rPr lang="ja-JP" altLang="en-US" sz="2800" dirty="0" smtClean="0"/>
              <a:t>関数</a:t>
            </a:r>
            <a:r>
              <a:rPr lang="en-US" altLang="ja-JP" sz="2800" dirty="0" smtClean="0"/>
              <a:t/>
            </a:r>
            <a:br>
              <a:rPr lang="en-US" altLang="ja-JP" sz="2800" dirty="0" smtClean="0"/>
            </a:br>
            <a:r>
              <a:rPr lang="ja-JP" altLang="en-US" sz="2800" b="1" dirty="0">
                <a:solidFill>
                  <a:schemeClr val="accent2"/>
                </a:solidFill>
              </a:rPr>
              <a:t>個体数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： </a:t>
            </a:r>
            <a:r>
              <a:rPr lang="en-US" altLang="ja-JP" sz="2800" dirty="0" smtClean="0"/>
              <a:t>200</a:t>
            </a:r>
            <a:br>
              <a:rPr lang="en-US" altLang="ja-JP" sz="2800" dirty="0" smtClean="0"/>
            </a:br>
            <a:r>
              <a:rPr lang="ja-JP" altLang="en-US" sz="2800" b="1" dirty="0" smtClean="0">
                <a:solidFill>
                  <a:schemeClr val="accent2"/>
                </a:solidFill>
              </a:rPr>
              <a:t>近傍サイズ： </a:t>
            </a:r>
            <a:r>
              <a:rPr lang="ja-JP" altLang="en-US" sz="2800" dirty="0" smtClean="0"/>
              <a:t>個体数</a:t>
            </a:r>
            <a:r>
              <a:rPr lang="en-US" altLang="ja-JP" sz="2800" dirty="0" smtClean="0"/>
              <a:t>/10</a:t>
            </a:r>
            <a:br>
              <a:rPr lang="en-US" altLang="ja-JP" sz="2800" dirty="0" smtClean="0"/>
            </a:br>
            <a:r>
              <a:rPr lang="ja-JP" altLang="en-US" sz="2800" b="1" dirty="0" smtClean="0">
                <a:solidFill>
                  <a:schemeClr val="accent2"/>
                </a:solidFill>
              </a:rPr>
              <a:t>評価回数： </a:t>
            </a:r>
            <a:r>
              <a:rPr lang="en-US" altLang="ja-JP" sz="2800" dirty="0" smtClean="0"/>
              <a:t>100,000</a:t>
            </a:r>
            <a:r>
              <a:rPr lang="ja-JP" altLang="en-US" sz="2800" dirty="0" smtClean="0"/>
              <a:t>回</a:t>
            </a:r>
            <a:endParaRPr lang="en-US" altLang="ja-JP" sz="2800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599" y="2771339"/>
            <a:ext cx="3234447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アルゴリズム</a:t>
            </a:r>
            <a:r>
              <a:rPr kumimoji="1" lang="ja-JP" altLang="en-US" sz="3200" dirty="0" smtClean="0"/>
              <a:t>設定</a:t>
            </a:r>
          </a:p>
        </p:txBody>
      </p:sp>
    </p:spTree>
    <p:extLst>
      <p:ext uri="{BB962C8B-B14F-4D97-AF65-F5344CB8AC3E}">
        <p14:creationId xmlns:p14="http://schemas.microsoft.com/office/powerpoint/2010/main" val="11882951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予備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アイテムの価値を変更した問題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タスク間の類似度</a:t>
            </a:r>
            <a:endParaRPr kumimoji="1" lang="ja-JP" altLang="en-US" dirty="0"/>
          </a:p>
        </p:txBody>
      </p:sp>
      <p:grpSp>
        <p:nvGrpSpPr>
          <p:cNvPr id="5" name="グループ化 4"/>
          <p:cNvGrpSpPr/>
          <p:nvPr/>
        </p:nvGrpSpPr>
        <p:grpSpPr>
          <a:xfrm>
            <a:off x="682170" y="2083444"/>
            <a:ext cx="7779660" cy="4361045"/>
            <a:chOff x="464777" y="2013995"/>
            <a:chExt cx="7779660" cy="4361045"/>
          </a:xfrm>
        </p:grpSpPr>
        <p:pic>
          <p:nvPicPr>
            <p:cNvPr id="12" name="図 11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564" y="2013995"/>
              <a:ext cx="7344873" cy="3923466"/>
            </a:xfrm>
            <a:prstGeom prst="rect">
              <a:avLst/>
            </a:prstGeom>
          </p:spPr>
        </p:pic>
        <p:sp>
          <p:nvSpPr>
            <p:cNvPr id="18" name="テキスト ボックス 17"/>
            <p:cNvSpPr txBox="1"/>
            <p:nvPr/>
          </p:nvSpPr>
          <p:spPr>
            <a:xfrm>
              <a:off x="3012873" y="5913375"/>
              <a:ext cx="14746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世</a:t>
              </a:r>
              <a:r>
                <a:rPr lang="ja-JP" altLang="en-US" sz="2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代</a:t>
              </a:r>
              <a:r>
                <a:rPr lang="ja-JP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数</a:t>
              </a:r>
              <a:endParaRPr kumimoji="1" lang="ja-JP" altLang="en-US" sz="2400" dirty="0" smtClean="0"/>
            </a:p>
          </p:txBody>
        </p:sp>
        <p:sp>
          <p:nvSpPr>
            <p:cNvPr id="19" name="テキスト ボックス 18"/>
            <p:cNvSpPr txBox="1"/>
            <p:nvPr/>
          </p:nvSpPr>
          <p:spPr>
            <a:xfrm rot="16200000">
              <a:off x="-802067" y="3602430"/>
              <a:ext cx="29953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400" dirty="0" smtClean="0"/>
                <a:t>個体群間の距離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2828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コンテンツ プレースホルダー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アイテムの価値を変更した問題</a:t>
            </a:r>
            <a:endParaRPr lang="en-US" altLang="ja-JP" dirty="0"/>
          </a:p>
        </p:txBody>
      </p:sp>
      <p:grpSp>
        <p:nvGrpSpPr>
          <p:cNvPr id="20" name="グループ化 19"/>
          <p:cNvGrpSpPr/>
          <p:nvPr/>
        </p:nvGrpSpPr>
        <p:grpSpPr>
          <a:xfrm>
            <a:off x="1388226" y="2083444"/>
            <a:ext cx="6137931" cy="4361045"/>
            <a:chOff x="1170833" y="2013995"/>
            <a:chExt cx="6137931" cy="4361045"/>
          </a:xfrm>
        </p:grpSpPr>
        <p:pic>
          <p:nvPicPr>
            <p:cNvPr id="21" name="図 20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5236" y="2013995"/>
              <a:ext cx="5473528" cy="3923466"/>
            </a:xfrm>
            <a:prstGeom prst="rect">
              <a:avLst/>
            </a:prstGeom>
          </p:spPr>
        </p:pic>
        <p:sp>
          <p:nvSpPr>
            <p:cNvPr id="22" name="テキスト ボックス 21"/>
            <p:cNvSpPr txBox="1"/>
            <p:nvPr/>
          </p:nvSpPr>
          <p:spPr>
            <a:xfrm>
              <a:off x="2218668" y="5913375"/>
              <a:ext cx="3675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/>
                <a:t>1</a:t>
              </a:r>
              <a:r>
                <a:rPr lang="ja-JP" altLang="en-US" sz="2400" dirty="0" smtClean="0"/>
                <a:t>→</a:t>
              </a:r>
              <a:r>
                <a:rPr lang="en-US" altLang="ja-JP" sz="2400" dirty="0"/>
                <a:t>0</a:t>
              </a:r>
              <a:r>
                <a:rPr lang="ja-JP" altLang="en-US" sz="2400" dirty="0" smtClean="0"/>
                <a:t>に</a:t>
              </a:r>
              <a:r>
                <a:rPr lang="ja-JP" altLang="en-US" sz="2400" dirty="0"/>
                <a:t>変わったビット数</a:t>
              </a: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 rot="16200000">
              <a:off x="-237402" y="3743820"/>
              <a:ext cx="327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dirty="0"/>
                <a:t>0</a:t>
              </a:r>
              <a:r>
                <a:rPr kumimoji="1" lang="ja-JP" altLang="en-US" sz="2400" dirty="0" smtClean="0"/>
                <a:t>→</a:t>
              </a:r>
              <a:r>
                <a:rPr lang="en-US" altLang="ja-JP" sz="2400" dirty="0"/>
                <a:t>1</a:t>
              </a:r>
              <a:r>
                <a:rPr kumimoji="1" lang="ja-JP" altLang="en-US" sz="2400" dirty="0" smtClean="0"/>
                <a:t>に変わったビット数</a:t>
              </a:r>
            </a:p>
          </p:txBody>
        </p:sp>
      </p:grpSp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sp>
        <p:nvSpPr>
          <p:cNvPr id="6" name="テキスト プレースホルダー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ja-JP" altLang="en-US" dirty="0" smtClean="0"/>
              <a:t>近傍</a:t>
            </a:r>
            <a:r>
              <a:rPr lang="ja-JP" altLang="en-US" dirty="0"/>
              <a:t>個体</a:t>
            </a:r>
            <a:r>
              <a:rPr kumimoji="1" lang="ja-JP" altLang="en-US" dirty="0" smtClean="0"/>
              <a:t>の類似度</a:t>
            </a:r>
            <a:endParaRPr kumimoji="1" lang="ja-JP" altLang="en-US" dirty="0"/>
          </a:p>
        </p:txBody>
      </p:sp>
      <p:grpSp>
        <p:nvGrpSpPr>
          <p:cNvPr id="13" name="グループ化 12"/>
          <p:cNvGrpSpPr/>
          <p:nvPr/>
        </p:nvGrpSpPr>
        <p:grpSpPr>
          <a:xfrm>
            <a:off x="6268355" y="2262610"/>
            <a:ext cx="604298" cy="1489695"/>
            <a:chOff x="6363657" y="2225032"/>
            <a:chExt cx="604298" cy="1489695"/>
          </a:xfrm>
        </p:grpSpPr>
        <p:sp>
          <p:nvSpPr>
            <p:cNvPr id="11" name="テキスト ボックス 10"/>
            <p:cNvSpPr txBox="1"/>
            <p:nvPr/>
          </p:nvSpPr>
          <p:spPr>
            <a:xfrm>
              <a:off x="6363657" y="2225032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5" name="テキスト ボックス 14"/>
            <p:cNvSpPr txBox="1"/>
            <p:nvPr/>
          </p:nvSpPr>
          <p:spPr>
            <a:xfrm>
              <a:off x="6363657" y="2497428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6" name="テキスト ボックス 15"/>
            <p:cNvSpPr txBox="1"/>
            <p:nvPr/>
          </p:nvSpPr>
          <p:spPr>
            <a:xfrm>
              <a:off x="6363657" y="2769824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7" name="テキスト ボックス 16"/>
            <p:cNvSpPr txBox="1"/>
            <p:nvPr/>
          </p:nvSpPr>
          <p:spPr>
            <a:xfrm>
              <a:off x="6363657" y="3042220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6363657" y="3314617"/>
              <a:ext cx="6042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ja-JP" sz="2000" i="1" dirty="0" err="1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0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000" dirty="0" smtClean="0"/>
                <a:t> </a:t>
              </a:r>
              <a:endParaRPr kumimoji="1" lang="ja-JP" altLang="en-US" sz="2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1433746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許容量を変更した問題</a:t>
            </a:r>
            <a:endParaRPr kumimoji="1" lang="en-US" altLang="ja-JP" dirty="0" smtClean="0"/>
          </a:p>
          <a:p>
            <a:pPr algn="l"/>
            <a:r>
              <a:rPr lang="en-US" altLang="ja-JP" i="1" dirty="0" err="1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ja-JP" altLang="en-US" b="1" dirty="0"/>
              <a:t>：</a:t>
            </a:r>
            <a:r>
              <a:rPr lang="ja-JP" altLang="en-US" b="1" dirty="0">
                <a:solidFill>
                  <a:schemeClr val="accent2"/>
                </a:solidFill>
              </a:rPr>
              <a:t> </a:t>
            </a:r>
            <a:r>
              <a:rPr lang="en-US" altLang="ja-JP" dirty="0" smtClean="0"/>
              <a:t>1.2</a:t>
            </a:r>
            <a:r>
              <a:rPr lang="en-US" altLang="ja-JP" dirty="0"/>
              <a:t/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Task2</a:t>
            </a:r>
            <a:r>
              <a:rPr kumimoji="1" lang="ja-JP" altLang="en-US" dirty="0" smtClean="0"/>
              <a:t>の</a:t>
            </a:r>
            <a:r>
              <a:rPr lang="ja-JP" altLang="en-US" dirty="0"/>
              <a:t>個体</a:t>
            </a:r>
            <a:r>
              <a:rPr lang="ja-JP" altLang="en-US" dirty="0" smtClean="0"/>
              <a:t>の</a:t>
            </a:r>
            <a:r>
              <a:rPr kumimoji="1" lang="en-US" altLang="ja-JP" dirty="0" smtClean="0"/>
              <a:t>Task1</a:t>
            </a:r>
            <a:r>
              <a:rPr kumimoji="1" lang="ja-JP" altLang="en-US" dirty="0" err="1" smtClean="0"/>
              <a:t>への</a:t>
            </a:r>
            <a:r>
              <a:rPr kumimoji="1" lang="ja-JP" altLang="en-US" dirty="0" smtClean="0"/>
              <a:t>射影 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移住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1023754" y="2526560"/>
            <a:ext cx="7033863" cy="4168449"/>
            <a:chOff x="619540" y="2276040"/>
            <a:chExt cx="7033863" cy="416844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581" y="2276040"/>
              <a:ext cx="6591822" cy="3721881"/>
            </a:xfrm>
            <a:prstGeom prst="rect">
              <a:avLst/>
            </a:prstGeom>
          </p:spPr>
        </p:pic>
        <p:sp>
          <p:nvSpPr>
            <p:cNvPr id="8" name="テキスト ボックス 7"/>
            <p:cNvSpPr txBox="1"/>
            <p:nvPr/>
          </p:nvSpPr>
          <p:spPr>
            <a:xfrm>
              <a:off x="3368052" y="5982824"/>
              <a:ext cx="14746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baseline="-25000" dirty="0" smtClean="0">
                  <a:cs typeface="Times New Roman" panose="02020603050405020304" pitchFamily="18" charset="0"/>
                </a:rPr>
                <a:t>1</a:t>
              </a:r>
              <a:endParaRPr kumimoji="1" lang="ja-JP" altLang="en-US" sz="2400" baseline="-250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 rot="16200000">
              <a:off x="-647304" y="3671879"/>
              <a:ext cx="29953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400" baseline="-25000" dirty="0" smtClean="0"/>
                <a:t>2</a:t>
              </a:r>
              <a:endParaRPr kumimoji="1" lang="ja-JP" altLang="en-US" sz="2400" baseline="-25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147915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許容量を変更した問題</a:t>
            </a:r>
            <a:endParaRPr kumimoji="1" lang="en-US" altLang="ja-JP" dirty="0" smtClean="0"/>
          </a:p>
          <a:p>
            <a:pPr algn="l"/>
            <a:r>
              <a:rPr lang="en-US" altLang="ja-JP" i="1" dirty="0" err="1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ja-JP" altLang="en-US" b="1" dirty="0"/>
              <a:t>：</a:t>
            </a:r>
            <a:r>
              <a:rPr lang="ja-JP" altLang="en-US" b="1" dirty="0">
                <a:solidFill>
                  <a:schemeClr val="accent2"/>
                </a:solidFill>
              </a:rPr>
              <a:t> </a:t>
            </a:r>
            <a:r>
              <a:rPr lang="en-US" altLang="ja-JP" dirty="0" smtClean="0"/>
              <a:t>1.4</a:t>
            </a:r>
            <a:r>
              <a:rPr lang="en-US" altLang="ja-JP" dirty="0"/>
              <a:t/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Task2</a:t>
            </a:r>
            <a:r>
              <a:rPr kumimoji="1" lang="ja-JP" altLang="en-US" dirty="0" smtClean="0"/>
              <a:t>の</a:t>
            </a:r>
            <a:r>
              <a:rPr lang="ja-JP" altLang="en-US" dirty="0"/>
              <a:t>個体</a:t>
            </a:r>
            <a:r>
              <a:rPr lang="ja-JP" altLang="en-US" dirty="0" smtClean="0"/>
              <a:t>の</a:t>
            </a:r>
            <a:r>
              <a:rPr kumimoji="1" lang="en-US" altLang="ja-JP" dirty="0" smtClean="0"/>
              <a:t>Task1</a:t>
            </a:r>
            <a:r>
              <a:rPr kumimoji="1" lang="ja-JP" altLang="en-US" dirty="0" err="1" smtClean="0"/>
              <a:t>への</a:t>
            </a:r>
            <a:r>
              <a:rPr kumimoji="1" lang="ja-JP" altLang="en-US" dirty="0" smtClean="0"/>
              <a:t>射影 </a:t>
            </a:r>
            <a:r>
              <a:rPr lang="en-US" altLang="ja-JP" dirty="0" smtClean="0"/>
              <a:t>(</a:t>
            </a:r>
            <a:r>
              <a:rPr lang="ja-JP" altLang="en-US" dirty="0"/>
              <a:t>移住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1023754" y="2526560"/>
            <a:ext cx="7033863" cy="4168449"/>
            <a:chOff x="619540" y="2276040"/>
            <a:chExt cx="7033863" cy="416844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581" y="2276040"/>
              <a:ext cx="6591822" cy="3721880"/>
            </a:xfrm>
            <a:prstGeom prst="rect">
              <a:avLst/>
            </a:prstGeom>
          </p:spPr>
        </p:pic>
        <p:sp>
          <p:nvSpPr>
            <p:cNvPr id="8" name="テキスト ボックス 7"/>
            <p:cNvSpPr txBox="1"/>
            <p:nvPr/>
          </p:nvSpPr>
          <p:spPr>
            <a:xfrm>
              <a:off x="3368052" y="5982824"/>
              <a:ext cx="14746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baseline="-25000" dirty="0" smtClean="0">
                  <a:cs typeface="Times New Roman" panose="02020603050405020304" pitchFamily="18" charset="0"/>
                </a:rPr>
                <a:t>1</a:t>
              </a:r>
              <a:endParaRPr kumimoji="1" lang="ja-JP" altLang="en-US" sz="2400" baseline="-250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 rot="16200000">
              <a:off x="-647304" y="3671879"/>
              <a:ext cx="29953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400" baseline="-25000" dirty="0" smtClean="0"/>
                <a:t>2</a:t>
              </a:r>
              <a:endParaRPr kumimoji="1" lang="ja-JP" altLang="en-US" sz="2400" baseline="-25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1736134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一部ビット</a:t>
            </a:r>
            <a:r>
              <a:rPr kumimoji="1" lang="ja-JP" altLang="en-US" dirty="0" smtClean="0"/>
              <a:t>を変更した問題</a:t>
            </a:r>
            <a:endParaRPr kumimoji="1" lang="en-US" altLang="ja-JP" dirty="0" smtClean="0"/>
          </a:p>
          <a:p>
            <a:pPr algn="l"/>
            <a:r>
              <a:rPr lang="en-US" altLang="ja-JP" i="1" dirty="0" err="1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b="1" dirty="0" smtClean="0"/>
              <a:t>：</a:t>
            </a:r>
            <a:r>
              <a:rPr lang="ja-JP" altLang="en-US" b="1" dirty="0" smtClean="0">
                <a:solidFill>
                  <a:schemeClr val="accent2"/>
                </a:solidFill>
              </a:rPr>
              <a:t> </a:t>
            </a:r>
            <a:r>
              <a:rPr lang="en-US" altLang="ja-JP" dirty="0" smtClean="0"/>
              <a:t>0.</a:t>
            </a:r>
            <a:r>
              <a:rPr lang="en-US" altLang="ja-JP" dirty="0"/>
              <a:t>1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Task2</a:t>
            </a:r>
            <a:r>
              <a:rPr kumimoji="1" lang="ja-JP" altLang="en-US" dirty="0" smtClean="0"/>
              <a:t>の</a:t>
            </a:r>
            <a:r>
              <a:rPr lang="ja-JP" altLang="en-US" dirty="0"/>
              <a:t>個体</a:t>
            </a:r>
            <a:r>
              <a:rPr lang="ja-JP" altLang="en-US" dirty="0" smtClean="0"/>
              <a:t>の</a:t>
            </a:r>
            <a:r>
              <a:rPr kumimoji="1" lang="en-US" altLang="ja-JP" dirty="0" smtClean="0"/>
              <a:t>Task1</a:t>
            </a:r>
            <a:r>
              <a:rPr kumimoji="1" lang="ja-JP" altLang="en-US" dirty="0" err="1" smtClean="0"/>
              <a:t>への</a:t>
            </a:r>
            <a:r>
              <a:rPr kumimoji="1" lang="ja-JP" altLang="en-US" dirty="0" smtClean="0"/>
              <a:t>射影 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移住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1023754" y="2526560"/>
            <a:ext cx="7033863" cy="4168449"/>
            <a:chOff x="619540" y="2276040"/>
            <a:chExt cx="7033863" cy="416844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581" y="2276040"/>
              <a:ext cx="6591822" cy="3721880"/>
            </a:xfrm>
            <a:prstGeom prst="rect">
              <a:avLst/>
            </a:prstGeom>
          </p:spPr>
        </p:pic>
        <p:sp>
          <p:nvSpPr>
            <p:cNvPr id="8" name="テキスト ボックス 7"/>
            <p:cNvSpPr txBox="1"/>
            <p:nvPr/>
          </p:nvSpPr>
          <p:spPr>
            <a:xfrm>
              <a:off x="3368052" y="5982824"/>
              <a:ext cx="14746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baseline="-25000" dirty="0" smtClean="0">
                  <a:cs typeface="Times New Roman" panose="02020603050405020304" pitchFamily="18" charset="0"/>
                </a:rPr>
                <a:t>1</a:t>
              </a:r>
              <a:endParaRPr kumimoji="1" lang="ja-JP" altLang="en-US" sz="2400" baseline="-250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 rot="16200000">
              <a:off x="-647304" y="3671879"/>
              <a:ext cx="29953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400" baseline="-25000" dirty="0" smtClean="0"/>
                <a:t>2</a:t>
              </a:r>
              <a:endParaRPr kumimoji="1" lang="ja-JP" altLang="en-US" sz="2400" baseline="-25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24230463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一部</a:t>
            </a:r>
            <a:r>
              <a:rPr lang="ja-JP" altLang="en-US" dirty="0"/>
              <a:t>ビット</a:t>
            </a:r>
            <a:r>
              <a:rPr kumimoji="1" lang="ja-JP" altLang="en-US" dirty="0" smtClean="0"/>
              <a:t>を変更した問題</a:t>
            </a:r>
            <a:endParaRPr kumimoji="1" lang="en-US" altLang="ja-JP" dirty="0" smtClean="0"/>
          </a:p>
          <a:p>
            <a:pPr algn="l"/>
            <a:r>
              <a:rPr lang="en-US" altLang="ja-JP" i="1" dirty="0" err="1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b="1" dirty="0" smtClean="0"/>
              <a:t>：</a:t>
            </a:r>
            <a:r>
              <a:rPr lang="ja-JP" altLang="en-US" b="1" dirty="0" smtClean="0">
                <a:solidFill>
                  <a:schemeClr val="accent2"/>
                </a:solidFill>
              </a:rPr>
              <a:t> </a:t>
            </a:r>
            <a:r>
              <a:rPr lang="en-US" altLang="ja-JP" dirty="0" smtClean="0"/>
              <a:t>0.</a:t>
            </a:r>
            <a:r>
              <a:rPr lang="en-US" altLang="ja-JP" dirty="0"/>
              <a:t>3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Task2</a:t>
            </a:r>
            <a:r>
              <a:rPr kumimoji="1" lang="ja-JP" altLang="en-US" dirty="0" smtClean="0"/>
              <a:t>の</a:t>
            </a:r>
            <a:r>
              <a:rPr lang="ja-JP" altLang="en-US" dirty="0"/>
              <a:t>個体</a:t>
            </a:r>
            <a:r>
              <a:rPr lang="ja-JP" altLang="en-US" dirty="0" smtClean="0"/>
              <a:t>の</a:t>
            </a:r>
            <a:r>
              <a:rPr kumimoji="1" lang="en-US" altLang="ja-JP" dirty="0" smtClean="0"/>
              <a:t>Task1</a:t>
            </a:r>
            <a:r>
              <a:rPr kumimoji="1" lang="ja-JP" altLang="en-US" dirty="0" err="1" smtClean="0"/>
              <a:t>への</a:t>
            </a:r>
            <a:r>
              <a:rPr kumimoji="1" lang="ja-JP" altLang="en-US" dirty="0" smtClean="0"/>
              <a:t>射影 </a:t>
            </a:r>
            <a:r>
              <a:rPr lang="en-US" altLang="ja-JP" dirty="0" smtClean="0"/>
              <a:t>(</a:t>
            </a:r>
            <a:r>
              <a:rPr lang="ja-JP" altLang="en-US" dirty="0"/>
              <a:t>移住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1023754" y="2526560"/>
            <a:ext cx="7033862" cy="4168449"/>
            <a:chOff x="619540" y="2276040"/>
            <a:chExt cx="7033862" cy="416844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582" y="2276040"/>
              <a:ext cx="6591820" cy="3721880"/>
            </a:xfrm>
            <a:prstGeom prst="rect">
              <a:avLst/>
            </a:prstGeom>
          </p:spPr>
        </p:pic>
        <p:sp>
          <p:nvSpPr>
            <p:cNvPr id="8" name="テキスト ボックス 7"/>
            <p:cNvSpPr txBox="1"/>
            <p:nvPr/>
          </p:nvSpPr>
          <p:spPr>
            <a:xfrm>
              <a:off x="3368052" y="5982824"/>
              <a:ext cx="14746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baseline="-25000" dirty="0" smtClean="0">
                  <a:cs typeface="Times New Roman" panose="02020603050405020304" pitchFamily="18" charset="0"/>
                </a:rPr>
                <a:t>1</a:t>
              </a:r>
              <a:endParaRPr kumimoji="1" lang="ja-JP" altLang="en-US" sz="2400" baseline="-250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 rot="16200000">
              <a:off x="-647304" y="3671879"/>
              <a:ext cx="29953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400" baseline="-25000" dirty="0" smtClean="0"/>
                <a:t>2</a:t>
              </a:r>
              <a:endParaRPr kumimoji="1" lang="ja-JP" altLang="en-US" sz="2400" baseline="-25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15724136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アイテム</a:t>
            </a:r>
            <a:r>
              <a:rPr lang="ja-JP" altLang="en-US" dirty="0" smtClean="0"/>
              <a:t>の価値</a:t>
            </a:r>
            <a:r>
              <a:rPr kumimoji="1" lang="ja-JP" altLang="en-US" dirty="0" smtClean="0"/>
              <a:t>を変更した問題</a:t>
            </a:r>
            <a:endParaRPr kumimoji="1" lang="en-US" altLang="ja-JP" dirty="0" smtClean="0"/>
          </a:p>
          <a:p>
            <a:pPr algn="l"/>
            <a:r>
              <a:rPr lang="en-US" altLang="ja-JP" i="1" dirty="0" err="1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b="1" dirty="0" smtClean="0"/>
              <a:t>：</a:t>
            </a:r>
            <a:r>
              <a:rPr lang="ja-JP" altLang="en-US" b="1" dirty="0" smtClean="0">
                <a:solidFill>
                  <a:schemeClr val="accent2"/>
                </a:solidFill>
              </a:rPr>
              <a:t> </a:t>
            </a:r>
            <a:r>
              <a:rPr lang="en-US" altLang="ja-JP" dirty="0" smtClean="0"/>
              <a:t>0.</a:t>
            </a:r>
            <a:r>
              <a:rPr lang="en-US" altLang="ja-JP" dirty="0"/>
              <a:t>1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Task2</a:t>
            </a:r>
            <a:r>
              <a:rPr kumimoji="1" lang="ja-JP" altLang="en-US" dirty="0" smtClean="0"/>
              <a:t>の</a:t>
            </a:r>
            <a:r>
              <a:rPr lang="ja-JP" altLang="en-US" dirty="0"/>
              <a:t>個体</a:t>
            </a:r>
            <a:r>
              <a:rPr lang="ja-JP" altLang="en-US" dirty="0" smtClean="0"/>
              <a:t>の</a:t>
            </a:r>
            <a:r>
              <a:rPr kumimoji="1" lang="en-US" altLang="ja-JP" dirty="0" smtClean="0"/>
              <a:t>Task1</a:t>
            </a:r>
            <a:r>
              <a:rPr kumimoji="1" lang="ja-JP" altLang="en-US" dirty="0" err="1" smtClean="0"/>
              <a:t>への</a:t>
            </a:r>
            <a:r>
              <a:rPr kumimoji="1" lang="ja-JP" altLang="en-US" dirty="0" smtClean="0"/>
              <a:t>射影 </a:t>
            </a:r>
            <a:r>
              <a:rPr kumimoji="1" lang="en-US" altLang="ja-JP" dirty="0" smtClean="0"/>
              <a:t>(</a:t>
            </a:r>
            <a:r>
              <a:rPr kumimoji="1" lang="ja-JP" altLang="en-US" dirty="0" smtClean="0"/>
              <a:t>移住</a:t>
            </a:r>
            <a:r>
              <a:rPr kumimoji="1" lang="en-US" altLang="ja-JP" dirty="0" smtClean="0"/>
              <a:t>)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1023754" y="2526560"/>
            <a:ext cx="7033862" cy="4168449"/>
            <a:chOff x="619540" y="2276040"/>
            <a:chExt cx="7033862" cy="416844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582" y="2276040"/>
              <a:ext cx="6591820" cy="3721880"/>
            </a:xfrm>
            <a:prstGeom prst="rect">
              <a:avLst/>
            </a:prstGeom>
          </p:spPr>
        </p:pic>
        <p:sp>
          <p:nvSpPr>
            <p:cNvPr id="8" name="テキスト ボックス 7"/>
            <p:cNvSpPr txBox="1"/>
            <p:nvPr/>
          </p:nvSpPr>
          <p:spPr>
            <a:xfrm>
              <a:off x="3368052" y="5982824"/>
              <a:ext cx="14746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baseline="-25000" dirty="0" smtClean="0">
                  <a:cs typeface="Times New Roman" panose="02020603050405020304" pitchFamily="18" charset="0"/>
                </a:rPr>
                <a:t>1</a:t>
              </a:r>
              <a:endParaRPr kumimoji="1" lang="ja-JP" altLang="en-US" sz="2400" baseline="-250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 rot="16200000">
              <a:off x="-647304" y="3671879"/>
              <a:ext cx="29953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400" baseline="-25000" dirty="0" smtClean="0"/>
                <a:t>2</a:t>
              </a:r>
              <a:endParaRPr kumimoji="1" lang="ja-JP" altLang="en-US" sz="2400" baseline="-25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1815607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アイテム</a:t>
            </a:r>
            <a:r>
              <a:rPr lang="ja-JP" altLang="en-US" dirty="0" smtClean="0"/>
              <a:t>の価値</a:t>
            </a:r>
            <a:r>
              <a:rPr kumimoji="1" lang="ja-JP" altLang="en-US" dirty="0" smtClean="0"/>
              <a:t>を変更した問題</a:t>
            </a:r>
            <a:endParaRPr kumimoji="1" lang="en-US" altLang="ja-JP" dirty="0" smtClean="0"/>
          </a:p>
          <a:p>
            <a:pPr algn="l"/>
            <a:r>
              <a:rPr lang="en-US" altLang="ja-JP" i="1" dirty="0" err="1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ja-JP" altLang="en-US" b="1" dirty="0" smtClean="0"/>
              <a:t>：</a:t>
            </a:r>
            <a:r>
              <a:rPr lang="ja-JP" altLang="en-US" b="1" dirty="0" smtClean="0">
                <a:solidFill>
                  <a:schemeClr val="accent2"/>
                </a:solidFill>
              </a:rPr>
              <a:t> </a:t>
            </a:r>
            <a:r>
              <a:rPr lang="en-US" altLang="ja-JP" dirty="0" smtClean="0"/>
              <a:t>0.</a:t>
            </a:r>
            <a:r>
              <a:rPr lang="en-US" altLang="ja-JP" dirty="0"/>
              <a:t>3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Task2</a:t>
            </a:r>
            <a:r>
              <a:rPr kumimoji="1" lang="ja-JP" altLang="en-US" dirty="0" smtClean="0"/>
              <a:t>の</a:t>
            </a:r>
            <a:r>
              <a:rPr lang="ja-JP" altLang="en-US" dirty="0"/>
              <a:t>個体</a:t>
            </a:r>
            <a:r>
              <a:rPr lang="ja-JP" altLang="en-US" dirty="0" smtClean="0"/>
              <a:t>の</a:t>
            </a:r>
            <a:r>
              <a:rPr kumimoji="1" lang="en-US" altLang="ja-JP" dirty="0" smtClean="0"/>
              <a:t>Task1</a:t>
            </a:r>
            <a:r>
              <a:rPr kumimoji="1" lang="ja-JP" altLang="en-US" dirty="0" err="1" smtClean="0"/>
              <a:t>への</a:t>
            </a:r>
            <a:r>
              <a:rPr kumimoji="1" lang="ja-JP" altLang="en-US" dirty="0" smtClean="0"/>
              <a:t>射影 </a:t>
            </a:r>
            <a:r>
              <a:rPr lang="en-US" altLang="ja-JP" dirty="0" smtClean="0"/>
              <a:t>(</a:t>
            </a:r>
            <a:r>
              <a:rPr lang="ja-JP" altLang="en-US" dirty="0"/>
              <a:t>移住</a:t>
            </a:r>
            <a:r>
              <a:rPr lang="en-US" altLang="ja-JP" dirty="0"/>
              <a:t>)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1023754" y="2526560"/>
            <a:ext cx="7033862" cy="4168449"/>
            <a:chOff x="619540" y="2276040"/>
            <a:chExt cx="7033862" cy="4168449"/>
          </a:xfrm>
        </p:grpSpPr>
        <p:pic>
          <p:nvPicPr>
            <p:cNvPr id="7" name="図 6"/>
            <p:cNvPicPr>
              <a:picLocks noChangeAspect="1"/>
            </p:cNvPicPr>
            <p:nvPr/>
          </p:nvPicPr>
          <p:blipFill>
            <a:blip r:embed="rId2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582" y="2276040"/>
              <a:ext cx="6591820" cy="3721879"/>
            </a:xfrm>
            <a:prstGeom prst="rect">
              <a:avLst/>
            </a:prstGeom>
          </p:spPr>
        </p:pic>
        <p:sp>
          <p:nvSpPr>
            <p:cNvPr id="8" name="テキスト ボックス 7"/>
            <p:cNvSpPr txBox="1"/>
            <p:nvPr/>
          </p:nvSpPr>
          <p:spPr>
            <a:xfrm>
              <a:off x="3368052" y="5982824"/>
              <a:ext cx="14746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baseline="-25000" dirty="0" smtClean="0">
                  <a:cs typeface="Times New Roman" panose="02020603050405020304" pitchFamily="18" charset="0"/>
                </a:rPr>
                <a:t>1</a:t>
              </a:r>
              <a:endParaRPr kumimoji="1" lang="ja-JP" altLang="en-US" sz="2400" baseline="-25000" dirty="0" smtClean="0"/>
            </a:p>
          </p:txBody>
        </p:sp>
        <p:sp>
          <p:nvSpPr>
            <p:cNvPr id="9" name="テキスト ボックス 8"/>
            <p:cNvSpPr txBox="1"/>
            <p:nvPr/>
          </p:nvSpPr>
          <p:spPr>
            <a:xfrm rot="16200000">
              <a:off x="-647304" y="3671879"/>
              <a:ext cx="299535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kumimoji="1" lang="en-US" altLang="ja-JP" sz="2400" baseline="-25000" dirty="0" smtClean="0"/>
                <a:t>2</a:t>
              </a:r>
              <a:endParaRPr kumimoji="1" lang="ja-JP" altLang="en-US" sz="2400" baseline="-250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12184591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83606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</a:t>
            </a:r>
            <a:r>
              <a:rPr lang="ja-JP" altLang="en-US" dirty="0" smtClean="0"/>
              <a:t>する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アイテム集合には</a:t>
            </a:r>
            <a:r>
              <a:rPr lang="ja-JP" altLang="en-US" dirty="0"/>
              <a:t>変化</a:t>
            </a:r>
            <a:r>
              <a:rPr lang="ja-JP" altLang="en-US" dirty="0" smtClean="0"/>
              <a:t>を加えず，制約のみを変化させたタスクを作成する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/>
              <p:cNvSpPr txBox="1"/>
              <p:nvPr/>
            </p:nvSpPr>
            <p:spPr>
              <a:xfrm>
                <a:off x="3259118" y="2560320"/>
                <a:ext cx="2129301" cy="12547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 1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w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ij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sz="2800" i="1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 sz="2800" i="1" baseline="-25000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altLang="ja-JP" sz="2800" b="0" i="1" smtClean="0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sz="2800" i="1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&lt;</m:t>
                          </m:r>
                          <m:r>
                            <m:rPr>
                              <m:nor/>
                            </m:rPr>
                            <a:rPr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c</m:t>
                          </m:r>
                          <m:r>
                            <m:rPr>
                              <m:nor/>
                            </m:rPr>
                            <a:rPr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j</m:t>
                          </m:r>
                        </m:e>
                      </m:nary>
                    </m:oMath>
                  </m:oMathPara>
                </a14:m>
                <a:endParaRPr kumimoji="1" lang="ja-JP" altLang="en-US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118" y="2560320"/>
                <a:ext cx="2129301" cy="125470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/>
              <p:cNvSpPr txBox="1"/>
              <p:nvPr/>
            </p:nvSpPr>
            <p:spPr>
              <a:xfrm>
                <a:off x="3084387" y="4719930"/>
                <a:ext cx="2478755" cy="12547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 1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w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ij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ja-JP" sz="2800" i="1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lang="en-US" altLang="ja-JP" sz="2800" i="1" baseline="-25000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altLang="ja-JP" sz="2800" b="0" i="1" smtClean="0">
                              <a:solidFill>
                                <a:srgbClr val="00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&lt;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solidFill>
                                <a:srgbClr val="FF0000"/>
                              </a:solidFill>
                              <a:latin typeface="Symbol" panose="05050102010706020507" pitchFamily="18" charset="2"/>
                              <a:cs typeface="Times New Roman" panose="02020603050405020304" pitchFamily="18" charset="0"/>
                            </a:rPr>
                            <m:t>a</m:t>
                          </m:r>
                          <m:r>
                            <a:rPr kumimoji="1" lang="en-US" altLang="ja-JP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c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j</m:t>
                          </m:r>
                        </m:e>
                      </m:nary>
                    </m:oMath>
                  </m:oMathPara>
                </a14:m>
                <a:endParaRPr kumimoji="1" lang="ja-JP" altLang="en-US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テキスト ボックス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4387" y="4719930"/>
                <a:ext cx="2478755" cy="12547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グループ化 4"/>
          <p:cNvGrpSpPr/>
          <p:nvPr/>
        </p:nvGrpSpPr>
        <p:grpSpPr>
          <a:xfrm>
            <a:off x="5896540" y="4408155"/>
            <a:ext cx="3131401" cy="2126740"/>
            <a:chOff x="6752494" y="5188013"/>
            <a:chExt cx="3131401" cy="1154036"/>
          </a:xfrm>
        </p:grpSpPr>
        <p:sp>
          <p:nvSpPr>
            <p:cNvPr id="3" name="テキスト ボックス 2"/>
            <p:cNvSpPr txBox="1"/>
            <p:nvPr/>
          </p:nvSpPr>
          <p:spPr>
            <a:xfrm>
              <a:off x="6752494" y="5188013"/>
              <a:ext cx="2990724" cy="450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r>
                <a:rPr kumimoji="1" lang="en-US" altLang="ja-JP" sz="2400" i="1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ij</a:t>
              </a:r>
              <a:r>
                <a:rPr lang="ja-JP" altLang="en-US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タスク</a:t>
              </a:r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kumimoji="1" lang="ja-JP" altLang="en-US" sz="2400" dirty="0" smtClean="0"/>
                <a:t>における</a:t>
              </a:r>
              <a:endParaRPr lang="en-US" altLang="ja-JP" sz="2400" dirty="0"/>
            </a:p>
            <a:p>
              <a:pPr indent="536575"/>
              <a:r>
                <a:rPr kumimoji="1" lang="ja-JP" altLang="en-US" sz="2400" dirty="0" smtClean="0"/>
                <a:t>アイテム</a:t>
              </a:r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ja-JP" altLang="en-US" sz="2400" dirty="0" smtClean="0"/>
                <a:t>の重み</a:t>
              </a:r>
            </a:p>
          </p:txBody>
        </p:sp>
        <p:sp>
          <p:nvSpPr>
            <p:cNvPr id="9" name="テキスト ボックス 8"/>
            <p:cNvSpPr txBox="1"/>
            <p:nvPr/>
          </p:nvSpPr>
          <p:spPr>
            <a:xfrm>
              <a:off x="6752494" y="5639774"/>
              <a:ext cx="3131401" cy="450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r>
                <a:rPr kumimoji="1" lang="en-US" altLang="ja-JP" sz="2400" i="1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ja-JP" altLang="en-US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タスク</a:t>
              </a:r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kumimoji="1" lang="ja-JP" altLang="en-US" sz="2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における</a:t>
              </a:r>
              <a:endPara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indent="450850"/>
              <a:r>
                <a:rPr kumimoji="1" lang="ja-JP" altLang="en-US" sz="2400" dirty="0" smtClean="0"/>
                <a:t>ナップサックの容量</a:t>
              </a: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6752494" y="6091535"/>
              <a:ext cx="2990724" cy="2505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縮小率</a:t>
              </a:r>
              <a:r>
                <a:rPr kumimoji="1" lang="en-US" altLang="ja-JP" sz="2400" dirty="0" smtClean="0"/>
                <a:t>(0.0, 2.0)</a:t>
              </a:r>
              <a:endParaRPr kumimoji="1" lang="ja-JP" altLang="en-US" sz="2400" dirty="0" smtClean="0"/>
            </a:p>
          </p:txBody>
        </p:sp>
      </p:grpSp>
      <p:sp>
        <p:nvSpPr>
          <p:cNvPr id="4" name="下矢印 3"/>
          <p:cNvSpPr/>
          <p:nvPr/>
        </p:nvSpPr>
        <p:spPr>
          <a:xfrm>
            <a:off x="4112749" y="4046332"/>
            <a:ext cx="422031" cy="695511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2207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タイトル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提案する問題</a:t>
            </a:r>
            <a:endParaRPr lang="ja-JP" altLang="en-US" dirty="0" smtClean="0"/>
          </a:p>
        </p:txBody>
      </p:sp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下記のパラメータを</a:t>
            </a:r>
            <a:r>
              <a:rPr lang="ja-JP" altLang="en-US" dirty="0" smtClean="0"/>
              <a:t>用いてナップサック</a:t>
            </a:r>
            <a:r>
              <a:rPr lang="ja-JP" altLang="en-US" dirty="0"/>
              <a:t>問題</a:t>
            </a:r>
            <a:r>
              <a:rPr lang="ja-JP" altLang="en-US" dirty="0" smtClean="0"/>
              <a:t>を作成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6147" name="スライド番号プレースホルダー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fld id="{B3E09C8F-164A-4527-82A3-08940CF398CC}" type="slidenum">
              <a:rPr kumimoji="0" lang="en-US" altLang="ja-JP" smtClean="0">
                <a:solidFill>
                  <a:srgbClr val="FFFF00"/>
                </a:solidFill>
              </a:rPr>
              <a:pPr/>
              <a:t>18</a:t>
            </a:fld>
            <a:endParaRPr kumimoji="0" lang="en-US" altLang="ja-JP" dirty="0" smtClean="0">
              <a:solidFill>
                <a:srgbClr val="FFFF00"/>
              </a:solidFill>
            </a:endParaRP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許容量の変更</a:t>
            </a:r>
            <a:endParaRPr kumimoji="1" lang="ja-JP" altLang="en-US" dirty="0"/>
          </a:p>
        </p:txBody>
      </p:sp>
      <p:sp>
        <p:nvSpPr>
          <p:cNvPr id="6149" name="テキスト ボックス 1"/>
          <p:cNvSpPr txBox="1">
            <a:spLocks noChangeArrowheads="1"/>
          </p:cNvSpPr>
          <p:nvPr/>
        </p:nvSpPr>
        <p:spPr bwMode="auto">
          <a:xfrm>
            <a:off x="342900" y="2036616"/>
            <a:ext cx="8275806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r>
              <a:rPr lang="ja-JP" altLang="en-US" sz="2800" dirty="0" smtClean="0"/>
              <a:t>重さ </a:t>
            </a:r>
            <a:r>
              <a:rPr lang="en-US" altLang="ja-JP" sz="2800" dirty="0" smtClean="0"/>
              <a:t>: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 smtClean="0"/>
              <a:t>価値 </a:t>
            </a:r>
            <a:r>
              <a:rPr lang="en-US" altLang="ja-JP" sz="2800" dirty="0" smtClean="0"/>
              <a:t>: 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/>
              <a:t>ナップサック許容量</a:t>
            </a:r>
            <a:r>
              <a:rPr lang="en-US" altLang="ja-JP" sz="2800" dirty="0">
                <a:sym typeface="Wingdings" panose="05000000000000000000" pitchFamily="2" charset="2"/>
              </a:rPr>
              <a:t>: (</a:t>
            </a:r>
            <a:r>
              <a:rPr lang="ja-JP" altLang="en-US" sz="2800" dirty="0">
                <a:sym typeface="Wingdings" panose="05000000000000000000" pitchFamily="2" charset="2"/>
              </a:rPr>
              <a:t>アイテムの総重量</a:t>
            </a:r>
            <a:r>
              <a:rPr lang="en-US" altLang="ja-JP" sz="2800" dirty="0">
                <a:sym typeface="Wingdings" panose="05000000000000000000" pitchFamily="2" charset="2"/>
              </a:rPr>
              <a:t>)/</a:t>
            </a:r>
            <a:r>
              <a:rPr lang="en-US" altLang="ja-JP" sz="2800" dirty="0" smtClean="0">
                <a:sym typeface="Wingdings" panose="05000000000000000000" pitchFamily="2" charset="2"/>
              </a:rPr>
              <a:t>2 ×</a:t>
            </a:r>
            <a:r>
              <a:rPr lang="en-US" altLang="ja-JP" sz="2800" i="1" dirty="0" smtClean="0">
                <a:solidFill>
                  <a:srgbClr val="FF0000"/>
                </a:solidFill>
                <a:latin typeface="Symbol" panose="05050102010706020507" pitchFamily="18" charset="2"/>
                <a:sym typeface="Wingdings" panose="05000000000000000000" pitchFamily="2" charset="2"/>
              </a:rPr>
              <a:t>a</a:t>
            </a:r>
            <a:r>
              <a:rPr lang="en-US" altLang="ja-JP" sz="2800" baseline="-250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s</a:t>
            </a:r>
            <a:endParaRPr lang="en-US" altLang="ja-JP" sz="2800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5924676" y="3409358"/>
            <a:ext cx="299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kumimoji="1" lang="en-US" altLang="ja-JP" sz="2400" dirty="0" smtClean="0"/>
              <a:t>: </a:t>
            </a:r>
            <a:r>
              <a:rPr kumimoji="1" lang="ja-JP" altLang="en-US" sz="2400" dirty="0" smtClean="0"/>
              <a:t>縮小率</a:t>
            </a:r>
            <a:r>
              <a:rPr kumimoji="1" lang="en-US" altLang="ja-JP" sz="2400" dirty="0" smtClean="0"/>
              <a:t>(0.0, 2.0)</a:t>
            </a:r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2345031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下記のパラメータを</a:t>
            </a:r>
            <a:r>
              <a:rPr lang="ja-JP" altLang="en-US" dirty="0" smtClean="0"/>
              <a:t>用いてナップサック</a:t>
            </a:r>
            <a:r>
              <a:rPr lang="ja-JP" altLang="en-US" dirty="0"/>
              <a:t>問題</a:t>
            </a:r>
            <a:r>
              <a:rPr lang="ja-JP" altLang="en-US" dirty="0" smtClean="0"/>
              <a:t>を作成</a:t>
            </a:r>
            <a:endParaRPr lang="en-US" altLang="ja-JP" dirty="0"/>
          </a:p>
          <a:p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kumimoji="1" lang="en-US" altLang="ja-JP" dirty="0" smtClean="0"/>
          </a:p>
          <a:p>
            <a:r>
              <a:rPr kumimoji="1" lang="ja-JP" altLang="en-US" dirty="0" smtClean="0"/>
              <a:t>目的関数を以下のように変更</a:t>
            </a:r>
            <a:endParaRPr kumimoji="1" lang="ja-JP" altLang="en-US" dirty="0"/>
          </a:p>
        </p:txBody>
      </p:sp>
      <p:grpSp>
        <p:nvGrpSpPr>
          <p:cNvPr id="4" name="グループ化 3"/>
          <p:cNvGrpSpPr/>
          <p:nvPr/>
        </p:nvGrpSpPr>
        <p:grpSpPr>
          <a:xfrm>
            <a:off x="5994126" y="5654569"/>
            <a:ext cx="2990724" cy="923330"/>
            <a:chOff x="-120569" y="5677715"/>
            <a:chExt cx="2990724" cy="923330"/>
          </a:xfrm>
        </p:grpSpPr>
        <p:sp>
          <p:nvSpPr>
            <p:cNvPr id="10" name="テキスト ボックス 9"/>
            <p:cNvSpPr txBox="1"/>
            <p:nvPr/>
          </p:nvSpPr>
          <p:spPr>
            <a:xfrm>
              <a:off x="-120569" y="5677715"/>
              <a:ext cx="29907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b="1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  <a:r>
                <a:rPr kumimoji="1" lang="en-US" altLang="ja-JP" sz="2400" i="1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アイテム</a:t>
              </a:r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ja-JP" altLang="en-US" sz="2400" dirty="0" smtClean="0"/>
                <a:t>の</a:t>
              </a:r>
              <a:r>
                <a:rPr lang="ja-JP" altLang="en-US" sz="2400" dirty="0"/>
                <a:t>価値</a:t>
              </a:r>
              <a:endParaRPr kumimoji="1" lang="ja-JP" altLang="en-US" sz="2400" dirty="0" smtClean="0"/>
            </a:p>
          </p:txBody>
        </p:sp>
        <p:sp>
          <p:nvSpPr>
            <p:cNvPr id="13" name="テキスト ボックス 12"/>
            <p:cNvSpPr txBox="1"/>
            <p:nvPr/>
          </p:nvSpPr>
          <p:spPr>
            <a:xfrm>
              <a:off x="-120569" y="6139380"/>
              <a:ext cx="299072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err="1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400" i="1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ja-JP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ja-JP" sz="2400" dirty="0"/>
                <a:t>: </a:t>
              </a:r>
              <a:r>
                <a:rPr lang="ja-JP" altLang="en-US" sz="2400" dirty="0"/>
                <a:t>変更率</a:t>
              </a:r>
              <a:r>
                <a:rPr lang="en-US" altLang="ja-JP" sz="2400" dirty="0"/>
                <a:t>[0.0, 1.0</a:t>
              </a:r>
              <a:r>
                <a:rPr lang="en-US" altLang="ja-JP" sz="2400" dirty="0" smtClean="0"/>
                <a:t>]</a:t>
              </a:r>
              <a:endParaRPr lang="ja-JP" altLang="en-US" sz="2400" dirty="0"/>
            </a:p>
          </p:txBody>
        </p:sp>
      </p:grpSp>
      <p:sp>
        <p:nvSpPr>
          <p:cNvPr id="6146" name="タイトル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提案する問題</a:t>
            </a:r>
            <a:endParaRPr lang="ja-JP" altLang="en-US" dirty="0" smtClean="0"/>
          </a:p>
        </p:txBody>
      </p:sp>
      <p:sp>
        <p:nvSpPr>
          <p:cNvPr id="6147" name="スライド番号プレースホルダー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fld id="{B3E09C8F-164A-4527-82A3-08940CF398CC}" type="slidenum">
              <a:rPr kumimoji="0" lang="en-US" altLang="ja-JP" smtClean="0">
                <a:solidFill>
                  <a:srgbClr val="FFFF00"/>
                </a:solidFill>
              </a:rPr>
              <a:pPr/>
              <a:t>19</a:t>
            </a:fld>
            <a:endParaRPr kumimoji="0" lang="en-US" altLang="ja-JP" smtClean="0">
              <a:solidFill>
                <a:srgbClr val="FFFF00"/>
              </a:solidFill>
            </a:endParaRP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一部ビットの反転</a:t>
            </a:r>
            <a:endParaRPr kumimoji="1" lang="ja-JP" altLang="en-US" dirty="0"/>
          </a:p>
        </p:txBody>
      </p:sp>
      <p:sp>
        <p:nvSpPr>
          <p:cNvPr id="6149" name="テキスト ボックス 1"/>
          <p:cNvSpPr txBox="1">
            <a:spLocks noChangeArrowheads="1"/>
          </p:cNvSpPr>
          <p:nvPr/>
        </p:nvSpPr>
        <p:spPr bwMode="auto">
          <a:xfrm>
            <a:off x="342900" y="2036616"/>
            <a:ext cx="8275806" cy="13849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r>
              <a:rPr lang="ja-JP" altLang="en-US" sz="2800" dirty="0" smtClean="0"/>
              <a:t>重さ </a:t>
            </a:r>
            <a:r>
              <a:rPr lang="en-US" altLang="ja-JP" sz="2800" dirty="0" smtClean="0"/>
              <a:t>: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 smtClean="0"/>
              <a:t>価値 </a:t>
            </a:r>
            <a:r>
              <a:rPr lang="en-US" altLang="ja-JP" sz="2800" dirty="0" smtClean="0"/>
              <a:t>:  </a:t>
            </a:r>
            <a:r>
              <a:rPr lang="en-US" altLang="ja-JP" sz="2800" dirty="0"/>
              <a:t>[10, 100]</a:t>
            </a:r>
            <a:r>
              <a:rPr lang="ja-JP" altLang="en-US" sz="2800" dirty="0" err="1"/>
              <a:t>の整</a:t>
            </a:r>
            <a:r>
              <a:rPr lang="ja-JP" altLang="en-US" sz="2800" dirty="0"/>
              <a:t>数値</a:t>
            </a:r>
            <a:endParaRPr lang="en-US" altLang="ja-JP" sz="2800" dirty="0"/>
          </a:p>
          <a:p>
            <a:r>
              <a:rPr lang="ja-JP" altLang="en-US" sz="2800" dirty="0"/>
              <a:t>ナップサック許容量</a:t>
            </a:r>
            <a:r>
              <a:rPr lang="en-US" altLang="ja-JP" sz="2800" dirty="0">
                <a:sym typeface="Wingdings" panose="05000000000000000000" pitchFamily="2" charset="2"/>
              </a:rPr>
              <a:t>: (</a:t>
            </a:r>
            <a:r>
              <a:rPr lang="ja-JP" altLang="en-US" sz="2800" dirty="0">
                <a:sym typeface="Wingdings" panose="05000000000000000000" pitchFamily="2" charset="2"/>
              </a:rPr>
              <a:t>アイテムの総重量</a:t>
            </a:r>
            <a:r>
              <a:rPr lang="en-US" altLang="ja-JP" sz="2800" dirty="0">
                <a:sym typeface="Wingdings" panose="05000000000000000000" pitchFamily="2" charset="2"/>
              </a:rPr>
              <a:t>)/</a:t>
            </a:r>
            <a:r>
              <a:rPr lang="en-US" altLang="ja-JP" sz="2800" dirty="0" smtClean="0">
                <a:sym typeface="Wingdings" panose="05000000000000000000" pitchFamily="2" charset="2"/>
              </a:rPr>
              <a:t>2 </a:t>
            </a:r>
            <a:endParaRPr lang="en-US" altLang="ja-JP" sz="2800" i="1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/>
              <p:cNvSpPr txBox="1"/>
              <p:nvPr/>
            </p:nvSpPr>
            <p:spPr>
              <a:xfrm>
                <a:off x="2071092" y="4202726"/>
                <a:ext cx="5001817" cy="12627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ja-JP" sz="2800" b="1" i="1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kumimoji="1" lang="en-US" altLang="ja-JP" sz="2800" b="0" i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</m:t>
                      </m:r>
                      <m:nary>
                        <m:naryPr>
                          <m:chr m:val="∑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 1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Symbol" panose="05050102010706020507" pitchFamily="18" charset="2"/>
                              <a:cs typeface="Times New Roman" panose="02020603050405020304" pitchFamily="18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F</m:t>
                          </m:r>
                        </m:sup>
                        <m:e>
                          <m:r>
                            <m:rPr>
                              <m:nor/>
                            </m:rPr>
                            <a:rPr kumimoji="1" lang="en-US" altLang="ja-JP" sz="2800" b="1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(1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+</m:t>
                          </m:r>
                          <m:nary>
                            <m:naryPr>
                              <m:chr m:val="∑"/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 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1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1" smtClean="0">
                                  <a:latin typeface="Symbol" panose="05050102010706020507" pitchFamily="18" charset="2"/>
                                  <a:cs typeface="Times New Roman" panose="02020603050405020304" pitchFamily="18" charset="0"/>
                                </a:rPr>
                                <m:t>a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0" baseline="-2500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p>
                            <m:e>
                              <m:r>
                                <m:rPr>
                                  <m:nor/>
                                </m:rPr>
                                <a:rPr lang="en-US" altLang="ja-JP" sz="2800" b="1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 baseline="-2500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b="0" i="1" baseline="-25000" smtClean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 baseline="-2500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ja-JP" sz="2800" i="1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kumimoji="1" lang="ja-JP" altLang="en-US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092" y="4202726"/>
                <a:ext cx="5001817" cy="1262718"/>
              </a:xfrm>
              <a:prstGeom prst="rect">
                <a:avLst/>
              </a:prstGeom>
              <a:blipFill>
                <a:blip r:embed="rId2"/>
                <a:stretch>
                  <a:fillRect l="-732" b="-528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1780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383</TotalTime>
  <Words>556</Words>
  <Application>Microsoft Office PowerPoint</Application>
  <PresentationFormat>画面に合わせる (4:3)</PresentationFormat>
  <Paragraphs>137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19</vt:i4>
      </vt:variant>
    </vt:vector>
  </HeadingPairs>
  <TitlesOfParts>
    <vt:vector size="27" baseType="lpstr">
      <vt:lpstr>ＭＳ P ゴシック</vt:lpstr>
      <vt:lpstr>ＭＳ Ｐゴシック</vt:lpstr>
      <vt:lpstr>Arial</vt:lpstr>
      <vt:lpstr>Cambria Math</vt:lpstr>
      <vt:lpstr>Symbol</vt:lpstr>
      <vt:lpstr>Times New Roman</vt:lpstr>
      <vt:lpstr>Wingdings</vt:lpstr>
      <vt:lpstr>Theme_Lab</vt:lpstr>
      <vt:lpstr>多目的マルチタスク最適化 バイナリベンチマーク問題の 提案</vt:lpstr>
      <vt:lpstr>予備実験</vt:lpstr>
      <vt:lpstr>予備実験</vt:lpstr>
      <vt:lpstr>提案する問題</vt:lpstr>
      <vt:lpstr>提案する問題</vt:lpstr>
      <vt:lpstr>予備実験</vt:lpstr>
      <vt:lpstr>予備実験</vt:lpstr>
      <vt:lpstr>予備実験</vt:lpstr>
      <vt:lpstr>予備実験</vt:lpstr>
      <vt:lpstr>予備実験</vt:lpstr>
      <vt:lpstr>予備実験</vt:lpstr>
      <vt:lpstr>予備実験</vt:lpstr>
      <vt:lpstr>予備実験</vt:lpstr>
      <vt:lpstr>予備実験</vt:lpstr>
      <vt:lpstr>予備実験</vt:lpstr>
      <vt:lpstr>PowerPoint プレゼンテーション</vt:lpstr>
      <vt:lpstr>提案する問題</vt:lpstr>
      <vt:lpstr>提案する問題</vt:lpstr>
      <vt:lpstr>提案する問題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Multitask</dc:title>
  <dc:creator>瓜田 俊貴</dc:creator>
  <cp:lastModifiedBy>瓜田 俊貴</cp:lastModifiedBy>
  <cp:revision>41</cp:revision>
  <dcterms:created xsi:type="dcterms:W3CDTF">2019-12-22T18:07:24Z</dcterms:created>
  <dcterms:modified xsi:type="dcterms:W3CDTF">2020-02-06T15:42:25Z</dcterms:modified>
</cp:coreProperties>
</file>