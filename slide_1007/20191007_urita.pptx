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2" r:id="rId2"/>
    <p:sldMasterId id="2147483689" r:id="rId3"/>
    <p:sldMasterId id="2147483696" r:id="rId4"/>
    <p:sldMasterId id="2147483703" r:id="rId5"/>
    <p:sldMasterId id="2147483710" r:id="rId6"/>
    <p:sldMasterId id="2147483719" r:id="rId7"/>
  </p:sldMasterIdLst>
  <p:notesMasterIdLst>
    <p:notesMasterId r:id="rId25"/>
  </p:notesMasterIdLst>
  <p:sldIdLst>
    <p:sldId id="256" r:id="rId8"/>
    <p:sldId id="261" r:id="rId9"/>
    <p:sldId id="286" r:id="rId10"/>
    <p:sldId id="300" r:id="rId11"/>
    <p:sldId id="305" r:id="rId12"/>
    <p:sldId id="289" r:id="rId13"/>
    <p:sldId id="308" r:id="rId14"/>
    <p:sldId id="311" r:id="rId15"/>
    <p:sldId id="312" r:id="rId16"/>
    <p:sldId id="313" r:id="rId17"/>
    <p:sldId id="303" r:id="rId18"/>
    <p:sldId id="309" r:id="rId19"/>
    <p:sldId id="310" r:id="rId20"/>
    <p:sldId id="278" r:id="rId21"/>
    <p:sldId id="304" r:id="rId22"/>
    <p:sldId id="314" r:id="rId23"/>
    <p:sldId id="259" r:id="rId2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86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research_b4\rf_ga\result_change_init_pop\&#32080;&#26524;&#12464;&#12521;&#1250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research_b4\rf_ga\result_change_init_pop\&#32080;&#26524;&#12464;&#12521;&#1250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3186904268545"/>
          <c:y val="0.26635730533683283"/>
          <c:w val="0.70594618232709716"/>
          <c:h val="0.64446649168853898"/>
        </c:manualLayout>
      </c:layout>
      <c:barChart>
        <c:barDir val="col"/>
        <c:grouping val="clustered"/>
        <c:varyColors val="0"/>
        <c:ser>
          <c:idx val="0"/>
          <c:order val="0"/>
          <c:tx>
            <c:v>従来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65428729753242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2883823686506819E-2"/>
                  <c:y val="-2.35341774628937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023391812865502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273754327736415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5687134502923974E-2"/>
                      <c:h val="7.024104676602945E-2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2.096124091431005E-2"/>
                  <c:y val="-2.157274679744037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1.023391812865507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('OOB (2)'!$A$1,'OOB (2)'!$D$1,'OOB (2)'!$G$1,'OOB (2)'!$J$1,'OOB (2)'!$M$1)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('OOB (2)'!$A$23,'OOB (2)'!$D$23,'OOB (2)'!$G$23,'OOB (2)'!$J$23,'OOB (2)'!$M$23)</c:f>
              <c:numCache>
                <c:formatCode>General</c:formatCode>
                <c:ptCount val="5"/>
                <c:pt idx="0">
                  <c:v>76.212050000000005</c:v>
                </c:pt>
                <c:pt idx="1">
                  <c:v>81.296199999999999</c:v>
                </c:pt>
                <c:pt idx="2">
                  <c:v>74.943550000000002</c:v>
                </c:pt>
                <c:pt idx="3">
                  <c:v>74</c:v>
                </c:pt>
                <c:pt idx="4">
                  <c:v>90.753700000000009</c:v>
                </c:pt>
              </c:numCache>
            </c:numRef>
          </c:val>
        </c:ser>
        <c:ser>
          <c:idx val="2"/>
          <c:order val="1"/>
          <c:tx>
            <c:v>新規1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437180806875331E-17"/>
                  <c:y val="-2.82410129554720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1147681944871583E-3"/>
                  <c:y val="-4.00081016869187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8.1748723227501325E-17"/>
                  <c:y val="-4.706835492578677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147681944871175E-3"/>
                  <c:y val="-4.23615194332081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2.2295363889744801E-3"/>
                  <c:y val="-1.647392422402537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('OOB (2)'!$A$1,'OOB (2)'!$D$1,'OOB (2)'!$G$1,'OOB (2)'!$J$1,'OOB (2)'!$M$1)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('OOB (2)'!$B$23,'OOB (2)'!$E$23,'OOB (2)'!$H$23,'OOB (2)'!$K$23,'OOB (2)'!$N$23)</c:f>
              <c:numCache>
                <c:formatCode>General</c:formatCode>
                <c:ptCount val="5"/>
                <c:pt idx="0">
                  <c:v>76.47175</c:v>
                </c:pt>
                <c:pt idx="1">
                  <c:v>82.036799999999999</c:v>
                </c:pt>
                <c:pt idx="2">
                  <c:v>74.618149999999986</c:v>
                </c:pt>
                <c:pt idx="3">
                  <c:v>73.7654</c:v>
                </c:pt>
                <c:pt idx="4">
                  <c:v>90.924399999999991</c:v>
                </c:pt>
              </c:numCache>
            </c:numRef>
          </c:val>
        </c:ser>
        <c:ser>
          <c:idx val="1"/>
          <c:order val="2"/>
          <c:tx>
            <c:v>新規2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7719090352664387E-3"/>
                  <c:y val="1.1767088731446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608187134502923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3084745292584079E-2"/>
                  <c:y val="-4.314549359488074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001445424240835E-2"/>
                  <c:y val="2.353417746289293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1.657528639667683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('OOB (2)'!$A$1,'OOB (2)'!$D$1,'OOB (2)'!$G$1,'OOB (2)'!$J$1,'OOB (2)'!$M$1)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('OOB (2)'!$C$23,'OOB (2)'!$F$23,'OOB (2)'!$I$23,'OOB (2)'!$L$23,'OOB (2)'!$O$23)</c:f>
              <c:numCache>
                <c:formatCode>General</c:formatCode>
                <c:ptCount val="5"/>
                <c:pt idx="0">
                  <c:v>75.952250000000006</c:v>
                </c:pt>
                <c:pt idx="1">
                  <c:v>82.222200000000001</c:v>
                </c:pt>
                <c:pt idx="2">
                  <c:v>74.161799999999999</c:v>
                </c:pt>
                <c:pt idx="3">
                  <c:v>73.65055000000001</c:v>
                </c:pt>
                <c:pt idx="4">
                  <c:v>90.730400000000017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8676416"/>
        <c:axId val="418674064"/>
      </c:barChart>
      <c:catAx>
        <c:axId val="41867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8674064"/>
        <c:crosses val="autoZero"/>
        <c:auto val="1"/>
        <c:lblAlgn val="ctr"/>
        <c:lblOffset val="100"/>
        <c:noMultiLvlLbl val="0"/>
      </c:catAx>
      <c:valAx>
        <c:axId val="41867406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/>
                  <a:t>Accuracy[%]</a:t>
                </a:r>
              </a:p>
            </c:rich>
          </c:tx>
          <c:layout>
            <c:manualLayout>
              <c:xMode val="edge"/>
              <c:yMode val="edge"/>
              <c:x val="3.0213114712368299E-2"/>
              <c:y val="0.353137745170073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867641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7570142399787"/>
          <c:y val="2.011881014873141E-2"/>
          <c:w val="0.10315011547506285"/>
          <c:h val="0.200456692913385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3186904268545"/>
          <c:y val="0.26635730533683283"/>
          <c:w val="0.70594618232709716"/>
          <c:h val="0.64446649168853898"/>
        </c:manualLayout>
      </c:layout>
      <c:barChart>
        <c:barDir val="col"/>
        <c:grouping val="clustered"/>
        <c:varyColors val="0"/>
        <c:ser>
          <c:idx val="0"/>
          <c:order val="0"/>
          <c:tx>
            <c:v>従来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65428729753242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2883823686506819E-2"/>
                  <c:y val="-2.35341774628937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023391812865502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273754327736415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5687134502923974E-2"/>
                      <c:h val="7.024104676602945E-2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2.096124091431005E-2"/>
                  <c:y val="-2.157274679744037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1.023391812865507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('OOB (2)'!$A$1,'OOB (2)'!$D$1,'OOB (2)'!$G$1,'OOB (2)'!$J$1,'OOB (2)'!$M$1)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('OOB (2)'!$A$23,'OOB (2)'!$D$23,'OOB (2)'!$G$23,'OOB (2)'!$J$23,'OOB (2)'!$M$23)</c:f>
              <c:numCache>
                <c:formatCode>General</c:formatCode>
                <c:ptCount val="5"/>
                <c:pt idx="0">
                  <c:v>76.212050000000005</c:v>
                </c:pt>
                <c:pt idx="1">
                  <c:v>81.296199999999999</c:v>
                </c:pt>
                <c:pt idx="2">
                  <c:v>74.943550000000002</c:v>
                </c:pt>
                <c:pt idx="3">
                  <c:v>74</c:v>
                </c:pt>
                <c:pt idx="4">
                  <c:v>90.753700000000009</c:v>
                </c:pt>
              </c:numCache>
            </c:numRef>
          </c:val>
        </c:ser>
        <c:ser>
          <c:idx val="2"/>
          <c:order val="1"/>
          <c:tx>
            <c:v>新規1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437180806875331E-17"/>
                  <c:y val="-2.82410129554720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1147681944871583E-3"/>
                  <c:y val="-4.00081016869187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8.1748723227501325E-17"/>
                  <c:y val="-4.706835492578677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147681944871175E-3"/>
                  <c:y val="-4.23615194332081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2.2295363889744801E-3"/>
                  <c:y val="-1.647392422402537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('OOB (2)'!$A$1,'OOB (2)'!$D$1,'OOB (2)'!$G$1,'OOB (2)'!$J$1,'OOB (2)'!$M$1)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('OOB (2)'!$B$23,'OOB (2)'!$E$23,'OOB (2)'!$H$23,'OOB (2)'!$K$23,'OOB (2)'!$N$23)</c:f>
              <c:numCache>
                <c:formatCode>General</c:formatCode>
                <c:ptCount val="5"/>
                <c:pt idx="0">
                  <c:v>76.47175</c:v>
                </c:pt>
                <c:pt idx="1">
                  <c:v>82.036799999999999</c:v>
                </c:pt>
                <c:pt idx="2">
                  <c:v>74.618149999999986</c:v>
                </c:pt>
                <c:pt idx="3">
                  <c:v>73.7654</c:v>
                </c:pt>
                <c:pt idx="4">
                  <c:v>90.924399999999991</c:v>
                </c:pt>
              </c:numCache>
            </c:numRef>
          </c:val>
        </c:ser>
        <c:ser>
          <c:idx val="1"/>
          <c:order val="2"/>
          <c:tx>
            <c:v>新規2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7719090352664387E-3"/>
                  <c:y val="1.1767088731446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608187134502923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3084745292584079E-2"/>
                  <c:y val="-4.314549359488074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001445424240835E-2"/>
                  <c:y val="2.353417746289293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1.657528639667683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('OOB (2)'!$A$1,'OOB (2)'!$D$1,'OOB (2)'!$G$1,'OOB (2)'!$J$1,'OOB (2)'!$M$1)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('OOB (2)'!$C$23,'OOB (2)'!$F$23,'OOB (2)'!$I$23,'OOB (2)'!$L$23,'OOB (2)'!$O$23)</c:f>
              <c:numCache>
                <c:formatCode>General</c:formatCode>
                <c:ptCount val="5"/>
                <c:pt idx="0">
                  <c:v>75.952250000000006</c:v>
                </c:pt>
                <c:pt idx="1">
                  <c:v>82.222200000000001</c:v>
                </c:pt>
                <c:pt idx="2">
                  <c:v>74.161799999999999</c:v>
                </c:pt>
                <c:pt idx="3">
                  <c:v>73.65055000000001</c:v>
                </c:pt>
                <c:pt idx="4">
                  <c:v>90.730400000000017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8310312"/>
        <c:axId val="488307960"/>
      </c:barChart>
      <c:catAx>
        <c:axId val="488310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88307960"/>
        <c:crosses val="autoZero"/>
        <c:auto val="1"/>
        <c:lblAlgn val="ctr"/>
        <c:lblOffset val="100"/>
        <c:noMultiLvlLbl val="0"/>
      </c:catAx>
      <c:valAx>
        <c:axId val="488307960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/>
                  <a:t>Accuracy[%]</a:t>
                </a:r>
              </a:p>
            </c:rich>
          </c:tx>
          <c:layout>
            <c:manualLayout>
              <c:xMode val="edge"/>
              <c:yMode val="edge"/>
              <c:x val="3.0213114712368299E-2"/>
              <c:y val="0.353137745170073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88310312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7570142399787"/>
          <c:y val="2.011881014873141E-2"/>
          <c:w val="0.10315011547506285"/>
          <c:h val="0.200456692913385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178060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2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2027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692265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47137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1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5902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7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3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30306800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51175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139570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64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8314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40623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532299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91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57608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53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63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140841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72739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4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460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955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6381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5579578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89850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73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044481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1863209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700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72102227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3378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354795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3958119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9887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84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9668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1" r:id="rId3"/>
    <p:sldLayoutId id="2147483679" r:id="rId4"/>
    <p:sldLayoutId id="214748367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623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730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4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011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004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63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を用いて，</a:t>
            </a:r>
            <a:r>
              <a:rPr lang="ja-JP" altLang="en-US" dirty="0"/>
              <a:t>ランダムフォレストの弱識別器を抽出し</a:t>
            </a:r>
            <a:r>
              <a:rPr lang="ja-JP" altLang="en-US" dirty="0" smtClean="0"/>
              <a:t>，</a:t>
            </a:r>
            <a:r>
              <a:rPr lang="ja-JP" altLang="en-US" dirty="0"/>
              <a:t>優</a:t>
            </a:r>
            <a:r>
              <a:rPr lang="ja-JP" altLang="en-US" dirty="0" smtClean="0"/>
              <a:t>れたアンサンブル</a:t>
            </a:r>
            <a:r>
              <a:rPr lang="ja-JP" altLang="en-US" dirty="0"/>
              <a:t>識別器を獲得する．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個体評価には，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用いて探索を行う．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の探索能力は，初期個体の生成方法を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変更しても変わらなかった．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72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ja-JP" altLang="en-US" dirty="0" smtClean="0"/>
              <a:t>元のランダムフォレストより識別</a:t>
            </a:r>
            <a:r>
              <a:rPr lang="ja-JP" altLang="en-US" dirty="0"/>
              <a:t>精度</a:t>
            </a:r>
            <a:r>
              <a:rPr lang="ja-JP" altLang="en-US" dirty="0" smtClean="0"/>
              <a:t>の高い，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決定木の組合せは存在している．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1371600"/>
            <a:ext cx="102694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前提</a:t>
            </a:r>
          </a:p>
        </p:txBody>
      </p:sp>
    </p:spTree>
    <p:extLst>
      <p:ext uri="{BB962C8B-B14F-4D97-AF65-F5344CB8AC3E}">
        <p14:creationId xmlns:p14="http://schemas.microsoft.com/office/powerpoint/2010/main" val="252236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ja-JP" altLang="en-US" dirty="0" smtClean="0"/>
              <a:t>元のランダムフォレストより識別</a:t>
            </a:r>
            <a:r>
              <a:rPr lang="ja-JP" altLang="en-US" dirty="0"/>
              <a:t>精度</a:t>
            </a:r>
            <a:r>
              <a:rPr lang="ja-JP" altLang="en-US" dirty="0" smtClean="0"/>
              <a:t>の高い，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決定木の組合せは存在している．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1371600"/>
            <a:ext cx="102694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前提</a:t>
            </a:r>
          </a:p>
        </p:txBody>
      </p:sp>
      <p:grpSp>
        <p:nvGrpSpPr>
          <p:cNvPr id="14" name="グループ化 13"/>
          <p:cNvGrpSpPr/>
          <p:nvPr/>
        </p:nvGrpSpPr>
        <p:grpSpPr>
          <a:xfrm>
            <a:off x="495805" y="3192058"/>
            <a:ext cx="4076195" cy="3583220"/>
            <a:chOff x="495805" y="3192058"/>
            <a:chExt cx="4076195" cy="3583220"/>
          </a:xfrm>
        </p:grpSpPr>
        <p:sp>
          <p:nvSpPr>
            <p:cNvPr id="8" name="テキスト ボックス 7"/>
            <p:cNvSpPr txBox="1"/>
            <p:nvPr/>
          </p:nvSpPr>
          <p:spPr>
            <a:xfrm>
              <a:off x="1023759" y="6252058"/>
              <a:ext cx="3020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Vehicle</a:t>
              </a:r>
            </a:p>
          </p:txBody>
        </p:sp>
        <p:grpSp>
          <p:nvGrpSpPr>
            <p:cNvPr id="12" name="グループ化 11"/>
            <p:cNvGrpSpPr/>
            <p:nvPr/>
          </p:nvGrpSpPr>
          <p:grpSpPr>
            <a:xfrm>
              <a:off x="495805" y="3192058"/>
              <a:ext cx="4076195" cy="3060000"/>
              <a:chOff x="495805" y="3192058"/>
              <a:chExt cx="4076195" cy="3060000"/>
            </a:xfrm>
          </p:grpSpPr>
          <p:pic>
            <p:nvPicPr>
              <p:cNvPr id="6" name="図 5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5805" y="3192058"/>
                <a:ext cx="4076195" cy="3060000"/>
              </a:xfrm>
              <a:prstGeom prst="rect">
                <a:avLst/>
              </a:prstGeom>
            </p:spPr>
          </p:pic>
          <p:sp>
            <p:nvSpPr>
              <p:cNvPr id="10" name="円/楕円 9"/>
              <p:cNvSpPr/>
              <p:nvPr/>
            </p:nvSpPr>
            <p:spPr>
              <a:xfrm>
                <a:off x="3108960" y="3629465"/>
                <a:ext cx="520505" cy="52050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5" name="グループ化 14"/>
          <p:cNvGrpSpPr/>
          <p:nvPr/>
        </p:nvGrpSpPr>
        <p:grpSpPr>
          <a:xfrm>
            <a:off x="4743702" y="3192058"/>
            <a:ext cx="4076195" cy="3583220"/>
            <a:chOff x="4743702" y="3192058"/>
            <a:chExt cx="4076195" cy="3583220"/>
          </a:xfrm>
        </p:grpSpPr>
        <p:sp>
          <p:nvSpPr>
            <p:cNvPr id="9" name="テキスト ボックス 8"/>
            <p:cNvSpPr txBox="1"/>
            <p:nvPr/>
          </p:nvSpPr>
          <p:spPr>
            <a:xfrm>
              <a:off x="5271656" y="6252058"/>
              <a:ext cx="3020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Pima</a:t>
              </a:r>
            </a:p>
          </p:txBody>
        </p:sp>
        <p:grpSp>
          <p:nvGrpSpPr>
            <p:cNvPr id="13" name="グループ化 12"/>
            <p:cNvGrpSpPr/>
            <p:nvPr/>
          </p:nvGrpSpPr>
          <p:grpSpPr>
            <a:xfrm>
              <a:off x="4743702" y="3192058"/>
              <a:ext cx="4076195" cy="3060000"/>
              <a:chOff x="4743702" y="3192058"/>
              <a:chExt cx="4076195" cy="3060000"/>
            </a:xfrm>
          </p:grpSpPr>
          <p:pic>
            <p:nvPicPr>
              <p:cNvPr id="7" name="図 6"/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43702" y="3192058"/>
                <a:ext cx="4076195" cy="3060000"/>
              </a:xfrm>
              <a:prstGeom prst="rect">
                <a:avLst/>
              </a:prstGeom>
            </p:spPr>
          </p:pic>
          <p:sp>
            <p:nvSpPr>
              <p:cNvPr id="11" name="円/楕円 10"/>
              <p:cNvSpPr/>
              <p:nvPr/>
            </p:nvSpPr>
            <p:spPr>
              <a:xfrm>
                <a:off x="7848600" y="3505195"/>
                <a:ext cx="520505" cy="52050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094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r>
              <a:rPr lang="ja-JP" altLang="en-US" dirty="0" smtClean="0"/>
              <a:t>貪欲法で評価値の良い個体を探索し，その個体のテストデータへの精度を調査する．</a:t>
            </a:r>
            <a:endParaRPr lang="en-US" altLang="ja-JP" dirty="0" smtClean="0"/>
          </a:p>
          <a:p>
            <a:pPr algn="l"/>
            <a:r>
              <a:rPr kumimoji="1" lang="en-US" altLang="ja-JP" sz="2800" dirty="0" smtClean="0"/>
              <a:t>※</a:t>
            </a:r>
            <a:r>
              <a:rPr kumimoji="1" lang="ja-JP" altLang="en-US" sz="2800" dirty="0" smtClean="0"/>
              <a:t>貪欲法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評価値が最も高くなるよう，決定木を順番に減らしていく．</a:t>
            </a:r>
            <a:endParaRPr lang="en-US" altLang="ja-JP" sz="2800" dirty="0" smtClean="0"/>
          </a:p>
          <a:p>
            <a:pPr algn="l"/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2</a:t>
            </a:r>
          </a:p>
          <a:p>
            <a:r>
              <a:rPr lang="ja-JP" altLang="en-US" dirty="0" smtClean="0"/>
              <a:t>突然変異操作のみで子個体生成を生成し，探索性能と精度を調査する．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993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使用するデータセット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609453"/>
              </p:ext>
            </p:extLst>
          </p:nvPr>
        </p:nvGraphicFramePr>
        <p:xfrm>
          <a:off x="1455179" y="2148840"/>
          <a:ext cx="623364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373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2991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データセット名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パターン数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クラス数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214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270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768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846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6435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05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u="sng" dirty="0"/>
              <a:t>実験</a:t>
            </a:r>
            <a:r>
              <a:rPr lang="en-US" altLang="ja-JP" u="sng" dirty="0"/>
              <a:t>1</a:t>
            </a:r>
          </a:p>
          <a:p>
            <a:pPr algn="l"/>
            <a:r>
              <a:rPr lang="ja-JP" altLang="en-US" dirty="0"/>
              <a:t>決定木の本数を</a:t>
            </a:r>
            <a:r>
              <a:rPr lang="en-US" altLang="ja-JP" dirty="0"/>
              <a:t>50</a:t>
            </a:r>
            <a:r>
              <a:rPr lang="ja-JP" altLang="en-US" dirty="0"/>
              <a:t>本に</a:t>
            </a:r>
            <a:r>
              <a:rPr lang="ja-JP" altLang="en-US" dirty="0" smtClean="0"/>
              <a:t>設定</a:t>
            </a:r>
            <a:endParaRPr lang="en-US" altLang="ja-JP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dirty="0" smtClean="0"/>
              <a:t>Graph1</a:t>
            </a:r>
          </a:p>
          <a:p>
            <a:pPr marL="450850"/>
            <a:r>
              <a:rPr lang="en-US" altLang="ja-JP" sz="2800" dirty="0" smtClean="0"/>
              <a:t>1</a:t>
            </a:r>
            <a:r>
              <a:rPr lang="ja-JP" altLang="en-US" sz="2800" dirty="0" smtClean="0"/>
              <a:t>回目の試行における，決定木の本数と精度の変化をグラフ化</a:t>
            </a:r>
            <a:endParaRPr lang="en-US" altLang="ja-JP" sz="2800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dirty="0" smtClean="0"/>
              <a:t>Graph2</a:t>
            </a:r>
            <a:endParaRPr lang="en-US" altLang="ja-JP" sz="2800" dirty="0"/>
          </a:p>
          <a:p>
            <a:pPr marL="450850"/>
            <a:r>
              <a:rPr lang="ja-JP" altLang="en-US" sz="2800" dirty="0" smtClean="0"/>
              <a:t>すべての試行における，初期値との識別精度の差を平均してグラフ化</a:t>
            </a:r>
            <a:endParaRPr lang="en-US" altLang="ja-JP" sz="2800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855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</a:t>
            </a:r>
            <a:r>
              <a:rPr kumimoji="1" lang="ja-JP" altLang="en-US" dirty="0" smtClean="0"/>
              <a:t>結果</a:t>
            </a:r>
            <a:r>
              <a:rPr kumimoji="1" lang="en-US" altLang="ja-JP" dirty="0" smtClean="0"/>
              <a:t>(Graph1)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4576125" y="2290687"/>
            <a:ext cx="4462412" cy="3970376"/>
            <a:chOff x="336902" y="2434444"/>
            <a:chExt cx="4462412" cy="3970376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3"/>
            </a:xfrm>
            <a:prstGeom prst="rect">
              <a:avLst/>
            </a:prstGeom>
          </p:spPr>
        </p:pic>
        <p:sp>
          <p:nvSpPr>
            <p:cNvPr id="7" name="テキスト ボックス 6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Heart</a:t>
              </a:r>
              <a:endParaRPr kumimoji="1" lang="ja-JP" altLang="en-US" sz="2800" dirty="0" smtClean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113713" y="2290687"/>
            <a:ext cx="4462412" cy="3970376"/>
            <a:chOff x="336902" y="2434444"/>
            <a:chExt cx="446241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4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Glass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67893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</a:t>
            </a:r>
            <a:r>
              <a:rPr kumimoji="1" lang="ja-JP" altLang="en-US" dirty="0" smtClean="0"/>
              <a:t>結果</a:t>
            </a:r>
            <a:r>
              <a:rPr kumimoji="1" lang="en-US" altLang="ja-JP" dirty="0" smtClean="0"/>
              <a:t>(Graph1)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4576126" y="2290687"/>
            <a:ext cx="4462410" cy="3970376"/>
            <a:chOff x="336903" y="2434444"/>
            <a:chExt cx="4462410" cy="3970376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3" y="2434444"/>
              <a:ext cx="4462410" cy="3349933"/>
            </a:xfrm>
            <a:prstGeom prst="rect">
              <a:avLst/>
            </a:prstGeom>
          </p:spPr>
        </p:pic>
        <p:sp>
          <p:nvSpPr>
            <p:cNvPr id="7" name="テキスト ボックス 6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Vehicle</a:t>
              </a:r>
              <a:endParaRPr kumimoji="1" lang="ja-JP" altLang="en-US" sz="2800" dirty="0" smtClean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113713" y="2290687"/>
            <a:ext cx="4462412" cy="3970376"/>
            <a:chOff x="336902" y="2434444"/>
            <a:chExt cx="446241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3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Pima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94187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</a:t>
            </a:r>
            <a:r>
              <a:rPr kumimoji="1" lang="ja-JP" altLang="en-US" dirty="0" smtClean="0"/>
              <a:t>結果</a:t>
            </a:r>
            <a:r>
              <a:rPr kumimoji="1" lang="en-US" altLang="ja-JP" dirty="0" smtClean="0"/>
              <a:t>(Graph1)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2340794" y="2290687"/>
            <a:ext cx="4462412" cy="3970376"/>
            <a:chOff x="336902" y="2434444"/>
            <a:chExt cx="446241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3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err="1" smtClean="0"/>
                <a:t>Satimage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70747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</a:t>
            </a:r>
            <a:r>
              <a:rPr kumimoji="1" lang="ja-JP" altLang="en-US" dirty="0" smtClean="0"/>
              <a:t>結果</a:t>
            </a:r>
            <a:r>
              <a:rPr kumimoji="1" lang="en-US" altLang="ja-JP" dirty="0" smtClean="0"/>
              <a:t>(Graph2)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4576125" y="2290687"/>
            <a:ext cx="4462412" cy="3970376"/>
            <a:chOff x="336902" y="2434444"/>
            <a:chExt cx="4462412" cy="3970376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3"/>
            </a:xfrm>
            <a:prstGeom prst="rect">
              <a:avLst/>
            </a:prstGeom>
          </p:spPr>
        </p:pic>
        <p:sp>
          <p:nvSpPr>
            <p:cNvPr id="7" name="テキスト ボックス 6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Heart</a:t>
              </a:r>
              <a:endParaRPr kumimoji="1" lang="ja-JP" altLang="en-US" sz="2800" dirty="0" smtClean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113713" y="2290687"/>
            <a:ext cx="4462412" cy="3970376"/>
            <a:chOff x="336902" y="2434444"/>
            <a:chExt cx="446241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4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Glass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31388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</a:t>
            </a:r>
            <a:r>
              <a:rPr kumimoji="1" lang="ja-JP" altLang="en-US" dirty="0" smtClean="0"/>
              <a:t>結果</a:t>
            </a:r>
            <a:r>
              <a:rPr kumimoji="1" lang="en-US" altLang="ja-JP" dirty="0" smtClean="0"/>
              <a:t>(Graph2)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4576126" y="2290687"/>
            <a:ext cx="4462410" cy="3970376"/>
            <a:chOff x="336903" y="2434444"/>
            <a:chExt cx="4462410" cy="3970376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3" y="2434444"/>
              <a:ext cx="4462410" cy="3349933"/>
            </a:xfrm>
            <a:prstGeom prst="rect">
              <a:avLst/>
            </a:prstGeom>
          </p:spPr>
        </p:pic>
        <p:sp>
          <p:nvSpPr>
            <p:cNvPr id="7" name="テキスト ボックス 6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Vehicle</a:t>
              </a:r>
              <a:endParaRPr kumimoji="1" lang="ja-JP" altLang="en-US" sz="2800" dirty="0" smtClean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113713" y="2290687"/>
            <a:ext cx="4462412" cy="3970376"/>
            <a:chOff x="336902" y="2434444"/>
            <a:chExt cx="446241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3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Pima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86348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</a:t>
            </a:r>
            <a:r>
              <a:rPr kumimoji="1" lang="ja-JP" altLang="en-US" dirty="0" smtClean="0"/>
              <a:t>結果</a:t>
            </a:r>
            <a:r>
              <a:rPr kumimoji="1" lang="en-US" altLang="ja-JP" dirty="0" smtClean="0"/>
              <a:t>(Graph2)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1</a:t>
            </a:r>
          </a:p>
          <a:p>
            <a:pPr algn="l"/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2340794" y="2290687"/>
            <a:ext cx="4462412" cy="3970376"/>
            <a:chOff x="336902" y="2434444"/>
            <a:chExt cx="4462412" cy="3970376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02" y="2434444"/>
              <a:ext cx="4462412" cy="3349933"/>
            </a:xfrm>
            <a:prstGeom prst="rect">
              <a:avLst/>
            </a:prstGeom>
          </p:spPr>
        </p:pic>
        <p:sp>
          <p:nvSpPr>
            <p:cNvPr id="15" name="テキスト ボックス 14"/>
            <p:cNvSpPr txBox="1"/>
            <p:nvPr/>
          </p:nvSpPr>
          <p:spPr>
            <a:xfrm>
              <a:off x="1147271" y="5881600"/>
              <a:ext cx="2841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err="1" smtClean="0"/>
                <a:t>Satimage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96144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u="sng" dirty="0" smtClean="0"/>
              <a:t>実験</a:t>
            </a:r>
            <a:r>
              <a:rPr kumimoji="1" lang="en-US" altLang="ja-JP" u="sng" dirty="0" smtClean="0"/>
              <a:t>2</a:t>
            </a:r>
          </a:p>
          <a:p>
            <a:pPr algn="l"/>
            <a:r>
              <a:rPr kumimoji="1" lang="ja-JP" altLang="en-US" dirty="0" smtClean="0"/>
              <a:t>決定</a:t>
            </a:r>
            <a:r>
              <a:rPr kumimoji="1" lang="ja-JP" altLang="en-US" dirty="0" smtClean="0"/>
              <a:t>木の本数 ： </a:t>
            </a:r>
            <a:r>
              <a:rPr lang="en-US" altLang="ja-JP" dirty="0" smtClean="0"/>
              <a:t>50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個体群サイズ ： </a:t>
            </a:r>
            <a:r>
              <a:rPr lang="en-US" altLang="ja-JP" dirty="0"/>
              <a:t>1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子個体数 ： 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kumimoji="1" lang="ja-JP" altLang="en-US" dirty="0" smtClean="0"/>
              <a:t>世代数 ： </a:t>
            </a:r>
            <a:r>
              <a:rPr kumimoji="1" lang="en-US" altLang="ja-JP" dirty="0" smtClean="0"/>
              <a:t>1000</a:t>
            </a:r>
          </a:p>
          <a:p>
            <a:pPr algn="l"/>
            <a:r>
              <a:rPr lang="ja-JP" altLang="en-US" dirty="0" smtClean="0"/>
              <a:t>交叉方法 ： 一様交叉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突然変異確率 ： </a:t>
            </a:r>
            <a:r>
              <a:rPr lang="en-US" altLang="ja-JP" dirty="0"/>
              <a:t>1</a:t>
            </a:r>
            <a:r>
              <a:rPr lang="en-US" altLang="ja-JP" dirty="0" smtClean="0"/>
              <a:t> </a:t>
            </a:r>
            <a:r>
              <a:rPr kumimoji="1" lang="en-US" altLang="ja-JP" dirty="0" smtClean="0"/>
              <a:t>/</a:t>
            </a:r>
            <a:r>
              <a:rPr lang="ja-JP" altLang="en-US" dirty="0" smtClean="0"/>
              <a:t>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決定木の本数</a:t>
            </a:r>
            <a:r>
              <a:rPr kumimoji="1" lang="en-US" altLang="ja-JP" dirty="0" smtClean="0"/>
              <a:t>)</a:t>
            </a:r>
          </a:p>
          <a:p>
            <a:pPr algn="l"/>
            <a:r>
              <a:rPr lang="ja-JP" altLang="en-US" dirty="0" smtClean="0"/>
              <a:t>検証用データの割合 ： 全データの</a:t>
            </a:r>
            <a:r>
              <a:rPr lang="en-US" altLang="ja-JP" dirty="0" smtClean="0"/>
              <a:t>10</a:t>
            </a:r>
            <a:r>
              <a:rPr lang="ja-JP" altLang="en-US" dirty="0" smtClean="0"/>
              <a:t>％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　　　　　　　　　　　　　　 </a:t>
            </a:r>
            <a:r>
              <a:rPr lang="en-US" altLang="ja-JP" sz="2800" dirty="0" smtClean="0"/>
              <a:t>(</a:t>
            </a:r>
            <a:r>
              <a:rPr lang="ja-JP" altLang="en-US" sz="2800" dirty="0" smtClean="0"/>
              <a:t>学習用データの１</a:t>
            </a:r>
            <a:r>
              <a:rPr lang="en-US" altLang="ja-JP" sz="2800" dirty="0" smtClean="0"/>
              <a:t>/9)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99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個体評価</a:t>
            </a:r>
            <a:r>
              <a:rPr kumimoji="1" lang="ja-JP" altLang="en-US" dirty="0" smtClean="0"/>
              <a:t>に</a:t>
            </a:r>
            <a:r>
              <a:rPr lang="en-US" altLang="ja-JP" dirty="0" smtClean="0"/>
              <a:t>OOB</a:t>
            </a:r>
            <a:r>
              <a:rPr kumimoji="1" lang="ja-JP" altLang="en-US" dirty="0" smtClean="0"/>
              <a:t>データ</a:t>
            </a:r>
            <a:r>
              <a:rPr kumimoji="1" lang="ja-JP" altLang="en-US" dirty="0" smtClean="0"/>
              <a:t>を使用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graphicFrame>
        <p:nvGraphicFramePr>
          <p:cNvPr id="7" name="グラフ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942361"/>
              </p:ext>
            </p:extLst>
          </p:nvPr>
        </p:nvGraphicFramePr>
        <p:xfrm>
          <a:off x="-247715" y="3002629"/>
          <a:ext cx="11392503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8653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個体評価に</a:t>
            </a:r>
            <a:r>
              <a:rPr lang="ja-JP" altLang="en-US" dirty="0" smtClean="0"/>
              <a:t>検証</a:t>
            </a:r>
            <a:r>
              <a:rPr lang="ja-JP" altLang="en-US" dirty="0"/>
              <a:t>用</a:t>
            </a:r>
            <a:r>
              <a:rPr kumimoji="1" lang="ja-JP" altLang="en-US" dirty="0" smtClean="0"/>
              <a:t>データを使用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graphicFrame>
        <p:nvGraphicFramePr>
          <p:cNvPr id="7" name="グラフ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9028248"/>
              </p:ext>
            </p:extLst>
          </p:nvPr>
        </p:nvGraphicFramePr>
        <p:xfrm>
          <a:off x="-334800" y="1144800"/>
          <a:ext cx="11392503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45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3.xml><?xml version="1.0" encoding="utf-8"?>
<a:theme xmlns:a="http://schemas.openxmlformats.org/drawingml/2006/main" name="2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B0B4D299-C3BD-44F5-9666-E361C8B677F1}" vid="{958EF22C-0703-4AA8-A4F5-39EE8C6B158B}"/>
    </a:ext>
  </a:extLst>
</a:theme>
</file>

<file path=ppt/theme/theme4.xml><?xml version="1.0" encoding="utf-8"?>
<a:theme xmlns:a="http://schemas.openxmlformats.org/drawingml/2006/main" name="3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5.xml><?xml version="1.0" encoding="utf-8"?>
<a:theme xmlns:a="http://schemas.openxmlformats.org/drawingml/2006/main" name="4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6.xml><?xml version="1.0" encoding="utf-8"?>
<a:theme xmlns:a="http://schemas.openxmlformats.org/drawingml/2006/main" name="5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7.xml><?xml version="1.0" encoding="utf-8"?>
<a:theme xmlns:a="http://schemas.openxmlformats.org/drawingml/2006/main" name="6_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9487F93B-4106-4629-85FC-8E1BB021CAD6}" vid="{65E8ECE0-E354-435F-95E2-6CB9CEF06008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1129</TotalTime>
  <Words>303</Words>
  <Application>Microsoft Office PowerPoint</Application>
  <PresentationFormat>画面に合わせる (4:3)</PresentationFormat>
  <Paragraphs>128</Paragraphs>
  <Slides>17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17</vt:i4>
      </vt:variant>
    </vt:vector>
  </HeadingPairs>
  <TitlesOfParts>
    <vt:vector size="29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1_Theme_Lab</vt:lpstr>
      <vt:lpstr>2_Theme_Lab</vt:lpstr>
      <vt:lpstr>3_Theme_Lab</vt:lpstr>
      <vt:lpstr>4_Theme_Lab</vt:lpstr>
      <vt:lpstr>5_Theme_Lab</vt:lpstr>
      <vt:lpstr>6_Theme_Lab</vt:lpstr>
      <vt:lpstr>GAを用いたランダムフォレストにおける弱識別器の選択</vt:lpstr>
      <vt:lpstr>これまでの実験概要</vt:lpstr>
      <vt:lpstr>調査内容</vt:lpstr>
      <vt:lpstr>調査内容</vt:lpstr>
      <vt:lpstr>調査内容</vt:lpstr>
      <vt:lpstr>実験パラメータ設定</vt:lpstr>
      <vt:lpstr>実験設定</vt:lpstr>
      <vt:lpstr>実験結果(Graph1)</vt:lpstr>
      <vt:lpstr>実験結果(Graph1)</vt:lpstr>
      <vt:lpstr>実験結果(Graph1)</vt:lpstr>
      <vt:lpstr>実験結果(Graph2)</vt:lpstr>
      <vt:lpstr>実験結果(Graph2)</vt:lpstr>
      <vt:lpstr>実験結果(Graph2)</vt:lpstr>
      <vt:lpstr>実験パラメータ設定</vt:lpstr>
      <vt:lpstr>実験結果</vt:lpstr>
      <vt:lpstr>実験結果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80</cp:revision>
  <dcterms:created xsi:type="dcterms:W3CDTF">2019-03-03T13:45:30Z</dcterms:created>
  <dcterms:modified xsi:type="dcterms:W3CDTF">2019-10-06T20:19:50Z</dcterms:modified>
</cp:coreProperties>
</file>