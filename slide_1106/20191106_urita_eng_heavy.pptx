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6" r:id="rId1"/>
  </p:sldMasterIdLst>
  <p:notesMasterIdLst>
    <p:notesMasterId r:id="rId4"/>
  </p:notesMasterIdLst>
  <p:sldIdLst>
    <p:sldId id="309" r:id="rId2"/>
    <p:sldId id="315" r:id="rId3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662" autoAdjust="0"/>
    <p:restoredTop sz="94660"/>
  </p:normalViewPr>
  <p:slideViewPr>
    <p:cSldViewPr snapToGrid="0">
      <p:cViewPr>
        <p:scale>
          <a:sx n="75" d="100"/>
          <a:sy n="75" d="100"/>
        </p:scale>
        <p:origin x="1122" y="6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C86A45-1864-4022-BFC2-712EA35300F2}" type="datetimeFigureOut">
              <a:rPr kumimoji="1" lang="ja-JP" altLang="en-US" smtClean="0"/>
              <a:t>2019/11/5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0EF386-0410-461B-B8A3-AC6CB450B8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815932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0" y="0"/>
            <a:ext cx="9144000" cy="411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 dirty="0"/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31"/>
            <a:ext cx="7772400" cy="1470025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267200"/>
            <a:ext cx="6400800" cy="1371600"/>
          </a:xfrm>
        </p:spPr>
        <p:txBody>
          <a:bodyPr anchor="ctr"/>
          <a:lstStyle>
            <a:lvl1pPr marL="0" indent="0" algn="ctr">
              <a:buFontTx/>
              <a:buNone/>
              <a:defRPr sz="3200"/>
            </a:lvl1pPr>
          </a:lstStyle>
          <a:p>
            <a:r>
              <a:rPr lang="ja-JP" altLang="en-US" smtClean="0"/>
              <a:t>マスター サブタイトルの書式設定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91631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/>
          <p:cNvSpPr txBox="1"/>
          <p:nvPr/>
        </p:nvSpPr>
        <p:spPr>
          <a:xfrm>
            <a:off x="228600" y="1365254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論文名</a:t>
            </a:r>
          </a:p>
        </p:txBody>
      </p:sp>
      <p:sp>
        <p:nvSpPr>
          <p:cNvPr id="4" name="テキスト ボックス 3"/>
          <p:cNvSpPr txBox="1"/>
          <p:nvPr/>
        </p:nvSpPr>
        <p:spPr>
          <a:xfrm>
            <a:off x="228600" y="3125440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著者名</a:t>
            </a: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228600" y="4724400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200" dirty="0"/>
              <a:t>出典</a:t>
            </a:r>
            <a:endParaRPr kumimoji="1" lang="ja-JP" altLang="en-US" sz="3200" dirty="0" smtClean="0"/>
          </a:p>
        </p:txBody>
      </p:sp>
      <p:sp>
        <p:nvSpPr>
          <p:cNvPr id="6" name="コンテンツ プレースホルダ 2"/>
          <p:cNvSpPr>
            <a:spLocks noGrp="1"/>
          </p:cNvSpPr>
          <p:nvPr>
            <p:ph idx="1" hasCustomPrompt="1"/>
          </p:nvPr>
        </p:nvSpPr>
        <p:spPr>
          <a:xfrm>
            <a:off x="1828800" y="1368795"/>
            <a:ext cx="7086600" cy="1551337"/>
          </a:xfrm>
        </p:spPr>
        <p:txBody>
          <a:bodyPr/>
          <a:lstStyle>
            <a:lvl1pPr marL="0" indent="0" algn="just">
              <a:buNone/>
              <a:defRPr sz="28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論文名</a:t>
            </a:r>
          </a:p>
        </p:txBody>
      </p:sp>
      <p:sp>
        <p:nvSpPr>
          <p:cNvPr id="7" name="コンテンツ プレースホルダ 2"/>
          <p:cNvSpPr>
            <a:spLocks noGrp="1"/>
          </p:cNvSpPr>
          <p:nvPr>
            <p:ph idx="10" hasCustomPrompt="1"/>
          </p:nvPr>
        </p:nvSpPr>
        <p:spPr>
          <a:xfrm>
            <a:off x="1828800" y="3125441"/>
            <a:ext cx="7086600" cy="1391142"/>
          </a:xfrm>
        </p:spPr>
        <p:txBody>
          <a:bodyPr/>
          <a:lstStyle>
            <a:lvl1pPr marL="0" indent="0" algn="just">
              <a:buNone/>
              <a:defRPr sz="28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著者名</a:t>
            </a:r>
          </a:p>
        </p:txBody>
      </p:sp>
      <p:sp>
        <p:nvSpPr>
          <p:cNvPr id="8" name="コンテンツ プレースホルダ 2"/>
          <p:cNvSpPr>
            <a:spLocks noGrp="1"/>
          </p:cNvSpPr>
          <p:nvPr>
            <p:ph idx="11" hasCustomPrompt="1"/>
          </p:nvPr>
        </p:nvSpPr>
        <p:spPr>
          <a:xfrm>
            <a:off x="1828800" y="4724400"/>
            <a:ext cx="7086600" cy="1551337"/>
          </a:xfrm>
        </p:spPr>
        <p:txBody>
          <a:bodyPr/>
          <a:lstStyle>
            <a:lvl1pPr marL="0" indent="0" algn="just">
              <a:buNone/>
              <a:defRPr sz="28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出典</a:t>
            </a:r>
          </a:p>
        </p:txBody>
      </p:sp>
      <p:sp>
        <p:nvSpPr>
          <p:cNvPr id="9" name="テキスト ボックス 8"/>
          <p:cNvSpPr txBox="1"/>
          <p:nvPr userDrawn="1"/>
        </p:nvSpPr>
        <p:spPr>
          <a:xfrm>
            <a:off x="78798" y="191542"/>
            <a:ext cx="349134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4400" b="1" dirty="0" smtClean="0">
                <a:solidFill>
                  <a:schemeClr val="bg1"/>
                </a:solidFill>
              </a:rPr>
              <a:t>論文情報</a:t>
            </a:r>
          </a:p>
        </p:txBody>
      </p:sp>
      <p:sp>
        <p:nvSpPr>
          <p:cNvPr id="10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9418127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17669418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+サブ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0678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570780"/>
            <a:ext cx="9067800" cy="573087"/>
          </a:xfrm>
        </p:spPr>
        <p:txBody>
          <a:bodyPr anchor="ctr"/>
          <a:lstStyle>
            <a:lvl1pPr marL="0" indent="0">
              <a:buNone/>
              <a:defRPr sz="3600" b="1" baseline="0">
                <a:solidFill>
                  <a:schemeClr val="accent4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108042690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+サブ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0678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570780"/>
            <a:ext cx="9067800" cy="573087"/>
          </a:xfrm>
        </p:spPr>
        <p:txBody>
          <a:bodyPr anchor="ctr"/>
          <a:lstStyle>
            <a:lvl1pPr marL="0" indent="0">
              <a:buNone/>
              <a:defRPr sz="3600" b="1" baseline="0">
                <a:solidFill>
                  <a:schemeClr val="accent4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55071551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25025294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作図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587737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終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spect="1" noChangeArrowheads="1"/>
          </p:cNvSpPr>
          <p:nvPr/>
        </p:nvSpPr>
        <p:spPr bwMode="auto">
          <a:xfrm>
            <a:off x="-19431" y="-102870"/>
            <a:ext cx="9182862" cy="7063740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 dirty="0"/>
          </a:p>
        </p:txBody>
      </p:sp>
    </p:spTree>
    <p:extLst>
      <p:ext uri="{BB962C8B-B14F-4D97-AF65-F5344CB8AC3E}">
        <p14:creationId xmlns:p14="http://schemas.microsoft.com/office/powerpoint/2010/main" val="193299197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 dirty="0"/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200" y="0"/>
            <a:ext cx="9067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タイトルの書式設定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371600"/>
            <a:ext cx="86868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689500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4" r:id="rId2"/>
    <p:sldLayoutId id="2147483668" r:id="rId3"/>
    <p:sldLayoutId id="2147483669" r:id="rId4"/>
    <p:sldLayoutId id="2147483673" r:id="rId5"/>
    <p:sldLayoutId id="2147483670" r:id="rId6"/>
    <p:sldLayoutId id="2147483671" r:id="rId7"/>
    <p:sldLayoutId id="2147483672" r:id="rId8"/>
  </p:sldLayoutIdLst>
  <p:timing>
    <p:tnLst>
      <p:par>
        <p:cTn id="1" dur="indefinite" restart="never" nodeType="tmRoot"/>
      </p:par>
    </p:tnLst>
  </p:timing>
  <p:hf hdr="0" ftr="0" dt="0"/>
  <p:txStyles>
    <p:titleStyle>
      <a:lvl1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+mj-lt"/>
          <a:ea typeface="+mj-ea"/>
          <a:cs typeface="+mj-cs"/>
        </a:defRPr>
      </a:lvl1pPr>
      <a:lvl2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2pPr>
      <a:lvl3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3pPr>
      <a:lvl4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4pPr>
      <a:lvl5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5pPr>
      <a:lvl6pPr marL="3429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6pPr>
      <a:lvl7pPr marL="6858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7pPr>
      <a:lvl8pPr marL="10287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8pPr>
      <a:lvl9pPr marL="13716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har char="–"/>
        <a:defRPr kumimoji="1"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提案手法</a:t>
            </a:r>
            <a:endParaRPr lang="ja-JP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コンテンツ プレースホルダー 5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ja-JP" altLang="en-US" dirty="0" smtClean="0"/>
                  <a:t>予測値の集約手法は，以下の</a:t>
                </a:r>
                <a:r>
                  <a:rPr lang="en-US" altLang="ja-JP" dirty="0" smtClean="0"/>
                  <a:t>2</a:t>
                </a:r>
                <a:r>
                  <a:rPr lang="ja-JP" altLang="en-US" dirty="0" smtClean="0"/>
                  <a:t>ステップから構成される．</a:t>
                </a:r>
                <a:endParaRPr lang="en-US" altLang="ja-JP" dirty="0" smtClean="0"/>
              </a:p>
              <a:p>
                <a:r>
                  <a:rPr kumimoji="1" lang="en-US" altLang="ja-JP" dirty="0" smtClean="0"/>
                  <a:t>1. aggregated prediction vector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1" lang="ja-JP" alt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kumimoji="1" lang="en-US" altLang="ja-JP" b="1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y</m:t>
                        </m:r>
                      </m:e>
                    </m:acc>
                  </m:oMath>
                </a14:m>
                <a:r>
                  <a:rPr kumimoji="1" lang="ja-JP" altLang="en-US" dirty="0" smtClean="0"/>
                  <a:t>の構成</a:t>
                </a:r>
                <a:endParaRPr kumimoji="1" lang="en-US" altLang="ja-JP" dirty="0" smtClean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ja-JP" altLang="en-US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en-US" altLang="ja-JP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y</m:t>
                          </m:r>
                        </m:e>
                      </m:acc>
                      <m:r>
                        <m:rPr>
                          <m:nor/>
                        </m:rPr>
                        <a:rPr lang="en-US" altLang="ja-JP" b="0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ja-JP" b="0" i="0" smtClean="0">
                          <a:cs typeface="Times New Roman" panose="020206030504050203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altLang="ja-JP" b="0" i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{</m:t>
                      </m:r>
                      <m:r>
                        <m:rPr>
                          <m:nor/>
                        </m:rPr>
                        <a:rPr lang="en-US" altLang="ja-JP" b="0" i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y</m:t>
                      </m:r>
                      <m:r>
                        <m:rPr>
                          <m:nor/>
                        </m:rPr>
                        <a:rPr lang="en-US" altLang="ja-JP" b="0" i="1" baseline="-2500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i</m:t>
                      </m:r>
                      <m:r>
                        <m:rPr>
                          <m:nor/>
                        </m:rPr>
                        <a:rPr lang="en-US" altLang="ja-JP" b="0" i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ja-JP" b="0" i="0" smtClean="0">
                          <a:cs typeface="Times New Roman" panose="02020603050405020304" pitchFamily="18" charset="0"/>
                        </a:rPr>
                        <m:t>= </m:t>
                      </m:r>
                      <m:r>
                        <m:rPr>
                          <m:nor/>
                        </m:rPr>
                        <a:rPr lang="en-US" altLang="ja-JP" b="0" i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1</m:t>
                      </m:r>
                      <m:r>
                        <m:rPr>
                          <m:nor/>
                        </m:rPr>
                        <a:rPr lang="en-US" altLang="ja-JP" b="0" i="0" smtClean="0">
                          <a:cs typeface="Times New Roman" panose="02020603050405020304" pitchFamily="18" charset="0"/>
                        </a:rPr>
                        <m:t>|</m:t>
                      </m:r>
                      <m:r>
                        <m:rPr>
                          <m:nor/>
                        </m:rPr>
                        <a:rPr lang="en-US" altLang="ja-JP" b="0" i="0" baseline="30000" smtClean="0"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∃</m:t>
                      </m:r>
                      <m:r>
                        <m:rPr>
                          <m:nor/>
                        </m:rPr>
                        <a:rPr lang="en-US" altLang="ja-JP" b="0" i="1" smtClean="0"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R</m:t>
                      </m:r>
                      <m:r>
                        <m:rPr>
                          <m:nor/>
                        </m:rPr>
                        <a:rPr lang="en-US" altLang="ja-JP" b="0" i="1" baseline="-25000" smtClean="0"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l</m:t>
                      </m:r>
                      <m:r>
                        <m:rPr>
                          <m:nor/>
                        </m:rPr>
                        <a:rPr lang="en-US" altLang="ja-JP" b="0" i="1" smtClean="0"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ja-JP" b="0" i="0" smtClean="0"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: </m:t>
                      </m:r>
                      <m:r>
                        <m:rPr>
                          <m:nor/>
                        </m:rPr>
                        <a:rPr lang="en-US" altLang="ja-JP" b="0" i="1" smtClean="0"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y</m:t>
                      </m:r>
                      <m:r>
                        <m:rPr>
                          <m:nor/>
                        </m:rPr>
                        <a:rPr lang="en-US" altLang="ja-JP" b="0" i="1" smtClean="0"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ja-JP" b="0" i="1" baseline="30000" smtClean="0"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l</m:t>
                      </m:r>
                      <m:r>
                        <m:rPr>
                          <m:nor/>
                        </m:rPr>
                        <a:rPr lang="en-US" altLang="ja-JP" b="0" i="0" smtClean="0"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ja-JP" b="0" i="0" smtClean="0"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 </m:t>
                      </m:r>
                      <m:r>
                        <m:rPr>
                          <m:nor/>
                        </m:rPr>
                        <a:rPr lang="en-US" altLang="ja-JP" b="0" i="0" smtClean="0"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1;</m:t>
                      </m:r>
                      <m:r>
                        <m:rPr>
                          <m:nor/>
                        </m:rPr>
                        <a:rPr lang="en-US" altLang="ja-JP" b="0" i="1" smtClean="0"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ja-JP" b="0" i="1" smtClean="0"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i</m:t>
                      </m:r>
                      <m:r>
                        <m:rPr>
                          <m:nor/>
                        </m:rPr>
                        <a:rPr lang="en-US" altLang="ja-JP" b="0" i="1" smtClean="0"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ja-JP" b="0" i="0" smtClean="0"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 </m:t>
                      </m:r>
                      <m:r>
                        <m:rPr>
                          <m:nor/>
                        </m:rPr>
                        <a:rPr lang="en-US" altLang="ja-JP" b="0" i="0" smtClean="0"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</m:t>
                      </m:r>
                      <m:r>
                        <m:rPr>
                          <m:nor/>
                        </m:rPr>
                        <a:rPr lang="en-US" altLang="ja-JP" b="0" i="0" smtClean="0"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ja-JP" b="0" i="0" smtClean="0"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, …, </m:t>
                      </m:r>
                      <m:r>
                        <m:rPr>
                          <m:nor/>
                        </m:rPr>
                        <a:rPr lang="en-US" altLang="ja-JP" b="0" i="1" smtClean="0"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m</m:t>
                      </m:r>
                      <m:r>
                        <m:rPr>
                          <m:nor/>
                        </m:rPr>
                        <a:rPr lang="en-US" altLang="ja-JP" b="0" i="0" smtClean="0"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;</m:t>
                      </m:r>
                    </m:oMath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ja-JP" b="0" i="0" smtClean="0"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                 </m:t>
                      </m:r>
                      <m:r>
                        <m:rPr>
                          <m:nor/>
                        </m:rPr>
                        <a:rPr lang="en-US" altLang="ja-JP" b="0" i="1" smtClean="0"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l</m:t>
                      </m:r>
                      <m:r>
                        <m:rPr>
                          <m:nor/>
                        </m:rPr>
                        <a:rPr lang="en-US" altLang="ja-JP" b="0" i="0" smtClean="0"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ja-JP" b="0" i="0" smtClean="0"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 </m:t>
                      </m:r>
                      <m:r>
                        <m:rPr>
                          <m:nor/>
                        </m:rPr>
                        <a:rPr lang="en-US" altLang="ja-JP" b="0" i="0" smtClean="0"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1, …, </m:t>
                      </m:r>
                      <m:r>
                        <m:rPr>
                          <m:nor/>
                        </m:rPr>
                        <a:rPr lang="en-US" altLang="ja-JP" b="0" i="0" smtClean="0"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|</m:t>
                      </m:r>
                      <m:r>
                        <m:rPr>
                          <m:nor/>
                        </m:rPr>
                        <a:rPr lang="en-US" altLang="ja-JP" b="0" i="0" smtClean="0"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[</m:t>
                      </m:r>
                      <m:r>
                        <m:rPr>
                          <m:nor/>
                        </m:rPr>
                        <a:rPr lang="en-US" altLang="ja-JP" b="0" i="1" smtClean="0"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M</m:t>
                      </m:r>
                      <m:r>
                        <m:rPr>
                          <m:nor/>
                        </m:rPr>
                        <a:rPr lang="en-US" altLang="ja-JP" b="0" i="0" smtClean="0"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]</m:t>
                      </m:r>
                      <m:r>
                        <m:rPr>
                          <m:nor/>
                        </m:rPr>
                        <a:rPr lang="en-US" altLang="ja-JP" b="0" i="0" smtClean="0"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|</m:t>
                      </m:r>
                      <m:r>
                        <m:rPr>
                          <m:nor/>
                        </m:rPr>
                        <a:rPr lang="en-US" altLang="ja-JP" b="0" i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}</m:t>
                      </m:r>
                    </m:oMath>
                  </m:oMathPara>
                </a14:m>
                <a:endParaRPr kumimoji="1" lang="en-US" altLang="ja-JP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44500"/>
                <a:r>
                  <a:rPr lang="ja-JP" altLang="en-US" dirty="0" smtClean="0"/>
                  <a:t>各クラス</a:t>
                </a:r>
                <a:r>
                  <a:rPr lang="en-US" altLang="ja-JP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ja-JP" altLang="en-US" dirty="0" smtClean="0"/>
                  <a:t>について，</a:t>
                </a:r>
                <a:r>
                  <a:rPr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</a:t>
                </a:r>
                <a:r>
                  <a:rPr lang="en-US" altLang="ja-JP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</a:t>
                </a:r>
                <a:r>
                  <a:rPr lang="ja-JP" altLang="en-US" dirty="0" smtClean="0"/>
                  <a:t>内のいずれかの個体の</a:t>
                </a:r>
                <a:r>
                  <a:rPr lang="en-US" altLang="ja-JP" dirty="0" smtClean="0"/>
                  <a:t/>
                </a:r>
                <a:br>
                  <a:rPr lang="en-US" altLang="ja-JP" dirty="0" smtClean="0"/>
                </a:br>
                <a:r>
                  <a:rPr lang="ja-JP" altLang="en-US" dirty="0" smtClean="0"/>
                  <a:t>結論部が</a:t>
                </a:r>
                <a:r>
                  <a:rPr lang="en-US" altLang="ja-JP" dirty="0" smtClean="0"/>
                  <a:t>1</a:t>
                </a:r>
                <a:r>
                  <a:rPr lang="ja-JP" altLang="en-US" dirty="0" smtClean="0"/>
                  <a:t>なら</a:t>
                </a:r>
                <a:r>
                  <a:rPr lang="en-US" altLang="ja-JP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altLang="ja-JP" i="1" baseline="-25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ja-JP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ja-JP" dirty="0" smtClean="0">
                    <a:cs typeface="Times New Roman" panose="02020603050405020304" pitchFamily="18" charset="0"/>
                  </a:rPr>
                  <a:t>= </a:t>
                </a:r>
                <a:r>
                  <a:rPr lang="en-US" altLang="ja-JP" dirty="0" smtClean="0">
                    <a:latin typeface="+mn-ea"/>
                    <a:cs typeface="Times New Roman" panose="02020603050405020304" pitchFamily="18" charset="0"/>
                  </a:rPr>
                  <a:t>1</a:t>
                </a:r>
                <a:r>
                  <a:rPr lang="ja-JP" altLang="en-US" dirty="0" smtClean="0"/>
                  <a:t>にする．</a:t>
                </a:r>
                <a:endParaRPr lang="en-US" altLang="ja-JP" dirty="0" smtClean="0"/>
              </a:p>
              <a:p>
                <a:endParaRPr lang="en-US" altLang="ja-JP" dirty="0"/>
              </a:p>
              <a:p>
                <a:endParaRPr lang="en-US" altLang="ja-JP" dirty="0" smtClean="0"/>
              </a:p>
              <a:p>
                <a:pPr marL="514350" indent="-514350">
                  <a:buFont typeface="+mj-lt"/>
                  <a:buAutoNum type="arabicPeriod"/>
                </a:pPr>
                <a:endParaRPr kumimoji="1" lang="ja-JP" altLang="en-US" dirty="0"/>
              </a:p>
            </p:txBody>
          </p:sp>
        </mc:Choice>
        <mc:Fallback>
          <p:sp>
            <p:nvSpPr>
              <p:cNvPr id="6" name="コンテンツ プレースホルダー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825" t="-1882" r="-175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</a:t>
            </a:fld>
            <a:endParaRPr kumimoji="1" lang="ja-JP" altLang="en-US" dirty="0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ja-JP" altLang="en-US" dirty="0" smtClean="0"/>
              <a:t>集約手法の改良</a:t>
            </a:r>
            <a:endParaRPr kumimoji="1" lang="ja-JP" altLang="en-US" dirty="0"/>
          </a:p>
        </p:txBody>
      </p:sp>
      <p:sp>
        <p:nvSpPr>
          <p:cNvPr id="2" name="テキスト ボックス 1"/>
          <p:cNvSpPr txBox="1"/>
          <p:nvPr/>
        </p:nvSpPr>
        <p:spPr>
          <a:xfrm>
            <a:off x="4286250" y="3136900"/>
            <a:ext cx="495300" cy="379591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800" i="1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kumimoji="1" lang="ja-JP" altLang="en-US" sz="2800" i="1" baseline="-25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テキスト ボックス 8"/>
          <p:cNvSpPr txBox="1"/>
          <p:nvPr/>
        </p:nvSpPr>
        <p:spPr>
          <a:xfrm>
            <a:off x="228600" y="5558571"/>
            <a:ext cx="5981700" cy="531614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ja-JP" sz="32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2. rank vector </a:t>
            </a:r>
            <a:r>
              <a:rPr lang="en-US" altLang="ja-JP" sz="32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ja-JP" altLang="en-US" sz="32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 の</a:t>
            </a:r>
            <a:r>
              <a:rPr lang="ja-JP" altLang="en-US" sz="32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構成</a:t>
            </a:r>
            <a:endParaRPr kumimoji="1" lang="ja-JP" altLang="en-US" sz="3200" dirty="0" smtClean="0"/>
          </a:p>
        </p:txBody>
      </p:sp>
    </p:spTree>
    <p:extLst>
      <p:ext uri="{BB962C8B-B14F-4D97-AF65-F5344CB8AC3E}">
        <p14:creationId xmlns:p14="http://schemas.microsoft.com/office/powerpoint/2010/main" val="2888949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提案手法</a:t>
            </a:r>
            <a:endParaRPr lang="ja-JP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コンテンツ プレースホルダー 5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ja-JP" altLang="en-US" dirty="0" smtClean="0"/>
                  <a:t>予測値の集約手法は，以下の</a:t>
                </a:r>
                <a:r>
                  <a:rPr lang="en-US" altLang="ja-JP" dirty="0" smtClean="0"/>
                  <a:t>2</a:t>
                </a:r>
                <a:r>
                  <a:rPr lang="ja-JP" altLang="en-US" dirty="0" smtClean="0"/>
                  <a:t>ステップから構成される．</a:t>
                </a:r>
                <a:endParaRPr lang="en-US" altLang="ja-JP" dirty="0" smtClean="0"/>
              </a:p>
              <a:p>
                <a:r>
                  <a:rPr kumimoji="1" lang="en-US" altLang="ja-JP" dirty="0" smtClean="0">
                    <a:solidFill>
                      <a:schemeClr val="bg2">
                        <a:lumMod val="60000"/>
                        <a:lumOff val="40000"/>
                      </a:schemeClr>
                    </a:solidFill>
                  </a:rPr>
                  <a:t>1. aggregated prediction vector</a:t>
                </a:r>
                <a:r>
                  <a:rPr lang="ja-JP" altLang="en-US" dirty="0" smtClean="0">
                    <a:solidFill>
                      <a:schemeClr val="bg2">
                        <a:lumMod val="60000"/>
                        <a:lumOff val="4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1" lang="ja-JP" altLang="en-US" b="1" i="1" smtClean="0">
                            <a:solidFill>
                              <a:schemeClr val="bg2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kumimoji="1" lang="en-US" altLang="ja-JP" b="1" smtClean="0">
                            <a:solidFill>
                              <a:schemeClr val="bg2">
                                <a:lumMod val="60000"/>
                                <a:lumOff val="40000"/>
                              </a:schemeClr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y</m:t>
                        </m:r>
                      </m:e>
                    </m:acc>
                  </m:oMath>
                </a14:m>
                <a:r>
                  <a:rPr kumimoji="1" lang="ja-JP" altLang="en-US" dirty="0" smtClean="0">
                    <a:solidFill>
                      <a:schemeClr val="bg2">
                        <a:lumMod val="60000"/>
                        <a:lumOff val="40000"/>
                      </a:schemeClr>
                    </a:solidFill>
                  </a:rPr>
                  <a:t>の構成</a:t>
                </a:r>
                <a:endParaRPr kumimoji="1" lang="en-US" altLang="ja-JP" dirty="0" smtClean="0">
                  <a:solidFill>
                    <a:schemeClr val="bg2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altLang="ja-JP" dirty="0" smtClean="0"/>
                  <a:t>2. rank vector </a:t>
                </a:r>
                <a:r>
                  <a:rPr lang="en-US" altLang="ja-JP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ja-JP" altLang="en-US" dirty="0"/>
                  <a:t> </a:t>
                </a:r>
                <a:r>
                  <a:rPr lang="ja-JP" altLang="en-US" dirty="0" smtClean="0"/>
                  <a:t>の構成</a:t>
                </a:r>
                <a:endParaRPr lang="en-US" altLang="ja-JP" dirty="0" smtClean="0"/>
              </a:p>
              <a:p>
                <a:pPr marL="45085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kumimoji="1" lang="en-US" altLang="ja-JP" b="0" i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f</m:t>
                      </m:r>
                      <m:r>
                        <m:rPr>
                          <m:nor/>
                        </m:rPr>
                        <a:rPr kumimoji="1" lang="en-US" altLang="ja-JP" b="0" i="1" baseline="-2500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i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kumimoji="1" lang="en-US" altLang="ja-JP" b="0" i="0" smtClean="0"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nor/>
                              <m:brk m:alnAt="7"/>
                            </m:rPr>
                            <a:rPr kumimoji="1" lang="en-US" altLang="ja-JP" b="0" i="1" baseline="-2500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l</m:t>
                          </m:r>
                          <m:r>
                            <m:rPr>
                              <m:nor/>
                              <m:brk m:alnAt="7"/>
                            </m:rPr>
                            <a:rPr kumimoji="1" lang="en-US" altLang="ja-JP" b="0" i="0" baseline="-2500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  <m:brk m:alnAt="7"/>
                            </m:rPr>
                            <a:rPr kumimoji="1" lang="en-US" altLang="ja-JP" b="0" i="0" baseline="-25000" smtClean="0"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m:rPr>
                              <m:nor/>
                              <m:brk m:alnAt="7"/>
                            </m:rPr>
                            <a:rPr kumimoji="1" lang="en-US" altLang="ja-JP" b="0" i="0" baseline="-2500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1, …,  </m:t>
                          </m:r>
                          <m:r>
                            <m:rPr>
                              <m:nor/>
                              <m:brk m:alnAt="7"/>
                            </m:rPr>
                            <a:rPr kumimoji="1" lang="en-US" altLang="ja-JP" b="0" i="0" baseline="-25000" smtClean="0">
                              <a:cs typeface="Times New Roman" panose="02020603050405020304" pitchFamily="18" charset="0"/>
                            </a:rPr>
                            <m:t>|</m:t>
                          </m:r>
                          <m:r>
                            <m:rPr>
                              <m:lit/>
                              <m:nor/>
                              <m:brk m:alnAt="7"/>
                            </m:rPr>
                            <a:rPr kumimoji="1" lang="en-US" altLang="ja-JP" b="0" i="0" baseline="-2500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[</m:t>
                          </m:r>
                          <m:r>
                            <m:rPr>
                              <m:nor/>
                              <m:brk m:alnAt="7"/>
                            </m:rPr>
                            <a:rPr kumimoji="1" lang="en-US" altLang="ja-JP" b="0" i="1" baseline="-2500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M</m:t>
                          </m:r>
                          <m:r>
                            <m:rPr>
                              <m:nor/>
                              <m:brk m:alnAt="7"/>
                            </m:rPr>
                            <a:rPr kumimoji="1" lang="en-US" altLang="ja-JP" b="0" i="0" baseline="-2500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]</m:t>
                          </m:r>
                          <m:r>
                            <m:rPr>
                              <m:nor/>
                              <m:brk m:alnAt="7"/>
                            </m:rPr>
                            <a:rPr kumimoji="1" lang="en-US" altLang="ja-JP" b="0" i="0" baseline="-25000" smtClean="0">
                              <a:cs typeface="Times New Roman" panose="02020603050405020304" pitchFamily="18" charset="0"/>
                            </a:rPr>
                            <m:t>|</m:t>
                          </m:r>
                          <m:r>
                            <m:rPr>
                              <m:nor/>
                              <m:brk m:alnAt="7"/>
                            </m:rPr>
                            <a:rPr kumimoji="1" lang="en-US" altLang="ja-JP" b="0" i="0" baseline="-2500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m:rPr>
                              <m:nor/>
                              <m:brk m:alnAt="7"/>
                            </m:rPr>
                            <a:rPr kumimoji="1" lang="en-US" altLang="ja-JP" b="0" i="1" baseline="-2500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kumimoji="1" lang="en-US" altLang="ja-JP" b="0" i="1" baseline="-2500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y</m:t>
                          </m:r>
                          <m:r>
                            <m:rPr>
                              <m:nor/>
                              <m:brk m:alnAt="7"/>
                            </m:rPr>
                            <a:rPr kumimoji="1" lang="en-US" altLang="ja-JP" b="0" i="0" baseline="-2500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brk m:alnAt="7"/>
                            </m:rPr>
                            <a:rPr lang="ja-JP" altLang="en-US" i="1" baseline="-250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　</m:t>
                          </m:r>
                          <m:r>
                            <m:rPr>
                              <m:nor/>
                              <m:brk m:alnAt="7"/>
                            </m:rPr>
                            <a:rPr kumimoji="1" lang="en-US" altLang="ja-JP" b="0" i="0" baseline="-25000" smtClean="0"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m:rPr>
                              <m:nor/>
                              <m:brk m:alnAt="7"/>
                            </m:rPr>
                            <a:rPr kumimoji="1" lang="en-US" altLang="ja-JP" b="0" i="0" baseline="-2500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1</m:t>
                          </m:r>
                        </m:sub>
                        <m:sup/>
                        <m:e>
                          <m:r>
                            <m:rPr>
                              <m:nor/>
                            </m:rPr>
                            <a:rPr kumimoji="1" lang="en-US" altLang="ja-JP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f</m:t>
                          </m:r>
                          <m:r>
                            <m:rPr>
                              <m:nor/>
                            </m:rPr>
                            <a:rPr kumimoji="1" lang="en-US" altLang="ja-JP" b="0" i="1" baseline="-2500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l</m:t>
                          </m:r>
                          <m:r>
                            <m:rPr>
                              <m:nor/>
                            </m:rPr>
                            <a:rPr lang="en-US" altLang="ja-JP" i="0">
                              <a:cs typeface="Times New Roman" panose="02020603050405020304" pitchFamily="18" charset="0"/>
                            </a:rPr>
                            <m:t>×</m:t>
                          </m:r>
                          <m:r>
                            <m:rPr>
                              <m:nor/>
                            </m:rPr>
                            <a:rPr kumimoji="1" lang="en-US" altLang="ja-JP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num</m:t>
                          </m:r>
                          <m:r>
                            <m:rPr>
                              <m:nor/>
                            </m:rPr>
                            <a:rPr kumimoji="1" lang="en-US" altLang="ja-JP" b="0" i="1" baseline="-2500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l</m:t>
                          </m:r>
                        </m:e>
                      </m:nary>
                    </m:oMath>
                  </m:oMathPara>
                </a14:m>
                <a:endParaRPr kumimoji="1" lang="en-US" altLang="ja-JP" b="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0850" algn="l"/>
                <a:r>
                  <a:rPr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/>
                </a:r>
                <a:br>
                  <a:rPr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endParaRPr kumimoji="1" lang="ja-JP" altLang="en-US" dirty="0"/>
              </a:p>
            </p:txBody>
          </p:sp>
        </mc:Choice>
        <mc:Fallback>
          <p:sp>
            <p:nvSpPr>
              <p:cNvPr id="6" name="コンテンツ プレースホルダー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825" t="-1882" r="-175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2</a:t>
            </a:fld>
            <a:endParaRPr kumimoji="1" lang="ja-JP" altLang="en-US" dirty="0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ja-JP" altLang="en-US" dirty="0" smtClean="0"/>
              <a:t>集約手法の改良</a:t>
            </a:r>
            <a:endParaRPr kumimoji="1" lang="ja-JP" altLang="en-US" dirty="0"/>
          </a:p>
        </p:txBody>
      </p:sp>
      <p:sp>
        <p:nvSpPr>
          <p:cNvPr id="2" name="テキスト ボックス 1"/>
          <p:cNvSpPr txBox="1"/>
          <p:nvPr/>
        </p:nvSpPr>
        <p:spPr>
          <a:xfrm flipH="1">
            <a:off x="4491039" y="4730121"/>
            <a:ext cx="266700" cy="338554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6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kumimoji="1" lang="ja-JP" altLang="en-US" sz="1600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テキスト ボックス 7"/>
          <p:cNvSpPr txBox="1"/>
          <p:nvPr/>
        </p:nvSpPr>
        <p:spPr>
          <a:xfrm flipH="1">
            <a:off x="4491039" y="4502388"/>
            <a:ext cx="266700" cy="338554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ja-JP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endParaRPr kumimoji="1" lang="ja-JP" altLang="en-US" sz="1600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テキスト ボックス 2"/>
              <p:cNvSpPr txBox="1"/>
              <p:nvPr/>
            </p:nvSpPr>
            <p:spPr>
              <a:xfrm>
                <a:off x="147639" y="5068675"/>
                <a:ext cx="8686800" cy="156966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pPr marL="450850" algn="just"/>
                <a14:m>
                  <m:oMath xmlns:m="http://schemas.openxmlformats.org/officeDocument/2006/math">
                    <m:r>
                      <m:rPr>
                        <m:lit/>
                        <m:nor/>
                        <m:brk m:alnAt="7"/>
                      </m:rPr>
                      <a:rPr lang="en-US" altLang="ja-JP" sz="32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[</m:t>
                    </m:r>
                    <m:r>
                      <m:rPr>
                        <m:nor/>
                        <m:brk m:alnAt="7"/>
                      </m:rPr>
                      <a:rPr lang="en-US" altLang="ja-JP" sz="3200" i="1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M</m:t>
                    </m:r>
                    <m:r>
                      <m:rPr>
                        <m:nor/>
                        <m:brk m:alnAt="7"/>
                      </m:rPr>
                      <a:rPr lang="en-US" altLang="ja-JP" sz="32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]</m:t>
                    </m:r>
                  </m:oMath>
                </a14:m>
                <a:r>
                  <a:rPr lang="ja-JP" altLang="en-US" sz="3200" dirty="0"/>
                  <a:t>内の</a:t>
                </a:r>
                <a:r>
                  <a:rPr lang="ja-JP" altLang="en-US" sz="3200" dirty="0"/>
                  <a:t>個体で，</a:t>
                </a:r>
                <a:r>
                  <a:rPr lang="en-US" altLang="ja-JP" sz="32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altLang="ja-JP" sz="3200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ja-JP" altLang="en-US" sz="3200" dirty="0"/>
                  <a:t>が</a:t>
                </a:r>
                <a:r>
                  <a:rPr lang="en-US" altLang="ja-JP" sz="3200" dirty="0"/>
                  <a:t>1</a:t>
                </a:r>
                <a:r>
                  <a:rPr lang="ja-JP" altLang="en-US" sz="3200" dirty="0"/>
                  <a:t>である個体のみでの</a:t>
                </a:r>
                <a:r>
                  <a:rPr lang="en-US" altLang="ja-JP" sz="3200" dirty="0"/>
                  <a:t/>
                </a:r>
                <a:br>
                  <a:rPr lang="en-US" altLang="ja-JP" sz="3200" dirty="0"/>
                </a:br>
                <a:r>
                  <a:rPr lang="ja-JP" altLang="en-US" sz="3200" dirty="0"/>
                  <a:t>重み付き</a:t>
                </a:r>
                <a:r>
                  <a:rPr lang="ja-JP" altLang="en-US" sz="3200" dirty="0" smtClean="0"/>
                  <a:t>投票</a:t>
                </a:r>
                <a:endParaRPr lang="en-US" altLang="ja-JP" sz="3200" dirty="0" smtClean="0"/>
              </a:p>
              <a:p>
                <a:pPr marL="450850" algn="just"/>
                <a:r>
                  <a:rPr lang="ja-JP" altLang="en-US" sz="3200" dirty="0" smtClean="0"/>
                  <a:t>閾値</a:t>
                </a:r>
                <a:r>
                  <a:rPr lang="ja-JP" altLang="en-US" sz="3200" dirty="0"/>
                  <a:t>を超えた場合，予測値として</a:t>
                </a:r>
                <a:r>
                  <a:rPr lang="en-US" altLang="ja-JP" sz="3200" dirty="0"/>
                  <a:t>1</a:t>
                </a:r>
                <a:r>
                  <a:rPr lang="ja-JP" altLang="en-US" sz="3200" dirty="0"/>
                  <a:t>を出力</a:t>
                </a:r>
                <a:endParaRPr lang="ja-JP" altLang="en-US" sz="3200" dirty="0"/>
              </a:p>
            </p:txBody>
          </p:sp>
        </mc:Choice>
        <mc:Fallback>
          <p:sp>
            <p:nvSpPr>
              <p:cNvPr id="3" name="テキスト ボックス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639" y="5068675"/>
                <a:ext cx="8686800" cy="1569660"/>
              </a:xfrm>
              <a:prstGeom prst="rect">
                <a:avLst/>
              </a:prstGeom>
              <a:blipFill rotWithShape="0">
                <a:blip r:embed="rId3"/>
                <a:stretch>
                  <a:fillRect t="-6589" r="-1825" b="-12016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77533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eme_Lab">
  <a:themeElements>
    <a:clrScheme name="ユーザー定義 1">
      <a:dk1>
        <a:srgbClr val="000000"/>
      </a:dk1>
      <a:lt1>
        <a:srgbClr val="FFFAF5"/>
      </a:lt1>
      <a:dk2>
        <a:srgbClr val="000000"/>
      </a:dk2>
      <a:lt2>
        <a:srgbClr val="808080"/>
      </a:lt2>
      <a:accent1>
        <a:srgbClr val="FF1D38"/>
      </a:accent1>
      <a:accent2>
        <a:srgbClr val="333399"/>
      </a:accent2>
      <a:accent3>
        <a:srgbClr val="34ADFD"/>
      </a:accent3>
      <a:accent4>
        <a:srgbClr val="FFFF00"/>
      </a:accent4>
      <a:accent5>
        <a:srgbClr val="00B050"/>
      </a:accent5>
      <a:accent6>
        <a:srgbClr val="F93DD5"/>
      </a:accent6>
      <a:hlink>
        <a:srgbClr val="009999"/>
      </a:hlink>
      <a:folHlink>
        <a:srgbClr val="99CC00"/>
      </a:folHlink>
    </a:clrScheme>
    <a:fontScheme name="ユーザー定義 1">
      <a:majorFont>
        <a:latin typeface="Arial"/>
        <a:ea typeface="ＭＳ Ｐゴシック"/>
        <a:cs typeface=""/>
      </a:majorFont>
      <a:minorFont>
        <a:latin typeface="Arial"/>
        <a:ea typeface="ＭＳ P 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76200">
          <a:solidFill>
            <a:schemeClr val="tx1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 w="19050">
          <a:noFill/>
        </a:ln>
      </a:spPr>
      <a:bodyPr wrap="square" rtlCol="0">
        <a:spAutoFit/>
      </a:bodyPr>
      <a:lstStyle>
        <a:defPPr algn="ctr">
          <a:defRPr kumimoji="1" sz="2800" dirty="0" smtClean="0"/>
        </a:defPPr>
      </a:lstStyle>
    </a:txDef>
  </a:objectDefaults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heme_Lab" id="{240EDE69-6004-490A-8851-241177012245}" vid="{3655978B-9A6C-48D2-A3CA-A8F52A96FD45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6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83DD86A-5E61-4FA7-9BBC-C5C853AF8C1C}">
  <we:reference id="wa104380121" version="2.0.0.0" store="ja-JP" storeType="OMEX"/>
  <we:alternateReferences>
    <we:reference id="WA104380121" version="2.0.0.0" store="WA104380121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Theme_lab</Template>
  <TotalTime>876</TotalTime>
  <Words>127</Words>
  <Application>Microsoft Office PowerPoint</Application>
  <PresentationFormat>画面に合わせる (4:3)</PresentationFormat>
  <Paragraphs>22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9" baseType="lpstr">
      <vt:lpstr>ＭＳ P ゴシック</vt:lpstr>
      <vt:lpstr>ＭＳ Ｐゴシック</vt:lpstr>
      <vt:lpstr>Arial</vt:lpstr>
      <vt:lpstr>Calibri</vt:lpstr>
      <vt:lpstr>Cambria Math</vt:lpstr>
      <vt:lpstr>Times New Roman</vt:lpstr>
      <vt:lpstr>Theme_Lab</vt:lpstr>
      <vt:lpstr>提案手法</vt:lpstr>
      <vt:lpstr>提案手法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瓜田 俊貴</dc:creator>
  <cp:lastModifiedBy>瓜田 俊貴</cp:lastModifiedBy>
  <cp:revision>91</cp:revision>
  <dcterms:created xsi:type="dcterms:W3CDTF">2019-09-02T15:16:24Z</dcterms:created>
  <dcterms:modified xsi:type="dcterms:W3CDTF">2019-11-05T16:10:53Z</dcterms:modified>
</cp:coreProperties>
</file>