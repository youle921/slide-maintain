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notesMasterIdLst>
    <p:notesMasterId r:id="rId11"/>
  </p:notesMasterIdLst>
  <p:sldIdLst>
    <p:sldId id="258" r:id="rId2"/>
    <p:sldId id="259" r:id="rId3"/>
    <p:sldId id="296" r:id="rId4"/>
    <p:sldId id="299" r:id="rId5"/>
    <p:sldId id="298" r:id="rId6"/>
    <p:sldId id="297" r:id="rId7"/>
    <p:sldId id="301" r:id="rId8"/>
    <p:sldId id="300" r:id="rId9"/>
    <p:sldId id="295" r:id="rId10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735" autoAdjust="0"/>
    <p:restoredTop sz="94660"/>
  </p:normalViewPr>
  <p:slideViewPr>
    <p:cSldViewPr snapToGrid="0">
      <p:cViewPr varScale="1">
        <p:scale>
          <a:sx n="68" d="100"/>
          <a:sy n="68" d="100"/>
        </p:scale>
        <p:origin x="15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C86A45-1864-4022-BFC2-712EA35300F2}" type="datetimeFigureOut">
              <a:rPr kumimoji="1" lang="ja-JP" altLang="en-US" smtClean="0"/>
              <a:t>2019/11/4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0EF386-0410-461B-B8A3-AC6CB450B8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1593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0EF386-0410-461B-B8A3-AC6CB450B89C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96483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31"/>
            <a:ext cx="7772400" cy="14700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91631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/>
          <p:cNvSpPr txBox="1"/>
          <p:nvPr/>
        </p:nvSpPr>
        <p:spPr>
          <a:xfrm>
            <a:off x="228600" y="1365254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論文名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28600" y="3125440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著者名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28600" y="4724400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/>
              <a:t>出典</a:t>
            </a:r>
            <a:endParaRPr kumimoji="1" lang="ja-JP" altLang="en-US" sz="3200" dirty="0" smtClean="0"/>
          </a:p>
        </p:txBody>
      </p:sp>
      <p:sp>
        <p:nvSpPr>
          <p:cNvPr id="6" name="コンテンツ プレースホルダ 2"/>
          <p:cNvSpPr>
            <a:spLocks noGrp="1"/>
          </p:cNvSpPr>
          <p:nvPr>
            <p:ph idx="1" hasCustomPrompt="1"/>
          </p:nvPr>
        </p:nvSpPr>
        <p:spPr>
          <a:xfrm>
            <a:off x="1828800" y="1368795"/>
            <a:ext cx="70866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論文名</a:t>
            </a:r>
          </a:p>
        </p:txBody>
      </p:sp>
      <p:sp>
        <p:nvSpPr>
          <p:cNvPr id="7" name="コンテンツ プレースホルダ 2"/>
          <p:cNvSpPr>
            <a:spLocks noGrp="1"/>
          </p:cNvSpPr>
          <p:nvPr>
            <p:ph idx="10" hasCustomPrompt="1"/>
          </p:nvPr>
        </p:nvSpPr>
        <p:spPr>
          <a:xfrm>
            <a:off x="1828800" y="3125441"/>
            <a:ext cx="7086600" cy="1391142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著者名</a:t>
            </a:r>
          </a:p>
        </p:txBody>
      </p:sp>
      <p:sp>
        <p:nvSpPr>
          <p:cNvPr id="8" name="コンテンツ プレースホルダ 2"/>
          <p:cNvSpPr>
            <a:spLocks noGrp="1"/>
          </p:cNvSpPr>
          <p:nvPr>
            <p:ph idx="11" hasCustomPrompt="1"/>
          </p:nvPr>
        </p:nvSpPr>
        <p:spPr>
          <a:xfrm>
            <a:off x="1828800" y="4724400"/>
            <a:ext cx="70866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出典</a:t>
            </a:r>
          </a:p>
        </p:txBody>
      </p:sp>
      <p:sp>
        <p:nvSpPr>
          <p:cNvPr id="9" name="テキスト ボックス 8"/>
          <p:cNvSpPr txBox="1"/>
          <p:nvPr userDrawn="1"/>
        </p:nvSpPr>
        <p:spPr>
          <a:xfrm>
            <a:off x="78798" y="191542"/>
            <a:ext cx="34913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4400" b="1" dirty="0" smtClean="0">
                <a:solidFill>
                  <a:schemeClr val="bg1"/>
                </a:solidFill>
              </a:rPr>
              <a:t>論文情報</a:t>
            </a: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41812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766941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70780"/>
            <a:ext cx="9067800" cy="573087"/>
          </a:xfrm>
        </p:spPr>
        <p:txBody>
          <a:bodyPr anchor="ctr"/>
          <a:lstStyle>
            <a:lvl1pPr marL="0" indent="0">
              <a:buNone/>
              <a:defRPr sz="3600" b="1" baseline="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10804269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70780"/>
            <a:ext cx="9067800" cy="573087"/>
          </a:xfrm>
        </p:spPr>
        <p:txBody>
          <a:bodyPr anchor="ctr"/>
          <a:lstStyle>
            <a:lvl1pPr marL="0" indent="0">
              <a:buNone/>
              <a:defRPr sz="3600" b="1" baseline="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5507155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5025294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58773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</p:spTree>
    <p:extLst>
      <p:ext uri="{BB962C8B-B14F-4D97-AF65-F5344CB8AC3E}">
        <p14:creationId xmlns:p14="http://schemas.microsoft.com/office/powerpoint/2010/main" val="19329919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689500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4" r:id="rId2"/>
    <p:sldLayoutId id="2147483668" r:id="rId3"/>
    <p:sldLayoutId id="2147483669" r:id="rId4"/>
    <p:sldLayoutId id="2147483673" r:id="rId5"/>
    <p:sldLayoutId id="2147483670" r:id="rId6"/>
    <p:sldLayoutId id="2147483671" r:id="rId7"/>
    <p:sldLayoutId id="2147483672" r:id="rId8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err="1"/>
              <a:t>LightGBM</a:t>
            </a:r>
            <a:r>
              <a:rPr lang="en-US" altLang="ja-JP" dirty="0"/>
              <a:t>: A Highly Efficient Gradient </a:t>
            </a:r>
            <a:r>
              <a:rPr lang="en-US" altLang="ja-JP" dirty="0" smtClean="0"/>
              <a:t>Boosting</a:t>
            </a:r>
            <a:r>
              <a:rPr lang="ja-JP" altLang="en-US" dirty="0" smtClean="0"/>
              <a:t>　</a:t>
            </a:r>
            <a:r>
              <a:rPr lang="en-US" altLang="ja-JP" dirty="0" smtClean="0"/>
              <a:t>Decision </a:t>
            </a:r>
            <a:r>
              <a:rPr lang="en-US" altLang="ja-JP" dirty="0"/>
              <a:t>Tree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ja-JP" dirty="0" err="1" smtClean="0"/>
              <a:t>Guolin</a:t>
            </a:r>
            <a:r>
              <a:rPr lang="en-US" altLang="ja-JP" dirty="0"/>
              <a:t> </a:t>
            </a:r>
            <a:r>
              <a:rPr lang="en-US" altLang="ja-JP" dirty="0" err="1" smtClean="0"/>
              <a:t>Ke</a:t>
            </a:r>
            <a:r>
              <a:rPr lang="en-US" altLang="ja-JP" dirty="0" smtClean="0"/>
              <a:t>, Qi </a:t>
            </a:r>
            <a:r>
              <a:rPr lang="en-US" altLang="ja-JP" dirty="0" err="1" smtClean="0"/>
              <a:t>Meng</a:t>
            </a:r>
            <a:r>
              <a:rPr lang="en-US" altLang="ja-JP" dirty="0" smtClean="0"/>
              <a:t>, </a:t>
            </a:r>
            <a:r>
              <a:rPr lang="en-US" altLang="ja-JP" dirty="0"/>
              <a:t>Thomas </a:t>
            </a:r>
            <a:r>
              <a:rPr lang="en-US" altLang="ja-JP" dirty="0" smtClean="0"/>
              <a:t>Finley, </a:t>
            </a:r>
            <a:r>
              <a:rPr lang="en-US" altLang="ja-JP" dirty="0" err="1" smtClean="0"/>
              <a:t>Taifeng</a:t>
            </a:r>
            <a:r>
              <a:rPr lang="ja-JP" altLang="en-US" dirty="0"/>
              <a:t> </a:t>
            </a:r>
            <a:r>
              <a:rPr lang="en-US" altLang="ja-JP" dirty="0" smtClean="0"/>
              <a:t>Wang, Wei Chen, </a:t>
            </a:r>
            <a:r>
              <a:rPr lang="en-US" altLang="ja-JP" dirty="0" err="1"/>
              <a:t>Weidong</a:t>
            </a:r>
            <a:r>
              <a:rPr lang="en-US" altLang="ja-JP" dirty="0"/>
              <a:t> </a:t>
            </a:r>
            <a:r>
              <a:rPr lang="en-US" altLang="ja-JP" dirty="0" smtClean="0"/>
              <a:t>Ma, </a:t>
            </a:r>
            <a:r>
              <a:rPr lang="en-US" altLang="ja-JP" dirty="0" err="1"/>
              <a:t>Qiwei</a:t>
            </a:r>
            <a:r>
              <a:rPr lang="en-US" altLang="ja-JP" dirty="0"/>
              <a:t> </a:t>
            </a:r>
            <a:r>
              <a:rPr lang="en-US" altLang="ja-JP" dirty="0" smtClean="0"/>
              <a:t>Ye, </a:t>
            </a:r>
            <a:r>
              <a:rPr lang="en-US" altLang="ja-JP" dirty="0"/>
              <a:t>Tie-Yan </a:t>
            </a:r>
            <a:r>
              <a:rPr lang="en-US" altLang="ja-JP" dirty="0" smtClean="0"/>
              <a:t>Liu</a:t>
            </a:r>
            <a:endParaRPr kumimoji="1" lang="ja-JP" altLang="en-US" dirty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en-US" altLang="ja-JP" dirty="0"/>
              <a:t>Advances in Neural Information </a:t>
            </a:r>
            <a:r>
              <a:rPr lang="en-US" altLang="ja-JP" dirty="0" smtClean="0"/>
              <a:t>Processing Systems</a:t>
            </a:r>
            <a:r>
              <a:rPr lang="en-US" altLang="ja-JP" dirty="0"/>
              <a:t>, </a:t>
            </a:r>
            <a:r>
              <a:rPr lang="en-US" altLang="ja-JP" dirty="0" smtClean="0"/>
              <a:t>pp. 3149</a:t>
            </a:r>
            <a:r>
              <a:rPr lang="ja-JP" altLang="en-US" dirty="0" err="1" smtClean="0"/>
              <a:t>ｰ</a:t>
            </a:r>
            <a:r>
              <a:rPr lang="en-US" altLang="ja-JP" dirty="0" smtClean="0"/>
              <a:t>3157, </a:t>
            </a:r>
            <a:r>
              <a:rPr lang="en-US" altLang="ja-JP" dirty="0"/>
              <a:t>2017.</a:t>
            </a:r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410171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概要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 smtClean="0"/>
              <a:t>勾配ブースティング決定木</a:t>
            </a:r>
            <a:r>
              <a:rPr lang="en-US" altLang="ja-JP" dirty="0" smtClean="0"/>
              <a:t>(GBDT)</a:t>
            </a:r>
            <a:r>
              <a:rPr lang="ja-JP" altLang="en-US" dirty="0" smtClean="0"/>
              <a:t>は，機械学習分野において優れた性能を発揮している．</a:t>
            </a:r>
            <a:endParaRPr lang="en-US" altLang="ja-JP" dirty="0" smtClean="0"/>
          </a:p>
          <a:p>
            <a:r>
              <a:rPr kumimoji="1" lang="ja-JP" altLang="en-US" dirty="0" smtClean="0"/>
              <a:t>しかし，多次元データ・ビッグデータに適用する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場合，計算コストが非常に大きくなる．</a:t>
            </a:r>
            <a:endParaRPr lang="en-US" altLang="ja-JP" dirty="0" smtClean="0"/>
          </a:p>
          <a:p>
            <a:endParaRPr lang="en-US" altLang="ja-JP" dirty="0"/>
          </a:p>
          <a:p>
            <a:r>
              <a:rPr kumimoji="1" lang="ja-JP" altLang="en-US" dirty="0" smtClean="0"/>
              <a:t>決定木の学習の際の適切な</a:t>
            </a:r>
            <a:r>
              <a:rPr kumimoji="1" lang="ja-JP" altLang="en-US" dirty="0" smtClean="0">
                <a:solidFill>
                  <a:schemeClr val="accent1"/>
                </a:solidFill>
              </a:rPr>
              <a:t>サンプリング手法</a:t>
            </a:r>
            <a:r>
              <a:rPr lang="en-US" altLang="ja-JP" dirty="0" smtClean="0"/>
              <a:t>Gradient-based </a:t>
            </a:r>
            <a:r>
              <a:rPr lang="en-US" altLang="ja-JP" dirty="0"/>
              <a:t>One-Side </a:t>
            </a:r>
            <a:r>
              <a:rPr lang="en-US" altLang="ja-JP" dirty="0" smtClean="0"/>
              <a:t>Sampling (GOSS)</a:t>
            </a:r>
            <a:r>
              <a:rPr lang="ja-JP" altLang="en-US" dirty="0" err="1" smtClean="0"/>
              <a:t>，</a:t>
            </a:r>
            <a:r>
              <a:rPr kumimoji="1" lang="ja-JP" altLang="en-US" dirty="0" smtClean="0">
                <a:solidFill>
                  <a:schemeClr val="accent1"/>
                </a:solidFill>
              </a:rPr>
              <a:t>スパースなデータを</a:t>
            </a:r>
            <a:r>
              <a:rPr lang="ja-JP" altLang="en-US" dirty="0" smtClean="0">
                <a:solidFill>
                  <a:schemeClr val="accent1"/>
                </a:solidFill>
              </a:rPr>
              <a:t>まとめて</a:t>
            </a:r>
            <a:r>
              <a:rPr kumimoji="1" lang="ja-JP" altLang="en-US" dirty="0" smtClean="0">
                <a:solidFill>
                  <a:schemeClr val="accent1"/>
                </a:solidFill>
              </a:rPr>
              <a:t>扱う </a:t>
            </a:r>
            <a:r>
              <a:rPr lang="en-US" altLang="ja-JP" dirty="0" smtClean="0"/>
              <a:t>Exclusive </a:t>
            </a:r>
            <a:r>
              <a:rPr lang="en-US" altLang="ja-JP" dirty="0"/>
              <a:t>Feature </a:t>
            </a:r>
            <a:r>
              <a:rPr lang="en-US" altLang="ja-JP" dirty="0" smtClean="0"/>
              <a:t>Bundling (EFB) </a:t>
            </a:r>
            <a:r>
              <a:rPr lang="ja-JP" altLang="en-US" dirty="0" smtClean="0"/>
              <a:t>を</a:t>
            </a:r>
            <a:r>
              <a:rPr lang="en-US" altLang="ja-JP" dirty="0" smtClean="0"/>
              <a:t>GBDT</a:t>
            </a:r>
            <a:r>
              <a:rPr lang="ja-JP" altLang="en-US" dirty="0" smtClean="0"/>
              <a:t>に適用した</a:t>
            </a:r>
            <a:r>
              <a:rPr lang="en-US" altLang="ja-JP" dirty="0" err="1" smtClean="0"/>
              <a:t>LightGBM</a:t>
            </a:r>
            <a:r>
              <a:rPr lang="ja-JP" altLang="en-US" dirty="0" smtClean="0"/>
              <a:t>を提案する．</a:t>
            </a:r>
            <a:endParaRPr kumimoji="1" lang="en-US" altLang="ja-JP" dirty="0" smtClean="0"/>
          </a:p>
          <a:p>
            <a:endParaRPr kumimoji="1" lang="ja-JP" altLang="en-US" dirty="0"/>
          </a:p>
        </p:txBody>
      </p:sp>
      <p:sp>
        <p:nvSpPr>
          <p:cNvPr id="7" name="下矢印 6"/>
          <p:cNvSpPr/>
          <p:nvPr/>
        </p:nvSpPr>
        <p:spPr>
          <a:xfrm>
            <a:off x="4272475" y="3501596"/>
            <a:ext cx="675250" cy="629812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スライド番号プレースホルダー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86369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ja-JP" sz="4200" dirty="0" err="1" smtClean="0"/>
              <a:t>sUpervised</a:t>
            </a:r>
            <a:r>
              <a:rPr kumimoji="1" lang="en-US" altLang="ja-JP" sz="4200" dirty="0" smtClean="0"/>
              <a:t> Classifier system(UCS)</a:t>
            </a:r>
            <a:endParaRPr kumimoji="1" lang="ja-JP" altLang="en-US" sz="4200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 smtClean="0"/>
              <a:t>パラメータ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3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3038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ja-JP" sz="4200" dirty="0" err="1" smtClean="0"/>
              <a:t>sUpervised</a:t>
            </a:r>
            <a:r>
              <a:rPr kumimoji="1" lang="en-US" altLang="ja-JP" sz="4200" dirty="0" smtClean="0"/>
              <a:t> Classifier system(UCS)</a:t>
            </a:r>
            <a:endParaRPr kumimoji="1" lang="ja-JP" altLang="en-US" sz="4200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 smtClean="0"/>
              <a:t>パラメータ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4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409779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提案手法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Multi-Label Rule-Based Classifier(MLRBC)</a:t>
            </a:r>
          </a:p>
          <a:p>
            <a:endParaRPr lang="en-US" altLang="ja-JP" dirty="0"/>
          </a:p>
          <a:p>
            <a:r>
              <a:rPr lang="en-US" altLang="ja-JP" dirty="0" err="1" smtClean="0"/>
              <a:t>acc</a:t>
            </a:r>
            <a:r>
              <a:rPr lang="ja-JP" altLang="en-US" dirty="0" smtClean="0"/>
              <a:t>をマルチラベル用に修正</a:t>
            </a:r>
            <a:endParaRPr lang="en-US" altLang="ja-JP" dirty="0" smtClean="0"/>
          </a:p>
          <a:p>
            <a:endParaRPr lang="en-US" altLang="ja-JP" dirty="0"/>
          </a:p>
          <a:p>
            <a:endParaRPr lang="ja-JP" altLang="en-US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5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63354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提案手法</a:t>
            </a:r>
            <a:endParaRPr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6</a:t>
            </a:fld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集約手法の改良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3585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数値実験</a:t>
            </a:r>
            <a:endParaRPr kumimoji="1" lang="ja-JP" altLang="en-US" dirty="0"/>
          </a:p>
        </p:txBody>
      </p:sp>
      <p:sp>
        <p:nvSpPr>
          <p:cNvPr id="7" name="コンテンツ プレースホルダー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7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69955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数値実験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8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 smtClean="0"/>
              <a:t>Evaluation</a:t>
            </a:r>
            <a:r>
              <a:rPr kumimoji="1" lang="ja-JP" altLang="en-US" dirty="0" smtClean="0"/>
              <a:t> </a:t>
            </a:r>
            <a:r>
              <a:rPr kumimoji="1" lang="en-US" altLang="ja-JP" dirty="0" smtClean="0"/>
              <a:t>Metrics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412696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結論</a:t>
            </a:r>
            <a:endParaRPr kumimoji="1" lang="ja-JP" altLang="en-US" dirty="0"/>
          </a:p>
        </p:txBody>
      </p:sp>
      <p:sp>
        <p:nvSpPr>
          <p:cNvPr id="7" name="コンテンツ プレースホルダー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GBDT</a:t>
            </a:r>
            <a:r>
              <a:rPr kumimoji="1" lang="ja-JP" altLang="en-US" dirty="0" smtClean="0"/>
              <a:t>に対し，データ数削減のための</a:t>
            </a:r>
            <a:r>
              <a:rPr kumimoji="1" lang="en-US" altLang="ja-JP" dirty="0" smtClean="0"/>
              <a:t>GOSS</a:t>
            </a:r>
            <a:r>
              <a:rPr kumimoji="1" lang="ja-JP" altLang="en-US" dirty="0" err="1" smtClean="0"/>
              <a:t>，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特徴数削減のための</a:t>
            </a:r>
            <a:r>
              <a:rPr kumimoji="1" lang="en-US" altLang="ja-JP" dirty="0" smtClean="0"/>
              <a:t>EFB</a:t>
            </a:r>
            <a:r>
              <a:rPr kumimoji="1" lang="ja-JP" altLang="en-US" dirty="0" smtClean="0"/>
              <a:t>を組み込んだ高速な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アルゴリズムである</a:t>
            </a:r>
            <a:r>
              <a:rPr kumimoji="1" lang="en-US" altLang="ja-JP" dirty="0" err="1" smtClean="0"/>
              <a:t>LightGBM</a:t>
            </a:r>
            <a:r>
              <a:rPr kumimoji="1" lang="ja-JP" altLang="en-US" dirty="0" smtClean="0"/>
              <a:t>を提案した．</a:t>
            </a:r>
            <a:endParaRPr kumimoji="1" lang="en-US" altLang="ja-JP" dirty="0" smtClean="0"/>
          </a:p>
          <a:p>
            <a:r>
              <a:rPr lang="ja-JP" altLang="en-US" dirty="0" smtClean="0"/>
              <a:t>実験</a:t>
            </a:r>
            <a:r>
              <a:rPr lang="ja-JP" altLang="en-US" dirty="0"/>
              <a:t>結果</a:t>
            </a:r>
            <a:r>
              <a:rPr lang="ja-JP" altLang="en-US" dirty="0" smtClean="0"/>
              <a:t>より，</a:t>
            </a:r>
            <a:r>
              <a:rPr lang="en-US" altLang="ja-JP" dirty="0" err="1" smtClean="0"/>
              <a:t>XGBoost</a:t>
            </a:r>
            <a:r>
              <a:rPr lang="ja-JP" altLang="en-US" dirty="0" smtClean="0"/>
              <a:t>や</a:t>
            </a:r>
            <a:r>
              <a:rPr lang="en-US" altLang="ja-JP" dirty="0" smtClean="0"/>
              <a:t>SGB</a:t>
            </a:r>
            <a:r>
              <a:rPr lang="ja-JP" altLang="en-US" dirty="0" smtClean="0"/>
              <a:t>より優れた性能を発揮することを示した．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9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76519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_Lab">
  <a:themeElements>
    <a:clrScheme name="ユーザー定義 1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00B050"/>
      </a:accent5>
      <a:accent6>
        <a:srgbClr val="F93DD5"/>
      </a:accent6>
      <a:hlink>
        <a:srgbClr val="009999"/>
      </a:hlink>
      <a:folHlink>
        <a:srgbClr val="99CC00"/>
      </a:folHlink>
    </a:clrScheme>
    <a:fontScheme name="ユーザー定義 1">
      <a:majorFont>
        <a:latin typeface="Arial"/>
        <a:ea typeface="ＭＳ Ｐゴシック"/>
        <a:cs typeface=""/>
      </a:majorFont>
      <a:minorFont>
        <a:latin typeface="Arial"/>
        <a:ea typeface="ＭＳ P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762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19050">
          <a:solidFill>
            <a:schemeClr val="tx1"/>
          </a:solidFill>
        </a:ln>
      </a:spPr>
      <a:bodyPr wrap="square" rtlCol="0">
        <a:spAutoFit/>
      </a:bodyPr>
      <a:lstStyle>
        <a:defPPr algn="ctr">
          <a:defRPr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240EDE69-6004-490A-8851-241177012245}" vid="{3655978B-9A6C-48D2-A3CA-A8F52A96FD45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83DD86A-5E61-4FA7-9BBC-C5C853AF8C1C}">
  <we:reference id="wa104380121" version="2.0.0.0" store="ja-JP" storeType="OMEX"/>
  <we:alternateReferences>
    <we:reference id="WA104380121" version="2.0.0.0" store="WA104380121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Theme_lab</Template>
  <TotalTime>497</TotalTime>
  <Words>130</Words>
  <Application>Microsoft Office PowerPoint</Application>
  <PresentationFormat>画面に合わせる (4:3)</PresentationFormat>
  <Paragraphs>35</Paragraphs>
  <Slides>9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5" baseType="lpstr">
      <vt:lpstr>ＭＳ P ゴシック</vt:lpstr>
      <vt:lpstr>ＭＳ Ｐゴシック</vt:lpstr>
      <vt:lpstr>Arial</vt:lpstr>
      <vt:lpstr>Calibri</vt:lpstr>
      <vt:lpstr>Times New Roman</vt:lpstr>
      <vt:lpstr>Theme_Lab</vt:lpstr>
      <vt:lpstr>PowerPoint プレゼンテーション</vt:lpstr>
      <vt:lpstr>概要</vt:lpstr>
      <vt:lpstr>sUpervised Classifier system(UCS)</vt:lpstr>
      <vt:lpstr>sUpervised Classifier system(UCS)</vt:lpstr>
      <vt:lpstr>提案手法</vt:lpstr>
      <vt:lpstr>提案手法</vt:lpstr>
      <vt:lpstr>数値実験</vt:lpstr>
      <vt:lpstr>数値実験</vt:lpstr>
      <vt:lpstr>結論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瓜田 俊貴</dc:creator>
  <cp:lastModifiedBy>瓜田 俊貴</cp:lastModifiedBy>
  <cp:revision>60</cp:revision>
  <dcterms:created xsi:type="dcterms:W3CDTF">2019-09-02T15:16:24Z</dcterms:created>
  <dcterms:modified xsi:type="dcterms:W3CDTF">2019-11-04T15:12:52Z</dcterms:modified>
</cp:coreProperties>
</file>