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6" r:id="rId1"/>
  </p:sldMasterIdLst>
  <p:notesMasterIdLst>
    <p:notesMasterId r:id="rId32"/>
  </p:notesMasterIdLst>
  <p:sldIdLst>
    <p:sldId id="258" r:id="rId2"/>
    <p:sldId id="259" r:id="rId3"/>
    <p:sldId id="296" r:id="rId4"/>
    <p:sldId id="302" r:id="rId5"/>
    <p:sldId id="306" r:id="rId6"/>
    <p:sldId id="307" r:id="rId7"/>
    <p:sldId id="299" r:id="rId8"/>
    <p:sldId id="305" r:id="rId9"/>
    <p:sldId id="298" r:id="rId10"/>
    <p:sldId id="308" r:id="rId11"/>
    <p:sldId id="309" r:id="rId12"/>
    <p:sldId id="310" r:id="rId13"/>
    <p:sldId id="314" r:id="rId14"/>
    <p:sldId id="313" r:id="rId15"/>
    <p:sldId id="311" r:id="rId16"/>
    <p:sldId id="328" r:id="rId17"/>
    <p:sldId id="301" r:id="rId18"/>
    <p:sldId id="315" r:id="rId19"/>
    <p:sldId id="316" r:id="rId20"/>
    <p:sldId id="300" r:id="rId21"/>
    <p:sldId id="317" r:id="rId22"/>
    <p:sldId id="318" r:id="rId23"/>
    <p:sldId id="325" r:id="rId24"/>
    <p:sldId id="326" r:id="rId25"/>
    <p:sldId id="327" r:id="rId26"/>
    <p:sldId id="323" r:id="rId27"/>
    <p:sldId id="295" r:id="rId28"/>
    <p:sldId id="319" r:id="rId29"/>
    <p:sldId id="320" r:id="rId30"/>
    <p:sldId id="321" r:id="rId31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62" autoAdjust="0"/>
    <p:restoredTop sz="94660"/>
  </p:normalViewPr>
  <p:slideViewPr>
    <p:cSldViewPr snapToGrid="0">
      <p:cViewPr>
        <p:scale>
          <a:sx n="75" d="100"/>
          <a:sy n="75" d="100"/>
        </p:scale>
        <p:origin x="1356" y="-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C86A45-1864-4022-BFC2-712EA35300F2}" type="datetimeFigureOut">
              <a:rPr kumimoji="1" lang="ja-JP" altLang="en-US" smtClean="0"/>
              <a:t>2019/11/6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0EF386-0410-461B-B8A3-AC6CB450B8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15932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0EF386-0410-461B-B8A3-AC6CB450B89C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96483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31"/>
            <a:ext cx="7772400" cy="1470025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91631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/>
          <p:cNvSpPr txBox="1"/>
          <p:nvPr/>
        </p:nvSpPr>
        <p:spPr>
          <a:xfrm>
            <a:off x="228600" y="1365254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論文名</a:t>
            </a: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28600" y="312544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著者名</a:t>
            </a:r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28600" y="472440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出典</a:t>
            </a:r>
            <a:endParaRPr kumimoji="1" lang="ja-JP" altLang="en-US" sz="3200" dirty="0" smtClean="0"/>
          </a:p>
        </p:txBody>
      </p:sp>
      <p:sp>
        <p:nvSpPr>
          <p:cNvPr id="6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1828800" y="1368795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論文名</a:t>
            </a:r>
          </a:p>
        </p:txBody>
      </p:sp>
      <p:sp>
        <p:nvSpPr>
          <p:cNvPr id="7" name="コンテンツ プレースホルダ 2"/>
          <p:cNvSpPr>
            <a:spLocks noGrp="1"/>
          </p:cNvSpPr>
          <p:nvPr>
            <p:ph idx="10" hasCustomPrompt="1"/>
          </p:nvPr>
        </p:nvSpPr>
        <p:spPr>
          <a:xfrm>
            <a:off x="1828800" y="3125441"/>
            <a:ext cx="7086600" cy="1391142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著者名</a:t>
            </a:r>
          </a:p>
        </p:txBody>
      </p:sp>
      <p:sp>
        <p:nvSpPr>
          <p:cNvPr id="8" name="コンテンツ プレースホルダ 2"/>
          <p:cNvSpPr>
            <a:spLocks noGrp="1"/>
          </p:cNvSpPr>
          <p:nvPr>
            <p:ph idx="11" hasCustomPrompt="1"/>
          </p:nvPr>
        </p:nvSpPr>
        <p:spPr>
          <a:xfrm>
            <a:off x="1828800" y="4724400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出典</a:t>
            </a:r>
          </a:p>
        </p:txBody>
      </p:sp>
      <p:sp>
        <p:nvSpPr>
          <p:cNvPr id="9" name="テキスト ボックス 8"/>
          <p:cNvSpPr txBox="1"/>
          <p:nvPr userDrawn="1"/>
        </p:nvSpPr>
        <p:spPr>
          <a:xfrm>
            <a:off x="78798" y="191542"/>
            <a:ext cx="34913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4400" b="1" dirty="0" smtClean="0">
                <a:solidFill>
                  <a:schemeClr val="bg1"/>
                </a:solidFill>
              </a:rPr>
              <a:t>論文情報</a:t>
            </a:r>
          </a:p>
        </p:txBody>
      </p:sp>
      <p:sp>
        <p:nvSpPr>
          <p:cNvPr id="10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41812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7669418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8042690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55071551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5025294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58773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</p:spTree>
    <p:extLst>
      <p:ext uri="{BB962C8B-B14F-4D97-AF65-F5344CB8AC3E}">
        <p14:creationId xmlns:p14="http://schemas.microsoft.com/office/powerpoint/2010/main" val="19329919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689500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4" r:id="rId2"/>
    <p:sldLayoutId id="2147483668" r:id="rId3"/>
    <p:sldLayoutId id="2147483669" r:id="rId4"/>
    <p:sldLayoutId id="2147483673" r:id="rId5"/>
    <p:sldLayoutId id="2147483670" r:id="rId6"/>
    <p:sldLayoutId id="2147483671" r:id="rId7"/>
    <p:sldLayoutId id="2147483672" r:id="rId8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 err="1"/>
              <a:t>LightGBM</a:t>
            </a:r>
            <a:r>
              <a:rPr lang="en-US" altLang="ja-JP" dirty="0"/>
              <a:t>: A Highly Efficient Gradient </a:t>
            </a:r>
            <a:r>
              <a:rPr lang="en-US" altLang="ja-JP" dirty="0" smtClean="0"/>
              <a:t>Boosting</a:t>
            </a:r>
            <a:r>
              <a:rPr lang="ja-JP" altLang="en-US" dirty="0" smtClean="0"/>
              <a:t>　</a:t>
            </a:r>
            <a:r>
              <a:rPr lang="en-US" altLang="ja-JP" dirty="0" smtClean="0"/>
              <a:t>Decision </a:t>
            </a:r>
            <a:r>
              <a:rPr lang="en-US" altLang="ja-JP" dirty="0"/>
              <a:t>Tree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US" altLang="ja-JP" dirty="0" err="1" smtClean="0"/>
              <a:t>Guolin</a:t>
            </a:r>
            <a:r>
              <a:rPr lang="en-US" altLang="ja-JP" dirty="0"/>
              <a:t> </a:t>
            </a:r>
            <a:r>
              <a:rPr lang="en-US" altLang="ja-JP" dirty="0" err="1" smtClean="0"/>
              <a:t>Ke</a:t>
            </a:r>
            <a:r>
              <a:rPr lang="en-US" altLang="ja-JP" dirty="0" smtClean="0"/>
              <a:t>, Qi </a:t>
            </a:r>
            <a:r>
              <a:rPr lang="en-US" altLang="ja-JP" dirty="0" err="1" smtClean="0"/>
              <a:t>Meng</a:t>
            </a:r>
            <a:r>
              <a:rPr lang="en-US" altLang="ja-JP" dirty="0" smtClean="0"/>
              <a:t>, </a:t>
            </a:r>
            <a:r>
              <a:rPr lang="en-US" altLang="ja-JP" dirty="0"/>
              <a:t>Thomas </a:t>
            </a:r>
            <a:r>
              <a:rPr lang="en-US" altLang="ja-JP" dirty="0" smtClean="0"/>
              <a:t>Finley, </a:t>
            </a:r>
            <a:r>
              <a:rPr lang="en-US" altLang="ja-JP" dirty="0" err="1" smtClean="0"/>
              <a:t>Taifeng</a:t>
            </a:r>
            <a:r>
              <a:rPr lang="ja-JP" altLang="en-US" dirty="0"/>
              <a:t> </a:t>
            </a:r>
            <a:r>
              <a:rPr lang="en-US" altLang="ja-JP" dirty="0" smtClean="0"/>
              <a:t>Wang, Wei Chen, </a:t>
            </a:r>
            <a:r>
              <a:rPr lang="en-US" altLang="ja-JP" dirty="0" err="1"/>
              <a:t>Weidong</a:t>
            </a:r>
            <a:r>
              <a:rPr lang="en-US" altLang="ja-JP" dirty="0"/>
              <a:t> </a:t>
            </a:r>
            <a:r>
              <a:rPr lang="en-US" altLang="ja-JP" dirty="0" smtClean="0"/>
              <a:t>Ma, </a:t>
            </a:r>
            <a:r>
              <a:rPr lang="en-US" altLang="ja-JP" dirty="0" err="1"/>
              <a:t>Qiwei</a:t>
            </a:r>
            <a:r>
              <a:rPr lang="en-US" altLang="ja-JP" dirty="0"/>
              <a:t> </a:t>
            </a:r>
            <a:r>
              <a:rPr lang="en-US" altLang="ja-JP" dirty="0" smtClean="0"/>
              <a:t>Ye, </a:t>
            </a:r>
            <a:r>
              <a:rPr lang="en-US" altLang="ja-JP" dirty="0"/>
              <a:t>Tie-Yan </a:t>
            </a:r>
            <a:r>
              <a:rPr lang="en-US" altLang="ja-JP" dirty="0" smtClean="0"/>
              <a:t>Liu</a:t>
            </a:r>
            <a:endParaRPr kumimoji="1" lang="ja-JP" altLang="en-US" dirty="0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r>
              <a:rPr lang="en-US" altLang="ja-JP" dirty="0"/>
              <a:t>Advances in Neural Information </a:t>
            </a:r>
            <a:r>
              <a:rPr lang="en-US" altLang="ja-JP" dirty="0" smtClean="0"/>
              <a:t>Processing Systems</a:t>
            </a:r>
            <a:r>
              <a:rPr lang="en-US" altLang="ja-JP" dirty="0"/>
              <a:t>, </a:t>
            </a:r>
            <a:r>
              <a:rPr lang="en-US" altLang="ja-JP" dirty="0" smtClean="0"/>
              <a:t>pp. 3149</a:t>
            </a:r>
            <a:r>
              <a:rPr lang="ja-JP" altLang="en-US" dirty="0" err="1" smtClean="0"/>
              <a:t>ｰ</a:t>
            </a:r>
            <a:r>
              <a:rPr lang="en-US" altLang="ja-JP" dirty="0" smtClean="0"/>
              <a:t>3157, </a:t>
            </a:r>
            <a:r>
              <a:rPr lang="en-US" altLang="ja-JP" dirty="0"/>
              <a:t>2017.</a:t>
            </a:r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4101716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概要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マルチラベル識別問題に対応するため，様々</a:t>
            </a:r>
            <a:r>
              <a:rPr lang="ja-JP" altLang="en-US" dirty="0" smtClean="0"/>
              <a:t>な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機械学習手法</a:t>
            </a:r>
            <a:r>
              <a:rPr lang="ja-JP" altLang="en-US" dirty="0"/>
              <a:t>に</a:t>
            </a:r>
            <a:r>
              <a:rPr lang="ja-JP" altLang="en-US" dirty="0" smtClean="0"/>
              <a:t>対するアルゴリズム適応法による改良が研究されている．</a:t>
            </a:r>
            <a:endParaRPr lang="en-US" altLang="ja-JP" dirty="0"/>
          </a:p>
          <a:p>
            <a:r>
              <a:rPr kumimoji="1" lang="ja-JP" altLang="en-US" dirty="0" smtClean="0"/>
              <a:t>しかし，遺伝的機械学習に対するアルゴリズム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適応法による改良は研究されていない</a:t>
            </a:r>
            <a:r>
              <a:rPr lang="ja-JP" altLang="en-US" dirty="0" smtClean="0"/>
              <a:t>．</a:t>
            </a:r>
            <a:endParaRPr lang="en-US" altLang="ja-JP" dirty="0" smtClean="0"/>
          </a:p>
          <a:p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kumimoji="1" lang="ja-JP" altLang="en-US" dirty="0" smtClean="0"/>
              <a:t>遺伝的機械学習手法の</a:t>
            </a:r>
            <a:r>
              <a:rPr kumimoji="1" lang="en-US" altLang="ja-JP" dirty="0" smtClean="0"/>
              <a:t>1</a:t>
            </a:r>
            <a:r>
              <a:rPr kumimoji="1" lang="ja-JP" altLang="en-US" dirty="0" err="1" smtClean="0"/>
              <a:t>つで</a:t>
            </a:r>
            <a:r>
              <a:rPr kumimoji="1" lang="ja-JP" altLang="en-US" dirty="0" smtClean="0"/>
              <a:t>ある</a:t>
            </a:r>
            <a:r>
              <a:rPr lang="en-US" altLang="ja-JP" dirty="0" smtClean="0">
                <a:solidFill>
                  <a:schemeClr val="accent1"/>
                </a:solidFill>
              </a:rPr>
              <a:t>UCS</a:t>
            </a:r>
            <a:r>
              <a:rPr lang="ja-JP" altLang="en-US" dirty="0" smtClean="0">
                <a:solidFill>
                  <a:schemeClr val="accent1"/>
                </a:solidFill>
              </a:rPr>
              <a:t>を改良した，</a:t>
            </a:r>
            <a:r>
              <a:rPr lang="en-US" altLang="ja-JP" dirty="0" smtClean="0">
                <a:solidFill>
                  <a:schemeClr val="accent1"/>
                </a:solidFill>
              </a:rPr>
              <a:t>LP</a:t>
            </a:r>
            <a:r>
              <a:rPr lang="ja-JP" altLang="en-US" dirty="0" smtClean="0">
                <a:solidFill>
                  <a:schemeClr val="accent1"/>
                </a:solidFill>
              </a:rPr>
              <a:t>ベースの</a:t>
            </a:r>
            <a:r>
              <a:rPr lang="ja-JP" altLang="en-US" dirty="0" smtClean="0">
                <a:solidFill>
                  <a:schemeClr val="accent1"/>
                </a:solidFill>
              </a:rPr>
              <a:t>識別器</a:t>
            </a:r>
            <a:r>
              <a:rPr lang="ja-JP" altLang="en-US" dirty="0" smtClean="0"/>
              <a:t>であ</a:t>
            </a:r>
            <a:r>
              <a:rPr lang="ja-JP" altLang="en-US" dirty="0"/>
              <a:t>る</a:t>
            </a:r>
            <a:r>
              <a:rPr lang="en-US" altLang="ja-JP" dirty="0" smtClean="0"/>
              <a:t>Multi-Label </a:t>
            </a:r>
            <a:r>
              <a:rPr lang="en-US" altLang="ja-JP" dirty="0"/>
              <a:t>Rule-Based </a:t>
            </a:r>
            <a:r>
              <a:rPr lang="en-US" altLang="ja-JP" dirty="0" smtClean="0"/>
              <a:t>Classifier (</a:t>
            </a:r>
            <a:r>
              <a:rPr lang="en-US" altLang="ja-JP" dirty="0"/>
              <a:t>MLRBC</a:t>
            </a:r>
            <a:r>
              <a:rPr lang="en-US" altLang="ja-JP" dirty="0" smtClean="0"/>
              <a:t>) </a:t>
            </a:r>
            <a:r>
              <a:rPr lang="ja-JP" altLang="en-US" dirty="0" smtClean="0"/>
              <a:t>を提案する</a:t>
            </a:r>
            <a:endParaRPr kumimoji="1" lang="en-US" altLang="ja-JP" dirty="0" smtClean="0"/>
          </a:p>
          <a:p>
            <a:endParaRPr kumimoji="1" lang="ja-JP" altLang="en-US" dirty="0"/>
          </a:p>
        </p:txBody>
      </p:sp>
      <p:sp>
        <p:nvSpPr>
          <p:cNvPr id="7" name="下矢印 6"/>
          <p:cNvSpPr/>
          <p:nvPr/>
        </p:nvSpPr>
        <p:spPr>
          <a:xfrm>
            <a:off x="4272475" y="4194790"/>
            <a:ext cx="675250" cy="692793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スライド番号プレースホルダー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86369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 sz="4200" dirty="0" err="1" smtClean="0"/>
              <a:t>sUpervised</a:t>
            </a:r>
            <a:r>
              <a:rPr kumimoji="1" lang="en-US" altLang="ja-JP" sz="4200" dirty="0" smtClean="0"/>
              <a:t> Classifier system (UCS)</a:t>
            </a:r>
            <a:endParaRPr kumimoji="1" lang="ja-JP" altLang="en-US" sz="4200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dirty="0" smtClean="0"/>
              <a:t>ルール</a:t>
            </a:r>
            <a:r>
              <a:rPr lang="ja-JP" altLang="en-US" dirty="0"/>
              <a:t>ベース</a:t>
            </a:r>
            <a:r>
              <a:rPr lang="ja-JP" altLang="en-US" dirty="0" smtClean="0"/>
              <a:t>の進化型機械学習である，</a:t>
            </a:r>
            <a:r>
              <a:rPr lang="en-US" altLang="ja-JP" dirty="0" smtClean="0"/>
              <a:t>Learning classifier system</a:t>
            </a:r>
            <a:r>
              <a:rPr lang="ja-JP" altLang="en-US" dirty="0" smtClean="0"/>
              <a:t>の</a:t>
            </a:r>
            <a:r>
              <a:rPr lang="ja-JP" altLang="en-US" dirty="0" smtClean="0"/>
              <a:t>一種</a:t>
            </a:r>
            <a:endParaRPr lang="en-US" altLang="ja-JP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dirty="0" smtClean="0"/>
              <a:t>各個体は，</a:t>
            </a:r>
            <a:r>
              <a:rPr lang="en-US" altLang="ja-JP" dirty="0" smtClean="0"/>
              <a:t>If-then</a:t>
            </a:r>
            <a:r>
              <a:rPr lang="ja-JP" altLang="en-US" dirty="0" smtClean="0"/>
              <a:t>形式のルール</a:t>
            </a:r>
            <a:r>
              <a:rPr lang="ja-JP" altLang="en-US" dirty="0" smtClean="0"/>
              <a:t>を</a:t>
            </a:r>
            <a:r>
              <a:rPr lang="ja-JP" altLang="en-US" dirty="0"/>
              <a:t>保持</a:t>
            </a:r>
            <a:endParaRPr lang="en-US" altLang="ja-JP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dirty="0"/>
              <a:t>空</a:t>
            </a:r>
            <a:r>
              <a:rPr lang="ja-JP" altLang="en-US" dirty="0" smtClean="0"/>
              <a:t>の個体群から，</a:t>
            </a:r>
            <a:r>
              <a:rPr lang="en-US" altLang="ja-JP" dirty="0" smtClean="0"/>
              <a:t>covering mechanism</a:t>
            </a:r>
            <a:r>
              <a:rPr lang="ja-JP" altLang="en-US" dirty="0" smtClean="0"/>
              <a:t>と</a:t>
            </a:r>
            <a:r>
              <a:rPr lang="en-US" altLang="ja-JP" dirty="0" smtClean="0"/>
              <a:t>GA</a:t>
            </a:r>
            <a:r>
              <a:rPr lang="ja-JP" altLang="en-US" dirty="0" smtClean="0"/>
              <a:t>を用いて個体を</a:t>
            </a:r>
            <a:r>
              <a:rPr lang="ja-JP" altLang="en-US" dirty="0" smtClean="0"/>
              <a:t>生成</a:t>
            </a:r>
            <a:endParaRPr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30384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 sz="4200" dirty="0" err="1" smtClean="0"/>
              <a:t>sUpervised</a:t>
            </a:r>
            <a:r>
              <a:rPr kumimoji="1" lang="en-US" altLang="ja-JP" sz="4200" dirty="0" smtClean="0"/>
              <a:t> Classifier system (UCS)</a:t>
            </a:r>
            <a:endParaRPr kumimoji="1" lang="ja-JP" altLang="en-US" sz="42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4</a:t>
            </a:fld>
            <a:endParaRPr kumimoji="1" lang="ja-JP" altLang="en-US" dirty="0"/>
          </a:p>
        </p:txBody>
      </p:sp>
      <p:sp>
        <p:nvSpPr>
          <p:cNvPr id="6" name="テキスト プレースホルダー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学習</a:t>
            </a:r>
            <a:r>
              <a:rPr kumimoji="1" lang="ja-JP" altLang="en-US" dirty="0" smtClean="0"/>
              <a:t>アルゴリズム</a:t>
            </a:r>
            <a:endParaRPr kumimoji="1" lang="ja-JP" altLang="en-US" dirty="0"/>
          </a:p>
        </p:txBody>
      </p:sp>
      <p:grpSp>
        <p:nvGrpSpPr>
          <p:cNvPr id="47" name="グループ化 46"/>
          <p:cNvGrpSpPr/>
          <p:nvPr/>
        </p:nvGrpSpPr>
        <p:grpSpPr>
          <a:xfrm>
            <a:off x="1429119" y="1359954"/>
            <a:ext cx="6285763" cy="5372052"/>
            <a:chOff x="652353" y="1359954"/>
            <a:chExt cx="6285763" cy="5372052"/>
          </a:xfrm>
        </p:grpSpPr>
        <p:sp>
          <p:nvSpPr>
            <p:cNvPr id="9" name="テキスト ボックス 8"/>
            <p:cNvSpPr txBox="1"/>
            <p:nvPr/>
          </p:nvSpPr>
          <p:spPr>
            <a:xfrm>
              <a:off x="949679" y="4598517"/>
              <a:ext cx="2406162" cy="46166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400" dirty="0" smtClean="0"/>
                <a:t>予測値の出力</a:t>
              </a:r>
              <a:endParaRPr kumimoji="1" lang="ja-JP" altLang="en-US" sz="2400" dirty="0" smtClean="0"/>
            </a:p>
          </p:txBody>
        </p:sp>
        <p:sp>
          <p:nvSpPr>
            <p:cNvPr id="10" name="テキスト ボックス 9"/>
            <p:cNvSpPr txBox="1"/>
            <p:nvPr/>
          </p:nvSpPr>
          <p:spPr>
            <a:xfrm>
              <a:off x="945648" y="5286118"/>
              <a:ext cx="2414224" cy="46166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400" dirty="0" smtClean="0"/>
                <a:t>パラメータ更新</a:t>
              </a:r>
              <a:endParaRPr kumimoji="1" lang="ja-JP" altLang="en-US" sz="2400" dirty="0" smtClean="0"/>
            </a:p>
          </p:txBody>
        </p:sp>
        <p:sp>
          <p:nvSpPr>
            <p:cNvPr id="5" name="テキスト ボックス 4"/>
            <p:cNvSpPr txBox="1"/>
            <p:nvPr/>
          </p:nvSpPr>
          <p:spPr>
            <a:xfrm>
              <a:off x="988072" y="1359954"/>
              <a:ext cx="2329376" cy="830997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400" dirty="0"/>
                <a:t>ランダム</a:t>
              </a:r>
              <a:r>
                <a:rPr lang="ja-JP" altLang="en-US" sz="2400" dirty="0" smtClean="0"/>
                <a:t>な</a:t>
              </a:r>
              <a:r>
                <a:rPr lang="en-US" altLang="ja-JP" sz="2400" dirty="0" smtClean="0"/>
                <a:t/>
              </a:r>
              <a:br>
                <a:rPr lang="en-US" altLang="ja-JP" sz="2400" dirty="0" smtClean="0"/>
              </a:br>
              <a:r>
                <a:rPr lang="ja-JP" altLang="en-US" sz="2400" dirty="0" smtClean="0"/>
                <a:t>パターン</a:t>
              </a:r>
              <a:r>
                <a:rPr lang="en-US" altLang="ja-JP" sz="2400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ja-JP" altLang="en-US" sz="2400" dirty="0" smtClean="0"/>
                <a:t>を選択</a:t>
              </a:r>
              <a:endParaRPr kumimoji="1" lang="ja-JP" altLang="en-US" sz="2400" dirty="0" smtClean="0"/>
            </a:p>
          </p:txBody>
        </p:sp>
        <p:sp>
          <p:nvSpPr>
            <p:cNvPr id="7" name="テキスト ボックス 6"/>
            <p:cNvSpPr txBox="1"/>
            <p:nvPr/>
          </p:nvSpPr>
          <p:spPr>
            <a:xfrm>
              <a:off x="652353" y="2531811"/>
              <a:ext cx="3000815" cy="830997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ja-JP" altLang="en-US" sz="2400" dirty="0" err="1" smtClean="0"/>
                <a:t>に適</a:t>
              </a:r>
              <a:r>
                <a:rPr lang="ja-JP" altLang="en-US" sz="2400" dirty="0" smtClean="0"/>
                <a:t>合するルールの</a:t>
              </a:r>
              <a:r>
                <a:rPr lang="en-US" altLang="ja-JP" sz="2400" dirty="0" smtClean="0"/>
                <a:t/>
              </a:r>
              <a:br>
                <a:rPr lang="en-US" altLang="ja-JP" sz="2400" dirty="0" smtClean="0"/>
              </a:br>
              <a:r>
                <a:rPr lang="ja-JP" altLang="en-US" sz="2400" dirty="0" smtClean="0"/>
                <a:t>集合</a:t>
              </a:r>
              <a:r>
                <a:rPr lang="en-US" altLang="ja-JP" sz="2400" dirty="0" smtClean="0"/>
                <a:t>[</a:t>
              </a:r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lang="en-US" altLang="ja-JP" sz="2400" dirty="0" smtClean="0"/>
                <a:t>]</a:t>
              </a:r>
              <a:r>
                <a:rPr lang="ja-JP" altLang="en-US" sz="2400" dirty="0" smtClean="0"/>
                <a:t>の生成</a:t>
              </a:r>
              <a:endParaRPr lang="en-US" altLang="ja-JP" sz="2400" dirty="0" smtClean="0"/>
            </a:p>
          </p:txBody>
        </p:sp>
        <p:sp>
          <p:nvSpPr>
            <p:cNvPr id="8" name="フローチャート: 判断 7"/>
            <p:cNvSpPr/>
            <p:nvPr/>
          </p:nvSpPr>
          <p:spPr>
            <a:xfrm>
              <a:off x="961989" y="3703668"/>
              <a:ext cx="2381543" cy="668912"/>
            </a:xfrm>
            <a:prstGeom prst="flowChartDecision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kumimoji="1" lang="en-US" altLang="ja-JP" sz="2400" i="1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kumimoji="1" lang="en-US" altLang="ja-JP" sz="2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] </a:t>
              </a:r>
              <a:r>
                <a:rPr kumimoji="1" lang="en-US" altLang="ja-JP" sz="2400" dirty="0" smtClean="0">
                  <a:solidFill>
                    <a:schemeClr val="tx1"/>
                  </a:solidFill>
                </a:rPr>
                <a:t>= </a:t>
              </a:r>
              <a:r>
                <a:rPr kumimoji="1" lang="en-US" altLang="ja-JP" sz="2400" i="1" dirty="0" smtClean="0">
                  <a:solidFill>
                    <a:schemeClr val="tx1"/>
                  </a:solidFill>
                  <a:latin typeface="Symbol" panose="05050102010706020507" pitchFamily="18" charset="2"/>
                </a:rPr>
                <a:t>f</a:t>
              </a:r>
              <a:endParaRPr kumimoji="1" lang="ja-JP" altLang="en-US" sz="2400" i="1" dirty="0">
                <a:solidFill>
                  <a:schemeClr val="tx1"/>
                </a:solidFill>
                <a:latin typeface="Symbol" panose="05050102010706020507" pitchFamily="18" charset="2"/>
              </a:endParaRPr>
            </a:p>
          </p:txBody>
        </p:sp>
        <p:sp>
          <p:nvSpPr>
            <p:cNvPr id="11" name="テキスト ボックス 10"/>
            <p:cNvSpPr txBox="1"/>
            <p:nvPr/>
          </p:nvSpPr>
          <p:spPr>
            <a:xfrm>
              <a:off x="3952612" y="4750493"/>
              <a:ext cx="2985504" cy="830997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dirty="0"/>
                <a:t>covering </a:t>
              </a:r>
              <a:r>
                <a:rPr lang="en-US" altLang="ja-JP" sz="2400" dirty="0" smtClean="0"/>
                <a:t>mechanism</a:t>
              </a:r>
              <a:br>
                <a:rPr lang="en-US" altLang="ja-JP" sz="2400" dirty="0" smtClean="0"/>
              </a:br>
              <a:r>
                <a:rPr lang="ja-JP" altLang="en-US" sz="2400" dirty="0" smtClean="0"/>
                <a:t>による</a:t>
              </a:r>
              <a:r>
                <a:rPr lang="ja-JP" altLang="en-US" sz="2400" dirty="0"/>
                <a:t>個体</a:t>
              </a:r>
              <a:r>
                <a:rPr lang="ja-JP" altLang="en-US" sz="2400" dirty="0" smtClean="0"/>
                <a:t>生成</a:t>
              </a:r>
              <a:endParaRPr lang="en-US" altLang="ja-JP" sz="2400" dirty="0" smtClean="0"/>
            </a:p>
          </p:txBody>
        </p:sp>
        <p:sp>
          <p:nvSpPr>
            <p:cNvPr id="12" name="テキスト ボックス 11"/>
            <p:cNvSpPr txBox="1"/>
            <p:nvPr/>
          </p:nvSpPr>
          <p:spPr>
            <a:xfrm>
              <a:off x="669570" y="6270341"/>
              <a:ext cx="2966380" cy="46166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dirty="0" smtClean="0"/>
                <a:t>GA</a:t>
              </a:r>
              <a:r>
                <a:rPr lang="ja-JP" altLang="en-US" sz="2400" dirty="0" smtClean="0"/>
                <a:t>による個体生成</a:t>
              </a:r>
              <a:endParaRPr lang="en-US" altLang="ja-JP" sz="2400" dirty="0" smtClean="0"/>
            </a:p>
          </p:txBody>
        </p:sp>
        <p:cxnSp>
          <p:nvCxnSpPr>
            <p:cNvPr id="18" name="直線矢印コネクタ 17"/>
            <p:cNvCxnSpPr>
              <a:stCxn id="5" idx="2"/>
              <a:endCxn id="7" idx="0"/>
            </p:cNvCxnSpPr>
            <p:nvPr/>
          </p:nvCxnSpPr>
          <p:spPr>
            <a:xfrm>
              <a:off x="2152760" y="2190951"/>
              <a:ext cx="1" cy="34086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矢印コネクタ 19"/>
            <p:cNvCxnSpPr>
              <a:stCxn id="7" idx="2"/>
              <a:endCxn id="8" idx="0"/>
            </p:cNvCxnSpPr>
            <p:nvPr/>
          </p:nvCxnSpPr>
          <p:spPr>
            <a:xfrm>
              <a:off x="2152761" y="3362808"/>
              <a:ext cx="0" cy="34086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矢印コネクタ 21"/>
            <p:cNvCxnSpPr>
              <a:stCxn id="8" idx="2"/>
              <a:endCxn id="9" idx="0"/>
            </p:cNvCxnSpPr>
            <p:nvPr/>
          </p:nvCxnSpPr>
          <p:spPr>
            <a:xfrm flipH="1">
              <a:off x="2152760" y="4372580"/>
              <a:ext cx="1" cy="22593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矢印コネクタ 25"/>
            <p:cNvCxnSpPr>
              <a:stCxn id="9" idx="2"/>
              <a:endCxn id="10" idx="0"/>
            </p:cNvCxnSpPr>
            <p:nvPr/>
          </p:nvCxnSpPr>
          <p:spPr>
            <a:xfrm>
              <a:off x="2152760" y="5060182"/>
              <a:ext cx="0" cy="22593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/>
            <p:cNvCxnSpPr>
              <a:stCxn id="10" idx="2"/>
              <a:endCxn id="12" idx="0"/>
            </p:cNvCxnSpPr>
            <p:nvPr/>
          </p:nvCxnSpPr>
          <p:spPr>
            <a:xfrm>
              <a:off x="2152760" y="5747783"/>
              <a:ext cx="0" cy="52255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矢印コネクタ 32"/>
            <p:cNvCxnSpPr>
              <a:stCxn id="8" idx="3"/>
              <a:endCxn id="11" idx="0"/>
            </p:cNvCxnSpPr>
            <p:nvPr/>
          </p:nvCxnSpPr>
          <p:spPr>
            <a:xfrm>
              <a:off x="3343532" y="4038124"/>
              <a:ext cx="2101832" cy="712369"/>
            </a:xfrm>
            <a:prstGeom prst="bentConnector2">
              <a:avLst/>
            </a:prstGeom>
            <a:ln w="381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矢印コネクタ 32"/>
            <p:cNvCxnSpPr>
              <a:endCxn id="11" idx="2"/>
            </p:cNvCxnSpPr>
            <p:nvPr/>
          </p:nvCxnSpPr>
          <p:spPr>
            <a:xfrm flipV="1">
              <a:off x="2152760" y="5581490"/>
              <a:ext cx="3292604" cy="430690"/>
            </a:xfrm>
            <a:prstGeom prst="bentConnector2">
              <a:avLst/>
            </a:prstGeom>
            <a:ln w="38100">
              <a:solidFill>
                <a:schemeClr val="tx1"/>
              </a:solidFill>
              <a:headEnd type="triangle" w="lg" len="lg"/>
              <a:tailEnd type="non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12968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 sz="4200" dirty="0" err="1" smtClean="0"/>
              <a:t>sUpervised</a:t>
            </a:r>
            <a:r>
              <a:rPr kumimoji="1" lang="en-US" altLang="ja-JP" sz="4200" dirty="0" smtClean="0"/>
              <a:t> Classifier system (UCS)</a:t>
            </a:r>
            <a:endParaRPr kumimoji="1" lang="ja-JP" altLang="en-US" sz="42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5</a:t>
            </a:fld>
            <a:endParaRPr kumimoji="1" lang="ja-JP" altLang="en-US" dirty="0"/>
          </a:p>
        </p:txBody>
      </p:sp>
      <p:sp>
        <p:nvSpPr>
          <p:cNvPr id="6" name="テキスト プレースホルダー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学習</a:t>
            </a:r>
            <a:r>
              <a:rPr kumimoji="1" lang="ja-JP" altLang="en-US" dirty="0" smtClean="0"/>
              <a:t>アルゴリズム</a:t>
            </a:r>
            <a:endParaRPr kumimoji="1" lang="ja-JP" altLang="en-US" dirty="0"/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228600" y="1371600"/>
            <a:ext cx="3995633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3200" dirty="0"/>
              <a:t>covering </a:t>
            </a:r>
            <a:r>
              <a:rPr lang="en-US" altLang="ja-JP" sz="3200" dirty="0" smtClean="0"/>
              <a:t>mechanism</a:t>
            </a: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228600" y="2066984"/>
            <a:ext cx="8775700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dirty="0" smtClean="0"/>
              <a:t>パターン</a:t>
            </a:r>
            <a:r>
              <a:rPr lang="en-US" altLang="ja-JP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kumimoji="1" lang="ja-JP" altLang="en-US" sz="3200" dirty="0" smtClean="0"/>
              <a:t>に基づいてルールを生成</a:t>
            </a:r>
            <a:endParaRPr kumimoji="1" lang="en-US" altLang="ja-JP" sz="3200" dirty="0" smtClean="0"/>
          </a:p>
        </p:txBody>
      </p:sp>
      <p:sp>
        <p:nvSpPr>
          <p:cNvPr id="32" name="テキスト ボックス 31"/>
          <p:cNvSpPr txBox="1"/>
          <p:nvPr/>
        </p:nvSpPr>
        <p:spPr>
          <a:xfrm>
            <a:off x="1881904" y="3084314"/>
            <a:ext cx="989237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kumimoji="1" lang="ja-JP" altLang="en-US" sz="3200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右矢印 34"/>
          <p:cNvSpPr/>
          <p:nvPr/>
        </p:nvSpPr>
        <p:spPr>
          <a:xfrm>
            <a:off x="3579230" y="5014139"/>
            <a:ext cx="850900" cy="546100"/>
          </a:xfrm>
          <a:prstGeom prst="rightArrow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/>
          <p:cNvSpPr txBox="1"/>
          <p:nvPr/>
        </p:nvSpPr>
        <p:spPr>
          <a:xfrm>
            <a:off x="4610100" y="3559870"/>
            <a:ext cx="3573795" cy="3046988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en-US" altLang="ja-JP" sz="3200" dirty="0" smtClean="0"/>
              <a:t>If</a:t>
            </a:r>
          </a:p>
          <a:p>
            <a:r>
              <a:rPr lang="en-US" altLang="ja-JP" sz="32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ja-JP" altLang="en-US" sz="3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ja-JP" sz="32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x</a:t>
            </a:r>
            <a:r>
              <a:rPr lang="en-US" altLang="ja-JP" sz="3200" baseline="-25000" dirty="0" smtClean="0"/>
              <a:t>1</a:t>
            </a:r>
            <a:r>
              <a:rPr lang="ja-JP" altLang="en-US" sz="3200" dirty="0"/>
              <a:t>　</a:t>
            </a:r>
            <a:r>
              <a:rPr lang="en-US" altLang="ja-JP" sz="3200" dirty="0"/>
              <a:t>is </a:t>
            </a:r>
            <a:r>
              <a:rPr lang="en-US" altLang="ja-JP" sz="3200" dirty="0">
                <a:solidFill>
                  <a:schemeClr val="accent2"/>
                </a:solidFill>
              </a:rPr>
              <a:t>blue</a:t>
            </a:r>
            <a:r>
              <a:rPr lang="en-US" altLang="ja-JP" sz="3200" dirty="0"/>
              <a:t> and</a:t>
            </a:r>
            <a:endParaRPr lang="ja-JP" altLang="en-US" sz="3200" baseline="-25000" dirty="0"/>
          </a:p>
          <a:p>
            <a:r>
              <a:rPr lang="en-US" altLang="ja-JP" sz="32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x</a:t>
            </a:r>
            <a:r>
              <a:rPr lang="en-US" altLang="ja-JP" sz="3200" baseline="-25000" dirty="0" smtClean="0"/>
              <a:t>2</a:t>
            </a:r>
            <a:r>
              <a:rPr lang="ja-JP" altLang="en-US" sz="3200" dirty="0"/>
              <a:t>　</a:t>
            </a:r>
            <a:r>
              <a:rPr lang="en-US" altLang="ja-JP" sz="3200" dirty="0"/>
              <a:t>is </a:t>
            </a:r>
            <a:r>
              <a:rPr lang="en-US" altLang="ja-JP" sz="3200" dirty="0">
                <a:solidFill>
                  <a:schemeClr val="accent1"/>
                </a:solidFill>
              </a:rPr>
              <a:t>red</a:t>
            </a:r>
            <a:r>
              <a:rPr lang="en-US" altLang="ja-JP" sz="3200" dirty="0"/>
              <a:t> and</a:t>
            </a:r>
          </a:p>
          <a:p>
            <a:r>
              <a:rPr lang="en-US" altLang="ja-JP" sz="32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x</a:t>
            </a:r>
            <a:r>
              <a:rPr lang="en-US" altLang="ja-JP" sz="3200" baseline="-25000" dirty="0" smtClean="0"/>
              <a:t>3</a:t>
            </a:r>
            <a:r>
              <a:rPr lang="ja-JP" altLang="en-US" sz="3200" dirty="0"/>
              <a:t>　</a:t>
            </a:r>
            <a:r>
              <a:rPr lang="en-US" altLang="ja-JP" sz="3200" dirty="0"/>
              <a:t>is </a:t>
            </a:r>
            <a:r>
              <a:rPr lang="en-US" altLang="ja-JP" sz="3200" dirty="0">
                <a:solidFill>
                  <a:schemeClr val="accent1"/>
                </a:solidFill>
              </a:rPr>
              <a:t>red</a:t>
            </a:r>
            <a:r>
              <a:rPr lang="en-US" altLang="ja-JP" sz="3200" dirty="0"/>
              <a:t> and</a:t>
            </a:r>
          </a:p>
          <a:p>
            <a:r>
              <a:rPr lang="en-US" altLang="ja-JP" sz="32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x</a:t>
            </a:r>
            <a:r>
              <a:rPr lang="en-US" altLang="ja-JP" sz="3200" baseline="-25000" dirty="0" smtClean="0"/>
              <a:t>4</a:t>
            </a:r>
            <a:r>
              <a:rPr lang="ja-JP" altLang="en-US" sz="3200" dirty="0"/>
              <a:t>　</a:t>
            </a:r>
            <a:r>
              <a:rPr lang="en-US" altLang="ja-JP" sz="3200" dirty="0"/>
              <a:t>is </a:t>
            </a:r>
            <a:r>
              <a:rPr lang="en-US" altLang="ja-JP" sz="3200" dirty="0">
                <a:solidFill>
                  <a:schemeClr val="accent5"/>
                </a:solidFill>
              </a:rPr>
              <a:t>green</a:t>
            </a:r>
          </a:p>
          <a:p>
            <a:pPr algn="r"/>
            <a:r>
              <a:rPr lang="en-US" altLang="ja-JP" sz="3200" dirty="0" smtClean="0"/>
              <a:t>then </a:t>
            </a:r>
            <a:r>
              <a:rPr lang="en-US" altLang="ja-JP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n-US" altLang="ja-JP" sz="3200" dirty="0"/>
              <a:t> is </a:t>
            </a:r>
            <a:r>
              <a:rPr lang="en-US" altLang="ja-JP" sz="3200" dirty="0" smtClean="0"/>
              <a:t>0</a:t>
            </a:r>
            <a:endParaRPr lang="ja-JP" altLang="en-US" sz="3200" dirty="0"/>
          </a:p>
        </p:txBody>
      </p:sp>
      <p:graphicFrame>
        <p:nvGraphicFramePr>
          <p:cNvPr id="25" name="表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4159374"/>
              </p:ext>
            </p:extLst>
          </p:nvPr>
        </p:nvGraphicFramePr>
        <p:xfrm>
          <a:off x="1410783" y="3845739"/>
          <a:ext cx="1631266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666"/>
                <a:gridCol w="57960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  <a:r>
                        <a:rPr kumimoji="1" lang="en-US" altLang="ja-JP" sz="3200" b="0" baseline="-250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3200" b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32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  <a:r>
                        <a:rPr kumimoji="1" lang="en-US" altLang="ja-JP" sz="3200" b="0" baseline="-250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32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32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  <a:r>
                        <a:rPr kumimoji="1" lang="en-US" altLang="ja-JP" sz="3200" b="0" baseline="-250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kumimoji="1" lang="ja-JP" altLang="en-US" sz="32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32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  <a:r>
                        <a:rPr kumimoji="1" lang="en-US" altLang="ja-JP" sz="3200" b="0" baseline="-2500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kumimoji="1" lang="ja-JP" altLang="en-US" sz="32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32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class</a:t>
                      </a:r>
                      <a:endParaRPr kumimoji="1" lang="ja-JP" altLang="en-US" sz="3200" b="0" dirty="0" smtClean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3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7" name="テキスト ボックス 36"/>
          <p:cNvSpPr txBox="1"/>
          <p:nvPr/>
        </p:nvSpPr>
        <p:spPr>
          <a:xfrm>
            <a:off x="5615947" y="3084314"/>
            <a:ext cx="1562100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ルール</a:t>
            </a:r>
          </a:p>
        </p:txBody>
      </p:sp>
    </p:spTree>
    <p:extLst>
      <p:ext uri="{BB962C8B-B14F-4D97-AF65-F5344CB8AC3E}">
        <p14:creationId xmlns:p14="http://schemas.microsoft.com/office/powerpoint/2010/main" val="2561466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 sz="4200" dirty="0" err="1" smtClean="0"/>
              <a:t>sUpervised</a:t>
            </a:r>
            <a:r>
              <a:rPr kumimoji="1" lang="en-US" altLang="ja-JP" sz="4200" dirty="0" smtClean="0"/>
              <a:t> Classifier system (UCS)</a:t>
            </a:r>
            <a:endParaRPr kumimoji="1" lang="ja-JP" altLang="en-US" sz="42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6</a:t>
            </a:fld>
            <a:endParaRPr kumimoji="1" lang="ja-JP" altLang="en-US" dirty="0"/>
          </a:p>
        </p:txBody>
      </p:sp>
      <p:sp>
        <p:nvSpPr>
          <p:cNvPr id="6" name="テキスト プレースホルダー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/>
              <a:t>学習</a:t>
            </a:r>
            <a:r>
              <a:rPr kumimoji="1" lang="ja-JP" altLang="en-US" dirty="0" smtClean="0"/>
              <a:t>アルゴリズム</a:t>
            </a:r>
            <a:endParaRPr kumimoji="1" lang="ja-JP" altLang="en-US" dirty="0"/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228600" y="1371600"/>
            <a:ext cx="3995633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3200" dirty="0"/>
              <a:t>covering </a:t>
            </a:r>
            <a:r>
              <a:rPr lang="en-US" altLang="ja-JP" sz="3200" dirty="0" smtClean="0"/>
              <a:t>mechanism</a:t>
            </a: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228600" y="2066984"/>
            <a:ext cx="8775700" cy="1077218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dirty="0" smtClean="0"/>
              <a:t>パターン</a:t>
            </a:r>
            <a:r>
              <a:rPr lang="en-US" altLang="ja-JP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kumimoji="1" lang="ja-JP" altLang="en-US" sz="3200" dirty="0" smtClean="0"/>
              <a:t>に基づいてルールを生成</a:t>
            </a:r>
            <a:endParaRPr kumimoji="1" lang="en-US" altLang="ja-JP" sz="3200" dirty="0" smtClean="0"/>
          </a:p>
          <a:p>
            <a:r>
              <a:rPr lang="ja-JP" altLang="en-US" sz="3200" dirty="0"/>
              <a:t>汎化性能を高めるため，</a:t>
            </a:r>
            <a:r>
              <a:rPr lang="ja-JP" altLang="en-US" sz="3200" u="sng" dirty="0"/>
              <a:t>一部を</a:t>
            </a:r>
            <a:r>
              <a:rPr lang="en-US" altLang="ja-JP" sz="3200" u="sng" dirty="0"/>
              <a:t>don’t care </a:t>
            </a:r>
            <a:r>
              <a:rPr lang="ja-JP" altLang="en-US" sz="3200" u="sng" dirty="0"/>
              <a:t>に</a:t>
            </a:r>
            <a:r>
              <a:rPr lang="ja-JP" altLang="en-US" sz="3200" u="sng" dirty="0" smtClean="0"/>
              <a:t>変更</a:t>
            </a:r>
            <a:endParaRPr kumimoji="1" lang="ja-JP" altLang="en-US" sz="3200" u="sng" dirty="0" smtClean="0"/>
          </a:p>
        </p:txBody>
      </p:sp>
      <p:sp>
        <p:nvSpPr>
          <p:cNvPr id="32" name="テキスト ボックス 31"/>
          <p:cNvSpPr txBox="1"/>
          <p:nvPr/>
        </p:nvSpPr>
        <p:spPr>
          <a:xfrm>
            <a:off x="1881904" y="3084314"/>
            <a:ext cx="989237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kumimoji="1" lang="ja-JP" altLang="en-US" sz="3200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右矢印 34"/>
          <p:cNvSpPr/>
          <p:nvPr/>
        </p:nvSpPr>
        <p:spPr>
          <a:xfrm>
            <a:off x="3579230" y="5014139"/>
            <a:ext cx="850900" cy="546100"/>
          </a:xfrm>
          <a:prstGeom prst="rightArrow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/>
          <p:cNvSpPr txBox="1"/>
          <p:nvPr/>
        </p:nvSpPr>
        <p:spPr>
          <a:xfrm>
            <a:off x="4610100" y="3559870"/>
            <a:ext cx="3573795" cy="3046988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en-US" altLang="ja-JP" sz="3200" dirty="0" smtClean="0"/>
              <a:t>If</a:t>
            </a:r>
          </a:p>
          <a:p>
            <a:r>
              <a:rPr lang="en-US" altLang="ja-JP" sz="32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ja-JP" altLang="en-US" sz="3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ja-JP" sz="32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x</a:t>
            </a:r>
            <a:r>
              <a:rPr lang="en-US" altLang="ja-JP" sz="3200" baseline="-25000" dirty="0" smtClean="0"/>
              <a:t>1</a:t>
            </a:r>
            <a:r>
              <a:rPr lang="ja-JP" altLang="en-US" sz="3200" dirty="0"/>
              <a:t>　</a:t>
            </a:r>
            <a:r>
              <a:rPr lang="en-US" altLang="ja-JP" sz="3200" dirty="0"/>
              <a:t>is </a:t>
            </a:r>
            <a:r>
              <a:rPr lang="en-US" altLang="ja-JP" sz="3200" dirty="0">
                <a:solidFill>
                  <a:schemeClr val="accent2"/>
                </a:solidFill>
              </a:rPr>
              <a:t>blue</a:t>
            </a:r>
            <a:r>
              <a:rPr lang="en-US" altLang="ja-JP" sz="3200" dirty="0"/>
              <a:t> and</a:t>
            </a:r>
            <a:endParaRPr lang="ja-JP" altLang="en-US" sz="3200" baseline="-25000" dirty="0"/>
          </a:p>
          <a:p>
            <a:r>
              <a:rPr lang="en-US" altLang="ja-JP" sz="32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endParaRPr lang="en-US" altLang="ja-JP" sz="3200" dirty="0" smtClean="0"/>
          </a:p>
          <a:p>
            <a:r>
              <a:rPr lang="en-US" altLang="ja-JP" sz="32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x</a:t>
            </a:r>
            <a:r>
              <a:rPr lang="en-US" altLang="ja-JP" sz="3200" baseline="-25000" dirty="0" smtClean="0"/>
              <a:t>3</a:t>
            </a:r>
            <a:r>
              <a:rPr lang="ja-JP" altLang="en-US" sz="3200" dirty="0" smtClean="0"/>
              <a:t>　</a:t>
            </a:r>
            <a:r>
              <a:rPr lang="en-US" altLang="ja-JP" sz="3200" dirty="0" smtClean="0"/>
              <a:t>is </a:t>
            </a:r>
            <a:r>
              <a:rPr lang="en-US" altLang="ja-JP" sz="3200" dirty="0" smtClean="0">
                <a:solidFill>
                  <a:schemeClr val="accent1"/>
                </a:solidFill>
              </a:rPr>
              <a:t>red</a:t>
            </a:r>
            <a:r>
              <a:rPr lang="en-US" altLang="ja-JP" sz="3200" dirty="0" smtClean="0"/>
              <a:t> and</a:t>
            </a:r>
          </a:p>
          <a:p>
            <a:r>
              <a:rPr lang="en-US" altLang="ja-JP" sz="32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endParaRPr lang="en-US" altLang="ja-JP" sz="3200" dirty="0">
              <a:solidFill>
                <a:schemeClr val="accent5"/>
              </a:solidFill>
            </a:endParaRPr>
          </a:p>
          <a:p>
            <a:pPr algn="r"/>
            <a:r>
              <a:rPr lang="en-US" altLang="ja-JP" sz="3200" dirty="0" smtClean="0"/>
              <a:t>then </a:t>
            </a:r>
            <a:r>
              <a:rPr lang="en-US" altLang="ja-JP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n-US" altLang="ja-JP" sz="3200" dirty="0"/>
              <a:t> is </a:t>
            </a:r>
            <a:r>
              <a:rPr lang="en-US" altLang="ja-JP" sz="3200" dirty="0" smtClean="0"/>
              <a:t>0</a:t>
            </a:r>
            <a:endParaRPr lang="ja-JP" altLang="en-US" sz="3200" dirty="0"/>
          </a:p>
        </p:txBody>
      </p:sp>
      <p:graphicFrame>
        <p:nvGraphicFramePr>
          <p:cNvPr id="25" name="表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4159374"/>
              </p:ext>
            </p:extLst>
          </p:nvPr>
        </p:nvGraphicFramePr>
        <p:xfrm>
          <a:off x="1410783" y="3845739"/>
          <a:ext cx="1631266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666"/>
                <a:gridCol w="57960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  <a:r>
                        <a:rPr kumimoji="1" lang="en-US" altLang="ja-JP" sz="3200" b="0" baseline="-250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3200" b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32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  <a:r>
                        <a:rPr kumimoji="1" lang="en-US" altLang="ja-JP" sz="3200" b="0" baseline="-250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32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32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  <a:r>
                        <a:rPr kumimoji="1" lang="en-US" altLang="ja-JP" sz="3200" b="0" baseline="-250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kumimoji="1" lang="ja-JP" altLang="en-US" sz="32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32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  <a:r>
                        <a:rPr kumimoji="1" lang="en-US" altLang="ja-JP" sz="3200" b="0" baseline="-2500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kumimoji="1" lang="ja-JP" altLang="en-US" sz="32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32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class</a:t>
                      </a:r>
                      <a:endParaRPr kumimoji="1" lang="ja-JP" altLang="en-US" sz="3200" b="0" dirty="0" smtClean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3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7" name="テキスト ボックス 36"/>
          <p:cNvSpPr txBox="1"/>
          <p:nvPr/>
        </p:nvSpPr>
        <p:spPr>
          <a:xfrm>
            <a:off x="5615947" y="3084314"/>
            <a:ext cx="1562100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ルール</a:t>
            </a:r>
          </a:p>
        </p:txBody>
      </p:sp>
    </p:spTree>
    <p:extLst>
      <p:ext uri="{BB962C8B-B14F-4D97-AF65-F5344CB8AC3E}">
        <p14:creationId xmlns:p14="http://schemas.microsoft.com/office/powerpoint/2010/main" val="11636297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 sz="4200" dirty="0" err="1" smtClean="0"/>
              <a:t>sUpervised</a:t>
            </a:r>
            <a:r>
              <a:rPr kumimoji="1" lang="en-US" altLang="ja-JP" sz="4200" dirty="0" smtClean="0"/>
              <a:t> Classifier system (UCS)</a:t>
            </a:r>
            <a:endParaRPr kumimoji="1" lang="ja-JP" altLang="en-US" sz="4200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u="sng" dirty="0" smtClean="0"/>
              <a:t>個体が持つパラメータ</a:t>
            </a:r>
            <a:endParaRPr lang="en-US" altLang="ja-JP" u="sng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If-then</a:t>
            </a:r>
            <a:r>
              <a:rPr kumimoji="1" lang="ja-JP" altLang="en-US" sz="2800" dirty="0" smtClean="0"/>
              <a:t>ルール</a:t>
            </a:r>
            <a:endParaRPr kumimoji="1"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sz="2800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</a:t>
            </a:r>
            <a:r>
              <a:rPr lang="en-US" altLang="ja-JP" sz="2800" dirty="0" smtClean="0">
                <a:cs typeface="Times New Roman" panose="02020603050405020304" pitchFamily="18" charset="0"/>
              </a:rPr>
              <a:t>(experience)</a:t>
            </a:r>
            <a:r>
              <a:rPr lang="ja-JP" altLang="en-US" sz="2800" dirty="0" smtClean="0"/>
              <a:t>：学習時に前件部が適合した回数</a:t>
            </a:r>
            <a:endParaRPr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kumimoji="1" lang="en-US" altLang="ja-JP" sz="2800" dirty="0" smtClean="0">
                <a:cs typeface="Times New Roman" panose="02020603050405020304" pitchFamily="18" charset="0"/>
              </a:rPr>
              <a:t>(accuracy)</a:t>
            </a:r>
            <a:r>
              <a:rPr kumimoji="1" lang="ja-JP" altLang="en-US" sz="2800" dirty="0" smtClean="0"/>
              <a:t>：ルール適合時，結論部</a:t>
            </a:r>
            <a:r>
              <a:rPr lang="ja-JP" altLang="en-US" sz="2800" dirty="0"/>
              <a:t>も</a:t>
            </a:r>
            <a:r>
              <a:rPr kumimoji="1" lang="ja-JP" altLang="en-US" sz="2800" dirty="0" smtClean="0"/>
              <a:t>一致した</a:t>
            </a:r>
            <a:r>
              <a:rPr lang="en-US" altLang="ja-JP" sz="2800" dirty="0"/>
              <a:t/>
            </a:r>
            <a:br>
              <a:rPr lang="en-US" altLang="ja-JP" sz="2800" dirty="0"/>
            </a:br>
            <a:r>
              <a:rPr kumimoji="1" lang="ja-JP" altLang="en-US" sz="2800" dirty="0" smtClean="0"/>
              <a:t>割合</a:t>
            </a:r>
            <a:endParaRPr kumimoji="1"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altLang="ja-JP" sz="2800" dirty="0" smtClean="0">
                <a:cs typeface="Times New Roman" panose="02020603050405020304" pitchFamily="18" charset="0"/>
              </a:rPr>
              <a:t>(fitness)</a:t>
            </a:r>
            <a:r>
              <a:rPr lang="ja-JP" altLang="en-US" sz="2800" dirty="0" smtClean="0"/>
              <a:t>：</a:t>
            </a:r>
            <a:r>
              <a:rPr lang="en-US" altLang="ja-JP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ja-JP" altLang="en-US" sz="2800" dirty="0" smtClean="0"/>
              <a:t>から計算されるルールの適合度の指標</a:t>
            </a:r>
            <a:endParaRPr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endParaRPr kumimoji="1" lang="en-US" altLang="ja-JP" sz="2800" i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ja-JP" sz="2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num</a:t>
            </a:r>
            <a:r>
              <a:rPr kumimoji="1" lang="en-US" altLang="ja-JP" sz="2800" dirty="0" smtClean="0">
                <a:cs typeface="Times New Roman" panose="02020603050405020304" pitchFamily="18" charset="0"/>
              </a:rPr>
              <a:t>(</a:t>
            </a:r>
            <a:r>
              <a:rPr kumimoji="1" lang="en-US" altLang="ja-JP" sz="2800" dirty="0" err="1" smtClean="0">
                <a:cs typeface="Times New Roman" panose="02020603050405020304" pitchFamily="18" charset="0"/>
              </a:rPr>
              <a:t>numerosity</a:t>
            </a:r>
            <a:r>
              <a:rPr kumimoji="1" lang="en-US" altLang="ja-JP" sz="2800" dirty="0" smtClean="0">
                <a:cs typeface="Times New Roman" panose="02020603050405020304" pitchFamily="18" charset="0"/>
              </a:rPr>
              <a:t>)</a:t>
            </a:r>
            <a:r>
              <a:rPr kumimoji="1" lang="ja-JP" altLang="en-US" sz="2800" dirty="0" smtClean="0"/>
              <a:t>：個体群内における同じルールの数</a:t>
            </a:r>
            <a:endParaRPr kumimoji="1" lang="ja-JP" altLang="en-US" sz="28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7</a:t>
            </a:fld>
            <a:endParaRPr kumimoji="1" lang="ja-JP" altLang="en-US" dirty="0"/>
          </a:p>
        </p:txBody>
      </p:sp>
      <p:sp>
        <p:nvSpPr>
          <p:cNvPr id="6" name="テキスト プレースホルダー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学習アルゴリズム</a:t>
            </a:r>
            <a:endParaRPr kumimoji="1" lang="ja-JP" altLang="en-US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438400" y="4457700"/>
            <a:ext cx="4267200" cy="892552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 </a:t>
            </a:r>
            <a:r>
              <a:rPr kumimoji="1" lang="en-US" altLang="ja-JP" sz="2800" dirty="0" smtClean="0">
                <a:cs typeface="Times New Roman" panose="02020603050405020304" pitchFamily="18" charset="0"/>
              </a:rPr>
              <a:t>=</a:t>
            </a:r>
            <a:r>
              <a:rPr kumimoji="1"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ja-JP" sz="2800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kumimoji="1" lang="en-US" altLang="ja-JP" sz="2800" i="1" baseline="30000" dirty="0" err="1" smtClean="0">
                <a:latin typeface="Symbol" panose="05050102010706020507" pitchFamily="18" charset="2"/>
                <a:cs typeface="Times New Roman" panose="02020603050405020304" pitchFamily="18" charset="0"/>
              </a:rPr>
              <a:t>n</a:t>
            </a:r>
            <a:endParaRPr kumimoji="1" lang="en-US" altLang="ja-JP" sz="2800" i="1" baseline="30000" dirty="0" smtClean="0">
              <a:latin typeface="Symbol" panose="05050102010706020507" pitchFamily="18" charset="2"/>
              <a:cs typeface="Times New Roman" panose="02020603050405020304" pitchFamily="18" charset="0"/>
            </a:endParaRPr>
          </a:p>
          <a:p>
            <a:pPr algn="ctr"/>
            <a:r>
              <a:rPr lang="en-US" altLang="ja-JP" sz="2400" dirty="0" smtClean="0">
                <a:cs typeface="Times New Roman" panose="02020603050405020304" pitchFamily="18" charset="0"/>
              </a:rPr>
              <a:t>(</a:t>
            </a:r>
            <a:r>
              <a:rPr lang="en-US" altLang="ja-JP" sz="2400" i="1" dirty="0" smtClean="0">
                <a:latin typeface="Symbol" panose="05050102010706020507" pitchFamily="18" charset="2"/>
                <a:cs typeface="Times New Roman" panose="02020603050405020304" pitchFamily="18" charset="0"/>
              </a:rPr>
              <a:t>n</a:t>
            </a:r>
            <a:r>
              <a:rPr lang="ja-JP" altLang="en-US" sz="2400" dirty="0" smtClean="0">
                <a:latin typeface="+mn-ea"/>
                <a:cs typeface="Times New Roman" panose="02020603050405020304" pitchFamily="18" charset="0"/>
              </a:rPr>
              <a:t>はハイパーパラメータ</a:t>
            </a:r>
            <a:r>
              <a:rPr lang="en-US" altLang="ja-JP" sz="2400" dirty="0" smtClean="0">
                <a:latin typeface="+mn-ea"/>
                <a:cs typeface="Times New Roman" panose="02020603050405020304" pitchFamily="18" charset="0"/>
              </a:rPr>
              <a:t>)</a:t>
            </a:r>
            <a:endParaRPr kumimoji="1" lang="ja-JP" altLang="en-US" sz="2400" dirty="0" smtClean="0">
              <a:latin typeface="Symbol" panose="05050102010706020507" pitchFamily="18" charset="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09779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ja-JP" sz="3800" dirty="0" err="1"/>
              <a:t>sUpervised</a:t>
            </a:r>
            <a:r>
              <a:rPr lang="en-US" altLang="ja-JP" sz="3800" dirty="0"/>
              <a:t> Classifier </a:t>
            </a:r>
            <a:r>
              <a:rPr lang="en-US" altLang="ja-JP" sz="3800" dirty="0" smtClean="0"/>
              <a:t>system (</a:t>
            </a:r>
            <a:r>
              <a:rPr lang="en-US" altLang="ja-JP" sz="3800" dirty="0"/>
              <a:t>UCS)</a:t>
            </a:r>
            <a:endParaRPr kumimoji="1" lang="ja-JP" altLang="en-US" sz="3800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en-US" altLang="ja-JP" dirty="0" smtClean="0"/>
          </a:p>
          <a:p>
            <a:r>
              <a:rPr lang="ja-JP" altLang="en-US" dirty="0" smtClean="0"/>
              <a:t>予測値は，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r>
              <a:rPr lang="ja-JP" altLang="en-US" dirty="0" smtClean="0"/>
              <a:t>内の全個体による重み付き多数決により決定する．</a:t>
            </a:r>
            <a:endParaRPr lang="en-US" altLang="ja-JP" dirty="0" smtClean="0"/>
          </a:p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r>
              <a:rPr lang="ja-JP" altLang="en-US" dirty="0" smtClean="0"/>
              <a:t>内の各個体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altLang="ja-JP" i="1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ja-JP" altLang="en-US" dirty="0" smtClean="0"/>
              <a:t>は，自身の持つルールの結論部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クラスに対し，以下の重み</a:t>
            </a:r>
            <a:r>
              <a:rPr lang="en-US" altLang="ja-JP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US" altLang="ja-JP" i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ja-JP" altLang="en-US" dirty="0" smtClean="0"/>
              <a:t>を乗じて投票を行う．</a:t>
            </a:r>
            <a:endParaRPr lang="en-US" altLang="ja-JP" dirty="0" smtClean="0"/>
          </a:p>
          <a:p>
            <a:endParaRPr kumimoji="1" lang="ja-JP" altLang="en-US" dirty="0"/>
          </a:p>
        </p:txBody>
      </p:sp>
      <p:sp>
        <p:nvSpPr>
          <p:cNvPr id="3" name="スライド番号プレースホルダー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8</a:t>
            </a:fld>
            <a:endParaRPr kumimoji="1" lang="ja-JP" altLang="en-US" dirty="0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学習アルゴリズム</a:t>
            </a:r>
            <a:endParaRPr kumimoji="1" lang="ja-JP" altLang="en-US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28601" y="1371600"/>
            <a:ext cx="2641600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予測値</a:t>
            </a:r>
            <a:r>
              <a:rPr lang="ja-JP" altLang="en-US" sz="3200" dirty="0" smtClean="0"/>
              <a:t>の出力</a:t>
            </a:r>
            <a:endParaRPr lang="en-US" altLang="ja-JP" sz="3200" dirty="0" smtClean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3219450" y="4229100"/>
            <a:ext cx="2705100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kumimoji="1" lang="en-US" altLang="ja-JP" sz="2800" i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kumimoji="1"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ja-JP" sz="2800" dirty="0" smtClean="0">
                <a:cs typeface="Times New Roman" panose="02020603050405020304" pitchFamily="18" charset="0"/>
              </a:rPr>
              <a:t>=</a:t>
            </a:r>
            <a:r>
              <a:rPr kumimoji="1"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ja-JP" sz="2800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kumimoji="1" lang="en-US" altLang="ja-JP" sz="2800" i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kumimoji="1" lang="en-US" altLang="ja-JP" sz="2800" dirty="0" err="1" smtClean="0">
                <a:cs typeface="Times New Roman" panose="02020603050405020304" pitchFamily="18" charset="0"/>
              </a:rPr>
              <a:t>×</a:t>
            </a:r>
            <a:r>
              <a:rPr kumimoji="1" lang="en-US" altLang="ja-JP" sz="2800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num</a:t>
            </a:r>
            <a:r>
              <a:rPr kumimoji="1" lang="en-US" altLang="ja-JP" sz="2800" i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kumimoji="1" lang="ja-JP" altLang="en-US" sz="2800" i="1" baseline="-25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174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提案手法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マルチラベル問題の</a:t>
            </a:r>
            <a:r>
              <a:rPr lang="ja-JP" altLang="en-US" dirty="0" smtClean="0"/>
              <a:t>教師</a:t>
            </a:r>
            <a:r>
              <a:rPr lang="ja-JP" altLang="en-US" dirty="0" smtClean="0"/>
              <a:t>ラベルを</a:t>
            </a:r>
            <a:r>
              <a:rPr lang="en-US" altLang="ja-JP" dirty="0" smtClean="0"/>
              <a:t>LP</a:t>
            </a:r>
            <a:r>
              <a:rPr lang="ja-JP" altLang="en-US" dirty="0" smtClean="0"/>
              <a:t>で変換し</a:t>
            </a:r>
            <a:r>
              <a:rPr lang="ja-JP" altLang="en-US" dirty="0" smtClean="0"/>
              <a:t>，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>
                <a:solidFill>
                  <a:schemeClr val="accent1"/>
                </a:solidFill>
              </a:rPr>
              <a:t>マルチラベル</a:t>
            </a:r>
            <a:r>
              <a:rPr lang="ja-JP" altLang="en-US" dirty="0" smtClean="0">
                <a:solidFill>
                  <a:schemeClr val="accent1"/>
                </a:solidFill>
              </a:rPr>
              <a:t>に対応した</a:t>
            </a:r>
            <a:r>
              <a:rPr lang="en-US" altLang="ja-JP" dirty="0" smtClean="0">
                <a:solidFill>
                  <a:schemeClr val="accent1"/>
                </a:solidFill>
              </a:rPr>
              <a:t>UCS</a:t>
            </a:r>
            <a:r>
              <a:rPr lang="ja-JP" altLang="en-US" dirty="0" smtClean="0"/>
              <a:t>である</a:t>
            </a:r>
            <a:r>
              <a:rPr lang="en-US" altLang="ja-JP" dirty="0" smtClean="0">
                <a:solidFill>
                  <a:schemeClr val="accent1"/>
                </a:solidFill>
              </a:rPr>
              <a:t>Multi-Label Rule-Based Classifier (MLRBC) </a:t>
            </a:r>
            <a:r>
              <a:rPr lang="ja-JP" altLang="en-US" dirty="0" smtClean="0"/>
              <a:t>を提案する．</a:t>
            </a:r>
            <a:endParaRPr lang="en-US" altLang="ja-JP" dirty="0" smtClean="0"/>
          </a:p>
          <a:p>
            <a:endParaRPr lang="en-US" altLang="ja-JP" dirty="0" smtClean="0"/>
          </a:p>
          <a:p>
            <a:r>
              <a:rPr lang="ja-JP" altLang="en-US" dirty="0" smtClean="0"/>
              <a:t>マルチラベル</a:t>
            </a:r>
            <a:r>
              <a:rPr lang="ja-JP" altLang="en-US" dirty="0" smtClean="0"/>
              <a:t>に対応するために，</a:t>
            </a:r>
            <a:r>
              <a:rPr lang="en-US" altLang="ja-JP" dirty="0"/>
              <a:t> </a:t>
            </a:r>
            <a:r>
              <a:rPr lang="en-US" altLang="ja-JP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ja-JP" altLang="en-US" dirty="0" smtClean="0"/>
              <a:t>及び</a:t>
            </a:r>
            <a:r>
              <a:rPr lang="en-US" altLang="ja-JP" dirty="0" smtClean="0"/>
              <a:t>voting</a:t>
            </a:r>
            <a:r>
              <a:rPr lang="ja-JP" altLang="en-US" dirty="0" smtClean="0"/>
              <a:t>手法</a:t>
            </a:r>
            <a:r>
              <a:rPr lang="ja-JP" altLang="en-US" dirty="0" smtClean="0"/>
              <a:t>を変更する．</a:t>
            </a:r>
            <a:endParaRPr lang="en-US" altLang="ja-JP" dirty="0" smtClean="0"/>
          </a:p>
          <a:p>
            <a:r>
              <a:rPr lang="en-US" altLang="ja-JP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ja-JP" altLang="en-US" dirty="0" smtClean="0"/>
              <a:t>は以下の式に変更する．</a:t>
            </a:r>
            <a:endParaRPr lang="en-US" altLang="ja-JP" dirty="0" smtClean="0"/>
          </a:p>
          <a:p>
            <a:endParaRPr lang="en-US" altLang="ja-JP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9</a:t>
            </a:fld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/>
              <p:cNvSpPr txBox="1"/>
              <p:nvPr/>
            </p:nvSpPr>
            <p:spPr>
              <a:xfrm>
                <a:off x="650875" y="5321300"/>
                <a:ext cx="7842250" cy="1833131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ja-JP" sz="2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acc</m:t>
                      </m:r>
                      <m:r>
                        <m:rPr>
                          <m:nor/>
                        </m:rPr>
                        <a:rPr lang="en-US" altLang="ja-JP" sz="2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sz="2800"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US" altLang="ja-JP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1</m:t>
                      </m:r>
                      <m:r>
                        <m:rPr>
                          <m:nor/>
                        </m:rPr>
                        <a:rPr lang="en-US" altLang="ja-JP" sz="2800">
                          <a:cs typeface="Times New Roman" panose="02020603050405020304" pitchFamily="18" charset="0"/>
                        </a:rPr>
                        <m:t> − </m:t>
                      </m:r>
                      <m:f>
                        <m:f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altLang="ja-JP" sz="2800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HL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altLang="ja-JP" sz="2800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exp</m:t>
                          </m:r>
                        </m:den>
                      </m:f>
                    </m:oMath>
                  </m:oMathPara>
                </a14:m>
                <a:endParaRPr kumimoji="1" lang="en-US" altLang="ja-JP" sz="2800" dirty="0" smtClean="0"/>
              </a:p>
              <a:p>
                <a:pPr algn="r"/>
                <a:r>
                  <a:rPr lang="en-US" altLang="ja-JP" sz="2800" dirty="0" smtClean="0">
                    <a:latin typeface="+mn-ea"/>
                    <a:cs typeface="Times New Roman" panose="02020603050405020304" pitchFamily="18" charset="0"/>
                  </a:rPr>
                  <a:t>(</a:t>
                </a:r>
                <a:r>
                  <a:rPr lang="en-US" altLang="ja-JP" sz="28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HL</a:t>
                </a:r>
                <a:r>
                  <a:rPr lang="ja-JP" altLang="en-US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：ハミング</a:t>
                </a:r>
                <a:r>
                  <a:rPr lang="ja-JP" altLang="en-US" sz="28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損失</a:t>
                </a:r>
                <a:r>
                  <a:rPr lang="en-US" altLang="ja-JP" sz="2800" dirty="0" smtClean="0">
                    <a:latin typeface="+mn-ea"/>
                    <a:cs typeface="Times New Roman" panose="02020603050405020304" pitchFamily="18" charset="0"/>
                  </a:rPr>
                  <a:t>)</a:t>
                </a:r>
                <a:endParaRPr lang="en-US" altLang="ja-JP" sz="2800" dirty="0">
                  <a:latin typeface="+mn-ea"/>
                  <a:cs typeface="Times New Roman" panose="02020603050405020304" pitchFamily="18" charset="0"/>
                </a:endParaRPr>
              </a:p>
              <a:p>
                <a:pPr algn="ctr"/>
                <a:endParaRPr kumimoji="1" lang="ja-JP" altLang="en-US" sz="2800" dirty="0" smtClean="0"/>
              </a:p>
            </p:txBody>
          </p:sp>
        </mc:Choice>
        <mc:Fallback xmlns="">
          <p:sp>
            <p:nvSpPr>
              <p:cNvPr id="5" name="テキスト ボックス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875" y="5321300"/>
                <a:ext cx="7842250" cy="1833131"/>
              </a:xfrm>
              <a:prstGeom prst="rect">
                <a:avLst/>
              </a:prstGeom>
              <a:blipFill rotWithShape="0">
                <a:blip r:embed="rId2"/>
                <a:stretch>
                  <a:fillRect r="-1555"/>
                </a:stretch>
              </a:blipFill>
              <a:ln w="19050">
                <a:noFill/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3354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提案手法</a:t>
            </a:r>
            <a:endParaRPr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コンテンツ プレースホルダー 5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ja-JP" altLang="en-US" dirty="0" smtClean="0"/>
                  <a:t>予測値の集約手法は，以下の</a:t>
                </a:r>
                <a:r>
                  <a:rPr lang="en-US" altLang="ja-JP" dirty="0" smtClean="0"/>
                  <a:t>2</a:t>
                </a:r>
                <a:r>
                  <a:rPr lang="ja-JP" altLang="en-US" dirty="0" smtClean="0"/>
                  <a:t>ステップから構成される．</a:t>
                </a:r>
                <a:endParaRPr lang="en-US" altLang="ja-JP" dirty="0" smtClean="0"/>
              </a:p>
              <a:p>
                <a:r>
                  <a:rPr kumimoji="1" lang="en-US" altLang="ja-JP" dirty="0" smtClean="0"/>
                  <a:t>1. aggregated prediction vector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kumimoji="1" lang="ja-JP" alt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kumimoji="1" lang="en-US" altLang="ja-JP" b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ja-JP" altLang="en-US" dirty="0" smtClean="0"/>
                  <a:t>の構成</a:t>
                </a:r>
                <a:endParaRPr kumimoji="1" lang="en-US" altLang="ja-JP" dirty="0" smtClean="0"/>
              </a:p>
              <a:p>
                <a:r>
                  <a:rPr lang="en-US" altLang="ja-JP" dirty="0" smtClean="0"/>
                  <a:t>2. rank vector </a:t>
                </a:r>
                <a:r>
                  <a:rPr lang="en-US" altLang="ja-JP" b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</a:t>
                </a:r>
                <a:r>
                  <a:rPr lang="ja-JP" altLang="en-US" dirty="0"/>
                  <a:t> </a:t>
                </a:r>
                <a:r>
                  <a:rPr lang="ja-JP" altLang="en-US" dirty="0" smtClean="0"/>
                  <a:t>の構成</a:t>
                </a:r>
                <a:endParaRPr kumimoji="1" lang="en-US" altLang="ja-JP" dirty="0" smtClean="0"/>
              </a:p>
              <a:p>
                <a:pPr marL="514350" indent="-514350">
                  <a:buFont typeface="+mj-lt"/>
                  <a:buAutoNum type="arabicPeriod"/>
                </a:pPr>
                <a:endParaRPr kumimoji="1" lang="ja-JP" altLang="en-US" dirty="0"/>
              </a:p>
            </p:txBody>
          </p:sp>
        </mc:Choice>
        <mc:Fallback xmlns="">
          <p:sp>
            <p:nvSpPr>
              <p:cNvPr id="6" name="コンテンツ プレースホルダー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825" t="-1882" r="-1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10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集約手法の改良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0766763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提案手法</a:t>
            </a:r>
            <a:endParaRPr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コンテンツ プレースホルダー 5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ja-JP" altLang="en-US" dirty="0" smtClean="0"/>
                  <a:t>予測値の集約手法は，以下の</a:t>
                </a:r>
                <a:r>
                  <a:rPr lang="en-US" altLang="ja-JP" dirty="0" smtClean="0"/>
                  <a:t>2</a:t>
                </a:r>
                <a:r>
                  <a:rPr lang="ja-JP" altLang="en-US" dirty="0" smtClean="0"/>
                  <a:t>ステップから構成される．</a:t>
                </a:r>
                <a:endParaRPr lang="en-US" altLang="ja-JP" dirty="0" smtClean="0"/>
              </a:p>
              <a:p>
                <a:r>
                  <a:rPr kumimoji="1" lang="en-US" altLang="ja-JP" dirty="0" smtClean="0"/>
                  <a:t>1. aggregated prediction vector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kumimoji="1" lang="ja-JP" alt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kumimoji="1" lang="en-US" altLang="ja-JP" b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ja-JP" altLang="en-US" dirty="0" smtClean="0"/>
                  <a:t>の構成</a:t>
                </a:r>
                <a:endParaRPr kumimoji="1" lang="en-US" altLang="ja-JP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ja-JP" alt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nor/>
                            </m:rPr>
                            <a:rPr lang="en-US" altLang="ja-JP" b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y</m:t>
                          </m:r>
                        </m:e>
                      </m:acc>
                      <m:r>
                        <m:rPr>
                          <m:nor/>
                        </m:rPr>
                        <a:rPr lang="en-US" altLang="ja-JP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cs typeface="Times New Roman" panose="020206030504050203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altLang="ja-JP" b="0" i="1" baseline="-250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i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1</m:t>
                      </m:r>
                      <m:r>
                        <m:rPr>
                          <m:nor/>
                        </m:rPr>
                        <a:rPr lang="en-US" altLang="ja-JP" b="0" i="0" smtClean="0">
                          <a:cs typeface="Times New Roman" panose="020206030504050203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lang="en-US" altLang="ja-JP" b="0" i="0" baseline="3000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∃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altLang="ja-JP" b="0" i="1" baseline="-2500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: 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1" baseline="3000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1;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i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1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, …, 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;</m:t>
                      </m:r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                 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1, …, 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[</m:t>
                      </m:r>
                      <m:r>
                        <m:rPr>
                          <m:nor/>
                        </m:rPr>
                        <a:rPr lang="en-US" altLang="ja-JP" b="0" i="1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]</m:t>
                      </m:r>
                      <m:r>
                        <m:rPr>
                          <m:nor/>
                        </m:rPr>
                        <a:rPr lang="en-US" altLang="ja-JP" b="0" i="0" smtClean="0"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44500"/>
                <a:r>
                  <a:rPr lang="ja-JP" altLang="en-US" dirty="0" smtClean="0"/>
                  <a:t>各クラス</a:t>
                </a:r>
                <a:r>
                  <a:rPr lang="en-US" altLang="ja-JP" i="1" dirty="0" err="1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ja-JP" altLang="en-US" dirty="0" smtClean="0"/>
                  <a:t>について，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[</a:t>
                </a:r>
                <a:r>
                  <a:rPr lang="en-US" altLang="ja-JP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]</a:t>
                </a:r>
                <a:r>
                  <a:rPr lang="ja-JP" altLang="en-US" dirty="0" smtClean="0"/>
                  <a:t>内のいずれかの個体の</a:t>
                </a:r>
                <a:r>
                  <a:rPr lang="en-US" altLang="ja-JP" dirty="0" smtClean="0"/>
                  <a:t/>
                </a:r>
                <a:br>
                  <a:rPr lang="en-US" altLang="ja-JP" dirty="0" smtClean="0"/>
                </a:br>
                <a:r>
                  <a:rPr lang="ja-JP" altLang="en-US" dirty="0" smtClean="0"/>
                  <a:t>結論部が</a:t>
                </a:r>
                <a:r>
                  <a:rPr lang="en-US" altLang="ja-JP" dirty="0" smtClean="0"/>
                  <a:t>1</a:t>
                </a:r>
                <a:r>
                  <a:rPr lang="ja-JP" altLang="en-US" dirty="0" smtClean="0"/>
                  <a:t>なら</a:t>
                </a:r>
                <a:r>
                  <a:rPr lang="en-US" altLang="ja-JP" i="1" dirty="0" err="1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en-US" altLang="ja-JP" i="1" baseline="-25000" dirty="0" err="1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en-US" altLang="ja-JP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ja-JP" dirty="0" smtClean="0">
                    <a:cs typeface="Times New Roman" panose="02020603050405020304" pitchFamily="18" charset="0"/>
                  </a:rPr>
                  <a:t>= </a:t>
                </a:r>
                <a:r>
                  <a:rPr lang="en-US" altLang="ja-JP" dirty="0" smtClean="0">
                    <a:latin typeface="+mn-ea"/>
                    <a:cs typeface="Times New Roman" panose="02020603050405020304" pitchFamily="18" charset="0"/>
                  </a:rPr>
                  <a:t>1</a:t>
                </a:r>
                <a:r>
                  <a:rPr lang="ja-JP" altLang="en-US" dirty="0" smtClean="0"/>
                  <a:t>にする．</a:t>
                </a:r>
                <a:endParaRPr lang="en-US" altLang="ja-JP" dirty="0" smtClean="0"/>
              </a:p>
              <a:p>
                <a:endParaRPr lang="en-US" altLang="ja-JP" dirty="0"/>
              </a:p>
              <a:p>
                <a:endParaRPr lang="en-US" altLang="ja-JP" dirty="0" smtClean="0"/>
              </a:p>
              <a:p>
                <a:pPr marL="514350" indent="-514350">
                  <a:buFont typeface="+mj-lt"/>
                  <a:buAutoNum type="arabicPeriod"/>
                </a:pPr>
                <a:endParaRPr kumimoji="1" lang="ja-JP" altLang="en-US" dirty="0"/>
              </a:p>
            </p:txBody>
          </p:sp>
        </mc:Choice>
        <mc:Fallback xmlns="">
          <p:sp>
            <p:nvSpPr>
              <p:cNvPr id="6" name="コンテンツ プレースホルダー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825" t="-1882" r="-1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11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集約手法の改良</a:t>
            </a:r>
            <a:endParaRPr kumimoji="1" lang="ja-JP" altLang="en-US" dirty="0"/>
          </a:p>
        </p:txBody>
      </p:sp>
      <p:sp>
        <p:nvSpPr>
          <p:cNvPr id="2" name="テキスト ボックス 1"/>
          <p:cNvSpPr txBox="1"/>
          <p:nvPr/>
        </p:nvSpPr>
        <p:spPr>
          <a:xfrm>
            <a:off x="4286250" y="3136900"/>
            <a:ext cx="495300" cy="379591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i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kumimoji="1" lang="ja-JP" altLang="en-US" sz="2800" i="1" baseline="-25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28600" y="5558571"/>
            <a:ext cx="5981700" cy="53161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en-US" altLang="ja-JP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2. rank vector </a:t>
            </a:r>
            <a:r>
              <a:rPr lang="en-US" altLang="ja-JP" sz="32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ja-JP" altLang="en-US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の</a:t>
            </a:r>
            <a:r>
              <a:rPr lang="ja-JP" altLang="en-US" sz="3200" dirty="0" smtClean="0">
                <a:solidFill>
                  <a:schemeClr val="bg2">
                    <a:lumMod val="60000"/>
                    <a:lumOff val="40000"/>
                  </a:schemeClr>
                </a:solidFill>
              </a:rPr>
              <a:t>構成</a:t>
            </a:r>
            <a:endParaRPr kumimoji="1" lang="ja-JP" altLang="en-US" sz="3200" dirty="0" smtClean="0"/>
          </a:p>
        </p:txBody>
      </p:sp>
    </p:spTree>
    <p:extLst>
      <p:ext uri="{BB962C8B-B14F-4D97-AF65-F5344CB8AC3E}">
        <p14:creationId xmlns:p14="http://schemas.microsoft.com/office/powerpoint/2010/main" val="28889498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提案手法</a:t>
            </a:r>
            <a:endParaRPr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コンテンツ プレースホルダー 5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ja-JP" altLang="en-US" dirty="0" smtClean="0"/>
                  <a:t>予測値の集約手法は，以下の</a:t>
                </a:r>
                <a:r>
                  <a:rPr lang="en-US" altLang="ja-JP" dirty="0" smtClean="0"/>
                  <a:t>2</a:t>
                </a:r>
                <a:r>
                  <a:rPr lang="ja-JP" altLang="en-US" dirty="0" smtClean="0"/>
                  <a:t>ステップから構成される．</a:t>
                </a:r>
                <a:endParaRPr lang="en-US" altLang="ja-JP" dirty="0" smtClean="0"/>
              </a:p>
              <a:p>
                <a:r>
                  <a:rPr kumimoji="1" lang="en-US" altLang="ja-JP" dirty="0" smtClean="0"/>
                  <a:t>1. aggregated prediction vector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kumimoji="1" lang="ja-JP" alt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kumimoji="1" lang="en-US" altLang="ja-JP" b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ja-JP" altLang="en-US" dirty="0" smtClean="0"/>
                  <a:t>の構成</a:t>
                </a:r>
                <a:endParaRPr kumimoji="1" lang="en-US" altLang="ja-JP" dirty="0" smtClean="0"/>
              </a:p>
              <a:p>
                <a:pPr marL="444500"/>
                <a:r>
                  <a:rPr lang="ja-JP" altLang="en-US" dirty="0" smtClean="0"/>
                  <a:t>例</a:t>
                </a:r>
                <a:r>
                  <a:rPr lang="en-US" altLang="ja-JP" dirty="0" smtClean="0"/>
                  <a:t>)</a:t>
                </a:r>
                <a:endParaRPr kumimoji="1" lang="en-US" altLang="ja-JP" dirty="0" smtClean="0">
                  <a:solidFill>
                    <a:schemeClr val="bg2">
                      <a:lumMod val="60000"/>
                      <a:lumOff val="40000"/>
                    </a:schemeClr>
                  </a:solidFill>
                </a:endParaRPr>
              </a:p>
              <a:p>
                <a:endParaRPr kumimoji="1" lang="ja-JP" altLang="en-US" dirty="0"/>
              </a:p>
            </p:txBody>
          </p:sp>
        </mc:Choice>
        <mc:Fallback xmlns="">
          <p:sp>
            <p:nvSpPr>
              <p:cNvPr id="6" name="コンテンツ プレースホルダー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825" t="-1882" r="-1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12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集約手法の改良</a:t>
            </a:r>
            <a:endParaRPr kumimoji="1" lang="ja-JP" altLang="en-US" dirty="0"/>
          </a:p>
        </p:txBody>
      </p:sp>
      <p:grpSp>
        <p:nvGrpSpPr>
          <p:cNvPr id="10" name="グループ化 9"/>
          <p:cNvGrpSpPr/>
          <p:nvPr/>
        </p:nvGrpSpPr>
        <p:grpSpPr>
          <a:xfrm>
            <a:off x="4610100" y="3708398"/>
            <a:ext cx="2381250" cy="1384996"/>
            <a:chOff x="1511300" y="3962399"/>
            <a:chExt cx="2381250" cy="1384996"/>
          </a:xfrm>
        </p:grpSpPr>
        <p:sp>
          <p:nvSpPr>
            <p:cNvPr id="3" name="テキスト ボックス 2"/>
            <p:cNvSpPr txBox="1"/>
            <p:nvPr/>
          </p:nvSpPr>
          <p:spPr>
            <a:xfrm>
              <a:off x="1511300" y="3962400"/>
              <a:ext cx="2381250" cy="138499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kumimoji="1" lang="en-US" altLang="ja-JP" sz="2800" dirty="0" smtClean="0"/>
                <a:t> </a:t>
              </a:r>
              <a:r>
                <a:rPr kumimoji="1" lang="en-US" altLang="ja-JP" sz="2800" dirty="0" smtClean="0">
                  <a:cs typeface="Times New Roman" panose="02020603050405020304" pitchFamily="18" charset="0"/>
                </a:rPr>
                <a:t>=</a:t>
              </a:r>
              <a:r>
                <a:rPr kumimoji="1" lang="en-US" altLang="ja-JP" sz="2800" dirty="0" smtClean="0"/>
                <a:t> {</a:t>
              </a:r>
            </a:p>
            <a:p>
              <a:pPr algn="ctr"/>
              <a:endParaRPr lang="en-US" altLang="ja-JP" sz="2800" dirty="0"/>
            </a:p>
            <a:p>
              <a:pPr algn="r"/>
              <a:r>
                <a:rPr kumimoji="1" lang="en-US" altLang="ja-JP" sz="2800" dirty="0" smtClean="0"/>
                <a:t>}</a:t>
              </a:r>
              <a:endParaRPr kumimoji="1" lang="ja-JP" altLang="en-US" sz="2800" dirty="0" smtClean="0"/>
            </a:p>
          </p:txBody>
        </p:sp>
        <p:sp>
          <p:nvSpPr>
            <p:cNvPr id="9" name="テキスト ボックス 8"/>
            <p:cNvSpPr txBox="1"/>
            <p:nvPr/>
          </p:nvSpPr>
          <p:spPr>
            <a:xfrm>
              <a:off x="2349500" y="3962399"/>
              <a:ext cx="1543050" cy="138499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" dirty="0" smtClean="0"/>
                <a:t>(1, 0, 0), </a:t>
              </a:r>
            </a:p>
            <a:p>
              <a:r>
                <a:rPr kumimoji="1" lang="en-US" altLang="ja-JP" sz="2800" dirty="0" smtClean="0"/>
                <a:t>(0, 0, 0),</a:t>
              </a:r>
            </a:p>
            <a:p>
              <a:r>
                <a:rPr lang="en-US" altLang="ja-JP" sz="2800" dirty="0" smtClean="0"/>
                <a:t>(0, 0, 1)</a:t>
              </a:r>
              <a:endParaRPr kumimoji="1" lang="ja-JP" altLang="en-US" sz="2800" dirty="0" smtClean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/>
              <p:cNvSpPr txBox="1"/>
              <p:nvPr/>
            </p:nvSpPr>
            <p:spPr>
              <a:xfrm>
                <a:off x="1549400" y="3708398"/>
                <a:ext cx="2463800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ja-JP" altLang="en-US" sz="28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lang="en-US" altLang="ja-JP" sz="2800" b="1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en-US" altLang="ja-JP" sz="2800" dirty="0" smtClean="0"/>
                  <a:t> </a:t>
                </a:r>
                <a:r>
                  <a:rPr kumimoji="1" lang="en-US" altLang="ja-JP" sz="2800" dirty="0" smtClean="0">
                    <a:cs typeface="Times New Roman" panose="02020603050405020304" pitchFamily="18" charset="0"/>
                  </a:rPr>
                  <a:t>=</a:t>
                </a:r>
                <a:r>
                  <a:rPr kumimoji="1" lang="en-US" altLang="ja-JP" sz="2800" dirty="0" smtClean="0"/>
                  <a:t> (1, 0, 1)</a:t>
                </a:r>
                <a:endParaRPr kumimoji="1" lang="ja-JP" altLang="en-US" sz="2800" dirty="0" smtClean="0"/>
              </a:p>
            </p:txBody>
          </p:sp>
        </mc:Choice>
        <mc:Fallback xmlns="">
          <p:sp>
            <p:nvSpPr>
              <p:cNvPr id="11" name="テキスト ボックス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9400" y="3708398"/>
                <a:ext cx="2463800" cy="523220"/>
              </a:xfrm>
              <a:prstGeom prst="rect">
                <a:avLst/>
              </a:prstGeom>
              <a:blipFill rotWithShape="0">
                <a:blip r:embed="rId3"/>
                <a:stretch>
                  <a:fillRect t="-11628" b="-31395"/>
                </a:stretch>
              </a:blipFill>
              <a:ln w="19050">
                <a:noFill/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テキスト ボックス 11"/>
          <p:cNvSpPr txBox="1"/>
          <p:nvPr/>
        </p:nvSpPr>
        <p:spPr>
          <a:xfrm>
            <a:off x="2609215" y="3731481"/>
            <a:ext cx="153670" cy="52322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 </a:t>
            </a:r>
            <a:endParaRPr kumimoji="1" lang="ja-JP" altLang="en-US" sz="2800" dirty="0" smtClean="0"/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2974943" y="3731481"/>
            <a:ext cx="204535" cy="52322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 </a:t>
            </a:r>
            <a:endParaRPr kumimoji="1" lang="ja-JP" altLang="en-US" sz="2800" dirty="0" smtClean="0"/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3340068" y="3731481"/>
            <a:ext cx="204535" cy="52322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 </a:t>
            </a:r>
            <a:endParaRPr kumimoji="1" lang="ja-JP" altLang="en-US" sz="2800" dirty="0" smtClean="0"/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228600" y="5558571"/>
            <a:ext cx="5981700" cy="53161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en-US" altLang="ja-JP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2. rank vector </a:t>
            </a:r>
            <a:r>
              <a:rPr lang="en-US" altLang="ja-JP" sz="32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ja-JP" altLang="en-US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の</a:t>
            </a:r>
            <a:r>
              <a:rPr lang="ja-JP" altLang="en-US" sz="3200" dirty="0" smtClean="0">
                <a:solidFill>
                  <a:schemeClr val="bg2">
                    <a:lumMod val="60000"/>
                    <a:lumOff val="40000"/>
                  </a:schemeClr>
                </a:solidFill>
              </a:rPr>
              <a:t>構成</a:t>
            </a:r>
            <a:endParaRPr kumimoji="1" lang="ja-JP" altLang="en-US" sz="3200" dirty="0" smtClean="0"/>
          </a:p>
        </p:txBody>
      </p:sp>
    </p:spTree>
    <p:extLst>
      <p:ext uri="{BB962C8B-B14F-4D97-AF65-F5344CB8AC3E}">
        <p14:creationId xmlns:p14="http://schemas.microsoft.com/office/powerpoint/2010/main" val="7653264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提案手法</a:t>
            </a:r>
            <a:endParaRPr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コンテンツ プレースホルダー 5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ja-JP" altLang="en-US" dirty="0" smtClean="0"/>
                  <a:t>予測値の集約手法は，以下の</a:t>
                </a:r>
                <a:r>
                  <a:rPr lang="en-US" altLang="ja-JP" dirty="0" smtClean="0"/>
                  <a:t>2</a:t>
                </a:r>
                <a:r>
                  <a:rPr lang="ja-JP" altLang="en-US" dirty="0" smtClean="0"/>
                  <a:t>ステップから構成される．</a:t>
                </a:r>
                <a:endParaRPr lang="en-US" altLang="ja-JP" dirty="0" smtClean="0"/>
              </a:p>
              <a:p>
                <a:r>
                  <a:rPr kumimoji="1" lang="en-US" altLang="ja-JP" dirty="0" smtClean="0"/>
                  <a:t>1. aggregated prediction vector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kumimoji="1" lang="ja-JP" alt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kumimoji="1" lang="en-US" altLang="ja-JP" b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ja-JP" altLang="en-US" dirty="0" smtClean="0"/>
                  <a:t>の構成</a:t>
                </a:r>
                <a:endParaRPr kumimoji="1" lang="en-US" altLang="ja-JP" dirty="0" smtClean="0"/>
              </a:p>
              <a:p>
                <a:pPr marL="444500"/>
                <a:r>
                  <a:rPr lang="ja-JP" altLang="en-US" dirty="0" smtClean="0"/>
                  <a:t>例</a:t>
                </a:r>
                <a:r>
                  <a:rPr lang="en-US" altLang="ja-JP" dirty="0" smtClean="0"/>
                  <a:t>)</a:t>
                </a:r>
                <a:endParaRPr kumimoji="1" lang="en-US" altLang="ja-JP" dirty="0" smtClean="0">
                  <a:solidFill>
                    <a:schemeClr val="bg2">
                      <a:lumMod val="60000"/>
                      <a:lumOff val="40000"/>
                    </a:schemeClr>
                  </a:solidFill>
                </a:endParaRPr>
              </a:p>
              <a:p>
                <a:endParaRPr kumimoji="1" lang="ja-JP" altLang="en-US" dirty="0"/>
              </a:p>
            </p:txBody>
          </p:sp>
        </mc:Choice>
        <mc:Fallback xmlns="">
          <p:sp>
            <p:nvSpPr>
              <p:cNvPr id="6" name="コンテンツ プレースホルダー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825" t="-1882" r="-1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13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集約手法の改良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/>
              <p:cNvSpPr txBox="1"/>
              <p:nvPr/>
            </p:nvSpPr>
            <p:spPr>
              <a:xfrm>
                <a:off x="1549400" y="3708398"/>
                <a:ext cx="2463800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ja-JP" altLang="en-US" sz="28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lang="en-US" altLang="ja-JP" sz="2800" b="1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en-US" altLang="ja-JP" sz="2800" dirty="0" smtClean="0"/>
                  <a:t> = (1, 0, 1)</a:t>
                </a:r>
                <a:endParaRPr kumimoji="1" lang="ja-JP" altLang="en-US" sz="2800" dirty="0" smtClean="0"/>
              </a:p>
            </p:txBody>
          </p:sp>
        </mc:Choice>
        <mc:Fallback xmlns="">
          <p:sp>
            <p:nvSpPr>
              <p:cNvPr id="11" name="テキスト ボックス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9400" y="3708398"/>
                <a:ext cx="2463800" cy="523220"/>
              </a:xfrm>
              <a:prstGeom prst="rect">
                <a:avLst/>
              </a:prstGeom>
              <a:blipFill rotWithShape="0">
                <a:blip r:embed="rId3"/>
                <a:stretch>
                  <a:fillRect t="-11628" b="-31395"/>
                </a:stretch>
              </a:blipFill>
              <a:ln w="19050">
                <a:noFill/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テキスト ボックス 11"/>
          <p:cNvSpPr txBox="1"/>
          <p:nvPr/>
        </p:nvSpPr>
        <p:spPr>
          <a:xfrm>
            <a:off x="2609215" y="3731481"/>
            <a:ext cx="153670" cy="52322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 </a:t>
            </a:r>
            <a:endParaRPr kumimoji="1" lang="ja-JP" altLang="en-US" sz="2800" dirty="0" smtClean="0"/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2962243" y="3731481"/>
            <a:ext cx="204535" cy="52322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 </a:t>
            </a:r>
            <a:endParaRPr kumimoji="1" lang="ja-JP" altLang="en-US" sz="2800" dirty="0" smtClean="0"/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3340068" y="3731481"/>
            <a:ext cx="204535" cy="52322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 </a:t>
            </a:r>
            <a:endParaRPr kumimoji="1" lang="ja-JP" altLang="en-US" sz="2800" dirty="0" smtClean="0"/>
          </a:p>
        </p:txBody>
      </p:sp>
      <p:sp>
        <p:nvSpPr>
          <p:cNvPr id="2" name="正方形/長方形 1"/>
          <p:cNvSpPr/>
          <p:nvPr/>
        </p:nvSpPr>
        <p:spPr>
          <a:xfrm>
            <a:off x="5651500" y="3793386"/>
            <a:ext cx="215900" cy="1238102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4967271" y="5059516"/>
            <a:ext cx="1584357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1</a:t>
            </a:r>
            <a:r>
              <a:rPr kumimoji="1" lang="ja-JP" altLang="en-US" sz="2800" dirty="0" smtClean="0"/>
              <a:t>が存在</a:t>
            </a: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228600" y="5558571"/>
            <a:ext cx="5981700" cy="53161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en-US" altLang="ja-JP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2. rank vector </a:t>
            </a:r>
            <a:r>
              <a:rPr lang="en-US" altLang="ja-JP" sz="32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ja-JP" altLang="en-US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の</a:t>
            </a:r>
            <a:r>
              <a:rPr lang="ja-JP" altLang="en-US" sz="3200" dirty="0" smtClean="0">
                <a:solidFill>
                  <a:schemeClr val="bg2">
                    <a:lumMod val="60000"/>
                    <a:lumOff val="40000"/>
                  </a:schemeClr>
                </a:solidFill>
              </a:rPr>
              <a:t>構成</a:t>
            </a:r>
            <a:endParaRPr kumimoji="1" lang="ja-JP" altLang="en-US" sz="3200" dirty="0" smtClean="0"/>
          </a:p>
        </p:txBody>
      </p:sp>
      <p:grpSp>
        <p:nvGrpSpPr>
          <p:cNvPr id="21" name="グループ化 20"/>
          <p:cNvGrpSpPr/>
          <p:nvPr/>
        </p:nvGrpSpPr>
        <p:grpSpPr>
          <a:xfrm>
            <a:off x="4610100" y="3708398"/>
            <a:ext cx="2381250" cy="1384996"/>
            <a:chOff x="1511300" y="3962399"/>
            <a:chExt cx="2381250" cy="1384996"/>
          </a:xfrm>
        </p:grpSpPr>
        <p:sp>
          <p:nvSpPr>
            <p:cNvPr id="22" name="テキスト ボックス 21"/>
            <p:cNvSpPr txBox="1"/>
            <p:nvPr/>
          </p:nvSpPr>
          <p:spPr>
            <a:xfrm>
              <a:off x="1511300" y="3962400"/>
              <a:ext cx="2381250" cy="138499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kumimoji="1" lang="en-US" altLang="ja-JP" sz="2800" dirty="0" smtClean="0"/>
                <a:t> </a:t>
              </a:r>
              <a:r>
                <a:rPr kumimoji="1" lang="en-US" altLang="ja-JP" sz="2800" dirty="0" smtClean="0">
                  <a:cs typeface="Times New Roman" panose="02020603050405020304" pitchFamily="18" charset="0"/>
                </a:rPr>
                <a:t>=</a:t>
              </a:r>
              <a:r>
                <a:rPr kumimoji="1" lang="en-US" altLang="ja-JP" sz="2800" dirty="0" smtClean="0"/>
                <a:t> {</a:t>
              </a:r>
            </a:p>
            <a:p>
              <a:pPr algn="ctr"/>
              <a:endParaRPr lang="en-US" altLang="ja-JP" sz="2800" dirty="0"/>
            </a:p>
            <a:p>
              <a:pPr algn="r"/>
              <a:r>
                <a:rPr kumimoji="1" lang="en-US" altLang="ja-JP" sz="2800" dirty="0" smtClean="0"/>
                <a:t>}</a:t>
              </a:r>
              <a:endParaRPr kumimoji="1" lang="ja-JP" altLang="en-US" sz="2800" dirty="0" smtClean="0"/>
            </a:p>
          </p:txBody>
        </p:sp>
        <p:sp>
          <p:nvSpPr>
            <p:cNvPr id="23" name="テキスト ボックス 22"/>
            <p:cNvSpPr txBox="1"/>
            <p:nvPr/>
          </p:nvSpPr>
          <p:spPr>
            <a:xfrm>
              <a:off x="2349500" y="3962399"/>
              <a:ext cx="1543050" cy="138499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" dirty="0" smtClean="0"/>
                <a:t>(1, 0, 0), </a:t>
              </a:r>
            </a:p>
            <a:p>
              <a:r>
                <a:rPr kumimoji="1" lang="en-US" altLang="ja-JP" sz="2800" dirty="0" smtClean="0"/>
                <a:t>(0, 0, 0),</a:t>
              </a:r>
            </a:p>
            <a:p>
              <a:r>
                <a:rPr lang="en-US" altLang="ja-JP" sz="2800" dirty="0" smtClean="0"/>
                <a:t>(0, 0, 1)</a:t>
              </a:r>
              <a:endParaRPr kumimoji="1" lang="ja-JP" altLang="en-US" sz="2800" dirty="0" smtClean="0"/>
            </a:p>
          </p:txBody>
        </p:sp>
      </p:grpSp>
    </p:spTree>
    <p:extLst>
      <p:ext uri="{BB962C8B-B14F-4D97-AF65-F5344CB8AC3E}">
        <p14:creationId xmlns:p14="http://schemas.microsoft.com/office/powerpoint/2010/main" val="3375756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/>
          <p:cNvGrpSpPr/>
          <p:nvPr/>
        </p:nvGrpSpPr>
        <p:grpSpPr>
          <a:xfrm>
            <a:off x="4610100" y="3708398"/>
            <a:ext cx="2381250" cy="1384996"/>
            <a:chOff x="1511300" y="3962399"/>
            <a:chExt cx="2381250" cy="1384996"/>
          </a:xfrm>
        </p:grpSpPr>
        <p:sp>
          <p:nvSpPr>
            <p:cNvPr id="19" name="テキスト ボックス 18"/>
            <p:cNvSpPr txBox="1"/>
            <p:nvPr/>
          </p:nvSpPr>
          <p:spPr>
            <a:xfrm>
              <a:off x="2349500" y="3962399"/>
              <a:ext cx="1543050" cy="138499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" dirty="0" smtClean="0"/>
                <a:t>(1, 0, 0), </a:t>
              </a:r>
            </a:p>
            <a:p>
              <a:r>
                <a:rPr kumimoji="1" lang="en-US" altLang="ja-JP" sz="2800" dirty="0" smtClean="0"/>
                <a:t>(0, 0, 0),</a:t>
              </a:r>
            </a:p>
            <a:p>
              <a:r>
                <a:rPr lang="en-US" altLang="ja-JP" sz="2800" dirty="0" smtClean="0"/>
                <a:t>(0, 0, 1)</a:t>
              </a:r>
              <a:endParaRPr kumimoji="1" lang="ja-JP" altLang="en-US" sz="2800" dirty="0" smtClean="0"/>
            </a:p>
          </p:txBody>
        </p:sp>
        <p:sp>
          <p:nvSpPr>
            <p:cNvPr id="18" name="テキスト ボックス 17"/>
            <p:cNvSpPr txBox="1"/>
            <p:nvPr/>
          </p:nvSpPr>
          <p:spPr>
            <a:xfrm>
              <a:off x="1511300" y="3962400"/>
              <a:ext cx="2381250" cy="138499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kumimoji="1" lang="en-US" altLang="ja-JP" sz="2800" dirty="0" smtClean="0"/>
                <a:t> </a:t>
              </a:r>
              <a:r>
                <a:rPr kumimoji="1" lang="en-US" altLang="ja-JP" sz="2800" dirty="0" smtClean="0">
                  <a:cs typeface="Times New Roman" panose="02020603050405020304" pitchFamily="18" charset="0"/>
                </a:rPr>
                <a:t>=</a:t>
              </a:r>
              <a:r>
                <a:rPr kumimoji="1" lang="en-US" altLang="ja-JP" sz="2800" dirty="0" smtClean="0"/>
                <a:t> {</a:t>
              </a:r>
            </a:p>
            <a:p>
              <a:pPr algn="ctr"/>
              <a:endParaRPr lang="en-US" altLang="ja-JP" sz="2800" dirty="0"/>
            </a:p>
            <a:p>
              <a:pPr algn="r"/>
              <a:r>
                <a:rPr kumimoji="1" lang="en-US" altLang="ja-JP" sz="2800" dirty="0" smtClean="0"/>
                <a:t>}</a:t>
              </a:r>
              <a:endParaRPr kumimoji="1" lang="ja-JP" altLang="en-US" sz="2800" dirty="0" smtClean="0"/>
            </a:p>
          </p:txBody>
        </p:sp>
      </p:grpSp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提案手法</a:t>
            </a:r>
            <a:endParaRPr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コンテンツ プレースホルダー 5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ja-JP" altLang="en-US" dirty="0" smtClean="0"/>
                  <a:t>予測値の集約手法は，以下の</a:t>
                </a:r>
                <a:r>
                  <a:rPr lang="en-US" altLang="ja-JP" dirty="0" smtClean="0"/>
                  <a:t>2</a:t>
                </a:r>
                <a:r>
                  <a:rPr lang="ja-JP" altLang="en-US" dirty="0" smtClean="0"/>
                  <a:t>ステップから構成される．</a:t>
                </a:r>
                <a:endParaRPr lang="en-US" altLang="ja-JP" dirty="0" smtClean="0"/>
              </a:p>
              <a:p>
                <a:r>
                  <a:rPr kumimoji="1" lang="en-US" altLang="ja-JP" dirty="0" smtClean="0"/>
                  <a:t>1. aggregated prediction vector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kumimoji="1" lang="ja-JP" alt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kumimoji="1" lang="en-US" altLang="ja-JP" b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ja-JP" altLang="en-US" dirty="0" smtClean="0"/>
                  <a:t>の構成</a:t>
                </a:r>
                <a:endParaRPr kumimoji="1" lang="en-US" altLang="ja-JP" dirty="0" smtClean="0"/>
              </a:p>
              <a:p>
                <a:pPr marL="444500"/>
                <a:r>
                  <a:rPr lang="ja-JP" altLang="en-US" dirty="0" smtClean="0"/>
                  <a:t>例</a:t>
                </a:r>
                <a:r>
                  <a:rPr lang="en-US" altLang="ja-JP" dirty="0" smtClean="0"/>
                  <a:t>)</a:t>
                </a:r>
                <a:endParaRPr kumimoji="1" lang="en-US" altLang="ja-JP" dirty="0" smtClean="0">
                  <a:solidFill>
                    <a:schemeClr val="bg2">
                      <a:lumMod val="60000"/>
                      <a:lumOff val="40000"/>
                    </a:schemeClr>
                  </a:solidFill>
                </a:endParaRPr>
              </a:p>
              <a:p>
                <a:endParaRPr kumimoji="1" lang="ja-JP" altLang="en-US" dirty="0"/>
              </a:p>
            </p:txBody>
          </p:sp>
        </mc:Choice>
        <mc:Fallback xmlns="">
          <p:sp>
            <p:nvSpPr>
              <p:cNvPr id="6" name="コンテンツ プレースホルダー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825" t="-1882" r="-1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14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集約手法の改良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/>
              <p:cNvSpPr txBox="1"/>
              <p:nvPr/>
            </p:nvSpPr>
            <p:spPr>
              <a:xfrm>
                <a:off x="1549400" y="3708398"/>
                <a:ext cx="2463800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ja-JP" altLang="en-US" sz="28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lang="en-US" altLang="ja-JP" sz="2800" b="1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en-US" altLang="ja-JP" sz="2800" dirty="0" smtClean="0"/>
                  <a:t> = (1, 0, 1)</a:t>
                </a:r>
                <a:endParaRPr kumimoji="1" lang="ja-JP" altLang="en-US" sz="2800" dirty="0" smtClean="0"/>
              </a:p>
            </p:txBody>
          </p:sp>
        </mc:Choice>
        <mc:Fallback xmlns="">
          <p:sp>
            <p:nvSpPr>
              <p:cNvPr id="11" name="テキスト ボックス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9400" y="3708398"/>
                <a:ext cx="2463800" cy="523220"/>
              </a:xfrm>
              <a:prstGeom prst="rect">
                <a:avLst/>
              </a:prstGeom>
              <a:blipFill rotWithShape="0">
                <a:blip r:embed="rId3"/>
                <a:stretch>
                  <a:fillRect t="-11628" b="-31395"/>
                </a:stretch>
              </a:blipFill>
              <a:ln w="19050">
                <a:noFill/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テキスト ボックス 12"/>
          <p:cNvSpPr txBox="1"/>
          <p:nvPr/>
        </p:nvSpPr>
        <p:spPr>
          <a:xfrm>
            <a:off x="2974943" y="3731481"/>
            <a:ext cx="204535" cy="52322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 </a:t>
            </a:r>
            <a:endParaRPr kumimoji="1" lang="ja-JP" altLang="en-US" sz="2800" dirty="0" smtClean="0"/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3340068" y="3731481"/>
            <a:ext cx="204535" cy="52322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 </a:t>
            </a:r>
            <a:endParaRPr kumimoji="1" lang="ja-JP" altLang="en-US" sz="2800" dirty="0" smtClean="0"/>
          </a:p>
        </p:txBody>
      </p:sp>
      <p:sp>
        <p:nvSpPr>
          <p:cNvPr id="2" name="正方形/長方形 1"/>
          <p:cNvSpPr/>
          <p:nvPr/>
        </p:nvSpPr>
        <p:spPr>
          <a:xfrm>
            <a:off x="6044404" y="3793386"/>
            <a:ext cx="215900" cy="1238102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4952990" y="5059516"/>
            <a:ext cx="239872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1</a:t>
            </a:r>
            <a:r>
              <a:rPr kumimoji="1" lang="ja-JP" altLang="en-US" sz="2800" dirty="0" smtClean="0"/>
              <a:t>が存在しない</a:t>
            </a: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228600" y="5558571"/>
            <a:ext cx="5981700" cy="53161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en-US" altLang="ja-JP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2. rank vector </a:t>
            </a:r>
            <a:r>
              <a:rPr lang="en-US" altLang="ja-JP" sz="32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ja-JP" altLang="en-US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の</a:t>
            </a:r>
            <a:r>
              <a:rPr lang="ja-JP" altLang="en-US" sz="3200" dirty="0" smtClean="0">
                <a:solidFill>
                  <a:schemeClr val="bg2">
                    <a:lumMod val="60000"/>
                    <a:lumOff val="40000"/>
                  </a:schemeClr>
                </a:solidFill>
              </a:rPr>
              <a:t>構成</a:t>
            </a:r>
            <a:endParaRPr kumimoji="1" lang="ja-JP" altLang="en-US" sz="3200" dirty="0" smtClean="0"/>
          </a:p>
        </p:txBody>
      </p:sp>
    </p:spTree>
    <p:extLst>
      <p:ext uri="{BB962C8B-B14F-4D97-AF65-F5344CB8AC3E}">
        <p14:creationId xmlns:p14="http://schemas.microsoft.com/office/powerpoint/2010/main" val="2161906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/>
          <p:cNvGrpSpPr/>
          <p:nvPr/>
        </p:nvGrpSpPr>
        <p:grpSpPr>
          <a:xfrm>
            <a:off x="4610100" y="3708398"/>
            <a:ext cx="2381250" cy="1384996"/>
            <a:chOff x="1511300" y="3962399"/>
            <a:chExt cx="2381250" cy="1384996"/>
          </a:xfrm>
        </p:grpSpPr>
        <p:sp>
          <p:nvSpPr>
            <p:cNvPr id="19" name="テキスト ボックス 18"/>
            <p:cNvSpPr txBox="1"/>
            <p:nvPr/>
          </p:nvSpPr>
          <p:spPr>
            <a:xfrm>
              <a:off x="2349500" y="3962399"/>
              <a:ext cx="1543050" cy="138499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" dirty="0" smtClean="0"/>
                <a:t>(1, 0, 0), </a:t>
              </a:r>
            </a:p>
            <a:p>
              <a:r>
                <a:rPr kumimoji="1" lang="en-US" altLang="ja-JP" sz="2800" dirty="0" smtClean="0"/>
                <a:t>(0, 0, 0),</a:t>
              </a:r>
            </a:p>
            <a:p>
              <a:r>
                <a:rPr lang="en-US" altLang="ja-JP" sz="2800" dirty="0" smtClean="0"/>
                <a:t>(0, 0, 1)</a:t>
              </a:r>
              <a:endParaRPr kumimoji="1" lang="ja-JP" altLang="en-US" sz="2800" dirty="0" smtClean="0"/>
            </a:p>
          </p:txBody>
        </p:sp>
        <p:sp>
          <p:nvSpPr>
            <p:cNvPr id="18" name="テキスト ボックス 17"/>
            <p:cNvSpPr txBox="1"/>
            <p:nvPr/>
          </p:nvSpPr>
          <p:spPr>
            <a:xfrm>
              <a:off x="1511300" y="3962400"/>
              <a:ext cx="2381250" cy="138499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kumimoji="1" lang="en-US" altLang="ja-JP" sz="2800" dirty="0" smtClean="0"/>
                <a:t> </a:t>
              </a:r>
              <a:r>
                <a:rPr kumimoji="1" lang="en-US" altLang="ja-JP" sz="2800" dirty="0" smtClean="0">
                  <a:cs typeface="Times New Roman" panose="02020603050405020304" pitchFamily="18" charset="0"/>
                </a:rPr>
                <a:t>=</a:t>
              </a:r>
              <a:r>
                <a:rPr kumimoji="1" lang="en-US" altLang="ja-JP" sz="2800" dirty="0" smtClean="0"/>
                <a:t> {</a:t>
              </a:r>
            </a:p>
            <a:p>
              <a:pPr algn="ctr"/>
              <a:endParaRPr lang="en-US" altLang="ja-JP" sz="2800" dirty="0"/>
            </a:p>
            <a:p>
              <a:pPr algn="r"/>
              <a:r>
                <a:rPr kumimoji="1" lang="en-US" altLang="ja-JP" sz="2800" dirty="0" smtClean="0"/>
                <a:t>}</a:t>
              </a:r>
              <a:endParaRPr kumimoji="1" lang="ja-JP" altLang="en-US" sz="2800" dirty="0" smtClean="0"/>
            </a:p>
          </p:txBody>
        </p:sp>
      </p:grpSp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提案手法</a:t>
            </a:r>
            <a:endParaRPr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コンテンツ プレースホルダー 5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ja-JP" altLang="en-US" dirty="0" smtClean="0"/>
                  <a:t>予測値の集約手法は，以下の</a:t>
                </a:r>
                <a:r>
                  <a:rPr lang="en-US" altLang="ja-JP" dirty="0" smtClean="0"/>
                  <a:t>2</a:t>
                </a:r>
                <a:r>
                  <a:rPr lang="ja-JP" altLang="en-US" dirty="0" smtClean="0"/>
                  <a:t>ステップから構成される．</a:t>
                </a:r>
                <a:endParaRPr lang="en-US" altLang="ja-JP" dirty="0" smtClean="0"/>
              </a:p>
              <a:p>
                <a:r>
                  <a:rPr kumimoji="1" lang="en-US" altLang="ja-JP" dirty="0" smtClean="0"/>
                  <a:t>1. aggregated prediction vector</a:t>
                </a:r>
                <a:r>
                  <a:rPr lang="ja-JP" alt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kumimoji="1" lang="ja-JP" alt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kumimoji="1" lang="en-US" altLang="ja-JP" b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ja-JP" altLang="en-US" dirty="0" smtClean="0"/>
                  <a:t>の構成</a:t>
                </a:r>
                <a:endParaRPr kumimoji="1" lang="en-US" altLang="ja-JP" dirty="0" smtClean="0"/>
              </a:p>
              <a:p>
                <a:pPr marL="444500"/>
                <a:r>
                  <a:rPr lang="ja-JP" altLang="en-US" dirty="0" smtClean="0"/>
                  <a:t>例</a:t>
                </a:r>
                <a:r>
                  <a:rPr lang="en-US" altLang="ja-JP" dirty="0" smtClean="0"/>
                  <a:t>)</a:t>
                </a:r>
                <a:endParaRPr kumimoji="1" lang="en-US" altLang="ja-JP" dirty="0" smtClean="0">
                  <a:solidFill>
                    <a:schemeClr val="bg2">
                      <a:lumMod val="60000"/>
                      <a:lumOff val="40000"/>
                    </a:schemeClr>
                  </a:solidFill>
                </a:endParaRPr>
              </a:p>
              <a:p>
                <a:endParaRPr kumimoji="1" lang="ja-JP" altLang="en-US" dirty="0"/>
              </a:p>
            </p:txBody>
          </p:sp>
        </mc:Choice>
        <mc:Fallback xmlns="">
          <p:sp>
            <p:nvSpPr>
              <p:cNvPr id="6" name="コンテンツ プレースホルダー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825" t="-1882" r="-1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15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集約手法の改良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/>
              <p:cNvSpPr txBox="1"/>
              <p:nvPr/>
            </p:nvSpPr>
            <p:spPr>
              <a:xfrm>
                <a:off x="1549400" y="3708398"/>
                <a:ext cx="2463800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ja-JP" altLang="en-US" sz="28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lang="en-US" altLang="ja-JP" sz="2800" b="1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en-US" altLang="ja-JP" sz="2800" dirty="0" smtClean="0"/>
                  <a:t> = (1, 0, 1)</a:t>
                </a:r>
                <a:endParaRPr kumimoji="1" lang="ja-JP" altLang="en-US" sz="2800" dirty="0" smtClean="0"/>
              </a:p>
            </p:txBody>
          </p:sp>
        </mc:Choice>
        <mc:Fallback xmlns="">
          <p:sp>
            <p:nvSpPr>
              <p:cNvPr id="11" name="テキスト ボックス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9400" y="3708398"/>
                <a:ext cx="2463800" cy="523220"/>
              </a:xfrm>
              <a:prstGeom prst="rect">
                <a:avLst/>
              </a:prstGeom>
              <a:blipFill rotWithShape="0">
                <a:blip r:embed="rId3"/>
                <a:stretch>
                  <a:fillRect t="-11628" b="-31395"/>
                </a:stretch>
              </a:blipFill>
              <a:ln w="19050">
                <a:noFill/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テキスト ボックス 13"/>
          <p:cNvSpPr txBox="1"/>
          <p:nvPr/>
        </p:nvSpPr>
        <p:spPr>
          <a:xfrm>
            <a:off x="3340068" y="3731481"/>
            <a:ext cx="204535" cy="52322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 </a:t>
            </a:r>
            <a:endParaRPr kumimoji="1" lang="ja-JP" altLang="en-US" sz="2800" dirty="0" smtClean="0"/>
          </a:p>
        </p:txBody>
      </p:sp>
      <p:sp>
        <p:nvSpPr>
          <p:cNvPr id="2" name="正方形/長方形 1"/>
          <p:cNvSpPr/>
          <p:nvPr/>
        </p:nvSpPr>
        <p:spPr>
          <a:xfrm>
            <a:off x="6439695" y="3793386"/>
            <a:ext cx="215900" cy="1238102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5755466" y="5059516"/>
            <a:ext cx="1584357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1</a:t>
            </a:r>
            <a:r>
              <a:rPr kumimoji="1" lang="ja-JP" altLang="en-US" sz="2800" dirty="0" smtClean="0"/>
              <a:t>が存在</a:t>
            </a: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228600" y="5558571"/>
            <a:ext cx="5981700" cy="53161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en-US" altLang="ja-JP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2. rank vector </a:t>
            </a:r>
            <a:r>
              <a:rPr lang="en-US" altLang="ja-JP" sz="32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ja-JP" altLang="en-US" sz="3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の</a:t>
            </a:r>
            <a:r>
              <a:rPr lang="ja-JP" altLang="en-US" sz="3200" dirty="0" smtClean="0">
                <a:solidFill>
                  <a:schemeClr val="bg2">
                    <a:lumMod val="60000"/>
                    <a:lumOff val="40000"/>
                  </a:schemeClr>
                </a:solidFill>
              </a:rPr>
              <a:t>構成</a:t>
            </a:r>
            <a:endParaRPr kumimoji="1" lang="ja-JP" altLang="en-US" sz="3200" dirty="0" smtClean="0"/>
          </a:p>
        </p:txBody>
      </p:sp>
    </p:spTree>
    <p:extLst>
      <p:ext uri="{BB962C8B-B14F-4D97-AF65-F5344CB8AC3E}">
        <p14:creationId xmlns:p14="http://schemas.microsoft.com/office/powerpoint/2010/main" val="2996266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提案手法</a:t>
            </a:r>
            <a:endParaRPr lang="ja-JP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コンテンツ プレースホルダー 5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ja-JP" altLang="en-US" dirty="0" smtClean="0"/>
                  <a:t>予測値の集約手法は，以下の</a:t>
                </a:r>
                <a:r>
                  <a:rPr lang="en-US" altLang="ja-JP" dirty="0" smtClean="0"/>
                  <a:t>2</a:t>
                </a:r>
                <a:r>
                  <a:rPr lang="ja-JP" altLang="en-US" dirty="0" smtClean="0"/>
                  <a:t>ステップから構成される．</a:t>
                </a:r>
                <a:endParaRPr lang="en-US" altLang="ja-JP" dirty="0" smtClean="0"/>
              </a:p>
              <a:p>
                <a:r>
                  <a:rPr kumimoji="1" lang="en-US" altLang="ja-JP" dirty="0" smtClean="0">
                    <a:solidFill>
                      <a:schemeClr val="bg2">
                        <a:lumMod val="60000"/>
                        <a:lumOff val="40000"/>
                      </a:schemeClr>
                    </a:solidFill>
                  </a:rPr>
                  <a:t>1. aggregated prediction vector</a:t>
                </a:r>
                <a:r>
                  <a:rPr lang="ja-JP" altLang="en-US" dirty="0" smtClean="0">
                    <a:solidFill>
                      <a:schemeClr val="bg2">
                        <a:lumMod val="60000"/>
                        <a:lumOff val="4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kumimoji="1" lang="ja-JP" altLang="en-US" b="1" i="1" smtClean="0">
                            <a:solidFill>
                              <a:schemeClr val="bg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kumimoji="1" lang="en-US" altLang="ja-JP" b="1" smtClean="0">
                            <a:solidFill>
                              <a:schemeClr val="bg2">
                                <a:lumMod val="60000"/>
                                <a:lumOff val="40000"/>
                              </a:schemeClr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y</m:t>
                        </m:r>
                      </m:e>
                    </m:acc>
                  </m:oMath>
                </a14:m>
                <a:r>
                  <a:rPr kumimoji="1" lang="ja-JP" altLang="en-US" dirty="0" smtClean="0">
                    <a:solidFill>
                      <a:schemeClr val="bg2">
                        <a:lumMod val="60000"/>
                        <a:lumOff val="40000"/>
                      </a:schemeClr>
                    </a:solidFill>
                  </a:rPr>
                  <a:t>の構成</a:t>
                </a:r>
                <a:endParaRPr kumimoji="1" lang="en-US" altLang="ja-JP" dirty="0" smtClean="0">
                  <a:solidFill>
                    <a:schemeClr val="bg2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altLang="ja-JP" dirty="0" smtClean="0"/>
                  <a:t>2. rank vector </a:t>
                </a:r>
                <a:r>
                  <a:rPr lang="en-US" altLang="ja-JP" b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</a:t>
                </a:r>
                <a:r>
                  <a:rPr lang="ja-JP" altLang="en-US" dirty="0"/>
                  <a:t> </a:t>
                </a:r>
                <a:r>
                  <a:rPr lang="ja-JP" altLang="en-US" dirty="0" smtClean="0"/>
                  <a:t>の構成</a:t>
                </a:r>
                <a:endParaRPr lang="en-US" altLang="ja-JP" dirty="0" smtClean="0"/>
              </a:p>
              <a:p>
                <a:pPr marL="45085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f</m:t>
                      </m:r>
                      <m:r>
                        <m:rPr>
                          <m:nor/>
                        </m:rPr>
                        <a:rPr kumimoji="1" lang="en-US" altLang="ja-JP" b="0" i="1" baseline="-250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i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kumimoji="1" lang="en-US" altLang="ja-JP" b="0" i="0" smtClean="0"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l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0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0" baseline="-25000" smtClean="0">
                              <a:cs typeface="Times New Roman" panose="02020603050405020304" pitchFamily="18" charset="0"/>
                            </a:rPr>
                            <m:t>=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0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1, …,  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0" baseline="-25000" smtClean="0">
                              <a:cs typeface="Times New Roman" panose="02020603050405020304" pitchFamily="18" charset="0"/>
                            </a:rPr>
                            <m:t>|</m:t>
                          </m:r>
                          <m:r>
                            <m:rPr>
                              <m:lit/>
                              <m:nor/>
                              <m:brk m:alnAt="7"/>
                            </m:rPr>
                            <a:rPr kumimoji="1" lang="en-US" altLang="ja-JP" b="0" i="0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[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M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0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]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0" baseline="-25000" smtClean="0">
                              <a:cs typeface="Times New Roman" panose="02020603050405020304" pitchFamily="18" charset="0"/>
                            </a:rPr>
                            <m:t>|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0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y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0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brk m:alnAt="7"/>
                            </m:rPr>
                            <a:rPr lang="ja-JP" altLang="en-US" i="1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　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0" baseline="-25000" smtClean="0">
                              <a:cs typeface="Times New Roman" panose="02020603050405020304" pitchFamily="18" charset="0"/>
                            </a:rPr>
                            <m:t>=</m:t>
                          </m:r>
                          <m:r>
                            <m:rPr>
                              <m:nor/>
                              <m:brk m:alnAt="7"/>
                            </m:rPr>
                            <a:rPr kumimoji="1" lang="en-US" altLang="ja-JP" b="0" i="0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1</m:t>
                          </m:r>
                        </m:sub>
                        <m:sup/>
                        <m:e>
                          <m:r>
                            <m:rPr>
                              <m:nor/>
                            </m:rPr>
                            <a:rPr kumimoji="1" lang="en-US" altLang="ja-JP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f</m:t>
                          </m:r>
                          <m:r>
                            <m:rPr>
                              <m:nor/>
                            </m:rPr>
                            <a:rPr kumimoji="1" lang="en-US" altLang="ja-JP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l</m:t>
                          </m:r>
                          <m:r>
                            <m:rPr>
                              <m:nor/>
                            </m:rPr>
                            <a:rPr kumimoji="1" lang="en-US" altLang="ja-JP" b="0" i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ja-JP" i="0">
                              <a:cs typeface="Times New Roman" panose="02020603050405020304" pitchFamily="18" charset="0"/>
                            </a:rPr>
                            <m:t>×</m:t>
                          </m:r>
                          <m:r>
                            <m:rPr>
                              <m:nor/>
                            </m:rPr>
                            <a:rPr lang="en-US" altLang="ja-JP" b="0" i="0" smtClean="0"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num</m:t>
                          </m:r>
                          <m:r>
                            <m:rPr>
                              <m:nor/>
                            </m:rPr>
                            <a:rPr kumimoji="1" lang="en-US" altLang="ja-JP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l</m:t>
                          </m:r>
                        </m:e>
                      </m:nary>
                    </m:oMath>
                  </m:oMathPara>
                </a14:m>
                <a:endParaRPr kumimoji="1" lang="en-US" altLang="ja-JP" b="0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0850" algn="l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/>
                </a:r>
                <a:b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endParaRPr kumimoji="1" lang="ja-JP" altLang="en-US" dirty="0"/>
              </a:p>
            </p:txBody>
          </p:sp>
        </mc:Choice>
        <mc:Fallback>
          <p:sp>
            <p:nvSpPr>
              <p:cNvPr id="6" name="コンテンツ プレースホルダー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825" t="-1882" r="-1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16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集約手法の改良</a:t>
            </a:r>
            <a:endParaRPr kumimoji="1" lang="ja-JP" altLang="en-US" dirty="0"/>
          </a:p>
        </p:txBody>
      </p:sp>
      <p:sp>
        <p:nvSpPr>
          <p:cNvPr id="2" name="テキスト ボックス 1"/>
          <p:cNvSpPr txBox="1"/>
          <p:nvPr/>
        </p:nvSpPr>
        <p:spPr>
          <a:xfrm flipH="1">
            <a:off x="4491039" y="4730121"/>
            <a:ext cx="266700" cy="33855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kumimoji="1" lang="ja-JP" altLang="en-US" sz="1600" i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テキスト ボックス 7"/>
          <p:cNvSpPr txBox="1"/>
          <p:nvPr/>
        </p:nvSpPr>
        <p:spPr>
          <a:xfrm flipH="1">
            <a:off x="4491039" y="4502388"/>
            <a:ext cx="266700" cy="33855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endParaRPr kumimoji="1" lang="ja-JP" altLang="en-US" sz="1600" i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テキスト ボックス 2"/>
              <p:cNvSpPr txBox="1"/>
              <p:nvPr/>
            </p:nvSpPr>
            <p:spPr>
              <a:xfrm>
                <a:off x="147639" y="5068675"/>
                <a:ext cx="8686800" cy="156966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marL="450850" algn="just"/>
                <a14:m>
                  <m:oMath xmlns:m="http://schemas.openxmlformats.org/officeDocument/2006/math">
                    <m:r>
                      <m:rPr>
                        <m:lit/>
                        <m:nor/>
                        <m:brk m:alnAt="7"/>
                      </m:rPr>
                      <a:rPr lang="en-US" altLang="ja-JP" sz="32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[</m:t>
                    </m:r>
                    <m:r>
                      <m:rPr>
                        <m:nor/>
                        <m:brk m:alnAt="7"/>
                      </m:rPr>
                      <a:rPr lang="en-US" altLang="ja-JP" sz="3200" i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M</m:t>
                    </m:r>
                    <m:r>
                      <m:rPr>
                        <m:nor/>
                        <m:brk m:alnAt="7"/>
                      </m:rPr>
                      <a:rPr lang="en-US" altLang="ja-JP" sz="32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]</m:t>
                    </m:r>
                  </m:oMath>
                </a14:m>
                <a:r>
                  <a:rPr lang="ja-JP" altLang="en-US" sz="3200" dirty="0"/>
                  <a:t>内の</a:t>
                </a:r>
                <a:r>
                  <a:rPr lang="ja-JP" altLang="en-US" sz="3200" dirty="0" smtClean="0"/>
                  <a:t>個体かつ</a:t>
                </a:r>
                <a:r>
                  <a:rPr lang="en-US" altLang="ja-JP" sz="3200" i="1" dirty="0" err="1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en-US" altLang="ja-JP" sz="3200" i="1" baseline="-25000" dirty="0" err="1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ja-JP" altLang="en-US" sz="3200" dirty="0"/>
                  <a:t>が</a:t>
                </a:r>
                <a:r>
                  <a:rPr lang="en-US" altLang="ja-JP" sz="3200" dirty="0"/>
                  <a:t>1</a:t>
                </a:r>
                <a:r>
                  <a:rPr lang="ja-JP" altLang="en-US" sz="3200" dirty="0"/>
                  <a:t>である個体のみ</a:t>
                </a:r>
                <a:r>
                  <a:rPr lang="ja-JP" altLang="en-US" sz="3200" dirty="0" smtClean="0"/>
                  <a:t>で</a:t>
                </a:r>
                <a:r>
                  <a:rPr lang="en-US" altLang="ja-JP" sz="3200" dirty="0"/>
                  <a:t/>
                </a:r>
                <a:br>
                  <a:rPr lang="en-US" altLang="ja-JP" sz="3200" dirty="0"/>
                </a:br>
                <a:r>
                  <a:rPr lang="ja-JP" altLang="en-US" sz="3200" dirty="0"/>
                  <a:t>重み付き</a:t>
                </a:r>
                <a:r>
                  <a:rPr lang="ja-JP" altLang="en-US" sz="3200" dirty="0" smtClean="0"/>
                  <a:t>投票</a:t>
                </a:r>
                <a:endParaRPr lang="en-US" altLang="ja-JP" sz="3200" dirty="0" smtClean="0"/>
              </a:p>
              <a:p>
                <a:pPr marL="450850" algn="just"/>
                <a:r>
                  <a:rPr lang="en-US" altLang="ja-JP" sz="32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</a:t>
                </a:r>
                <a:r>
                  <a:rPr lang="en-US" altLang="ja-JP" sz="3200" i="1" baseline="-250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ja-JP" altLang="en-US" sz="3200" dirty="0" smtClean="0"/>
                  <a:t>が閾値</a:t>
                </a:r>
                <a:r>
                  <a:rPr lang="ja-JP" altLang="en-US" sz="3200" dirty="0"/>
                  <a:t>を超えた場合，予測値として</a:t>
                </a:r>
                <a:r>
                  <a:rPr lang="en-US" altLang="ja-JP" sz="3200" dirty="0"/>
                  <a:t>1</a:t>
                </a:r>
                <a:r>
                  <a:rPr lang="ja-JP" altLang="en-US" sz="3200" dirty="0"/>
                  <a:t>を出力</a:t>
                </a:r>
                <a:endParaRPr lang="ja-JP" altLang="en-US" sz="3200" dirty="0"/>
              </a:p>
            </p:txBody>
          </p:sp>
        </mc:Choice>
        <mc:Fallback>
          <p:sp>
            <p:nvSpPr>
              <p:cNvPr id="3" name="テキスト ボックス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639" y="5068675"/>
                <a:ext cx="8686800" cy="1569660"/>
              </a:xfrm>
              <a:prstGeom prst="rect">
                <a:avLst/>
              </a:prstGeom>
              <a:blipFill rotWithShape="0">
                <a:blip r:embed="rId3"/>
                <a:stretch>
                  <a:fillRect t="-6589" r="-1825" b="-11628"/>
                </a:stretch>
              </a:blipFill>
              <a:ln w="19050">
                <a:noFill/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9729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u="sng" dirty="0" smtClean="0"/>
              <a:t>比較手法</a:t>
            </a:r>
            <a:endParaRPr kumimoji="1" lang="en-US" altLang="ja-JP" u="sng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dirty="0" smtClean="0"/>
              <a:t>J48(BR</a:t>
            </a:r>
            <a:r>
              <a:rPr lang="ja-JP" altLang="en-US" dirty="0" err="1" smtClean="0"/>
              <a:t>，</a:t>
            </a:r>
            <a:r>
              <a:rPr lang="en-US" altLang="ja-JP" dirty="0" smtClean="0"/>
              <a:t>LP)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dirty="0" err="1" smtClean="0"/>
              <a:t>RA</a:t>
            </a:r>
            <a:r>
              <a:rPr kumimoji="1" lang="en-US" altLang="ja-JP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kumimoji="1" lang="en-US" altLang="ja-JP" dirty="0" err="1" smtClean="0"/>
              <a:t>EL</a:t>
            </a:r>
            <a:r>
              <a:rPr kumimoji="1" lang="en-US" altLang="ja-JP" baseline="-25000" dirty="0" err="1" smtClean="0"/>
              <a:t>d</a:t>
            </a:r>
            <a:r>
              <a:rPr lang="en-US" altLang="ja-JP" dirty="0" smtClean="0"/>
              <a:t>(disjoint)</a:t>
            </a:r>
            <a:r>
              <a:rPr kumimoji="1" lang="ja-JP" altLang="en-US" dirty="0" smtClean="0"/>
              <a:t>　</a:t>
            </a:r>
            <a:endParaRPr kumimoji="1" lang="en-US" altLang="ja-JP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dirty="0" err="1" smtClean="0"/>
              <a:t>RA</a:t>
            </a:r>
            <a:r>
              <a:rPr lang="en-US" altLang="ja-JP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ja-JP" dirty="0" err="1" smtClean="0"/>
              <a:t>EL</a:t>
            </a:r>
            <a:r>
              <a:rPr lang="en-US" altLang="ja-JP" baseline="-25000" dirty="0" err="1" smtClean="0"/>
              <a:t>o</a:t>
            </a:r>
            <a:r>
              <a:rPr lang="en-US" altLang="ja-JP" dirty="0" smtClean="0"/>
              <a:t>(overlapping)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kumimoji="1" lang="en-US" altLang="ja-JP" dirty="0"/>
          </a:p>
          <a:p>
            <a:r>
              <a:rPr lang="ja-JP" altLang="en-US" u="sng" dirty="0" smtClean="0"/>
              <a:t>共通実験設定</a:t>
            </a:r>
            <a:endParaRPr lang="en-US" altLang="ja-JP" u="sng" dirty="0" smtClean="0"/>
          </a:p>
          <a:p>
            <a:r>
              <a:rPr lang="ja-JP" altLang="en-US" sz="2800" dirty="0" smtClean="0"/>
              <a:t>全データの</a:t>
            </a:r>
            <a:r>
              <a:rPr lang="en-US" altLang="ja-JP" sz="2800" dirty="0" smtClean="0"/>
              <a:t>70%</a:t>
            </a:r>
            <a:r>
              <a:rPr lang="ja-JP" altLang="en-US" sz="2800" dirty="0" smtClean="0"/>
              <a:t>を学習用，残りをテストデータとして使用</a:t>
            </a:r>
            <a:endParaRPr lang="en-US" altLang="ja-JP" sz="2800" dirty="0" smtClean="0"/>
          </a:p>
          <a:p>
            <a:r>
              <a:rPr kumimoji="1" lang="ja-JP" altLang="en-US" sz="2800" dirty="0" smtClean="0"/>
              <a:t>実験結果は</a:t>
            </a:r>
            <a:r>
              <a:rPr kumimoji="1" lang="en-US" altLang="ja-JP" sz="2800" dirty="0" smtClean="0"/>
              <a:t>20</a:t>
            </a:r>
            <a:r>
              <a:rPr kumimoji="1" lang="ja-JP" altLang="en-US" sz="2800" dirty="0" smtClean="0"/>
              <a:t>回試行の平均を表記</a:t>
            </a:r>
            <a:endParaRPr lang="en-US" altLang="ja-JP" sz="2800" dirty="0"/>
          </a:p>
          <a:p>
            <a:r>
              <a:rPr kumimoji="1" lang="en-US" altLang="ja-JP" sz="2800" dirty="0" err="1" smtClean="0"/>
              <a:t>RA</a:t>
            </a:r>
            <a:r>
              <a:rPr kumimoji="1" lang="en-US" altLang="ja-JP" sz="2800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kumimoji="1" lang="en-US" altLang="ja-JP" sz="2800" dirty="0" err="1" smtClean="0"/>
              <a:t>EL</a:t>
            </a:r>
            <a:r>
              <a:rPr kumimoji="1" lang="ja-JP" altLang="en-US" sz="2800" dirty="0" smtClean="0"/>
              <a:t>の分割数</a:t>
            </a:r>
            <a:r>
              <a:rPr kumimoji="1"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kumimoji="1" lang="ja-JP" altLang="en-US" sz="2800" dirty="0" smtClean="0"/>
              <a:t>は</a:t>
            </a:r>
            <a:r>
              <a:rPr kumimoji="1" lang="en-US" altLang="ja-JP" sz="2800" dirty="0" smtClean="0"/>
              <a:t>3</a:t>
            </a:r>
            <a:r>
              <a:rPr kumimoji="1" lang="ja-JP" altLang="en-US" sz="2800" dirty="0" smtClean="0"/>
              <a:t>に設定</a:t>
            </a:r>
            <a:endParaRPr kumimoji="1" lang="en-US" altLang="ja-JP" sz="28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17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69955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u="sng" dirty="0" smtClean="0"/>
              <a:t>使用するデータセット</a:t>
            </a:r>
            <a:endParaRPr kumimoji="1" lang="ja-JP" altLang="en-US" u="sng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18</a:t>
            </a:fld>
            <a:endParaRPr kumimoji="1" lang="ja-JP" altLang="en-US" dirty="0"/>
          </a:p>
        </p:txBody>
      </p:sp>
      <p:graphicFrame>
        <p:nvGraphicFramePr>
          <p:cNvPr id="2" name="表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2160338"/>
              </p:ext>
            </p:extLst>
          </p:nvPr>
        </p:nvGraphicFramePr>
        <p:xfrm>
          <a:off x="36354" y="2225976"/>
          <a:ext cx="9071292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8605"/>
                <a:gridCol w="1319530"/>
                <a:gridCol w="1457642"/>
                <a:gridCol w="1441768"/>
                <a:gridCol w="1167130"/>
                <a:gridCol w="2146617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>
                          <a:solidFill>
                            <a:schemeClr val="tx1"/>
                          </a:solidFill>
                        </a:rPr>
                        <a:t>Dataset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>
                          <a:solidFill>
                            <a:schemeClr val="tx1"/>
                          </a:solidFill>
                        </a:rPr>
                        <a:t>Domain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200" b="0" dirty="0" smtClean="0">
                          <a:solidFill>
                            <a:schemeClr val="tx1"/>
                          </a:solidFill>
                        </a:rPr>
                        <a:t>Instances</a:t>
                      </a:r>
                      <a:endParaRPr kumimoji="1" lang="ja-JP" altLang="en-US" sz="2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200" b="0" dirty="0" smtClean="0">
                          <a:solidFill>
                            <a:schemeClr val="tx1"/>
                          </a:solidFill>
                        </a:rPr>
                        <a:t>Attributes</a:t>
                      </a:r>
                      <a:endParaRPr kumimoji="1" lang="ja-JP" altLang="en-US" sz="2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>
                          <a:solidFill>
                            <a:schemeClr val="tx1"/>
                          </a:solidFill>
                        </a:rPr>
                        <a:t>Labels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Label Cardinality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 smtClean="0">
                          <a:solidFill>
                            <a:schemeClr val="tx1"/>
                          </a:solidFill>
                        </a:rPr>
                        <a:t>Emotions</a:t>
                      </a:r>
                      <a:endParaRPr kumimoji="1" lang="ja-JP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 smtClean="0">
                          <a:solidFill>
                            <a:schemeClr val="tx1"/>
                          </a:solidFill>
                        </a:rPr>
                        <a:t>Music</a:t>
                      </a:r>
                      <a:endParaRPr kumimoji="1" lang="ja-JP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593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72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6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1.87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 smtClean="0">
                          <a:solidFill>
                            <a:schemeClr val="tx1"/>
                          </a:solidFill>
                        </a:rPr>
                        <a:t>Yeast</a:t>
                      </a:r>
                      <a:endParaRPr kumimoji="1" lang="ja-JP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 smtClean="0">
                          <a:solidFill>
                            <a:schemeClr val="tx1"/>
                          </a:solidFill>
                        </a:rPr>
                        <a:t>Biology</a:t>
                      </a:r>
                      <a:endParaRPr kumimoji="1" lang="ja-JP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2,417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103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14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4.24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 smtClean="0">
                          <a:solidFill>
                            <a:schemeClr val="tx1"/>
                          </a:solidFill>
                        </a:rPr>
                        <a:t>CAL500</a:t>
                      </a:r>
                      <a:endParaRPr kumimoji="1" lang="ja-JP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 smtClean="0">
                          <a:solidFill>
                            <a:schemeClr val="tx1"/>
                          </a:solidFill>
                        </a:rPr>
                        <a:t>Music</a:t>
                      </a:r>
                      <a:endParaRPr kumimoji="1" lang="ja-JP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502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68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174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dirty="0" smtClean="0">
                          <a:solidFill>
                            <a:schemeClr val="tx1"/>
                          </a:solidFill>
                        </a:rPr>
                        <a:t>26.044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9701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数値</a:t>
            </a:r>
            <a:r>
              <a:rPr lang="ja-JP" altLang="en-US" dirty="0"/>
              <a:t>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u="sng" dirty="0" smtClean="0"/>
              <a:t>パラメータ設定</a:t>
            </a:r>
            <a:endParaRPr kumimoji="1" lang="ja-JP" altLang="en-US" u="sng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19</a:t>
            </a:fld>
            <a:endParaRPr kumimoji="1" lang="ja-JP" altLang="en-US" dirty="0"/>
          </a:p>
        </p:txBody>
      </p:sp>
      <p:graphicFrame>
        <p:nvGraphicFramePr>
          <p:cNvPr id="5" name="表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7567069"/>
              </p:ext>
            </p:extLst>
          </p:nvPr>
        </p:nvGraphicFramePr>
        <p:xfrm>
          <a:off x="282417" y="2224800"/>
          <a:ext cx="8579167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8290"/>
                <a:gridCol w="1538605"/>
                <a:gridCol w="1570355"/>
                <a:gridCol w="1371917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Parameter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Value par data sets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>
                          <a:solidFill>
                            <a:schemeClr val="tx1"/>
                          </a:solidFill>
                        </a:rPr>
                        <a:t>Emotions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>
                          <a:solidFill>
                            <a:schemeClr val="tx1"/>
                          </a:solidFill>
                        </a:rPr>
                        <a:t>Yeast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>
                          <a:solidFill>
                            <a:schemeClr val="tx1"/>
                          </a:solidFill>
                        </a:rPr>
                        <a:t>CAL500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>
                          <a:solidFill>
                            <a:schemeClr val="tx1"/>
                          </a:solidFill>
                        </a:rPr>
                        <a:t>Maximum</a:t>
                      </a:r>
                      <a:r>
                        <a:rPr kumimoji="1" lang="en-US" altLang="ja-JP" sz="2400" b="0" baseline="0" dirty="0" smtClean="0">
                          <a:solidFill>
                            <a:schemeClr val="tx1"/>
                          </a:solidFill>
                        </a:rPr>
                        <a:t> Population Size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15,000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10,000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12,000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b="0" dirty="0" smtClean="0">
                          <a:solidFill>
                            <a:schemeClr val="tx1"/>
                          </a:solidFill>
                        </a:rPr>
                        <a:t>Maximum Training</a:t>
                      </a:r>
                      <a:r>
                        <a:rPr kumimoji="1" lang="en-US" altLang="ja-JP" sz="2400" b="0" baseline="0" dirty="0" smtClean="0">
                          <a:solidFill>
                            <a:schemeClr val="tx1"/>
                          </a:solidFill>
                        </a:rPr>
                        <a:t> Iterations</a:t>
                      </a:r>
                      <a:endParaRPr kumimoji="1" lang="ja-JP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50,000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100,000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70,000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i="1" dirty="0" smtClean="0">
                          <a:solidFill>
                            <a:schemeClr val="tx1"/>
                          </a:solidFill>
                          <a:latin typeface="Symbol" panose="05050102010706020507" pitchFamily="18" charset="2"/>
                        </a:rPr>
                        <a:t>n</a:t>
                      </a:r>
                      <a:endParaRPr kumimoji="1" lang="ja-JP" altLang="en-US" sz="2800" b="0" i="1" dirty="0">
                        <a:solidFill>
                          <a:schemeClr val="tx1"/>
                        </a:solidFill>
                        <a:latin typeface="Symbol" panose="05050102010706020507" pitchFamily="18" charset="2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</a:t>
                      </a:r>
                      <a:r>
                        <a:rPr kumimoji="1" lang="en-US" altLang="ja-JP" sz="2800" b="0" i="1" baseline="-25000" dirty="0" smtClean="0">
                          <a:solidFill>
                            <a:schemeClr val="tx1"/>
                          </a:solidFill>
                          <a:latin typeface="Symbol" panose="05050102010706020507" pitchFamily="18" charset="2"/>
                        </a:rPr>
                        <a:t>m</a:t>
                      </a:r>
                      <a:endParaRPr kumimoji="1" lang="ja-JP" altLang="en-US" sz="2800" b="0" i="1" baseline="-25000" dirty="0">
                        <a:solidFill>
                          <a:schemeClr val="tx1"/>
                        </a:solidFill>
                        <a:latin typeface="Symbol" panose="05050102010706020507" pitchFamily="18" charset="2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0.04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i="1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</a:t>
                      </a:r>
                      <a:r>
                        <a:rPr kumimoji="1" lang="en-US" altLang="ja-JP" sz="2800" b="0" i="1" baseline="-25000" dirty="0" smtClean="0">
                          <a:solidFill>
                            <a:schemeClr val="tx1"/>
                          </a:solidFill>
                          <a:latin typeface="Symbol" panose="05050102010706020507" pitchFamily="18" charset="2"/>
                        </a:rPr>
                        <a:t>c</a:t>
                      </a:r>
                      <a:endParaRPr kumimoji="1" lang="ja-JP" altLang="en-US" sz="2800" b="0" i="1" baseline="-25000" dirty="0">
                        <a:solidFill>
                          <a:schemeClr val="tx1"/>
                        </a:solidFill>
                        <a:latin typeface="Symbol" panose="05050102010706020507" pitchFamily="18" charset="2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0.8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i="1" dirty="0" smtClean="0">
                          <a:solidFill>
                            <a:schemeClr val="tx1"/>
                          </a:solidFill>
                          <a:latin typeface="Symbol" panose="05050102010706020507" pitchFamily="18" charset="2"/>
                        </a:rPr>
                        <a:t>d</a:t>
                      </a:r>
                      <a:endParaRPr kumimoji="1" lang="ja-JP" altLang="en-US" sz="2800" b="0" i="1" dirty="0">
                        <a:solidFill>
                          <a:schemeClr val="tx1"/>
                        </a:solidFill>
                        <a:latin typeface="Symbol" panose="05050102010706020507" pitchFamily="18" charset="2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0.7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5352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</a:t>
            </a:r>
            <a:endParaRPr kumimoji="1" lang="ja-JP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コンテンツ プレースホルダー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algn="l"/>
                <a:r>
                  <a:rPr lang="ja-JP" altLang="en-US" dirty="0" smtClean="0"/>
                  <a:t>評価</a:t>
                </a:r>
                <a:r>
                  <a:rPr lang="ja-JP" altLang="en-US" dirty="0"/>
                  <a:t>指標</a:t>
                </a:r>
                <a:r>
                  <a:rPr lang="ja-JP" altLang="en-US" dirty="0" smtClean="0"/>
                  <a:t>として，次の</a:t>
                </a:r>
                <a:r>
                  <a:rPr lang="en-US" altLang="ja-JP" dirty="0" smtClean="0"/>
                  <a:t>5</a:t>
                </a:r>
                <a:r>
                  <a:rPr lang="ja-JP" altLang="en-US" dirty="0" err="1" smtClean="0"/>
                  <a:t>つの</a:t>
                </a:r>
                <a:r>
                  <a:rPr lang="ja-JP" altLang="en-US" dirty="0" smtClean="0"/>
                  <a:t>指標を</a:t>
                </a:r>
                <a:r>
                  <a:rPr lang="ja-JP" altLang="en-US" dirty="0"/>
                  <a:t>使用</a:t>
                </a:r>
                <a:endParaRPr kumimoji="1" lang="en-US" altLang="ja-JP" dirty="0" smtClean="0"/>
              </a:p>
              <a:p>
                <a:pPr marL="514350" indent="-514350" algn="l">
                  <a:buFont typeface="+mj-lt"/>
                  <a:buAutoNum type="arabicPeriod"/>
                </a:pPr>
                <a:r>
                  <a:rPr kumimoji="1" lang="en-US" altLang="ja-JP" dirty="0" smtClean="0"/>
                  <a:t>Hamming Loss (</a:t>
                </a:r>
                <a:r>
                  <a:rPr kumimoji="1" lang="en-US" altLang="ja-JP" dirty="0" smtClean="0">
                    <a:solidFill>
                      <a:schemeClr val="accent2"/>
                    </a:solidFill>
                  </a:rPr>
                  <a:t>minimize</a:t>
                </a:r>
                <a:r>
                  <a:rPr kumimoji="1" lang="en-US" altLang="ja-JP" dirty="0" smtClean="0"/>
                  <a:t>)</a:t>
                </a:r>
                <a:br>
                  <a:rPr kumimoji="1" lang="en-US" altLang="ja-JP" dirty="0" smtClean="0"/>
                </a:b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kumimoji="1" lang="en-US" altLang="ja-JP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nor/>
                          </m:rPr>
                          <a:rPr kumimoji="1" lang="en-US" altLang="ja-JP" b="0" i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den>
                    </m:f>
                    <m:r>
                      <m:rPr>
                        <m:nor/>
                      </m:rPr>
                      <a:rPr kumimoji="1" lang="en-US" altLang="ja-JP" b="0" i="0" smtClean="0">
                        <a:latin typeface="+mn-ea"/>
                        <a:cs typeface="Times New Roman" panose="020206030504050203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en-US" altLang="ja-JP" b="0" i="1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m:rPr>
                        <m:nor/>
                      </m:rPr>
                      <a:rPr kumimoji="1" lang="en-US" altLang="ja-JP" i="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nor/>
                      </m:rPr>
                      <a:rPr kumimoji="1" lang="en-US" altLang="ja-JP" b="1" i="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x</m:t>
                    </m:r>
                    <m:r>
                      <m:rPr>
                        <m:nor/>
                      </m:rPr>
                      <a:rPr kumimoji="1" lang="en-US" altLang="ja-JP" i="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)</m:t>
                    </m:r>
                    <m:r>
                      <m:rPr>
                        <m:nor/>
                      </m:rPr>
                      <a:rPr kumimoji="1" lang="en-US" altLang="ja-JP" b="0" i="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kumimoji="1" lang="en-US" altLang="ja-JP" b="0" i="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Δ</m:t>
                    </m:r>
                    <m:r>
                      <m:rPr>
                        <m:nor/>
                      </m:rPr>
                      <a:rPr kumimoji="1" lang="en-US" altLang="ja-JP" b="0" i="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nor/>
                      </m:rPr>
                      <a:rPr kumimoji="1" lang="en-US" altLang="ja-JP" b="0" i="1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L</m:t>
                    </m:r>
                    <m:r>
                      <m:rPr>
                        <m:nor/>
                      </m:rPr>
                      <a:rPr kumimoji="1" lang="en-US" altLang="ja-JP" b="0" i="0" smtClean="0">
                        <a:latin typeface="+mn-ea"/>
                        <a:cs typeface="Times New Roman" panose="02020603050405020304" pitchFamily="18" charset="0"/>
                      </a:rPr>
                      <m:t>|</m:t>
                    </m:r>
                  </m:oMath>
                </a14:m>
                <a:endParaRPr kumimoji="1" lang="en-US" altLang="ja-JP" dirty="0" smtClean="0">
                  <a:latin typeface="+mn-ea"/>
                  <a:cs typeface="Times New Roman" panose="02020603050405020304" pitchFamily="18" charset="0"/>
                </a:endParaRPr>
              </a:p>
              <a:p>
                <a:pPr marL="514350" indent="-514350" algn="l">
                  <a:buFont typeface="+mj-lt"/>
                  <a:buAutoNum type="arabicPeriod"/>
                </a:pPr>
                <a:r>
                  <a:rPr lang="en-US" altLang="ja-JP" dirty="0" smtClean="0"/>
                  <a:t>Recall (</a:t>
                </a:r>
                <a:r>
                  <a:rPr lang="en-US" altLang="ja-JP" dirty="0" smtClean="0">
                    <a:solidFill>
                      <a:schemeClr val="accent1"/>
                    </a:solidFill>
                  </a:rPr>
                  <a:t>maximize</a:t>
                </a:r>
                <a:r>
                  <a:rPr lang="en-US" altLang="ja-JP" dirty="0" smtClean="0"/>
                  <a:t>)</a:t>
                </a:r>
                <a:br>
                  <a:rPr lang="en-US" altLang="ja-JP" dirty="0" smtClean="0"/>
                </a:br>
                <a14:m>
                  <m:oMath xmlns:m="http://schemas.openxmlformats.org/officeDocument/2006/math">
                    <m:f>
                      <m:fPr>
                        <m:ctrlPr>
                          <a:rPr lang="en-US" altLang="ja-JP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altLang="ja-JP" b="0" i="0" smtClean="0"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m:rPr>
                            <m:nor/>
                          </m:rPr>
                          <a:rPr lang="en-US" altLang="ja-JP" b="0" i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  <m:r>
                          <m:rPr>
                            <m:nor/>
                          </m:rPr>
                          <a:rPr lang="en-US" altLang="ja-JP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altLang="ja-JP" b="1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en-US" altLang="ja-JP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altLang="ja-JP" b="1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ja-JP" i="0" smtClean="0">
                            <a:cs typeface="Times New Roman" panose="02020603050405020304" pitchFamily="18" charset="0"/>
                          </a:rPr>
                          <m:t>∩</m:t>
                        </m:r>
                        <m:r>
                          <m:rPr>
                            <m:nor/>
                          </m:rPr>
                          <a:rPr lang="en-US" altLang="ja-JP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ja-JP" b="0" i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lang="en-US" altLang="ja-JP" i="0" smtClean="0">
                            <a:cs typeface="Times New Roman" panose="02020603050405020304" pitchFamily="18" charset="0"/>
                          </a:rPr>
                          <m:t>|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altLang="ja-JP" b="0" i="0" smtClean="0"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m:rPr>
                            <m:nor/>
                          </m:rPr>
                          <a:rPr lang="en-US" altLang="ja-JP" b="0" i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lang="en-US" altLang="ja-JP" b="0" i="0" smtClean="0">
                            <a:cs typeface="Times New Roman" panose="02020603050405020304" pitchFamily="18" charset="0"/>
                          </a:rPr>
                          <m:t>|</m:t>
                        </m:r>
                      </m:den>
                    </m:f>
                  </m:oMath>
                </a14:m>
                <a:endParaRPr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l"/>
                <a:endParaRPr lang="en-US" altLang="ja-JP" dirty="0"/>
              </a:p>
              <a:p>
                <a:pPr marL="514350" indent="-514350" algn="l">
                  <a:buFont typeface="+mj-lt"/>
                  <a:buAutoNum type="arabicPeriod"/>
                </a:pPr>
                <a:endParaRPr kumimoji="1" lang="ja-JP" altLang="en-US" dirty="0"/>
              </a:p>
            </p:txBody>
          </p:sp>
        </mc:Choice>
        <mc:Fallback>
          <p:sp>
            <p:nvSpPr>
              <p:cNvPr id="3" name="コンテンツ プレースホルダー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825" t="-188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20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Evaluation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Metrics</a:t>
            </a:r>
            <a:endParaRPr kumimoji="1" lang="ja-JP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テキスト ボックス 7"/>
              <p:cNvSpPr txBox="1"/>
              <p:nvPr/>
            </p:nvSpPr>
            <p:spPr>
              <a:xfrm>
                <a:off x="4223657" y="5345732"/>
                <a:ext cx="4691743" cy="138499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ja-JP" sz="2800" i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altLang="ja-JP" sz="2800" b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x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ja-JP" altLang="en-US" sz="2800" dirty="0"/>
                  <a:t>：識別器による予測ラベル</a:t>
                </a:r>
                <a:endParaRPr lang="en-US" altLang="ja-JP" sz="2800" dirty="0"/>
              </a:p>
              <a:p>
                <a:r>
                  <a:rPr lang="en-US" altLang="ja-JP" sz="28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r>
                  <a:rPr lang="ja-JP" altLang="en-US" sz="2800" dirty="0"/>
                  <a:t>：教師</a:t>
                </a:r>
                <a:r>
                  <a:rPr lang="ja-JP" altLang="en-US" sz="2800" dirty="0" smtClean="0"/>
                  <a:t>ラベル</a:t>
                </a:r>
                <a:endParaRPr lang="en-US" altLang="ja-JP" sz="2800" dirty="0" smtClean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ja-JP" sz="2800" i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f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altLang="ja-JP" sz="2800" b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x</m:t>
                    </m:r>
                    <m:r>
                      <m:rPr>
                        <m:nor/>
                      </m:rPr>
                      <a:rPr lang="en-US" altLang="ja-JP" sz="2800" i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m:rPr>
                        <m:nor/>
                      </m:rPr>
                      <a:rPr lang="en-US" altLang="ja-JP" sz="2800" i="1">
                        <a:latin typeface="Symbol" panose="05050102010706020507" pitchFamily="18" charset="2"/>
                        <a:cs typeface="Times New Roman" panose="02020603050405020304" pitchFamily="18" charset="0"/>
                      </a:rPr>
                      <m:t>l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) </m:t>
                    </m:r>
                  </m:oMath>
                </a14:m>
                <a:r>
                  <a:rPr lang="ja-JP" altLang="en-US" sz="2800" dirty="0" smtClean="0"/>
                  <a:t>：</a:t>
                </a:r>
                <a:r>
                  <a:rPr lang="en-US" altLang="ja-JP" sz="2800" dirty="0" smtClean="0"/>
                  <a:t>class</a:t>
                </a:r>
                <a:r>
                  <a:rPr lang="en-US" altLang="ja-JP" sz="280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ja-JP" sz="2800" i="1">
                        <a:latin typeface="Symbol" panose="05050102010706020507" pitchFamily="18" charset="2"/>
                        <a:cs typeface="Times New Roman" panose="02020603050405020304" pitchFamily="18" charset="0"/>
                      </a:rPr>
                      <m:t>l</m:t>
                    </m:r>
                  </m:oMath>
                </a14:m>
                <a:r>
                  <a:rPr lang="ja-JP" altLang="en-US" sz="2800" dirty="0" smtClean="0"/>
                  <a:t>のランク値</a:t>
                </a:r>
                <a:endParaRPr lang="ja-JP" altLang="en-US" sz="2800" dirty="0"/>
              </a:p>
            </p:txBody>
          </p:sp>
        </mc:Choice>
        <mc:Fallback>
          <p:sp>
            <p:nvSpPr>
              <p:cNvPr id="8" name="テキスト ボックス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3657" y="5345732"/>
                <a:ext cx="4691743" cy="1384995"/>
              </a:xfrm>
              <a:prstGeom prst="rect">
                <a:avLst/>
              </a:prstGeom>
              <a:blipFill rotWithShape="0">
                <a:blip r:embed="rId3"/>
                <a:stretch>
                  <a:fillRect l="-2587" t="-5652" r="-1164" b="-10435"/>
                </a:stretch>
              </a:blipFill>
              <a:ln w="19050"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12696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</a:t>
            </a:r>
            <a:endParaRPr kumimoji="1" lang="ja-JP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コンテンツ プレースホルダー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514350" indent="-514350" algn="l">
                  <a:buFont typeface="+mj-lt"/>
                  <a:buAutoNum type="arabicPeriod" startAt="3"/>
                </a:pPr>
                <a:r>
                  <a:rPr kumimoji="1" lang="en-US" altLang="ja-JP" dirty="0" smtClean="0"/>
                  <a:t>Accuracy (</a:t>
                </a:r>
                <a:r>
                  <a:rPr kumimoji="1" lang="en-US" altLang="ja-JP" dirty="0" smtClean="0">
                    <a:solidFill>
                      <a:schemeClr val="accent1"/>
                    </a:solidFill>
                  </a:rPr>
                  <a:t>maximize</a:t>
                </a:r>
                <a:r>
                  <a:rPr kumimoji="1" lang="en-US" altLang="ja-JP" dirty="0" smtClean="0"/>
                  <a:t>)</a:t>
                </a:r>
                <a:br>
                  <a:rPr kumimoji="1" lang="en-US" altLang="ja-JP" dirty="0" smtClean="0"/>
                </a:br>
                <a14:m>
                  <m:oMath xmlns:m="http://schemas.openxmlformats.org/officeDocument/2006/math">
                    <m:f>
                      <m:fPr>
                        <m:ctrlPr>
                          <a:rPr lang="en-US" altLang="ja-JP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altLang="ja-JP"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m:rPr>
                            <m:nor/>
                          </m:rPr>
                          <a:rPr lang="en-US" altLang="ja-JP" i="1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  <m:r>
                          <m:rPr>
                            <m:nor/>
                          </m:rPr>
                          <a:rPr lang="en-US" altLang="ja-JP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altLang="ja-JP" b="1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en-US" altLang="ja-JP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altLang="ja-JP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ja-JP">
                            <a:cs typeface="Times New Roman" panose="02020603050405020304" pitchFamily="18" charset="0"/>
                          </a:rPr>
                          <m:t>∩</m:t>
                        </m:r>
                        <m:r>
                          <m:rPr>
                            <m:nor/>
                          </m:rPr>
                          <a:rPr lang="en-US" altLang="ja-JP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ja-JP" i="1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lang="en-US" altLang="ja-JP">
                            <a:cs typeface="Times New Roman" panose="02020603050405020304" pitchFamily="18" charset="0"/>
                          </a:rPr>
                          <m:t>|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altLang="ja-JP"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m:rPr>
                            <m:nor/>
                          </m:rPr>
                          <a:rPr lang="en-US" altLang="ja-JP" b="0" i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  <m:r>
                          <m:rPr>
                            <m:nor/>
                          </m:rPr>
                          <a:rPr lang="en-US" altLang="ja-JP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altLang="ja-JP" b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en-US" altLang="ja-JP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altLang="ja-JP" b="0" i="0" smtClean="0">
                            <a:cs typeface="Times New Roman" panose="02020603050405020304" pitchFamily="18" charset="0"/>
                          </a:rPr>
                          <m:t>∪</m:t>
                        </m:r>
                        <m:r>
                          <m:rPr>
                            <m:nor/>
                          </m:rPr>
                          <a:rPr lang="en-US" altLang="ja-JP" i="1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lang="en-US" altLang="ja-JP">
                            <a:cs typeface="Times New Roman" panose="02020603050405020304" pitchFamily="18" charset="0"/>
                          </a:rPr>
                          <m:t>|</m:t>
                        </m:r>
                      </m:den>
                    </m:f>
                  </m:oMath>
                </a14:m>
                <a:endParaRPr kumimoji="1" lang="en-US" altLang="ja-JP" dirty="0" smtClean="0"/>
              </a:p>
              <a:p>
                <a:pPr marL="514350" indent="-514350" algn="l">
                  <a:buFont typeface="+mj-lt"/>
                  <a:buAutoNum type="arabicPeriod" startAt="3"/>
                </a:pPr>
                <a:r>
                  <a:rPr lang="en-US" altLang="ja-JP" dirty="0" smtClean="0"/>
                  <a:t>One Error (</a:t>
                </a:r>
                <a:r>
                  <a:rPr lang="en-US" altLang="ja-JP" dirty="0" smtClean="0">
                    <a:solidFill>
                      <a:schemeClr val="accent2"/>
                    </a:solidFill>
                  </a:rPr>
                  <a:t>minimize</a:t>
                </a:r>
                <a:r>
                  <a:rPr lang="en-US" altLang="ja-JP" dirty="0" smtClean="0"/>
                  <a:t>)</a:t>
                </a:r>
                <a:br>
                  <a:rPr lang="en-US" altLang="ja-JP" dirty="0" smtClean="0"/>
                </a:b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n-US" altLang="ja-JP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m:rPr>
                                <m:nor/>
                              </m:rPr>
                              <a:rPr lang="en-US" altLang="ja-JP" b="0" i="0" smtClean="0">
                                <a:latin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m:rPr>
                                <m:nor/>
                              </m:rPr>
                              <a:rPr lang="en-US" altLang="ja-JP" b="0" i="0" smtClean="0">
                                <a:latin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</m:e>
                        </m:eqArr>
                      </m:e>
                    </m:d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                       </m:t>
                    </m:r>
                  </m:oMath>
                </a14:m>
                <a:endParaRPr kumimoji="1" lang="en-US" altLang="ja-JP" dirty="0" smtClean="0"/>
              </a:p>
              <a:p>
                <a:pPr marL="514350" indent="-514350" algn="l">
                  <a:buFont typeface="+mj-lt"/>
                  <a:buAutoNum type="arabicPeriod" startAt="3"/>
                </a:pPr>
                <a:endParaRPr lang="en-US" altLang="ja-JP" dirty="0"/>
              </a:p>
              <a:p>
                <a:pPr marL="514350" indent="-514350" algn="l">
                  <a:buFont typeface="+mj-lt"/>
                  <a:buAutoNum type="arabicPeriod" startAt="3"/>
                </a:pPr>
                <a:endParaRPr kumimoji="1" lang="ja-JP" altLang="en-US" dirty="0"/>
              </a:p>
            </p:txBody>
          </p:sp>
        </mc:Choice>
        <mc:Fallback>
          <p:sp>
            <p:nvSpPr>
              <p:cNvPr id="3" name="コンテンツ プレースホルダー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614" t="-152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21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Evaluation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Metrics</a:t>
            </a:r>
            <a:endParaRPr kumimoji="1" lang="ja-JP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/>
              <p:cNvSpPr txBox="1"/>
              <p:nvPr/>
            </p:nvSpPr>
            <p:spPr>
              <a:xfrm>
                <a:off x="4223657" y="5345732"/>
                <a:ext cx="4691743" cy="138499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ja-JP" sz="2800" i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altLang="ja-JP" sz="2800" b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x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ja-JP" altLang="en-US" sz="2800" dirty="0"/>
                  <a:t>：識別器による予測ラベル</a:t>
                </a:r>
                <a:endParaRPr lang="en-US" altLang="ja-JP" sz="2800" dirty="0"/>
              </a:p>
              <a:p>
                <a:r>
                  <a:rPr lang="en-US" altLang="ja-JP" sz="28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r>
                  <a:rPr lang="ja-JP" altLang="en-US" sz="2800" dirty="0"/>
                  <a:t>：教師</a:t>
                </a:r>
                <a:r>
                  <a:rPr lang="ja-JP" altLang="en-US" sz="2800" dirty="0" smtClean="0"/>
                  <a:t>ラベル</a:t>
                </a:r>
                <a:endParaRPr lang="en-US" altLang="ja-JP" sz="2800" dirty="0" smtClean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ja-JP" sz="2800" i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f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altLang="ja-JP" sz="2800" b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x</m:t>
                    </m:r>
                    <m:r>
                      <m:rPr>
                        <m:nor/>
                      </m:rPr>
                      <a:rPr lang="en-US" altLang="ja-JP" sz="2800" i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m:rPr>
                        <m:nor/>
                      </m:rPr>
                      <a:rPr lang="en-US" altLang="ja-JP" sz="2800" i="1">
                        <a:latin typeface="Symbol" panose="05050102010706020507" pitchFamily="18" charset="2"/>
                        <a:cs typeface="Times New Roman" panose="02020603050405020304" pitchFamily="18" charset="0"/>
                      </a:rPr>
                      <m:t>l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) </m:t>
                    </m:r>
                  </m:oMath>
                </a14:m>
                <a:r>
                  <a:rPr lang="ja-JP" altLang="en-US" sz="2800" dirty="0" smtClean="0"/>
                  <a:t>：</a:t>
                </a:r>
                <a:r>
                  <a:rPr lang="en-US" altLang="ja-JP" sz="2800" dirty="0" smtClean="0"/>
                  <a:t>class</a:t>
                </a:r>
                <a:r>
                  <a:rPr lang="en-US" altLang="ja-JP" sz="280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ja-JP" sz="2800" i="1">
                        <a:latin typeface="Symbol" panose="05050102010706020507" pitchFamily="18" charset="2"/>
                        <a:cs typeface="Times New Roman" panose="02020603050405020304" pitchFamily="18" charset="0"/>
                      </a:rPr>
                      <m:t>l</m:t>
                    </m:r>
                  </m:oMath>
                </a14:m>
                <a:r>
                  <a:rPr lang="ja-JP" altLang="en-US" sz="2800" dirty="0" smtClean="0"/>
                  <a:t>のランク値</a:t>
                </a:r>
                <a:endParaRPr lang="ja-JP" altLang="en-US" sz="2800" dirty="0"/>
              </a:p>
            </p:txBody>
          </p:sp>
        </mc:Choice>
        <mc:Fallback>
          <p:sp>
            <p:nvSpPr>
              <p:cNvPr id="6" name="テキスト ボックス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3657" y="5345732"/>
                <a:ext cx="4691743" cy="1384995"/>
              </a:xfrm>
              <a:prstGeom prst="rect">
                <a:avLst/>
              </a:prstGeom>
              <a:blipFill rotWithShape="0">
                <a:blip r:embed="rId3"/>
                <a:stretch>
                  <a:fillRect l="-2587" t="-5652" r="-1164" b="-10435"/>
                </a:stretch>
              </a:blipFill>
              <a:ln w="19050"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グループ化 8"/>
          <p:cNvGrpSpPr/>
          <p:nvPr/>
        </p:nvGrpSpPr>
        <p:grpSpPr>
          <a:xfrm>
            <a:off x="3862168" y="3526301"/>
            <a:ext cx="4000500" cy="1077218"/>
            <a:chOff x="6367780" y="3962400"/>
            <a:chExt cx="4000500" cy="107721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テキスト ボックス 6"/>
                <p:cNvSpPr txBox="1"/>
                <p:nvPr/>
              </p:nvSpPr>
              <p:spPr>
                <a:xfrm>
                  <a:off x="6367780" y="3962400"/>
                  <a:ext cx="4000500" cy="1077218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ja-JP" sz="320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argmax</m:t>
                        </m:r>
                        <m:r>
                          <m:rPr>
                            <m:nor/>
                          </m:rPr>
                          <a:rPr lang="en-US" altLang="ja-JP" sz="3200" b="0" i="1" baseline="-25000" smtClean="0">
                            <a:latin typeface="Symbol" panose="05050102010706020507" pitchFamily="18" charset="2"/>
                            <a:cs typeface="Times New Roman" panose="02020603050405020304" pitchFamily="18" charset="0"/>
                          </a:rPr>
                          <m:t>l</m:t>
                        </m:r>
                        <m:r>
                          <a:rPr lang="en-US" altLang="ja-JP" sz="3200" b="0" i="1" baseline="-250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     </m:t>
                        </m:r>
                        <m:r>
                          <a:rPr lang="en-US" altLang="ja-JP" sz="3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ℒ</m:t>
                        </m:r>
                        <m:r>
                          <m:rPr>
                            <m:nor/>
                          </m:rPr>
                          <a:rPr lang="en-US" altLang="ja-JP" sz="3200" b="0" i="0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ja-JP" sz="3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ja-JP" sz="3200" i="1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f</m:t>
                        </m:r>
                        <m:r>
                          <m:rPr>
                            <m:nor/>
                          </m:rPr>
                          <a:rPr lang="en-US" altLang="ja-JP" sz="32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altLang="ja-JP" sz="3200" b="1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en-US" altLang="ja-JP" sz="3200" i="1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altLang="ja-JP" sz="3200" b="0" i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ja-JP" sz="3200" i="1">
                            <a:latin typeface="Symbol" panose="05050102010706020507" pitchFamily="18" charset="2"/>
                            <a:cs typeface="Times New Roman" panose="020206030504050203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lang="en-US" altLang="ja-JP" sz="3200" i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altLang="ja-JP" sz="3200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ja-JP" sz="3200" i="0">
                            <a:cs typeface="Times New Roman" panose="02020603050405020304" pitchFamily="18" charset="0"/>
                          </a:rPr>
                          <m:t>∉</m:t>
                        </m:r>
                        <m:r>
                          <m:rPr>
                            <m:nor/>
                          </m:rPr>
                          <a:rPr lang="en-US" altLang="ja-JP" sz="3200" b="0" i="0" smtClean="0"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ja-JP" sz="3200" i="1">
                            <a:latin typeface="Times New Roman" panose="020206030504050203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L</m:t>
                        </m:r>
                      </m:oMath>
                    </m:oMathPara>
                  </a14:m>
                  <a:endParaRPr kumimoji="1" lang="en-US" altLang="ja-JP" sz="32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r>
                    <a:rPr lang="en-US" altLang="ja-JP" sz="3200" i="1" dirty="0" smtClean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otherwise</a:t>
                  </a:r>
                  <a:endParaRPr kumimoji="1" lang="ja-JP" altLang="en-US" sz="32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780" y="3962400"/>
                  <a:ext cx="4000500" cy="1077218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l="-1372" b="-16949"/>
                  </a:stretch>
                </a:blipFill>
                <a:ln w="19050">
                  <a:noFill/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テキスト ボックス 7"/>
                <p:cNvSpPr txBox="1"/>
                <p:nvPr/>
              </p:nvSpPr>
              <p:spPr>
                <a:xfrm>
                  <a:off x="7909560" y="4239547"/>
                  <a:ext cx="358140" cy="338554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kumimoji="1" lang="en-US" altLang="ja-JP" sz="1600" b="0" i="0" smtClean="0"/>
                          <m:t>∈</m:t>
                        </m:r>
                      </m:oMath>
                    </m:oMathPara>
                  </a14:m>
                  <a:endParaRPr kumimoji="1" lang="ja-JP" altLang="en-US" sz="1600" dirty="0" smtClean="0"/>
                </a:p>
              </p:txBody>
            </p:sp>
          </mc:Choice>
          <mc:Fallback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9560" y="4239547"/>
                  <a:ext cx="358140" cy="338554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l="-3390"/>
                  </a:stretch>
                </a:blipFill>
                <a:ln w="19050">
                  <a:noFill/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761585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</a:t>
            </a:r>
            <a:endParaRPr kumimoji="1" lang="ja-JP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コンテンツ プレースホルダー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514350" indent="-514350" algn="l">
                  <a:buFont typeface="+mj-lt"/>
                  <a:buAutoNum type="arabicPeriod" startAt="5"/>
                </a:pPr>
                <a:r>
                  <a:rPr kumimoji="1" lang="en-US" altLang="ja-JP" dirty="0" smtClean="0"/>
                  <a:t>Rank Loss (</a:t>
                </a:r>
                <a:r>
                  <a:rPr kumimoji="1" lang="en-US" altLang="ja-JP" dirty="0" smtClean="0">
                    <a:solidFill>
                      <a:schemeClr val="accent2"/>
                    </a:solidFill>
                  </a:rPr>
                  <a:t>minimize</a:t>
                </a:r>
                <a:r>
                  <a:rPr kumimoji="1" lang="en-US" altLang="ja-JP" dirty="0" smtClean="0"/>
                  <a:t>)</a:t>
                </a:r>
                <a:br>
                  <a:rPr kumimoji="1" lang="en-US" altLang="ja-JP" dirty="0" smtClean="0"/>
                </a:b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kumimoji="1" lang="en-US" altLang="ja-JP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#{(</m:t>
                        </m:r>
                        <m:r>
                          <m:rPr>
                            <m:nor/>
                          </m:rPr>
                          <a:rPr kumimoji="1" lang="en-US" altLang="ja-JP" b="0" i="1" smtClean="0">
                            <a:latin typeface="Symbol" panose="05050102010706020507" pitchFamily="18" charset="2"/>
                            <a:cs typeface="Times New Roman" panose="020206030504050203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kumimoji="1" lang="en-US" altLang="ja-JP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acc>
                          <m:accPr>
                            <m:chr m:val="́"/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nor/>
                              </m:rPr>
                              <a:rPr kumimoji="1" lang="en-US" altLang="ja-JP" b="0" i="1" smtClean="0">
                                <a:latin typeface="Symbol" panose="05050102010706020507" pitchFamily="18" charset="2"/>
                                <a:cs typeface="Times New Roman" panose="02020603050405020304" pitchFamily="18" charset="0"/>
                              </a:rPr>
                              <m:t>l</m:t>
                            </m:r>
                          </m:e>
                        </m:acc>
                        <m:r>
                          <m:rPr>
                            <m:nor/>
                          </m:rPr>
                          <a:rPr kumimoji="1" lang="en-US" altLang="ja-JP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kumimoji="1" lang="en-US" altLang="ja-JP" b="0" i="0" smtClean="0"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m:rPr>
                            <m:nor/>
                          </m:rPr>
                          <a:rPr kumimoji="1" lang="en-US" altLang="ja-JP" b="0" i="1" smtClean="0"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kumimoji="1" lang="en-US" altLang="ja-JP" b="0" i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f</m:t>
                        </m:r>
                        <m:r>
                          <m:rPr>
                            <m:nor/>
                          </m:rPr>
                          <a:rPr kumimoji="1" lang="en-US" altLang="ja-JP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nor/>
                          </m:rPr>
                          <a:rPr kumimoji="1" lang="en-US" altLang="ja-JP" b="1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kumimoji="1" lang="en-US" altLang="ja-JP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m:rPr>
                            <m:nor/>
                          </m:rPr>
                          <a:rPr kumimoji="1" lang="en-US" altLang="ja-JP" b="0" i="1" smtClean="0">
                            <a:latin typeface="Symbol" panose="05050102010706020507" pitchFamily="18" charset="2"/>
                            <a:cs typeface="Times New Roman" panose="020206030504050203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kumimoji="1" lang="en-US" altLang="ja-JP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kumimoji="1" lang="en-US" altLang="ja-JP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kumimoji="1" lang="en-US" altLang="ja-JP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≤ </m:t>
                        </m:r>
                        <m:r>
                          <m:rPr>
                            <m:nor/>
                          </m:rPr>
                          <a:rPr kumimoji="1" lang="en-US" altLang="ja-JP" b="0" i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f</m:t>
                        </m:r>
                        <m:r>
                          <m:rPr>
                            <m:nor/>
                          </m:rPr>
                          <a:rPr lang="en-US" altLang="ja-JP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altLang="ja-JP" b="1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en-US" altLang="ja-JP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acc>
                          <m:accPr>
                            <m:chr m:val="́"/>
                            <m:ctrlPr>
                              <a:rPr lang="en-US" altLang="ja-JP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nor/>
                              </m:rPr>
                              <a:rPr lang="en-US" altLang="ja-JP" i="1">
                                <a:latin typeface="Symbol" panose="05050102010706020507" pitchFamily="18" charset="2"/>
                                <a:cs typeface="Times New Roman" panose="02020603050405020304" pitchFamily="18" charset="0"/>
                              </a:rPr>
                              <m:t>l</m:t>
                            </m:r>
                          </m:e>
                        </m:acc>
                        <m:r>
                          <m:rPr>
                            <m:nor/>
                          </m:rPr>
                          <a:rPr lang="en-US" altLang="ja-JP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),</m:t>
                        </m:r>
                        <m:r>
                          <m:rPr>
                            <m:nor/>
                          </m:rPr>
                          <a:rPr lang="en-US" altLang="ja-JP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ja-JP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altLang="ja-JP" i="1">
                            <a:latin typeface="Symbol" panose="05050102010706020507" pitchFamily="18" charset="2"/>
                            <a:cs typeface="Times New Roman" panose="020206030504050203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lang="en-US" altLang="ja-JP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acc>
                          <m:accPr>
                            <m:chr m:val="́"/>
                            <m:ctrlPr>
                              <a:rPr lang="en-US" altLang="ja-JP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nor/>
                              </m:rPr>
                              <a:rPr lang="en-US" altLang="ja-JP" i="1">
                                <a:latin typeface="Symbol" panose="05050102010706020507" pitchFamily="18" charset="2"/>
                                <a:cs typeface="Times New Roman" panose="02020603050405020304" pitchFamily="18" charset="0"/>
                              </a:rPr>
                              <m:t>l</m:t>
                            </m:r>
                          </m:e>
                        </m:acc>
                        <m:r>
                          <m:rPr>
                            <m:nor/>
                          </m:rPr>
                          <a:rPr lang="en-US" altLang="ja-JP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kumimoji="1" lang="en-US" altLang="ja-JP" b="0" i="0" smtClean="0">
                            <a:cs typeface="Times New Roman" panose="02020603050405020304" pitchFamily="18" charset="0"/>
                          </a:rPr>
                          <m:t>∈</m:t>
                        </m:r>
                        <m:r>
                          <m:rPr>
                            <m:nor/>
                          </m:rPr>
                          <a:rPr kumimoji="1" lang="en-US" altLang="ja-JP" b="0" i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kumimoji="1" lang="en-US" altLang="ja-JP" b="0" i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kumimoji="1" lang="en-US" altLang="ja-JP" b="0" i="0" smtClean="0"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×</m:t>
                        </m:r>
                        <m:acc>
                          <m:accPr>
                            <m:chr m:val="̅"/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nor/>
                              </m:rPr>
                              <a:rPr kumimoji="1" lang="en-US" altLang="ja-JP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kumimoji="1" lang="en-US" altLang="ja-JP" b="0" i="1" smtClean="0">
                                <a:latin typeface="Times New Roman" panose="020206030504050203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L</m:t>
                            </m:r>
                          </m:e>
                        </m:acc>
                        <m:r>
                          <m:rPr>
                            <m:nor/>
                          </m:rPr>
                          <a:rPr kumimoji="1" lang="en-US" altLang="ja-JP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}</m:t>
                        </m:r>
                      </m:num>
                      <m:den>
                        <m:r>
                          <m:rPr>
                            <m:nor/>
                          </m:rPr>
                          <a:rPr kumimoji="1" lang="en-US" altLang="ja-JP" b="0" i="0" smtClean="0"/>
                          <m:t>|</m:t>
                        </m:r>
                        <m:r>
                          <m:rPr>
                            <m:nor/>
                          </m:rPr>
                          <a:rPr kumimoji="1" lang="en-US" altLang="ja-JP" b="0" i="1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kumimoji="1" lang="en-US" altLang="ja-JP" b="0" i="0" smtClean="0"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m:rPr>
                            <m:nor/>
                          </m:rPr>
                          <a:rPr kumimoji="1" lang="en-US" altLang="ja-JP" b="0" i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×</m:t>
                        </m:r>
                        <m:acc>
                          <m:accPr>
                            <m:chr m:val="̅"/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nor/>
                              </m:rPr>
                              <a:rPr kumimoji="1" lang="en-US" altLang="ja-JP" b="0" i="0" smtClean="0"/>
                              <m:t>|</m:t>
                            </m:r>
                            <m:r>
                              <m:rPr>
                                <m:nor/>
                              </m:rPr>
                              <a:rPr kumimoji="1" lang="en-US" altLang="ja-JP" b="0" i="1" smtClean="0">
                                <a:latin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L</m:t>
                            </m:r>
                            <m:r>
                              <m:rPr>
                                <m:nor/>
                              </m:rPr>
                              <a:rPr kumimoji="1" lang="en-US" altLang="ja-JP" b="0" i="0" smtClean="0">
                                <a:cs typeface="Times New Roman" panose="02020603050405020304" pitchFamily="18" charset="0"/>
                              </a:rPr>
                              <m:t>|</m:t>
                            </m:r>
                          </m:e>
                        </m:acc>
                      </m:den>
                    </m:f>
                  </m:oMath>
                </a14:m>
                <a:endParaRPr kumimoji="1"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514350" indent="-514350" algn="l">
                  <a:buFont typeface="+mj-lt"/>
                  <a:buAutoNum type="arabicPeriod" startAt="5"/>
                </a:pPr>
                <a:endParaRPr lang="en-US" altLang="ja-JP" dirty="0"/>
              </a:p>
              <a:p>
                <a:pPr marL="514350" indent="-514350" algn="l">
                  <a:buFont typeface="+mj-lt"/>
                  <a:buAutoNum type="arabicPeriod" startAt="5"/>
                </a:pPr>
                <a:endParaRPr kumimoji="1" lang="ja-JP" altLang="en-US" dirty="0"/>
              </a:p>
            </p:txBody>
          </p:sp>
        </mc:Choice>
        <mc:Fallback>
          <p:sp>
            <p:nvSpPr>
              <p:cNvPr id="3" name="コンテンツ プレースホルダー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614" t="-152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22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Evaluation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Metrics</a:t>
            </a:r>
            <a:endParaRPr kumimoji="1" lang="ja-JP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/>
              <p:cNvSpPr txBox="1"/>
              <p:nvPr/>
            </p:nvSpPr>
            <p:spPr>
              <a:xfrm>
                <a:off x="4223657" y="5345732"/>
                <a:ext cx="4691743" cy="138499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ja-JP" sz="2800" i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altLang="ja-JP" sz="2800" b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x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ja-JP" altLang="en-US" sz="2800" dirty="0"/>
                  <a:t>：識別器による予測ラベル</a:t>
                </a:r>
                <a:endParaRPr lang="en-US" altLang="ja-JP" sz="2800" dirty="0"/>
              </a:p>
              <a:p>
                <a:r>
                  <a:rPr lang="en-US" altLang="ja-JP" sz="28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r>
                  <a:rPr lang="ja-JP" altLang="en-US" sz="2800" dirty="0"/>
                  <a:t>：教師</a:t>
                </a:r>
                <a:r>
                  <a:rPr lang="ja-JP" altLang="en-US" sz="2800" dirty="0" smtClean="0"/>
                  <a:t>ラベル</a:t>
                </a:r>
                <a:endParaRPr lang="en-US" altLang="ja-JP" sz="2800" dirty="0" smtClean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ja-JP" sz="2800" i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f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altLang="ja-JP" sz="2800" b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x</m:t>
                    </m:r>
                    <m:r>
                      <m:rPr>
                        <m:nor/>
                      </m:rPr>
                      <a:rPr lang="en-US" altLang="ja-JP" sz="2800" i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m:rPr>
                        <m:nor/>
                      </m:rPr>
                      <a:rPr lang="en-US" altLang="ja-JP" sz="2800" i="1">
                        <a:latin typeface="Symbol" panose="05050102010706020507" pitchFamily="18" charset="2"/>
                        <a:cs typeface="Times New Roman" panose="02020603050405020304" pitchFamily="18" charset="0"/>
                      </a:rPr>
                      <m:t>l</m:t>
                    </m:r>
                    <m:r>
                      <m:rPr>
                        <m:nor/>
                      </m:rPr>
                      <a:rPr lang="en-US" altLang="ja-JP" sz="28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) </m:t>
                    </m:r>
                  </m:oMath>
                </a14:m>
                <a:r>
                  <a:rPr lang="ja-JP" altLang="en-US" sz="2800" dirty="0" smtClean="0"/>
                  <a:t>：</a:t>
                </a:r>
                <a:r>
                  <a:rPr lang="en-US" altLang="ja-JP" sz="2800" dirty="0" smtClean="0"/>
                  <a:t>class</a:t>
                </a:r>
                <a:r>
                  <a:rPr lang="en-US" altLang="ja-JP" sz="280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ja-JP" sz="2800" i="1">
                        <a:latin typeface="Symbol" panose="05050102010706020507" pitchFamily="18" charset="2"/>
                        <a:cs typeface="Times New Roman" panose="02020603050405020304" pitchFamily="18" charset="0"/>
                      </a:rPr>
                      <m:t>l</m:t>
                    </m:r>
                  </m:oMath>
                </a14:m>
                <a:r>
                  <a:rPr lang="ja-JP" altLang="en-US" sz="2800" dirty="0" smtClean="0"/>
                  <a:t>のランク値</a:t>
                </a:r>
                <a:endParaRPr lang="ja-JP" altLang="en-US" sz="2800" dirty="0"/>
              </a:p>
            </p:txBody>
          </p:sp>
        </mc:Choice>
        <mc:Fallback>
          <p:sp>
            <p:nvSpPr>
              <p:cNvPr id="6" name="テキスト ボックス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3657" y="5345732"/>
                <a:ext cx="4691743" cy="1384995"/>
              </a:xfrm>
              <a:prstGeom prst="rect">
                <a:avLst/>
              </a:prstGeom>
              <a:blipFill rotWithShape="0">
                <a:blip r:embed="rId3"/>
                <a:stretch>
                  <a:fillRect l="-2587" t="-5652" r="-1164" b="-10435"/>
                </a:stretch>
              </a:blipFill>
              <a:ln w="19050"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テキスト ボックス 9"/>
          <p:cNvSpPr txBox="1"/>
          <p:nvPr/>
        </p:nvSpPr>
        <p:spPr>
          <a:xfrm>
            <a:off x="228600" y="3113782"/>
            <a:ext cx="8686800" cy="1077218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marL="444500" algn="just"/>
            <a:r>
              <a:rPr kumimoji="1" lang="ja-JP" altLang="en-US" sz="3200" dirty="0" smtClean="0"/>
              <a:t>教師ラベルが</a:t>
            </a:r>
            <a:r>
              <a:rPr kumimoji="1" lang="en-US" altLang="ja-JP" sz="3200" dirty="0" smtClean="0"/>
              <a:t>1</a:t>
            </a:r>
            <a:r>
              <a:rPr kumimoji="1" lang="ja-JP" altLang="en-US" sz="3200" dirty="0" smtClean="0"/>
              <a:t>のクラスのランク値が，ラベルが</a:t>
            </a:r>
            <a:r>
              <a:rPr kumimoji="1" lang="en-US" altLang="ja-JP" sz="3200" dirty="0" smtClean="0"/>
              <a:t>0</a:t>
            </a:r>
            <a:r>
              <a:rPr kumimoji="1" lang="ja-JP" altLang="en-US" sz="3200" dirty="0" smtClean="0"/>
              <a:t>のクラスのランク値より小さい</a:t>
            </a:r>
            <a:r>
              <a:rPr lang="ja-JP" altLang="en-US" sz="3200" dirty="0" smtClean="0"/>
              <a:t>クラスの</a:t>
            </a:r>
            <a:r>
              <a:rPr kumimoji="1" lang="ja-JP" altLang="en-US" sz="3200" dirty="0" smtClean="0"/>
              <a:t>割合</a:t>
            </a:r>
            <a:endParaRPr kumimoji="1" lang="ja-JP" altLang="en-US" sz="3200" dirty="0" smtClean="0"/>
          </a:p>
        </p:txBody>
      </p:sp>
    </p:spTree>
    <p:extLst>
      <p:ext uri="{BB962C8B-B14F-4D97-AF65-F5344CB8AC3E}">
        <p14:creationId xmlns:p14="http://schemas.microsoft.com/office/powerpoint/2010/main" val="657278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graphicFrame>
        <p:nvGraphicFramePr>
          <p:cNvPr id="8" name="コンテンツ プレースホルダー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3469730"/>
              </p:ext>
            </p:extLst>
          </p:nvPr>
        </p:nvGraphicFramePr>
        <p:xfrm>
          <a:off x="27794" y="1371600"/>
          <a:ext cx="9088413" cy="410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180"/>
                <a:gridCol w="2037080"/>
                <a:gridCol w="1097280"/>
                <a:gridCol w="1224280"/>
                <a:gridCol w="1928041"/>
                <a:gridCol w="1107552"/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MLRBC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LP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BR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RA</a:t>
                      </a:r>
                      <a:r>
                        <a:rPr kumimoji="1" lang="en-US" altLang="ja-JP" sz="2000" b="0" i="1" dirty="0" err="1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</a:t>
                      </a:r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EL</a:t>
                      </a:r>
                      <a:r>
                        <a:rPr kumimoji="1" lang="en-US" altLang="ja-JP" sz="2000" b="0" baseline="-25000" dirty="0" err="1" smtClean="0">
                          <a:solidFill>
                            <a:schemeClr val="tx1"/>
                          </a:solidFill>
                        </a:rPr>
                        <a:t>d</a:t>
                      </a:r>
                      <a:endParaRPr kumimoji="1" lang="ja-JP" altLang="en-US" sz="2000" b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RA</a:t>
                      </a:r>
                      <a:r>
                        <a:rPr kumimoji="1" lang="en-US" altLang="ja-JP" sz="2000" b="0" i="1" dirty="0" err="1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</a:t>
                      </a:r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EL</a:t>
                      </a:r>
                      <a:r>
                        <a:rPr kumimoji="1" lang="en-US" altLang="ja-JP" sz="2000" b="0" baseline="-25000" dirty="0" err="1" smtClean="0">
                          <a:solidFill>
                            <a:schemeClr val="tx1"/>
                          </a:solidFill>
                        </a:rPr>
                        <a:t>o</a:t>
                      </a:r>
                      <a:endParaRPr kumimoji="1" lang="ja-JP" altLang="en-US" sz="2000" b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Hamming loss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Emotions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0.228±0.63%(2)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0.299(5)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dirty="0" smtClean="0"/>
                        <a:t>0.268(3)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0.275±1.54%(4)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1" dirty="0" smtClean="0"/>
                        <a:t>0.223</a:t>
                      </a:r>
                      <a:r>
                        <a:rPr kumimoji="1" lang="en-US" altLang="ja-JP" sz="1800" dirty="0" smtClean="0"/>
                        <a:t>(1)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Yeast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0.206±0.14</a:t>
                      </a: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%(1)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dirty="0" smtClean="0"/>
                        <a:t>0.29(4)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dirty="0" smtClean="0"/>
                        <a:t>0.301(5)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0.28±0.62%(3)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dirty="0" smtClean="0"/>
                        <a:t>0.233(2)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CAL500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0.134±0.13</a:t>
                      </a: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%(1)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dirty="0" smtClean="0"/>
                        <a:t>0.163(2)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dirty="0" smtClean="0"/>
                        <a:t>0.198(5)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0.191±0.24%(4)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dirty="0" smtClean="0"/>
                        <a:t>0.166(3)</a:t>
                      </a:r>
                      <a:endParaRPr kumimoji="1" lang="ja-JP" altLang="en-US" sz="1800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Average rank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1.33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3.67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4.33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3.67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2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Accuracy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Emotions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0.531±1.34</a:t>
                      </a: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%(1)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0.426(5)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0.529(2)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0.43±2.35%(4)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0.5(3)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Yeast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0.457±0.77%(2)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0.391(5)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0.421(3)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0.393±0.93%(4)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 smtClean="0"/>
                        <a:t>0.477</a:t>
                      </a:r>
                      <a:r>
                        <a:rPr kumimoji="1" lang="en-US" altLang="ja-JP" sz="1800" dirty="0" smtClean="0"/>
                        <a:t>(1)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CAL500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0.134±0.51%(5)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0.212(2)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0.204(4)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0.206±0.5%(3)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 smtClean="0"/>
                        <a:t>0.226</a:t>
                      </a:r>
                      <a:r>
                        <a:rPr kumimoji="1" lang="en-US" altLang="ja-JP" sz="1800" dirty="0" smtClean="0"/>
                        <a:t>(1)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Average rank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2.67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4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3</a:t>
                      </a:r>
                      <a:endParaRPr kumimoji="1"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3.67</a:t>
                      </a:r>
                      <a:endParaRPr kumimoji="1"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1.67</a:t>
                      </a:r>
                      <a:endParaRPr kumimoji="1"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23</a:t>
            </a:fld>
            <a:endParaRPr kumimoji="1" lang="ja-JP" altLang="en-US" dirty="0"/>
          </a:p>
        </p:txBody>
      </p:sp>
      <p:sp>
        <p:nvSpPr>
          <p:cNvPr id="2" name="角丸四角形 1"/>
          <p:cNvSpPr/>
          <p:nvPr/>
        </p:nvSpPr>
        <p:spPr>
          <a:xfrm>
            <a:off x="1752600" y="4762500"/>
            <a:ext cx="1917700" cy="3175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0021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graphicFrame>
        <p:nvGraphicFramePr>
          <p:cNvPr id="8" name="コンテンツ プレースホルダー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1723938"/>
              </p:ext>
            </p:extLst>
          </p:nvPr>
        </p:nvGraphicFramePr>
        <p:xfrm>
          <a:off x="27794" y="1371600"/>
          <a:ext cx="9088413" cy="410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180"/>
                <a:gridCol w="2037080"/>
                <a:gridCol w="1097280"/>
                <a:gridCol w="1224280"/>
                <a:gridCol w="1928041"/>
                <a:gridCol w="1107552"/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MLRBC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LP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BR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RA</a:t>
                      </a:r>
                      <a:r>
                        <a:rPr kumimoji="1" lang="en-US" altLang="ja-JP" sz="2000" b="0" i="1" dirty="0" err="1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</a:t>
                      </a:r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EL</a:t>
                      </a:r>
                      <a:r>
                        <a:rPr kumimoji="1" lang="en-US" altLang="ja-JP" sz="2000" b="0" baseline="-25000" dirty="0" err="1" smtClean="0">
                          <a:solidFill>
                            <a:schemeClr val="tx1"/>
                          </a:solidFill>
                        </a:rPr>
                        <a:t>d</a:t>
                      </a:r>
                      <a:endParaRPr kumimoji="1" lang="ja-JP" altLang="en-US" sz="2000" b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RA</a:t>
                      </a:r>
                      <a:r>
                        <a:rPr kumimoji="1" lang="en-US" altLang="ja-JP" sz="2000" b="0" i="1" dirty="0" err="1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</a:t>
                      </a:r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EL</a:t>
                      </a:r>
                      <a:r>
                        <a:rPr kumimoji="1" lang="en-US" altLang="ja-JP" sz="2000" b="0" baseline="-25000" dirty="0" err="1" smtClean="0">
                          <a:solidFill>
                            <a:schemeClr val="tx1"/>
                          </a:solidFill>
                        </a:rPr>
                        <a:t>o</a:t>
                      </a:r>
                      <a:endParaRPr kumimoji="1" lang="ja-JP" altLang="en-US" sz="2000" b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Recall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Emotions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0.667±1.02%(2)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0.506(5)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 smtClean="0"/>
                        <a:t>0.788</a:t>
                      </a:r>
                      <a:r>
                        <a:rPr kumimoji="1" lang="en-US" altLang="ja-JP" sz="1800" dirty="0" smtClean="0"/>
                        <a:t>(1)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0.548±2.67%(4)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0.62(3)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Yeast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0.732±0.48</a:t>
                      </a: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%(1) 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0.52(5)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0.6101(3)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0.534±1.17%(4)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0.610(2</a:t>
                      </a:r>
                      <a:r>
                        <a:rPr kumimoji="1" lang="en-US" altLang="ja-JP" sz="1800" dirty="0" smtClean="0"/>
                        <a:t>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CAL500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0.701±1.45</a:t>
                      </a: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%(1)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0.299(5)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0.345(2)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0.342±0.8%(3)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0.331(4)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Average rank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1.33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5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2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1.67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3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One Error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Emotions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0.317±2.21%(2)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0.48(5)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0.396(3)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0.417±3.32%(4)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 smtClean="0"/>
                        <a:t>0.282</a:t>
                      </a:r>
                      <a:r>
                        <a:rPr kumimoji="1" lang="en-US" altLang="ja-JP" sz="1800" dirty="0" smtClean="0"/>
                        <a:t>(1)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Yeast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0.245±0.51</a:t>
                      </a: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%(1)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0.523(5)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0.366(4)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0.365±3.57%(3)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0.296(2)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CAL500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0.102±1.79</a:t>
                      </a: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%(1) 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0.79(3)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1.0(5)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0.81±3.38%(4)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0.381(2)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Average rank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1.33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4.33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4</a:t>
                      </a:r>
                      <a:endParaRPr kumimoji="1"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3.67</a:t>
                      </a:r>
                      <a:endParaRPr kumimoji="1"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1.67</a:t>
                      </a:r>
                      <a:endParaRPr kumimoji="1"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24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439692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graphicFrame>
        <p:nvGraphicFramePr>
          <p:cNvPr id="8" name="コンテンツ プレースホルダー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28095524"/>
              </p:ext>
            </p:extLst>
          </p:nvPr>
        </p:nvGraphicFramePr>
        <p:xfrm>
          <a:off x="27794" y="1371600"/>
          <a:ext cx="9088413" cy="225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180"/>
                <a:gridCol w="2037080"/>
                <a:gridCol w="1097280"/>
                <a:gridCol w="1224280"/>
                <a:gridCol w="1928041"/>
                <a:gridCol w="1107552"/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MLRBC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LP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BR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RA</a:t>
                      </a:r>
                      <a:r>
                        <a:rPr kumimoji="1" lang="en-US" altLang="ja-JP" sz="2000" b="0" i="1" dirty="0" err="1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</a:t>
                      </a:r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EL</a:t>
                      </a:r>
                      <a:r>
                        <a:rPr kumimoji="1" lang="en-US" altLang="ja-JP" sz="2000" b="0" baseline="-25000" dirty="0" err="1" smtClean="0">
                          <a:solidFill>
                            <a:schemeClr val="tx1"/>
                          </a:solidFill>
                        </a:rPr>
                        <a:t>d</a:t>
                      </a:r>
                      <a:endParaRPr kumimoji="1" lang="ja-JP" altLang="en-US" sz="2000" b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RA</a:t>
                      </a:r>
                      <a:r>
                        <a:rPr kumimoji="1" lang="en-US" altLang="ja-JP" sz="2000" b="0" i="1" dirty="0" err="1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</a:t>
                      </a:r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EL</a:t>
                      </a:r>
                      <a:r>
                        <a:rPr kumimoji="1" lang="en-US" altLang="ja-JP" sz="2000" b="0" baseline="-25000" dirty="0" err="1" smtClean="0">
                          <a:solidFill>
                            <a:schemeClr val="tx1"/>
                          </a:solidFill>
                        </a:rPr>
                        <a:t>o</a:t>
                      </a:r>
                      <a:endParaRPr kumimoji="1" lang="ja-JP" altLang="en-US" sz="2000" b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Rank Loss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Emotions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0.184±0.95</a:t>
                      </a: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%(1)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0.371(5)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0.215(3)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0.311±2.55%(4) 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0.186(2)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Yeast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0.181±0.13</a:t>
                      </a: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%(1)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0.411(5)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0.258(3)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0.334±0.74%(4)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0.224(2)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CAL500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0.199±0.71</a:t>
                      </a:r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%(1)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0.343(3)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0.648(5)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0.409±0.52%(4) 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0.299(2)</a:t>
                      </a:r>
                      <a:endParaRPr kumimoji="1"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 smtClean="0"/>
                        <a:t>Average rank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1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4.33</a:t>
                      </a:r>
                      <a:endParaRPr kumimoji="1" lang="ja-JP" alt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3.67</a:t>
                      </a:r>
                      <a:endParaRPr kumimoji="1"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4</a:t>
                      </a:r>
                      <a:endParaRPr kumimoji="1"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 smtClean="0"/>
                        <a:t>2</a:t>
                      </a:r>
                      <a:endParaRPr kumimoji="1"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25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525989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考察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label </a:t>
            </a:r>
            <a:r>
              <a:rPr lang="en-US" altLang="ja-JP" dirty="0" smtClean="0"/>
              <a:t>cardinality</a:t>
            </a:r>
            <a:r>
              <a:rPr lang="ja-JP" altLang="en-US" dirty="0" smtClean="0"/>
              <a:t>が大きいほど，</a:t>
            </a:r>
            <a:r>
              <a:rPr lang="en-US" altLang="ja-JP" dirty="0" smtClean="0"/>
              <a:t>MLRBC</a:t>
            </a:r>
            <a:r>
              <a:rPr lang="ja-JP" altLang="en-US" dirty="0" smtClean="0"/>
              <a:t>は特に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優れた性能を示した．</a:t>
            </a:r>
            <a:endParaRPr lang="en-US" altLang="ja-JP" dirty="0" smtClean="0"/>
          </a:p>
          <a:p>
            <a:r>
              <a:rPr lang="ja-JP" altLang="en-US" dirty="0"/>
              <a:t>予測値</a:t>
            </a:r>
            <a:r>
              <a:rPr lang="ja-JP" altLang="en-US" dirty="0" smtClean="0"/>
              <a:t>の集約手法の改良により，学習用データに含まれないデータを予測することができた．</a:t>
            </a:r>
            <a:endParaRPr lang="en-US" altLang="ja-JP" dirty="0" smtClean="0"/>
          </a:p>
          <a:p>
            <a:r>
              <a:rPr lang="ja-JP" altLang="en-US" dirty="0" smtClean="0"/>
              <a:t>閾値</a:t>
            </a:r>
            <a:r>
              <a:rPr lang="en-US" altLang="ja-JP" i="1" dirty="0" smtClean="0">
                <a:latin typeface="Symbol" panose="05050102010706020507" pitchFamily="18" charset="2"/>
              </a:rPr>
              <a:t>d</a:t>
            </a:r>
            <a:r>
              <a:rPr lang="ja-JP" altLang="en-US" dirty="0" smtClean="0"/>
              <a:t>を定数で固定したため，</a:t>
            </a:r>
            <a:r>
              <a:rPr lang="en-US" altLang="ja-JP" dirty="0" smtClean="0"/>
              <a:t>CAL500</a:t>
            </a:r>
            <a:r>
              <a:rPr lang="ja-JP" altLang="en-US" dirty="0" smtClean="0"/>
              <a:t>における</a:t>
            </a:r>
            <a:r>
              <a:rPr lang="en-US" altLang="ja-JP" dirty="0" smtClean="0"/>
              <a:t>Accuracy</a:t>
            </a:r>
            <a:r>
              <a:rPr lang="ja-JP" altLang="en-US" dirty="0" smtClean="0"/>
              <a:t>が優れなかった．</a:t>
            </a:r>
            <a:endParaRPr lang="en-US" altLang="ja-JP" dirty="0" smtClean="0"/>
          </a:p>
          <a:p>
            <a:r>
              <a:rPr lang="ja-JP" altLang="en-US" dirty="0" smtClean="0"/>
              <a:t>すべての評価指標において，平均ランクは</a:t>
            </a:r>
            <a:r>
              <a:rPr lang="en-US" altLang="ja-JP" dirty="0" smtClean="0"/>
              <a:t>2</a:t>
            </a:r>
            <a:r>
              <a:rPr lang="ja-JP" altLang="en-US" dirty="0" smtClean="0"/>
              <a:t>位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以内に収まった．</a:t>
            </a:r>
            <a:endParaRPr lang="en-US" altLang="ja-JP" dirty="0" smtClean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26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37089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結論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 smtClean="0"/>
              <a:t>UCS</a:t>
            </a:r>
            <a:r>
              <a:rPr kumimoji="1" lang="ja-JP" altLang="en-US" dirty="0" smtClean="0"/>
              <a:t>を改良した，</a:t>
            </a:r>
            <a:r>
              <a:rPr kumimoji="1" lang="en-US" altLang="ja-JP" dirty="0" smtClean="0"/>
              <a:t>LP</a:t>
            </a:r>
            <a:r>
              <a:rPr kumimoji="1" lang="ja-JP" altLang="en-US" dirty="0" smtClean="0"/>
              <a:t>ベースのアルゴリズムである</a:t>
            </a:r>
            <a:r>
              <a:rPr kumimoji="1" lang="en-US" altLang="ja-JP" dirty="0" smtClean="0"/>
              <a:t>MLRBC</a:t>
            </a:r>
            <a:r>
              <a:rPr kumimoji="1" lang="ja-JP" altLang="en-US" dirty="0" smtClean="0"/>
              <a:t>を提案した．</a:t>
            </a:r>
            <a:endParaRPr kumimoji="1" lang="en-US" altLang="ja-JP" dirty="0" smtClean="0"/>
          </a:p>
          <a:p>
            <a:r>
              <a:rPr lang="ja-JP" altLang="en-US" dirty="0" smtClean="0"/>
              <a:t>数値</a:t>
            </a:r>
            <a:r>
              <a:rPr lang="ja-JP" altLang="en-US" dirty="0"/>
              <a:t>実験</a:t>
            </a:r>
            <a:r>
              <a:rPr lang="ja-JP" altLang="en-US" dirty="0" smtClean="0"/>
              <a:t>により，提案手法は</a:t>
            </a:r>
            <a:r>
              <a:rPr lang="en-US" altLang="ja-JP" dirty="0" smtClean="0"/>
              <a:t>LP</a:t>
            </a:r>
            <a:r>
              <a:rPr lang="ja-JP" altLang="en-US" dirty="0" smtClean="0"/>
              <a:t>を適用した手法，マルチラベル識別問題において優れた手法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である</a:t>
            </a:r>
            <a:r>
              <a:rPr lang="en-US" altLang="ja-JP" dirty="0" err="1" smtClean="0"/>
              <a:t>RA</a:t>
            </a:r>
            <a:r>
              <a:rPr lang="en-US" altLang="ja-JP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ja-JP" dirty="0" err="1" smtClean="0"/>
              <a:t>EL</a:t>
            </a:r>
            <a:r>
              <a:rPr lang="ja-JP" altLang="en-US" dirty="0" smtClean="0"/>
              <a:t>を上回る性能を示した．</a:t>
            </a:r>
            <a:endParaRPr lang="en-US" altLang="ja-JP" dirty="0" smtClean="0"/>
          </a:p>
          <a:p>
            <a:r>
              <a:rPr lang="ja-JP" altLang="en-US" dirty="0"/>
              <a:t>今後</a:t>
            </a:r>
            <a:r>
              <a:rPr lang="ja-JP" altLang="en-US" dirty="0" smtClean="0"/>
              <a:t>の課題として，</a:t>
            </a:r>
            <a:r>
              <a:rPr lang="en-US" altLang="ja-JP" dirty="0" smtClean="0"/>
              <a:t>UCS</a:t>
            </a:r>
            <a:r>
              <a:rPr lang="ja-JP" altLang="en-US" dirty="0" smtClean="0"/>
              <a:t>におけるルールの探索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手法の改良や，閾値</a:t>
            </a:r>
            <a:r>
              <a:rPr lang="en-US" altLang="ja-JP" i="1" dirty="0" smtClean="0">
                <a:latin typeface="Symbol" panose="05050102010706020507" pitchFamily="18" charset="2"/>
                <a:cs typeface="Times New Roman" panose="02020603050405020304" pitchFamily="18" charset="0"/>
              </a:rPr>
              <a:t>d</a:t>
            </a:r>
            <a:r>
              <a:rPr lang="ja-JP" altLang="en-US" dirty="0" smtClean="0"/>
              <a:t>の動的な設定手法の検討が挙げられる．</a:t>
            </a:r>
            <a:endParaRPr lang="en-US" altLang="ja-JP" dirty="0" smtClean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27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765191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/>
          <p:cNvSpPr>
            <a:spLocks noGrp="1"/>
          </p:cNvSpPr>
          <p:nvPr>
            <p:ph type="sldNum" sz="quarter" idx="4294967295"/>
          </p:nvPr>
        </p:nvSpPr>
        <p:spPr>
          <a:xfrm>
            <a:off x="7010400" y="333375"/>
            <a:ext cx="2133600" cy="476250"/>
          </a:xfrm>
          <a:prstGeom prst="rect">
            <a:avLst/>
          </a:prstGeom>
        </p:spPr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28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278367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Appendix</a:t>
            </a:r>
            <a:endParaRPr kumimoji="1" lang="ja-JP" altLang="en-US" dirty="0"/>
          </a:p>
        </p:txBody>
      </p:sp>
      <p:sp>
        <p:nvSpPr>
          <p:cNvPr id="60" name="コンテンツ プレースホルダー 59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 smtClean="0"/>
              <a:t>ex1)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29</a:t>
            </a:fld>
            <a:endParaRPr kumimoji="1" lang="ja-JP" altLang="en-US" dirty="0"/>
          </a:p>
        </p:txBody>
      </p:sp>
      <p:grpSp>
        <p:nvGrpSpPr>
          <p:cNvPr id="51" name="グループ化 50"/>
          <p:cNvGrpSpPr/>
          <p:nvPr/>
        </p:nvGrpSpPr>
        <p:grpSpPr>
          <a:xfrm>
            <a:off x="447703" y="2379726"/>
            <a:ext cx="5788865" cy="3457409"/>
            <a:chOff x="1039153" y="1577340"/>
            <a:chExt cx="5788865" cy="3457409"/>
          </a:xfrm>
        </p:grpSpPr>
        <p:sp>
          <p:nvSpPr>
            <p:cNvPr id="20" name="円/楕円 19"/>
            <p:cNvSpPr/>
            <p:nvPr/>
          </p:nvSpPr>
          <p:spPr>
            <a:xfrm>
              <a:off x="3006315" y="1792291"/>
              <a:ext cx="279400" cy="2794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円/楕円 23"/>
            <p:cNvSpPr/>
            <p:nvPr/>
          </p:nvSpPr>
          <p:spPr>
            <a:xfrm>
              <a:off x="3039652" y="3158180"/>
              <a:ext cx="212725" cy="21272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円/楕円 24"/>
            <p:cNvSpPr/>
            <p:nvPr/>
          </p:nvSpPr>
          <p:spPr>
            <a:xfrm>
              <a:off x="4051555" y="2387772"/>
              <a:ext cx="212725" cy="21272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円/楕円 25"/>
            <p:cNvSpPr/>
            <p:nvPr/>
          </p:nvSpPr>
          <p:spPr>
            <a:xfrm>
              <a:off x="5063458" y="3747228"/>
              <a:ext cx="212725" cy="21272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円/楕円 26"/>
            <p:cNvSpPr/>
            <p:nvPr/>
          </p:nvSpPr>
          <p:spPr>
            <a:xfrm>
              <a:off x="6075362" y="3466880"/>
              <a:ext cx="212725" cy="21272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50" name="グループ化 49"/>
            <p:cNvGrpSpPr/>
            <p:nvPr/>
          </p:nvGrpSpPr>
          <p:grpSpPr>
            <a:xfrm>
              <a:off x="1039153" y="1577340"/>
              <a:ext cx="5788865" cy="3457409"/>
              <a:chOff x="1039153" y="1577340"/>
              <a:chExt cx="5788865" cy="3457409"/>
            </a:xfrm>
          </p:grpSpPr>
          <p:grpSp>
            <p:nvGrpSpPr>
              <p:cNvPr id="32" name="グループ化 31"/>
              <p:cNvGrpSpPr/>
              <p:nvPr/>
            </p:nvGrpSpPr>
            <p:grpSpPr>
              <a:xfrm>
                <a:off x="2206622" y="1577340"/>
                <a:ext cx="4621396" cy="2594611"/>
                <a:chOff x="2206622" y="1577340"/>
                <a:chExt cx="4621396" cy="2594611"/>
              </a:xfrm>
            </p:grpSpPr>
            <p:cxnSp>
              <p:nvCxnSpPr>
                <p:cNvPr id="14" name="直線矢印コネクタ 13"/>
                <p:cNvCxnSpPr/>
                <p:nvPr/>
              </p:nvCxnSpPr>
              <p:spPr>
                <a:xfrm flipV="1">
                  <a:off x="2206622" y="4156360"/>
                  <a:ext cx="4621396" cy="1305"/>
                </a:xfrm>
                <a:prstGeom prst="straightConnector1">
                  <a:avLst/>
                </a:prstGeom>
                <a:ln w="762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直線矢印コネクタ 11"/>
                <p:cNvCxnSpPr/>
                <p:nvPr/>
              </p:nvCxnSpPr>
              <p:spPr>
                <a:xfrm flipV="1">
                  <a:off x="2246092" y="1577340"/>
                  <a:ext cx="0" cy="2594611"/>
                </a:xfrm>
                <a:prstGeom prst="straightConnector1">
                  <a:avLst/>
                </a:prstGeom>
                <a:ln w="762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9" name="直線コネクタ 28"/>
              <p:cNvCxnSpPr/>
              <p:nvPr/>
            </p:nvCxnSpPr>
            <p:spPr>
              <a:xfrm>
                <a:off x="2246092" y="3051810"/>
                <a:ext cx="4459808" cy="0"/>
              </a:xfrm>
              <a:prstGeom prst="line">
                <a:avLst/>
              </a:prstGeom>
              <a:ln w="38100">
                <a:solidFill>
                  <a:schemeClr val="tx1"/>
                </a:solidFill>
                <a:prstDash val="sys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" name="グループ化 38"/>
              <p:cNvGrpSpPr/>
              <p:nvPr/>
            </p:nvGrpSpPr>
            <p:grpSpPr>
              <a:xfrm>
                <a:off x="1039153" y="1764674"/>
                <a:ext cx="1100584" cy="2574271"/>
                <a:chOff x="1039153" y="1764674"/>
                <a:chExt cx="1100584" cy="2574271"/>
              </a:xfrm>
            </p:grpSpPr>
            <p:sp>
              <p:nvSpPr>
                <p:cNvPr id="17" name="テキスト ボックス 16"/>
                <p:cNvSpPr txBox="1"/>
                <p:nvPr/>
              </p:nvSpPr>
              <p:spPr>
                <a:xfrm rot="16200000">
                  <a:off x="430813" y="2613035"/>
                  <a:ext cx="1739900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dirty="0"/>
                    <a:t>rank</a:t>
                  </a:r>
                  <a:endParaRPr kumimoji="1" lang="ja-JP" altLang="en-US" sz="2800" dirty="0" smtClean="0"/>
                </a:p>
              </p:txBody>
            </p:sp>
            <p:sp>
              <p:nvSpPr>
                <p:cNvPr id="34" name="テキスト ボックス 33"/>
                <p:cNvSpPr txBox="1"/>
                <p:nvPr/>
              </p:nvSpPr>
              <p:spPr>
                <a:xfrm rot="16200000">
                  <a:off x="1703188" y="3902398"/>
                  <a:ext cx="349875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dirty="0"/>
                    <a:t>0</a:t>
                  </a:r>
                  <a:endParaRPr kumimoji="1" lang="ja-JP" altLang="en-US" sz="2800" dirty="0" smtClean="0"/>
                </a:p>
              </p:txBody>
            </p:sp>
            <p:sp>
              <p:nvSpPr>
                <p:cNvPr id="35" name="テキスト ボックス 34"/>
                <p:cNvSpPr txBox="1"/>
                <p:nvPr/>
              </p:nvSpPr>
              <p:spPr>
                <a:xfrm rot="16200000">
                  <a:off x="1703189" y="1678002"/>
                  <a:ext cx="349875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dirty="0" smtClean="0"/>
                    <a:t>1</a:t>
                  </a:r>
                  <a:endParaRPr kumimoji="1" lang="ja-JP" altLang="en-US" sz="2800" dirty="0" smtClean="0"/>
                </a:p>
              </p:txBody>
            </p:sp>
            <p:sp>
              <p:nvSpPr>
                <p:cNvPr id="36" name="テキスト ボックス 35"/>
                <p:cNvSpPr txBox="1"/>
                <p:nvPr/>
              </p:nvSpPr>
              <p:spPr>
                <a:xfrm rot="16200000">
                  <a:off x="1703188" y="2790200"/>
                  <a:ext cx="349875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en-US" altLang="ja-JP" sz="2800" i="1" dirty="0" smtClean="0">
                      <a:latin typeface="Symbol" panose="05050102010706020507" pitchFamily="18" charset="2"/>
                    </a:rPr>
                    <a:t>d</a:t>
                  </a:r>
                  <a:endParaRPr kumimoji="1" lang="ja-JP" altLang="en-US" sz="2800" i="1" dirty="0" smtClean="0">
                    <a:latin typeface="Symbol" panose="05050102010706020507" pitchFamily="18" charset="2"/>
                  </a:endParaRPr>
                </a:p>
              </p:txBody>
            </p:sp>
          </p:grpSp>
          <p:cxnSp>
            <p:nvCxnSpPr>
              <p:cNvPr id="38" name="直線コネクタ 37"/>
              <p:cNvCxnSpPr/>
              <p:nvPr/>
            </p:nvCxnSpPr>
            <p:spPr>
              <a:xfrm>
                <a:off x="2246092" y="1939612"/>
                <a:ext cx="4459808" cy="0"/>
              </a:xfrm>
              <a:prstGeom prst="line">
                <a:avLst/>
              </a:prstGeom>
              <a:ln w="38100">
                <a:solidFill>
                  <a:schemeClr val="tx1"/>
                </a:solidFill>
                <a:prstDash val="sys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9" name="グループ化 48"/>
              <p:cNvGrpSpPr/>
              <p:nvPr/>
            </p:nvGrpSpPr>
            <p:grpSpPr>
              <a:xfrm>
                <a:off x="3000748" y="4243406"/>
                <a:ext cx="3320677" cy="791343"/>
                <a:chOff x="3000748" y="4243406"/>
                <a:chExt cx="3320677" cy="791343"/>
              </a:xfrm>
            </p:grpSpPr>
            <p:sp>
              <p:nvSpPr>
                <p:cNvPr id="16" name="テキスト ボックス 15"/>
                <p:cNvSpPr txBox="1"/>
                <p:nvPr/>
              </p:nvSpPr>
              <p:spPr>
                <a:xfrm>
                  <a:off x="3931235" y="4511529"/>
                  <a:ext cx="1739900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en-US" altLang="ja-JP" sz="2800" dirty="0" smtClean="0"/>
                    <a:t>class</a:t>
                  </a:r>
                  <a:endParaRPr kumimoji="1" lang="ja-JP" altLang="en-US" sz="2800" dirty="0" smtClean="0"/>
                </a:p>
              </p:txBody>
            </p:sp>
            <p:sp>
              <p:nvSpPr>
                <p:cNvPr id="43" name="テキスト ボックス 42"/>
                <p:cNvSpPr txBox="1"/>
                <p:nvPr/>
              </p:nvSpPr>
              <p:spPr>
                <a:xfrm>
                  <a:off x="3000748" y="4243406"/>
                  <a:ext cx="290532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i="1" dirty="0" smtClean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a</a:t>
                  </a:r>
                  <a:endParaRPr kumimoji="1" lang="ja-JP" altLang="en-US" sz="28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6" name="テキスト ボックス 45"/>
                <p:cNvSpPr txBox="1"/>
                <p:nvPr/>
              </p:nvSpPr>
              <p:spPr>
                <a:xfrm>
                  <a:off x="4010796" y="4243406"/>
                  <a:ext cx="290532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i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b</a:t>
                  </a:r>
                  <a:endParaRPr kumimoji="1" lang="ja-JP" altLang="en-US" sz="28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7" name="テキスト ボックス 46"/>
                <p:cNvSpPr txBox="1"/>
                <p:nvPr/>
              </p:nvSpPr>
              <p:spPr>
                <a:xfrm>
                  <a:off x="5020844" y="4243406"/>
                  <a:ext cx="290532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i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</a:t>
                  </a:r>
                  <a:endParaRPr kumimoji="1" lang="ja-JP" altLang="en-US" sz="28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8" name="テキスト ボックス 47"/>
                <p:cNvSpPr txBox="1"/>
                <p:nvPr/>
              </p:nvSpPr>
              <p:spPr>
                <a:xfrm>
                  <a:off x="6030893" y="4243406"/>
                  <a:ext cx="290532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i="1" dirty="0" smtClean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</a:t>
                  </a:r>
                  <a:endParaRPr kumimoji="1" lang="ja-JP" altLang="en-US" sz="28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</p:grpSp>
        <p:sp>
          <p:nvSpPr>
            <p:cNvPr id="22" name="円/楕円 21"/>
            <p:cNvSpPr/>
            <p:nvPr/>
          </p:nvSpPr>
          <p:spPr>
            <a:xfrm>
              <a:off x="5030121" y="4018915"/>
              <a:ext cx="279400" cy="2794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円/楕円 22"/>
            <p:cNvSpPr/>
            <p:nvPr/>
          </p:nvSpPr>
          <p:spPr>
            <a:xfrm>
              <a:off x="6042025" y="4018915"/>
              <a:ext cx="279400" cy="2794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円/楕円 20"/>
            <p:cNvSpPr/>
            <p:nvPr/>
          </p:nvSpPr>
          <p:spPr>
            <a:xfrm>
              <a:off x="4018218" y="1792291"/>
              <a:ext cx="279400" cy="2794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8" name="グループ化 57"/>
          <p:cNvGrpSpPr/>
          <p:nvPr/>
        </p:nvGrpSpPr>
        <p:grpSpPr>
          <a:xfrm>
            <a:off x="5868387" y="1368282"/>
            <a:ext cx="3031954" cy="954107"/>
            <a:chOff x="7962388" y="2523916"/>
            <a:chExt cx="3031954" cy="954107"/>
          </a:xfrm>
        </p:grpSpPr>
        <p:sp>
          <p:nvSpPr>
            <p:cNvPr id="57" name="テキスト ボックス 56"/>
            <p:cNvSpPr txBox="1"/>
            <p:nvPr/>
          </p:nvSpPr>
          <p:spPr>
            <a:xfrm>
              <a:off x="7962388" y="2523916"/>
              <a:ext cx="3031954" cy="95410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prstDash val="sysDash"/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800" dirty="0" smtClean="0"/>
                <a:t>　 ：</a:t>
              </a:r>
              <a:r>
                <a:rPr kumimoji="1" lang="en-US" altLang="ja-JP" sz="2800" dirty="0" smtClean="0"/>
                <a:t>correct label</a:t>
              </a:r>
            </a:p>
            <a:p>
              <a:r>
                <a:rPr lang="ja-JP" altLang="en-US" sz="2800" dirty="0" smtClean="0"/>
                <a:t>　 ：</a:t>
              </a:r>
              <a:r>
                <a:rPr lang="en-US" altLang="ja-JP" sz="2800" dirty="0" smtClean="0"/>
                <a:t>predicted label</a:t>
              </a:r>
              <a:endParaRPr kumimoji="1" lang="ja-JP" altLang="en-US" sz="2800" dirty="0" smtClean="0"/>
            </a:p>
          </p:txBody>
        </p:sp>
        <p:sp>
          <p:nvSpPr>
            <p:cNvPr id="55" name="円/楕円 54"/>
            <p:cNvSpPr/>
            <p:nvPr/>
          </p:nvSpPr>
          <p:spPr>
            <a:xfrm>
              <a:off x="8117844" y="3150998"/>
              <a:ext cx="212725" cy="21272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円/楕円 55"/>
            <p:cNvSpPr/>
            <p:nvPr/>
          </p:nvSpPr>
          <p:spPr>
            <a:xfrm>
              <a:off x="8084506" y="2707917"/>
              <a:ext cx="279400" cy="2794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59" name="テキスト ボックス 58"/>
          <p:cNvSpPr txBox="1"/>
          <p:nvPr/>
        </p:nvSpPr>
        <p:spPr>
          <a:xfrm>
            <a:off x="1151796" y="5723120"/>
            <a:ext cx="3991497" cy="1077218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en-US" altLang="ja-JP" sz="3200" dirty="0" smtClean="0"/>
              <a:t>HL = 0.25</a:t>
            </a:r>
          </a:p>
          <a:p>
            <a:r>
              <a:rPr lang="en-US" altLang="ja-JP" sz="3200" dirty="0" smtClean="0"/>
              <a:t>Rank Loss = 0 </a:t>
            </a:r>
            <a:endParaRPr kumimoji="1" lang="ja-JP" altLang="en-US" sz="3200" dirty="0" smtClean="0"/>
          </a:p>
        </p:txBody>
      </p:sp>
      <p:sp>
        <p:nvSpPr>
          <p:cNvPr id="65" name="テキスト ボックス 64"/>
          <p:cNvSpPr txBox="1"/>
          <p:nvPr/>
        </p:nvSpPr>
        <p:spPr>
          <a:xfrm>
            <a:off x="1151796" y="1366705"/>
            <a:ext cx="2844800" cy="954107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ja-JP" sz="2800" b="1" dirty="0" smtClean="0"/>
              <a:t> </a:t>
            </a:r>
            <a:r>
              <a:rPr lang="en-US" altLang="ja-JP" sz="2800" dirty="0" smtClean="0"/>
              <a:t>= (1, 1, 0, 0)</a:t>
            </a:r>
          </a:p>
          <a:p>
            <a:pPr algn="ctr"/>
            <a:r>
              <a:rPr lang="en-US" altLang="ja-JP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altLang="ja-JP" sz="2800" b="1" dirty="0" smtClean="0"/>
              <a:t> </a:t>
            </a:r>
            <a:r>
              <a:rPr lang="en-US" altLang="ja-JP" sz="2800" dirty="0"/>
              <a:t>= </a:t>
            </a:r>
            <a:r>
              <a:rPr lang="en-US" altLang="ja-JP" sz="2800" dirty="0" smtClean="0"/>
              <a:t>(0, </a:t>
            </a:r>
            <a:r>
              <a:rPr lang="en-US" altLang="ja-JP" sz="2800" dirty="0"/>
              <a:t>1, 0, 0</a:t>
            </a:r>
            <a:r>
              <a:rPr lang="en-US" altLang="ja-JP" sz="2800" dirty="0" smtClean="0"/>
              <a:t>)</a:t>
            </a:r>
            <a:endParaRPr lang="en-US" altLang="ja-JP" sz="2800" dirty="0"/>
          </a:p>
        </p:txBody>
      </p:sp>
    </p:spTree>
    <p:extLst>
      <p:ext uri="{BB962C8B-B14F-4D97-AF65-F5344CB8AC3E}">
        <p14:creationId xmlns:p14="http://schemas.microsoft.com/office/powerpoint/2010/main" val="1324787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Appendix</a:t>
            </a:r>
            <a:endParaRPr kumimoji="1" lang="ja-JP" altLang="en-US" dirty="0"/>
          </a:p>
        </p:txBody>
      </p:sp>
      <p:sp>
        <p:nvSpPr>
          <p:cNvPr id="60" name="コンテンツ プレースホルダー 59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 smtClean="0"/>
              <a:t>ex2)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30</a:t>
            </a:fld>
            <a:endParaRPr kumimoji="1" lang="ja-JP" altLang="en-US" dirty="0"/>
          </a:p>
        </p:txBody>
      </p:sp>
      <p:grpSp>
        <p:nvGrpSpPr>
          <p:cNvPr id="58" name="グループ化 57"/>
          <p:cNvGrpSpPr/>
          <p:nvPr/>
        </p:nvGrpSpPr>
        <p:grpSpPr>
          <a:xfrm>
            <a:off x="5868387" y="1368282"/>
            <a:ext cx="3031954" cy="954107"/>
            <a:chOff x="7962388" y="2523916"/>
            <a:chExt cx="3031954" cy="954107"/>
          </a:xfrm>
        </p:grpSpPr>
        <p:sp>
          <p:nvSpPr>
            <p:cNvPr id="57" name="テキスト ボックス 56"/>
            <p:cNvSpPr txBox="1"/>
            <p:nvPr/>
          </p:nvSpPr>
          <p:spPr>
            <a:xfrm>
              <a:off x="7962388" y="2523916"/>
              <a:ext cx="3031954" cy="95410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prstDash val="sysDash"/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800" dirty="0" smtClean="0"/>
                <a:t>　 ：</a:t>
              </a:r>
              <a:r>
                <a:rPr kumimoji="1" lang="en-US" altLang="ja-JP" sz="2800" dirty="0" smtClean="0"/>
                <a:t>correct label</a:t>
              </a:r>
            </a:p>
            <a:p>
              <a:r>
                <a:rPr lang="ja-JP" altLang="en-US" sz="2800" dirty="0" smtClean="0"/>
                <a:t>　 ：</a:t>
              </a:r>
              <a:r>
                <a:rPr lang="en-US" altLang="ja-JP" sz="2800" dirty="0" smtClean="0"/>
                <a:t>predicted label</a:t>
              </a:r>
              <a:endParaRPr kumimoji="1" lang="ja-JP" altLang="en-US" sz="2800" dirty="0" smtClean="0"/>
            </a:p>
          </p:txBody>
        </p:sp>
        <p:sp>
          <p:nvSpPr>
            <p:cNvPr id="55" name="円/楕円 54"/>
            <p:cNvSpPr/>
            <p:nvPr/>
          </p:nvSpPr>
          <p:spPr>
            <a:xfrm>
              <a:off x="8117844" y="3150998"/>
              <a:ext cx="212725" cy="21272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円/楕円 55"/>
            <p:cNvSpPr/>
            <p:nvPr/>
          </p:nvSpPr>
          <p:spPr>
            <a:xfrm>
              <a:off x="8084506" y="2707917"/>
              <a:ext cx="279400" cy="2794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04" name="テキスト ボックス 103"/>
          <p:cNvSpPr txBox="1"/>
          <p:nvPr/>
        </p:nvSpPr>
        <p:spPr>
          <a:xfrm>
            <a:off x="1151796" y="1366705"/>
            <a:ext cx="2844800" cy="954107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ja-JP" sz="2800" b="1" dirty="0" smtClean="0"/>
              <a:t> </a:t>
            </a:r>
            <a:r>
              <a:rPr lang="en-US" altLang="ja-JP" sz="2800" dirty="0" smtClean="0"/>
              <a:t>= (1, 1, 0, 0)</a:t>
            </a:r>
          </a:p>
          <a:p>
            <a:pPr algn="ctr"/>
            <a:r>
              <a:rPr lang="en-US" altLang="ja-JP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altLang="ja-JP" sz="2800" b="1" dirty="0" smtClean="0"/>
              <a:t> </a:t>
            </a:r>
            <a:r>
              <a:rPr lang="en-US" altLang="ja-JP" sz="2800" dirty="0"/>
              <a:t>= </a:t>
            </a:r>
            <a:r>
              <a:rPr lang="en-US" altLang="ja-JP" sz="2800" dirty="0" smtClean="0"/>
              <a:t>(0, </a:t>
            </a:r>
            <a:r>
              <a:rPr lang="en-US" altLang="ja-JP" sz="2800" dirty="0"/>
              <a:t>1, 0, 0</a:t>
            </a:r>
            <a:r>
              <a:rPr lang="en-US" altLang="ja-JP" sz="2800" dirty="0" smtClean="0"/>
              <a:t>)</a:t>
            </a:r>
            <a:endParaRPr lang="en-US" altLang="ja-JP" sz="2800" dirty="0"/>
          </a:p>
        </p:txBody>
      </p:sp>
      <p:grpSp>
        <p:nvGrpSpPr>
          <p:cNvPr id="106" name="グループ化 105"/>
          <p:cNvGrpSpPr/>
          <p:nvPr/>
        </p:nvGrpSpPr>
        <p:grpSpPr>
          <a:xfrm>
            <a:off x="447703" y="2379726"/>
            <a:ext cx="5788865" cy="3457409"/>
            <a:chOff x="1039153" y="1577340"/>
            <a:chExt cx="5788865" cy="3457409"/>
          </a:xfrm>
        </p:grpSpPr>
        <p:sp>
          <p:nvSpPr>
            <p:cNvPr id="107" name="円/楕円 106"/>
            <p:cNvSpPr/>
            <p:nvPr/>
          </p:nvSpPr>
          <p:spPr>
            <a:xfrm>
              <a:off x="3006315" y="1792291"/>
              <a:ext cx="279400" cy="2794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8" name="円/楕円 107"/>
            <p:cNvSpPr/>
            <p:nvPr/>
          </p:nvSpPr>
          <p:spPr>
            <a:xfrm>
              <a:off x="3039652" y="3970980"/>
              <a:ext cx="212725" cy="21272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9" name="円/楕円 108"/>
            <p:cNvSpPr/>
            <p:nvPr/>
          </p:nvSpPr>
          <p:spPr>
            <a:xfrm>
              <a:off x="4051555" y="2387772"/>
              <a:ext cx="212725" cy="21272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0" name="円/楕円 109"/>
            <p:cNvSpPr/>
            <p:nvPr/>
          </p:nvSpPr>
          <p:spPr>
            <a:xfrm>
              <a:off x="5063458" y="3747228"/>
              <a:ext cx="212725" cy="21272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1" name="円/楕円 110"/>
            <p:cNvSpPr/>
            <p:nvPr/>
          </p:nvSpPr>
          <p:spPr>
            <a:xfrm>
              <a:off x="6075362" y="3466880"/>
              <a:ext cx="212725" cy="21272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12" name="グループ化 111"/>
            <p:cNvGrpSpPr/>
            <p:nvPr/>
          </p:nvGrpSpPr>
          <p:grpSpPr>
            <a:xfrm>
              <a:off x="1039153" y="1577340"/>
              <a:ext cx="5788865" cy="3457409"/>
              <a:chOff x="1039153" y="1577340"/>
              <a:chExt cx="5788865" cy="3457409"/>
            </a:xfrm>
          </p:grpSpPr>
          <p:grpSp>
            <p:nvGrpSpPr>
              <p:cNvPr id="116" name="グループ化 115"/>
              <p:cNvGrpSpPr/>
              <p:nvPr/>
            </p:nvGrpSpPr>
            <p:grpSpPr>
              <a:xfrm>
                <a:off x="2206622" y="1577340"/>
                <a:ext cx="4621396" cy="2594611"/>
                <a:chOff x="2206622" y="1577340"/>
                <a:chExt cx="4621396" cy="2594611"/>
              </a:xfrm>
            </p:grpSpPr>
            <p:cxnSp>
              <p:nvCxnSpPr>
                <p:cNvPr id="130" name="直線矢印コネクタ 129"/>
                <p:cNvCxnSpPr/>
                <p:nvPr/>
              </p:nvCxnSpPr>
              <p:spPr>
                <a:xfrm flipV="1">
                  <a:off x="2206622" y="4156360"/>
                  <a:ext cx="4621396" cy="1305"/>
                </a:xfrm>
                <a:prstGeom prst="straightConnector1">
                  <a:avLst/>
                </a:prstGeom>
                <a:ln w="762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直線矢印コネクタ 130"/>
                <p:cNvCxnSpPr/>
                <p:nvPr/>
              </p:nvCxnSpPr>
              <p:spPr>
                <a:xfrm flipV="1">
                  <a:off x="2246092" y="1577340"/>
                  <a:ext cx="0" cy="2594611"/>
                </a:xfrm>
                <a:prstGeom prst="straightConnector1">
                  <a:avLst/>
                </a:prstGeom>
                <a:ln w="762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17" name="直線コネクタ 116"/>
              <p:cNvCxnSpPr/>
              <p:nvPr/>
            </p:nvCxnSpPr>
            <p:spPr>
              <a:xfrm>
                <a:off x="2246092" y="3051810"/>
                <a:ext cx="4459808" cy="0"/>
              </a:xfrm>
              <a:prstGeom prst="line">
                <a:avLst/>
              </a:prstGeom>
              <a:ln w="38100">
                <a:solidFill>
                  <a:schemeClr val="tx1"/>
                </a:solidFill>
                <a:prstDash val="sys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8" name="グループ化 117"/>
              <p:cNvGrpSpPr/>
              <p:nvPr/>
            </p:nvGrpSpPr>
            <p:grpSpPr>
              <a:xfrm>
                <a:off x="1039153" y="1764674"/>
                <a:ext cx="1100584" cy="2574271"/>
                <a:chOff x="1039153" y="1764674"/>
                <a:chExt cx="1100584" cy="2574271"/>
              </a:xfrm>
            </p:grpSpPr>
            <p:sp>
              <p:nvSpPr>
                <p:cNvPr id="126" name="テキスト ボックス 125"/>
                <p:cNvSpPr txBox="1"/>
                <p:nvPr/>
              </p:nvSpPr>
              <p:spPr>
                <a:xfrm rot="16200000">
                  <a:off x="430813" y="2613035"/>
                  <a:ext cx="1739900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dirty="0"/>
                    <a:t>rank</a:t>
                  </a:r>
                  <a:endParaRPr kumimoji="1" lang="ja-JP" altLang="en-US" sz="2800" dirty="0" smtClean="0"/>
                </a:p>
              </p:txBody>
            </p:sp>
            <p:sp>
              <p:nvSpPr>
                <p:cNvPr id="127" name="テキスト ボックス 126"/>
                <p:cNvSpPr txBox="1"/>
                <p:nvPr/>
              </p:nvSpPr>
              <p:spPr>
                <a:xfrm rot="16200000">
                  <a:off x="1703188" y="3902398"/>
                  <a:ext cx="349875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dirty="0"/>
                    <a:t>0</a:t>
                  </a:r>
                  <a:endParaRPr kumimoji="1" lang="ja-JP" altLang="en-US" sz="2800" dirty="0" smtClean="0"/>
                </a:p>
              </p:txBody>
            </p:sp>
            <p:sp>
              <p:nvSpPr>
                <p:cNvPr id="128" name="テキスト ボックス 127"/>
                <p:cNvSpPr txBox="1"/>
                <p:nvPr/>
              </p:nvSpPr>
              <p:spPr>
                <a:xfrm rot="16200000">
                  <a:off x="1703189" y="1678002"/>
                  <a:ext cx="349875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dirty="0" smtClean="0"/>
                    <a:t>1</a:t>
                  </a:r>
                  <a:endParaRPr kumimoji="1" lang="ja-JP" altLang="en-US" sz="2800" dirty="0" smtClean="0"/>
                </a:p>
              </p:txBody>
            </p:sp>
            <p:sp>
              <p:nvSpPr>
                <p:cNvPr id="129" name="テキスト ボックス 128"/>
                <p:cNvSpPr txBox="1"/>
                <p:nvPr/>
              </p:nvSpPr>
              <p:spPr>
                <a:xfrm rot="16200000">
                  <a:off x="1703188" y="2790200"/>
                  <a:ext cx="349875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en-US" altLang="ja-JP" sz="2800" i="1" dirty="0" smtClean="0">
                      <a:latin typeface="Symbol" panose="05050102010706020507" pitchFamily="18" charset="2"/>
                    </a:rPr>
                    <a:t>d</a:t>
                  </a:r>
                  <a:endParaRPr kumimoji="1" lang="ja-JP" altLang="en-US" sz="2800" i="1" dirty="0" smtClean="0">
                    <a:latin typeface="Symbol" panose="05050102010706020507" pitchFamily="18" charset="2"/>
                  </a:endParaRPr>
                </a:p>
              </p:txBody>
            </p:sp>
          </p:grpSp>
          <p:cxnSp>
            <p:nvCxnSpPr>
              <p:cNvPr id="119" name="直線コネクタ 118"/>
              <p:cNvCxnSpPr/>
              <p:nvPr/>
            </p:nvCxnSpPr>
            <p:spPr>
              <a:xfrm>
                <a:off x="2246092" y="1939612"/>
                <a:ext cx="4459808" cy="0"/>
              </a:xfrm>
              <a:prstGeom prst="line">
                <a:avLst/>
              </a:prstGeom>
              <a:ln w="38100">
                <a:solidFill>
                  <a:schemeClr val="tx1"/>
                </a:solidFill>
                <a:prstDash val="sys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0" name="グループ化 119"/>
              <p:cNvGrpSpPr/>
              <p:nvPr/>
            </p:nvGrpSpPr>
            <p:grpSpPr>
              <a:xfrm>
                <a:off x="3000748" y="4243406"/>
                <a:ext cx="3320677" cy="791343"/>
                <a:chOff x="3000748" y="4243406"/>
                <a:chExt cx="3320677" cy="791343"/>
              </a:xfrm>
            </p:grpSpPr>
            <p:sp>
              <p:nvSpPr>
                <p:cNvPr id="121" name="テキスト ボックス 120"/>
                <p:cNvSpPr txBox="1"/>
                <p:nvPr/>
              </p:nvSpPr>
              <p:spPr>
                <a:xfrm>
                  <a:off x="3931235" y="4511529"/>
                  <a:ext cx="1739900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en-US" altLang="ja-JP" sz="2800" dirty="0" smtClean="0"/>
                    <a:t>class</a:t>
                  </a:r>
                  <a:endParaRPr kumimoji="1" lang="ja-JP" altLang="en-US" sz="2800" dirty="0" smtClean="0"/>
                </a:p>
              </p:txBody>
            </p:sp>
            <p:sp>
              <p:nvSpPr>
                <p:cNvPr id="122" name="テキスト ボックス 121"/>
                <p:cNvSpPr txBox="1"/>
                <p:nvPr/>
              </p:nvSpPr>
              <p:spPr>
                <a:xfrm>
                  <a:off x="3000748" y="4243406"/>
                  <a:ext cx="290532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i="1" dirty="0" smtClean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a</a:t>
                  </a:r>
                  <a:endParaRPr kumimoji="1" lang="ja-JP" altLang="en-US" sz="28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3" name="テキスト ボックス 122"/>
                <p:cNvSpPr txBox="1"/>
                <p:nvPr/>
              </p:nvSpPr>
              <p:spPr>
                <a:xfrm>
                  <a:off x="4010796" y="4243406"/>
                  <a:ext cx="290532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i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b</a:t>
                  </a:r>
                  <a:endParaRPr kumimoji="1" lang="ja-JP" altLang="en-US" sz="28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4" name="テキスト ボックス 123"/>
                <p:cNvSpPr txBox="1"/>
                <p:nvPr/>
              </p:nvSpPr>
              <p:spPr>
                <a:xfrm>
                  <a:off x="5020844" y="4243406"/>
                  <a:ext cx="290532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i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</a:t>
                  </a:r>
                  <a:endParaRPr kumimoji="1" lang="ja-JP" altLang="en-US" sz="28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5" name="テキスト ボックス 124"/>
                <p:cNvSpPr txBox="1"/>
                <p:nvPr/>
              </p:nvSpPr>
              <p:spPr>
                <a:xfrm>
                  <a:off x="6030893" y="4243406"/>
                  <a:ext cx="290532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sz="2800" i="1" dirty="0" smtClean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</a:t>
                  </a:r>
                  <a:endParaRPr kumimoji="1" lang="ja-JP" altLang="en-US" sz="2800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</p:grpSp>
        <p:sp>
          <p:nvSpPr>
            <p:cNvPr id="113" name="円/楕円 112"/>
            <p:cNvSpPr/>
            <p:nvPr/>
          </p:nvSpPr>
          <p:spPr>
            <a:xfrm>
              <a:off x="5030121" y="4018915"/>
              <a:ext cx="279400" cy="2794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4" name="円/楕円 113"/>
            <p:cNvSpPr/>
            <p:nvPr/>
          </p:nvSpPr>
          <p:spPr>
            <a:xfrm>
              <a:off x="6042025" y="4018915"/>
              <a:ext cx="279400" cy="2794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5" name="円/楕円 114"/>
            <p:cNvSpPr/>
            <p:nvPr/>
          </p:nvSpPr>
          <p:spPr>
            <a:xfrm>
              <a:off x="4018218" y="1792291"/>
              <a:ext cx="279400" cy="2794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2" name="テキスト ボックス 131"/>
          <p:cNvSpPr txBox="1"/>
          <p:nvPr/>
        </p:nvSpPr>
        <p:spPr>
          <a:xfrm>
            <a:off x="1151796" y="5723120"/>
            <a:ext cx="3991497" cy="1077218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en-US" altLang="ja-JP" sz="3200" dirty="0" smtClean="0"/>
              <a:t>HL = 0.25</a:t>
            </a:r>
          </a:p>
          <a:p>
            <a:r>
              <a:rPr lang="en-US" altLang="ja-JP" sz="3200" dirty="0" smtClean="0"/>
              <a:t>Rank Loss </a:t>
            </a:r>
            <a:r>
              <a:rPr lang="en-US" altLang="ja-JP" sz="3200" smtClean="0"/>
              <a:t>= 0.5 </a:t>
            </a:r>
            <a:endParaRPr kumimoji="1" lang="ja-JP" altLang="en-US" sz="3200" dirty="0" smtClean="0"/>
          </a:p>
        </p:txBody>
      </p:sp>
    </p:spTree>
    <p:extLst>
      <p:ext uri="{BB962C8B-B14F-4D97-AF65-F5344CB8AC3E}">
        <p14:creationId xmlns:p14="http://schemas.microsoft.com/office/powerpoint/2010/main" val="21461811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eme_Lab">
  <a:themeElements>
    <a:clrScheme name="ユーザー定義 1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00B050"/>
      </a:accent5>
      <a:accent6>
        <a:srgbClr val="F93DD5"/>
      </a:accent6>
      <a:hlink>
        <a:srgbClr val="009999"/>
      </a:hlink>
      <a:folHlink>
        <a:srgbClr val="99CC00"/>
      </a:folHlink>
    </a:clrScheme>
    <a:fontScheme name="ユーザー定義 1">
      <a:majorFont>
        <a:latin typeface="Arial"/>
        <a:ea typeface="ＭＳ Ｐゴシック"/>
        <a:cs typeface=""/>
      </a:majorFont>
      <a:minorFont>
        <a:latin typeface="Arial"/>
        <a:ea typeface="ＭＳ P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762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19050">
          <a:noFill/>
        </a:ln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240EDE69-6004-490A-8851-241177012245}" vid="{3655978B-9A6C-48D2-A3CA-A8F52A96FD45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83DD86A-5E61-4FA7-9BBC-C5C853AF8C1C}">
  <we:reference id="wa104380121" version="2.0.0.0" store="ja-JP" storeType="OMEX"/>
  <we:alternateReferences>
    <we:reference id="WA104380121" version="2.0.0.0" store="WA104380121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Theme_lab</Template>
  <TotalTime>1043</TotalTime>
  <Words>1423</Words>
  <Application>Microsoft Office PowerPoint</Application>
  <PresentationFormat>画面に合わせる (4:3)</PresentationFormat>
  <Paragraphs>473</Paragraphs>
  <Slides>30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30</vt:i4>
      </vt:variant>
    </vt:vector>
  </HeadingPairs>
  <TitlesOfParts>
    <vt:vector size="38" baseType="lpstr">
      <vt:lpstr>ＭＳ P ゴシック</vt:lpstr>
      <vt:lpstr>ＭＳ Ｐゴシック</vt:lpstr>
      <vt:lpstr>Arial</vt:lpstr>
      <vt:lpstr>Calibri</vt:lpstr>
      <vt:lpstr>Cambria Math</vt:lpstr>
      <vt:lpstr>Symbol</vt:lpstr>
      <vt:lpstr>Times New Roman</vt:lpstr>
      <vt:lpstr>Theme_Lab</vt:lpstr>
      <vt:lpstr>PowerPoint プレゼンテーション</vt:lpstr>
      <vt:lpstr>概要</vt:lpstr>
      <vt:lpstr>sUpervised Classifier system (UCS)</vt:lpstr>
      <vt:lpstr>sUpervised Classifier system (UCS)</vt:lpstr>
      <vt:lpstr>sUpervised Classifier system (UCS)</vt:lpstr>
      <vt:lpstr>sUpervised Classifier system (UCS)</vt:lpstr>
      <vt:lpstr>sUpervised Classifier system (UCS)</vt:lpstr>
      <vt:lpstr>sUpervised Classifier system (UCS)</vt:lpstr>
      <vt:lpstr>提案手法</vt:lpstr>
      <vt:lpstr>提案手法</vt:lpstr>
      <vt:lpstr>提案手法</vt:lpstr>
      <vt:lpstr>提案手法</vt:lpstr>
      <vt:lpstr>提案手法</vt:lpstr>
      <vt:lpstr>提案手法</vt:lpstr>
      <vt:lpstr>提案手法</vt:lpstr>
      <vt:lpstr>提案手法</vt:lpstr>
      <vt:lpstr>数値実験</vt:lpstr>
      <vt:lpstr>数値実験</vt:lpstr>
      <vt:lpstr>数値実験</vt:lpstr>
      <vt:lpstr>数値実験</vt:lpstr>
      <vt:lpstr>数値実験</vt:lpstr>
      <vt:lpstr>数値実験</vt:lpstr>
      <vt:lpstr>実験結果</vt:lpstr>
      <vt:lpstr>実験結果</vt:lpstr>
      <vt:lpstr>実験結果</vt:lpstr>
      <vt:lpstr>考察</vt:lpstr>
      <vt:lpstr>結論</vt:lpstr>
      <vt:lpstr>PowerPoint プレゼンテーション</vt:lpstr>
      <vt:lpstr>Appendix</vt:lpstr>
      <vt:lpstr>Appendix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瓜田 俊貴</dc:creator>
  <cp:lastModifiedBy>瓜田 俊貴</cp:lastModifiedBy>
  <cp:revision>110</cp:revision>
  <dcterms:created xsi:type="dcterms:W3CDTF">2019-09-02T15:16:24Z</dcterms:created>
  <dcterms:modified xsi:type="dcterms:W3CDTF">2019-11-05T19:02:20Z</dcterms:modified>
</cp:coreProperties>
</file>