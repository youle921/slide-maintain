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35"/>
  </p:notesMasterIdLst>
  <p:sldIdLst>
    <p:sldId id="329" r:id="rId2"/>
    <p:sldId id="259" r:id="rId3"/>
    <p:sldId id="296" r:id="rId4"/>
    <p:sldId id="302" r:id="rId5"/>
    <p:sldId id="306" r:id="rId6"/>
    <p:sldId id="307" r:id="rId7"/>
    <p:sldId id="299" r:id="rId8"/>
    <p:sldId id="305" r:id="rId9"/>
    <p:sldId id="298" r:id="rId10"/>
    <p:sldId id="308" r:id="rId11"/>
    <p:sldId id="309" r:id="rId12"/>
    <p:sldId id="330" r:id="rId13"/>
    <p:sldId id="332" r:id="rId14"/>
    <p:sldId id="333" r:id="rId15"/>
    <p:sldId id="310" r:id="rId16"/>
    <p:sldId id="314" r:id="rId17"/>
    <p:sldId id="313" r:id="rId18"/>
    <p:sldId id="311" r:id="rId19"/>
    <p:sldId id="328" r:id="rId20"/>
    <p:sldId id="301" r:id="rId21"/>
    <p:sldId id="315" r:id="rId22"/>
    <p:sldId id="316" r:id="rId23"/>
    <p:sldId id="300" r:id="rId24"/>
    <p:sldId id="317" r:id="rId25"/>
    <p:sldId id="318" r:id="rId26"/>
    <p:sldId id="325" r:id="rId27"/>
    <p:sldId id="326" r:id="rId28"/>
    <p:sldId id="327" r:id="rId29"/>
    <p:sldId id="323" r:id="rId30"/>
    <p:sldId id="295" r:id="rId31"/>
    <p:sldId id="319" r:id="rId32"/>
    <p:sldId id="320" r:id="rId33"/>
    <p:sldId id="321" r:id="rId3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6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723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C86A45-1864-4022-BFC2-712EA35300F2}" type="datetimeFigureOut">
              <a:rPr kumimoji="1" lang="ja-JP" altLang="en-US" smtClean="0"/>
              <a:t>2019/11/12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0EF386-0410-461B-B8A3-AC6CB450B8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1593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0EF386-0410-461B-B8A3-AC6CB450B89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146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Multi-label Classification Using Genetic-Based Machine Learning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altLang="ja-JP" dirty="0" err="1" smtClean="0"/>
              <a:t>Nazmi</a:t>
            </a:r>
            <a:r>
              <a:rPr lang="en-US" altLang="ja-JP" dirty="0" smtClean="0"/>
              <a:t> </a:t>
            </a:r>
            <a:r>
              <a:rPr lang="en-US" altLang="ja-JP" dirty="0" err="1" smtClean="0"/>
              <a:t>Shabnam</a:t>
            </a:r>
            <a:r>
              <a:rPr lang="en-US" altLang="ja-JP" dirty="0" smtClean="0"/>
              <a:t>,</a:t>
            </a:r>
            <a:r>
              <a:rPr lang="ja-JP" altLang="en-US" dirty="0"/>
              <a:t> </a:t>
            </a:r>
            <a:r>
              <a:rPr lang="en-US" altLang="ja-JP" dirty="0" smtClean="0"/>
              <a:t>Yan </a:t>
            </a:r>
            <a:r>
              <a:rPr lang="en-US" altLang="ja-JP" dirty="0" err="1" smtClean="0"/>
              <a:t>Xuyang</a:t>
            </a:r>
            <a:r>
              <a:rPr lang="en-US" altLang="ja-JP" dirty="0" smtClean="0"/>
              <a:t> and </a:t>
            </a:r>
            <a:r>
              <a:rPr lang="en-US" altLang="ja-JP" dirty="0" err="1" smtClean="0"/>
              <a:t>Homaifar</a:t>
            </a:r>
            <a:r>
              <a:rPr lang="en-US" altLang="ja-JP" dirty="0" smtClean="0"/>
              <a:t> </a:t>
            </a:r>
            <a:r>
              <a:rPr lang="en-US" altLang="ja-JP" dirty="0" err="1"/>
              <a:t>Abdollah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altLang="ja-JP" dirty="0" smtClean="0"/>
              <a:t>Proc</a:t>
            </a:r>
            <a:r>
              <a:rPr lang="en-US" altLang="ja-JP" smtClean="0"/>
              <a:t>. of </a:t>
            </a:r>
            <a:r>
              <a:rPr lang="en-US" altLang="ja-JP" dirty="0" smtClean="0"/>
              <a:t>the </a:t>
            </a:r>
            <a:r>
              <a:rPr lang="en-US" altLang="ja-JP" dirty="0"/>
              <a:t>IEEE International Conference on Systems, Man, and Cybernetics, </a:t>
            </a:r>
            <a:r>
              <a:rPr lang="en-US" altLang="ja-JP" dirty="0" smtClean="0"/>
              <a:t>pp.675-680, 2018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33320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マルチラベル識別問題に対応するため，様々</a:t>
            </a:r>
            <a:r>
              <a:rPr lang="ja-JP" altLang="en-US" dirty="0" smtClean="0"/>
              <a:t>な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機械学習手法</a:t>
            </a:r>
            <a:r>
              <a:rPr lang="ja-JP" altLang="en-US" dirty="0"/>
              <a:t>に</a:t>
            </a:r>
            <a:r>
              <a:rPr lang="ja-JP" altLang="en-US" dirty="0" smtClean="0"/>
              <a:t>対するアルゴリズム適応法による改良が研究されている．</a:t>
            </a:r>
            <a:endParaRPr lang="en-US" altLang="ja-JP" dirty="0"/>
          </a:p>
          <a:p>
            <a:r>
              <a:rPr kumimoji="1" lang="ja-JP" altLang="en-US" dirty="0" smtClean="0"/>
              <a:t>しかし，遺伝的機械学習に対するアルゴリズム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適応法による改良は研究されていない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遺伝的機械学習手法の</a:t>
            </a:r>
            <a:r>
              <a:rPr kumimoji="1" lang="en-US" altLang="ja-JP" dirty="0" smtClean="0"/>
              <a:t>1</a:t>
            </a:r>
            <a:r>
              <a:rPr kumimoji="1" lang="ja-JP" altLang="en-US" dirty="0" err="1" smtClean="0"/>
              <a:t>つで</a:t>
            </a:r>
            <a:r>
              <a:rPr kumimoji="1" lang="ja-JP" altLang="en-US" dirty="0" smtClean="0"/>
              <a:t>ある</a:t>
            </a:r>
            <a:r>
              <a:rPr lang="en-US" altLang="ja-JP" dirty="0" smtClean="0">
                <a:solidFill>
                  <a:schemeClr val="accent1"/>
                </a:solidFill>
              </a:rPr>
              <a:t>UCS</a:t>
            </a:r>
            <a:r>
              <a:rPr lang="ja-JP" altLang="en-US" dirty="0" smtClean="0">
                <a:solidFill>
                  <a:schemeClr val="accent1"/>
                </a:solidFill>
              </a:rPr>
              <a:t>を改良した，</a:t>
            </a:r>
            <a:r>
              <a:rPr lang="en-US" altLang="ja-JP" dirty="0" smtClean="0">
                <a:solidFill>
                  <a:schemeClr val="accent1"/>
                </a:solidFill>
              </a:rPr>
              <a:t>LP</a:t>
            </a:r>
            <a:r>
              <a:rPr lang="ja-JP" altLang="en-US" dirty="0" smtClean="0">
                <a:solidFill>
                  <a:schemeClr val="accent1"/>
                </a:solidFill>
              </a:rPr>
              <a:t>ベースの識別器</a:t>
            </a:r>
            <a:r>
              <a:rPr lang="ja-JP" altLang="en-US" dirty="0" smtClean="0"/>
              <a:t>であ</a:t>
            </a:r>
            <a:r>
              <a:rPr lang="ja-JP" altLang="en-US" dirty="0"/>
              <a:t>る</a:t>
            </a:r>
            <a:r>
              <a:rPr lang="en-US" altLang="ja-JP" dirty="0" smtClean="0"/>
              <a:t>Multi-Label </a:t>
            </a:r>
            <a:r>
              <a:rPr lang="en-US" altLang="ja-JP" dirty="0"/>
              <a:t>Rule-Based </a:t>
            </a:r>
            <a:r>
              <a:rPr lang="en-US" altLang="ja-JP" dirty="0" smtClean="0"/>
              <a:t>Classifier (</a:t>
            </a:r>
            <a:r>
              <a:rPr lang="en-US" altLang="ja-JP" dirty="0"/>
              <a:t>MLRBC</a:t>
            </a:r>
            <a:r>
              <a:rPr lang="en-US" altLang="ja-JP" dirty="0" smtClean="0"/>
              <a:t>) </a:t>
            </a:r>
            <a:r>
              <a:rPr lang="ja-JP" altLang="en-US" dirty="0" smtClean="0"/>
              <a:t>を提案する</a:t>
            </a:r>
            <a:r>
              <a:rPr lang="ja-JP" altLang="en-US" dirty="0"/>
              <a:t>．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sp>
        <p:nvSpPr>
          <p:cNvPr id="7" name="下矢印 6"/>
          <p:cNvSpPr/>
          <p:nvPr/>
        </p:nvSpPr>
        <p:spPr>
          <a:xfrm>
            <a:off x="4272475" y="4194790"/>
            <a:ext cx="675250" cy="6927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スライド番号プレースホルダー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86369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 smtClean="0"/>
              <a:t>ルール</a:t>
            </a:r>
            <a:r>
              <a:rPr lang="ja-JP" altLang="en-US" dirty="0"/>
              <a:t>ベース</a:t>
            </a:r>
            <a:r>
              <a:rPr lang="ja-JP" altLang="en-US" dirty="0" smtClean="0"/>
              <a:t>の進化型機械学習である，</a:t>
            </a:r>
            <a:r>
              <a:rPr lang="en-US" altLang="ja-JP" dirty="0" smtClean="0"/>
              <a:t>Learning classifier system</a:t>
            </a:r>
            <a:r>
              <a:rPr lang="ja-JP" altLang="en-US" dirty="0" smtClean="0"/>
              <a:t>の一種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 smtClean="0"/>
              <a:t>各個体は，</a:t>
            </a:r>
            <a:r>
              <a:rPr lang="en-US" altLang="ja-JP" dirty="0" smtClean="0"/>
              <a:t>If-then</a:t>
            </a:r>
            <a:r>
              <a:rPr lang="ja-JP" altLang="en-US" dirty="0" smtClean="0"/>
              <a:t>形式のルールを</a:t>
            </a:r>
            <a:r>
              <a:rPr lang="ja-JP" altLang="en-US" dirty="0"/>
              <a:t>保持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空</a:t>
            </a:r>
            <a:r>
              <a:rPr lang="ja-JP" altLang="en-US" dirty="0" smtClean="0"/>
              <a:t>の個体群から，</a:t>
            </a:r>
            <a:r>
              <a:rPr lang="en-US" altLang="ja-JP" dirty="0" smtClean="0"/>
              <a:t>covering mechanism</a:t>
            </a:r>
            <a:r>
              <a:rPr lang="ja-JP" altLang="en-US" dirty="0" smtClean="0"/>
              <a:t>と</a:t>
            </a:r>
            <a:r>
              <a:rPr lang="en-US" altLang="ja-JP" dirty="0" smtClean="0"/>
              <a:t>GA</a:t>
            </a:r>
            <a:r>
              <a:rPr lang="ja-JP" altLang="en-US" dirty="0" smtClean="0"/>
              <a:t>を用いて個体を生成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3038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grpSp>
        <p:nvGrpSpPr>
          <p:cNvPr id="47" name="グループ化 46"/>
          <p:cNvGrpSpPr/>
          <p:nvPr/>
        </p:nvGrpSpPr>
        <p:grpSpPr>
          <a:xfrm>
            <a:off x="1429119" y="1359954"/>
            <a:ext cx="6285763" cy="5372052"/>
            <a:chOff x="652353" y="1359954"/>
            <a:chExt cx="6285763" cy="5372052"/>
          </a:xfrm>
        </p:grpSpPr>
        <p:sp>
          <p:nvSpPr>
            <p:cNvPr id="9" name="テキスト ボックス 8"/>
            <p:cNvSpPr txBox="1"/>
            <p:nvPr/>
          </p:nvSpPr>
          <p:spPr>
            <a:xfrm>
              <a:off x="949679" y="4598517"/>
              <a:ext cx="2406162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 smtClean="0"/>
                <a:t>予測値の出力</a:t>
              </a:r>
              <a:endParaRPr kumimoji="1" lang="ja-JP" altLang="en-US" sz="2400" dirty="0" smtClean="0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945648" y="5286118"/>
              <a:ext cx="2414224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 smtClean="0"/>
                <a:t>パラメータ更新</a:t>
              </a:r>
              <a:endParaRPr kumimoji="1" lang="ja-JP" altLang="en-US" sz="2400" dirty="0" smtClean="0"/>
            </a:p>
          </p:txBody>
        </p:sp>
        <p:sp>
          <p:nvSpPr>
            <p:cNvPr id="5" name="テキスト ボックス 4"/>
            <p:cNvSpPr txBox="1"/>
            <p:nvPr/>
          </p:nvSpPr>
          <p:spPr>
            <a:xfrm>
              <a:off x="988072" y="1359954"/>
              <a:ext cx="2329376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/>
                <a:t>ランダム</a:t>
              </a:r>
              <a:r>
                <a:rPr lang="ja-JP" altLang="en-US" sz="2400" dirty="0" smtClean="0"/>
                <a:t>な</a:t>
              </a:r>
              <a:r>
                <a:rPr lang="en-US" altLang="ja-JP" sz="2400" dirty="0" smtClean="0"/>
                <a:t/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パターン</a:t>
              </a:r>
              <a:r>
                <a:rPr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ja-JP" altLang="en-US" sz="2400" dirty="0" smtClean="0"/>
                <a:t>を選択</a:t>
              </a:r>
              <a:endParaRPr kumimoji="1" lang="ja-JP" altLang="en-US" sz="2400" dirty="0" smtClean="0"/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652353" y="2531811"/>
              <a:ext cx="3000815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ja-JP" altLang="en-US" sz="2400" dirty="0" err="1" smtClean="0"/>
                <a:t>に適</a:t>
              </a:r>
              <a:r>
                <a:rPr lang="ja-JP" altLang="en-US" sz="2400" dirty="0" smtClean="0"/>
                <a:t>合するルールの</a:t>
              </a:r>
              <a:r>
                <a:rPr lang="en-US" altLang="ja-JP" sz="2400" dirty="0" smtClean="0"/>
                <a:t/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集合</a:t>
              </a:r>
              <a:r>
                <a:rPr lang="en-US" altLang="ja-JP" sz="2400" dirty="0" smtClean="0"/>
                <a:t>[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altLang="ja-JP" sz="2400" dirty="0" smtClean="0"/>
                <a:t>]</a:t>
              </a:r>
              <a:r>
                <a:rPr lang="ja-JP" altLang="en-US" sz="2400" dirty="0" smtClean="0"/>
                <a:t>の生成</a:t>
              </a:r>
              <a:endParaRPr lang="en-US" altLang="ja-JP" sz="2400" dirty="0" smtClean="0"/>
            </a:p>
          </p:txBody>
        </p:sp>
        <p:sp>
          <p:nvSpPr>
            <p:cNvPr id="8" name="フローチャート: 判断 7"/>
            <p:cNvSpPr/>
            <p:nvPr/>
          </p:nvSpPr>
          <p:spPr>
            <a:xfrm>
              <a:off x="961989" y="3703668"/>
              <a:ext cx="2381543" cy="668912"/>
            </a:xfrm>
            <a:prstGeom prst="flowChartDecision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kumimoji="1" lang="en-US" altLang="ja-JP" sz="2400" i="1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 </a:t>
              </a:r>
              <a:r>
                <a:rPr kumimoji="1" lang="en-US" altLang="ja-JP" sz="2400" dirty="0" smtClean="0">
                  <a:solidFill>
                    <a:schemeClr val="tx1"/>
                  </a:solidFill>
                </a:rPr>
                <a:t>= </a:t>
              </a:r>
              <a:r>
                <a:rPr kumimoji="1" lang="en-US" altLang="ja-JP" sz="2400" i="1" dirty="0" smtClean="0">
                  <a:solidFill>
                    <a:schemeClr val="tx1"/>
                  </a:solidFill>
                  <a:latin typeface="Symbol" panose="05050102010706020507" pitchFamily="18" charset="2"/>
                </a:rPr>
                <a:t>f</a:t>
              </a:r>
              <a:endParaRPr kumimoji="1" lang="ja-JP" altLang="en-US" sz="2400" i="1" dirty="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3952612" y="4750493"/>
              <a:ext cx="2985504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covering </a:t>
              </a:r>
              <a:r>
                <a:rPr lang="en-US" altLang="ja-JP" sz="2400" dirty="0" smtClean="0"/>
                <a:t>mechanism</a:t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による</a:t>
              </a:r>
              <a:r>
                <a:rPr lang="ja-JP" altLang="en-US" sz="2400" dirty="0"/>
                <a:t>個体</a:t>
              </a:r>
              <a:r>
                <a:rPr lang="ja-JP" altLang="en-US" sz="2400" dirty="0" smtClean="0"/>
                <a:t>生成</a:t>
              </a:r>
              <a:endParaRPr lang="en-US" altLang="ja-JP" sz="2400" dirty="0" smtClean="0"/>
            </a:p>
          </p:txBody>
        </p:sp>
        <p:sp>
          <p:nvSpPr>
            <p:cNvPr id="12" name="テキスト ボックス 11"/>
            <p:cNvSpPr txBox="1"/>
            <p:nvPr/>
          </p:nvSpPr>
          <p:spPr>
            <a:xfrm>
              <a:off x="669570" y="6270341"/>
              <a:ext cx="2966380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 smtClean="0"/>
                <a:t>GA</a:t>
              </a:r>
              <a:r>
                <a:rPr lang="ja-JP" altLang="en-US" sz="2400" dirty="0" smtClean="0"/>
                <a:t>による個体生成</a:t>
              </a:r>
              <a:endParaRPr lang="en-US" altLang="ja-JP" sz="2400" dirty="0" smtClean="0"/>
            </a:p>
          </p:txBody>
        </p:sp>
        <p:cxnSp>
          <p:nvCxnSpPr>
            <p:cNvPr id="18" name="直線矢印コネクタ 17"/>
            <p:cNvCxnSpPr>
              <a:stCxn id="5" idx="2"/>
              <a:endCxn id="7" idx="0"/>
            </p:cNvCxnSpPr>
            <p:nvPr/>
          </p:nvCxnSpPr>
          <p:spPr>
            <a:xfrm>
              <a:off x="2152760" y="2190951"/>
              <a:ext cx="1" cy="3408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/>
            <p:cNvCxnSpPr>
              <a:stCxn id="7" idx="2"/>
              <a:endCxn id="8" idx="0"/>
            </p:cNvCxnSpPr>
            <p:nvPr/>
          </p:nvCxnSpPr>
          <p:spPr>
            <a:xfrm>
              <a:off x="2152761" y="3362808"/>
              <a:ext cx="0" cy="3408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/>
            <p:cNvCxnSpPr>
              <a:stCxn id="8" idx="2"/>
              <a:endCxn id="9" idx="0"/>
            </p:cNvCxnSpPr>
            <p:nvPr/>
          </p:nvCxnSpPr>
          <p:spPr>
            <a:xfrm flipH="1">
              <a:off x="2152760" y="4372580"/>
              <a:ext cx="1" cy="2259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/>
            <p:cNvCxnSpPr>
              <a:stCxn id="9" idx="2"/>
              <a:endCxn id="10" idx="0"/>
            </p:cNvCxnSpPr>
            <p:nvPr/>
          </p:nvCxnSpPr>
          <p:spPr>
            <a:xfrm>
              <a:off x="2152760" y="5060182"/>
              <a:ext cx="0" cy="22593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/>
            <p:cNvCxnSpPr>
              <a:stCxn id="10" idx="2"/>
              <a:endCxn id="12" idx="0"/>
            </p:cNvCxnSpPr>
            <p:nvPr/>
          </p:nvCxnSpPr>
          <p:spPr>
            <a:xfrm>
              <a:off x="2152760" y="5747783"/>
              <a:ext cx="0" cy="5225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/>
            <p:cNvCxnSpPr>
              <a:stCxn id="8" idx="3"/>
              <a:endCxn id="11" idx="0"/>
            </p:cNvCxnSpPr>
            <p:nvPr/>
          </p:nvCxnSpPr>
          <p:spPr>
            <a:xfrm>
              <a:off x="3343532" y="4038124"/>
              <a:ext cx="2101832" cy="712369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2"/>
            <p:cNvCxnSpPr>
              <a:endCxn id="11" idx="2"/>
            </p:cNvCxnSpPr>
            <p:nvPr/>
          </p:nvCxnSpPr>
          <p:spPr>
            <a:xfrm flipV="1">
              <a:off x="2152760" y="5581490"/>
              <a:ext cx="3292604" cy="430690"/>
            </a:xfrm>
            <a:prstGeom prst="bentConnector2">
              <a:avLst/>
            </a:prstGeom>
            <a:ln w="38100">
              <a:solidFill>
                <a:schemeClr val="tx1"/>
              </a:solidFill>
              <a:headEnd type="triangle" w="lg" len="lg"/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テキスト ボックス 2"/>
          <p:cNvSpPr txBox="1"/>
          <p:nvPr/>
        </p:nvSpPr>
        <p:spPr>
          <a:xfrm>
            <a:off x="4011623" y="3586600"/>
            <a:ext cx="1128409" cy="46166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 smtClean="0"/>
              <a:t>Yes</a:t>
            </a:r>
            <a:endParaRPr kumimoji="1" lang="ja-JP" altLang="en-US" sz="2400" dirty="0" smtClean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3004198" y="4187076"/>
            <a:ext cx="1128409" cy="46166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dirty="0" smtClean="0"/>
              <a:t>N</a:t>
            </a:r>
            <a:r>
              <a:rPr lang="en-US" altLang="ja-JP" sz="2400" dirty="0"/>
              <a:t>o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812968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8600" y="1371600"/>
            <a:ext cx="3995633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/>
              <a:t>covering </a:t>
            </a:r>
            <a:r>
              <a:rPr lang="en-US" altLang="ja-JP" sz="3200" dirty="0" smtClean="0"/>
              <a:t>mechanism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2066984"/>
            <a:ext cx="87757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パターン</a:t>
            </a:r>
            <a:r>
              <a:rPr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ja-JP" altLang="en-US" sz="3200" dirty="0" smtClean="0"/>
              <a:t>に基づいてルールを生成</a:t>
            </a:r>
            <a:endParaRPr kumimoji="1" lang="en-US" altLang="ja-JP" sz="3200" dirty="0" smtClean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1881904" y="3084314"/>
            <a:ext cx="98923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右矢印 34"/>
          <p:cNvSpPr/>
          <p:nvPr/>
        </p:nvSpPr>
        <p:spPr>
          <a:xfrm>
            <a:off x="3579230" y="5014139"/>
            <a:ext cx="850900" cy="546100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4610100" y="3559870"/>
            <a:ext cx="3573795" cy="304698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If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ja-JP" alt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altLang="ja-JP" sz="3200" baseline="-25000" dirty="0" smtClean="0"/>
              <a:t>1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2"/>
                </a:solidFill>
              </a:rPr>
              <a:t>blue</a:t>
            </a:r>
            <a:r>
              <a:rPr lang="en-US" altLang="ja-JP" sz="3200" dirty="0"/>
              <a:t> and</a:t>
            </a:r>
            <a:endParaRPr lang="ja-JP" altLang="en-US" sz="3200" baseline="-25000" dirty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2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1"/>
                </a:solidFill>
              </a:rPr>
              <a:t>red</a:t>
            </a:r>
            <a:r>
              <a:rPr lang="en-US" altLang="ja-JP" sz="3200" dirty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3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1"/>
                </a:solidFill>
              </a:rPr>
              <a:t>red</a:t>
            </a:r>
            <a:r>
              <a:rPr lang="en-US" altLang="ja-JP" sz="3200" dirty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4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5"/>
                </a:solidFill>
              </a:rPr>
              <a:t>green</a:t>
            </a:r>
          </a:p>
          <a:p>
            <a:pPr algn="r"/>
            <a:r>
              <a:rPr lang="en-US" altLang="ja-JP" sz="3200" dirty="0" smtClean="0"/>
              <a:t>then </a:t>
            </a:r>
            <a:r>
              <a:rPr lang="en-US" altLang="ja-JP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altLang="ja-JP" sz="3200" dirty="0"/>
              <a:t> is </a:t>
            </a:r>
            <a:r>
              <a:rPr lang="en-US" altLang="ja-JP" sz="3200" dirty="0" smtClean="0"/>
              <a:t>0</a:t>
            </a:r>
            <a:endParaRPr lang="ja-JP" altLang="en-US" sz="3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159374"/>
              </p:ext>
            </p:extLst>
          </p:nvPr>
        </p:nvGraphicFramePr>
        <p:xfrm>
          <a:off x="1410783" y="3845739"/>
          <a:ext cx="1631266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32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テキスト ボックス 36"/>
          <p:cNvSpPr txBox="1"/>
          <p:nvPr/>
        </p:nvSpPr>
        <p:spPr>
          <a:xfrm>
            <a:off x="5615947" y="3084314"/>
            <a:ext cx="15621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ルール</a:t>
            </a:r>
          </a:p>
        </p:txBody>
      </p:sp>
    </p:spTree>
    <p:extLst>
      <p:ext uri="{BB962C8B-B14F-4D97-AF65-F5344CB8AC3E}">
        <p14:creationId xmlns:p14="http://schemas.microsoft.com/office/powerpoint/2010/main" val="2561466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8600" y="1371600"/>
            <a:ext cx="3995633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/>
              <a:t>covering </a:t>
            </a:r>
            <a:r>
              <a:rPr lang="en-US" altLang="ja-JP" sz="3200" dirty="0" smtClean="0"/>
              <a:t>mechanism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2066984"/>
            <a:ext cx="8775700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パターン</a:t>
            </a:r>
            <a:r>
              <a:rPr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ja-JP" altLang="en-US" sz="3200" dirty="0" smtClean="0"/>
              <a:t>に基づいてルールを生成</a:t>
            </a:r>
            <a:endParaRPr kumimoji="1" lang="en-US" altLang="ja-JP" sz="3200" dirty="0" smtClean="0"/>
          </a:p>
          <a:p>
            <a:r>
              <a:rPr lang="ja-JP" altLang="en-US" sz="3200" dirty="0"/>
              <a:t>汎化性能を高めるため，</a:t>
            </a:r>
            <a:r>
              <a:rPr lang="ja-JP" altLang="en-US" sz="3200" u="sng" dirty="0"/>
              <a:t>一部を</a:t>
            </a:r>
            <a:r>
              <a:rPr lang="en-US" altLang="ja-JP" sz="3200" u="sng" dirty="0"/>
              <a:t>don’t care </a:t>
            </a:r>
            <a:r>
              <a:rPr lang="ja-JP" altLang="en-US" sz="3200" u="sng" dirty="0"/>
              <a:t>に</a:t>
            </a:r>
            <a:r>
              <a:rPr lang="ja-JP" altLang="en-US" sz="3200" u="sng" dirty="0" smtClean="0"/>
              <a:t>変更</a:t>
            </a:r>
            <a:endParaRPr kumimoji="1" lang="ja-JP" altLang="en-US" sz="3200" u="sng" dirty="0" smtClean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1881904" y="3084314"/>
            <a:ext cx="98923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右矢印 34"/>
          <p:cNvSpPr/>
          <p:nvPr/>
        </p:nvSpPr>
        <p:spPr>
          <a:xfrm>
            <a:off x="3579230" y="5014139"/>
            <a:ext cx="850900" cy="546100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4610100" y="3559870"/>
            <a:ext cx="3573795" cy="304698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If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ja-JP" alt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altLang="ja-JP" sz="3200" baseline="-25000" dirty="0" smtClean="0"/>
              <a:t>1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2"/>
                </a:solidFill>
              </a:rPr>
              <a:t>blue</a:t>
            </a:r>
            <a:r>
              <a:rPr lang="en-US" altLang="ja-JP" sz="3200" dirty="0"/>
              <a:t> and</a:t>
            </a:r>
            <a:endParaRPr lang="ja-JP" altLang="en-US" sz="3200" baseline="-25000" dirty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ja-JP" sz="3200" dirty="0" smtClean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3</a:t>
            </a:r>
            <a:r>
              <a:rPr lang="ja-JP" altLang="en-US" sz="3200" dirty="0" smtClean="0"/>
              <a:t>　</a:t>
            </a:r>
            <a:r>
              <a:rPr lang="en-US" altLang="ja-JP" sz="3200" dirty="0" smtClean="0"/>
              <a:t>is </a:t>
            </a:r>
            <a:r>
              <a:rPr lang="en-US" altLang="ja-JP" sz="3200" dirty="0" smtClean="0">
                <a:solidFill>
                  <a:schemeClr val="accent1"/>
                </a:solidFill>
              </a:rPr>
              <a:t>red</a:t>
            </a:r>
            <a:r>
              <a:rPr lang="en-US" altLang="ja-JP" sz="3200" dirty="0" smtClean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ja-JP" sz="3200" dirty="0">
              <a:solidFill>
                <a:schemeClr val="accent5"/>
              </a:solidFill>
            </a:endParaRPr>
          </a:p>
          <a:p>
            <a:pPr algn="r"/>
            <a:r>
              <a:rPr lang="en-US" altLang="ja-JP" sz="3200" dirty="0" smtClean="0"/>
              <a:t>then </a:t>
            </a:r>
            <a:r>
              <a:rPr lang="en-US" altLang="ja-JP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altLang="ja-JP" sz="3200" dirty="0"/>
              <a:t> is </a:t>
            </a:r>
            <a:r>
              <a:rPr lang="en-US" altLang="ja-JP" sz="3200" dirty="0" smtClean="0"/>
              <a:t>0</a:t>
            </a:r>
            <a:endParaRPr lang="ja-JP" altLang="en-US" sz="3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159374"/>
              </p:ext>
            </p:extLst>
          </p:nvPr>
        </p:nvGraphicFramePr>
        <p:xfrm>
          <a:off x="1410783" y="3845739"/>
          <a:ext cx="1631266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32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テキスト ボックス 36"/>
          <p:cNvSpPr txBox="1"/>
          <p:nvPr/>
        </p:nvSpPr>
        <p:spPr>
          <a:xfrm>
            <a:off x="5615947" y="3084314"/>
            <a:ext cx="15621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ルール</a:t>
            </a:r>
          </a:p>
        </p:txBody>
      </p:sp>
    </p:spTree>
    <p:extLst>
      <p:ext uri="{BB962C8B-B14F-4D97-AF65-F5344CB8AC3E}">
        <p14:creationId xmlns:p14="http://schemas.microsoft.com/office/powerpoint/2010/main" val="1163629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u="sng" dirty="0" smtClean="0"/>
              <a:t>個体が持つパラメータ</a:t>
            </a:r>
            <a:endParaRPr lang="en-US" altLang="ja-JP" u="sng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If-then</a:t>
            </a:r>
            <a:r>
              <a:rPr kumimoji="1" lang="ja-JP" altLang="en-US" sz="2800" dirty="0" smtClean="0"/>
              <a:t>ルール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altLang="ja-JP" sz="2800" dirty="0" smtClean="0">
                <a:cs typeface="Times New Roman" panose="02020603050405020304" pitchFamily="18" charset="0"/>
              </a:rPr>
              <a:t>(experience)</a:t>
            </a:r>
            <a:r>
              <a:rPr lang="ja-JP" altLang="en-US" sz="2800" dirty="0" smtClean="0"/>
              <a:t>：学習時に前件部が適合した回数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(accuracy)</a:t>
            </a:r>
            <a:r>
              <a:rPr kumimoji="1" lang="ja-JP" altLang="en-US" sz="2800" dirty="0" smtClean="0"/>
              <a:t>：ルール適合時，結論部</a:t>
            </a:r>
            <a:r>
              <a:rPr lang="ja-JP" altLang="en-US" sz="2800" dirty="0"/>
              <a:t>も</a:t>
            </a:r>
            <a:r>
              <a:rPr kumimoji="1" lang="ja-JP" altLang="en-US" sz="2800" dirty="0" smtClean="0"/>
              <a:t>一致した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kumimoji="1" lang="ja-JP" altLang="en-US" sz="2800" dirty="0" smtClean="0"/>
              <a:t>割合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800" dirty="0" smtClean="0">
                <a:cs typeface="Times New Roman" panose="02020603050405020304" pitchFamily="18" charset="0"/>
              </a:rPr>
              <a:t>(fitness)</a:t>
            </a:r>
            <a:r>
              <a:rPr lang="ja-JP" altLang="en-US" sz="2800" dirty="0" smtClean="0"/>
              <a:t>：</a:t>
            </a:r>
            <a:r>
              <a:rPr lang="en-US" altLang="ja-JP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sz="2800" dirty="0" smtClean="0"/>
              <a:t>から計算されるルールの適合度の指標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endParaRPr kumimoji="1" lang="en-US" altLang="ja-JP" sz="28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(</a:t>
            </a:r>
            <a:r>
              <a:rPr kumimoji="1" lang="en-US" altLang="ja-JP" sz="2800" dirty="0" err="1" smtClean="0">
                <a:cs typeface="Times New Roman" panose="02020603050405020304" pitchFamily="18" charset="0"/>
              </a:rPr>
              <a:t>numerosity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)</a:t>
            </a:r>
            <a:r>
              <a:rPr kumimoji="1" lang="ja-JP" altLang="en-US" sz="2800" dirty="0" smtClean="0"/>
              <a:t>：個体群内における同じルールの数</a:t>
            </a:r>
            <a:endParaRPr kumimoji="1" lang="ja-JP" altLang="en-US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学習アルゴリズム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438400" y="4457700"/>
            <a:ext cx="4267200" cy="89255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=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kumimoji="1" lang="en-US" altLang="ja-JP" sz="2800" i="1" baseline="30000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n</a:t>
            </a:r>
            <a:endParaRPr kumimoji="1" lang="en-US" altLang="ja-JP" sz="2800" i="1" baseline="30000" dirty="0" smtClean="0">
              <a:latin typeface="Symbol" panose="05050102010706020507" pitchFamily="18" charset="2"/>
              <a:cs typeface="Times New Roman" panose="02020603050405020304" pitchFamily="18" charset="0"/>
            </a:endParaRPr>
          </a:p>
          <a:p>
            <a:pPr algn="ctr"/>
            <a:r>
              <a:rPr lang="en-US" altLang="ja-JP" sz="2400" dirty="0" smtClean="0"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n</a:t>
            </a:r>
            <a:r>
              <a:rPr lang="ja-JP" altLang="en-US" sz="2400" dirty="0" smtClean="0">
                <a:latin typeface="+mn-ea"/>
                <a:cs typeface="Times New Roman" panose="02020603050405020304" pitchFamily="18" charset="0"/>
              </a:rPr>
              <a:t>はハイパーパラメータ</a:t>
            </a:r>
            <a:r>
              <a:rPr lang="en-US" altLang="ja-JP" sz="2400" dirty="0" smtClean="0">
                <a:latin typeface="+mn-ea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>
              <a:latin typeface="Symbol" panose="05050102010706020507" pitchFamily="18" charset="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977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sz="3800" dirty="0" err="1"/>
              <a:t>sUpervised</a:t>
            </a:r>
            <a:r>
              <a:rPr lang="en-US" altLang="ja-JP" sz="3800" dirty="0"/>
              <a:t> Classifier </a:t>
            </a:r>
            <a:r>
              <a:rPr lang="en-US" altLang="ja-JP" sz="3800" dirty="0" smtClean="0"/>
              <a:t>system (</a:t>
            </a:r>
            <a:r>
              <a:rPr lang="en-US" altLang="ja-JP" sz="3800" dirty="0"/>
              <a:t>UCS)</a:t>
            </a:r>
            <a:endParaRPr kumimoji="1" lang="ja-JP" altLang="en-US" sz="3800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ja-JP" dirty="0" smtClean="0"/>
          </a:p>
          <a:p>
            <a:r>
              <a:rPr lang="ja-JP" altLang="en-US" dirty="0" smtClean="0"/>
              <a:t>予測値は，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ja-JP" altLang="en-US" dirty="0" smtClean="0"/>
              <a:t>内の全個体による重み付き多数決により決定する．</a:t>
            </a:r>
            <a:endParaRPr lang="en-US" altLang="ja-JP" dirty="0" smtClean="0"/>
          </a:p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ja-JP" altLang="en-US" dirty="0" smtClean="0"/>
              <a:t>内の各個体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ja-JP" altLang="en-US" dirty="0" smtClean="0"/>
              <a:t>は，自身の持つルールの結論部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クラスに対し，以下の重み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ja-JP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ja-JP" altLang="en-US" dirty="0" smtClean="0"/>
              <a:t>を乗じて投票を行う．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学習アルゴリズム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1" y="1371600"/>
            <a:ext cx="264160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予測値</a:t>
            </a:r>
            <a:r>
              <a:rPr lang="ja-JP" altLang="en-US" sz="3200" dirty="0" smtClean="0"/>
              <a:t>の出力</a:t>
            </a:r>
            <a:endParaRPr lang="en-US" altLang="ja-JP" sz="32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3219450" y="4229100"/>
            <a:ext cx="270510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=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1" lang="en-US" altLang="ja-JP" sz="2800" dirty="0" err="1" smtClean="0">
                <a:cs typeface="Times New Roman" panose="02020603050405020304" pitchFamily="18" charset="0"/>
              </a:rPr>
              <a:t>×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74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マルチラベル問題の教師ラベルを</a:t>
            </a:r>
            <a:r>
              <a:rPr lang="en-US" altLang="ja-JP" dirty="0" smtClean="0"/>
              <a:t>LP</a:t>
            </a:r>
            <a:r>
              <a:rPr lang="ja-JP" altLang="en-US" dirty="0" smtClean="0"/>
              <a:t>で変換し，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>
                <a:solidFill>
                  <a:schemeClr val="accent1"/>
                </a:solidFill>
              </a:rPr>
              <a:t>マルチラベルに対応した</a:t>
            </a:r>
            <a:r>
              <a:rPr lang="en-US" altLang="ja-JP" dirty="0" smtClean="0">
                <a:solidFill>
                  <a:schemeClr val="accent1"/>
                </a:solidFill>
              </a:rPr>
              <a:t>UCS</a:t>
            </a:r>
            <a:r>
              <a:rPr lang="ja-JP" altLang="en-US" dirty="0" smtClean="0"/>
              <a:t>である</a:t>
            </a:r>
            <a:r>
              <a:rPr lang="en-US" altLang="ja-JP" dirty="0" smtClean="0">
                <a:solidFill>
                  <a:schemeClr val="accent1"/>
                </a:solidFill>
              </a:rPr>
              <a:t>Multi-Label Rule-Based Classifier (MLRBC) </a:t>
            </a:r>
            <a:r>
              <a:rPr lang="ja-JP" altLang="en-US" dirty="0" smtClean="0"/>
              <a:t>を提案する．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マルチラベルに対応するために，</a:t>
            </a:r>
            <a:r>
              <a:rPr lang="en-US" altLang="ja-JP" dirty="0"/>
              <a:t> 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dirty="0" smtClean="0"/>
              <a:t>及び</a:t>
            </a:r>
            <a:r>
              <a:rPr lang="en-US" altLang="ja-JP" dirty="0" smtClean="0"/>
              <a:t>voting</a:t>
            </a:r>
            <a:r>
              <a:rPr lang="ja-JP" altLang="en-US" dirty="0" smtClean="0"/>
              <a:t>手法を変更する．</a:t>
            </a:r>
            <a:endParaRPr lang="en-US" altLang="ja-JP" dirty="0" smtClean="0"/>
          </a:p>
          <a:p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dirty="0" smtClean="0"/>
              <a:t>は以下の式に変更する．</a:t>
            </a:r>
            <a:endParaRPr lang="en-US" altLang="ja-JP" dirty="0" smtClean="0"/>
          </a:p>
          <a:p>
            <a:endParaRPr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228600" y="5321300"/>
                <a:ext cx="8686799" cy="1402243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sz="2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acc</m:t>
                      </m:r>
                      <m:r>
                        <m:rPr>
                          <m:nor/>
                        </m:rPr>
                        <a:rPr lang="en-US" altLang="ja-JP" sz="2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sz="280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sz="2800">
                          <a:cs typeface="Times New Roman" panose="02020603050405020304" pitchFamily="18" charset="0"/>
                        </a:rPr>
                        <m:t> − </m:t>
                      </m:r>
                      <m:f>
                        <m:f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exp</m:t>
                          </m:r>
                        </m:den>
                      </m:f>
                    </m:oMath>
                  </m:oMathPara>
                </a14:m>
                <a:endParaRPr kumimoji="1" lang="en-US" altLang="ja-JP" sz="2800" dirty="0" smtClean="0"/>
              </a:p>
              <a:p>
                <a:pPr algn="r"/>
                <a:r>
                  <a:rPr lang="en-US" altLang="ja-JP" sz="2800" dirty="0" smtClean="0">
                    <a:cs typeface="Times New Roman" panose="02020603050405020304" pitchFamily="18" charset="0"/>
                  </a:rPr>
                  <a:t>(</a:t>
                </a:r>
                <a:r>
                  <a:rPr lang="en-US" altLang="ja-JP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HL</a:t>
                </a:r>
                <a:r>
                  <a:rPr lang="ja-JP" alt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：ハミング</a:t>
                </a:r>
                <a:r>
                  <a:rPr lang="ja-JP" altLang="en-US" sz="28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損失</a:t>
                </a:r>
                <a:r>
                  <a:rPr lang="en-US" altLang="ja-JP" sz="2800" dirty="0" smtClean="0">
                    <a:cs typeface="Times New Roman" panose="02020603050405020304" pitchFamily="18" charset="0"/>
                  </a:rPr>
                  <a:t>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5321300"/>
                <a:ext cx="8686799" cy="1402243"/>
              </a:xfrm>
              <a:prstGeom prst="rect">
                <a:avLst/>
              </a:prstGeom>
              <a:blipFill>
                <a:blip r:embed="rId2"/>
                <a:stretch>
                  <a:fillRect r="-1475" b="-11739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354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r>
                  <a:rPr lang="en-US" altLang="ja-JP" dirty="0" smtClean="0"/>
                  <a:t>2. rank vector </a:t>
                </a:r>
                <a:r>
                  <a:rPr lang="en-US" altLang="ja-JP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ja-JP" altLang="en-US" dirty="0"/>
                  <a:t> </a:t>
                </a:r>
                <a:r>
                  <a:rPr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76676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ja-JP" alt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ja-JP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ja-JP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baseline="3000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baseline="30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1;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1, …,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44500"/>
                <a:r>
                  <a:rPr lang="ja-JP" altLang="en-US" dirty="0"/>
                  <a:t>各クラス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dirty="0"/>
                  <a:t>について，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ja-JP" altLang="en-US" dirty="0"/>
                  <a:t>内の個体のいずれかが</a:t>
                </a:r>
                <a:r>
                  <a:rPr lang="en-US" altLang="ja-JP" dirty="0"/>
                  <a:t/>
                </a:r>
                <a:br>
                  <a:rPr lang="en-US" altLang="ja-JP" dirty="0"/>
                </a:br>
                <a:r>
                  <a:rPr lang="ja-JP" altLang="en-US" dirty="0"/>
                  <a:t>結論部が</a:t>
                </a:r>
                <a:r>
                  <a:rPr lang="en-US" altLang="ja-JP" dirty="0"/>
                  <a:t>1</a:t>
                </a:r>
                <a:r>
                  <a:rPr lang="ja-JP" altLang="en-US" dirty="0"/>
                  <a:t>のとき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cs typeface="Times New Roman" panose="02020603050405020304" pitchFamily="18" charset="0"/>
                  </a:rPr>
                  <a:t>= </a:t>
                </a:r>
                <a:r>
                  <a:rPr lang="en-US" altLang="ja-JP" dirty="0">
                    <a:latin typeface="+mn-ea"/>
                    <a:cs typeface="Times New Roman" panose="02020603050405020304" pitchFamily="18" charset="0"/>
                  </a:rPr>
                  <a:t>1</a:t>
                </a:r>
                <a:r>
                  <a:rPr lang="ja-JP" altLang="en-US" dirty="0"/>
                  <a:t>にする．</a:t>
                </a:r>
                <a:endParaRPr lang="en-US" altLang="ja-JP" dirty="0"/>
              </a:p>
              <a:p>
                <a:endParaRPr lang="en-US" altLang="ja-JP" dirty="0"/>
              </a:p>
              <a:p>
                <a:endParaRPr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4286250" y="3136900"/>
            <a:ext cx="495300" cy="37959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888949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ja-JP" alt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ja-JP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ja-JP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baseline="3000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baseline="30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1;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1, …,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44500"/>
                <a:r>
                  <a:rPr lang="ja-JP" altLang="en-US" dirty="0" smtClean="0"/>
                  <a:t>各クラス</a:t>
                </a:r>
                <a:r>
                  <a:rPr lang="en-US" altLang="ja-JP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dirty="0" smtClean="0"/>
                  <a:t>について，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ja-JP" altLang="en-US" dirty="0" smtClean="0"/>
                  <a:t>内</a:t>
                </a:r>
                <a:r>
                  <a:rPr lang="ja-JP" altLang="en-US" dirty="0"/>
                  <a:t>の</a:t>
                </a:r>
                <a:r>
                  <a:rPr lang="ja-JP" altLang="en-US" dirty="0" smtClean="0"/>
                  <a:t>個体のいずれかが</a:t>
                </a:r>
                <a:r>
                  <a:rPr lang="en-US" altLang="ja-JP" dirty="0" smtClean="0"/>
                  <a:t/>
                </a:r>
                <a:br>
                  <a:rPr lang="en-US" altLang="ja-JP" dirty="0" smtClean="0"/>
                </a:br>
                <a:r>
                  <a:rPr lang="ja-JP" altLang="en-US" dirty="0" smtClean="0"/>
                  <a:t>結論部が</a:t>
                </a:r>
                <a:r>
                  <a:rPr lang="en-US" altLang="ja-JP" dirty="0" smtClean="0"/>
                  <a:t>1</a:t>
                </a:r>
                <a:r>
                  <a:rPr lang="ja-JP" altLang="en-US" dirty="0" smtClean="0"/>
                  <a:t>のとき</a:t>
                </a:r>
                <a:r>
                  <a:rPr lang="en-US" altLang="ja-JP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i="1" baseline="-25000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 smtClean="0">
                    <a:cs typeface="Times New Roman" panose="02020603050405020304" pitchFamily="18" charset="0"/>
                  </a:rPr>
                  <a:t>= </a:t>
                </a:r>
                <a:r>
                  <a:rPr lang="en-US" altLang="ja-JP" dirty="0" smtClean="0">
                    <a:latin typeface="+mn-ea"/>
                    <a:cs typeface="Times New Roman" panose="02020603050405020304" pitchFamily="18" charset="0"/>
                  </a:rPr>
                  <a:t>1</a:t>
                </a:r>
                <a:r>
                  <a:rPr lang="ja-JP" altLang="en-US" dirty="0" smtClean="0"/>
                  <a:t>にする．</a:t>
                </a:r>
                <a:endParaRPr lang="en-US" altLang="ja-JP" dirty="0" smtClean="0"/>
              </a:p>
              <a:p>
                <a:endParaRPr lang="en-US" altLang="ja-JP" dirty="0"/>
              </a:p>
              <a:p>
                <a:endParaRPr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4286250" y="3136900"/>
            <a:ext cx="495300" cy="37959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cxnSp>
        <p:nvCxnSpPr>
          <p:cNvPr id="8" name="直線コネクタ 7"/>
          <p:cNvCxnSpPr/>
          <p:nvPr/>
        </p:nvCxnSpPr>
        <p:spPr>
          <a:xfrm>
            <a:off x="5457220" y="3501959"/>
            <a:ext cx="2023354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/>
          <p:nvPr/>
        </p:nvCxnSpPr>
        <p:spPr>
          <a:xfrm>
            <a:off x="782112" y="4549302"/>
            <a:ext cx="3060313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13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ja-JP" alt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ja-JP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ja-JP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baseline="3000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baseline="30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1;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1, …,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44500"/>
                <a:r>
                  <a:rPr lang="ja-JP" altLang="en-US" dirty="0"/>
                  <a:t>各クラス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dirty="0"/>
                  <a:t>について，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ja-JP" altLang="en-US" dirty="0"/>
                  <a:t>内の個体のいずれかが</a:t>
                </a:r>
                <a:r>
                  <a:rPr lang="en-US" altLang="ja-JP" dirty="0"/>
                  <a:t/>
                </a:r>
                <a:br>
                  <a:rPr lang="en-US" altLang="ja-JP" dirty="0"/>
                </a:br>
                <a:r>
                  <a:rPr lang="ja-JP" altLang="en-US" dirty="0"/>
                  <a:t>結論部が</a:t>
                </a:r>
                <a:r>
                  <a:rPr lang="en-US" altLang="ja-JP" dirty="0"/>
                  <a:t>1</a:t>
                </a:r>
                <a:r>
                  <a:rPr lang="ja-JP" altLang="en-US" dirty="0"/>
                  <a:t>のとき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cs typeface="Times New Roman" panose="02020603050405020304" pitchFamily="18" charset="0"/>
                  </a:rPr>
                  <a:t>= </a:t>
                </a:r>
                <a:r>
                  <a:rPr lang="en-US" altLang="ja-JP" dirty="0">
                    <a:latin typeface="+mn-ea"/>
                    <a:cs typeface="Times New Roman" panose="02020603050405020304" pitchFamily="18" charset="0"/>
                  </a:rPr>
                  <a:t>1</a:t>
                </a:r>
                <a:r>
                  <a:rPr lang="ja-JP" altLang="en-US" dirty="0"/>
                  <a:t>にする．</a:t>
                </a:r>
                <a:endParaRPr lang="en-US" altLang="ja-JP" dirty="0"/>
              </a:p>
              <a:p>
                <a:endParaRPr lang="en-US" altLang="ja-JP" dirty="0"/>
              </a:p>
              <a:p>
                <a:endParaRPr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4286250" y="3136900"/>
            <a:ext cx="495300" cy="37959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cxnSp>
        <p:nvCxnSpPr>
          <p:cNvPr id="8" name="直線コネクタ 7"/>
          <p:cNvCxnSpPr/>
          <p:nvPr/>
        </p:nvCxnSpPr>
        <p:spPr>
          <a:xfrm>
            <a:off x="3386783" y="4007801"/>
            <a:ext cx="2448258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/>
          <p:nvPr/>
        </p:nvCxnSpPr>
        <p:spPr>
          <a:xfrm>
            <a:off x="4167143" y="4568758"/>
            <a:ext cx="2214377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0020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ja-JP" alt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ja-JP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ja-JP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baseline="3000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baseline="30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1;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1, …,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44500"/>
                <a:r>
                  <a:rPr lang="ja-JP" altLang="en-US" dirty="0"/>
                  <a:t>各クラス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dirty="0"/>
                  <a:t>について，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ja-JP" altLang="en-US" dirty="0"/>
                  <a:t>内の個体のいずれかが</a:t>
                </a:r>
                <a:r>
                  <a:rPr lang="en-US" altLang="ja-JP" dirty="0"/>
                  <a:t/>
                </a:r>
                <a:br>
                  <a:rPr lang="en-US" altLang="ja-JP" dirty="0"/>
                </a:br>
                <a:r>
                  <a:rPr lang="ja-JP" altLang="en-US" dirty="0"/>
                  <a:t>結論部が</a:t>
                </a:r>
                <a:r>
                  <a:rPr lang="en-US" altLang="ja-JP" dirty="0"/>
                  <a:t>1</a:t>
                </a:r>
                <a:r>
                  <a:rPr lang="ja-JP" altLang="en-US" dirty="0"/>
                  <a:t>のとき</a:t>
                </a:r>
                <a:r>
                  <a:rPr lang="en-US" altLang="ja-JP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ja-JP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cs typeface="Times New Roman" panose="02020603050405020304" pitchFamily="18" charset="0"/>
                  </a:rPr>
                  <a:t>= </a:t>
                </a:r>
                <a:r>
                  <a:rPr lang="en-US" altLang="ja-JP" dirty="0">
                    <a:latin typeface="+mn-ea"/>
                    <a:cs typeface="Times New Roman" panose="02020603050405020304" pitchFamily="18" charset="0"/>
                  </a:rPr>
                  <a:t>1</a:t>
                </a:r>
                <a:r>
                  <a:rPr lang="ja-JP" altLang="en-US" dirty="0"/>
                  <a:t>にする．</a:t>
                </a:r>
                <a:endParaRPr lang="en-US" altLang="ja-JP" dirty="0"/>
              </a:p>
              <a:p>
                <a:endParaRPr lang="en-US" altLang="ja-JP" dirty="0"/>
              </a:p>
              <a:p>
                <a:endParaRPr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4286250" y="3136900"/>
            <a:ext cx="495300" cy="37959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cxnSp>
        <p:nvCxnSpPr>
          <p:cNvPr id="8" name="直線コネクタ 7"/>
          <p:cNvCxnSpPr/>
          <p:nvPr/>
        </p:nvCxnSpPr>
        <p:spPr>
          <a:xfrm>
            <a:off x="3389643" y="3501959"/>
            <a:ext cx="1839413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/>
          <p:nvPr/>
        </p:nvCxnSpPr>
        <p:spPr>
          <a:xfrm>
            <a:off x="6763298" y="4539574"/>
            <a:ext cx="2090235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>
            <a:off x="801260" y="5061624"/>
            <a:ext cx="2782104" cy="0"/>
          </a:xfrm>
          <a:prstGeom prst="line">
            <a:avLst/>
          </a:prstGeom>
          <a:ln w="762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644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3" name="テキスト ボックス 2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</a:t>
                </a:r>
                <a:r>
                  <a:rPr kumimoji="1" lang="en-US" altLang="ja-JP" sz="2800" dirty="0" smtClean="0">
                    <a:cs typeface="Times New Roman" panose="02020603050405020304" pitchFamily="18" charset="0"/>
                  </a:rPr>
                  <a:t>=</a:t>
                </a:r>
                <a:r>
                  <a:rPr kumimoji="1" lang="en-US" altLang="ja-JP" sz="2800" dirty="0" smtClean="0"/>
                  <a:t>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/>
          <p:cNvSpPr txBox="1"/>
          <p:nvPr/>
        </p:nvSpPr>
        <p:spPr>
          <a:xfrm>
            <a:off x="2609215" y="3731481"/>
            <a:ext cx="153670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9749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5256634" y="3352140"/>
            <a:ext cx="1926382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 smtClean="0"/>
              <a:t>(</a:t>
            </a:r>
            <a:r>
              <a:rPr kumimoji="1" lang="ja-JP" altLang="en-US" sz="2000" dirty="0" smtClean="0"/>
              <a:t>結論部のみ</a:t>
            </a:r>
            <a:r>
              <a:rPr kumimoji="1" lang="en-US" altLang="ja-JP" sz="2000" dirty="0" smtClean="0"/>
              <a:t>)</a:t>
            </a:r>
            <a:endParaRPr kumimoji="1" lang="ja-JP" alt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765326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/>
          <p:cNvSpPr txBox="1"/>
          <p:nvPr/>
        </p:nvSpPr>
        <p:spPr>
          <a:xfrm>
            <a:off x="2609215" y="3731481"/>
            <a:ext cx="153670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9622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5651500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967271" y="5059516"/>
            <a:ext cx="1584357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grpSp>
        <p:nvGrpSpPr>
          <p:cNvPr id="21" name="グループ化 20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22" name="テキスト ボックス 21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</p:grpSp>
      <p:sp>
        <p:nvSpPr>
          <p:cNvPr id="18" name="テキスト ボックス 17"/>
          <p:cNvSpPr txBox="1"/>
          <p:nvPr/>
        </p:nvSpPr>
        <p:spPr>
          <a:xfrm>
            <a:off x="5256634" y="3352140"/>
            <a:ext cx="1926382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 smtClean="0"/>
              <a:t>(</a:t>
            </a:r>
            <a:r>
              <a:rPr kumimoji="1" lang="ja-JP" altLang="en-US" sz="2000" dirty="0" smtClean="0"/>
              <a:t>結論部のみ</a:t>
            </a:r>
            <a:r>
              <a:rPr kumimoji="1" lang="en-US" altLang="ja-JP" sz="2000" dirty="0" smtClean="0"/>
              <a:t>)</a:t>
            </a:r>
            <a:endParaRPr kumimoji="1" lang="ja-JP" alt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3375756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19" name="テキスト ボックス 1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</p:grpSp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/>
          <p:cNvSpPr txBox="1"/>
          <p:nvPr/>
        </p:nvSpPr>
        <p:spPr>
          <a:xfrm>
            <a:off x="29749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6044404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952990" y="5059516"/>
            <a:ext cx="239872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が存在しない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256634" y="3352140"/>
            <a:ext cx="1926382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 smtClean="0"/>
              <a:t>(</a:t>
            </a:r>
            <a:r>
              <a:rPr kumimoji="1" lang="ja-JP" altLang="en-US" sz="2000" dirty="0" smtClean="0"/>
              <a:t>結論部のみ</a:t>
            </a:r>
            <a:r>
              <a:rPr kumimoji="1" lang="en-US" altLang="ja-JP" sz="2000" dirty="0" smtClean="0"/>
              <a:t>)</a:t>
            </a:r>
            <a:endParaRPr kumimoji="1" lang="ja-JP" alt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2161906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19" name="テキスト ボックス 1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</p:grpSp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6439695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5755466" y="5059516"/>
            <a:ext cx="1584357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256634" y="3352140"/>
            <a:ext cx="1926382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 smtClean="0"/>
              <a:t>(</a:t>
            </a:r>
            <a:r>
              <a:rPr kumimoji="1" lang="ja-JP" altLang="en-US" sz="2000" dirty="0" smtClean="0"/>
              <a:t>結論部のみ</a:t>
            </a:r>
            <a:r>
              <a:rPr kumimoji="1" lang="en-US" altLang="ja-JP" sz="2000" dirty="0" smtClean="0"/>
              <a:t>)</a:t>
            </a:r>
            <a:endParaRPr kumimoji="1" lang="ja-JP" alt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299626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1. aggregated prediction vector</a:t>
                </a:r>
                <a:r>
                  <a:rPr lang="ja-JP" altLang="en-US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の構成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altLang="ja-JP" dirty="0" smtClean="0"/>
                  <a:t>2. rank vector </a:t>
                </a:r>
                <a:r>
                  <a:rPr lang="en-US" altLang="ja-JP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ja-JP" altLang="en-US" dirty="0"/>
                  <a:t> </a:t>
                </a:r>
                <a:r>
                  <a:rPr lang="ja-JP" altLang="en-US" dirty="0" smtClean="0"/>
                  <a:t>の構成</a:t>
                </a:r>
                <a:endParaRPr lang="en-US" altLang="ja-JP" dirty="0" smtClean="0"/>
              </a:p>
              <a:p>
                <a:pPr marL="45085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kumimoji="1"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1, …,  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m:rPr>
                              <m:lit/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M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ja-JP" altLang="en-US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　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  <m:r>
                            <m:rPr>
                              <m:nor/>
                            </m:rPr>
                            <a:rPr kumimoji="1" lang="en-US" altLang="ja-JP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i="0">
                              <a:cs typeface="Times New Roman" panose="02020603050405020304" pitchFamily="18" charset="0"/>
                            </a:rPr>
                            <m:t>×</m:t>
                          </m:r>
                          <m:r>
                            <m:rPr>
                              <m:nor/>
                            </m:rPr>
                            <a:rPr lang="en-US" altLang="ja-JP" b="0" i="0" smtClean="0"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num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</m:e>
                      </m:nary>
                    </m:oMath>
                  </m:oMathPara>
                </a14:m>
                <a:endParaRPr kumimoji="1" lang="en-US" altLang="ja-JP" b="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0850" algn="l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/>
                </a:r>
                <a:b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 flipH="1">
            <a:off x="4491039" y="4730121"/>
            <a:ext cx="266700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16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 flipH="1">
            <a:off x="4491039" y="4502388"/>
            <a:ext cx="266700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kumimoji="1" lang="ja-JP" altLang="en-US" sz="16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147639" y="5068675"/>
                <a:ext cx="8686800" cy="156966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450850" algn="just"/>
                <a14:m>
                  <m:oMath xmlns:m="http://schemas.openxmlformats.org/officeDocument/2006/math">
                    <m:r>
                      <m:rPr>
                        <m:lit/>
                        <m:nor/>
                        <m:brk m:alnAt="7"/>
                      </m:rPr>
                      <a:rPr lang="en-US" altLang="ja-JP" sz="32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m:rPr>
                        <m:nor/>
                        <m:brk m:alnAt="7"/>
                      </m:rPr>
                      <a:rPr lang="en-US" altLang="ja-JP" sz="32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M</m:t>
                    </m:r>
                    <m:r>
                      <m:rPr>
                        <m:nor/>
                        <m:brk m:alnAt="7"/>
                      </m:rPr>
                      <a:rPr lang="en-US" altLang="ja-JP" sz="32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]</m:t>
                    </m:r>
                  </m:oMath>
                </a14:m>
                <a:r>
                  <a:rPr lang="ja-JP" altLang="en-US" sz="3200" dirty="0"/>
                  <a:t>内の</a:t>
                </a:r>
                <a:r>
                  <a:rPr lang="ja-JP" altLang="en-US" sz="3200" dirty="0" smtClean="0"/>
                  <a:t>個体かつ</a:t>
                </a:r>
                <a:r>
                  <a:rPr lang="en-US" altLang="ja-JP" sz="3200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sz="3200" i="1" baseline="-25000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sz="3200" dirty="0"/>
                  <a:t>が</a:t>
                </a:r>
                <a:r>
                  <a:rPr lang="en-US" altLang="ja-JP" sz="3200" dirty="0"/>
                  <a:t>1</a:t>
                </a:r>
                <a:r>
                  <a:rPr lang="ja-JP" altLang="en-US" sz="3200" dirty="0"/>
                  <a:t>である個体のみ</a:t>
                </a:r>
                <a:r>
                  <a:rPr lang="ja-JP" altLang="en-US" sz="3200" dirty="0" smtClean="0"/>
                  <a:t>で</a:t>
                </a:r>
                <a:r>
                  <a:rPr lang="en-US" altLang="ja-JP" sz="3200" dirty="0"/>
                  <a:t/>
                </a:r>
                <a:br>
                  <a:rPr lang="en-US" altLang="ja-JP" sz="3200" dirty="0"/>
                </a:br>
                <a:r>
                  <a:rPr lang="ja-JP" altLang="en-US" sz="3200" dirty="0"/>
                  <a:t>重み付き</a:t>
                </a:r>
                <a:r>
                  <a:rPr lang="ja-JP" altLang="en-US" sz="3200" dirty="0" smtClean="0"/>
                  <a:t>投票</a:t>
                </a:r>
                <a:endParaRPr lang="en-US" altLang="ja-JP" sz="3200" dirty="0" smtClean="0"/>
              </a:p>
              <a:p>
                <a:pPr marL="450850" algn="just"/>
                <a:r>
                  <a:rPr lang="en-US" altLang="ja-JP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US" altLang="ja-JP" sz="3200" i="1" baseline="-25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sz="3200" dirty="0" smtClean="0"/>
                  <a:t>が閾値</a:t>
                </a:r>
                <a:r>
                  <a:rPr lang="ja-JP" altLang="en-US" sz="3200" dirty="0"/>
                  <a:t>を超えた場合，予測値として</a:t>
                </a:r>
                <a:r>
                  <a:rPr lang="en-US" altLang="ja-JP" sz="3200" dirty="0"/>
                  <a:t>1</a:t>
                </a:r>
                <a:r>
                  <a:rPr lang="ja-JP" altLang="en-US" sz="3200" dirty="0"/>
                  <a:t>を出力</a:t>
                </a: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639" y="5068675"/>
                <a:ext cx="8686800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6589" r="-1825" b="-11628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7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u="sng" dirty="0" smtClean="0"/>
              <a:t>比較手法</a:t>
            </a:r>
            <a:endParaRPr kumimoji="1" lang="en-US" altLang="ja-JP" u="sng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smtClean="0"/>
              <a:t>J48(BR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LP)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dirty="0" err="1" smtClean="0"/>
              <a:t>RA</a:t>
            </a:r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en-US" altLang="ja-JP" dirty="0" err="1" smtClean="0"/>
              <a:t>EL</a:t>
            </a:r>
            <a:r>
              <a:rPr kumimoji="1" lang="en-US" altLang="ja-JP" baseline="-25000" dirty="0" err="1" smtClean="0"/>
              <a:t>d</a:t>
            </a:r>
            <a:r>
              <a:rPr lang="en-US" altLang="ja-JP" dirty="0" smtClean="0"/>
              <a:t>(disjoint)</a:t>
            </a:r>
            <a:r>
              <a:rPr kumimoji="1" lang="ja-JP" altLang="en-US" dirty="0" smtClean="0"/>
              <a:t>　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err="1" smtClean="0"/>
              <a:t>RA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/>
              <a:t>EL</a:t>
            </a:r>
            <a:r>
              <a:rPr lang="en-US" altLang="ja-JP" baseline="-25000" dirty="0" err="1" smtClean="0"/>
              <a:t>o</a:t>
            </a:r>
            <a:r>
              <a:rPr lang="en-US" altLang="ja-JP" dirty="0" smtClean="0"/>
              <a:t>(overlapping)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r>
              <a:rPr lang="ja-JP" altLang="en-US" u="sng" dirty="0" smtClean="0"/>
              <a:t>共通実験設定</a:t>
            </a:r>
            <a:endParaRPr lang="en-US" altLang="ja-JP" u="sng" dirty="0" smtClean="0"/>
          </a:p>
          <a:p>
            <a:r>
              <a:rPr lang="ja-JP" altLang="en-US" sz="2800" dirty="0" smtClean="0"/>
              <a:t>全データの</a:t>
            </a:r>
            <a:r>
              <a:rPr lang="en-US" altLang="ja-JP" sz="2800" dirty="0" smtClean="0"/>
              <a:t>70%</a:t>
            </a:r>
            <a:r>
              <a:rPr lang="ja-JP" altLang="en-US" sz="2800" dirty="0" smtClean="0"/>
              <a:t>を学習用，残りをテストデータとして使用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実験結果は</a:t>
            </a:r>
            <a:r>
              <a:rPr kumimoji="1" lang="en-US" altLang="ja-JP" sz="2800" dirty="0" smtClean="0"/>
              <a:t>20</a:t>
            </a:r>
            <a:r>
              <a:rPr kumimoji="1" lang="ja-JP" altLang="en-US" sz="2800" dirty="0" smtClean="0"/>
              <a:t>回試行の平均を表記</a:t>
            </a:r>
            <a:endParaRPr lang="en-US" altLang="ja-JP" sz="2800" dirty="0"/>
          </a:p>
          <a:p>
            <a:r>
              <a:rPr kumimoji="1" lang="en-US" altLang="ja-JP" sz="2800" dirty="0" err="1" smtClean="0"/>
              <a:t>RA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en-US" altLang="ja-JP" sz="2800" dirty="0" err="1" smtClean="0"/>
              <a:t>EL</a:t>
            </a:r>
            <a:r>
              <a:rPr kumimoji="1" lang="ja-JP" altLang="en-US" sz="2800" dirty="0" smtClean="0"/>
              <a:t>の分割</a:t>
            </a:r>
            <a:r>
              <a:rPr lang="ja-JP" altLang="en-US" sz="2800" dirty="0"/>
              <a:t>サイズ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ja-JP" altLang="en-US" sz="2800" dirty="0" smtClean="0"/>
              <a:t>は</a:t>
            </a:r>
            <a:r>
              <a:rPr kumimoji="1" lang="en-US" altLang="ja-JP" sz="2800" dirty="0" smtClean="0"/>
              <a:t>3</a:t>
            </a:r>
            <a:r>
              <a:rPr kumimoji="1" lang="ja-JP" altLang="en-US" sz="2800" dirty="0" smtClean="0"/>
              <a:t>に設定</a:t>
            </a:r>
            <a:endParaRPr kumimoji="1" lang="en-US" altLang="ja-JP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69955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u="sng" dirty="0" smtClean="0"/>
              <a:t>使用するデータセット</a:t>
            </a:r>
            <a:endParaRPr kumimoji="1" lang="ja-JP" altLang="en-US" u="sng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graphicFrame>
        <p:nvGraphicFramePr>
          <p:cNvPr id="2" name="表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160338"/>
              </p:ext>
            </p:extLst>
          </p:nvPr>
        </p:nvGraphicFramePr>
        <p:xfrm>
          <a:off x="36354" y="2225976"/>
          <a:ext cx="907129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95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1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466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200" b="0" dirty="0" smtClean="0">
                          <a:solidFill>
                            <a:schemeClr val="tx1"/>
                          </a:solidFill>
                        </a:rPr>
                        <a:t>Instances</a:t>
                      </a:r>
                      <a:endParaRPr kumimoji="1" lang="ja-JP" altLang="en-US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200" b="0" dirty="0" smtClean="0">
                          <a:solidFill>
                            <a:schemeClr val="tx1"/>
                          </a:solidFill>
                        </a:rPr>
                        <a:t>Attributes</a:t>
                      </a:r>
                      <a:endParaRPr kumimoji="1" lang="ja-JP" altLang="en-US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Labels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Label Cardinality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Emotions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Music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593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72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1.87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Yeast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2,417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103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4.24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CAL500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Music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502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68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174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26.044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701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u="sng" dirty="0" smtClean="0"/>
              <a:t>パラメータ設定</a:t>
            </a:r>
            <a:endParaRPr kumimoji="1" lang="ja-JP" altLang="en-US" u="sng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6431777"/>
              </p:ext>
            </p:extLst>
          </p:nvPr>
        </p:nvGraphicFramePr>
        <p:xfrm>
          <a:off x="282417" y="2224800"/>
          <a:ext cx="8579167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8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8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0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9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Value par data sets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Emotions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Yeast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CAL500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Maximum</a:t>
                      </a:r>
                      <a:r>
                        <a:rPr kumimoji="1" lang="en-US" altLang="ja-JP" sz="2400" b="0" baseline="0" dirty="0" smtClean="0">
                          <a:solidFill>
                            <a:schemeClr val="tx1"/>
                          </a:solidFill>
                        </a:rPr>
                        <a:t> Population Size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15,000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12,000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Maximum Training</a:t>
                      </a:r>
                      <a:r>
                        <a:rPr kumimoji="1" lang="en-US" altLang="ja-JP" sz="2400" b="0" baseline="0" dirty="0" smtClean="0">
                          <a:solidFill>
                            <a:schemeClr val="tx1"/>
                          </a:solidFill>
                        </a:rPr>
                        <a:t> Iterations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100,000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70,000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n</a:t>
                      </a:r>
                      <a:endParaRPr kumimoji="1" lang="ja-JP" altLang="en-US" sz="2800" b="0" i="1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1" lang="en-US" altLang="ja-JP" sz="2800" b="0" i="1" baseline="-25000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m</a:t>
                      </a:r>
                      <a:endParaRPr kumimoji="1" lang="ja-JP" altLang="en-US" sz="2800" b="0" i="1" baseline="-25000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0.04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1" lang="en-US" altLang="ja-JP" sz="2800" b="0" i="1" baseline="-25000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c</a:t>
                      </a:r>
                      <a:endParaRPr kumimoji="1" lang="ja-JP" altLang="en-US" sz="2800" b="0" i="1" baseline="-25000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0.8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d</a:t>
                      </a:r>
                      <a:endParaRPr kumimoji="1" lang="ja-JP" altLang="en-US" sz="2800" b="0" i="1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0.7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5352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/>
                <a:r>
                  <a:rPr lang="ja-JP" altLang="en-US" dirty="0" smtClean="0"/>
                  <a:t>評価</a:t>
                </a:r>
                <a:r>
                  <a:rPr lang="ja-JP" altLang="en-US" dirty="0"/>
                  <a:t>指標</a:t>
                </a:r>
                <a:r>
                  <a:rPr lang="ja-JP" altLang="en-US" dirty="0" smtClean="0"/>
                  <a:t>として，次の</a:t>
                </a:r>
                <a:r>
                  <a:rPr lang="en-US" altLang="ja-JP" dirty="0" smtClean="0"/>
                  <a:t>5</a:t>
                </a:r>
                <a:r>
                  <a:rPr lang="ja-JP" altLang="en-US" dirty="0" err="1" smtClean="0"/>
                  <a:t>つの</a:t>
                </a:r>
                <a:r>
                  <a:rPr lang="ja-JP" altLang="en-US" dirty="0" smtClean="0"/>
                  <a:t>指標を</a:t>
                </a:r>
                <a:r>
                  <a:rPr lang="ja-JP" altLang="en-US" dirty="0"/>
                  <a:t>使用</a:t>
                </a:r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/>
                </a:pPr>
                <a:r>
                  <a:rPr kumimoji="1" lang="en-US" altLang="ja-JP" dirty="0" smtClean="0"/>
                  <a:t>Hamming Loss (</a:t>
                </a:r>
                <a:r>
                  <a:rPr kumimoji="1"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den>
                    </m:f>
                    <m:r>
                      <m:rPr>
                        <m:nor/>
                      </m:rPr>
                      <a:rPr kumimoji="1" lang="en-US" altLang="ja-JP" b="0" i="0" smtClean="0">
                        <a:cs typeface="Times New Roman" panose="020206030504050203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en-US" altLang="ja-JP" b="0" i="1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kumimoji="1" lang="en-US" altLang="ja-JP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b="1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kumimoji="1" lang="en-US" altLang="ja-JP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b="0" i="1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kumimoji="1" lang="en-US" altLang="ja-JP" b="0" i="0" smtClean="0">
                        <a:cs typeface="Times New Roman" panose="02020603050405020304" pitchFamily="18" charset="0"/>
                      </a:rPr>
                      <m:t>|</m:t>
                    </m:r>
                  </m:oMath>
                </a14:m>
                <a:r>
                  <a:rPr kumimoji="1" lang="en-US" altLang="ja-JP" dirty="0" smtClean="0">
                    <a:latin typeface="+mn-ea"/>
                    <a:cs typeface="Times New Roman" panose="02020603050405020304" pitchFamily="18" charset="0"/>
                  </a:rPr>
                  <a:t/>
                </a:r>
                <a:br>
                  <a:rPr kumimoji="1" lang="en-US" altLang="ja-JP" dirty="0" smtClean="0">
                    <a:latin typeface="+mn-ea"/>
                    <a:cs typeface="Times New Roman" panose="02020603050405020304" pitchFamily="18" charset="0"/>
                  </a:rPr>
                </a:br>
                <a:endParaRPr kumimoji="1" lang="en-US" altLang="ja-JP" sz="2400" dirty="0" smtClean="0">
                  <a:cs typeface="Times New Roman" panose="02020603050405020304" pitchFamily="18" charset="0"/>
                </a:endParaRPr>
              </a:p>
              <a:p>
                <a:pPr marL="514350" indent="-514350" algn="l">
                  <a:buFont typeface="+mj-lt"/>
                  <a:buAutoNum type="arabicPeriod"/>
                </a:pPr>
                <a:r>
                  <a:rPr lang="en-US" altLang="ja-JP" dirty="0" smtClean="0"/>
                  <a:t>Recall (</a:t>
                </a:r>
                <a:r>
                  <a:rPr lang="en-US" altLang="ja-JP" dirty="0" smtClean="0">
                    <a:solidFill>
                      <a:schemeClr val="accent1"/>
                    </a:solidFill>
                  </a:rPr>
                  <a:t>maximize</a:t>
                </a:r>
                <a:r>
                  <a:rPr lang="en-US" altLang="ja-JP" dirty="0" smtClean="0"/>
                  <a:t>)</a:t>
                </a:r>
                <a:br>
                  <a:rPr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cs typeface="Times New Roman" panose="02020603050405020304" pitchFamily="18" charset="0"/>
                          </a:rPr>
                          <m:t>∩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cs typeface="Times New Roman" panose="02020603050405020304" pitchFamily="18" charset="0"/>
                          </a:rPr>
                          <m:t>|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/>
                <a:endParaRPr lang="en-US" altLang="ja-JP" dirty="0"/>
              </a:p>
              <a:p>
                <a:pPr marL="514350" indent="-514350" algn="l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6065520" y="2783134"/>
                <a:ext cx="2522220" cy="461665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400" dirty="0"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4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ja-JP" sz="2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ja-JP" altLang="en-US" sz="2400" dirty="0">
                    <a:latin typeface="+mn-ea"/>
                    <a:cs typeface="Times New Roman" panose="02020603050405020304" pitchFamily="18" charset="0"/>
                  </a:rPr>
                  <a:t>：ハミング距離</a:t>
                </a:r>
                <a:r>
                  <a:rPr lang="en-US" altLang="ja-JP" sz="2400" dirty="0"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5520" y="2783134"/>
                <a:ext cx="2522220" cy="461665"/>
              </a:xfrm>
              <a:prstGeom prst="rect">
                <a:avLst/>
              </a:prstGeom>
              <a:blipFill>
                <a:blip r:embed="rId4"/>
                <a:stretch>
                  <a:fillRect l="-1449" t="-14667" r="-3623" b="-32000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1269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 algn="l">
                  <a:buFont typeface="+mj-lt"/>
                  <a:buAutoNum type="arabicPeriod" startAt="3"/>
                </a:pPr>
                <a:r>
                  <a:rPr kumimoji="1" lang="en-US" altLang="ja-JP" dirty="0" smtClean="0"/>
                  <a:t>Accuracy (</a:t>
                </a:r>
                <a:r>
                  <a:rPr kumimoji="1" lang="en-US" altLang="ja-JP" dirty="0" smtClean="0">
                    <a:solidFill>
                      <a:schemeClr val="accent1"/>
                    </a:solidFill>
                  </a:rPr>
                  <a:t>maximize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∩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∪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 startAt="3"/>
                </a:pPr>
                <a:r>
                  <a:rPr lang="en-US" altLang="ja-JP" dirty="0" smtClean="0"/>
                  <a:t>One Error (</a:t>
                </a:r>
                <a:r>
                  <a:rPr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lang="en-US" altLang="ja-JP" dirty="0" smtClean="0"/>
                  <a:t>)</a:t>
                </a:r>
                <a:br>
                  <a:rPr lang="en-US" altLang="ja-JP" dirty="0" smtClean="0"/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nor/>
                              </m:rPr>
                              <a:rPr lang="en-US" altLang="ja-JP" b="0" i="0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m:rPr>
                                <m:nor/>
                              </m:rPr>
                              <a:rPr lang="en-US" altLang="ja-JP" b="0" i="0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e>
                        </m:eqArr>
                      </m:e>
                    </m:d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                       </m:t>
                    </m:r>
                  </m:oMath>
                </a14:m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 startAt="3"/>
                </a:pPr>
                <a:endParaRPr lang="en-US" altLang="ja-JP" dirty="0"/>
              </a:p>
              <a:p>
                <a:pPr marL="514350" indent="-514350" algn="l">
                  <a:buFont typeface="+mj-lt"/>
                  <a:buAutoNum type="arabicPeriod" startAt="3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15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グループ化 8"/>
          <p:cNvGrpSpPr/>
          <p:nvPr/>
        </p:nvGrpSpPr>
        <p:grpSpPr>
          <a:xfrm>
            <a:off x="3862168" y="3526301"/>
            <a:ext cx="4000500" cy="1077218"/>
            <a:chOff x="6367780" y="3962400"/>
            <a:chExt cx="4000500" cy="1077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6367780" y="3962400"/>
                  <a:ext cx="4000500" cy="1077218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ja-JP" sz="320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argmax</m:t>
                        </m:r>
                        <m:r>
                          <m:rPr>
                            <m:nor/>
                          </m:rPr>
                          <a:rPr lang="en-US" altLang="ja-JP" sz="3200" b="0" i="1" baseline="-25000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a:rPr lang="en-US" altLang="ja-JP" sz="3200" b="0" i="1" baseline="-250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    </m:t>
                        </m:r>
                        <m:r>
                          <a:rPr lang="en-US" altLang="ja-JP" sz="3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ℒ</m:t>
                        </m:r>
                        <m:r>
                          <m:rPr>
                            <m:nor/>
                          </m:rPr>
                          <a:rPr lang="en-US" altLang="ja-JP" sz="3200" b="0" i="0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n-US" altLang="ja-JP" sz="32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sz="32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altLang="ja-JP" sz="3200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sz="3200" i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sz="3200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0">
                            <a:cs typeface="Times New Roman" panose="02020603050405020304" pitchFamily="18" charset="0"/>
                          </a:rPr>
                          <m:t>∉</m:t>
                        </m:r>
                        <m:r>
                          <m:rPr>
                            <m:nor/>
                          </m:rPr>
                          <a:rPr lang="en-US" altLang="ja-JP" sz="3200" b="0" i="0" smtClean="0"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oMath>
                    </m:oMathPara>
                  </a14:m>
                  <a:endParaRPr kumimoji="1" lang="en-US" altLang="ja-JP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r>
                    <a:rPr lang="en-US" altLang="ja-JP" sz="32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otherwise</a:t>
                  </a:r>
                  <a:endParaRPr kumimoji="1" lang="ja-JP" altLang="en-US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780" y="3962400"/>
                  <a:ext cx="4000500" cy="107721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72" b="-16949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7909560" y="4239547"/>
                  <a:ext cx="358140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kumimoji="1" lang="en-US" altLang="ja-JP" sz="1600" b="0" i="0" smtClean="0"/>
                          <m:t>∈</m:t>
                        </m:r>
                      </m:oMath>
                    </m:oMathPara>
                  </a14:m>
                  <a:endParaRPr kumimoji="1" lang="ja-JP" altLang="en-US" sz="1600" dirty="0" smtClean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9560" y="4239547"/>
                  <a:ext cx="358140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l="-3390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76158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 algn="l">
                  <a:buFont typeface="+mj-lt"/>
                  <a:buAutoNum type="arabicPeriod" startAt="5"/>
                </a:pPr>
                <a:r>
                  <a:rPr kumimoji="1" lang="en-US" altLang="ja-JP" dirty="0" smtClean="0"/>
                  <a:t>Rank Loss (</a:t>
                </a:r>
                <a:r>
                  <a:rPr kumimoji="1"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#{(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kumimoji="1"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kumimoji="1"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≤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lang="en-US" altLang="ja-JP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lang="en-US" altLang="ja-JP" i="1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),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lang="en-US" altLang="ja-JP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lang="en-US" altLang="ja-JP" i="1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acc>
                          <m:accPr>
                            <m:chr m:val="̅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Times New Roman" panose="020206030504050203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}</m:t>
                        </m:r>
                      </m:num>
                      <m:den>
                        <m:r>
                          <m:rPr>
                            <m:nor/>
                          </m:rPr>
                          <a:rPr kumimoji="1" lang="en-US" altLang="ja-JP" b="0" i="0" smtClean="0"/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acc>
                          <m:accPr>
                            <m:chr m:val="̅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0" smtClean="0"/>
                              <m:t>|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0" smtClean="0">
                                <a:cs typeface="Times New Roman" panose="02020603050405020304" pitchFamily="18" charset="0"/>
                              </a:rPr>
                              <m:t>|</m:t>
                            </m:r>
                          </m:e>
                        </m:acc>
                      </m:den>
                    </m:f>
                  </m:oMath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514350" indent="-514350" algn="l">
                  <a:buFont typeface="+mj-lt"/>
                  <a:buAutoNum type="arabicPeriod" startAt="5"/>
                </a:pPr>
                <a:endParaRPr lang="en-US" altLang="ja-JP" dirty="0"/>
              </a:p>
              <a:p>
                <a:pPr marL="514350" indent="-514350" algn="l">
                  <a:buFont typeface="+mj-lt"/>
                  <a:buAutoNum type="arabicPeriod" startAt="5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15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/>
          <p:cNvSpPr txBox="1"/>
          <p:nvPr/>
        </p:nvSpPr>
        <p:spPr>
          <a:xfrm>
            <a:off x="228600" y="3113782"/>
            <a:ext cx="8686800" cy="156966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444500" algn="just"/>
            <a:r>
              <a:rPr kumimoji="1" lang="ja-JP" altLang="en-US" sz="3200" dirty="0" smtClean="0"/>
              <a:t>教師ラベルが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のクラスのランク値が，ラベルが</a:t>
            </a:r>
            <a:r>
              <a:rPr kumimoji="1" lang="en-US" altLang="ja-JP" sz="3200" dirty="0" smtClean="0"/>
              <a:t>0</a:t>
            </a:r>
            <a:r>
              <a:rPr kumimoji="1" lang="ja-JP" altLang="en-US" sz="3200" dirty="0" smtClean="0"/>
              <a:t>のクラスのランク値より</a:t>
            </a:r>
            <a:r>
              <a:rPr lang="ja-JP" altLang="en-US" sz="3200" dirty="0"/>
              <a:t>低</a:t>
            </a:r>
            <a:r>
              <a:rPr lang="ja-JP" altLang="en-US" sz="3200" dirty="0" smtClean="0"/>
              <a:t>いクラスの</a:t>
            </a:r>
            <a:r>
              <a:rPr kumimoji="1" lang="ja-JP" altLang="en-US" sz="3200" dirty="0" smtClean="0"/>
              <a:t>割合</a:t>
            </a:r>
            <a:endParaRPr kumimoji="1" lang="en-US" altLang="ja-JP" sz="3200" dirty="0" smtClean="0"/>
          </a:p>
          <a:p>
            <a:pPr marL="444500" algn="just"/>
            <a:r>
              <a:rPr kumimoji="1" lang="en-US" altLang="ja-JP" sz="3200" dirty="0" smtClean="0"/>
              <a:t>(p.32-33</a:t>
            </a:r>
            <a:r>
              <a:rPr kumimoji="1" lang="ja-JP" altLang="en-US" sz="3200" dirty="0" smtClean="0"/>
              <a:t>　</a:t>
            </a:r>
            <a:r>
              <a:rPr kumimoji="1" lang="en-US" altLang="ja-JP" sz="3200" dirty="0" smtClean="0"/>
              <a:t>Appendix</a:t>
            </a:r>
            <a:r>
              <a:rPr kumimoji="1" lang="ja-JP" altLang="en-US" sz="3200" dirty="0" smtClean="0"/>
              <a:t>参照のこと</a:t>
            </a:r>
            <a:r>
              <a:rPr kumimoji="1" lang="en-US" altLang="ja-JP" sz="3200" dirty="0" smtClean="0"/>
              <a:t>)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57278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3469730"/>
              </p:ext>
            </p:extLst>
          </p:nvPr>
        </p:nvGraphicFramePr>
        <p:xfrm>
          <a:off x="27794" y="1371600"/>
          <a:ext cx="9088413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7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8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Hamming loss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0.228±0.63%(2)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0.268(3)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0.275±1.54%(4)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dirty="0" smtClean="0"/>
                        <a:t>0.223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0.206±0.14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0.29(4)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0.301(5)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0.28±0.62%(3)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0.233(2)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0.134±0.13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0.163(2)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0.198(5)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0.191±0.24%(4)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0.166(3)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Accuracy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0.531±1.34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0.426(5)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0.529(2)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0.43±2.35%(4)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0.457±0.77%(2)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0.391(5)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0.421(3)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0.393±0.93%(4)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0.477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0.134±0.51%(5)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0.212(2)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0.204(4)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0.206±0.5%(3)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0.226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  <p:sp>
        <p:nvSpPr>
          <p:cNvPr id="2" name="角丸四角形 1"/>
          <p:cNvSpPr/>
          <p:nvPr/>
        </p:nvSpPr>
        <p:spPr>
          <a:xfrm>
            <a:off x="1752600" y="4762500"/>
            <a:ext cx="1917700" cy="3175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02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1723938"/>
              </p:ext>
            </p:extLst>
          </p:nvPr>
        </p:nvGraphicFramePr>
        <p:xfrm>
          <a:off x="27794" y="1371600"/>
          <a:ext cx="9088413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7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8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Recall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0.667±1.02%(2)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0.506(5)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0.788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0.548±2.67%(4)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0.62(3)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0.732±0.48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 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0.6101(3)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0.534±1.17%(4)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0.610(2)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0.701±1.45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0.345(2)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0.342±0.8%(3)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0.331(4)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5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One Error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0.317±2.21%(2)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0.48(5)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0.396(3)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0.417±3.32%(4)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0.282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0.245±0.51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0.523(5)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0.366(4)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0.365±3.57%(3)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0.296(2)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0.102±1.79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 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0.79(3)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1.0(5)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0.81±3.38%(4)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0.381(2)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3969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8095524"/>
              </p:ext>
            </p:extLst>
          </p:nvPr>
        </p:nvGraphicFramePr>
        <p:xfrm>
          <a:off x="27794" y="1371600"/>
          <a:ext cx="9088413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7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8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75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Rank Loss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0.184±0.95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0.371(5)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0.215(3)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0.311±2.55%(4) 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0.186(2)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0.181±0.13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0.411(5)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0.258(3)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0.334±0.74%(4)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0.224(2)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0.199±0.71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0.343(3)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0.648(5)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0.409±0.52%(4) 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28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598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考察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label </a:t>
            </a:r>
            <a:r>
              <a:rPr lang="en-US" altLang="ja-JP" dirty="0" smtClean="0"/>
              <a:t>cardinality</a:t>
            </a:r>
            <a:r>
              <a:rPr lang="ja-JP" altLang="en-US" dirty="0" smtClean="0"/>
              <a:t>が大きいほど，</a:t>
            </a:r>
            <a:r>
              <a:rPr lang="en-US" altLang="ja-JP" dirty="0" smtClean="0"/>
              <a:t>MLRBC</a:t>
            </a:r>
            <a:r>
              <a:rPr lang="ja-JP" altLang="en-US" dirty="0" smtClean="0"/>
              <a:t>は特に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優れた性能を示した．</a:t>
            </a:r>
            <a:endParaRPr lang="en-US" altLang="ja-JP" dirty="0" smtClean="0"/>
          </a:p>
          <a:p>
            <a:r>
              <a:rPr lang="ja-JP" altLang="en-US" dirty="0"/>
              <a:t>予測値</a:t>
            </a:r>
            <a:r>
              <a:rPr lang="ja-JP" altLang="en-US" dirty="0" smtClean="0"/>
              <a:t>の集約手法の改良により，学習用データに含まれないデータを予測することができた．</a:t>
            </a:r>
            <a:endParaRPr lang="en-US" altLang="ja-JP" dirty="0" smtClean="0"/>
          </a:p>
          <a:p>
            <a:r>
              <a:rPr lang="ja-JP" altLang="en-US" dirty="0" smtClean="0"/>
              <a:t>閾値</a:t>
            </a:r>
            <a:r>
              <a:rPr lang="en-US" altLang="ja-JP" i="1" dirty="0" smtClean="0">
                <a:latin typeface="Symbol" panose="05050102010706020507" pitchFamily="18" charset="2"/>
              </a:rPr>
              <a:t>d</a:t>
            </a:r>
            <a:r>
              <a:rPr lang="ja-JP" altLang="en-US" dirty="0" smtClean="0"/>
              <a:t>を定数で固定したため，</a:t>
            </a:r>
            <a:r>
              <a:rPr lang="en-US" altLang="ja-JP" dirty="0" smtClean="0"/>
              <a:t>CAL500</a:t>
            </a:r>
            <a:r>
              <a:rPr lang="ja-JP" altLang="en-US" dirty="0" smtClean="0"/>
              <a:t>における</a:t>
            </a:r>
            <a:r>
              <a:rPr lang="en-US" altLang="ja-JP" dirty="0" smtClean="0"/>
              <a:t>Accuracy</a:t>
            </a:r>
            <a:r>
              <a:rPr lang="ja-JP" altLang="en-US" dirty="0" smtClean="0"/>
              <a:t>が優れなかった．</a:t>
            </a:r>
            <a:endParaRPr lang="en-US" altLang="ja-JP" dirty="0" smtClean="0"/>
          </a:p>
          <a:p>
            <a:r>
              <a:rPr lang="ja-JP" altLang="en-US" dirty="0" smtClean="0"/>
              <a:t>すべての評価指標において，平均ランクは</a:t>
            </a:r>
            <a:r>
              <a:rPr lang="en-US" altLang="ja-JP" dirty="0" smtClean="0"/>
              <a:t>2</a:t>
            </a:r>
            <a:r>
              <a:rPr lang="ja-JP" altLang="en-US" dirty="0" smtClean="0"/>
              <a:t>位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以内に収まった．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29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7089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結論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UCS</a:t>
            </a:r>
            <a:r>
              <a:rPr kumimoji="1" lang="ja-JP" altLang="en-US" dirty="0" smtClean="0"/>
              <a:t>を改良した，</a:t>
            </a:r>
            <a:r>
              <a:rPr kumimoji="1" lang="en-US" altLang="ja-JP" dirty="0" smtClean="0"/>
              <a:t>LP</a:t>
            </a:r>
            <a:r>
              <a:rPr kumimoji="1" lang="ja-JP" altLang="en-US" dirty="0" smtClean="0"/>
              <a:t>ベースのアルゴリズムである</a:t>
            </a:r>
            <a:r>
              <a:rPr kumimoji="1" lang="en-US" altLang="ja-JP" dirty="0" smtClean="0"/>
              <a:t>MLRBC</a:t>
            </a:r>
            <a:r>
              <a:rPr kumimoji="1" lang="ja-JP" altLang="en-US" dirty="0" smtClean="0"/>
              <a:t>を提案した．</a:t>
            </a:r>
            <a:endParaRPr kumimoji="1" lang="en-US" altLang="ja-JP" dirty="0" smtClean="0"/>
          </a:p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r>
              <a:rPr lang="ja-JP" altLang="en-US" dirty="0" smtClean="0"/>
              <a:t>により，提案手法は</a:t>
            </a:r>
            <a:r>
              <a:rPr lang="en-US" altLang="ja-JP" dirty="0" smtClean="0"/>
              <a:t>LP</a:t>
            </a:r>
            <a:r>
              <a:rPr lang="ja-JP" altLang="en-US" dirty="0" smtClean="0"/>
              <a:t>を適用した手法，マルチラベル識別問題において優れた手法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である</a:t>
            </a:r>
            <a:r>
              <a:rPr lang="en-US" altLang="ja-JP" dirty="0" err="1" smtClean="0"/>
              <a:t>RA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/>
              <a:t>EL</a:t>
            </a:r>
            <a:r>
              <a:rPr lang="ja-JP" altLang="en-US" dirty="0" smtClean="0"/>
              <a:t>を上回る性能を示した．</a:t>
            </a:r>
            <a:endParaRPr lang="en-US" altLang="ja-JP" dirty="0" smtClean="0"/>
          </a:p>
          <a:p>
            <a:r>
              <a:rPr lang="ja-JP" altLang="en-US" dirty="0"/>
              <a:t>今後</a:t>
            </a:r>
            <a:r>
              <a:rPr lang="ja-JP" altLang="en-US" dirty="0" smtClean="0"/>
              <a:t>の課題として，</a:t>
            </a:r>
            <a:r>
              <a:rPr lang="en-US" altLang="ja-JP" dirty="0" smtClean="0"/>
              <a:t>UCS</a:t>
            </a:r>
            <a:r>
              <a:rPr lang="ja-JP" altLang="en-US" dirty="0" smtClean="0"/>
              <a:t>におけるルールの探索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手法の改良や，閾値</a:t>
            </a:r>
            <a:r>
              <a:rPr lang="en-US" altLang="ja-JP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d</a:t>
            </a:r>
            <a:r>
              <a:rPr lang="ja-JP" altLang="en-US" dirty="0" smtClean="0"/>
              <a:t>の動的な設定手法の検討が挙げられる．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30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6519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7836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p:sp>
        <p:nvSpPr>
          <p:cNvPr id="60" name="コンテンツ プレースホルダー 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ex1)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32</a:t>
            </a:fld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>
            <a:off x="447703" y="2379726"/>
            <a:ext cx="5788865" cy="3457409"/>
            <a:chOff x="1039153" y="1577340"/>
            <a:chExt cx="5788865" cy="3457409"/>
          </a:xfrm>
        </p:grpSpPr>
        <p:sp>
          <p:nvSpPr>
            <p:cNvPr id="20" name="円/楕円 19"/>
            <p:cNvSpPr/>
            <p:nvPr/>
          </p:nvSpPr>
          <p:spPr>
            <a:xfrm>
              <a:off x="3006315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円/楕円 23"/>
            <p:cNvSpPr/>
            <p:nvPr/>
          </p:nvSpPr>
          <p:spPr>
            <a:xfrm>
              <a:off x="3039652" y="31581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円/楕円 24"/>
            <p:cNvSpPr/>
            <p:nvPr/>
          </p:nvSpPr>
          <p:spPr>
            <a:xfrm>
              <a:off x="4051555" y="2387772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円/楕円 25"/>
            <p:cNvSpPr/>
            <p:nvPr/>
          </p:nvSpPr>
          <p:spPr>
            <a:xfrm>
              <a:off x="5063458" y="374722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/楕円 26"/>
            <p:cNvSpPr/>
            <p:nvPr/>
          </p:nvSpPr>
          <p:spPr>
            <a:xfrm>
              <a:off x="6075362" y="34668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0" name="グループ化 49"/>
            <p:cNvGrpSpPr/>
            <p:nvPr/>
          </p:nvGrpSpPr>
          <p:grpSpPr>
            <a:xfrm>
              <a:off x="1039153" y="1577340"/>
              <a:ext cx="5788865" cy="3457409"/>
              <a:chOff x="1039153" y="1577340"/>
              <a:chExt cx="5788865" cy="3457409"/>
            </a:xfrm>
          </p:grpSpPr>
          <p:grpSp>
            <p:nvGrpSpPr>
              <p:cNvPr id="32" name="グループ化 31"/>
              <p:cNvGrpSpPr/>
              <p:nvPr/>
            </p:nvGrpSpPr>
            <p:grpSpPr>
              <a:xfrm>
                <a:off x="2206622" y="1577340"/>
                <a:ext cx="4621396" cy="2594611"/>
                <a:chOff x="2206622" y="1577340"/>
                <a:chExt cx="4621396" cy="2594611"/>
              </a:xfrm>
            </p:grpSpPr>
            <p:cxnSp>
              <p:nvCxnSpPr>
                <p:cNvPr id="14" name="直線矢印コネクタ 13"/>
                <p:cNvCxnSpPr/>
                <p:nvPr/>
              </p:nvCxnSpPr>
              <p:spPr>
                <a:xfrm flipV="1">
                  <a:off x="2206622" y="4156360"/>
                  <a:ext cx="4621396" cy="1305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直線矢印コネクタ 11"/>
                <p:cNvCxnSpPr/>
                <p:nvPr/>
              </p:nvCxnSpPr>
              <p:spPr>
                <a:xfrm flipV="1">
                  <a:off x="2246092" y="1577340"/>
                  <a:ext cx="0" cy="2594611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9" name="直線コネクタ 28"/>
              <p:cNvCxnSpPr/>
              <p:nvPr/>
            </p:nvCxnSpPr>
            <p:spPr>
              <a:xfrm>
                <a:off x="2246092" y="3051810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グループ化 38"/>
              <p:cNvGrpSpPr/>
              <p:nvPr/>
            </p:nvGrpSpPr>
            <p:grpSpPr>
              <a:xfrm>
                <a:off x="1039153" y="1764674"/>
                <a:ext cx="1100584" cy="2574271"/>
                <a:chOff x="1039153" y="1764674"/>
                <a:chExt cx="1100584" cy="2574271"/>
              </a:xfrm>
            </p:grpSpPr>
            <p:sp>
              <p:nvSpPr>
                <p:cNvPr id="17" name="テキスト ボックス 16"/>
                <p:cNvSpPr txBox="1"/>
                <p:nvPr/>
              </p:nvSpPr>
              <p:spPr>
                <a:xfrm rot="16200000">
                  <a:off x="430813" y="2613035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rank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4" name="テキスト ボックス 33"/>
                <p:cNvSpPr txBox="1"/>
                <p:nvPr/>
              </p:nvSpPr>
              <p:spPr>
                <a:xfrm rot="16200000">
                  <a:off x="1703188" y="3902398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0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5" name="テキスト ボックス 34"/>
                <p:cNvSpPr txBox="1"/>
                <p:nvPr/>
              </p:nvSpPr>
              <p:spPr>
                <a:xfrm rot="16200000">
                  <a:off x="1703189" y="1678002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6" name="テキスト ボックス 35"/>
                <p:cNvSpPr txBox="1"/>
                <p:nvPr/>
              </p:nvSpPr>
              <p:spPr>
                <a:xfrm rot="16200000">
                  <a:off x="1703188" y="2790200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i="1" dirty="0" smtClean="0">
                      <a:latin typeface="Symbol" panose="05050102010706020507" pitchFamily="18" charset="2"/>
                    </a:rPr>
                    <a:t>d</a:t>
                  </a:r>
                  <a:endParaRPr kumimoji="1" lang="ja-JP" altLang="en-US" sz="2800" i="1" dirty="0" smtClean="0">
                    <a:latin typeface="Symbol" panose="05050102010706020507" pitchFamily="18" charset="2"/>
                  </a:endParaRPr>
                </a:p>
              </p:txBody>
            </p:sp>
          </p:grpSp>
          <p:cxnSp>
            <p:nvCxnSpPr>
              <p:cNvPr id="38" name="直線コネクタ 37"/>
              <p:cNvCxnSpPr/>
              <p:nvPr/>
            </p:nvCxnSpPr>
            <p:spPr>
              <a:xfrm>
                <a:off x="2246092" y="1939612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グループ化 48"/>
              <p:cNvGrpSpPr/>
              <p:nvPr/>
            </p:nvGrpSpPr>
            <p:grpSpPr>
              <a:xfrm>
                <a:off x="3000748" y="4243406"/>
                <a:ext cx="3320677" cy="791343"/>
                <a:chOff x="3000748" y="4243406"/>
                <a:chExt cx="3320677" cy="791343"/>
              </a:xfrm>
            </p:grpSpPr>
            <p:sp>
              <p:nvSpPr>
                <p:cNvPr id="16" name="テキスト ボックス 15"/>
                <p:cNvSpPr txBox="1"/>
                <p:nvPr/>
              </p:nvSpPr>
              <p:spPr>
                <a:xfrm>
                  <a:off x="3931235" y="4511529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dirty="0" smtClean="0"/>
                    <a:t>class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43" name="テキスト ボックス 42"/>
                <p:cNvSpPr txBox="1"/>
                <p:nvPr/>
              </p:nvSpPr>
              <p:spPr>
                <a:xfrm>
                  <a:off x="3000748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テキスト ボックス 45"/>
                <p:cNvSpPr txBox="1"/>
                <p:nvPr/>
              </p:nvSpPr>
              <p:spPr>
                <a:xfrm>
                  <a:off x="4010796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テキスト ボックス 46"/>
                <p:cNvSpPr txBox="1"/>
                <p:nvPr/>
              </p:nvSpPr>
              <p:spPr>
                <a:xfrm>
                  <a:off x="5020844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テキスト ボックス 47"/>
                <p:cNvSpPr txBox="1"/>
                <p:nvPr/>
              </p:nvSpPr>
              <p:spPr>
                <a:xfrm>
                  <a:off x="6030893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22" name="円/楕円 21"/>
            <p:cNvSpPr/>
            <p:nvPr/>
          </p:nvSpPr>
          <p:spPr>
            <a:xfrm>
              <a:off x="5030121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6042025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4018218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8" name="グループ化 57"/>
          <p:cNvGrpSpPr/>
          <p:nvPr/>
        </p:nvGrpSpPr>
        <p:grpSpPr>
          <a:xfrm>
            <a:off x="5868387" y="1368282"/>
            <a:ext cx="3031954" cy="954107"/>
            <a:chOff x="7962388" y="2523916"/>
            <a:chExt cx="3031954" cy="954107"/>
          </a:xfrm>
        </p:grpSpPr>
        <p:sp>
          <p:nvSpPr>
            <p:cNvPr id="57" name="テキスト ボックス 56"/>
            <p:cNvSpPr txBox="1"/>
            <p:nvPr/>
          </p:nvSpPr>
          <p:spPr>
            <a:xfrm>
              <a:off x="7962388" y="2523916"/>
              <a:ext cx="3031954" cy="95410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ysDash"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dirty="0" smtClean="0"/>
                <a:t>　 ：</a:t>
              </a:r>
              <a:r>
                <a:rPr kumimoji="1" lang="en-US" altLang="ja-JP" sz="2800" dirty="0" smtClean="0"/>
                <a:t>correct label</a:t>
              </a:r>
            </a:p>
            <a:p>
              <a:r>
                <a:rPr lang="ja-JP" altLang="en-US" sz="2800" dirty="0" smtClean="0"/>
                <a:t>　 ：</a:t>
              </a:r>
              <a:r>
                <a:rPr lang="en-US" altLang="ja-JP" sz="2800" dirty="0" smtClean="0"/>
                <a:t>predicted label</a:t>
              </a:r>
              <a:endParaRPr kumimoji="1" lang="ja-JP" altLang="en-US" sz="2800" dirty="0" smtClean="0"/>
            </a:p>
          </p:txBody>
        </p:sp>
        <p:sp>
          <p:nvSpPr>
            <p:cNvPr id="55" name="円/楕円 54"/>
            <p:cNvSpPr/>
            <p:nvPr/>
          </p:nvSpPr>
          <p:spPr>
            <a:xfrm>
              <a:off x="8117844" y="315099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円/楕円 55"/>
            <p:cNvSpPr/>
            <p:nvPr/>
          </p:nvSpPr>
          <p:spPr>
            <a:xfrm>
              <a:off x="8084506" y="2707917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9" name="テキスト ボックス 58"/>
          <p:cNvSpPr txBox="1"/>
          <p:nvPr/>
        </p:nvSpPr>
        <p:spPr>
          <a:xfrm>
            <a:off x="1151796" y="5723120"/>
            <a:ext cx="3991497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HL = 0.25</a:t>
            </a:r>
          </a:p>
          <a:p>
            <a:r>
              <a:rPr lang="en-US" altLang="ja-JP" sz="3200" dirty="0" smtClean="0"/>
              <a:t>Rank Loss = 0 </a:t>
            </a:r>
            <a:endParaRPr kumimoji="1" lang="ja-JP" altLang="en-US" sz="3200" dirty="0" smtClean="0"/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1151796" y="1366705"/>
            <a:ext cx="2844800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sz="2800" b="1" dirty="0" smtClean="0"/>
              <a:t> </a:t>
            </a:r>
            <a:r>
              <a:rPr lang="en-US" altLang="ja-JP" sz="2800" dirty="0" smtClean="0"/>
              <a:t>= (1, 1, 0, 0)</a:t>
            </a:r>
          </a:p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sz="2800" b="1" dirty="0" smtClean="0"/>
              <a:t> </a:t>
            </a:r>
            <a:r>
              <a:rPr lang="en-US" altLang="ja-JP" sz="2800" dirty="0"/>
              <a:t>= </a:t>
            </a:r>
            <a:r>
              <a:rPr lang="en-US" altLang="ja-JP" sz="2800" dirty="0" smtClean="0"/>
              <a:t>(0, </a:t>
            </a:r>
            <a:r>
              <a:rPr lang="en-US" altLang="ja-JP" sz="2800" dirty="0"/>
              <a:t>1, 0, 0</a:t>
            </a:r>
            <a:r>
              <a:rPr lang="en-US" altLang="ja-JP" sz="2800" dirty="0" smtClean="0"/>
              <a:t>)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1324787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p:sp>
        <p:nvSpPr>
          <p:cNvPr id="60" name="コンテンツ プレースホルダー 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ex2)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33</a:t>
            </a:fld>
            <a:endParaRPr kumimoji="1" lang="ja-JP" altLang="en-US" dirty="0"/>
          </a:p>
        </p:txBody>
      </p:sp>
      <p:grpSp>
        <p:nvGrpSpPr>
          <p:cNvPr id="58" name="グループ化 57"/>
          <p:cNvGrpSpPr/>
          <p:nvPr/>
        </p:nvGrpSpPr>
        <p:grpSpPr>
          <a:xfrm>
            <a:off x="5868387" y="1368282"/>
            <a:ext cx="3031954" cy="954107"/>
            <a:chOff x="7962388" y="2523916"/>
            <a:chExt cx="3031954" cy="954107"/>
          </a:xfrm>
        </p:grpSpPr>
        <p:sp>
          <p:nvSpPr>
            <p:cNvPr id="57" name="テキスト ボックス 56"/>
            <p:cNvSpPr txBox="1"/>
            <p:nvPr/>
          </p:nvSpPr>
          <p:spPr>
            <a:xfrm>
              <a:off x="7962388" y="2523916"/>
              <a:ext cx="3031954" cy="95410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ysDash"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dirty="0" smtClean="0"/>
                <a:t>　 ：</a:t>
              </a:r>
              <a:r>
                <a:rPr kumimoji="1" lang="en-US" altLang="ja-JP" sz="2800" dirty="0" smtClean="0"/>
                <a:t>correct label</a:t>
              </a:r>
            </a:p>
            <a:p>
              <a:r>
                <a:rPr lang="ja-JP" altLang="en-US" sz="2800" dirty="0" smtClean="0"/>
                <a:t>　 ：</a:t>
              </a:r>
              <a:r>
                <a:rPr lang="en-US" altLang="ja-JP" sz="2800" dirty="0" smtClean="0"/>
                <a:t>predicted label</a:t>
              </a:r>
              <a:endParaRPr kumimoji="1" lang="ja-JP" altLang="en-US" sz="2800" dirty="0" smtClean="0"/>
            </a:p>
          </p:txBody>
        </p:sp>
        <p:sp>
          <p:nvSpPr>
            <p:cNvPr id="55" name="円/楕円 54"/>
            <p:cNvSpPr/>
            <p:nvPr/>
          </p:nvSpPr>
          <p:spPr>
            <a:xfrm>
              <a:off x="8117844" y="315099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円/楕円 55"/>
            <p:cNvSpPr/>
            <p:nvPr/>
          </p:nvSpPr>
          <p:spPr>
            <a:xfrm>
              <a:off x="8084506" y="2707917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4" name="テキスト ボックス 103"/>
          <p:cNvSpPr txBox="1"/>
          <p:nvPr/>
        </p:nvSpPr>
        <p:spPr>
          <a:xfrm>
            <a:off x="1151796" y="1366705"/>
            <a:ext cx="2844800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sz="2800" b="1" dirty="0" smtClean="0"/>
              <a:t> </a:t>
            </a:r>
            <a:r>
              <a:rPr lang="en-US" altLang="ja-JP" sz="2800" dirty="0" smtClean="0"/>
              <a:t>= (1, 1, 0, 0)</a:t>
            </a:r>
          </a:p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sz="2800" b="1" dirty="0" smtClean="0"/>
              <a:t> </a:t>
            </a:r>
            <a:r>
              <a:rPr lang="en-US" altLang="ja-JP" sz="2800" dirty="0"/>
              <a:t>= </a:t>
            </a:r>
            <a:r>
              <a:rPr lang="en-US" altLang="ja-JP" sz="2800" dirty="0" smtClean="0"/>
              <a:t>(0, </a:t>
            </a:r>
            <a:r>
              <a:rPr lang="en-US" altLang="ja-JP" sz="2800" dirty="0"/>
              <a:t>1, 0, 0</a:t>
            </a:r>
            <a:r>
              <a:rPr lang="en-US" altLang="ja-JP" sz="2800" dirty="0" smtClean="0"/>
              <a:t>)</a:t>
            </a:r>
            <a:endParaRPr lang="en-US" altLang="ja-JP" sz="2800" dirty="0"/>
          </a:p>
        </p:txBody>
      </p:sp>
      <p:grpSp>
        <p:nvGrpSpPr>
          <p:cNvPr id="106" name="グループ化 105"/>
          <p:cNvGrpSpPr/>
          <p:nvPr/>
        </p:nvGrpSpPr>
        <p:grpSpPr>
          <a:xfrm>
            <a:off x="447703" y="2379726"/>
            <a:ext cx="5788865" cy="3457409"/>
            <a:chOff x="1039153" y="1577340"/>
            <a:chExt cx="5788865" cy="3457409"/>
          </a:xfrm>
        </p:grpSpPr>
        <p:sp>
          <p:nvSpPr>
            <p:cNvPr id="107" name="円/楕円 106"/>
            <p:cNvSpPr/>
            <p:nvPr/>
          </p:nvSpPr>
          <p:spPr>
            <a:xfrm>
              <a:off x="3006315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円/楕円 107"/>
            <p:cNvSpPr/>
            <p:nvPr/>
          </p:nvSpPr>
          <p:spPr>
            <a:xfrm>
              <a:off x="3039652" y="39709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円/楕円 108"/>
            <p:cNvSpPr/>
            <p:nvPr/>
          </p:nvSpPr>
          <p:spPr>
            <a:xfrm>
              <a:off x="4051555" y="2387772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0" name="円/楕円 109"/>
            <p:cNvSpPr/>
            <p:nvPr/>
          </p:nvSpPr>
          <p:spPr>
            <a:xfrm>
              <a:off x="5063458" y="374722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1" name="円/楕円 110"/>
            <p:cNvSpPr/>
            <p:nvPr/>
          </p:nvSpPr>
          <p:spPr>
            <a:xfrm>
              <a:off x="6075362" y="34668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2" name="グループ化 111"/>
            <p:cNvGrpSpPr/>
            <p:nvPr/>
          </p:nvGrpSpPr>
          <p:grpSpPr>
            <a:xfrm>
              <a:off x="1039153" y="1577340"/>
              <a:ext cx="5788865" cy="3457409"/>
              <a:chOff x="1039153" y="1577340"/>
              <a:chExt cx="5788865" cy="3457409"/>
            </a:xfrm>
          </p:grpSpPr>
          <p:grpSp>
            <p:nvGrpSpPr>
              <p:cNvPr id="116" name="グループ化 115"/>
              <p:cNvGrpSpPr/>
              <p:nvPr/>
            </p:nvGrpSpPr>
            <p:grpSpPr>
              <a:xfrm>
                <a:off x="2206622" y="1577340"/>
                <a:ext cx="4621396" cy="2594611"/>
                <a:chOff x="2206622" y="1577340"/>
                <a:chExt cx="4621396" cy="2594611"/>
              </a:xfrm>
            </p:grpSpPr>
            <p:cxnSp>
              <p:nvCxnSpPr>
                <p:cNvPr id="130" name="直線矢印コネクタ 129"/>
                <p:cNvCxnSpPr/>
                <p:nvPr/>
              </p:nvCxnSpPr>
              <p:spPr>
                <a:xfrm flipV="1">
                  <a:off x="2206622" y="4156360"/>
                  <a:ext cx="4621396" cy="1305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矢印コネクタ 130"/>
                <p:cNvCxnSpPr/>
                <p:nvPr/>
              </p:nvCxnSpPr>
              <p:spPr>
                <a:xfrm flipV="1">
                  <a:off x="2246092" y="1577340"/>
                  <a:ext cx="0" cy="2594611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7" name="直線コネクタ 116"/>
              <p:cNvCxnSpPr/>
              <p:nvPr/>
            </p:nvCxnSpPr>
            <p:spPr>
              <a:xfrm>
                <a:off x="2246092" y="3051810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8" name="グループ化 117"/>
              <p:cNvGrpSpPr/>
              <p:nvPr/>
            </p:nvGrpSpPr>
            <p:grpSpPr>
              <a:xfrm>
                <a:off x="1039153" y="1764674"/>
                <a:ext cx="1100584" cy="2574271"/>
                <a:chOff x="1039153" y="1764674"/>
                <a:chExt cx="1100584" cy="2574271"/>
              </a:xfrm>
            </p:grpSpPr>
            <p:sp>
              <p:nvSpPr>
                <p:cNvPr id="126" name="テキスト ボックス 125"/>
                <p:cNvSpPr txBox="1"/>
                <p:nvPr/>
              </p:nvSpPr>
              <p:spPr>
                <a:xfrm rot="16200000">
                  <a:off x="430813" y="2613035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rank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7" name="テキスト ボックス 126"/>
                <p:cNvSpPr txBox="1"/>
                <p:nvPr/>
              </p:nvSpPr>
              <p:spPr>
                <a:xfrm rot="16200000">
                  <a:off x="1703188" y="3902398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0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8" name="テキスト ボックス 127"/>
                <p:cNvSpPr txBox="1"/>
                <p:nvPr/>
              </p:nvSpPr>
              <p:spPr>
                <a:xfrm rot="16200000">
                  <a:off x="1703189" y="1678002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9" name="テキスト ボックス 128"/>
                <p:cNvSpPr txBox="1"/>
                <p:nvPr/>
              </p:nvSpPr>
              <p:spPr>
                <a:xfrm rot="16200000">
                  <a:off x="1703188" y="2790200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i="1" dirty="0" smtClean="0">
                      <a:latin typeface="Symbol" panose="05050102010706020507" pitchFamily="18" charset="2"/>
                    </a:rPr>
                    <a:t>d</a:t>
                  </a:r>
                  <a:endParaRPr kumimoji="1" lang="ja-JP" altLang="en-US" sz="2800" i="1" dirty="0" smtClean="0">
                    <a:latin typeface="Symbol" panose="05050102010706020507" pitchFamily="18" charset="2"/>
                  </a:endParaRPr>
                </a:p>
              </p:txBody>
            </p:sp>
          </p:grpSp>
          <p:cxnSp>
            <p:nvCxnSpPr>
              <p:cNvPr id="119" name="直線コネクタ 118"/>
              <p:cNvCxnSpPr/>
              <p:nvPr/>
            </p:nvCxnSpPr>
            <p:spPr>
              <a:xfrm>
                <a:off x="2246092" y="1939612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グループ化 119"/>
              <p:cNvGrpSpPr/>
              <p:nvPr/>
            </p:nvGrpSpPr>
            <p:grpSpPr>
              <a:xfrm>
                <a:off x="3000748" y="4243406"/>
                <a:ext cx="3320677" cy="791343"/>
                <a:chOff x="3000748" y="4243406"/>
                <a:chExt cx="3320677" cy="791343"/>
              </a:xfrm>
            </p:grpSpPr>
            <p:sp>
              <p:nvSpPr>
                <p:cNvPr id="121" name="テキスト ボックス 120"/>
                <p:cNvSpPr txBox="1"/>
                <p:nvPr/>
              </p:nvSpPr>
              <p:spPr>
                <a:xfrm>
                  <a:off x="3931235" y="4511529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dirty="0" smtClean="0"/>
                    <a:t>class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2" name="テキスト ボックス 121"/>
                <p:cNvSpPr txBox="1"/>
                <p:nvPr/>
              </p:nvSpPr>
              <p:spPr>
                <a:xfrm>
                  <a:off x="3000748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3" name="テキスト ボックス 122"/>
                <p:cNvSpPr txBox="1"/>
                <p:nvPr/>
              </p:nvSpPr>
              <p:spPr>
                <a:xfrm>
                  <a:off x="4010796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4" name="テキスト ボックス 123"/>
                <p:cNvSpPr txBox="1"/>
                <p:nvPr/>
              </p:nvSpPr>
              <p:spPr>
                <a:xfrm>
                  <a:off x="5020844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5" name="テキスト ボックス 124"/>
                <p:cNvSpPr txBox="1"/>
                <p:nvPr/>
              </p:nvSpPr>
              <p:spPr>
                <a:xfrm>
                  <a:off x="6030893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113" name="円/楕円 112"/>
            <p:cNvSpPr/>
            <p:nvPr/>
          </p:nvSpPr>
          <p:spPr>
            <a:xfrm>
              <a:off x="5030121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4" name="円/楕円 113"/>
            <p:cNvSpPr/>
            <p:nvPr/>
          </p:nvSpPr>
          <p:spPr>
            <a:xfrm>
              <a:off x="6042025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円/楕円 114"/>
            <p:cNvSpPr/>
            <p:nvPr/>
          </p:nvSpPr>
          <p:spPr>
            <a:xfrm>
              <a:off x="4018218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2" name="テキスト ボックス 131"/>
          <p:cNvSpPr txBox="1"/>
          <p:nvPr/>
        </p:nvSpPr>
        <p:spPr>
          <a:xfrm>
            <a:off x="1151796" y="5723120"/>
            <a:ext cx="3991497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HL = 0.25</a:t>
            </a:r>
          </a:p>
          <a:p>
            <a:r>
              <a:rPr lang="en-US" altLang="ja-JP" sz="3200" dirty="0" smtClean="0"/>
              <a:t>Rank Loss </a:t>
            </a:r>
            <a:r>
              <a:rPr lang="en-US" altLang="ja-JP" sz="3200" smtClean="0"/>
              <a:t>= 0.5 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146181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3DD86A-5E61-4FA7-9BBC-C5C853AF8C1C}">
  <we:reference id="wa104380121" version="2.0.0.0" store="ja-JP" storeType="OMEX"/>
  <we:alternateReferences>
    <we:reference id="WA104380121" version="2.0.0.0" store="WA10438012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1160</TotalTime>
  <Words>1610</Words>
  <Application>Microsoft Office PowerPoint</Application>
  <PresentationFormat>画面に合わせる (4:3)</PresentationFormat>
  <Paragraphs>511</Paragraphs>
  <Slides>33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41" baseType="lpstr">
      <vt:lpstr>ＭＳ P ゴシック</vt:lpstr>
      <vt:lpstr>ＭＳ Ｐゴシック</vt:lpstr>
      <vt:lpstr>Arial</vt:lpstr>
      <vt:lpstr>Calibri</vt:lpstr>
      <vt:lpstr>Cambria Math</vt:lpstr>
      <vt:lpstr>Symbol</vt:lpstr>
      <vt:lpstr>Times New Roman</vt:lpstr>
      <vt:lpstr>Theme_Lab</vt:lpstr>
      <vt:lpstr>PowerPoint プレゼンテーション</vt:lpstr>
      <vt:lpstr>概要</vt:lpstr>
      <vt:lpstr>sUpervised Classifier system (UCS)</vt:lpstr>
      <vt:lpstr>sUpervised Classifier system (UCS)</vt:lpstr>
      <vt:lpstr>sUpervised Classifier system (UCS)</vt:lpstr>
      <vt:lpstr>sUpervised Classifier system (UCS)</vt:lpstr>
      <vt:lpstr>sUpervised Classifier system (UCS)</vt:lpstr>
      <vt:lpstr>sUpervised Classifier system (UCS)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数値実験</vt:lpstr>
      <vt:lpstr>数値実験</vt:lpstr>
      <vt:lpstr>数値実験</vt:lpstr>
      <vt:lpstr>数値実験</vt:lpstr>
      <vt:lpstr>数値実験</vt:lpstr>
      <vt:lpstr>数値実験</vt:lpstr>
      <vt:lpstr>実験結果</vt:lpstr>
      <vt:lpstr>実験結果</vt:lpstr>
      <vt:lpstr>実験結果</vt:lpstr>
      <vt:lpstr>考察</vt:lpstr>
      <vt:lpstr>結論</vt:lpstr>
      <vt:lpstr>PowerPoint プレゼンテーション</vt:lpstr>
      <vt:lpstr>Appendix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118</cp:revision>
  <dcterms:created xsi:type="dcterms:W3CDTF">2019-09-02T15:16:24Z</dcterms:created>
  <dcterms:modified xsi:type="dcterms:W3CDTF">2019-11-12T07:25:34Z</dcterms:modified>
</cp:coreProperties>
</file>