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60" r:id="rId1"/>
  </p:sldMasterIdLst>
  <p:sldIdLst>
    <p:sldId id="257" r:id="rId2"/>
    <p:sldId id="260" r:id="rId3"/>
    <p:sldId id="259" r:id="rId4"/>
    <p:sldId id="263" r:id="rId5"/>
    <p:sldId id="262" r:id="rId6"/>
    <p:sldId id="265" r:id="rId7"/>
    <p:sldId id="266" r:id="rId8"/>
    <p:sldId id="267" r:id="rId9"/>
    <p:sldId id="268" r:id="rId10"/>
    <p:sldId id="269" r:id="rId11"/>
    <p:sldId id="270" r:id="rId12"/>
    <p:sldId id="271" r:id="rId13"/>
    <p:sldId id="272" r:id="rId14"/>
    <p:sldId id="273" r:id="rId15"/>
    <p:sldId id="274" r:id="rId16"/>
    <p:sldId id="275" r:id="rId17"/>
    <p:sldId id="276" r:id="rId18"/>
    <p:sldId id="277" r:id="rId19"/>
    <p:sldId id="278" r:id="rId20"/>
    <p:sldId id="279" r:id="rId21"/>
    <p:sldId id="280" r:id="rId22"/>
    <p:sldId id="281" r:id="rId23"/>
    <p:sldId id="282" r:id="rId24"/>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3" autoAdjust="0"/>
    <p:restoredTop sz="94660"/>
  </p:normalViewPr>
  <p:slideViewPr>
    <p:cSldViewPr snapToGrid="0">
      <p:cViewPr varScale="1">
        <p:scale>
          <a:sx n="100" d="100"/>
          <a:sy n="100" d="100"/>
        </p:scale>
        <p:origin x="102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4" name="Rectangle 7"/>
          <p:cNvSpPr>
            <a:spLocks noChangeArrowheads="1"/>
          </p:cNvSpPr>
          <p:nvPr/>
        </p:nvSpPr>
        <p:spPr bwMode="auto">
          <a:xfrm>
            <a:off x="0" y="0"/>
            <a:ext cx="9144000" cy="4114800"/>
          </a:xfrm>
          <a:prstGeom prst="rect">
            <a:avLst/>
          </a:prstGeom>
          <a:solidFill>
            <a:schemeClr val="accent2"/>
          </a:solidFill>
          <a:ln w="9525">
            <a:solidFill>
              <a:schemeClr val="accent2"/>
            </a:solidFill>
            <a:miter lim="800000"/>
            <a:headEnd/>
            <a:tailEnd/>
          </a:ln>
        </p:spPr>
        <p:txBody>
          <a:bodyPr wrap="none" anchor="ctr"/>
          <a:lstStyle>
            <a:lvl1pPr eaLnBrk="0" hangingPunct="0">
              <a:defRPr kumimoji="1">
                <a:solidFill>
                  <a:schemeClr val="tx1"/>
                </a:solidFill>
                <a:latin typeface="Arial" pitchFamily="34" charset="0"/>
                <a:ea typeface="ＭＳ Ｐゴシック" pitchFamily="50" charset="-128"/>
              </a:defRPr>
            </a:lvl1pPr>
            <a:lvl2pPr marL="742950" indent="-285750" eaLnBrk="0" hangingPunct="0">
              <a:defRPr kumimoji="1">
                <a:solidFill>
                  <a:schemeClr val="tx1"/>
                </a:solidFill>
                <a:latin typeface="Arial" pitchFamily="34" charset="0"/>
                <a:ea typeface="ＭＳ Ｐゴシック" pitchFamily="50" charset="-128"/>
              </a:defRPr>
            </a:lvl2pPr>
            <a:lvl3pPr marL="1143000" indent="-228600" eaLnBrk="0" hangingPunct="0">
              <a:defRPr kumimoji="1">
                <a:solidFill>
                  <a:schemeClr val="tx1"/>
                </a:solidFill>
                <a:latin typeface="Arial" pitchFamily="34" charset="0"/>
                <a:ea typeface="ＭＳ Ｐゴシック" pitchFamily="50" charset="-128"/>
              </a:defRPr>
            </a:lvl3pPr>
            <a:lvl4pPr marL="1600200" indent="-228600" eaLnBrk="0" hangingPunct="0">
              <a:defRPr kumimoji="1">
                <a:solidFill>
                  <a:schemeClr val="tx1"/>
                </a:solidFill>
                <a:latin typeface="Arial" pitchFamily="34" charset="0"/>
                <a:ea typeface="ＭＳ Ｐゴシック" pitchFamily="50" charset="-128"/>
              </a:defRPr>
            </a:lvl4pPr>
            <a:lvl5pPr marL="2057400" indent="-228600" eaLnBrk="0" hangingPunct="0">
              <a:defRPr kumimoji="1">
                <a:solidFill>
                  <a:schemeClr val="tx1"/>
                </a:solidFill>
                <a:latin typeface="Arial" pitchFamily="34"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9pPr>
          </a:lstStyle>
          <a:p>
            <a:pPr eaLnBrk="1" hangingPunct="1">
              <a:defRPr/>
            </a:pPr>
            <a:endParaRPr lang="ja-JP" altLang="en-US" sz="1350"/>
          </a:p>
        </p:txBody>
      </p:sp>
      <p:sp>
        <p:nvSpPr>
          <p:cNvPr id="9218" name="Rectangle 2"/>
          <p:cNvSpPr>
            <a:spLocks noGrp="1" noChangeArrowheads="1"/>
          </p:cNvSpPr>
          <p:nvPr>
            <p:ph type="ctrTitle"/>
          </p:nvPr>
        </p:nvSpPr>
        <p:spPr>
          <a:xfrm>
            <a:off x="685800" y="2130433"/>
            <a:ext cx="7772400" cy="1470025"/>
          </a:xfrm>
        </p:spPr>
        <p:txBody>
          <a:bodyPr/>
          <a:lstStyle>
            <a:lvl1pPr algn="ctr">
              <a:defRPr sz="4400"/>
            </a:lvl1pPr>
          </a:lstStyle>
          <a:p>
            <a:r>
              <a:rPr lang="ja-JP" altLang="en-US" smtClean="0"/>
              <a:t>マスター タイトルの書式設定</a:t>
            </a:r>
            <a:endParaRPr lang="ja-JP" altLang="en-US" dirty="0"/>
          </a:p>
        </p:txBody>
      </p:sp>
      <p:sp>
        <p:nvSpPr>
          <p:cNvPr id="9219" name="Rectangle 3"/>
          <p:cNvSpPr>
            <a:spLocks noGrp="1" noChangeArrowheads="1"/>
          </p:cNvSpPr>
          <p:nvPr>
            <p:ph type="subTitle" idx="1"/>
          </p:nvPr>
        </p:nvSpPr>
        <p:spPr>
          <a:xfrm>
            <a:off x="1371600" y="4664244"/>
            <a:ext cx="6400800" cy="1371600"/>
          </a:xfrm>
        </p:spPr>
        <p:txBody>
          <a:bodyPr anchor="t" anchorCtr="0"/>
          <a:lstStyle>
            <a:lvl1pPr marL="0" indent="0" algn="ctr">
              <a:buFontTx/>
              <a:buNone/>
              <a:defRPr sz="3200"/>
            </a:lvl1pPr>
          </a:lstStyle>
          <a:p>
            <a:r>
              <a:rPr lang="ja-JP" altLang="en-US" dirty="0" smtClean="0"/>
              <a:t>マスター サブタイトルの書式設定</a:t>
            </a:r>
            <a:endParaRPr lang="ja-JP" altLang="en-US" dirty="0"/>
          </a:p>
        </p:txBody>
      </p:sp>
      <p:sp>
        <p:nvSpPr>
          <p:cNvPr id="5" name="Rectangle 4"/>
          <p:cNvSpPr>
            <a:spLocks noGrp="1" noChangeArrowheads="1"/>
          </p:cNvSpPr>
          <p:nvPr>
            <p:ph type="dt" sz="half" idx="10"/>
          </p:nvPr>
        </p:nvSpPr>
        <p:spPr bwMode="auto">
          <a:xfrm>
            <a:off x="457200" y="6245225"/>
            <a:ext cx="21336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defRPr kumimoji="0" sz="1050">
                <a:latin typeface="Arial" charset="0"/>
              </a:defRPr>
            </a:lvl1pPr>
          </a:lstStyle>
          <a:p>
            <a:endParaRPr kumimoji="1" lang="ja-JP" altLang="en-US"/>
          </a:p>
        </p:txBody>
      </p:sp>
      <p:sp>
        <p:nvSpPr>
          <p:cNvPr id="6" name="Rectangle 5"/>
          <p:cNvSpPr>
            <a:spLocks noGrp="1" noChangeArrowheads="1"/>
          </p:cNvSpPr>
          <p:nvPr>
            <p:ph type="ftr" sz="quarter" idx="11"/>
          </p:nvPr>
        </p:nvSpPr>
        <p:spPr bwMode="auto">
          <a:xfrm>
            <a:off x="3124200" y="6245225"/>
            <a:ext cx="28956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ctr">
              <a:defRPr kumimoji="0" sz="1050">
                <a:latin typeface="Arial" charset="0"/>
              </a:defRPr>
            </a:lvl1pPr>
          </a:lstStyle>
          <a:p>
            <a:endParaRPr kumimoji="1" lang="ja-JP" altLang="en-US"/>
          </a:p>
        </p:txBody>
      </p:sp>
    </p:spTree>
    <p:extLst>
      <p:ext uri="{BB962C8B-B14F-4D97-AF65-F5344CB8AC3E}">
        <p14:creationId xmlns:p14="http://schemas.microsoft.com/office/powerpoint/2010/main" val="708862958"/>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論文情報">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sz="4000"/>
            </a:lvl1pPr>
          </a:lstStyle>
          <a:p>
            <a:r>
              <a:rPr kumimoji="1" lang="ja-JP" altLang="en-US" smtClean="0"/>
              <a:t>マスター タイトルの書式設定</a:t>
            </a:r>
            <a:endParaRPr kumimoji="1" lang="ja-JP" altLang="en-US" dirty="0"/>
          </a:p>
        </p:txBody>
      </p:sp>
      <p:sp>
        <p:nvSpPr>
          <p:cNvPr id="3" name="テキスト ボックス 2"/>
          <p:cNvSpPr txBox="1"/>
          <p:nvPr/>
        </p:nvSpPr>
        <p:spPr>
          <a:xfrm>
            <a:off x="228600" y="1323979"/>
            <a:ext cx="1466850" cy="584775"/>
          </a:xfrm>
          <a:prstGeom prst="rect">
            <a:avLst/>
          </a:prstGeom>
          <a:noFill/>
          <a:ln w="28575">
            <a:solidFill>
              <a:schemeClr val="accent2"/>
            </a:solidFill>
          </a:ln>
        </p:spPr>
        <p:txBody>
          <a:bodyPr wrap="square" rtlCol="0">
            <a:spAutoFit/>
          </a:bodyPr>
          <a:lstStyle/>
          <a:p>
            <a:pPr algn="ctr"/>
            <a:r>
              <a:rPr kumimoji="1" lang="ja-JP" altLang="en-US" sz="3200" dirty="0"/>
              <a:t>論文名</a:t>
            </a:r>
          </a:p>
        </p:txBody>
      </p:sp>
      <p:sp>
        <p:nvSpPr>
          <p:cNvPr id="4" name="テキスト ボックス 3"/>
          <p:cNvSpPr txBox="1"/>
          <p:nvPr/>
        </p:nvSpPr>
        <p:spPr>
          <a:xfrm>
            <a:off x="228600" y="3125442"/>
            <a:ext cx="1466850" cy="584775"/>
          </a:xfrm>
          <a:prstGeom prst="rect">
            <a:avLst/>
          </a:prstGeom>
          <a:noFill/>
          <a:ln w="28575">
            <a:solidFill>
              <a:schemeClr val="accent2"/>
            </a:solidFill>
          </a:ln>
        </p:spPr>
        <p:txBody>
          <a:bodyPr wrap="square" rtlCol="0">
            <a:spAutoFit/>
          </a:bodyPr>
          <a:lstStyle/>
          <a:p>
            <a:pPr algn="ctr"/>
            <a:r>
              <a:rPr kumimoji="1" lang="ja-JP" altLang="en-US" sz="3200" dirty="0"/>
              <a:t>著者名</a:t>
            </a:r>
          </a:p>
        </p:txBody>
      </p:sp>
      <p:sp>
        <p:nvSpPr>
          <p:cNvPr id="5" name="テキスト ボックス 4"/>
          <p:cNvSpPr txBox="1"/>
          <p:nvPr/>
        </p:nvSpPr>
        <p:spPr>
          <a:xfrm>
            <a:off x="228600" y="4724402"/>
            <a:ext cx="1466850" cy="584775"/>
          </a:xfrm>
          <a:prstGeom prst="rect">
            <a:avLst/>
          </a:prstGeom>
          <a:noFill/>
          <a:ln w="28575">
            <a:solidFill>
              <a:schemeClr val="accent2"/>
            </a:solidFill>
          </a:ln>
        </p:spPr>
        <p:txBody>
          <a:bodyPr wrap="square" rtlCol="0">
            <a:spAutoFit/>
          </a:bodyPr>
          <a:lstStyle/>
          <a:p>
            <a:pPr algn="ctr"/>
            <a:r>
              <a:rPr lang="ja-JP" altLang="en-US" sz="3200" dirty="0"/>
              <a:t>出典</a:t>
            </a:r>
            <a:endParaRPr kumimoji="1" lang="ja-JP" altLang="en-US" sz="3200" dirty="0"/>
          </a:p>
        </p:txBody>
      </p:sp>
      <p:sp>
        <p:nvSpPr>
          <p:cNvPr id="6" name="コンテンツ プレースホルダ 2"/>
          <p:cNvSpPr>
            <a:spLocks noGrp="1"/>
          </p:cNvSpPr>
          <p:nvPr>
            <p:ph idx="1" hasCustomPrompt="1"/>
          </p:nvPr>
        </p:nvSpPr>
        <p:spPr>
          <a:xfrm>
            <a:off x="1828800" y="1323979"/>
            <a:ext cx="7086600" cy="1551337"/>
          </a:xfrm>
        </p:spPr>
        <p:txBody>
          <a:bodyPr/>
          <a:lstStyle>
            <a:lvl1pPr marL="0" indent="0" algn="just">
              <a:buNone/>
              <a:defRPr sz="2800"/>
            </a:lvl1pPr>
            <a:lvl2pPr marL="342900" indent="0" algn="just">
              <a:buNone/>
              <a:defRPr sz="2400"/>
            </a:lvl2pPr>
            <a:lvl3pPr marL="685800" indent="0" algn="just">
              <a:buNone/>
              <a:defRPr/>
            </a:lvl3pPr>
            <a:lvl4pPr marL="1028700" indent="0" algn="l">
              <a:buNone/>
              <a:defRPr/>
            </a:lvl4pPr>
            <a:lvl5pPr marL="1371600" indent="0" algn="l">
              <a:buNone/>
              <a:defRPr/>
            </a:lvl5pPr>
          </a:lstStyle>
          <a:p>
            <a:pPr lvl="0"/>
            <a:r>
              <a:rPr lang="ja-JP" altLang="en-US" dirty="0"/>
              <a:t>論文名</a:t>
            </a:r>
          </a:p>
        </p:txBody>
      </p:sp>
      <p:sp>
        <p:nvSpPr>
          <p:cNvPr id="7" name="コンテンツ プレースホルダ 2"/>
          <p:cNvSpPr>
            <a:spLocks noGrp="1"/>
          </p:cNvSpPr>
          <p:nvPr>
            <p:ph idx="10" hasCustomPrompt="1"/>
          </p:nvPr>
        </p:nvSpPr>
        <p:spPr>
          <a:xfrm>
            <a:off x="1828800" y="3125441"/>
            <a:ext cx="7086600" cy="1391142"/>
          </a:xfrm>
        </p:spPr>
        <p:txBody>
          <a:bodyPr/>
          <a:lstStyle>
            <a:lvl1pPr marL="0" indent="0" algn="just">
              <a:buNone/>
              <a:defRPr sz="2800"/>
            </a:lvl1pPr>
            <a:lvl2pPr marL="342900" indent="0" algn="just">
              <a:buNone/>
              <a:defRPr sz="2400"/>
            </a:lvl2pPr>
            <a:lvl3pPr marL="685800" indent="0" algn="just">
              <a:buNone/>
              <a:defRPr/>
            </a:lvl3pPr>
            <a:lvl4pPr marL="1028700" indent="0" algn="l">
              <a:buNone/>
              <a:defRPr/>
            </a:lvl4pPr>
            <a:lvl5pPr marL="1371600" indent="0" algn="l">
              <a:buNone/>
              <a:defRPr/>
            </a:lvl5pPr>
          </a:lstStyle>
          <a:p>
            <a:pPr lvl="0"/>
            <a:r>
              <a:rPr lang="ja-JP" altLang="en-US" dirty="0"/>
              <a:t>著者名</a:t>
            </a:r>
          </a:p>
        </p:txBody>
      </p:sp>
      <p:sp>
        <p:nvSpPr>
          <p:cNvPr id="8" name="コンテンツ プレースホルダ 2"/>
          <p:cNvSpPr>
            <a:spLocks noGrp="1"/>
          </p:cNvSpPr>
          <p:nvPr>
            <p:ph idx="11" hasCustomPrompt="1"/>
          </p:nvPr>
        </p:nvSpPr>
        <p:spPr>
          <a:xfrm>
            <a:off x="1828800" y="4724402"/>
            <a:ext cx="7086600" cy="1551337"/>
          </a:xfrm>
        </p:spPr>
        <p:txBody>
          <a:bodyPr/>
          <a:lstStyle>
            <a:lvl1pPr marL="0" indent="0" algn="just">
              <a:buNone/>
              <a:defRPr sz="2800"/>
            </a:lvl1pPr>
            <a:lvl2pPr marL="342900" indent="0" algn="just">
              <a:buNone/>
              <a:defRPr sz="2400"/>
            </a:lvl2pPr>
            <a:lvl3pPr marL="685800" indent="0" algn="just">
              <a:buNone/>
              <a:defRPr/>
            </a:lvl3pPr>
            <a:lvl4pPr marL="1028700" indent="0" algn="l">
              <a:buNone/>
              <a:defRPr/>
            </a:lvl4pPr>
            <a:lvl5pPr marL="1371600" indent="0" algn="l">
              <a:buNone/>
              <a:defRPr/>
            </a:lvl5pPr>
          </a:lstStyle>
          <a:p>
            <a:pPr lvl="0"/>
            <a:r>
              <a:rPr lang="ja-JP" altLang="en-US" dirty="0"/>
              <a:t>出典</a:t>
            </a:r>
          </a:p>
        </p:txBody>
      </p:sp>
      <p:sp>
        <p:nvSpPr>
          <p:cNvPr id="9" name="Rectangle 6"/>
          <p:cNvSpPr>
            <a:spLocks noGrp="1" noChangeArrowheads="1"/>
          </p:cNvSpPr>
          <p:nvPr>
            <p:ph type="sldNum" sz="quarter" idx="12"/>
          </p:nvPr>
        </p:nvSpPr>
        <p:spPr bwMode="auto">
          <a:xfrm>
            <a:off x="6781800" y="333375"/>
            <a:ext cx="21336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a:defRPr kumimoji="0" sz="2800" b="1">
                <a:solidFill>
                  <a:srgbClr val="FFFF00"/>
                </a:solidFill>
              </a:defRPr>
            </a:lvl1pPr>
          </a:lstStyle>
          <a:p>
            <a:fld id="{997D3CC7-B6A9-4C37-AD00-6075B6850248}" type="slidenum">
              <a:rPr kumimoji="1" lang="ja-JP" altLang="en-US" smtClean="0"/>
              <a:t>‹#›</a:t>
            </a:fld>
            <a:endParaRPr kumimoji="1" lang="ja-JP" altLang="en-US"/>
          </a:p>
        </p:txBody>
      </p:sp>
    </p:spTree>
    <p:extLst>
      <p:ext uri="{BB962C8B-B14F-4D97-AF65-F5344CB8AC3E}">
        <p14:creationId xmlns:p14="http://schemas.microsoft.com/office/powerpoint/2010/main" val="50074969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lgn="l">
              <a:defRPr sz="4000"/>
            </a:lvl1pPr>
          </a:lstStyle>
          <a:p>
            <a:r>
              <a:rPr lang="ja-JP" altLang="en-US" smtClean="0"/>
              <a:t>マスター タイトルの書式設定</a:t>
            </a:r>
            <a:endParaRPr lang="ja-JP" altLang="en-US" dirty="0"/>
          </a:p>
        </p:txBody>
      </p:sp>
      <p:sp>
        <p:nvSpPr>
          <p:cNvPr id="3" name="コンテンツ プレースホルダ 2"/>
          <p:cNvSpPr>
            <a:spLocks noGrp="1"/>
          </p:cNvSpPr>
          <p:nvPr>
            <p:ph idx="1"/>
          </p:nvPr>
        </p:nvSpPr>
        <p:spPr/>
        <p:txBody>
          <a:bodyPr/>
          <a:lstStyle>
            <a:lvl1pPr marL="0" indent="0" algn="just">
              <a:buNone/>
              <a:defRPr sz="2800"/>
            </a:lvl1pPr>
            <a:lvl2pPr marL="342900" indent="0" algn="just">
              <a:buNone/>
              <a:defRPr sz="2400"/>
            </a:lvl2pPr>
            <a:lvl3pPr marL="685800" indent="0" algn="just">
              <a:buNone/>
              <a:defRPr/>
            </a:lvl3pPr>
            <a:lvl4pPr marL="1028700" indent="0" algn="l">
              <a:buNone/>
              <a:defRPr/>
            </a:lvl4pPr>
            <a:lvl5pPr marL="1371600" indent="0" algn="l">
              <a:buNone/>
              <a:defRPr/>
            </a:lvl5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p:txBody>
      </p:sp>
      <p:sp>
        <p:nvSpPr>
          <p:cNvPr id="4" name="Rectangle 6"/>
          <p:cNvSpPr>
            <a:spLocks noGrp="1" noChangeArrowheads="1"/>
          </p:cNvSpPr>
          <p:nvPr>
            <p:ph type="sldNum" sz="quarter" idx="12"/>
          </p:nvPr>
        </p:nvSpPr>
        <p:spPr bwMode="auto">
          <a:xfrm>
            <a:off x="6781800" y="333375"/>
            <a:ext cx="21336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a:defRPr kumimoji="0" sz="2800" b="1">
                <a:solidFill>
                  <a:srgbClr val="FFFF00"/>
                </a:solidFill>
              </a:defRPr>
            </a:lvl1pPr>
          </a:lstStyle>
          <a:p>
            <a:fld id="{997D3CC7-B6A9-4C37-AD00-6075B6850248}" type="slidenum">
              <a:rPr kumimoji="1" lang="ja-JP" altLang="en-US" smtClean="0"/>
              <a:t>‹#›</a:t>
            </a:fld>
            <a:endParaRPr kumimoji="1" lang="ja-JP" altLang="en-US"/>
          </a:p>
        </p:txBody>
      </p:sp>
    </p:spTree>
    <p:extLst>
      <p:ext uri="{BB962C8B-B14F-4D97-AF65-F5344CB8AC3E}">
        <p14:creationId xmlns:p14="http://schemas.microsoft.com/office/powerpoint/2010/main" val="416803497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lgn="l">
              <a:defRPr sz="4000"/>
            </a:lvl1pPr>
          </a:lstStyle>
          <a:p>
            <a:r>
              <a:rPr lang="ja-JP" altLang="en-US" smtClean="0"/>
              <a:t>マスター タイトルの書式設定</a:t>
            </a:r>
            <a:endParaRPr lang="ja-JP" altLang="en-US" dirty="0"/>
          </a:p>
        </p:txBody>
      </p:sp>
      <p:sp>
        <p:nvSpPr>
          <p:cNvPr id="4" name="Rectangle 6"/>
          <p:cNvSpPr>
            <a:spLocks noGrp="1" noChangeArrowheads="1"/>
          </p:cNvSpPr>
          <p:nvPr>
            <p:ph type="sldNum" sz="quarter" idx="12"/>
          </p:nvPr>
        </p:nvSpPr>
        <p:spPr bwMode="auto">
          <a:xfrm>
            <a:off x="6781800" y="333375"/>
            <a:ext cx="21336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a:defRPr kumimoji="0" sz="2800" b="1">
                <a:solidFill>
                  <a:srgbClr val="FFFF00"/>
                </a:solidFill>
              </a:defRPr>
            </a:lvl1pPr>
          </a:lstStyle>
          <a:p>
            <a:fld id="{997D3CC7-B6A9-4C37-AD00-6075B6850248}" type="slidenum">
              <a:rPr kumimoji="1" lang="ja-JP" altLang="en-US" smtClean="0"/>
              <a:t>‹#›</a:t>
            </a:fld>
            <a:endParaRPr kumimoji="1" lang="ja-JP" altLang="en-US"/>
          </a:p>
        </p:txBody>
      </p:sp>
    </p:spTree>
    <p:extLst>
      <p:ext uri="{BB962C8B-B14F-4D97-AF65-F5344CB8AC3E}">
        <p14:creationId xmlns:p14="http://schemas.microsoft.com/office/powerpoint/2010/main" val="5609652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2段タイトル">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76200" y="0"/>
            <a:ext cx="9067800" cy="609600"/>
          </a:xfrm>
        </p:spPr>
        <p:txBody>
          <a:bodyPr/>
          <a:lstStyle>
            <a:lvl1pPr algn="l">
              <a:defRPr sz="4000"/>
            </a:lvl1pPr>
          </a:lstStyle>
          <a:p>
            <a:r>
              <a:rPr lang="ja-JP" altLang="en-US" dirty="0"/>
              <a:t>メインタイトル</a:t>
            </a:r>
          </a:p>
        </p:txBody>
      </p:sp>
      <p:sp>
        <p:nvSpPr>
          <p:cNvPr id="3" name="コンテンツ プレースホルダ 2"/>
          <p:cNvSpPr>
            <a:spLocks noGrp="1"/>
          </p:cNvSpPr>
          <p:nvPr>
            <p:ph idx="1"/>
          </p:nvPr>
        </p:nvSpPr>
        <p:spPr/>
        <p:txBody>
          <a:bodyPr/>
          <a:lstStyle>
            <a:lvl1pPr marL="0" indent="0" algn="just">
              <a:buNone/>
              <a:defRPr sz="2800"/>
            </a:lvl1pPr>
            <a:lvl2pPr marL="342900" indent="0" algn="just">
              <a:buNone/>
              <a:defRPr sz="2400"/>
            </a:lvl2pPr>
            <a:lvl3pPr marL="685800" indent="0" algn="just">
              <a:buNone/>
              <a:defRPr/>
            </a:lvl3pPr>
            <a:lvl4pPr marL="1028700" indent="0" algn="l">
              <a:buNone/>
              <a:defRPr/>
            </a:lvl4pPr>
            <a:lvl5pPr marL="1371600" indent="0" algn="l">
              <a:buNone/>
              <a:defRPr/>
            </a:lvl5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p:txBody>
      </p:sp>
      <p:sp>
        <p:nvSpPr>
          <p:cNvPr id="4" name="Rectangle 6"/>
          <p:cNvSpPr>
            <a:spLocks noGrp="1" noChangeArrowheads="1"/>
          </p:cNvSpPr>
          <p:nvPr>
            <p:ph type="sldNum" sz="quarter" idx="12"/>
          </p:nvPr>
        </p:nvSpPr>
        <p:spPr bwMode="auto">
          <a:xfrm>
            <a:off x="6781800" y="333375"/>
            <a:ext cx="21336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a:defRPr kumimoji="0" sz="2800" b="1">
                <a:solidFill>
                  <a:srgbClr val="FFFF00"/>
                </a:solidFill>
              </a:defRPr>
            </a:lvl1pPr>
          </a:lstStyle>
          <a:p>
            <a:fld id="{997D3CC7-B6A9-4C37-AD00-6075B6850248}" type="slidenum">
              <a:rPr kumimoji="1" lang="ja-JP" altLang="en-US" smtClean="0"/>
              <a:t>‹#›</a:t>
            </a:fld>
            <a:endParaRPr kumimoji="1" lang="ja-JP" altLang="en-US"/>
          </a:p>
        </p:txBody>
      </p:sp>
      <p:sp>
        <p:nvSpPr>
          <p:cNvPr id="6" name="テキスト プレースホルダー 13"/>
          <p:cNvSpPr>
            <a:spLocks noGrp="1"/>
          </p:cNvSpPr>
          <p:nvPr>
            <p:ph type="body" sz="quarter" idx="13" hasCustomPrompt="1"/>
          </p:nvPr>
        </p:nvSpPr>
        <p:spPr>
          <a:xfrm>
            <a:off x="76200" y="609600"/>
            <a:ext cx="9067800" cy="506559"/>
          </a:xfrm>
        </p:spPr>
        <p:txBody>
          <a:bodyPr anchor="ctr"/>
          <a:lstStyle>
            <a:lvl1pPr marL="0" indent="0">
              <a:buNone/>
              <a:defRPr sz="3000" b="1">
                <a:solidFill>
                  <a:srgbClr val="FFFF00"/>
                </a:solidFill>
                <a:latin typeface="+mj-ea"/>
                <a:ea typeface="+mj-ea"/>
              </a:defRPr>
            </a:lvl1pPr>
          </a:lstStyle>
          <a:p>
            <a:pPr lvl="0"/>
            <a:r>
              <a:rPr kumimoji="1" lang="ja-JP" altLang="en-US" dirty="0"/>
              <a:t>サブタイトル</a:t>
            </a:r>
          </a:p>
        </p:txBody>
      </p:sp>
    </p:spTree>
    <p:extLst>
      <p:ext uri="{BB962C8B-B14F-4D97-AF65-F5344CB8AC3E}">
        <p14:creationId xmlns:p14="http://schemas.microsoft.com/office/powerpoint/2010/main" val="17258023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段タイトルのみ">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76200" y="0"/>
            <a:ext cx="9067800" cy="609600"/>
          </a:xfrm>
        </p:spPr>
        <p:txBody>
          <a:bodyPr/>
          <a:lstStyle>
            <a:lvl1pPr algn="l">
              <a:defRPr sz="4000"/>
            </a:lvl1pPr>
          </a:lstStyle>
          <a:p>
            <a:r>
              <a:rPr lang="ja-JP" altLang="en-US" dirty="0"/>
              <a:t>メインタイトル</a:t>
            </a:r>
          </a:p>
        </p:txBody>
      </p:sp>
      <p:sp>
        <p:nvSpPr>
          <p:cNvPr id="4" name="Rectangle 6"/>
          <p:cNvSpPr>
            <a:spLocks noGrp="1" noChangeArrowheads="1"/>
          </p:cNvSpPr>
          <p:nvPr>
            <p:ph type="sldNum" sz="quarter" idx="12"/>
          </p:nvPr>
        </p:nvSpPr>
        <p:spPr bwMode="auto">
          <a:xfrm>
            <a:off x="6781800" y="333375"/>
            <a:ext cx="21336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a:defRPr kumimoji="0" sz="2800" b="1">
                <a:solidFill>
                  <a:srgbClr val="FFFF00"/>
                </a:solidFill>
              </a:defRPr>
            </a:lvl1pPr>
          </a:lstStyle>
          <a:p>
            <a:fld id="{997D3CC7-B6A9-4C37-AD00-6075B6850248}" type="slidenum">
              <a:rPr kumimoji="1" lang="ja-JP" altLang="en-US" smtClean="0"/>
              <a:t>‹#›</a:t>
            </a:fld>
            <a:endParaRPr kumimoji="1" lang="ja-JP" altLang="en-US"/>
          </a:p>
        </p:txBody>
      </p:sp>
      <p:sp>
        <p:nvSpPr>
          <p:cNvPr id="14" name="テキスト プレースホルダー 13"/>
          <p:cNvSpPr>
            <a:spLocks noGrp="1"/>
          </p:cNvSpPr>
          <p:nvPr>
            <p:ph type="body" sz="quarter" idx="13" hasCustomPrompt="1"/>
          </p:nvPr>
        </p:nvSpPr>
        <p:spPr>
          <a:xfrm>
            <a:off x="76200" y="609600"/>
            <a:ext cx="9067800" cy="506559"/>
          </a:xfrm>
        </p:spPr>
        <p:txBody>
          <a:bodyPr anchor="ctr"/>
          <a:lstStyle>
            <a:lvl1pPr marL="0" indent="0">
              <a:buNone/>
              <a:defRPr sz="3000" b="1">
                <a:solidFill>
                  <a:srgbClr val="FFFF00"/>
                </a:solidFill>
                <a:latin typeface="+mj-ea"/>
                <a:ea typeface="+mj-ea"/>
              </a:defRPr>
            </a:lvl1pPr>
          </a:lstStyle>
          <a:p>
            <a:pPr lvl="0"/>
            <a:r>
              <a:rPr kumimoji="1" lang="ja-JP" altLang="en-US" dirty="0"/>
              <a:t>サブタイトル</a:t>
            </a:r>
          </a:p>
        </p:txBody>
      </p:sp>
    </p:spTree>
    <p:extLst>
      <p:ext uri="{BB962C8B-B14F-4D97-AF65-F5344CB8AC3E}">
        <p14:creationId xmlns:p14="http://schemas.microsoft.com/office/powerpoint/2010/main" val="878313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作図用">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54821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白幕">
    <p:spTree>
      <p:nvGrpSpPr>
        <p:cNvPr id="1" name=""/>
        <p:cNvGrpSpPr/>
        <p:nvPr/>
      </p:nvGrpSpPr>
      <p:grpSpPr>
        <a:xfrm>
          <a:off x="0" y="0"/>
          <a:ext cx="0" cy="0"/>
          <a:chOff x="0" y="0"/>
          <a:chExt cx="0" cy="0"/>
        </a:xfrm>
      </p:grpSpPr>
      <p:sp>
        <p:nvSpPr>
          <p:cNvPr id="4" name="Rectangle 7"/>
          <p:cNvSpPr>
            <a:spLocks noChangeAspect="1" noChangeArrowheads="1"/>
          </p:cNvSpPr>
          <p:nvPr/>
        </p:nvSpPr>
        <p:spPr bwMode="auto">
          <a:xfrm>
            <a:off x="-47100" y="-8238"/>
            <a:ext cx="9191100" cy="6866238"/>
          </a:xfrm>
          <a:prstGeom prst="rect">
            <a:avLst/>
          </a:prstGeom>
          <a:solidFill>
            <a:schemeClr val="bg1"/>
          </a:solidFill>
          <a:ln w="9525">
            <a:solidFill>
              <a:schemeClr val="bg1"/>
            </a:solidFill>
            <a:miter lim="800000"/>
            <a:headEnd/>
            <a:tailEnd/>
          </a:ln>
        </p:spPr>
        <p:txBody>
          <a:bodyPr wrap="none" anchor="ctr"/>
          <a:lstStyle>
            <a:lvl1pPr eaLnBrk="0" hangingPunct="0">
              <a:defRPr kumimoji="1">
                <a:solidFill>
                  <a:schemeClr val="tx1"/>
                </a:solidFill>
                <a:latin typeface="Arial" pitchFamily="34" charset="0"/>
                <a:ea typeface="ＭＳ Ｐゴシック" pitchFamily="50" charset="-128"/>
              </a:defRPr>
            </a:lvl1pPr>
            <a:lvl2pPr marL="742950" indent="-285750" eaLnBrk="0" hangingPunct="0">
              <a:defRPr kumimoji="1">
                <a:solidFill>
                  <a:schemeClr val="tx1"/>
                </a:solidFill>
                <a:latin typeface="Arial" pitchFamily="34" charset="0"/>
                <a:ea typeface="ＭＳ Ｐゴシック" pitchFamily="50" charset="-128"/>
              </a:defRPr>
            </a:lvl2pPr>
            <a:lvl3pPr marL="1143000" indent="-228600" eaLnBrk="0" hangingPunct="0">
              <a:defRPr kumimoji="1">
                <a:solidFill>
                  <a:schemeClr val="tx1"/>
                </a:solidFill>
                <a:latin typeface="Arial" pitchFamily="34" charset="0"/>
                <a:ea typeface="ＭＳ Ｐゴシック" pitchFamily="50" charset="-128"/>
              </a:defRPr>
            </a:lvl3pPr>
            <a:lvl4pPr marL="1600200" indent="-228600" eaLnBrk="0" hangingPunct="0">
              <a:defRPr kumimoji="1">
                <a:solidFill>
                  <a:schemeClr val="tx1"/>
                </a:solidFill>
                <a:latin typeface="Arial" pitchFamily="34" charset="0"/>
                <a:ea typeface="ＭＳ Ｐゴシック" pitchFamily="50" charset="-128"/>
              </a:defRPr>
            </a:lvl4pPr>
            <a:lvl5pPr marL="2057400" indent="-228600" eaLnBrk="0" hangingPunct="0">
              <a:defRPr kumimoji="1">
                <a:solidFill>
                  <a:schemeClr val="tx1"/>
                </a:solidFill>
                <a:latin typeface="Arial" pitchFamily="34"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9pPr>
          </a:lstStyle>
          <a:p>
            <a:pPr eaLnBrk="1" hangingPunct="1">
              <a:defRPr/>
            </a:pPr>
            <a:endParaRPr lang="ja-JP" altLang="en-US" sz="1350"/>
          </a:p>
        </p:txBody>
      </p:sp>
    </p:spTree>
    <p:extLst>
      <p:ext uri="{BB962C8B-B14F-4D97-AF65-F5344CB8AC3E}">
        <p14:creationId xmlns:p14="http://schemas.microsoft.com/office/powerpoint/2010/main" val="4154450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黒幕">
    <p:spTree>
      <p:nvGrpSpPr>
        <p:cNvPr id="1" name=""/>
        <p:cNvGrpSpPr/>
        <p:nvPr/>
      </p:nvGrpSpPr>
      <p:grpSpPr>
        <a:xfrm>
          <a:off x="0" y="0"/>
          <a:ext cx="0" cy="0"/>
          <a:chOff x="0" y="0"/>
          <a:chExt cx="0" cy="0"/>
        </a:xfrm>
      </p:grpSpPr>
      <p:sp>
        <p:nvSpPr>
          <p:cNvPr id="4" name="Rectangle 7"/>
          <p:cNvSpPr>
            <a:spLocks noChangeAspect="1" noChangeArrowheads="1"/>
          </p:cNvSpPr>
          <p:nvPr/>
        </p:nvSpPr>
        <p:spPr bwMode="auto">
          <a:xfrm>
            <a:off x="-38862" y="0"/>
            <a:ext cx="9182862" cy="6858000"/>
          </a:xfrm>
          <a:prstGeom prst="rect">
            <a:avLst/>
          </a:prstGeom>
          <a:solidFill>
            <a:schemeClr val="tx1"/>
          </a:solidFill>
          <a:ln w="9525">
            <a:solidFill>
              <a:schemeClr val="tx1"/>
            </a:solidFill>
            <a:miter lim="800000"/>
            <a:headEnd/>
            <a:tailEnd/>
          </a:ln>
        </p:spPr>
        <p:txBody>
          <a:bodyPr wrap="none" anchor="ctr"/>
          <a:lstStyle>
            <a:lvl1pPr eaLnBrk="0" hangingPunct="0">
              <a:defRPr kumimoji="1">
                <a:solidFill>
                  <a:schemeClr val="tx1"/>
                </a:solidFill>
                <a:latin typeface="Arial" pitchFamily="34" charset="0"/>
                <a:ea typeface="ＭＳ Ｐゴシック" pitchFamily="50" charset="-128"/>
              </a:defRPr>
            </a:lvl1pPr>
            <a:lvl2pPr marL="742950" indent="-285750" eaLnBrk="0" hangingPunct="0">
              <a:defRPr kumimoji="1">
                <a:solidFill>
                  <a:schemeClr val="tx1"/>
                </a:solidFill>
                <a:latin typeface="Arial" pitchFamily="34" charset="0"/>
                <a:ea typeface="ＭＳ Ｐゴシック" pitchFamily="50" charset="-128"/>
              </a:defRPr>
            </a:lvl2pPr>
            <a:lvl3pPr marL="1143000" indent="-228600" eaLnBrk="0" hangingPunct="0">
              <a:defRPr kumimoji="1">
                <a:solidFill>
                  <a:schemeClr val="tx1"/>
                </a:solidFill>
                <a:latin typeface="Arial" pitchFamily="34" charset="0"/>
                <a:ea typeface="ＭＳ Ｐゴシック" pitchFamily="50" charset="-128"/>
              </a:defRPr>
            </a:lvl3pPr>
            <a:lvl4pPr marL="1600200" indent="-228600" eaLnBrk="0" hangingPunct="0">
              <a:defRPr kumimoji="1">
                <a:solidFill>
                  <a:schemeClr val="tx1"/>
                </a:solidFill>
                <a:latin typeface="Arial" pitchFamily="34" charset="0"/>
                <a:ea typeface="ＭＳ Ｐゴシック" pitchFamily="50" charset="-128"/>
              </a:defRPr>
            </a:lvl4pPr>
            <a:lvl5pPr marL="2057400" indent="-228600" eaLnBrk="0" hangingPunct="0">
              <a:defRPr kumimoji="1">
                <a:solidFill>
                  <a:schemeClr val="tx1"/>
                </a:solidFill>
                <a:latin typeface="Arial" pitchFamily="34"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9pPr>
          </a:lstStyle>
          <a:p>
            <a:pPr eaLnBrk="1" hangingPunct="1">
              <a:defRPr/>
            </a:pPr>
            <a:endParaRPr lang="ja-JP" altLang="en-US" sz="1350"/>
          </a:p>
        </p:txBody>
      </p:sp>
    </p:spTree>
    <p:extLst>
      <p:ext uri="{BB962C8B-B14F-4D97-AF65-F5344CB8AC3E}">
        <p14:creationId xmlns:p14="http://schemas.microsoft.com/office/powerpoint/2010/main" val="15707730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026" name="Rectangle 7"/>
          <p:cNvSpPr>
            <a:spLocks noChangeArrowheads="1"/>
          </p:cNvSpPr>
          <p:nvPr/>
        </p:nvSpPr>
        <p:spPr bwMode="auto">
          <a:xfrm>
            <a:off x="0" y="0"/>
            <a:ext cx="9144000" cy="1143000"/>
          </a:xfrm>
          <a:prstGeom prst="rect">
            <a:avLst/>
          </a:prstGeom>
          <a:solidFill>
            <a:schemeClr val="accent2"/>
          </a:solidFill>
          <a:ln w="9525">
            <a:solidFill>
              <a:schemeClr val="accent2"/>
            </a:solidFill>
            <a:miter lim="800000"/>
            <a:headEnd/>
            <a:tailEnd/>
          </a:ln>
        </p:spPr>
        <p:txBody>
          <a:bodyPr wrap="none" anchor="ctr"/>
          <a:lstStyle>
            <a:lvl1pPr eaLnBrk="0" hangingPunct="0">
              <a:defRPr kumimoji="1">
                <a:solidFill>
                  <a:schemeClr val="tx1"/>
                </a:solidFill>
                <a:latin typeface="Arial" pitchFamily="34" charset="0"/>
                <a:ea typeface="ＭＳ Ｐゴシック" pitchFamily="50" charset="-128"/>
              </a:defRPr>
            </a:lvl1pPr>
            <a:lvl2pPr marL="742950" indent="-285750" eaLnBrk="0" hangingPunct="0">
              <a:defRPr kumimoji="1">
                <a:solidFill>
                  <a:schemeClr val="tx1"/>
                </a:solidFill>
                <a:latin typeface="Arial" pitchFamily="34" charset="0"/>
                <a:ea typeface="ＭＳ Ｐゴシック" pitchFamily="50" charset="-128"/>
              </a:defRPr>
            </a:lvl2pPr>
            <a:lvl3pPr marL="1143000" indent="-228600" eaLnBrk="0" hangingPunct="0">
              <a:defRPr kumimoji="1">
                <a:solidFill>
                  <a:schemeClr val="tx1"/>
                </a:solidFill>
                <a:latin typeface="Arial" pitchFamily="34" charset="0"/>
                <a:ea typeface="ＭＳ Ｐゴシック" pitchFamily="50" charset="-128"/>
              </a:defRPr>
            </a:lvl3pPr>
            <a:lvl4pPr marL="1600200" indent="-228600" eaLnBrk="0" hangingPunct="0">
              <a:defRPr kumimoji="1">
                <a:solidFill>
                  <a:schemeClr val="tx1"/>
                </a:solidFill>
                <a:latin typeface="Arial" pitchFamily="34" charset="0"/>
                <a:ea typeface="ＭＳ Ｐゴシック" pitchFamily="50" charset="-128"/>
              </a:defRPr>
            </a:lvl4pPr>
            <a:lvl5pPr marL="2057400" indent="-228600" eaLnBrk="0" hangingPunct="0">
              <a:defRPr kumimoji="1">
                <a:solidFill>
                  <a:schemeClr val="tx1"/>
                </a:solidFill>
                <a:latin typeface="Arial" pitchFamily="34"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9pPr>
          </a:lstStyle>
          <a:p>
            <a:pPr eaLnBrk="1" hangingPunct="1">
              <a:defRPr/>
            </a:pPr>
            <a:endParaRPr lang="ja-JP" altLang="en-US" sz="1350"/>
          </a:p>
        </p:txBody>
      </p:sp>
      <p:sp>
        <p:nvSpPr>
          <p:cNvPr id="1027" name="Rectangle 2"/>
          <p:cNvSpPr>
            <a:spLocks noGrp="1" noChangeArrowheads="1"/>
          </p:cNvSpPr>
          <p:nvPr>
            <p:ph type="title"/>
          </p:nvPr>
        </p:nvSpPr>
        <p:spPr bwMode="auto">
          <a:xfrm>
            <a:off x="76200" y="0"/>
            <a:ext cx="9067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ja-JP" altLang="en-US" dirty="0"/>
              <a:t>マスタ タイトルの書式設定</a:t>
            </a:r>
          </a:p>
        </p:txBody>
      </p:sp>
      <p:sp>
        <p:nvSpPr>
          <p:cNvPr id="1028" name="Rectangle 3"/>
          <p:cNvSpPr>
            <a:spLocks noGrp="1" noChangeArrowheads="1"/>
          </p:cNvSpPr>
          <p:nvPr>
            <p:ph type="body" idx="1"/>
          </p:nvPr>
        </p:nvSpPr>
        <p:spPr bwMode="auto">
          <a:xfrm>
            <a:off x="228600" y="1371600"/>
            <a:ext cx="86868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ja-JP" altLang="en-US" dirty="0"/>
              <a:t>マスタ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Tree>
    <p:extLst>
      <p:ext uri="{BB962C8B-B14F-4D97-AF65-F5344CB8AC3E}">
        <p14:creationId xmlns:p14="http://schemas.microsoft.com/office/powerpoint/2010/main" val="31443069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6" r:id="rId4"/>
    <p:sldLayoutId id="2147483664" r:id="rId5"/>
    <p:sldLayoutId id="2147483665" r:id="rId6"/>
    <p:sldLayoutId id="2147483667" r:id="rId7"/>
    <p:sldLayoutId id="2147483670" r:id="rId8"/>
    <p:sldLayoutId id="2147483668" r:id="rId9"/>
  </p:sldLayoutIdLst>
  <p:timing>
    <p:tnLst>
      <p:par>
        <p:cTn id="1" dur="indefinite" restart="never" nodeType="tmRoot"/>
      </p:par>
    </p:tnLst>
  </p:timing>
  <p:hf hdr="0" ftr="0" dt="0"/>
  <p:txStyles>
    <p:titleStyle>
      <a:lvl1pPr algn="just" rtl="0" eaLnBrk="1" fontAlgn="base" hangingPunct="1">
        <a:spcBef>
          <a:spcPct val="0"/>
        </a:spcBef>
        <a:spcAft>
          <a:spcPct val="0"/>
        </a:spcAft>
        <a:defRPr kumimoji="1" sz="3300" b="1">
          <a:solidFill>
            <a:schemeClr val="bg1"/>
          </a:solidFill>
          <a:latin typeface="+mj-lt"/>
          <a:ea typeface="+mj-ea"/>
          <a:cs typeface="+mj-cs"/>
        </a:defRPr>
      </a:lvl1pPr>
      <a:lvl2pPr algn="just" rtl="0" eaLnBrk="1" fontAlgn="base" hangingPunct="1">
        <a:spcBef>
          <a:spcPct val="0"/>
        </a:spcBef>
        <a:spcAft>
          <a:spcPct val="0"/>
        </a:spcAft>
        <a:defRPr kumimoji="1" sz="3300" b="1">
          <a:solidFill>
            <a:schemeClr val="bg1"/>
          </a:solidFill>
          <a:latin typeface="Times New Roman" pitchFamily="18" charset="0"/>
          <a:ea typeface="ＭＳ Ｐゴシック" pitchFamily="50" charset="-128"/>
        </a:defRPr>
      </a:lvl2pPr>
      <a:lvl3pPr algn="just" rtl="0" eaLnBrk="1" fontAlgn="base" hangingPunct="1">
        <a:spcBef>
          <a:spcPct val="0"/>
        </a:spcBef>
        <a:spcAft>
          <a:spcPct val="0"/>
        </a:spcAft>
        <a:defRPr kumimoji="1" sz="3300" b="1">
          <a:solidFill>
            <a:schemeClr val="bg1"/>
          </a:solidFill>
          <a:latin typeface="Times New Roman" pitchFamily="18" charset="0"/>
          <a:ea typeface="ＭＳ Ｐゴシック" pitchFamily="50" charset="-128"/>
        </a:defRPr>
      </a:lvl3pPr>
      <a:lvl4pPr algn="just" rtl="0" eaLnBrk="1" fontAlgn="base" hangingPunct="1">
        <a:spcBef>
          <a:spcPct val="0"/>
        </a:spcBef>
        <a:spcAft>
          <a:spcPct val="0"/>
        </a:spcAft>
        <a:defRPr kumimoji="1" sz="3300" b="1">
          <a:solidFill>
            <a:schemeClr val="bg1"/>
          </a:solidFill>
          <a:latin typeface="Times New Roman" pitchFamily="18" charset="0"/>
          <a:ea typeface="ＭＳ Ｐゴシック" pitchFamily="50" charset="-128"/>
        </a:defRPr>
      </a:lvl4pPr>
      <a:lvl5pPr algn="just" rtl="0" eaLnBrk="1" fontAlgn="base" hangingPunct="1">
        <a:spcBef>
          <a:spcPct val="0"/>
        </a:spcBef>
        <a:spcAft>
          <a:spcPct val="0"/>
        </a:spcAft>
        <a:defRPr kumimoji="1" sz="3300" b="1">
          <a:solidFill>
            <a:schemeClr val="bg1"/>
          </a:solidFill>
          <a:latin typeface="Times New Roman" pitchFamily="18" charset="0"/>
          <a:ea typeface="ＭＳ Ｐゴシック" pitchFamily="50" charset="-128"/>
        </a:defRPr>
      </a:lvl5pPr>
      <a:lvl6pPr marL="342900" algn="just" rtl="0" eaLnBrk="1" fontAlgn="base" hangingPunct="1">
        <a:spcBef>
          <a:spcPct val="0"/>
        </a:spcBef>
        <a:spcAft>
          <a:spcPct val="0"/>
        </a:spcAft>
        <a:defRPr kumimoji="1" sz="3300" b="1">
          <a:solidFill>
            <a:schemeClr val="bg1"/>
          </a:solidFill>
          <a:latin typeface="Times New Roman" pitchFamily="18" charset="0"/>
          <a:ea typeface="ＭＳ Ｐゴシック" pitchFamily="50" charset="-128"/>
        </a:defRPr>
      </a:lvl6pPr>
      <a:lvl7pPr marL="685800" algn="just" rtl="0" eaLnBrk="1" fontAlgn="base" hangingPunct="1">
        <a:spcBef>
          <a:spcPct val="0"/>
        </a:spcBef>
        <a:spcAft>
          <a:spcPct val="0"/>
        </a:spcAft>
        <a:defRPr kumimoji="1" sz="3300" b="1">
          <a:solidFill>
            <a:schemeClr val="bg1"/>
          </a:solidFill>
          <a:latin typeface="Times New Roman" pitchFamily="18" charset="0"/>
          <a:ea typeface="ＭＳ Ｐゴシック" pitchFamily="50" charset="-128"/>
        </a:defRPr>
      </a:lvl7pPr>
      <a:lvl8pPr marL="1028700" algn="just" rtl="0" eaLnBrk="1" fontAlgn="base" hangingPunct="1">
        <a:spcBef>
          <a:spcPct val="0"/>
        </a:spcBef>
        <a:spcAft>
          <a:spcPct val="0"/>
        </a:spcAft>
        <a:defRPr kumimoji="1" sz="3300" b="1">
          <a:solidFill>
            <a:schemeClr val="bg1"/>
          </a:solidFill>
          <a:latin typeface="Times New Roman" pitchFamily="18" charset="0"/>
          <a:ea typeface="ＭＳ Ｐゴシック" pitchFamily="50" charset="-128"/>
        </a:defRPr>
      </a:lvl8pPr>
      <a:lvl9pPr marL="1371600" algn="just" rtl="0" eaLnBrk="1" fontAlgn="base" hangingPunct="1">
        <a:spcBef>
          <a:spcPct val="0"/>
        </a:spcBef>
        <a:spcAft>
          <a:spcPct val="0"/>
        </a:spcAft>
        <a:defRPr kumimoji="1" sz="3300" b="1">
          <a:solidFill>
            <a:schemeClr val="bg1"/>
          </a:solidFill>
          <a:latin typeface="Times New Roman" pitchFamily="18" charset="0"/>
          <a:ea typeface="ＭＳ Ｐゴシック" pitchFamily="50" charset="-128"/>
        </a:defRPr>
      </a:lvl9pPr>
    </p:titleStyle>
    <p:bodyStyle>
      <a:lvl1pPr marL="257175" indent="-257175" algn="l" rtl="0" eaLnBrk="1" fontAlgn="base" hangingPunct="1">
        <a:spcBef>
          <a:spcPct val="20000"/>
        </a:spcBef>
        <a:spcAft>
          <a:spcPct val="0"/>
        </a:spcAft>
        <a:buChar char="•"/>
        <a:defRPr kumimoji="1" sz="2400">
          <a:solidFill>
            <a:schemeClr val="tx1"/>
          </a:solidFill>
          <a:latin typeface="+mn-lt"/>
          <a:ea typeface="+mn-ea"/>
          <a:cs typeface="+mn-cs"/>
        </a:defRPr>
      </a:lvl1pPr>
      <a:lvl2pPr marL="557213" indent="-214313" algn="l" rtl="0" eaLnBrk="1" fontAlgn="base" hangingPunct="1">
        <a:spcBef>
          <a:spcPct val="20000"/>
        </a:spcBef>
        <a:spcAft>
          <a:spcPct val="0"/>
        </a:spcAft>
        <a:buChar char="–"/>
        <a:defRPr kumimoji="1" sz="2100">
          <a:solidFill>
            <a:schemeClr val="tx1"/>
          </a:solidFill>
          <a:latin typeface="+mn-lt"/>
          <a:ea typeface="+mn-ea"/>
        </a:defRPr>
      </a:lvl2pPr>
      <a:lvl3pPr marL="857250" indent="-171450" algn="l" rtl="0" eaLnBrk="1" fontAlgn="base" hangingPunct="1">
        <a:spcBef>
          <a:spcPct val="20000"/>
        </a:spcBef>
        <a:spcAft>
          <a:spcPct val="0"/>
        </a:spcAft>
        <a:buChar char="•"/>
        <a:defRPr kumimoji="1" sz="1800">
          <a:solidFill>
            <a:schemeClr val="tx1"/>
          </a:solidFill>
          <a:latin typeface="+mn-lt"/>
          <a:ea typeface="+mn-ea"/>
        </a:defRPr>
      </a:lvl3pPr>
      <a:lvl4pPr marL="1200150" indent="-171450" algn="l" rtl="0" eaLnBrk="1" fontAlgn="base" hangingPunct="1">
        <a:spcBef>
          <a:spcPct val="20000"/>
        </a:spcBef>
        <a:spcAft>
          <a:spcPct val="0"/>
        </a:spcAft>
        <a:buChar char="–"/>
        <a:defRPr kumimoji="1" sz="1500">
          <a:solidFill>
            <a:schemeClr val="tx1"/>
          </a:solidFill>
          <a:latin typeface="+mn-lt"/>
          <a:ea typeface="+mn-ea"/>
        </a:defRPr>
      </a:lvl4pPr>
      <a:lvl5pPr marL="1543050" indent="-171450" algn="l" rtl="0" eaLnBrk="1" fontAlgn="base" hangingPunct="1">
        <a:spcBef>
          <a:spcPct val="20000"/>
        </a:spcBef>
        <a:spcAft>
          <a:spcPct val="0"/>
        </a:spcAft>
        <a:buChar char="»"/>
        <a:defRPr kumimoji="1" sz="1500">
          <a:solidFill>
            <a:schemeClr val="tx1"/>
          </a:solidFill>
          <a:latin typeface="+mn-lt"/>
          <a:ea typeface="+mn-ea"/>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p:bodyStyle>
    <p:otherStyle>
      <a:defPPr>
        <a:defRPr lang="ja-JP"/>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kumimoji="1" lang="ja-JP" altLang="en-US" dirty="0"/>
          </a:p>
        </p:txBody>
      </p:sp>
      <p:sp>
        <p:nvSpPr>
          <p:cNvPr id="3" name="コンテンツ プレースホルダー 2"/>
          <p:cNvSpPr>
            <a:spLocks noGrp="1"/>
          </p:cNvSpPr>
          <p:nvPr>
            <p:ph idx="1"/>
          </p:nvPr>
        </p:nvSpPr>
        <p:spPr/>
        <p:txBody>
          <a:bodyPr/>
          <a:lstStyle/>
          <a:p>
            <a:r>
              <a:rPr kumimoji="1" lang="en-US" altLang="ja-JP" dirty="0" smtClean="0"/>
              <a:t>Fuzzy rule classifiers for multi-label classification</a:t>
            </a:r>
            <a:endParaRPr kumimoji="1" lang="ja-JP" altLang="en-US" dirty="0"/>
          </a:p>
        </p:txBody>
      </p:sp>
      <p:sp>
        <p:nvSpPr>
          <p:cNvPr id="4" name="コンテンツ プレースホルダー 3"/>
          <p:cNvSpPr>
            <a:spLocks noGrp="1"/>
          </p:cNvSpPr>
          <p:nvPr>
            <p:ph idx="10"/>
          </p:nvPr>
        </p:nvSpPr>
        <p:spPr/>
        <p:txBody>
          <a:bodyPr/>
          <a:lstStyle/>
          <a:p>
            <a:r>
              <a:rPr kumimoji="1" lang="en-US" altLang="ja-JP" dirty="0" smtClean="0"/>
              <a:t>Ronaldo C. </a:t>
            </a:r>
            <a:r>
              <a:rPr kumimoji="1" lang="en-US" altLang="ja-JP" dirty="0" err="1" smtClean="0"/>
              <a:t>Prati</a:t>
            </a:r>
            <a:endParaRPr kumimoji="1" lang="en-US" altLang="ja-JP" dirty="0" smtClean="0"/>
          </a:p>
          <a:p>
            <a:endParaRPr kumimoji="1" lang="en-US" altLang="ja-JP" sz="1600" dirty="0" smtClean="0"/>
          </a:p>
          <a:p>
            <a:r>
              <a:rPr lang="en-US" altLang="ja-JP" sz="2000" dirty="0" err="1" smtClean="0"/>
              <a:t>Universidade</a:t>
            </a:r>
            <a:r>
              <a:rPr lang="en-US" altLang="ja-JP" sz="2000" dirty="0" smtClean="0"/>
              <a:t> Federal do ABC (UFABC)</a:t>
            </a:r>
            <a:endParaRPr kumimoji="1" lang="ja-JP" altLang="en-US" sz="2000" dirty="0"/>
          </a:p>
        </p:txBody>
      </p:sp>
      <p:sp>
        <p:nvSpPr>
          <p:cNvPr id="5" name="コンテンツ プレースホルダー 4"/>
          <p:cNvSpPr>
            <a:spLocks noGrp="1"/>
          </p:cNvSpPr>
          <p:nvPr>
            <p:ph idx="11"/>
          </p:nvPr>
        </p:nvSpPr>
        <p:spPr/>
        <p:txBody>
          <a:bodyPr/>
          <a:lstStyle/>
          <a:p>
            <a:r>
              <a:rPr kumimoji="1" lang="en-US" altLang="ja-JP" i="1" dirty="0" smtClean="0"/>
              <a:t>Proc. </a:t>
            </a:r>
            <a:r>
              <a:rPr lang="en-US" altLang="ja-JP" i="1" dirty="0"/>
              <a:t>o</a:t>
            </a:r>
            <a:r>
              <a:rPr kumimoji="1" lang="en-US" altLang="ja-JP" i="1" dirty="0" smtClean="0"/>
              <a:t>f the IEEE International Conference on Fuzzy Systems (FUZZ-IEEE)</a:t>
            </a:r>
            <a:r>
              <a:rPr kumimoji="1" lang="en-US" altLang="ja-JP" dirty="0" smtClean="0"/>
              <a:t>, pp. 1-8, 2015.</a:t>
            </a:r>
            <a:endParaRPr kumimoji="1" lang="ja-JP" altLang="en-US" dirty="0"/>
          </a:p>
        </p:txBody>
      </p:sp>
    </p:spTree>
    <p:extLst>
      <p:ext uri="{BB962C8B-B14F-4D97-AF65-F5344CB8AC3E}">
        <p14:creationId xmlns:p14="http://schemas.microsoft.com/office/powerpoint/2010/main" val="402116417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Introduction</a:t>
            </a:r>
            <a:endParaRPr kumimoji="1" lang="ja-JP" altLang="en-US" dirty="0"/>
          </a:p>
        </p:txBody>
      </p:sp>
      <p:sp>
        <p:nvSpPr>
          <p:cNvPr id="3" name="コンテンツ プレースホルダー 2"/>
          <p:cNvSpPr>
            <a:spLocks noGrp="1"/>
          </p:cNvSpPr>
          <p:nvPr>
            <p:ph idx="1"/>
          </p:nvPr>
        </p:nvSpPr>
        <p:spPr/>
        <p:txBody>
          <a:bodyPr/>
          <a:lstStyle/>
          <a:p>
            <a:endParaRPr kumimoji="1" lang="en-US" altLang="ja-JP" sz="2400" dirty="0" smtClean="0"/>
          </a:p>
          <a:p>
            <a:r>
              <a:rPr kumimoji="1" lang="en-US" altLang="ja-JP" sz="2400" dirty="0" smtClean="0"/>
              <a:t>1</a:t>
            </a:r>
            <a:r>
              <a:rPr kumimoji="1" lang="ja-JP" altLang="en-US" sz="2400" dirty="0" err="1" smtClean="0"/>
              <a:t>つの</a:t>
            </a:r>
            <a:r>
              <a:rPr kumimoji="1" lang="ja-JP" altLang="en-US" sz="2400" dirty="0" smtClean="0"/>
              <a:t>パターンに対して，同時に</a:t>
            </a:r>
            <a:r>
              <a:rPr kumimoji="1" lang="en-US" altLang="ja-JP" sz="2400" dirty="0" smtClean="0"/>
              <a:t>1</a:t>
            </a:r>
            <a:r>
              <a:rPr kumimoji="1" lang="ja-JP" altLang="en-US" sz="2400" dirty="0" smtClean="0"/>
              <a:t>つ以上のラベル</a:t>
            </a:r>
            <a:r>
              <a:rPr lang="ja-JP" altLang="en-US" sz="2400" dirty="0" smtClean="0"/>
              <a:t>が割当てられている識別問題．</a:t>
            </a:r>
            <a:endParaRPr lang="en-US" altLang="ja-JP" sz="2400" dirty="0" smtClean="0"/>
          </a:p>
          <a:p>
            <a:r>
              <a:rPr kumimoji="1" lang="ja-JP" altLang="en-US" sz="2400" dirty="0" smtClean="0"/>
              <a:t>テキスト，楽曲カテゴリ分類，画像意味</a:t>
            </a:r>
            <a:r>
              <a:rPr lang="ja-JP" altLang="en-US" sz="2400" dirty="0" smtClean="0"/>
              <a:t>注釈，生体情報分析などの</a:t>
            </a:r>
            <a:r>
              <a:rPr lang="ja-JP" altLang="en-US" sz="2400" dirty="0"/>
              <a:t>多</a:t>
            </a:r>
            <a:r>
              <a:rPr lang="ja-JP" altLang="en-US" sz="2400" dirty="0" smtClean="0"/>
              <a:t>くの分野で研究が行われている．</a:t>
            </a:r>
            <a:endParaRPr lang="en-US" altLang="ja-JP" sz="2400" dirty="0" smtClean="0"/>
          </a:p>
          <a:p>
            <a:endParaRPr lang="en-US" altLang="ja-JP" sz="2400" dirty="0"/>
          </a:p>
          <a:p>
            <a:endParaRPr kumimoji="1" lang="en-US" altLang="ja-JP" sz="2400" dirty="0" smtClean="0"/>
          </a:p>
          <a:p>
            <a:r>
              <a:rPr kumimoji="1" lang="ja-JP" altLang="en-US" sz="2400" dirty="0" smtClean="0"/>
              <a:t>マルチラベル識別問題に対して，</a:t>
            </a:r>
            <a:r>
              <a:rPr kumimoji="1" lang="en-US" altLang="ja-JP" sz="2400" dirty="0" smtClean="0"/>
              <a:t>2</a:t>
            </a:r>
            <a:r>
              <a:rPr kumimoji="1" lang="ja-JP" altLang="en-US" sz="2400" dirty="0" err="1" smtClean="0"/>
              <a:t>つの</a:t>
            </a:r>
            <a:r>
              <a:rPr kumimoji="1" lang="ja-JP" altLang="en-US" sz="2400" dirty="0" smtClean="0"/>
              <a:t>アプローチが存在する．</a:t>
            </a:r>
            <a:endParaRPr kumimoji="1" lang="en-US" altLang="ja-JP" sz="2400" dirty="0" smtClean="0"/>
          </a:p>
          <a:p>
            <a:pPr marL="457200" indent="-457200">
              <a:buFont typeface="+mj-lt"/>
              <a:buAutoNum type="arabicPeriod"/>
            </a:pPr>
            <a:r>
              <a:rPr kumimoji="1" lang="ja-JP" altLang="en-US" sz="2400" dirty="0" smtClean="0"/>
              <a:t>問題変換法</a:t>
            </a:r>
            <a:endParaRPr kumimoji="1" lang="en-US" altLang="ja-JP" sz="2400" dirty="0" smtClean="0"/>
          </a:p>
          <a:p>
            <a:pPr lvl="1"/>
            <a:r>
              <a:rPr lang="en-US" altLang="ja-JP" sz="2000" dirty="0" smtClean="0"/>
              <a:t>	</a:t>
            </a:r>
            <a:r>
              <a:rPr lang="ja-JP" altLang="en-US" sz="2000" dirty="0" smtClean="0"/>
              <a:t>複数のシングルラベル識別問題に変換するアプローチ</a:t>
            </a:r>
            <a:endParaRPr kumimoji="1" lang="en-US" altLang="ja-JP" sz="2000" dirty="0" smtClean="0"/>
          </a:p>
          <a:p>
            <a:pPr marL="457200" indent="-457200">
              <a:buFont typeface="+mj-lt"/>
              <a:buAutoNum type="arabicPeriod"/>
            </a:pPr>
            <a:r>
              <a:rPr kumimoji="1" lang="ja-JP" altLang="en-US" sz="2400" dirty="0" smtClean="0"/>
              <a:t>アルゴリズム適応法</a:t>
            </a:r>
            <a:endParaRPr kumimoji="1" lang="en-US" altLang="ja-JP" sz="2400" dirty="0" smtClean="0"/>
          </a:p>
          <a:p>
            <a:pPr lvl="1"/>
            <a:r>
              <a:rPr lang="en-US" altLang="ja-JP" sz="2000" dirty="0"/>
              <a:t>	</a:t>
            </a:r>
            <a:r>
              <a:rPr lang="ja-JP" altLang="en-US" sz="2000" dirty="0" smtClean="0"/>
              <a:t>マルチラベル識別問題に対応するアルゴリズム拡張を行うアプローチ</a:t>
            </a:r>
            <a:endParaRPr kumimoji="1" lang="en-US" altLang="ja-JP" sz="2000" dirty="0" smtClean="0"/>
          </a:p>
        </p:txBody>
      </p:sp>
      <p:sp>
        <p:nvSpPr>
          <p:cNvPr id="4" name="スライド番号プレースホルダー 3"/>
          <p:cNvSpPr>
            <a:spLocks noGrp="1"/>
          </p:cNvSpPr>
          <p:nvPr>
            <p:ph type="sldNum" sz="quarter" idx="12"/>
          </p:nvPr>
        </p:nvSpPr>
        <p:spPr/>
        <p:txBody>
          <a:bodyPr/>
          <a:lstStyle/>
          <a:p>
            <a:r>
              <a:rPr kumimoji="1" lang="en-US" altLang="ja-JP" smtClean="0"/>
              <a:t>1/21</a:t>
            </a:r>
            <a:endParaRPr kumimoji="1" lang="ja-JP" altLang="en-US"/>
          </a:p>
        </p:txBody>
      </p:sp>
      <p:sp>
        <p:nvSpPr>
          <p:cNvPr id="5" name="テキスト ボックス 4"/>
          <p:cNvSpPr txBox="1"/>
          <p:nvPr/>
        </p:nvSpPr>
        <p:spPr>
          <a:xfrm>
            <a:off x="228600" y="1371600"/>
            <a:ext cx="3129383" cy="461665"/>
          </a:xfrm>
          <a:prstGeom prst="rect">
            <a:avLst/>
          </a:prstGeom>
          <a:noFill/>
          <a:ln w="19050">
            <a:solidFill>
              <a:schemeClr val="tx1"/>
            </a:solidFill>
          </a:ln>
        </p:spPr>
        <p:txBody>
          <a:bodyPr wrap="none" rtlCol="0">
            <a:spAutoFit/>
          </a:bodyPr>
          <a:lstStyle/>
          <a:p>
            <a:pPr algn="ctr"/>
            <a:r>
              <a:rPr kumimoji="1" lang="ja-JP" altLang="en-US" sz="2400" dirty="0" smtClean="0"/>
              <a:t>マルチラベル識別問題</a:t>
            </a:r>
          </a:p>
        </p:txBody>
      </p:sp>
      <p:sp>
        <p:nvSpPr>
          <p:cNvPr id="6" name="テキスト ボックス 5"/>
          <p:cNvSpPr txBox="1"/>
          <p:nvPr/>
        </p:nvSpPr>
        <p:spPr>
          <a:xfrm>
            <a:off x="228600" y="3869977"/>
            <a:ext cx="4533612" cy="461665"/>
          </a:xfrm>
          <a:prstGeom prst="rect">
            <a:avLst/>
          </a:prstGeom>
          <a:noFill/>
          <a:ln w="19050">
            <a:solidFill>
              <a:schemeClr val="tx1"/>
            </a:solidFill>
          </a:ln>
        </p:spPr>
        <p:txBody>
          <a:bodyPr wrap="none" rtlCol="0">
            <a:spAutoFit/>
          </a:bodyPr>
          <a:lstStyle/>
          <a:p>
            <a:pPr algn="ctr"/>
            <a:r>
              <a:rPr kumimoji="1" lang="ja-JP" altLang="en-US" sz="2400" dirty="0" smtClean="0"/>
              <a:t>マルチラベル識別問題を扱う手法</a:t>
            </a:r>
          </a:p>
        </p:txBody>
      </p:sp>
    </p:spTree>
    <p:extLst>
      <p:ext uri="{BB962C8B-B14F-4D97-AF65-F5344CB8AC3E}">
        <p14:creationId xmlns:p14="http://schemas.microsoft.com/office/powerpoint/2010/main" val="69021122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Introduction</a:t>
            </a:r>
            <a:endParaRPr kumimoji="1" lang="ja-JP" altLang="en-US" dirty="0"/>
          </a:p>
        </p:txBody>
      </p:sp>
      <p:sp>
        <p:nvSpPr>
          <p:cNvPr id="3" name="コンテンツ プレースホルダー 2"/>
          <p:cNvSpPr>
            <a:spLocks noGrp="1"/>
          </p:cNvSpPr>
          <p:nvPr>
            <p:ph idx="1"/>
          </p:nvPr>
        </p:nvSpPr>
        <p:spPr/>
        <p:txBody>
          <a:bodyPr/>
          <a:lstStyle/>
          <a:p>
            <a:endParaRPr kumimoji="1" lang="en-US" altLang="ja-JP" sz="2400" dirty="0" smtClean="0"/>
          </a:p>
          <a:p>
            <a:r>
              <a:rPr kumimoji="1" lang="en-US" altLang="ja-JP" sz="2400" dirty="0" smtClean="0"/>
              <a:t>1</a:t>
            </a:r>
            <a:r>
              <a:rPr kumimoji="1" lang="ja-JP" altLang="en-US" sz="2400" dirty="0" err="1" smtClean="0"/>
              <a:t>つの</a:t>
            </a:r>
            <a:r>
              <a:rPr kumimoji="1" lang="ja-JP" altLang="en-US" sz="2400" dirty="0" smtClean="0"/>
              <a:t>パターンに対して，同時に</a:t>
            </a:r>
            <a:r>
              <a:rPr kumimoji="1" lang="en-US" altLang="ja-JP" sz="2400" dirty="0" smtClean="0"/>
              <a:t>1</a:t>
            </a:r>
            <a:r>
              <a:rPr kumimoji="1" lang="ja-JP" altLang="en-US" sz="2400" dirty="0" smtClean="0"/>
              <a:t>つ以上のラベル</a:t>
            </a:r>
            <a:r>
              <a:rPr lang="ja-JP" altLang="en-US" sz="2400" dirty="0" smtClean="0"/>
              <a:t>が割当てられている識別問題．</a:t>
            </a:r>
            <a:endParaRPr lang="en-US" altLang="ja-JP" sz="2400" dirty="0" smtClean="0"/>
          </a:p>
          <a:p>
            <a:r>
              <a:rPr kumimoji="1" lang="ja-JP" altLang="en-US" sz="2400" dirty="0" smtClean="0"/>
              <a:t>テキスト，楽曲カテゴリ分類，画像意味</a:t>
            </a:r>
            <a:r>
              <a:rPr lang="ja-JP" altLang="en-US" sz="2400" dirty="0" smtClean="0"/>
              <a:t>注釈，生体情報分析などの</a:t>
            </a:r>
            <a:r>
              <a:rPr lang="ja-JP" altLang="en-US" sz="2400" dirty="0"/>
              <a:t>多</a:t>
            </a:r>
            <a:r>
              <a:rPr lang="ja-JP" altLang="en-US" sz="2400" dirty="0" smtClean="0"/>
              <a:t>くの分野で研究が行われている．</a:t>
            </a:r>
            <a:endParaRPr lang="en-US" altLang="ja-JP" sz="2400" dirty="0" smtClean="0"/>
          </a:p>
          <a:p>
            <a:endParaRPr lang="en-US" altLang="ja-JP" sz="2400" dirty="0"/>
          </a:p>
          <a:p>
            <a:endParaRPr kumimoji="1" lang="en-US" altLang="ja-JP" sz="2400" dirty="0" smtClean="0"/>
          </a:p>
          <a:p>
            <a:r>
              <a:rPr kumimoji="1" lang="ja-JP" altLang="en-US" sz="2400" dirty="0" smtClean="0"/>
              <a:t>マルチラベル識別問題に対して，</a:t>
            </a:r>
            <a:r>
              <a:rPr kumimoji="1" lang="en-US" altLang="ja-JP" sz="2400" dirty="0" smtClean="0"/>
              <a:t>2</a:t>
            </a:r>
            <a:r>
              <a:rPr kumimoji="1" lang="ja-JP" altLang="en-US" sz="2400" dirty="0" err="1" smtClean="0"/>
              <a:t>つの</a:t>
            </a:r>
            <a:r>
              <a:rPr kumimoji="1" lang="ja-JP" altLang="en-US" sz="2400" dirty="0" smtClean="0"/>
              <a:t>アプローチが存在する．</a:t>
            </a:r>
            <a:endParaRPr kumimoji="1" lang="en-US" altLang="ja-JP" sz="2400" dirty="0" smtClean="0"/>
          </a:p>
          <a:p>
            <a:pPr marL="457200" indent="-457200">
              <a:buFont typeface="+mj-lt"/>
              <a:buAutoNum type="arabicPeriod"/>
            </a:pPr>
            <a:r>
              <a:rPr kumimoji="1" lang="ja-JP" altLang="en-US" sz="2400" dirty="0" smtClean="0">
                <a:solidFill>
                  <a:srgbClr val="FF0000"/>
                </a:solidFill>
              </a:rPr>
              <a:t>問題変換法</a:t>
            </a:r>
            <a:endParaRPr kumimoji="1" lang="en-US" altLang="ja-JP" sz="2400" dirty="0" smtClean="0">
              <a:solidFill>
                <a:srgbClr val="FF0000"/>
              </a:solidFill>
            </a:endParaRPr>
          </a:p>
          <a:p>
            <a:pPr lvl="1"/>
            <a:r>
              <a:rPr lang="en-US" altLang="ja-JP" sz="2000" dirty="0" smtClean="0">
                <a:solidFill>
                  <a:srgbClr val="FF0000"/>
                </a:solidFill>
              </a:rPr>
              <a:t>	</a:t>
            </a:r>
            <a:r>
              <a:rPr lang="ja-JP" altLang="en-US" sz="2000" dirty="0" smtClean="0">
                <a:solidFill>
                  <a:srgbClr val="FF0000"/>
                </a:solidFill>
              </a:rPr>
              <a:t>複数のシングルラベル識別問題に変換するアプローチ</a:t>
            </a:r>
            <a:endParaRPr kumimoji="1" lang="en-US" altLang="ja-JP" sz="2000" dirty="0" smtClean="0">
              <a:solidFill>
                <a:srgbClr val="FF0000"/>
              </a:solidFill>
            </a:endParaRPr>
          </a:p>
        </p:txBody>
      </p:sp>
      <p:sp>
        <p:nvSpPr>
          <p:cNvPr id="4" name="スライド番号プレースホルダー 3"/>
          <p:cNvSpPr>
            <a:spLocks noGrp="1"/>
          </p:cNvSpPr>
          <p:nvPr>
            <p:ph type="sldNum" sz="quarter" idx="12"/>
          </p:nvPr>
        </p:nvSpPr>
        <p:spPr/>
        <p:txBody>
          <a:bodyPr/>
          <a:lstStyle/>
          <a:p>
            <a:r>
              <a:rPr kumimoji="1" lang="en-US" altLang="ja-JP" smtClean="0"/>
              <a:t>2/21</a:t>
            </a:r>
            <a:endParaRPr kumimoji="1" lang="ja-JP" altLang="en-US"/>
          </a:p>
        </p:txBody>
      </p:sp>
      <p:sp>
        <p:nvSpPr>
          <p:cNvPr id="5" name="テキスト ボックス 4"/>
          <p:cNvSpPr txBox="1"/>
          <p:nvPr/>
        </p:nvSpPr>
        <p:spPr>
          <a:xfrm>
            <a:off x="228600" y="1371600"/>
            <a:ext cx="3129383" cy="461665"/>
          </a:xfrm>
          <a:prstGeom prst="rect">
            <a:avLst/>
          </a:prstGeom>
          <a:noFill/>
          <a:ln w="19050">
            <a:solidFill>
              <a:schemeClr val="tx1"/>
            </a:solidFill>
          </a:ln>
        </p:spPr>
        <p:txBody>
          <a:bodyPr wrap="none" rtlCol="0">
            <a:spAutoFit/>
          </a:bodyPr>
          <a:lstStyle/>
          <a:p>
            <a:pPr algn="ctr"/>
            <a:r>
              <a:rPr kumimoji="1" lang="ja-JP" altLang="en-US" sz="2400" dirty="0" smtClean="0"/>
              <a:t>マルチラベル識別問題</a:t>
            </a:r>
          </a:p>
        </p:txBody>
      </p:sp>
      <p:sp>
        <p:nvSpPr>
          <p:cNvPr id="6" name="テキスト ボックス 5"/>
          <p:cNvSpPr txBox="1"/>
          <p:nvPr/>
        </p:nvSpPr>
        <p:spPr>
          <a:xfrm>
            <a:off x="228600" y="3869977"/>
            <a:ext cx="4533612" cy="461665"/>
          </a:xfrm>
          <a:prstGeom prst="rect">
            <a:avLst/>
          </a:prstGeom>
          <a:noFill/>
          <a:ln w="19050">
            <a:solidFill>
              <a:schemeClr val="tx1"/>
            </a:solidFill>
          </a:ln>
        </p:spPr>
        <p:txBody>
          <a:bodyPr wrap="none" rtlCol="0">
            <a:spAutoFit/>
          </a:bodyPr>
          <a:lstStyle/>
          <a:p>
            <a:pPr algn="ctr"/>
            <a:r>
              <a:rPr kumimoji="1" lang="ja-JP" altLang="en-US" sz="2400" dirty="0" smtClean="0"/>
              <a:t>マルチラベル識別問題を扱う手法</a:t>
            </a:r>
          </a:p>
        </p:txBody>
      </p:sp>
      <p:sp>
        <p:nvSpPr>
          <p:cNvPr id="7" name="角丸四角形 6"/>
          <p:cNvSpPr/>
          <p:nvPr/>
        </p:nvSpPr>
        <p:spPr>
          <a:xfrm>
            <a:off x="228600" y="4743450"/>
            <a:ext cx="6924675" cy="828675"/>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p:cNvSpPr txBox="1"/>
          <p:nvPr/>
        </p:nvSpPr>
        <p:spPr>
          <a:xfrm>
            <a:off x="228600" y="5722323"/>
            <a:ext cx="8686800" cy="523220"/>
          </a:xfrm>
          <a:prstGeom prst="rect">
            <a:avLst/>
          </a:prstGeom>
          <a:solidFill>
            <a:schemeClr val="bg1"/>
          </a:solidFill>
          <a:ln w="28575">
            <a:solidFill>
              <a:schemeClr val="tx1"/>
            </a:solidFill>
          </a:ln>
        </p:spPr>
        <p:txBody>
          <a:bodyPr wrap="square" rtlCol="0">
            <a:spAutoFit/>
          </a:bodyPr>
          <a:lstStyle/>
          <a:p>
            <a:pPr algn="ctr"/>
            <a:r>
              <a:rPr kumimoji="1" lang="ja-JP" altLang="en-US" sz="2800" dirty="0" smtClean="0"/>
              <a:t>ほぼすべての</a:t>
            </a:r>
            <a:r>
              <a:rPr kumimoji="1" lang="ja-JP" altLang="en-US" sz="2800" dirty="0" smtClean="0">
                <a:solidFill>
                  <a:schemeClr val="accent1"/>
                </a:solidFill>
              </a:rPr>
              <a:t>単一ラベル識別器を適用</a:t>
            </a:r>
            <a:r>
              <a:rPr kumimoji="1" lang="ja-JP" altLang="en-US" sz="2800" dirty="0" smtClean="0"/>
              <a:t>することが可能．</a:t>
            </a:r>
          </a:p>
        </p:txBody>
      </p:sp>
    </p:spTree>
    <p:extLst>
      <p:ext uri="{BB962C8B-B14F-4D97-AF65-F5344CB8AC3E}">
        <p14:creationId xmlns:p14="http://schemas.microsoft.com/office/powerpoint/2010/main" val="405780780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Introduction</a:t>
            </a:r>
            <a:endParaRPr kumimoji="1" lang="ja-JP" altLang="en-US" dirty="0"/>
          </a:p>
        </p:txBody>
      </p:sp>
      <p:sp>
        <p:nvSpPr>
          <p:cNvPr id="3" name="コンテンツ プレースホルダー 2"/>
          <p:cNvSpPr>
            <a:spLocks noGrp="1"/>
          </p:cNvSpPr>
          <p:nvPr>
            <p:ph idx="1"/>
          </p:nvPr>
        </p:nvSpPr>
        <p:spPr/>
        <p:txBody>
          <a:bodyPr/>
          <a:lstStyle/>
          <a:p>
            <a:endParaRPr kumimoji="1" lang="en-US" altLang="ja-JP" sz="2400" dirty="0" smtClean="0"/>
          </a:p>
          <a:p>
            <a:r>
              <a:rPr lang="ja-JP" altLang="en-US" sz="2400" dirty="0" smtClean="0"/>
              <a:t>ルールベースの識別器は，</a:t>
            </a:r>
            <a:r>
              <a:rPr lang="ja-JP" altLang="en-US" sz="2400" dirty="0" smtClean="0">
                <a:solidFill>
                  <a:srgbClr val="FF0000"/>
                </a:solidFill>
              </a:rPr>
              <a:t>分かりやすさ</a:t>
            </a:r>
            <a:r>
              <a:rPr lang="ja-JP" altLang="en-US" sz="2400" dirty="0" smtClean="0"/>
              <a:t>と</a:t>
            </a:r>
            <a:r>
              <a:rPr lang="ja-JP" altLang="en-US" sz="2400" dirty="0" smtClean="0">
                <a:solidFill>
                  <a:srgbClr val="FF0000"/>
                </a:solidFill>
              </a:rPr>
              <a:t>説明可能性</a:t>
            </a:r>
            <a:r>
              <a:rPr lang="ja-JP" altLang="en-US" sz="2400" dirty="0" smtClean="0"/>
              <a:t>の点で注目され，よく研究されている．</a:t>
            </a:r>
            <a:endParaRPr lang="en-US" altLang="ja-JP" sz="2400" dirty="0" smtClean="0"/>
          </a:p>
          <a:p>
            <a:endParaRPr kumimoji="1" lang="en-US" altLang="ja-JP" sz="2400" dirty="0"/>
          </a:p>
          <a:p>
            <a:endParaRPr lang="en-US" altLang="ja-JP" sz="1400" dirty="0" smtClean="0"/>
          </a:p>
          <a:p>
            <a:r>
              <a:rPr kumimoji="1" lang="ja-JP" altLang="en-US" sz="2400" dirty="0" smtClean="0"/>
              <a:t>ルールベース識別器には学習方法の点で，</a:t>
            </a:r>
            <a:r>
              <a:rPr kumimoji="1" lang="en-US" altLang="ja-JP" sz="2400" dirty="0" smtClean="0"/>
              <a:t>2</a:t>
            </a:r>
            <a:r>
              <a:rPr kumimoji="1" lang="ja-JP" altLang="en-US" sz="2400" dirty="0" err="1" smtClean="0"/>
              <a:t>つに</a:t>
            </a:r>
            <a:r>
              <a:rPr kumimoji="1" lang="ja-JP" altLang="en-US" sz="2400" dirty="0" smtClean="0"/>
              <a:t>分類できる．</a:t>
            </a:r>
            <a:endParaRPr kumimoji="1" lang="en-US" altLang="ja-JP" sz="2400" dirty="0" smtClean="0"/>
          </a:p>
          <a:p>
            <a:pPr marL="457200" indent="-457200">
              <a:buClr>
                <a:schemeClr val="tx1"/>
              </a:buClr>
              <a:buFont typeface="+mj-lt"/>
              <a:buAutoNum type="arabicPeriod"/>
            </a:pPr>
            <a:r>
              <a:rPr lang="en-US" altLang="ja-JP" sz="2400" u="sng" dirty="0" smtClean="0">
                <a:solidFill>
                  <a:srgbClr val="FF0000"/>
                </a:solidFill>
              </a:rPr>
              <a:t>Separate-and-Conquer</a:t>
            </a:r>
          </a:p>
          <a:p>
            <a:pPr lvl="1"/>
            <a:r>
              <a:rPr lang="ja-JP" altLang="en-US" sz="2000" dirty="0" smtClean="0"/>
              <a:t>与えられたデータセットをカバーするルールを獲得する．</a:t>
            </a:r>
            <a:endParaRPr lang="en-US" altLang="ja-JP" sz="2000" dirty="0" smtClean="0"/>
          </a:p>
          <a:p>
            <a:pPr marL="457200" indent="-457200">
              <a:buFont typeface="+mj-lt"/>
              <a:buAutoNum type="arabicPeriod"/>
            </a:pPr>
            <a:endParaRPr lang="en-US" altLang="ja-JP" sz="2400" dirty="0" smtClean="0"/>
          </a:p>
          <a:p>
            <a:pPr marL="457200" indent="-457200">
              <a:buFont typeface="+mj-lt"/>
              <a:buAutoNum type="arabicPeriod"/>
            </a:pPr>
            <a:endParaRPr lang="en-US" altLang="ja-JP" sz="2400" dirty="0" smtClean="0"/>
          </a:p>
          <a:p>
            <a:pPr marL="457200" indent="-457200">
              <a:buFont typeface="+mj-lt"/>
              <a:buAutoNum type="arabicPeriod"/>
            </a:pPr>
            <a:endParaRPr lang="en-US" altLang="ja-JP" sz="1800" dirty="0" smtClean="0"/>
          </a:p>
          <a:p>
            <a:pPr marL="457200" indent="-457200">
              <a:buClr>
                <a:schemeClr val="tx1"/>
              </a:buClr>
              <a:buFont typeface="+mj-lt"/>
              <a:buAutoNum type="arabicPeriod"/>
            </a:pPr>
            <a:r>
              <a:rPr lang="en-US" altLang="ja-JP" sz="2400" u="sng" dirty="0" smtClean="0">
                <a:solidFill>
                  <a:srgbClr val="FF0000"/>
                </a:solidFill>
              </a:rPr>
              <a:t>Divide-and-Conquer</a:t>
            </a:r>
          </a:p>
          <a:p>
            <a:pPr lvl="1"/>
            <a:r>
              <a:rPr kumimoji="1" lang="ja-JP" altLang="en-US" sz="2000" dirty="0" smtClean="0"/>
              <a:t>決定木はこちらに分類される．</a:t>
            </a:r>
            <a:r>
              <a:rPr lang="ja-JP" altLang="en-US" sz="2000" dirty="0" smtClean="0"/>
              <a:t>決定変数空間を分割するルールを獲得する．</a:t>
            </a:r>
            <a:endParaRPr kumimoji="1" lang="ja-JP" altLang="en-US" sz="2000" dirty="0"/>
          </a:p>
        </p:txBody>
      </p:sp>
      <p:sp>
        <p:nvSpPr>
          <p:cNvPr id="4" name="スライド番号プレースホルダー 3"/>
          <p:cNvSpPr>
            <a:spLocks noGrp="1"/>
          </p:cNvSpPr>
          <p:nvPr>
            <p:ph type="sldNum" sz="quarter" idx="12"/>
          </p:nvPr>
        </p:nvSpPr>
        <p:spPr/>
        <p:txBody>
          <a:bodyPr/>
          <a:lstStyle/>
          <a:p>
            <a:r>
              <a:rPr kumimoji="1" lang="en-US" altLang="ja-JP" smtClean="0"/>
              <a:t>3/21</a:t>
            </a:r>
            <a:endParaRPr kumimoji="1" lang="ja-JP" altLang="en-US"/>
          </a:p>
        </p:txBody>
      </p:sp>
      <p:sp>
        <p:nvSpPr>
          <p:cNvPr id="5" name="テキスト プレースホルダー 4"/>
          <p:cNvSpPr>
            <a:spLocks noGrp="1"/>
          </p:cNvSpPr>
          <p:nvPr>
            <p:ph type="body" sz="quarter" idx="13"/>
          </p:nvPr>
        </p:nvSpPr>
        <p:spPr/>
        <p:txBody>
          <a:bodyPr/>
          <a:lstStyle/>
          <a:p>
            <a:r>
              <a:rPr kumimoji="1" lang="en-US" altLang="ja-JP" dirty="0" smtClean="0"/>
              <a:t>Rule-based Classifiers</a:t>
            </a:r>
            <a:endParaRPr kumimoji="1" lang="ja-JP" altLang="en-US" dirty="0"/>
          </a:p>
        </p:txBody>
      </p:sp>
      <p:sp>
        <p:nvSpPr>
          <p:cNvPr id="6" name="テキスト ボックス 5"/>
          <p:cNvSpPr txBox="1"/>
          <p:nvPr/>
        </p:nvSpPr>
        <p:spPr>
          <a:xfrm>
            <a:off x="228600" y="1371600"/>
            <a:ext cx="800219" cy="461665"/>
          </a:xfrm>
          <a:prstGeom prst="rect">
            <a:avLst/>
          </a:prstGeom>
          <a:noFill/>
          <a:ln w="19050">
            <a:solidFill>
              <a:schemeClr val="tx1"/>
            </a:solidFill>
          </a:ln>
        </p:spPr>
        <p:txBody>
          <a:bodyPr wrap="none" rtlCol="0">
            <a:spAutoFit/>
          </a:bodyPr>
          <a:lstStyle/>
          <a:p>
            <a:pPr algn="ctr"/>
            <a:r>
              <a:rPr lang="ja-JP" altLang="en-US" sz="2400" dirty="0"/>
              <a:t>背景</a:t>
            </a:r>
            <a:endParaRPr kumimoji="1" lang="ja-JP" altLang="en-US" sz="2400" dirty="0" smtClean="0"/>
          </a:p>
        </p:txBody>
      </p:sp>
      <p:sp>
        <p:nvSpPr>
          <p:cNvPr id="7" name="テキスト ボックス 6"/>
          <p:cNvSpPr txBox="1"/>
          <p:nvPr/>
        </p:nvSpPr>
        <p:spPr>
          <a:xfrm>
            <a:off x="228599" y="2862560"/>
            <a:ext cx="3809056" cy="461665"/>
          </a:xfrm>
          <a:prstGeom prst="rect">
            <a:avLst/>
          </a:prstGeom>
          <a:noFill/>
          <a:ln w="19050">
            <a:solidFill>
              <a:schemeClr val="tx1"/>
            </a:solidFill>
          </a:ln>
        </p:spPr>
        <p:txBody>
          <a:bodyPr wrap="none" rtlCol="0">
            <a:spAutoFit/>
          </a:bodyPr>
          <a:lstStyle/>
          <a:p>
            <a:pPr algn="ctr"/>
            <a:r>
              <a:rPr lang="ja-JP" altLang="en-US" sz="2400" dirty="0"/>
              <a:t>ルールベース識別器の</a:t>
            </a:r>
            <a:r>
              <a:rPr lang="ja-JP" altLang="en-US" sz="2400" dirty="0" smtClean="0"/>
              <a:t>種類</a:t>
            </a:r>
            <a:endParaRPr lang="en-US" altLang="ja-JP" sz="2400" dirty="0"/>
          </a:p>
        </p:txBody>
      </p:sp>
      <p:grpSp>
        <p:nvGrpSpPr>
          <p:cNvPr id="41" name="グループ化 40"/>
          <p:cNvGrpSpPr/>
          <p:nvPr/>
        </p:nvGrpSpPr>
        <p:grpSpPr>
          <a:xfrm>
            <a:off x="552569" y="4389474"/>
            <a:ext cx="8359911" cy="1286209"/>
            <a:chOff x="552569" y="4389474"/>
            <a:chExt cx="8359911" cy="1286209"/>
          </a:xfrm>
        </p:grpSpPr>
        <p:grpSp>
          <p:nvGrpSpPr>
            <p:cNvPr id="10" name="グループ化 9"/>
            <p:cNvGrpSpPr/>
            <p:nvPr/>
          </p:nvGrpSpPr>
          <p:grpSpPr>
            <a:xfrm>
              <a:off x="552569" y="4801396"/>
              <a:ext cx="1229426" cy="843260"/>
              <a:chOff x="1518414" y="4938072"/>
              <a:chExt cx="1229426" cy="843260"/>
            </a:xfrm>
          </p:grpSpPr>
          <p:sp>
            <p:nvSpPr>
              <p:cNvPr id="8" name="楕円 7"/>
              <p:cNvSpPr/>
              <p:nvPr/>
            </p:nvSpPr>
            <p:spPr>
              <a:xfrm>
                <a:off x="1518414" y="4938072"/>
                <a:ext cx="1229426" cy="84326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楕円 8"/>
              <p:cNvSpPr/>
              <p:nvPr/>
            </p:nvSpPr>
            <p:spPr>
              <a:xfrm>
                <a:off x="2133126" y="4991896"/>
                <a:ext cx="438623" cy="332579"/>
              </a:xfrm>
              <a:prstGeom prst="ellipse">
                <a:avLst/>
              </a:prstGeom>
              <a:solidFill>
                <a:schemeClr val="accent2">
                  <a:lumMod val="60000"/>
                  <a:lumOff val="4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ボックス 10"/>
            <p:cNvSpPr txBox="1"/>
            <p:nvPr/>
          </p:nvSpPr>
          <p:spPr>
            <a:xfrm>
              <a:off x="1732824" y="4594354"/>
              <a:ext cx="851515" cy="369332"/>
            </a:xfrm>
            <a:prstGeom prst="rect">
              <a:avLst/>
            </a:prstGeom>
            <a:solidFill>
              <a:schemeClr val="bg1"/>
            </a:solidFill>
            <a:ln w="19050">
              <a:solidFill>
                <a:schemeClr val="tx1"/>
              </a:solidFill>
            </a:ln>
          </p:spPr>
          <p:txBody>
            <a:bodyPr wrap="none" rtlCol="0">
              <a:spAutoFit/>
            </a:bodyPr>
            <a:lstStyle/>
            <a:p>
              <a:pPr algn="ctr"/>
              <a:r>
                <a:rPr kumimoji="1" lang="en-US" altLang="ja-JP" dirty="0" smtClean="0"/>
                <a:t>Rule 1</a:t>
              </a:r>
              <a:endParaRPr kumimoji="1" lang="ja-JP" altLang="en-US" dirty="0" smtClean="0"/>
            </a:p>
          </p:txBody>
        </p:sp>
        <p:cxnSp>
          <p:nvCxnSpPr>
            <p:cNvPr id="13" name="直線矢印コネクタ 12"/>
            <p:cNvCxnSpPr>
              <a:stCxn id="11" idx="1"/>
              <a:endCxn id="9" idx="7"/>
            </p:cNvCxnSpPr>
            <p:nvPr/>
          </p:nvCxnSpPr>
          <p:spPr>
            <a:xfrm flipH="1">
              <a:off x="1541669" y="4779020"/>
              <a:ext cx="191155" cy="12490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右矢印 13"/>
            <p:cNvSpPr/>
            <p:nvPr/>
          </p:nvSpPr>
          <p:spPr>
            <a:xfrm>
              <a:off x="2804541" y="4826276"/>
              <a:ext cx="304800" cy="793500"/>
            </a:xfrm>
            <a:prstGeom prst="rightArrow">
              <a:avLst/>
            </a:prstGeom>
            <a:solidFill>
              <a:schemeClr val="bg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8" name="グループ化 27"/>
            <p:cNvGrpSpPr/>
            <p:nvPr/>
          </p:nvGrpSpPr>
          <p:grpSpPr>
            <a:xfrm>
              <a:off x="3360873" y="4826276"/>
              <a:ext cx="1229426" cy="843260"/>
              <a:chOff x="3598998" y="5054876"/>
              <a:chExt cx="1229426" cy="843260"/>
            </a:xfrm>
          </p:grpSpPr>
          <p:sp>
            <p:nvSpPr>
              <p:cNvPr id="17" name="楕円 16"/>
              <p:cNvSpPr/>
              <p:nvPr/>
            </p:nvSpPr>
            <p:spPr>
              <a:xfrm>
                <a:off x="3598998" y="5054876"/>
                <a:ext cx="1229426" cy="84326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楕円 17"/>
              <p:cNvSpPr/>
              <p:nvPr/>
            </p:nvSpPr>
            <p:spPr>
              <a:xfrm>
                <a:off x="4213710" y="5108700"/>
                <a:ext cx="438623" cy="332579"/>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楕円 18"/>
              <p:cNvSpPr/>
              <p:nvPr/>
            </p:nvSpPr>
            <p:spPr>
              <a:xfrm>
                <a:off x="4154597" y="5543498"/>
                <a:ext cx="507237" cy="289102"/>
              </a:xfrm>
              <a:prstGeom prst="ellipse">
                <a:avLst/>
              </a:prstGeom>
              <a:solidFill>
                <a:schemeClr val="accent2">
                  <a:lumMod val="60000"/>
                  <a:lumOff val="4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0" name="テキスト ボックス 19"/>
            <p:cNvSpPr txBox="1"/>
            <p:nvPr/>
          </p:nvSpPr>
          <p:spPr>
            <a:xfrm>
              <a:off x="4790506" y="5226929"/>
              <a:ext cx="851515" cy="369332"/>
            </a:xfrm>
            <a:prstGeom prst="rect">
              <a:avLst/>
            </a:prstGeom>
            <a:solidFill>
              <a:schemeClr val="bg1"/>
            </a:solidFill>
            <a:ln w="19050">
              <a:solidFill>
                <a:schemeClr val="tx1"/>
              </a:solidFill>
            </a:ln>
          </p:spPr>
          <p:txBody>
            <a:bodyPr wrap="square" rtlCol="0">
              <a:spAutoFit/>
            </a:bodyPr>
            <a:lstStyle/>
            <a:p>
              <a:pPr algn="ctr"/>
              <a:r>
                <a:rPr kumimoji="1" lang="en-US" altLang="ja-JP" dirty="0" smtClean="0"/>
                <a:t>Rule 2</a:t>
              </a:r>
              <a:endParaRPr kumimoji="1" lang="ja-JP" altLang="en-US" dirty="0" smtClean="0"/>
            </a:p>
          </p:txBody>
        </p:sp>
        <p:cxnSp>
          <p:nvCxnSpPr>
            <p:cNvPr id="21" name="直線矢印コネクタ 20"/>
            <p:cNvCxnSpPr>
              <a:stCxn id="20" idx="1"/>
              <a:endCxn id="19" idx="6"/>
            </p:cNvCxnSpPr>
            <p:nvPr/>
          </p:nvCxnSpPr>
          <p:spPr>
            <a:xfrm flipH="1">
              <a:off x="4423709" y="5411595"/>
              <a:ext cx="366797" cy="4785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右矢印 22"/>
            <p:cNvSpPr/>
            <p:nvPr/>
          </p:nvSpPr>
          <p:spPr>
            <a:xfrm>
              <a:off x="5834165" y="4826276"/>
              <a:ext cx="304800" cy="793500"/>
            </a:xfrm>
            <a:prstGeom prst="rightArrow">
              <a:avLst/>
            </a:prstGeom>
            <a:solidFill>
              <a:schemeClr val="bg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9" name="グループ化 28"/>
            <p:cNvGrpSpPr/>
            <p:nvPr/>
          </p:nvGrpSpPr>
          <p:grpSpPr>
            <a:xfrm>
              <a:off x="6384270" y="4832423"/>
              <a:ext cx="1229426" cy="843260"/>
              <a:chOff x="3598998" y="5054876"/>
              <a:chExt cx="1229426" cy="843260"/>
            </a:xfrm>
          </p:grpSpPr>
          <p:sp>
            <p:nvSpPr>
              <p:cNvPr id="30" name="楕円 29"/>
              <p:cNvSpPr/>
              <p:nvPr/>
            </p:nvSpPr>
            <p:spPr>
              <a:xfrm>
                <a:off x="3598998" y="5054876"/>
                <a:ext cx="1229426" cy="84326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楕円 30"/>
              <p:cNvSpPr/>
              <p:nvPr/>
            </p:nvSpPr>
            <p:spPr>
              <a:xfrm>
                <a:off x="4213710" y="5108700"/>
                <a:ext cx="438623" cy="332579"/>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楕円 31"/>
              <p:cNvSpPr/>
              <p:nvPr/>
            </p:nvSpPr>
            <p:spPr>
              <a:xfrm>
                <a:off x="4154597" y="5543498"/>
                <a:ext cx="507237" cy="289102"/>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3" name="楕円 32"/>
            <p:cNvSpPr/>
            <p:nvPr/>
          </p:nvSpPr>
          <p:spPr>
            <a:xfrm>
              <a:off x="6534150" y="4903926"/>
              <a:ext cx="405719" cy="283874"/>
            </a:xfrm>
            <a:prstGeom prst="ellipse">
              <a:avLst/>
            </a:prstGeom>
            <a:solidFill>
              <a:schemeClr val="accent2">
                <a:lumMod val="60000"/>
                <a:lumOff val="4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右矢印 33"/>
            <p:cNvSpPr/>
            <p:nvPr/>
          </p:nvSpPr>
          <p:spPr>
            <a:xfrm>
              <a:off x="7966240" y="4826276"/>
              <a:ext cx="304800" cy="793500"/>
            </a:xfrm>
            <a:prstGeom prst="rightArrow">
              <a:avLst/>
            </a:prstGeom>
            <a:solidFill>
              <a:schemeClr val="bg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テキスト ボックス 36"/>
            <p:cNvSpPr txBox="1"/>
            <p:nvPr/>
          </p:nvSpPr>
          <p:spPr>
            <a:xfrm>
              <a:off x="7021348" y="4389474"/>
              <a:ext cx="851515" cy="369332"/>
            </a:xfrm>
            <a:prstGeom prst="rect">
              <a:avLst/>
            </a:prstGeom>
            <a:solidFill>
              <a:schemeClr val="bg1"/>
            </a:solidFill>
            <a:ln w="19050">
              <a:solidFill>
                <a:schemeClr val="tx1"/>
              </a:solidFill>
            </a:ln>
          </p:spPr>
          <p:txBody>
            <a:bodyPr wrap="square" rtlCol="0">
              <a:spAutoFit/>
            </a:bodyPr>
            <a:lstStyle/>
            <a:p>
              <a:pPr algn="ctr"/>
              <a:r>
                <a:rPr kumimoji="1" lang="en-US" altLang="ja-JP" dirty="0" smtClean="0"/>
                <a:t>Rule 3</a:t>
              </a:r>
              <a:endParaRPr kumimoji="1" lang="ja-JP" altLang="en-US" dirty="0" smtClean="0"/>
            </a:p>
          </p:txBody>
        </p:sp>
        <p:cxnSp>
          <p:nvCxnSpPr>
            <p:cNvPr id="38" name="直線矢印コネクタ 37"/>
            <p:cNvCxnSpPr>
              <a:stCxn id="37" idx="1"/>
              <a:endCxn id="33" idx="0"/>
            </p:cNvCxnSpPr>
            <p:nvPr/>
          </p:nvCxnSpPr>
          <p:spPr>
            <a:xfrm flipH="1">
              <a:off x="6737010" y="4574140"/>
              <a:ext cx="284338" cy="32978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p:cNvSpPr txBox="1"/>
            <p:nvPr/>
          </p:nvSpPr>
          <p:spPr>
            <a:xfrm>
              <a:off x="8266149" y="4766965"/>
              <a:ext cx="646331" cy="646331"/>
            </a:xfrm>
            <a:prstGeom prst="rect">
              <a:avLst/>
            </a:prstGeom>
            <a:noFill/>
          </p:spPr>
          <p:txBody>
            <a:bodyPr wrap="none" rtlCol="0">
              <a:spAutoFit/>
            </a:bodyPr>
            <a:lstStyle/>
            <a:p>
              <a:pPr algn="ctr"/>
              <a:r>
                <a:rPr kumimoji="1" lang="en-US" altLang="ja-JP" sz="3600" dirty="0" smtClean="0"/>
                <a:t>…</a:t>
              </a:r>
              <a:endParaRPr kumimoji="1" lang="ja-JP" altLang="en-US" sz="3600" dirty="0" smtClean="0"/>
            </a:p>
          </p:txBody>
        </p:sp>
      </p:grpSp>
      <p:sp>
        <p:nvSpPr>
          <p:cNvPr id="42" name="テキスト ボックス 41"/>
          <p:cNvSpPr txBox="1"/>
          <p:nvPr/>
        </p:nvSpPr>
        <p:spPr>
          <a:xfrm>
            <a:off x="628709" y="5187799"/>
            <a:ext cx="1067920" cy="400110"/>
          </a:xfrm>
          <a:prstGeom prst="rect">
            <a:avLst/>
          </a:prstGeom>
          <a:noFill/>
        </p:spPr>
        <p:txBody>
          <a:bodyPr wrap="none" rtlCol="0">
            <a:spAutoFit/>
          </a:bodyPr>
          <a:lstStyle/>
          <a:p>
            <a:pPr algn="ctr"/>
            <a:r>
              <a:rPr kumimoji="1" lang="en-US" altLang="ja-JP" sz="2000" dirty="0" smtClean="0"/>
              <a:t>Dataset</a:t>
            </a:r>
            <a:endParaRPr kumimoji="1" lang="ja-JP" altLang="en-US" sz="2000" dirty="0" smtClean="0"/>
          </a:p>
        </p:txBody>
      </p:sp>
    </p:spTree>
    <p:extLst>
      <p:ext uri="{BB962C8B-B14F-4D97-AF65-F5344CB8AC3E}">
        <p14:creationId xmlns:p14="http://schemas.microsoft.com/office/powerpoint/2010/main" val="382049325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Introduction</a:t>
            </a:r>
            <a:endParaRPr kumimoji="1" lang="ja-JP" altLang="en-US" dirty="0"/>
          </a:p>
        </p:txBody>
      </p:sp>
      <p:sp>
        <p:nvSpPr>
          <p:cNvPr id="3" name="コンテンツ プレースホルダー 2"/>
          <p:cNvSpPr>
            <a:spLocks noGrp="1"/>
          </p:cNvSpPr>
          <p:nvPr>
            <p:ph idx="1"/>
          </p:nvPr>
        </p:nvSpPr>
        <p:spPr/>
        <p:txBody>
          <a:bodyPr/>
          <a:lstStyle/>
          <a:p>
            <a:endParaRPr kumimoji="1" lang="en-US" altLang="ja-JP" sz="2400" dirty="0" smtClean="0"/>
          </a:p>
          <a:p>
            <a:r>
              <a:rPr lang="ja-JP" altLang="en-US" sz="2400" dirty="0" smtClean="0"/>
              <a:t>本論文では，</a:t>
            </a:r>
            <a:r>
              <a:rPr lang="ja-JP" altLang="en-US" sz="2400" dirty="0"/>
              <a:t>以下</a:t>
            </a:r>
            <a:r>
              <a:rPr lang="ja-JP" altLang="en-US" sz="2400" dirty="0" smtClean="0"/>
              <a:t>の</a:t>
            </a:r>
            <a:r>
              <a:rPr lang="en-US" altLang="ja-JP" sz="2400" dirty="0" smtClean="0"/>
              <a:t>2</a:t>
            </a:r>
            <a:r>
              <a:rPr lang="ja-JP" altLang="en-US" sz="2400" dirty="0" smtClean="0"/>
              <a:t>点の理由から</a:t>
            </a:r>
            <a:r>
              <a:rPr lang="ja-JP" altLang="en-US" sz="2400" dirty="0" smtClean="0">
                <a:solidFill>
                  <a:srgbClr val="FF0000"/>
                </a:solidFill>
              </a:rPr>
              <a:t>ファジィルールベースの識別器を問題変換法に適応</a:t>
            </a:r>
            <a:r>
              <a:rPr lang="ja-JP" altLang="en-US" sz="2400" dirty="0" smtClean="0"/>
              <a:t>した場合について調査する．</a:t>
            </a:r>
            <a:endParaRPr lang="en-US" altLang="ja-JP" sz="2400" dirty="0" smtClean="0"/>
          </a:p>
          <a:p>
            <a:endParaRPr kumimoji="1" lang="en-US" altLang="ja-JP" sz="1800" dirty="0"/>
          </a:p>
          <a:p>
            <a:pPr marL="457200" indent="-457200">
              <a:buFont typeface="+mj-lt"/>
              <a:buAutoNum type="arabicPeriod"/>
            </a:pPr>
            <a:r>
              <a:rPr lang="ja-JP" altLang="en-US" sz="2400" dirty="0" smtClean="0"/>
              <a:t>ファジィ識別器が持つ固有の解釈可能性がデータマイニングや知識獲得において重要である．</a:t>
            </a:r>
            <a:endParaRPr lang="en-US" altLang="ja-JP" sz="2400" dirty="0" smtClean="0"/>
          </a:p>
          <a:p>
            <a:pPr marL="457200" indent="-457200">
              <a:buFont typeface="+mj-lt"/>
              <a:buAutoNum type="arabicPeriod"/>
            </a:pPr>
            <a:r>
              <a:rPr kumimoji="1" lang="ja-JP" altLang="en-US" sz="2400" dirty="0" smtClean="0"/>
              <a:t>マルチラベル識別問題は，よく曖昧なラベル境界を持つため，クリスプルールによる識別は適切ではない．</a:t>
            </a:r>
            <a:endParaRPr kumimoji="1" lang="en-US" altLang="ja-JP" sz="2400" dirty="0" smtClean="0"/>
          </a:p>
          <a:p>
            <a:pPr marL="457200" indent="-457200">
              <a:buFont typeface="+mj-lt"/>
              <a:buAutoNum type="arabicPeriod"/>
            </a:pPr>
            <a:endParaRPr lang="en-US" altLang="ja-JP" sz="2400" dirty="0"/>
          </a:p>
          <a:p>
            <a:endParaRPr lang="en-US" altLang="ja-JP" sz="2400" dirty="0" smtClean="0"/>
          </a:p>
          <a:p>
            <a:r>
              <a:rPr lang="ja-JP" altLang="en-US" sz="2400" dirty="0" smtClean="0"/>
              <a:t>本論文では，</a:t>
            </a:r>
            <a:r>
              <a:rPr kumimoji="1" lang="en-US" altLang="ja-JP" sz="2400" u="sng" dirty="0" smtClean="0"/>
              <a:t>4</a:t>
            </a:r>
            <a:r>
              <a:rPr kumimoji="1" lang="ja-JP" altLang="en-US" sz="2400" u="sng" dirty="0" err="1" smtClean="0"/>
              <a:t>つの</a:t>
            </a:r>
            <a:r>
              <a:rPr kumimoji="1" lang="ja-JP" altLang="en-US" sz="2400" u="sng" dirty="0" smtClean="0"/>
              <a:t>問題変換法</a:t>
            </a:r>
            <a:r>
              <a:rPr kumimoji="1" lang="ja-JP" altLang="en-US" sz="2400" dirty="0" smtClean="0"/>
              <a:t>，</a:t>
            </a:r>
            <a:r>
              <a:rPr kumimoji="1" lang="en-US" altLang="ja-JP" sz="2400" u="sng" dirty="0" smtClean="0"/>
              <a:t>5</a:t>
            </a:r>
            <a:r>
              <a:rPr kumimoji="1" lang="ja-JP" altLang="en-US" sz="2400" u="sng" dirty="0" err="1" smtClean="0"/>
              <a:t>つの</a:t>
            </a:r>
            <a:r>
              <a:rPr kumimoji="1" lang="ja-JP" altLang="en-US" sz="2400" u="sng" dirty="0" smtClean="0"/>
              <a:t>評価尺度</a:t>
            </a:r>
            <a:r>
              <a:rPr kumimoji="1" lang="ja-JP" altLang="en-US" sz="2400" dirty="0" smtClean="0"/>
              <a:t>，</a:t>
            </a:r>
            <a:r>
              <a:rPr lang="en-US" altLang="ja-JP" sz="2400" dirty="0"/>
              <a:t> </a:t>
            </a:r>
            <a:r>
              <a:rPr lang="en-US" altLang="ja-JP" sz="2400" u="sng" dirty="0"/>
              <a:t>6</a:t>
            </a:r>
            <a:r>
              <a:rPr lang="ja-JP" altLang="en-US" sz="2400" u="sng" dirty="0" err="1"/>
              <a:t>つの</a:t>
            </a:r>
            <a:r>
              <a:rPr lang="ja-JP" altLang="en-US" sz="2400" u="sng" dirty="0"/>
              <a:t>データセット</a:t>
            </a:r>
            <a:r>
              <a:rPr lang="ja-JP" altLang="en-US" sz="2400" dirty="0"/>
              <a:t>， </a:t>
            </a:r>
            <a:r>
              <a:rPr kumimoji="1" lang="en-US" altLang="ja-JP" sz="2400" u="sng" dirty="0" smtClean="0"/>
              <a:t>8</a:t>
            </a:r>
            <a:r>
              <a:rPr kumimoji="1" lang="ja-JP" altLang="en-US" sz="2400" u="sng" dirty="0" err="1" smtClean="0"/>
              <a:t>つの</a:t>
            </a:r>
            <a:r>
              <a:rPr kumimoji="1" lang="ja-JP" altLang="en-US" sz="2400" u="sng" dirty="0" smtClean="0"/>
              <a:t>単一ラベル識別器</a:t>
            </a:r>
            <a:r>
              <a:rPr kumimoji="1" lang="ja-JP" altLang="en-US" sz="2400" dirty="0" smtClean="0"/>
              <a:t>について実験した結果を示す．</a:t>
            </a:r>
            <a:endParaRPr kumimoji="1" lang="ja-JP" altLang="en-US" sz="2400" dirty="0"/>
          </a:p>
        </p:txBody>
      </p:sp>
      <p:sp>
        <p:nvSpPr>
          <p:cNvPr id="4" name="スライド番号プレースホルダー 3"/>
          <p:cNvSpPr>
            <a:spLocks noGrp="1"/>
          </p:cNvSpPr>
          <p:nvPr>
            <p:ph type="sldNum" sz="quarter" idx="12"/>
          </p:nvPr>
        </p:nvSpPr>
        <p:spPr/>
        <p:txBody>
          <a:bodyPr/>
          <a:lstStyle/>
          <a:p>
            <a:r>
              <a:rPr kumimoji="1" lang="en-US" altLang="ja-JP" smtClean="0"/>
              <a:t>4/21</a:t>
            </a:r>
            <a:endParaRPr kumimoji="1" lang="ja-JP" altLang="en-US"/>
          </a:p>
        </p:txBody>
      </p:sp>
      <p:sp>
        <p:nvSpPr>
          <p:cNvPr id="5" name="テキスト プレースホルダー 4"/>
          <p:cNvSpPr>
            <a:spLocks noGrp="1"/>
          </p:cNvSpPr>
          <p:nvPr>
            <p:ph type="body" sz="quarter" idx="13"/>
          </p:nvPr>
        </p:nvSpPr>
        <p:spPr/>
        <p:txBody>
          <a:bodyPr/>
          <a:lstStyle/>
          <a:p>
            <a:r>
              <a:rPr kumimoji="1" lang="ja-JP" altLang="en-US" dirty="0" smtClean="0"/>
              <a:t>問題変換法を適用した</a:t>
            </a:r>
            <a:r>
              <a:rPr kumimoji="1" lang="ja-JP" altLang="en-US" dirty="0" smtClean="0"/>
              <a:t>ファジィ識別器</a:t>
            </a:r>
            <a:endParaRPr kumimoji="1" lang="ja-JP" altLang="en-US" dirty="0"/>
          </a:p>
        </p:txBody>
      </p:sp>
      <p:sp>
        <p:nvSpPr>
          <p:cNvPr id="6" name="テキスト ボックス 5"/>
          <p:cNvSpPr txBox="1"/>
          <p:nvPr/>
        </p:nvSpPr>
        <p:spPr>
          <a:xfrm>
            <a:off x="228600" y="1371600"/>
            <a:ext cx="2068195" cy="461665"/>
          </a:xfrm>
          <a:prstGeom prst="rect">
            <a:avLst/>
          </a:prstGeom>
          <a:noFill/>
          <a:ln w="19050">
            <a:solidFill>
              <a:schemeClr val="tx1"/>
            </a:solidFill>
          </a:ln>
        </p:spPr>
        <p:txBody>
          <a:bodyPr wrap="none" rtlCol="0">
            <a:spAutoFit/>
          </a:bodyPr>
          <a:lstStyle/>
          <a:p>
            <a:pPr algn="ctr"/>
            <a:r>
              <a:rPr kumimoji="1" lang="ja-JP" altLang="en-US" sz="2400" dirty="0" smtClean="0"/>
              <a:t>ファジィ識別器</a:t>
            </a:r>
          </a:p>
        </p:txBody>
      </p:sp>
      <p:sp>
        <p:nvSpPr>
          <p:cNvPr id="7" name="角丸四角形 6"/>
          <p:cNvSpPr/>
          <p:nvPr/>
        </p:nvSpPr>
        <p:spPr>
          <a:xfrm>
            <a:off x="228600" y="2821020"/>
            <a:ext cx="8686800" cy="1994169"/>
          </a:xfrm>
          <a:prstGeom prst="roundRect">
            <a:avLst>
              <a:gd name="adj" fmla="val 6153"/>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1374743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p:cNvSpPr>
            <a:spLocks noGrp="1"/>
          </p:cNvSpPr>
          <p:nvPr>
            <p:ph idx="1"/>
          </p:nvPr>
        </p:nvSpPr>
        <p:spPr/>
        <p:txBody>
          <a:bodyPr/>
          <a:lstStyle/>
          <a:p>
            <a:endParaRPr kumimoji="1" lang="en-US" altLang="ja-JP" dirty="0" smtClean="0"/>
          </a:p>
          <a:p>
            <a:pPr marL="457200" indent="-457200">
              <a:buFont typeface="Arial" panose="020B0604020202020204" pitchFamily="34" charset="0"/>
              <a:buChar char="•"/>
            </a:pPr>
            <a:r>
              <a:rPr lang="ja-JP" altLang="en-US" sz="2400" dirty="0" smtClean="0"/>
              <a:t>ラベル集合</a:t>
            </a:r>
            <a:r>
              <a:rPr lang="en-US" altLang="ja-JP" sz="2400" dirty="0" smtClean="0"/>
              <a:t>: </a:t>
            </a:r>
            <a:r>
              <a:rPr lang="en-US" altLang="ja-JP" sz="2400" i="1" dirty="0" smtClean="0">
                <a:latin typeface="Times New Roman" panose="02020603050405020304" pitchFamily="18" charset="0"/>
                <a:cs typeface="Times New Roman" panose="02020603050405020304" pitchFamily="18" charset="0"/>
              </a:rPr>
              <a:t>L </a:t>
            </a:r>
            <a:r>
              <a:rPr lang="en-US" altLang="ja-JP" sz="2400" dirty="0" smtClean="0">
                <a:latin typeface="Times New Roman" panose="02020603050405020304" pitchFamily="18" charset="0"/>
                <a:cs typeface="Times New Roman" panose="02020603050405020304" pitchFamily="18" charset="0"/>
              </a:rPr>
              <a:t>= {</a:t>
            </a:r>
            <a:r>
              <a:rPr lang="en-US" altLang="ja-JP" sz="2400" i="1" dirty="0" err="1" smtClean="0">
                <a:latin typeface="Times New Roman" panose="02020603050405020304" pitchFamily="18" charset="0"/>
                <a:cs typeface="Times New Roman" panose="02020603050405020304" pitchFamily="18" charset="0"/>
              </a:rPr>
              <a:t>l</a:t>
            </a:r>
            <a:r>
              <a:rPr lang="en-US" altLang="ja-JP" sz="2400" i="1" baseline="-25000" dirty="0" err="1" smtClean="0">
                <a:latin typeface="Times New Roman" panose="02020603050405020304" pitchFamily="18" charset="0"/>
                <a:cs typeface="Times New Roman" panose="02020603050405020304" pitchFamily="18" charset="0"/>
              </a:rPr>
              <a:t>j</a:t>
            </a:r>
            <a:r>
              <a:rPr lang="en-US" altLang="ja-JP" sz="2400" dirty="0" smtClean="0">
                <a:latin typeface="Times New Roman" panose="02020603050405020304" pitchFamily="18" charset="0"/>
                <a:cs typeface="Times New Roman" panose="02020603050405020304" pitchFamily="18" charset="0"/>
              </a:rPr>
              <a:t>, </a:t>
            </a:r>
            <a:r>
              <a:rPr lang="en-US" altLang="ja-JP" sz="2400" i="1" dirty="0" smtClean="0">
                <a:latin typeface="Times New Roman" panose="02020603050405020304" pitchFamily="18" charset="0"/>
                <a:cs typeface="Times New Roman" panose="02020603050405020304" pitchFamily="18" charset="0"/>
              </a:rPr>
              <a:t>j</a:t>
            </a:r>
            <a:r>
              <a:rPr lang="en-US" altLang="ja-JP" sz="2400" dirty="0" smtClean="0">
                <a:latin typeface="Times New Roman" panose="02020603050405020304" pitchFamily="18" charset="0"/>
                <a:cs typeface="Times New Roman" panose="02020603050405020304" pitchFamily="18" charset="0"/>
              </a:rPr>
              <a:t> = 1, …, </a:t>
            </a:r>
            <a:r>
              <a:rPr lang="en-US" altLang="ja-JP" sz="2400" i="1" dirty="0" smtClean="0">
                <a:latin typeface="Times New Roman" panose="02020603050405020304" pitchFamily="18" charset="0"/>
                <a:cs typeface="Times New Roman" panose="02020603050405020304" pitchFamily="18" charset="0"/>
              </a:rPr>
              <a:t>q</a:t>
            </a:r>
            <a:r>
              <a:rPr lang="en-US" altLang="ja-JP" sz="2400" dirty="0" smtClean="0">
                <a:latin typeface="Times New Roman" panose="02020603050405020304" pitchFamily="18" charset="0"/>
                <a:cs typeface="Times New Roman" panose="02020603050405020304" pitchFamily="18" charset="0"/>
              </a:rPr>
              <a:t>}</a:t>
            </a:r>
          </a:p>
          <a:p>
            <a:pPr marL="457200" indent="-457200">
              <a:buFont typeface="Arial" panose="020B0604020202020204" pitchFamily="34" charset="0"/>
              <a:buChar char="•"/>
            </a:pPr>
            <a:r>
              <a:rPr lang="ja-JP" altLang="en-US" sz="2400" dirty="0" smtClean="0">
                <a:latin typeface="Times New Roman" panose="02020603050405020304" pitchFamily="18" charset="0"/>
                <a:cs typeface="Times New Roman" panose="02020603050405020304" pitchFamily="18" charset="0"/>
              </a:rPr>
              <a:t>パターン集合</a:t>
            </a:r>
            <a:r>
              <a:rPr lang="en-US" altLang="ja-JP" sz="2400" dirty="0" smtClean="0">
                <a:latin typeface="Times New Roman" panose="02020603050405020304" pitchFamily="18" charset="0"/>
                <a:cs typeface="Times New Roman" panose="02020603050405020304" pitchFamily="18" charset="0"/>
              </a:rPr>
              <a:t>: </a:t>
            </a:r>
            <a:r>
              <a:rPr lang="en-US" altLang="ja-JP" sz="2400" i="1" dirty="0" smtClean="0">
                <a:latin typeface="Times New Roman" panose="02020603050405020304" pitchFamily="18" charset="0"/>
                <a:cs typeface="Times New Roman" panose="02020603050405020304" pitchFamily="18" charset="0"/>
              </a:rPr>
              <a:t>D</a:t>
            </a:r>
            <a:r>
              <a:rPr lang="en-US" altLang="ja-JP" sz="2400" dirty="0" smtClean="0">
                <a:latin typeface="Times New Roman" panose="02020603050405020304" pitchFamily="18" charset="0"/>
                <a:cs typeface="Times New Roman" panose="02020603050405020304" pitchFamily="18" charset="0"/>
              </a:rPr>
              <a:t> = {(</a:t>
            </a:r>
            <a:r>
              <a:rPr lang="en-US" altLang="ja-JP" sz="2400" b="1" dirty="0" smtClean="0">
                <a:latin typeface="Times New Roman" panose="02020603050405020304" pitchFamily="18" charset="0"/>
                <a:cs typeface="Times New Roman" panose="02020603050405020304" pitchFamily="18" charset="0"/>
              </a:rPr>
              <a:t>x</a:t>
            </a:r>
            <a:r>
              <a:rPr lang="en-US" altLang="ja-JP" sz="2400" i="1" baseline="-25000" dirty="0" smtClean="0">
                <a:latin typeface="Times New Roman" panose="02020603050405020304" pitchFamily="18" charset="0"/>
                <a:cs typeface="Times New Roman" panose="02020603050405020304" pitchFamily="18" charset="0"/>
              </a:rPr>
              <a:t>i</a:t>
            </a:r>
            <a:r>
              <a:rPr lang="en-US" altLang="ja-JP" sz="2400" dirty="0" smtClean="0">
                <a:latin typeface="Times New Roman" panose="02020603050405020304" pitchFamily="18" charset="0"/>
                <a:cs typeface="Times New Roman" panose="02020603050405020304" pitchFamily="18" charset="0"/>
              </a:rPr>
              <a:t>, </a:t>
            </a:r>
            <a:r>
              <a:rPr lang="en-US" altLang="ja-JP" sz="2400" i="1" dirty="0" smtClean="0">
                <a:latin typeface="Times New Roman" panose="02020603050405020304" pitchFamily="18" charset="0"/>
                <a:cs typeface="Times New Roman" panose="02020603050405020304" pitchFamily="18" charset="0"/>
              </a:rPr>
              <a:t>L</a:t>
            </a:r>
            <a:r>
              <a:rPr lang="en-US" altLang="ja-JP" sz="2400" i="1" baseline="-25000" dirty="0" smtClean="0">
                <a:latin typeface="Times New Roman" panose="02020603050405020304" pitchFamily="18" charset="0"/>
                <a:cs typeface="Times New Roman" panose="02020603050405020304" pitchFamily="18" charset="0"/>
              </a:rPr>
              <a:t>i</a:t>
            </a:r>
            <a:r>
              <a:rPr lang="en-US" altLang="ja-JP" sz="2400" dirty="0" smtClean="0">
                <a:latin typeface="Times New Roman" panose="02020603050405020304" pitchFamily="18" charset="0"/>
                <a:cs typeface="Times New Roman" panose="02020603050405020304" pitchFamily="18" charset="0"/>
              </a:rPr>
              <a:t>), </a:t>
            </a:r>
            <a:r>
              <a:rPr lang="en-US" altLang="ja-JP" sz="2400" i="1" dirty="0" err="1" smtClean="0">
                <a:latin typeface="Times New Roman" panose="02020603050405020304" pitchFamily="18" charset="0"/>
                <a:cs typeface="Times New Roman" panose="02020603050405020304" pitchFamily="18" charset="0"/>
              </a:rPr>
              <a:t>i</a:t>
            </a:r>
            <a:r>
              <a:rPr lang="en-US" altLang="ja-JP" sz="2400" dirty="0" smtClean="0">
                <a:latin typeface="Times New Roman" panose="02020603050405020304" pitchFamily="18" charset="0"/>
                <a:cs typeface="Times New Roman" panose="02020603050405020304" pitchFamily="18" charset="0"/>
              </a:rPr>
              <a:t> = 1, …, </a:t>
            </a:r>
            <a:r>
              <a:rPr lang="en-US" altLang="ja-JP" sz="2400" i="1" dirty="0" smtClean="0">
                <a:latin typeface="Times New Roman" panose="02020603050405020304" pitchFamily="18" charset="0"/>
                <a:cs typeface="Times New Roman" panose="02020603050405020304" pitchFamily="18" charset="0"/>
              </a:rPr>
              <a:t>m</a:t>
            </a:r>
            <a:r>
              <a:rPr lang="en-US" altLang="ja-JP" sz="2400" dirty="0" smtClean="0">
                <a:latin typeface="Times New Roman" panose="02020603050405020304" pitchFamily="18" charset="0"/>
                <a:cs typeface="Times New Roman" panose="02020603050405020304" pitchFamily="18" charset="0"/>
              </a:rPr>
              <a:t>}, </a:t>
            </a:r>
            <a:r>
              <a:rPr lang="en-US" altLang="ja-JP" sz="2400" i="1" dirty="0" smtClean="0">
                <a:latin typeface="Times New Roman" panose="02020603050405020304" pitchFamily="18" charset="0"/>
                <a:cs typeface="Times New Roman" panose="02020603050405020304" pitchFamily="18" charset="0"/>
              </a:rPr>
              <a:t>L</a:t>
            </a:r>
            <a:r>
              <a:rPr lang="en-US" altLang="ja-JP" sz="2400" i="1" baseline="-25000" dirty="0" smtClean="0">
                <a:latin typeface="Times New Roman" panose="02020603050405020304" pitchFamily="18" charset="0"/>
                <a:cs typeface="Times New Roman" panose="02020603050405020304" pitchFamily="18" charset="0"/>
              </a:rPr>
              <a:t>i</a:t>
            </a:r>
            <a:r>
              <a:rPr lang="en-US" altLang="ja-JP" sz="2400" dirty="0" smtClean="0">
                <a:latin typeface="Times New Roman" panose="02020603050405020304" pitchFamily="18" charset="0"/>
                <a:cs typeface="Times New Roman" panose="02020603050405020304" pitchFamily="18" charset="0"/>
              </a:rPr>
              <a:t> </a:t>
            </a:r>
            <a:r>
              <a:rPr lang="en-US" altLang="ja-JP" sz="2400"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ja-JP" sz="2400" i="1" dirty="0" smtClean="0">
                <a:latin typeface="Times New Roman" panose="02020603050405020304" pitchFamily="18" charset="0"/>
                <a:cs typeface="Times New Roman" panose="02020603050405020304" pitchFamily="18" charset="0"/>
                <a:sym typeface="Symbol" panose="05050102010706020507" pitchFamily="18" charset="2"/>
              </a:rPr>
              <a:t>L</a:t>
            </a:r>
            <a:endParaRPr lang="en-US" altLang="ja-JP" sz="2400" i="1" dirty="0">
              <a:latin typeface="Times New Roman" panose="02020603050405020304" pitchFamily="18" charset="0"/>
              <a:cs typeface="Times New Roman" panose="02020603050405020304" pitchFamily="18" charset="0"/>
            </a:endParaRPr>
          </a:p>
          <a:p>
            <a:endParaRPr kumimoji="1" lang="en-US" altLang="ja-JP" sz="1400" dirty="0" smtClean="0"/>
          </a:p>
          <a:p>
            <a:pPr marL="514350" indent="-514350">
              <a:buClr>
                <a:schemeClr val="tx1"/>
              </a:buClr>
              <a:buFont typeface="+mj-lt"/>
              <a:buAutoNum type="arabicPeriod"/>
            </a:pPr>
            <a:r>
              <a:rPr kumimoji="1" lang="en-US" altLang="ja-JP" b="1" dirty="0" smtClean="0">
                <a:solidFill>
                  <a:srgbClr val="FF0000"/>
                </a:solidFill>
              </a:rPr>
              <a:t>Binary Relevance</a:t>
            </a:r>
            <a:r>
              <a:rPr kumimoji="1" lang="en-US" altLang="ja-JP" dirty="0" smtClean="0"/>
              <a:t>:</a:t>
            </a:r>
          </a:p>
          <a:p>
            <a:pPr lvl="1"/>
            <a:r>
              <a:rPr lang="en-US" altLang="ja-JP" i="1" dirty="0" smtClean="0">
                <a:latin typeface="Times New Roman" panose="02020603050405020304" pitchFamily="18" charset="0"/>
                <a:cs typeface="Times New Roman" panose="02020603050405020304" pitchFamily="18" charset="0"/>
              </a:rPr>
              <a:t>q</a:t>
            </a:r>
            <a:r>
              <a:rPr lang="ja-JP" altLang="en-US" dirty="0" smtClean="0"/>
              <a:t>個のシングルラベル識別問題に分割する．</a:t>
            </a:r>
            <a:endParaRPr lang="en-US" altLang="ja-JP" dirty="0"/>
          </a:p>
          <a:p>
            <a:pPr marL="457200" indent="-457200">
              <a:buFont typeface="+mj-lt"/>
              <a:buAutoNum type="arabicPeriod"/>
            </a:pPr>
            <a:endParaRPr lang="en-US" altLang="ja-JP" dirty="0" smtClean="0"/>
          </a:p>
          <a:p>
            <a:pPr marL="457200" indent="-457200">
              <a:buFont typeface="+mj-lt"/>
              <a:buAutoNum type="arabicPeriod"/>
            </a:pPr>
            <a:endParaRPr lang="en-US" altLang="ja-JP" sz="2400" dirty="0"/>
          </a:p>
          <a:p>
            <a:pPr marL="457200" indent="-457200">
              <a:buClr>
                <a:schemeClr val="tx1"/>
              </a:buClr>
              <a:buFont typeface="+mj-lt"/>
              <a:buAutoNum type="arabicPeriod"/>
            </a:pPr>
            <a:r>
              <a:rPr lang="en-US" altLang="ja-JP" b="1" dirty="0" smtClean="0">
                <a:solidFill>
                  <a:schemeClr val="accent1"/>
                </a:solidFill>
              </a:rPr>
              <a:t>Label Power Set</a:t>
            </a:r>
            <a:r>
              <a:rPr lang="en-US" altLang="ja-JP" dirty="0" smtClean="0"/>
              <a:t>:</a:t>
            </a:r>
          </a:p>
          <a:p>
            <a:pPr lvl="1"/>
            <a:r>
              <a:rPr lang="ja-JP" altLang="en-US" dirty="0" smtClean="0"/>
              <a:t>シングルラベル </a:t>
            </a:r>
            <a:r>
              <a:rPr lang="en-US" altLang="ja-JP" dirty="0" smtClean="0">
                <a:latin typeface="Times New Roman" panose="02020603050405020304" pitchFamily="18" charset="0"/>
                <a:cs typeface="Times New Roman" panose="02020603050405020304" pitchFamily="18" charset="0"/>
              </a:rPr>
              <a:t>2</a:t>
            </a:r>
            <a:r>
              <a:rPr lang="en-US" altLang="ja-JP" i="1" baseline="30000" dirty="0" smtClean="0">
                <a:latin typeface="Times New Roman" panose="02020603050405020304" pitchFamily="18" charset="0"/>
                <a:cs typeface="Times New Roman" panose="02020603050405020304" pitchFamily="18" charset="0"/>
              </a:rPr>
              <a:t>q</a:t>
            </a:r>
            <a:r>
              <a:rPr lang="ja-JP" altLang="en-US" dirty="0" smtClean="0"/>
              <a:t>クラス問題に変換する．</a:t>
            </a:r>
            <a:endParaRPr lang="en-US" altLang="ja-JP" dirty="0"/>
          </a:p>
        </p:txBody>
      </p:sp>
      <p:sp>
        <p:nvSpPr>
          <p:cNvPr id="7" name="角丸四角形 6"/>
          <p:cNvSpPr/>
          <p:nvPr/>
        </p:nvSpPr>
        <p:spPr>
          <a:xfrm>
            <a:off x="228600" y="1371600"/>
            <a:ext cx="8686800" cy="1476375"/>
          </a:xfrm>
          <a:prstGeom prst="roundRect">
            <a:avLst>
              <a:gd name="adj" fmla="val 1021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p:cNvSpPr>
            <a:spLocks noGrp="1"/>
          </p:cNvSpPr>
          <p:nvPr>
            <p:ph type="title"/>
          </p:nvPr>
        </p:nvSpPr>
        <p:spPr/>
        <p:txBody>
          <a:bodyPr/>
          <a:lstStyle/>
          <a:p>
            <a:r>
              <a:rPr lang="ja-JP" altLang="en-US" dirty="0" smtClean="0"/>
              <a:t>マルチラベル識別問題</a:t>
            </a:r>
            <a:endParaRPr kumimoji="1" lang="ja-JP" altLang="en-US" dirty="0"/>
          </a:p>
        </p:txBody>
      </p:sp>
      <p:sp>
        <p:nvSpPr>
          <p:cNvPr id="4" name="スライド番号プレースホルダー 3"/>
          <p:cNvSpPr>
            <a:spLocks noGrp="1"/>
          </p:cNvSpPr>
          <p:nvPr>
            <p:ph type="sldNum" sz="quarter" idx="12"/>
          </p:nvPr>
        </p:nvSpPr>
        <p:spPr/>
        <p:txBody>
          <a:bodyPr/>
          <a:lstStyle/>
          <a:p>
            <a:r>
              <a:rPr kumimoji="1" lang="en-US" altLang="ja-JP" smtClean="0"/>
              <a:t>5/21</a:t>
            </a:r>
            <a:endParaRPr kumimoji="1" lang="ja-JP" altLang="en-US"/>
          </a:p>
        </p:txBody>
      </p:sp>
      <p:sp>
        <p:nvSpPr>
          <p:cNvPr id="5" name="テキスト プレースホルダー 4"/>
          <p:cNvSpPr>
            <a:spLocks noGrp="1"/>
          </p:cNvSpPr>
          <p:nvPr>
            <p:ph type="body" sz="quarter" idx="13"/>
          </p:nvPr>
        </p:nvSpPr>
        <p:spPr/>
        <p:txBody>
          <a:bodyPr/>
          <a:lstStyle/>
          <a:p>
            <a:r>
              <a:rPr kumimoji="1" lang="en-US" altLang="ja-JP" dirty="0" smtClean="0"/>
              <a:t>4</a:t>
            </a:r>
            <a:r>
              <a:rPr kumimoji="1" lang="ja-JP" altLang="en-US" dirty="0" err="1" smtClean="0"/>
              <a:t>つの</a:t>
            </a:r>
            <a:r>
              <a:rPr kumimoji="1" lang="ja-JP" altLang="en-US" dirty="0" smtClean="0"/>
              <a:t>問題変換法</a:t>
            </a:r>
            <a:endParaRPr kumimoji="1" lang="ja-JP" altLang="en-US" dirty="0"/>
          </a:p>
        </p:txBody>
      </p:sp>
      <p:sp>
        <p:nvSpPr>
          <p:cNvPr id="6" name="テキスト ボックス 5"/>
          <p:cNvSpPr txBox="1"/>
          <p:nvPr/>
        </p:nvSpPr>
        <p:spPr>
          <a:xfrm>
            <a:off x="228601" y="1371600"/>
            <a:ext cx="4330032" cy="461665"/>
          </a:xfrm>
          <a:prstGeom prst="rect">
            <a:avLst/>
          </a:prstGeom>
          <a:solidFill>
            <a:schemeClr val="bg1"/>
          </a:solidFill>
          <a:ln w="19050">
            <a:solidFill>
              <a:schemeClr val="tx1"/>
            </a:solidFill>
          </a:ln>
        </p:spPr>
        <p:txBody>
          <a:bodyPr wrap="none" rtlCol="0">
            <a:spAutoFit/>
          </a:bodyPr>
          <a:lstStyle/>
          <a:p>
            <a:pPr algn="ctr"/>
            <a:r>
              <a:rPr kumimoji="1" lang="ja-JP" altLang="en-US" sz="2400" dirty="0" smtClean="0"/>
              <a:t>マルチラベル識別問題での定義</a:t>
            </a:r>
          </a:p>
        </p:txBody>
      </p:sp>
      <p:sp>
        <p:nvSpPr>
          <p:cNvPr id="8" name="正方形/長方形 7"/>
          <p:cNvSpPr/>
          <p:nvPr/>
        </p:nvSpPr>
        <p:spPr>
          <a:xfrm>
            <a:off x="542925" y="4219575"/>
            <a:ext cx="1362075" cy="4191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b="1" dirty="0" smtClean="0">
                <a:solidFill>
                  <a:sysClr val="windowText" lastClr="000000"/>
                </a:solidFill>
                <a:latin typeface="Times New Roman" panose="02020603050405020304" pitchFamily="18" charset="0"/>
                <a:cs typeface="Times New Roman" panose="02020603050405020304" pitchFamily="18" charset="0"/>
              </a:rPr>
              <a:t>x</a:t>
            </a:r>
            <a:r>
              <a:rPr lang="en-US" altLang="ja-JP" i="1" baseline="-25000" dirty="0" smtClean="0">
                <a:solidFill>
                  <a:sysClr val="windowText" lastClr="000000"/>
                </a:solidFill>
                <a:latin typeface="Times New Roman" panose="02020603050405020304" pitchFamily="18" charset="0"/>
                <a:cs typeface="Times New Roman" panose="02020603050405020304" pitchFamily="18" charset="0"/>
              </a:rPr>
              <a:t>i</a:t>
            </a:r>
            <a:endParaRPr kumimoji="1" lang="ja-JP" altLang="en-US" i="1" baseline="-25000" dirty="0">
              <a:solidFill>
                <a:sysClr val="windowText" lastClr="000000"/>
              </a:solidFill>
              <a:latin typeface="Times New Roman" panose="02020603050405020304" pitchFamily="18" charset="0"/>
              <a:cs typeface="Times New Roman" panose="02020603050405020304" pitchFamily="18" charset="0"/>
            </a:endParaRPr>
          </a:p>
        </p:txBody>
      </p:sp>
      <p:sp>
        <p:nvSpPr>
          <p:cNvPr id="9" name="正方形/長方形 8"/>
          <p:cNvSpPr/>
          <p:nvPr/>
        </p:nvSpPr>
        <p:spPr>
          <a:xfrm>
            <a:off x="1905001" y="4219575"/>
            <a:ext cx="476250" cy="4191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i="1" dirty="0" smtClean="0">
                <a:solidFill>
                  <a:sysClr val="windowText" lastClr="000000"/>
                </a:solidFill>
                <a:latin typeface="Times New Roman" panose="02020603050405020304" pitchFamily="18" charset="0"/>
                <a:cs typeface="Times New Roman" panose="02020603050405020304" pitchFamily="18" charset="0"/>
              </a:rPr>
              <a:t>l</a:t>
            </a:r>
            <a:r>
              <a:rPr lang="en-US" altLang="ja-JP" baseline="-25000" dirty="0" smtClean="0">
                <a:solidFill>
                  <a:sysClr val="windowText" lastClr="000000"/>
                </a:solidFill>
                <a:latin typeface="Times New Roman" panose="02020603050405020304" pitchFamily="18" charset="0"/>
                <a:cs typeface="Times New Roman" panose="02020603050405020304" pitchFamily="18" charset="0"/>
              </a:rPr>
              <a:t>1</a:t>
            </a:r>
            <a:endParaRPr kumimoji="1" lang="ja-JP" altLang="en-US" baseline="-25000" dirty="0">
              <a:solidFill>
                <a:sysClr val="windowText" lastClr="000000"/>
              </a:solidFill>
              <a:latin typeface="Times New Roman" panose="02020603050405020304" pitchFamily="18" charset="0"/>
              <a:cs typeface="Times New Roman" panose="02020603050405020304" pitchFamily="18" charset="0"/>
            </a:endParaRPr>
          </a:p>
        </p:txBody>
      </p:sp>
      <p:sp>
        <p:nvSpPr>
          <p:cNvPr id="10" name="正方形/長方形 9"/>
          <p:cNvSpPr/>
          <p:nvPr/>
        </p:nvSpPr>
        <p:spPr>
          <a:xfrm>
            <a:off x="2381251" y="4219575"/>
            <a:ext cx="476250" cy="4191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smtClean="0">
                <a:solidFill>
                  <a:sysClr val="windowText" lastClr="000000"/>
                </a:solidFill>
                <a:latin typeface="Times New Roman" panose="02020603050405020304" pitchFamily="18" charset="0"/>
                <a:cs typeface="Times New Roman" panose="02020603050405020304" pitchFamily="18" charset="0"/>
              </a:rPr>
              <a:t>…</a:t>
            </a:r>
            <a:endParaRPr kumimoji="1" lang="ja-JP"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11" name="正方形/長方形 10"/>
          <p:cNvSpPr/>
          <p:nvPr/>
        </p:nvSpPr>
        <p:spPr>
          <a:xfrm>
            <a:off x="2857501" y="4219575"/>
            <a:ext cx="476250" cy="4191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i="1" dirty="0" err="1" smtClean="0">
                <a:solidFill>
                  <a:sysClr val="windowText" lastClr="000000"/>
                </a:solidFill>
                <a:latin typeface="Times New Roman" panose="02020603050405020304" pitchFamily="18" charset="0"/>
                <a:cs typeface="Times New Roman" panose="02020603050405020304" pitchFamily="18" charset="0"/>
              </a:rPr>
              <a:t>l</a:t>
            </a:r>
            <a:r>
              <a:rPr lang="en-US" altLang="ja-JP" i="1" baseline="-25000" dirty="0" err="1" smtClean="0">
                <a:solidFill>
                  <a:sysClr val="windowText" lastClr="000000"/>
                </a:solidFill>
                <a:latin typeface="Times New Roman" panose="02020603050405020304" pitchFamily="18" charset="0"/>
                <a:cs typeface="Times New Roman" panose="02020603050405020304" pitchFamily="18" charset="0"/>
              </a:rPr>
              <a:t>q</a:t>
            </a:r>
            <a:endParaRPr kumimoji="1" lang="ja-JP" altLang="en-US" i="1" baseline="-25000" dirty="0">
              <a:solidFill>
                <a:sysClr val="windowText" lastClr="000000"/>
              </a:solidFill>
              <a:latin typeface="Times New Roman" panose="02020603050405020304" pitchFamily="18" charset="0"/>
              <a:cs typeface="Times New Roman" panose="02020603050405020304" pitchFamily="18" charset="0"/>
            </a:endParaRPr>
          </a:p>
        </p:txBody>
      </p:sp>
      <p:sp>
        <p:nvSpPr>
          <p:cNvPr id="12" name="右矢印 11"/>
          <p:cNvSpPr/>
          <p:nvPr/>
        </p:nvSpPr>
        <p:spPr>
          <a:xfrm>
            <a:off x="3657601" y="4056187"/>
            <a:ext cx="304800" cy="793500"/>
          </a:xfrm>
          <a:prstGeom prst="rightArrow">
            <a:avLst/>
          </a:prstGeom>
          <a:solidFill>
            <a:schemeClr val="bg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p:cNvSpPr/>
          <p:nvPr/>
        </p:nvSpPr>
        <p:spPr>
          <a:xfrm>
            <a:off x="4267024" y="4219575"/>
            <a:ext cx="1362075" cy="4191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b="1" dirty="0" smtClean="0">
                <a:solidFill>
                  <a:sysClr val="windowText" lastClr="000000"/>
                </a:solidFill>
                <a:latin typeface="Times New Roman" panose="02020603050405020304" pitchFamily="18" charset="0"/>
                <a:cs typeface="Times New Roman" panose="02020603050405020304" pitchFamily="18" charset="0"/>
              </a:rPr>
              <a:t>x</a:t>
            </a:r>
            <a:r>
              <a:rPr lang="en-US" altLang="ja-JP" i="1" baseline="-25000" dirty="0" smtClean="0">
                <a:solidFill>
                  <a:sysClr val="windowText" lastClr="000000"/>
                </a:solidFill>
                <a:latin typeface="Times New Roman" panose="02020603050405020304" pitchFamily="18" charset="0"/>
                <a:cs typeface="Times New Roman" panose="02020603050405020304" pitchFamily="18" charset="0"/>
              </a:rPr>
              <a:t>i</a:t>
            </a:r>
            <a:endParaRPr kumimoji="1" lang="ja-JP" altLang="en-US" i="1" baseline="-25000" dirty="0">
              <a:solidFill>
                <a:sysClr val="windowText" lastClr="000000"/>
              </a:solidFill>
              <a:latin typeface="Times New Roman" panose="02020603050405020304" pitchFamily="18" charset="0"/>
              <a:cs typeface="Times New Roman" panose="02020603050405020304" pitchFamily="18" charset="0"/>
            </a:endParaRPr>
          </a:p>
        </p:txBody>
      </p:sp>
      <p:sp>
        <p:nvSpPr>
          <p:cNvPr id="14" name="正方形/長方形 13"/>
          <p:cNvSpPr/>
          <p:nvPr/>
        </p:nvSpPr>
        <p:spPr>
          <a:xfrm>
            <a:off x="5629100" y="4219575"/>
            <a:ext cx="476250" cy="4191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i="1" dirty="0" smtClean="0">
                <a:solidFill>
                  <a:sysClr val="windowText" lastClr="000000"/>
                </a:solidFill>
                <a:latin typeface="Times New Roman" panose="02020603050405020304" pitchFamily="18" charset="0"/>
                <a:cs typeface="Times New Roman" panose="02020603050405020304" pitchFamily="18" charset="0"/>
              </a:rPr>
              <a:t>l</a:t>
            </a:r>
            <a:r>
              <a:rPr lang="en-US" altLang="ja-JP" baseline="-25000" dirty="0" smtClean="0">
                <a:solidFill>
                  <a:sysClr val="windowText" lastClr="000000"/>
                </a:solidFill>
                <a:latin typeface="Times New Roman" panose="02020603050405020304" pitchFamily="18" charset="0"/>
                <a:cs typeface="Times New Roman" panose="02020603050405020304" pitchFamily="18" charset="0"/>
              </a:rPr>
              <a:t>1</a:t>
            </a:r>
            <a:endParaRPr kumimoji="1" lang="ja-JP" altLang="en-US" baseline="-25000" dirty="0">
              <a:solidFill>
                <a:sysClr val="windowText" lastClr="000000"/>
              </a:solidFill>
              <a:latin typeface="Times New Roman" panose="02020603050405020304" pitchFamily="18" charset="0"/>
              <a:cs typeface="Times New Roman" panose="02020603050405020304" pitchFamily="18" charset="0"/>
            </a:endParaRPr>
          </a:p>
        </p:txBody>
      </p:sp>
      <p:sp>
        <p:nvSpPr>
          <p:cNvPr id="19" name="正方形/長方形 18"/>
          <p:cNvSpPr/>
          <p:nvPr/>
        </p:nvSpPr>
        <p:spPr>
          <a:xfrm>
            <a:off x="7053174" y="4219575"/>
            <a:ext cx="1362075" cy="4191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b="1" dirty="0" smtClean="0">
                <a:solidFill>
                  <a:sysClr val="windowText" lastClr="000000"/>
                </a:solidFill>
                <a:latin typeface="Times New Roman" panose="02020603050405020304" pitchFamily="18" charset="0"/>
                <a:cs typeface="Times New Roman" panose="02020603050405020304" pitchFamily="18" charset="0"/>
              </a:rPr>
              <a:t>x</a:t>
            </a:r>
            <a:r>
              <a:rPr lang="en-US" altLang="ja-JP" i="1" baseline="-25000" dirty="0" smtClean="0">
                <a:solidFill>
                  <a:sysClr val="windowText" lastClr="000000"/>
                </a:solidFill>
                <a:latin typeface="Times New Roman" panose="02020603050405020304" pitchFamily="18" charset="0"/>
                <a:cs typeface="Times New Roman" panose="02020603050405020304" pitchFamily="18" charset="0"/>
              </a:rPr>
              <a:t>i</a:t>
            </a:r>
            <a:endParaRPr kumimoji="1" lang="ja-JP" altLang="en-US" i="1" baseline="-25000" dirty="0">
              <a:solidFill>
                <a:sysClr val="windowText" lastClr="000000"/>
              </a:solidFill>
              <a:latin typeface="Times New Roman" panose="02020603050405020304" pitchFamily="18" charset="0"/>
              <a:cs typeface="Times New Roman" panose="02020603050405020304" pitchFamily="18" charset="0"/>
            </a:endParaRPr>
          </a:p>
        </p:txBody>
      </p:sp>
      <p:sp>
        <p:nvSpPr>
          <p:cNvPr id="20" name="正方形/長方形 19"/>
          <p:cNvSpPr/>
          <p:nvPr/>
        </p:nvSpPr>
        <p:spPr>
          <a:xfrm>
            <a:off x="8415250" y="4219575"/>
            <a:ext cx="476250" cy="4191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i="1" dirty="0" err="1" smtClean="0">
                <a:solidFill>
                  <a:sysClr val="windowText" lastClr="000000"/>
                </a:solidFill>
                <a:latin typeface="Times New Roman" panose="02020603050405020304" pitchFamily="18" charset="0"/>
                <a:cs typeface="Times New Roman" panose="02020603050405020304" pitchFamily="18" charset="0"/>
              </a:rPr>
              <a:t>l</a:t>
            </a:r>
            <a:r>
              <a:rPr lang="en-US" altLang="ja-JP" i="1" baseline="-25000" dirty="0" err="1">
                <a:solidFill>
                  <a:sysClr val="windowText" lastClr="000000"/>
                </a:solidFill>
                <a:latin typeface="Times New Roman" panose="02020603050405020304" pitchFamily="18" charset="0"/>
                <a:cs typeface="Times New Roman" panose="02020603050405020304" pitchFamily="18" charset="0"/>
              </a:rPr>
              <a:t>q</a:t>
            </a:r>
            <a:endParaRPr kumimoji="1" lang="ja-JP" altLang="en-US" i="1" baseline="-25000" dirty="0">
              <a:solidFill>
                <a:sysClr val="windowText" lastClr="000000"/>
              </a:solidFill>
              <a:latin typeface="Times New Roman" panose="02020603050405020304" pitchFamily="18" charset="0"/>
              <a:cs typeface="Times New Roman" panose="02020603050405020304" pitchFamily="18" charset="0"/>
            </a:endParaRPr>
          </a:p>
        </p:txBody>
      </p:sp>
      <p:sp>
        <p:nvSpPr>
          <p:cNvPr id="21" name="テキスト ボックス 20"/>
          <p:cNvSpPr txBox="1"/>
          <p:nvPr/>
        </p:nvSpPr>
        <p:spPr>
          <a:xfrm>
            <a:off x="6253757" y="3963084"/>
            <a:ext cx="646331" cy="646331"/>
          </a:xfrm>
          <a:prstGeom prst="rect">
            <a:avLst/>
          </a:prstGeom>
          <a:noFill/>
        </p:spPr>
        <p:txBody>
          <a:bodyPr wrap="none" rtlCol="0">
            <a:spAutoFit/>
          </a:bodyPr>
          <a:lstStyle/>
          <a:p>
            <a:pPr algn="ctr"/>
            <a:r>
              <a:rPr kumimoji="1" lang="en-US" altLang="ja-JP" sz="3600" dirty="0" smtClean="0"/>
              <a:t>…</a:t>
            </a:r>
            <a:endParaRPr kumimoji="1" lang="ja-JP" altLang="en-US" sz="3600" dirty="0" smtClean="0"/>
          </a:p>
        </p:txBody>
      </p:sp>
      <p:sp>
        <p:nvSpPr>
          <p:cNvPr id="22" name="正方形/長方形 21"/>
          <p:cNvSpPr/>
          <p:nvPr/>
        </p:nvSpPr>
        <p:spPr>
          <a:xfrm>
            <a:off x="1262065" y="6219825"/>
            <a:ext cx="476250" cy="4191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i="1" dirty="0" smtClean="0">
                <a:solidFill>
                  <a:sysClr val="windowText" lastClr="000000"/>
                </a:solidFill>
                <a:latin typeface="Times New Roman" panose="02020603050405020304" pitchFamily="18" charset="0"/>
                <a:cs typeface="Times New Roman" panose="02020603050405020304" pitchFamily="18" charset="0"/>
              </a:rPr>
              <a:t>l</a:t>
            </a:r>
            <a:r>
              <a:rPr lang="en-US" altLang="ja-JP" baseline="-25000" dirty="0" smtClean="0">
                <a:solidFill>
                  <a:sysClr val="windowText" lastClr="000000"/>
                </a:solidFill>
                <a:latin typeface="Times New Roman" panose="02020603050405020304" pitchFamily="18" charset="0"/>
                <a:cs typeface="Times New Roman" panose="02020603050405020304" pitchFamily="18" charset="0"/>
              </a:rPr>
              <a:t>1</a:t>
            </a:r>
            <a:endParaRPr kumimoji="1" lang="ja-JP" altLang="en-US" baseline="-25000" dirty="0">
              <a:solidFill>
                <a:sysClr val="windowText" lastClr="000000"/>
              </a:solidFill>
              <a:latin typeface="Times New Roman" panose="02020603050405020304" pitchFamily="18" charset="0"/>
              <a:cs typeface="Times New Roman" panose="02020603050405020304" pitchFamily="18" charset="0"/>
            </a:endParaRPr>
          </a:p>
        </p:txBody>
      </p:sp>
      <p:sp>
        <p:nvSpPr>
          <p:cNvPr id="23" name="正方形/長方形 22"/>
          <p:cNvSpPr/>
          <p:nvPr/>
        </p:nvSpPr>
        <p:spPr>
          <a:xfrm>
            <a:off x="1738315" y="6219825"/>
            <a:ext cx="476250" cy="4191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i="1" dirty="0" smtClean="0">
                <a:solidFill>
                  <a:sysClr val="windowText" lastClr="000000"/>
                </a:solidFill>
                <a:latin typeface="Times New Roman" panose="02020603050405020304" pitchFamily="18" charset="0"/>
                <a:cs typeface="Times New Roman" panose="02020603050405020304" pitchFamily="18" charset="0"/>
              </a:rPr>
              <a:t>l</a:t>
            </a:r>
            <a:r>
              <a:rPr lang="en-US" altLang="ja-JP" baseline="-25000" dirty="0" smtClean="0">
                <a:solidFill>
                  <a:sysClr val="windowText" lastClr="000000"/>
                </a:solidFill>
                <a:latin typeface="Times New Roman" panose="02020603050405020304" pitchFamily="18" charset="0"/>
                <a:cs typeface="Times New Roman" panose="02020603050405020304" pitchFamily="18" charset="0"/>
              </a:rPr>
              <a:t>2</a:t>
            </a:r>
            <a:endParaRPr lang="ja-JP" altLang="en-US" baseline="-25000" dirty="0">
              <a:solidFill>
                <a:sysClr val="windowText" lastClr="000000"/>
              </a:solidFill>
              <a:latin typeface="Times New Roman" panose="02020603050405020304" pitchFamily="18" charset="0"/>
              <a:cs typeface="Times New Roman" panose="02020603050405020304" pitchFamily="18" charset="0"/>
            </a:endParaRPr>
          </a:p>
        </p:txBody>
      </p:sp>
      <p:sp>
        <p:nvSpPr>
          <p:cNvPr id="24" name="正方形/長方形 23"/>
          <p:cNvSpPr/>
          <p:nvPr/>
        </p:nvSpPr>
        <p:spPr>
          <a:xfrm>
            <a:off x="2214565" y="6219825"/>
            <a:ext cx="476250" cy="4191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i="1" dirty="0" smtClean="0">
                <a:solidFill>
                  <a:sysClr val="windowText" lastClr="000000"/>
                </a:solidFill>
                <a:latin typeface="Times New Roman" panose="02020603050405020304" pitchFamily="18" charset="0"/>
                <a:cs typeface="Times New Roman" panose="02020603050405020304" pitchFamily="18" charset="0"/>
              </a:rPr>
              <a:t>l</a:t>
            </a:r>
            <a:r>
              <a:rPr lang="en-US" altLang="ja-JP" baseline="-25000" dirty="0" smtClean="0">
                <a:solidFill>
                  <a:sysClr val="windowText" lastClr="000000"/>
                </a:solidFill>
                <a:latin typeface="Times New Roman" panose="02020603050405020304" pitchFamily="18" charset="0"/>
                <a:cs typeface="Times New Roman" panose="02020603050405020304" pitchFamily="18" charset="0"/>
              </a:rPr>
              <a:t>3</a:t>
            </a:r>
            <a:endParaRPr kumimoji="1" lang="ja-JP" altLang="en-US" baseline="-25000" dirty="0">
              <a:solidFill>
                <a:sysClr val="windowText" lastClr="000000"/>
              </a:solidFill>
              <a:latin typeface="Times New Roman" panose="02020603050405020304" pitchFamily="18" charset="0"/>
              <a:cs typeface="Times New Roman" panose="02020603050405020304" pitchFamily="18" charset="0"/>
            </a:endParaRPr>
          </a:p>
        </p:txBody>
      </p:sp>
      <p:sp>
        <p:nvSpPr>
          <p:cNvPr id="25" name="右矢印 24"/>
          <p:cNvSpPr/>
          <p:nvPr/>
        </p:nvSpPr>
        <p:spPr>
          <a:xfrm>
            <a:off x="3657601" y="5946900"/>
            <a:ext cx="304800" cy="793500"/>
          </a:xfrm>
          <a:prstGeom prst="rightArrow">
            <a:avLst/>
          </a:prstGeom>
          <a:solidFill>
            <a:schemeClr val="bg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p:cNvSpPr/>
          <p:nvPr/>
        </p:nvSpPr>
        <p:spPr>
          <a:xfrm>
            <a:off x="4525652" y="6219825"/>
            <a:ext cx="1428750" cy="4191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smtClean="0">
                <a:solidFill>
                  <a:sysClr val="windowText" lastClr="000000"/>
                </a:solidFill>
                <a:latin typeface="Times New Roman" panose="02020603050405020304" pitchFamily="18" charset="0"/>
                <a:cs typeface="Times New Roman" panose="02020603050405020304" pitchFamily="18" charset="0"/>
              </a:rPr>
              <a:t>000</a:t>
            </a:r>
            <a:endParaRPr kumimoji="1" lang="ja-JP" altLang="en-US" baseline="-25000" dirty="0">
              <a:solidFill>
                <a:sysClr val="windowText" lastClr="000000"/>
              </a:solidFill>
              <a:latin typeface="Times New Roman" panose="02020603050405020304" pitchFamily="18" charset="0"/>
              <a:cs typeface="Times New Roman" panose="02020603050405020304" pitchFamily="18" charset="0"/>
            </a:endParaRPr>
          </a:p>
        </p:txBody>
      </p:sp>
      <p:sp>
        <p:nvSpPr>
          <p:cNvPr id="29" name="正方形/長方形 28"/>
          <p:cNvSpPr/>
          <p:nvPr/>
        </p:nvSpPr>
        <p:spPr>
          <a:xfrm>
            <a:off x="7284154" y="6219825"/>
            <a:ext cx="1428750" cy="4191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smtClean="0">
                <a:solidFill>
                  <a:sysClr val="windowText" lastClr="000000"/>
                </a:solidFill>
                <a:latin typeface="Times New Roman" panose="02020603050405020304" pitchFamily="18" charset="0"/>
                <a:cs typeface="Times New Roman" panose="02020603050405020304" pitchFamily="18" charset="0"/>
              </a:rPr>
              <a:t>111</a:t>
            </a:r>
            <a:endParaRPr kumimoji="1" lang="ja-JP"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30" name="テキスト ボックス 29"/>
          <p:cNvSpPr txBox="1"/>
          <p:nvPr/>
        </p:nvSpPr>
        <p:spPr>
          <a:xfrm>
            <a:off x="6253756" y="5987831"/>
            <a:ext cx="646331" cy="646331"/>
          </a:xfrm>
          <a:prstGeom prst="rect">
            <a:avLst/>
          </a:prstGeom>
          <a:noFill/>
        </p:spPr>
        <p:txBody>
          <a:bodyPr wrap="none" rtlCol="0">
            <a:spAutoFit/>
          </a:bodyPr>
          <a:lstStyle/>
          <a:p>
            <a:pPr algn="ctr"/>
            <a:r>
              <a:rPr kumimoji="1" lang="en-US" altLang="ja-JP" sz="3600" dirty="0" smtClean="0"/>
              <a:t>…</a:t>
            </a:r>
            <a:endParaRPr kumimoji="1" lang="ja-JP" altLang="en-US" sz="3600" dirty="0" smtClean="0"/>
          </a:p>
        </p:txBody>
      </p:sp>
      <p:sp>
        <p:nvSpPr>
          <p:cNvPr id="32" name="角丸四角形 31"/>
          <p:cNvSpPr/>
          <p:nvPr/>
        </p:nvSpPr>
        <p:spPr>
          <a:xfrm>
            <a:off x="4371975" y="6032625"/>
            <a:ext cx="4519525" cy="752036"/>
          </a:xfrm>
          <a:prstGeom prst="roundRect">
            <a:avLst>
              <a:gd name="adj" fmla="val 1021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p:cNvSpPr txBox="1"/>
          <p:nvPr/>
        </p:nvSpPr>
        <p:spPr>
          <a:xfrm>
            <a:off x="5899492" y="5832570"/>
            <a:ext cx="1354858" cy="369332"/>
          </a:xfrm>
          <a:prstGeom prst="rect">
            <a:avLst/>
          </a:prstGeom>
          <a:solidFill>
            <a:schemeClr val="bg1"/>
          </a:solidFill>
        </p:spPr>
        <p:txBody>
          <a:bodyPr wrap="none" rtlCol="0">
            <a:spAutoFit/>
          </a:bodyPr>
          <a:lstStyle/>
          <a:p>
            <a:pPr algn="ctr"/>
            <a:r>
              <a:rPr kumimoji="1" lang="en-US" altLang="ja-JP" dirty="0" smtClean="0"/>
              <a:t>8</a:t>
            </a:r>
            <a:r>
              <a:rPr kumimoji="1" lang="ja-JP" altLang="en-US" dirty="0" smtClean="0"/>
              <a:t>クラス問題</a:t>
            </a:r>
          </a:p>
        </p:txBody>
      </p:sp>
      <p:sp>
        <p:nvSpPr>
          <p:cNvPr id="33" name="角丸四角形 32"/>
          <p:cNvSpPr/>
          <p:nvPr/>
        </p:nvSpPr>
        <p:spPr>
          <a:xfrm>
            <a:off x="885826" y="6032625"/>
            <a:ext cx="2228850" cy="752036"/>
          </a:xfrm>
          <a:prstGeom prst="roundRect">
            <a:avLst>
              <a:gd name="adj" fmla="val 1021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p:cNvSpPr txBox="1"/>
          <p:nvPr/>
        </p:nvSpPr>
        <p:spPr>
          <a:xfrm>
            <a:off x="1285687" y="5832570"/>
            <a:ext cx="1409360" cy="369332"/>
          </a:xfrm>
          <a:prstGeom prst="rect">
            <a:avLst/>
          </a:prstGeom>
          <a:solidFill>
            <a:schemeClr val="bg1"/>
          </a:solidFill>
        </p:spPr>
        <p:txBody>
          <a:bodyPr wrap="none" rtlCol="0">
            <a:spAutoFit/>
          </a:bodyPr>
          <a:lstStyle/>
          <a:p>
            <a:pPr algn="ctr"/>
            <a:r>
              <a:rPr lang="en-US" altLang="ja-JP" dirty="0" smtClean="0"/>
              <a:t>3</a:t>
            </a:r>
            <a:r>
              <a:rPr lang="ja-JP" altLang="en-US" dirty="0" smtClean="0"/>
              <a:t>ラベル</a:t>
            </a:r>
            <a:r>
              <a:rPr kumimoji="1" lang="ja-JP" altLang="en-US" dirty="0" smtClean="0"/>
              <a:t>問題</a:t>
            </a:r>
          </a:p>
        </p:txBody>
      </p:sp>
    </p:spTree>
    <p:extLst>
      <p:ext uri="{BB962C8B-B14F-4D97-AF65-F5344CB8AC3E}">
        <p14:creationId xmlns:p14="http://schemas.microsoft.com/office/powerpoint/2010/main" val="37731346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p:cNvSpPr>
            <a:spLocks noGrp="1"/>
          </p:cNvSpPr>
          <p:nvPr>
            <p:ph idx="1"/>
          </p:nvPr>
        </p:nvSpPr>
        <p:spPr/>
        <p:txBody>
          <a:bodyPr/>
          <a:lstStyle/>
          <a:p>
            <a:endParaRPr kumimoji="1" lang="en-US" altLang="ja-JP" dirty="0" smtClean="0"/>
          </a:p>
          <a:p>
            <a:pPr marL="457200" indent="-457200">
              <a:buFont typeface="Arial" panose="020B0604020202020204" pitchFamily="34" charset="0"/>
              <a:buChar char="•"/>
            </a:pPr>
            <a:r>
              <a:rPr lang="ja-JP" altLang="en-US" sz="2400" dirty="0" smtClean="0"/>
              <a:t>ラベル集合</a:t>
            </a:r>
            <a:r>
              <a:rPr lang="en-US" altLang="ja-JP" sz="2400" dirty="0" smtClean="0"/>
              <a:t>: </a:t>
            </a:r>
            <a:r>
              <a:rPr lang="en-US" altLang="ja-JP" sz="2400" i="1" dirty="0" smtClean="0">
                <a:latin typeface="Times New Roman" panose="02020603050405020304" pitchFamily="18" charset="0"/>
                <a:cs typeface="Times New Roman" panose="02020603050405020304" pitchFamily="18" charset="0"/>
              </a:rPr>
              <a:t>L </a:t>
            </a:r>
            <a:r>
              <a:rPr lang="en-US" altLang="ja-JP" sz="2400" dirty="0" smtClean="0">
                <a:latin typeface="Times New Roman" panose="02020603050405020304" pitchFamily="18" charset="0"/>
                <a:cs typeface="Times New Roman" panose="02020603050405020304" pitchFamily="18" charset="0"/>
              </a:rPr>
              <a:t>= {</a:t>
            </a:r>
            <a:r>
              <a:rPr lang="en-US" altLang="ja-JP" sz="2400" i="1" dirty="0" err="1" smtClean="0">
                <a:latin typeface="Times New Roman" panose="02020603050405020304" pitchFamily="18" charset="0"/>
                <a:cs typeface="Times New Roman" panose="02020603050405020304" pitchFamily="18" charset="0"/>
              </a:rPr>
              <a:t>l</a:t>
            </a:r>
            <a:r>
              <a:rPr lang="en-US" altLang="ja-JP" sz="2400" i="1" baseline="-25000" dirty="0" err="1" smtClean="0">
                <a:latin typeface="Times New Roman" panose="02020603050405020304" pitchFamily="18" charset="0"/>
                <a:cs typeface="Times New Roman" panose="02020603050405020304" pitchFamily="18" charset="0"/>
              </a:rPr>
              <a:t>j</a:t>
            </a:r>
            <a:r>
              <a:rPr lang="en-US" altLang="ja-JP" sz="2400" dirty="0" smtClean="0">
                <a:latin typeface="Times New Roman" panose="02020603050405020304" pitchFamily="18" charset="0"/>
                <a:cs typeface="Times New Roman" panose="02020603050405020304" pitchFamily="18" charset="0"/>
              </a:rPr>
              <a:t>, </a:t>
            </a:r>
            <a:r>
              <a:rPr lang="en-US" altLang="ja-JP" sz="2400" i="1" dirty="0" smtClean="0">
                <a:latin typeface="Times New Roman" panose="02020603050405020304" pitchFamily="18" charset="0"/>
                <a:cs typeface="Times New Roman" panose="02020603050405020304" pitchFamily="18" charset="0"/>
              </a:rPr>
              <a:t>j</a:t>
            </a:r>
            <a:r>
              <a:rPr lang="en-US" altLang="ja-JP" sz="2400" dirty="0" smtClean="0">
                <a:latin typeface="Times New Roman" panose="02020603050405020304" pitchFamily="18" charset="0"/>
                <a:cs typeface="Times New Roman" panose="02020603050405020304" pitchFamily="18" charset="0"/>
              </a:rPr>
              <a:t> = 1, …, </a:t>
            </a:r>
            <a:r>
              <a:rPr lang="en-US" altLang="ja-JP" sz="2400" i="1" dirty="0" smtClean="0">
                <a:latin typeface="Times New Roman" panose="02020603050405020304" pitchFamily="18" charset="0"/>
                <a:cs typeface="Times New Roman" panose="02020603050405020304" pitchFamily="18" charset="0"/>
              </a:rPr>
              <a:t>q</a:t>
            </a:r>
            <a:r>
              <a:rPr lang="en-US" altLang="ja-JP" sz="2400" dirty="0" smtClean="0">
                <a:latin typeface="Times New Roman" panose="02020603050405020304" pitchFamily="18" charset="0"/>
                <a:cs typeface="Times New Roman" panose="02020603050405020304" pitchFamily="18" charset="0"/>
              </a:rPr>
              <a:t>}</a:t>
            </a:r>
          </a:p>
          <a:p>
            <a:pPr marL="457200" indent="-457200">
              <a:buFont typeface="Arial" panose="020B0604020202020204" pitchFamily="34" charset="0"/>
              <a:buChar char="•"/>
            </a:pPr>
            <a:r>
              <a:rPr lang="ja-JP" altLang="en-US" sz="2400" dirty="0" smtClean="0">
                <a:latin typeface="Times New Roman" panose="02020603050405020304" pitchFamily="18" charset="0"/>
                <a:cs typeface="Times New Roman" panose="02020603050405020304" pitchFamily="18" charset="0"/>
              </a:rPr>
              <a:t>パターン集合</a:t>
            </a:r>
            <a:r>
              <a:rPr lang="en-US" altLang="ja-JP" sz="2400" dirty="0" smtClean="0">
                <a:latin typeface="Times New Roman" panose="02020603050405020304" pitchFamily="18" charset="0"/>
                <a:cs typeface="Times New Roman" panose="02020603050405020304" pitchFamily="18" charset="0"/>
              </a:rPr>
              <a:t>: </a:t>
            </a:r>
            <a:r>
              <a:rPr lang="en-US" altLang="ja-JP" sz="2400" i="1" dirty="0" smtClean="0">
                <a:latin typeface="Times New Roman" panose="02020603050405020304" pitchFamily="18" charset="0"/>
                <a:cs typeface="Times New Roman" panose="02020603050405020304" pitchFamily="18" charset="0"/>
              </a:rPr>
              <a:t>D</a:t>
            </a:r>
            <a:r>
              <a:rPr lang="en-US" altLang="ja-JP" sz="2400" dirty="0" smtClean="0">
                <a:latin typeface="Times New Roman" panose="02020603050405020304" pitchFamily="18" charset="0"/>
                <a:cs typeface="Times New Roman" panose="02020603050405020304" pitchFamily="18" charset="0"/>
              </a:rPr>
              <a:t> = {(</a:t>
            </a:r>
            <a:r>
              <a:rPr lang="en-US" altLang="ja-JP" sz="2400" b="1" dirty="0" smtClean="0">
                <a:latin typeface="Times New Roman" panose="02020603050405020304" pitchFamily="18" charset="0"/>
                <a:cs typeface="Times New Roman" panose="02020603050405020304" pitchFamily="18" charset="0"/>
              </a:rPr>
              <a:t>x</a:t>
            </a:r>
            <a:r>
              <a:rPr lang="en-US" altLang="ja-JP" sz="2400" i="1" baseline="-25000" dirty="0" smtClean="0">
                <a:latin typeface="Times New Roman" panose="02020603050405020304" pitchFamily="18" charset="0"/>
                <a:cs typeface="Times New Roman" panose="02020603050405020304" pitchFamily="18" charset="0"/>
              </a:rPr>
              <a:t>i</a:t>
            </a:r>
            <a:r>
              <a:rPr lang="en-US" altLang="ja-JP" sz="2400" dirty="0" smtClean="0">
                <a:latin typeface="Times New Roman" panose="02020603050405020304" pitchFamily="18" charset="0"/>
                <a:cs typeface="Times New Roman" panose="02020603050405020304" pitchFamily="18" charset="0"/>
              </a:rPr>
              <a:t>, </a:t>
            </a:r>
            <a:r>
              <a:rPr lang="en-US" altLang="ja-JP" sz="2400" i="1" dirty="0" smtClean="0">
                <a:latin typeface="Times New Roman" panose="02020603050405020304" pitchFamily="18" charset="0"/>
                <a:cs typeface="Times New Roman" panose="02020603050405020304" pitchFamily="18" charset="0"/>
              </a:rPr>
              <a:t>L</a:t>
            </a:r>
            <a:r>
              <a:rPr lang="en-US" altLang="ja-JP" sz="2400" i="1" baseline="-25000" dirty="0" smtClean="0">
                <a:latin typeface="Times New Roman" panose="02020603050405020304" pitchFamily="18" charset="0"/>
                <a:cs typeface="Times New Roman" panose="02020603050405020304" pitchFamily="18" charset="0"/>
              </a:rPr>
              <a:t>i</a:t>
            </a:r>
            <a:r>
              <a:rPr lang="en-US" altLang="ja-JP" sz="2400" dirty="0" smtClean="0">
                <a:latin typeface="Times New Roman" panose="02020603050405020304" pitchFamily="18" charset="0"/>
                <a:cs typeface="Times New Roman" panose="02020603050405020304" pitchFamily="18" charset="0"/>
              </a:rPr>
              <a:t>), </a:t>
            </a:r>
            <a:r>
              <a:rPr lang="en-US" altLang="ja-JP" sz="2400" i="1" dirty="0" smtClean="0">
                <a:latin typeface="Times New Roman" panose="02020603050405020304" pitchFamily="18" charset="0"/>
                <a:cs typeface="Times New Roman" panose="02020603050405020304" pitchFamily="18" charset="0"/>
              </a:rPr>
              <a:t>I</a:t>
            </a:r>
            <a:r>
              <a:rPr lang="en-US" altLang="ja-JP" sz="2400" dirty="0" smtClean="0">
                <a:latin typeface="Times New Roman" panose="02020603050405020304" pitchFamily="18" charset="0"/>
                <a:cs typeface="Times New Roman" panose="02020603050405020304" pitchFamily="18" charset="0"/>
              </a:rPr>
              <a:t> = 1, …, </a:t>
            </a:r>
            <a:r>
              <a:rPr lang="en-US" altLang="ja-JP" sz="2400" i="1" dirty="0" smtClean="0">
                <a:latin typeface="Times New Roman" panose="02020603050405020304" pitchFamily="18" charset="0"/>
                <a:cs typeface="Times New Roman" panose="02020603050405020304" pitchFamily="18" charset="0"/>
              </a:rPr>
              <a:t>m</a:t>
            </a:r>
            <a:r>
              <a:rPr lang="en-US" altLang="ja-JP" sz="2400" dirty="0" smtClean="0">
                <a:latin typeface="Times New Roman" panose="02020603050405020304" pitchFamily="18" charset="0"/>
                <a:cs typeface="Times New Roman" panose="02020603050405020304" pitchFamily="18" charset="0"/>
              </a:rPr>
              <a:t>}, </a:t>
            </a:r>
            <a:r>
              <a:rPr lang="en-US" altLang="ja-JP" sz="2400" i="1" dirty="0" smtClean="0">
                <a:latin typeface="Times New Roman" panose="02020603050405020304" pitchFamily="18" charset="0"/>
                <a:cs typeface="Times New Roman" panose="02020603050405020304" pitchFamily="18" charset="0"/>
              </a:rPr>
              <a:t>L</a:t>
            </a:r>
            <a:r>
              <a:rPr lang="en-US" altLang="ja-JP" sz="2400" i="1" baseline="-25000" dirty="0" smtClean="0">
                <a:latin typeface="Times New Roman" panose="02020603050405020304" pitchFamily="18" charset="0"/>
                <a:cs typeface="Times New Roman" panose="02020603050405020304" pitchFamily="18" charset="0"/>
              </a:rPr>
              <a:t>i</a:t>
            </a:r>
            <a:r>
              <a:rPr lang="en-US" altLang="ja-JP" sz="2400" dirty="0" smtClean="0">
                <a:latin typeface="Times New Roman" panose="02020603050405020304" pitchFamily="18" charset="0"/>
                <a:cs typeface="Times New Roman" panose="02020603050405020304" pitchFamily="18" charset="0"/>
              </a:rPr>
              <a:t> </a:t>
            </a:r>
            <a:r>
              <a:rPr lang="en-US" altLang="ja-JP" sz="2400"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ja-JP" sz="2400" i="1" dirty="0" smtClean="0">
                <a:latin typeface="Times New Roman" panose="02020603050405020304" pitchFamily="18" charset="0"/>
                <a:cs typeface="Times New Roman" panose="02020603050405020304" pitchFamily="18" charset="0"/>
                <a:sym typeface="Symbol" panose="05050102010706020507" pitchFamily="18" charset="2"/>
              </a:rPr>
              <a:t>L</a:t>
            </a:r>
            <a:endParaRPr lang="en-US" altLang="ja-JP" sz="2400" i="1" dirty="0">
              <a:latin typeface="Times New Roman" panose="02020603050405020304" pitchFamily="18" charset="0"/>
              <a:cs typeface="Times New Roman" panose="02020603050405020304" pitchFamily="18" charset="0"/>
            </a:endParaRPr>
          </a:p>
          <a:p>
            <a:endParaRPr kumimoji="1" lang="en-US" altLang="ja-JP" sz="1400" dirty="0" smtClean="0"/>
          </a:p>
          <a:p>
            <a:pPr marL="514350" indent="-514350">
              <a:buClr>
                <a:schemeClr val="tx1"/>
              </a:buClr>
              <a:buFont typeface="+mj-lt"/>
              <a:buAutoNum type="arabicPeriod" startAt="3"/>
            </a:pPr>
            <a:r>
              <a:rPr kumimoji="1" lang="en-US" altLang="ja-JP" b="1" dirty="0" smtClean="0">
                <a:solidFill>
                  <a:srgbClr val="FF0000"/>
                </a:solidFill>
              </a:rPr>
              <a:t>Classifier Chains</a:t>
            </a:r>
            <a:r>
              <a:rPr kumimoji="1" lang="en-US" altLang="ja-JP" dirty="0" smtClean="0"/>
              <a:t>:</a:t>
            </a:r>
          </a:p>
          <a:p>
            <a:pPr lvl="1"/>
            <a:r>
              <a:rPr lang="en-US" altLang="ja-JP" i="1" dirty="0" smtClean="0">
                <a:latin typeface="Times New Roman" panose="02020603050405020304" pitchFamily="18" charset="0"/>
                <a:cs typeface="Times New Roman" panose="02020603050405020304" pitchFamily="18" charset="0"/>
              </a:rPr>
              <a:t>q</a:t>
            </a:r>
            <a:r>
              <a:rPr lang="ja-JP" altLang="en-US" dirty="0" smtClean="0"/>
              <a:t>個のシングルラベル識別器の学習を連鎖させる．</a:t>
            </a:r>
            <a:endParaRPr lang="en-US" altLang="ja-JP" dirty="0"/>
          </a:p>
          <a:p>
            <a:pPr marL="457200" indent="-457200">
              <a:buFont typeface="+mj-lt"/>
              <a:buAutoNum type="arabicPeriod" startAt="3"/>
            </a:pPr>
            <a:endParaRPr lang="en-US" altLang="ja-JP" dirty="0" smtClean="0"/>
          </a:p>
          <a:p>
            <a:pPr marL="457200" indent="-457200">
              <a:buFont typeface="+mj-lt"/>
              <a:buAutoNum type="arabicPeriod" startAt="3"/>
            </a:pPr>
            <a:endParaRPr lang="en-US" altLang="ja-JP" sz="2400" dirty="0"/>
          </a:p>
          <a:p>
            <a:pPr marL="457200" indent="-457200">
              <a:buClr>
                <a:schemeClr val="tx1"/>
              </a:buClr>
              <a:buFont typeface="+mj-lt"/>
              <a:buAutoNum type="arabicPeriod" startAt="3"/>
            </a:pPr>
            <a:r>
              <a:rPr lang="en-US" altLang="ja-JP" b="1" dirty="0" smtClean="0">
                <a:solidFill>
                  <a:schemeClr val="accent1"/>
                </a:solidFill>
              </a:rPr>
              <a:t>Include Labels Classifier</a:t>
            </a:r>
            <a:r>
              <a:rPr lang="en-US" altLang="ja-JP" dirty="0" smtClean="0"/>
              <a:t>:</a:t>
            </a:r>
          </a:p>
          <a:p>
            <a:pPr lvl="1"/>
            <a:r>
              <a:rPr lang="ja-JP" altLang="en-US" dirty="0" smtClean="0"/>
              <a:t>属性部にラベル名を追加して，</a:t>
            </a:r>
            <a:r>
              <a:rPr lang="en-US" altLang="ja-JP" i="1" dirty="0" smtClean="0">
                <a:latin typeface="Times New Roman" panose="02020603050405020304" pitchFamily="18" charset="0"/>
                <a:cs typeface="Times New Roman" panose="02020603050405020304" pitchFamily="18" charset="0"/>
              </a:rPr>
              <a:t>q</a:t>
            </a:r>
            <a:r>
              <a:rPr lang="ja-JP" altLang="en-US" dirty="0" smtClean="0"/>
              <a:t>個の新たなパターンを生成する．</a:t>
            </a:r>
            <a:endParaRPr lang="en-US" altLang="ja-JP" dirty="0"/>
          </a:p>
        </p:txBody>
      </p:sp>
      <p:sp>
        <p:nvSpPr>
          <p:cNvPr id="7" name="角丸四角形 6"/>
          <p:cNvSpPr/>
          <p:nvPr/>
        </p:nvSpPr>
        <p:spPr>
          <a:xfrm>
            <a:off x="228600" y="1371600"/>
            <a:ext cx="8686800" cy="1476375"/>
          </a:xfrm>
          <a:prstGeom prst="roundRect">
            <a:avLst>
              <a:gd name="adj" fmla="val 1021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p:cNvSpPr>
            <a:spLocks noGrp="1"/>
          </p:cNvSpPr>
          <p:nvPr>
            <p:ph type="title"/>
          </p:nvPr>
        </p:nvSpPr>
        <p:spPr/>
        <p:txBody>
          <a:bodyPr/>
          <a:lstStyle/>
          <a:p>
            <a:r>
              <a:rPr lang="ja-JP" altLang="en-US" dirty="0" smtClean="0"/>
              <a:t>マルチラベル識別問題</a:t>
            </a:r>
            <a:endParaRPr kumimoji="1" lang="ja-JP" altLang="en-US" dirty="0"/>
          </a:p>
        </p:txBody>
      </p:sp>
      <p:sp>
        <p:nvSpPr>
          <p:cNvPr id="4" name="スライド番号プレースホルダー 3"/>
          <p:cNvSpPr>
            <a:spLocks noGrp="1"/>
          </p:cNvSpPr>
          <p:nvPr>
            <p:ph type="sldNum" sz="quarter" idx="12"/>
          </p:nvPr>
        </p:nvSpPr>
        <p:spPr/>
        <p:txBody>
          <a:bodyPr/>
          <a:lstStyle/>
          <a:p>
            <a:r>
              <a:rPr kumimoji="1" lang="en-US" altLang="ja-JP" smtClean="0"/>
              <a:t>6/21</a:t>
            </a:r>
            <a:endParaRPr kumimoji="1" lang="ja-JP" altLang="en-US"/>
          </a:p>
        </p:txBody>
      </p:sp>
      <p:sp>
        <p:nvSpPr>
          <p:cNvPr id="5" name="テキスト プレースホルダー 4"/>
          <p:cNvSpPr>
            <a:spLocks noGrp="1"/>
          </p:cNvSpPr>
          <p:nvPr>
            <p:ph type="body" sz="quarter" idx="13"/>
          </p:nvPr>
        </p:nvSpPr>
        <p:spPr/>
        <p:txBody>
          <a:bodyPr/>
          <a:lstStyle/>
          <a:p>
            <a:r>
              <a:rPr kumimoji="1" lang="en-US" altLang="ja-JP" dirty="0" smtClean="0"/>
              <a:t>4</a:t>
            </a:r>
            <a:r>
              <a:rPr kumimoji="1" lang="ja-JP" altLang="en-US" dirty="0" err="1" smtClean="0"/>
              <a:t>つの</a:t>
            </a:r>
            <a:r>
              <a:rPr kumimoji="1" lang="ja-JP" altLang="en-US" dirty="0" smtClean="0"/>
              <a:t>問題変換法</a:t>
            </a:r>
            <a:endParaRPr kumimoji="1" lang="ja-JP" altLang="en-US" dirty="0"/>
          </a:p>
        </p:txBody>
      </p:sp>
      <p:sp>
        <p:nvSpPr>
          <p:cNvPr id="6" name="テキスト ボックス 5"/>
          <p:cNvSpPr txBox="1"/>
          <p:nvPr/>
        </p:nvSpPr>
        <p:spPr>
          <a:xfrm>
            <a:off x="228600" y="1371600"/>
            <a:ext cx="4330032" cy="461665"/>
          </a:xfrm>
          <a:prstGeom prst="rect">
            <a:avLst/>
          </a:prstGeom>
          <a:solidFill>
            <a:schemeClr val="bg1"/>
          </a:solidFill>
          <a:ln w="19050">
            <a:solidFill>
              <a:schemeClr val="tx1"/>
            </a:solidFill>
          </a:ln>
        </p:spPr>
        <p:txBody>
          <a:bodyPr wrap="none" rtlCol="0">
            <a:spAutoFit/>
          </a:bodyPr>
          <a:lstStyle/>
          <a:p>
            <a:pPr algn="ctr"/>
            <a:r>
              <a:rPr kumimoji="1" lang="ja-JP" altLang="en-US" sz="2400" dirty="0" smtClean="0"/>
              <a:t>マルチラベル識別問題での定義</a:t>
            </a:r>
          </a:p>
        </p:txBody>
      </p:sp>
      <p:sp>
        <p:nvSpPr>
          <p:cNvPr id="15" name="角丸四角形 14"/>
          <p:cNvSpPr/>
          <p:nvPr/>
        </p:nvSpPr>
        <p:spPr>
          <a:xfrm>
            <a:off x="1209675" y="4429123"/>
            <a:ext cx="1374068" cy="390525"/>
          </a:xfrm>
          <a:prstGeom prst="roundRect">
            <a:avLst/>
          </a:prstGeom>
          <a:solidFill>
            <a:schemeClr val="accent2">
              <a:lumMod val="20000"/>
              <a:lumOff val="8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kumimoji="1" lang="en-US" altLang="ja-JP" dirty="0" smtClean="0">
                <a:solidFill>
                  <a:sysClr val="windowText" lastClr="000000"/>
                </a:solidFill>
              </a:rPr>
              <a:t>Classifier 1</a:t>
            </a:r>
            <a:endParaRPr kumimoji="1" lang="ja-JP" altLang="en-US" dirty="0">
              <a:solidFill>
                <a:sysClr val="windowText" lastClr="000000"/>
              </a:solidFill>
            </a:endParaRPr>
          </a:p>
        </p:txBody>
      </p:sp>
      <p:sp>
        <p:nvSpPr>
          <p:cNvPr id="35" name="正方形/長方形 34"/>
          <p:cNvSpPr/>
          <p:nvPr/>
        </p:nvSpPr>
        <p:spPr>
          <a:xfrm>
            <a:off x="595313" y="4126705"/>
            <a:ext cx="414337" cy="3476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b="1" dirty="0" smtClean="0">
                <a:solidFill>
                  <a:sysClr val="windowText" lastClr="000000"/>
                </a:solidFill>
                <a:latin typeface="Times New Roman" panose="02020603050405020304" pitchFamily="18" charset="0"/>
                <a:cs typeface="Times New Roman" panose="02020603050405020304" pitchFamily="18" charset="0"/>
              </a:rPr>
              <a:t>x</a:t>
            </a:r>
            <a:r>
              <a:rPr lang="en-US" altLang="ja-JP" i="1" baseline="-25000" dirty="0" smtClean="0">
                <a:solidFill>
                  <a:sysClr val="windowText" lastClr="000000"/>
                </a:solidFill>
                <a:latin typeface="Times New Roman" panose="02020603050405020304" pitchFamily="18" charset="0"/>
                <a:cs typeface="Times New Roman" panose="02020603050405020304" pitchFamily="18" charset="0"/>
              </a:rPr>
              <a:t>i</a:t>
            </a:r>
            <a:endParaRPr kumimoji="1" lang="ja-JP" altLang="en-US" i="1" baseline="-25000" dirty="0">
              <a:solidFill>
                <a:sysClr val="windowText" lastClr="000000"/>
              </a:solidFill>
              <a:latin typeface="Times New Roman" panose="02020603050405020304" pitchFamily="18" charset="0"/>
              <a:cs typeface="Times New Roman" panose="02020603050405020304" pitchFamily="18" charset="0"/>
            </a:endParaRPr>
          </a:p>
        </p:txBody>
      </p:sp>
      <p:cxnSp>
        <p:nvCxnSpPr>
          <p:cNvPr id="17" name="直線矢印コネクタ 16"/>
          <p:cNvCxnSpPr>
            <a:stCxn id="35" idx="3"/>
            <a:endCxn id="15" idx="1"/>
          </p:cNvCxnSpPr>
          <p:nvPr/>
        </p:nvCxnSpPr>
        <p:spPr>
          <a:xfrm>
            <a:off x="1009650" y="4300537"/>
            <a:ext cx="200025" cy="32384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角丸四角形 36"/>
          <p:cNvSpPr/>
          <p:nvPr/>
        </p:nvSpPr>
        <p:spPr>
          <a:xfrm>
            <a:off x="3671713" y="4429121"/>
            <a:ext cx="1374068" cy="390525"/>
          </a:xfrm>
          <a:prstGeom prst="roundRect">
            <a:avLst/>
          </a:prstGeom>
          <a:solidFill>
            <a:schemeClr val="accent2">
              <a:lumMod val="20000"/>
              <a:lumOff val="8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kumimoji="1" lang="en-US" altLang="ja-JP" dirty="0" smtClean="0">
                <a:solidFill>
                  <a:sysClr val="windowText" lastClr="000000"/>
                </a:solidFill>
              </a:rPr>
              <a:t>Classifier 2</a:t>
            </a:r>
            <a:endParaRPr kumimoji="1" lang="ja-JP" altLang="en-US" dirty="0">
              <a:solidFill>
                <a:sysClr val="windowText" lastClr="000000"/>
              </a:solidFill>
            </a:endParaRPr>
          </a:p>
        </p:txBody>
      </p:sp>
      <p:sp>
        <p:nvSpPr>
          <p:cNvPr id="38" name="角丸四角形 37"/>
          <p:cNvSpPr/>
          <p:nvPr/>
        </p:nvSpPr>
        <p:spPr>
          <a:xfrm>
            <a:off x="6522157" y="4429121"/>
            <a:ext cx="1374068" cy="390525"/>
          </a:xfrm>
          <a:prstGeom prst="roundRect">
            <a:avLst/>
          </a:prstGeom>
          <a:solidFill>
            <a:schemeClr val="accent2">
              <a:lumMod val="20000"/>
              <a:lumOff val="8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kumimoji="1" lang="en-US" altLang="ja-JP" dirty="0" smtClean="0">
                <a:solidFill>
                  <a:sysClr val="windowText" lastClr="000000"/>
                </a:solidFill>
              </a:rPr>
              <a:t>Classifier </a:t>
            </a:r>
            <a:r>
              <a:rPr kumimoji="1" lang="en-US" altLang="ja-JP" i="1" dirty="0" smtClean="0">
                <a:solidFill>
                  <a:sysClr val="windowText" lastClr="000000"/>
                </a:solidFill>
                <a:latin typeface="Times New Roman" panose="02020603050405020304" pitchFamily="18" charset="0"/>
                <a:cs typeface="Times New Roman" panose="02020603050405020304" pitchFamily="18" charset="0"/>
              </a:rPr>
              <a:t>q</a:t>
            </a:r>
            <a:endParaRPr kumimoji="1" lang="ja-JP" altLang="en-US" i="1" dirty="0">
              <a:solidFill>
                <a:sysClr val="windowText" lastClr="000000"/>
              </a:solidFill>
              <a:latin typeface="Times New Roman" panose="02020603050405020304" pitchFamily="18" charset="0"/>
              <a:cs typeface="Times New Roman" panose="02020603050405020304" pitchFamily="18" charset="0"/>
            </a:endParaRPr>
          </a:p>
        </p:txBody>
      </p:sp>
      <p:sp>
        <p:nvSpPr>
          <p:cNvPr id="39" name="正方形/長方形 38"/>
          <p:cNvSpPr/>
          <p:nvPr/>
        </p:nvSpPr>
        <p:spPr>
          <a:xfrm>
            <a:off x="2847974" y="4450553"/>
            <a:ext cx="657225" cy="3476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i="1" dirty="0" smtClean="0">
                <a:solidFill>
                  <a:sysClr val="windowText" lastClr="000000"/>
                </a:solidFill>
                <a:latin typeface="Times New Roman" panose="02020603050405020304" pitchFamily="18" charset="0"/>
                <a:cs typeface="Times New Roman" panose="02020603050405020304" pitchFamily="18" charset="0"/>
              </a:rPr>
              <a:t>l</a:t>
            </a:r>
            <a:r>
              <a:rPr lang="en-US" altLang="ja-JP" baseline="-25000" dirty="0" smtClean="0">
                <a:solidFill>
                  <a:sysClr val="windowText" lastClr="000000"/>
                </a:solidFill>
                <a:latin typeface="Times New Roman" panose="02020603050405020304" pitchFamily="18" charset="0"/>
                <a:cs typeface="Times New Roman" panose="02020603050405020304" pitchFamily="18" charset="0"/>
              </a:rPr>
              <a:t>1</a:t>
            </a:r>
            <a:r>
              <a:rPr lang="en-US" altLang="ja-JP" dirty="0" smtClean="0">
                <a:solidFill>
                  <a:sysClr val="windowText" lastClr="000000"/>
                </a:solidFill>
                <a:latin typeface="Times New Roman" panose="02020603050405020304" pitchFamily="18" charset="0"/>
                <a:cs typeface="Times New Roman" panose="02020603050405020304" pitchFamily="18" charset="0"/>
              </a:rPr>
              <a:t>= 0</a:t>
            </a:r>
            <a:endParaRPr lang="ja-JP" altLang="en-US" baseline="-25000" dirty="0">
              <a:solidFill>
                <a:sysClr val="windowText" lastClr="000000"/>
              </a:solidFill>
              <a:latin typeface="Times New Roman" panose="02020603050405020304" pitchFamily="18" charset="0"/>
              <a:cs typeface="Times New Roman" panose="02020603050405020304" pitchFamily="18" charset="0"/>
            </a:endParaRPr>
          </a:p>
        </p:txBody>
      </p:sp>
      <p:cxnSp>
        <p:nvCxnSpPr>
          <p:cNvPr id="40" name="直線矢印コネクタ 39"/>
          <p:cNvCxnSpPr>
            <a:stCxn id="15" idx="3"/>
            <a:endCxn id="39" idx="1"/>
          </p:cNvCxnSpPr>
          <p:nvPr/>
        </p:nvCxnSpPr>
        <p:spPr>
          <a:xfrm flipV="1">
            <a:off x="2583743" y="4624385"/>
            <a:ext cx="264231" cy="1"/>
          </a:xfrm>
          <a:prstGeom prst="straightConnector1">
            <a:avLst/>
          </a:prstGeom>
          <a:ln w="2857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45" name="カギ線コネクタ 44"/>
          <p:cNvCxnSpPr>
            <a:stCxn id="35" idx="3"/>
            <a:endCxn id="37" idx="0"/>
          </p:cNvCxnSpPr>
          <p:nvPr/>
        </p:nvCxnSpPr>
        <p:spPr>
          <a:xfrm>
            <a:off x="1009650" y="4300537"/>
            <a:ext cx="3349097" cy="128584"/>
          </a:xfrm>
          <a:prstGeom prst="bentConnector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線矢印コネクタ 45"/>
          <p:cNvCxnSpPr>
            <a:stCxn id="39" idx="3"/>
            <a:endCxn id="37" idx="1"/>
          </p:cNvCxnSpPr>
          <p:nvPr/>
        </p:nvCxnSpPr>
        <p:spPr>
          <a:xfrm flipV="1">
            <a:off x="3505199" y="4624384"/>
            <a:ext cx="166514"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正方形/長方形 51"/>
          <p:cNvSpPr/>
          <p:nvPr/>
        </p:nvSpPr>
        <p:spPr>
          <a:xfrm>
            <a:off x="5290962" y="4450552"/>
            <a:ext cx="657225" cy="3476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i="1" dirty="0" smtClean="0">
                <a:solidFill>
                  <a:sysClr val="windowText" lastClr="000000"/>
                </a:solidFill>
                <a:latin typeface="Times New Roman" panose="02020603050405020304" pitchFamily="18" charset="0"/>
                <a:cs typeface="Times New Roman" panose="02020603050405020304" pitchFamily="18" charset="0"/>
              </a:rPr>
              <a:t>l</a:t>
            </a:r>
            <a:r>
              <a:rPr lang="en-US" altLang="ja-JP" baseline="-25000" dirty="0" smtClean="0">
                <a:solidFill>
                  <a:sysClr val="windowText" lastClr="000000"/>
                </a:solidFill>
                <a:latin typeface="Times New Roman" panose="02020603050405020304" pitchFamily="18" charset="0"/>
                <a:cs typeface="Times New Roman" panose="02020603050405020304" pitchFamily="18" charset="0"/>
              </a:rPr>
              <a:t>2</a:t>
            </a:r>
            <a:r>
              <a:rPr lang="en-US" altLang="ja-JP" dirty="0" smtClean="0">
                <a:solidFill>
                  <a:sysClr val="windowText" lastClr="000000"/>
                </a:solidFill>
                <a:latin typeface="Times New Roman" panose="02020603050405020304" pitchFamily="18" charset="0"/>
                <a:cs typeface="Times New Roman" panose="02020603050405020304" pitchFamily="18" charset="0"/>
              </a:rPr>
              <a:t>= </a:t>
            </a:r>
            <a:r>
              <a:rPr lang="en-US" altLang="ja-JP" dirty="0">
                <a:solidFill>
                  <a:sysClr val="windowText" lastClr="000000"/>
                </a:solidFill>
                <a:latin typeface="Times New Roman" panose="02020603050405020304" pitchFamily="18" charset="0"/>
                <a:cs typeface="Times New Roman" panose="02020603050405020304" pitchFamily="18" charset="0"/>
              </a:rPr>
              <a:t>1</a:t>
            </a:r>
            <a:endParaRPr lang="ja-JP" altLang="en-US" baseline="-25000" dirty="0">
              <a:solidFill>
                <a:sysClr val="windowText" lastClr="000000"/>
              </a:solidFill>
              <a:latin typeface="Times New Roman" panose="02020603050405020304" pitchFamily="18" charset="0"/>
              <a:cs typeface="Times New Roman" panose="02020603050405020304" pitchFamily="18" charset="0"/>
            </a:endParaRPr>
          </a:p>
        </p:txBody>
      </p:sp>
      <p:cxnSp>
        <p:nvCxnSpPr>
          <p:cNvPr id="53" name="直線矢印コネクタ 52"/>
          <p:cNvCxnSpPr>
            <a:stCxn id="37" idx="3"/>
            <a:endCxn id="52" idx="1"/>
          </p:cNvCxnSpPr>
          <p:nvPr/>
        </p:nvCxnSpPr>
        <p:spPr>
          <a:xfrm>
            <a:off x="5045781" y="4624384"/>
            <a:ext cx="245181" cy="0"/>
          </a:xfrm>
          <a:prstGeom prst="straightConnector1">
            <a:avLst/>
          </a:prstGeom>
          <a:ln w="2857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55" name="カギ線コネクタ 54"/>
          <p:cNvCxnSpPr>
            <a:stCxn id="35" idx="3"/>
            <a:endCxn id="38" idx="0"/>
          </p:cNvCxnSpPr>
          <p:nvPr/>
        </p:nvCxnSpPr>
        <p:spPr>
          <a:xfrm>
            <a:off x="1009650" y="4300537"/>
            <a:ext cx="6199541" cy="128584"/>
          </a:xfrm>
          <a:prstGeom prst="bentConnector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8" name="テキスト ボックス 57"/>
          <p:cNvSpPr txBox="1"/>
          <p:nvPr/>
        </p:nvSpPr>
        <p:spPr>
          <a:xfrm>
            <a:off x="5900564" y="4151884"/>
            <a:ext cx="646331" cy="646331"/>
          </a:xfrm>
          <a:prstGeom prst="rect">
            <a:avLst/>
          </a:prstGeom>
          <a:noFill/>
        </p:spPr>
        <p:txBody>
          <a:bodyPr wrap="none" rtlCol="0">
            <a:spAutoFit/>
          </a:bodyPr>
          <a:lstStyle/>
          <a:p>
            <a:pPr algn="ctr"/>
            <a:r>
              <a:rPr kumimoji="1" lang="en-US" altLang="ja-JP" sz="3600" dirty="0" smtClean="0"/>
              <a:t>…</a:t>
            </a:r>
            <a:endParaRPr kumimoji="1" lang="ja-JP" altLang="en-US" sz="3600" dirty="0" smtClean="0"/>
          </a:p>
        </p:txBody>
      </p:sp>
      <p:sp>
        <p:nvSpPr>
          <p:cNvPr id="59" name="正方形/長方形 58"/>
          <p:cNvSpPr/>
          <p:nvPr/>
        </p:nvSpPr>
        <p:spPr>
          <a:xfrm>
            <a:off x="8148463" y="4448167"/>
            <a:ext cx="657225" cy="3476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i="1" dirty="0" err="1" smtClean="0">
                <a:solidFill>
                  <a:sysClr val="windowText" lastClr="000000"/>
                </a:solidFill>
                <a:latin typeface="Times New Roman" panose="02020603050405020304" pitchFamily="18" charset="0"/>
                <a:cs typeface="Times New Roman" panose="02020603050405020304" pitchFamily="18" charset="0"/>
              </a:rPr>
              <a:t>l</a:t>
            </a:r>
            <a:r>
              <a:rPr lang="en-US" altLang="ja-JP" i="1" baseline="-25000" dirty="0" err="1" smtClean="0">
                <a:solidFill>
                  <a:sysClr val="windowText" lastClr="000000"/>
                </a:solidFill>
                <a:latin typeface="Times New Roman" panose="02020603050405020304" pitchFamily="18" charset="0"/>
                <a:cs typeface="Times New Roman" panose="02020603050405020304" pitchFamily="18" charset="0"/>
              </a:rPr>
              <a:t>q</a:t>
            </a:r>
            <a:r>
              <a:rPr lang="en-US" altLang="ja-JP" dirty="0" smtClean="0">
                <a:solidFill>
                  <a:sysClr val="windowText" lastClr="000000"/>
                </a:solidFill>
                <a:latin typeface="Times New Roman" panose="02020603050405020304" pitchFamily="18" charset="0"/>
                <a:cs typeface="Times New Roman" panose="02020603050405020304" pitchFamily="18" charset="0"/>
              </a:rPr>
              <a:t>= </a:t>
            </a:r>
            <a:r>
              <a:rPr lang="en-US" altLang="ja-JP" dirty="0">
                <a:solidFill>
                  <a:sysClr val="windowText" lastClr="000000"/>
                </a:solidFill>
                <a:latin typeface="Times New Roman" panose="02020603050405020304" pitchFamily="18" charset="0"/>
                <a:cs typeface="Times New Roman" panose="02020603050405020304" pitchFamily="18" charset="0"/>
              </a:rPr>
              <a:t>1</a:t>
            </a:r>
            <a:endParaRPr lang="ja-JP" altLang="en-US" baseline="-25000" dirty="0">
              <a:solidFill>
                <a:sysClr val="windowText" lastClr="000000"/>
              </a:solidFill>
              <a:latin typeface="Times New Roman" panose="02020603050405020304" pitchFamily="18" charset="0"/>
              <a:cs typeface="Times New Roman" panose="02020603050405020304" pitchFamily="18" charset="0"/>
            </a:endParaRPr>
          </a:p>
        </p:txBody>
      </p:sp>
      <p:cxnSp>
        <p:nvCxnSpPr>
          <p:cNvPr id="60" name="直線矢印コネクタ 59"/>
          <p:cNvCxnSpPr>
            <a:stCxn id="38" idx="3"/>
            <a:endCxn id="59" idx="1"/>
          </p:cNvCxnSpPr>
          <p:nvPr/>
        </p:nvCxnSpPr>
        <p:spPr>
          <a:xfrm flipV="1">
            <a:off x="7896225" y="4621999"/>
            <a:ext cx="252238" cy="2385"/>
          </a:xfrm>
          <a:prstGeom prst="straightConnector1">
            <a:avLst/>
          </a:prstGeom>
          <a:ln w="2857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1" name="正方形/長方形 70"/>
          <p:cNvSpPr/>
          <p:nvPr/>
        </p:nvSpPr>
        <p:spPr>
          <a:xfrm>
            <a:off x="1415656" y="6117431"/>
            <a:ext cx="476250" cy="4191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solidFill>
                  <a:sysClr val="windowText" lastClr="000000"/>
                </a:solidFill>
                <a:latin typeface="Times New Roman" panose="02020603050405020304" pitchFamily="18" charset="0"/>
                <a:cs typeface="Times New Roman" panose="02020603050405020304" pitchFamily="18" charset="0"/>
              </a:rPr>
              <a:t>1</a:t>
            </a:r>
            <a:endParaRPr kumimoji="1" lang="ja-JP"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72" name="正方形/長方形 71"/>
          <p:cNvSpPr/>
          <p:nvPr/>
        </p:nvSpPr>
        <p:spPr>
          <a:xfrm>
            <a:off x="1891906" y="6117431"/>
            <a:ext cx="476250" cy="4191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smtClean="0">
                <a:solidFill>
                  <a:sysClr val="windowText" lastClr="000000"/>
                </a:solidFill>
                <a:latin typeface="Times New Roman" panose="02020603050405020304" pitchFamily="18" charset="0"/>
                <a:cs typeface="Times New Roman" panose="02020603050405020304" pitchFamily="18" charset="0"/>
              </a:rPr>
              <a:t>0</a:t>
            </a:r>
            <a:endParaRPr lang="ja-JP" altLang="en-US" baseline="-25000" dirty="0">
              <a:solidFill>
                <a:sysClr val="windowText" lastClr="000000"/>
              </a:solidFill>
              <a:latin typeface="Times New Roman" panose="02020603050405020304" pitchFamily="18" charset="0"/>
              <a:cs typeface="Times New Roman" panose="02020603050405020304" pitchFamily="18" charset="0"/>
            </a:endParaRPr>
          </a:p>
        </p:txBody>
      </p:sp>
      <p:sp>
        <p:nvSpPr>
          <p:cNvPr id="73" name="正方形/長方形 72"/>
          <p:cNvSpPr/>
          <p:nvPr/>
        </p:nvSpPr>
        <p:spPr>
          <a:xfrm>
            <a:off x="2368156" y="6117431"/>
            <a:ext cx="476250" cy="4191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solidFill>
                  <a:sysClr val="windowText" lastClr="000000"/>
                </a:solidFill>
                <a:latin typeface="Times New Roman" panose="02020603050405020304" pitchFamily="18" charset="0"/>
                <a:cs typeface="Times New Roman" panose="02020603050405020304" pitchFamily="18" charset="0"/>
              </a:rPr>
              <a:t>1</a:t>
            </a:r>
            <a:endParaRPr lang="ja-JP" altLang="en-US" baseline="-25000" dirty="0">
              <a:solidFill>
                <a:sysClr val="windowText" lastClr="000000"/>
              </a:solidFill>
              <a:latin typeface="Times New Roman" panose="02020603050405020304" pitchFamily="18" charset="0"/>
              <a:cs typeface="Times New Roman" panose="02020603050405020304" pitchFamily="18" charset="0"/>
            </a:endParaRPr>
          </a:p>
        </p:txBody>
      </p:sp>
      <p:sp>
        <p:nvSpPr>
          <p:cNvPr id="74" name="右矢印 73"/>
          <p:cNvSpPr/>
          <p:nvPr/>
        </p:nvSpPr>
        <p:spPr>
          <a:xfrm>
            <a:off x="3695106" y="5930231"/>
            <a:ext cx="304800" cy="793500"/>
          </a:xfrm>
          <a:prstGeom prst="rightArrow">
            <a:avLst/>
          </a:prstGeom>
          <a:solidFill>
            <a:schemeClr val="bg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 name="正方形/長方形 76"/>
          <p:cNvSpPr/>
          <p:nvPr/>
        </p:nvSpPr>
        <p:spPr>
          <a:xfrm>
            <a:off x="5795965" y="5909074"/>
            <a:ext cx="476250" cy="4191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solidFill>
                  <a:sysClr val="windowText" lastClr="000000"/>
                </a:solidFill>
                <a:latin typeface="Times New Roman" panose="02020603050405020304" pitchFamily="18" charset="0"/>
                <a:cs typeface="Times New Roman" panose="02020603050405020304" pitchFamily="18" charset="0"/>
              </a:rPr>
              <a:t>1</a:t>
            </a:r>
            <a:endParaRPr lang="ja-JP"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75" name="正方形/長方形 74"/>
          <p:cNvSpPr/>
          <p:nvPr/>
        </p:nvSpPr>
        <p:spPr>
          <a:xfrm>
            <a:off x="4267202" y="5909074"/>
            <a:ext cx="1052512" cy="419100"/>
          </a:xfrm>
          <a:prstGeom prst="rect">
            <a:avLst/>
          </a:prstGeom>
          <a:solidFill>
            <a:schemeClr val="accent1">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b="1" dirty="0" smtClean="0">
                <a:solidFill>
                  <a:sysClr val="windowText" lastClr="000000"/>
                </a:solidFill>
                <a:latin typeface="Times New Roman" panose="02020603050405020304" pitchFamily="18" charset="0"/>
                <a:cs typeface="Times New Roman" panose="02020603050405020304" pitchFamily="18" charset="0"/>
              </a:rPr>
              <a:t>x</a:t>
            </a:r>
            <a:r>
              <a:rPr lang="en-US" altLang="ja-JP" i="1" baseline="-25000" dirty="0" smtClean="0">
                <a:solidFill>
                  <a:sysClr val="windowText" lastClr="000000"/>
                </a:solidFill>
                <a:latin typeface="Times New Roman" panose="02020603050405020304" pitchFamily="18" charset="0"/>
                <a:cs typeface="Times New Roman" panose="02020603050405020304" pitchFamily="18" charset="0"/>
              </a:rPr>
              <a:t>i</a:t>
            </a:r>
            <a:endParaRPr kumimoji="1" lang="ja-JP" altLang="en-US" i="1" baseline="-25000" dirty="0">
              <a:solidFill>
                <a:sysClr val="windowText" lastClr="000000"/>
              </a:solidFill>
              <a:latin typeface="Times New Roman" panose="02020603050405020304" pitchFamily="18" charset="0"/>
              <a:cs typeface="Times New Roman" panose="02020603050405020304" pitchFamily="18" charset="0"/>
            </a:endParaRPr>
          </a:p>
        </p:txBody>
      </p:sp>
      <p:sp>
        <p:nvSpPr>
          <p:cNvPr id="76" name="正方形/長方形 75"/>
          <p:cNvSpPr/>
          <p:nvPr/>
        </p:nvSpPr>
        <p:spPr>
          <a:xfrm>
            <a:off x="5319715" y="5909074"/>
            <a:ext cx="476250" cy="419100"/>
          </a:xfrm>
          <a:prstGeom prst="rect">
            <a:avLst/>
          </a:prstGeom>
          <a:solidFill>
            <a:schemeClr val="accent1">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i="1" dirty="0" smtClean="0">
                <a:solidFill>
                  <a:sysClr val="windowText" lastClr="000000"/>
                </a:solidFill>
                <a:latin typeface="Times New Roman" panose="02020603050405020304" pitchFamily="18" charset="0"/>
                <a:cs typeface="Times New Roman" panose="02020603050405020304" pitchFamily="18" charset="0"/>
              </a:rPr>
              <a:t>l</a:t>
            </a:r>
            <a:r>
              <a:rPr lang="en-US" altLang="ja-JP" baseline="-25000" dirty="0" smtClean="0">
                <a:solidFill>
                  <a:sysClr val="windowText" lastClr="000000"/>
                </a:solidFill>
                <a:latin typeface="Times New Roman" panose="02020603050405020304" pitchFamily="18" charset="0"/>
                <a:cs typeface="Times New Roman" panose="02020603050405020304" pitchFamily="18" charset="0"/>
              </a:rPr>
              <a:t>1</a:t>
            </a:r>
            <a:endParaRPr kumimoji="1" lang="ja-JP" altLang="en-US" baseline="-25000" dirty="0">
              <a:solidFill>
                <a:sysClr val="windowText" lastClr="000000"/>
              </a:solidFill>
              <a:latin typeface="Times New Roman" panose="02020603050405020304" pitchFamily="18" charset="0"/>
              <a:cs typeface="Times New Roman" panose="02020603050405020304" pitchFamily="18" charset="0"/>
            </a:endParaRPr>
          </a:p>
        </p:txBody>
      </p:sp>
      <p:sp>
        <p:nvSpPr>
          <p:cNvPr id="70" name="正方形/長方形 69"/>
          <p:cNvSpPr/>
          <p:nvPr/>
        </p:nvSpPr>
        <p:spPr>
          <a:xfrm>
            <a:off x="363143" y="6117431"/>
            <a:ext cx="1052512" cy="419100"/>
          </a:xfrm>
          <a:prstGeom prst="rect">
            <a:avLst/>
          </a:prstGeom>
          <a:solidFill>
            <a:schemeClr val="accent1">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b="1" dirty="0" smtClean="0">
                <a:solidFill>
                  <a:sysClr val="windowText" lastClr="000000"/>
                </a:solidFill>
                <a:latin typeface="Times New Roman" panose="02020603050405020304" pitchFamily="18" charset="0"/>
                <a:cs typeface="Times New Roman" panose="02020603050405020304" pitchFamily="18" charset="0"/>
              </a:rPr>
              <a:t>x</a:t>
            </a:r>
            <a:r>
              <a:rPr lang="en-US" altLang="ja-JP" i="1" baseline="-25000" dirty="0" smtClean="0">
                <a:solidFill>
                  <a:sysClr val="windowText" lastClr="000000"/>
                </a:solidFill>
                <a:latin typeface="Times New Roman" panose="02020603050405020304" pitchFamily="18" charset="0"/>
                <a:cs typeface="Times New Roman" panose="02020603050405020304" pitchFamily="18" charset="0"/>
              </a:rPr>
              <a:t>i</a:t>
            </a:r>
            <a:endParaRPr kumimoji="1" lang="ja-JP" altLang="en-US" i="1" baseline="-25000" dirty="0">
              <a:solidFill>
                <a:sysClr val="windowText" lastClr="000000"/>
              </a:solidFill>
              <a:latin typeface="Times New Roman" panose="02020603050405020304" pitchFamily="18" charset="0"/>
              <a:cs typeface="Times New Roman" panose="02020603050405020304" pitchFamily="18" charset="0"/>
            </a:endParaRPr>
          </a:p>
        </p:txBody>
      </p:sp>
      <p:sp>
        <p:nvSpPr>
          <p:cNvPr id="78" name="正方形/長方形 77"/>
          <p:cNvSpPr/>
          <p:nvPr/>
        </p:nvSpPr>
        <p:spPr>
          <a:xfrm>
            <a:off x="5795965" y="6393805"/>
            <a:ext cx="476250" cy="4191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smtClean="0">
                <a:solidFill>
                  <a:sysClr val="windowText" lastClr="000000"/>
                </a:solidFill>
                <a:latin typeface="Times New Roman" panose="02020603050405020304" pitchFamily="18" charset="0"/>
                <a:cs typeface="Times New Roman" panose="02020603050405020304" pitchFamily="18" charset="0"/>
              </a:rPr>
              <a:t>0</a:t>
            </a:r>
            <a:endParaRPr lang="ja-JP"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79" name="正方形/長方形 78"/>
          <p:cNvSpPr/>
          <p:nvPr/>
        </p:nvSpPr>
        <p:spPr>
          <a:xfrm>
            <a:off x="4267202" y="6393805"/>
            <a:ext cx="1052512" cy="419100"/>
          </a:xfrm>
          <a:prstGeom prst="rect">
            <a:avLst/>
          </a:prstGeom>
          <a:solidFill>
            <a:schemeClr val="accent1">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b="1" dirty="0" smtClean="0">
                <a:solidFill>
                  <a:sysClr val="windowText" lastClr="000000"/>
                </a:solidFill>
                <a:latin typeface="Times New Roman" panose="02020603050405020304" pitchFamily="18" charset="0"/>
                <a:cs typeface="Times New Roman" panose="02020603050405020304" pitchFamily="18" charset="0"/>
              </a:rPr>
              <a:t>x</a:t>
            </a:r>
            <a:r>
              <a:rPr lang="en-US" altLang="ja-JP" i="1" baseline="-25000" dirty="0" smtClean="0">
                <a:solidFill>
                  <a:sysClr val="windowText" lastClr="000000"/>
                </a:solidFill>
                <a:latin typeface="Times New Roman" panose="02020603050405020304" pitchFamily="18" charset="0"/>
                <a:cs typeface="Times New Roman" panose="02020603050405020304" pitchFamily="18" charset="0"/>
              </a:rPr>
              <a:t>i</a:t>
            </a:r>
            <a:endParaRPr kumimoji="1" lang="ja-JP" altLang="en-US" i="1" baseline="-25000" dirty="0">
              <a:solidFill>
                <a:sysClr val="windowText" lastClr="000000"/>
              </a:solidFill>
              <a:latin typeface="Times New Roman" panose="02020603050405020304" pitchFamily="18" charset="0"/>
              <a:cs typeface="Times New Roman" panose="02020603050405020304" pitchFamily="18" charset="0"/>
            </a:endParaRPr>
          </a:p>
        </p:txBody>
      </p:sp>
      <p:sp>
        <p:nvSpPr>
          <p:cNvPr id="80" name="正方形/長方形 79"/>
          <p:cNvSpPr/>
          <p:nvPr/>
        </p:nvSpPr>
        <p:spPr>
          <a:xfrm>
            <a:off x="5319715" y="6393805"/>
            <a:ext cx="476250" cy="419100"/>
          </a:xfrm>
          <a:prstGeom prst="rect">
            <a:avLst/>
          </a:prstGeom>
          <a:solidFill>
            <a:schemeClr val="accent1">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i="1" dirty="0" smtClean="0">
                <a:solidFill>
                  <a:sysClr val="windowText" lastClr="000000"/>
                </a:solidFill>
                <a:latin typeface="Times New Roman" panose="02020603050405020304" pitchFamily="18" charset="0"/>
                <a:cs typeface="Times New Roman" panose="02020603050405020304" pitchFamily="18" charset="0"/>
              </a:rPr>
              <a:t>l</a:t>
            </a:r>
            <a:r>
              <a:rPr lang="en-US" altLang="ja-JP" baseline="-25000" dirty="0" smtClean="0">
                <a:solidFill>
                  <a:sysClr val="windowText" lastClr="000000"/>
                </a:solidFill>
                <a:latin typeface="Times New Roman" panose="02020603050405020304" pitchFamily="18" charset="0"/>
                <a:cs typeface="Times New Roman" panose="02020603050405020304" pitchFamily="18" charset="0"/>
              </a:rPr>
              <a:t>2</a:t>
            </a:r>
            <a:endParaRPr kumimoji="1" lang="ja-JP" altLang="en-US" baseline="-25000" dirty="0">
              <a:solidFill>
                <a:sysClr val="windowText" lastClr="000000"/>
              </a:solidFill>
              <a:latin typeface="Times New Roman" panose="02020603050405020304" pitchFamily="18" charset="0"/>
              <a:cs typeface="Times New Roman" panose="02020603050405020304" pitchFamily="18" charset="0"/>
            </a:endParaRPr>
          </a:p>
        </p:txBody>
      </p:sp>
      <p:sp>
        <p:nvSpPr>
          <p:cNvPr id="81" name="正方形/長方形 80"/>
          <p:cNvSpPr/>
          <p:nvPr/>
        </p:nvSpPr>
        <p:spPr>
          <a:xfrm>
            <a:off x="8205613" y="5906403"/>
            <a:ext cx="476250" cy="4191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solidFill>
                  <a:sysClr val="windowText" lastClr="000000"/>
                </a:solidFill>
                <a:latin typeface="Times New Roman" panose="02020603050405020304" pitchFamily="18" charset="0"/>
                <a:cs typeface="Times New Roman" panose="02020603050405020304" pitchFamily="18" charset="0"/>
              </a:rPr>
              <a:t>1</a:t>
            </a:r>
            <a:endParaRPr lang="ja-JP"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82" name="正方形/長方形 81"/>
          <p:cNvSpPr/>
          <p:nvPr/>
        </p:nvSpPr>
        <p:spPr>
          <a:xfrm>
            <a:off x="6676850" y="5906403"/>
            <a:ext cx="1052512" cy="419100"/>
          </a:xfrm>
          <a:prstGeom prst="rect">
            <a:avLst/>
          </a:prstGeom>
          <a:solidFill>
            <a:schemeClr val="accent1">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b="1" dirty="0" smtClean="0">
                <a:solidFill>
                  <a:sysClr val="windowText" lastClr="000000"/>
                </a:solidFill>
                <a:latin typeface="Times New Roman" panose="02020603050405020304" pitchFamily="18" charset="0"/>
                <a:cs typeface="Times New Roman" panose="02020603050405020304" pitchFamily="18" charset="0"/>
              </a:rPr>
              <a:t>x</a:t>
            </a:r>
            <a:r>
              <a:rPr lang="en-US" altLang="ja-JP" i="1" baseline="-25000" dirty="0" smtClean="0">
                <a:solidFill>
                  <a:sysClr val="windowText" lastClr="000000"/>
                </a:solidFill>
                <a:latin typeface="Times New Roman" panose="02020603050405020304" pitchFamily="18" charset="0"/>
                <a:cs typeface="Times New Roman" panose="02020603050405020304" pitchFamily="18" charset="0"/>
              </a:rPr>
              <a:t>i</a:t>
            </a:r>
            <a:endParaRPr kumimoji="1" lang="ja-JP" altLang="en-US" i="1" baseline="-25000" dirty="0">
              <a:solidFill>
                <a:sysClr val="windowText" lastClr="000000"/>
              </a:solidFill>
              <a:latin typeface="Times New Roman" panose="02020603050405020304" pitchFamily="18" charset="0"/>
              <a:cs typeface="Times New Roman" panose="02020603050405020304" pitchFamily="18" charset="0"/>
            </a:endParaRPr>
          </a:p>
        </p:txBody>
      </p:sp>
      <p:sp>
        <p:nvSpPr>
          <p:cNvPr id="83" name="正方形/長方形 82"/>
          <p:cNvSpPr/>
          <p:nvPr/>
        </p:nvSpPr>
        <p:spPr>
          <a:xfrm>
            <a:off x="7729363" y="5906403"/>
            <a:ext cx="476250" cy="419100"/>
          </a:xfrm>
          <a:prstGeom prst="rect">
            <a:avLst/>
          </a:prstGeom>
          <a:solidFill>
            <a:schemeClr val="accent1">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i="1" dirty="0" smtClean="0">
                <a:solidFill>
                  <a:sysClr val="windowText" lastClr="000000"/>
                </a:solidFill>
                <a:latin typeface="Times New Roman" panose="02020603050405020304" pitchFamily="18" charset="0"/>
                <a:cs typeface="Times New Roman" panose="02020603050405020304" pitchFamily="18" charset="0"/>
              </a:rPr>
              <a:t>l</a:t>
            </a:r>
            <a:r>
              <a:rPr lang="en-US" altLang="ja-JP" baseline="-25000" dirty="0" smtClean="0">
                <a:solidFill>
                  <a:sysClr val="windowText" lastClr="000000"/>
                </a:solidFill>
                <a:latin typeface="Times New Roman" panose="02020603050405020304" pitchFamily="18" charset="0"/>
                <a:cs typeface="Times New Roman" panose="02020603050405020304" pitchFamily="18" charset="0"/>
              </a:rPr>
              <a:t>3</a:t>
            </a:r>
            <a:endParaRPr kumimoji="1" lang="ja-JP" altLang="en-US" baseline="-25000" dirty="0">
              <a:solidFill>
                <a:sysClr val="windowText" lastClr="000000"/>
              </a:solidFill>
              <a:latin typeface="Times New Roman" panose="02020603050405020304" pitchFamily="18" charset="0"/>
              <a:cs typeface="Times New Roman" panose="02020603050405020304" pitchFamily="18" charset="0"/>
            </a:endParaRPr>
          </a:p>
        </p:txBody>
      </p:sp>
      <p:sp>
        <p:nvSpPr>
          <p:cNvPr id="84" name="正方形/長方形 83"/>
          <p:cNvSpPr/>
          <p:nvPr/>
        </p:nvSpPr>
        <p:spPr>
          <a:xfrm>
            <a:off x="8205613" y="6391416"/>
            <a:ext cx="476250" cy="4191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solidFill>
                  <a:sysClr val="windowText" lastClr="000000"/>
                </a:solidFill>
                <a:latin typeface="Times New Roman" panose="02020603050405020304" pitchFamily="18" charset="0"/>
                <a:cs typeface="Times New Roman" panose="02020603050405020304" pitchFamily="18" charset="0"/>
              </a:rPr>
              <a:t>1</a:t>
            </a:r>
            <a:endParaRPr lang="ja-JP" alt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85" name="正方形/長方形 84"/>
          <p:cNvSpPr/>
          <p:nvPr/>
        </p:nvSpPr>
        <p:spPr>
          <a:xfrm>
            <a:off x="6676850" y="6391416"/>
            <a:ext cx="1052512" cy="419100"/>
          </a:xfrm>
          <a:prstGeom prst="rect">
            <a:avLst/>
          </a:prstGeom>
          <a:solidFill>
            <a:schemeClr val="accent1">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b="1" dirty="0" smtClean="0">
                <a:solidFill>
                  <a:sysClr val="windowText" lastClr="000000"/>
                </a:solidFill>
                <a:latin typeface="Times New Roman" panose="02020603050405020304" pitchFamily="18" charset="0"/>
                <a:cs typeface="Times New Roman" panose="02020603050405020304" pitchFamily="18" charset="0"/>
              </a:rPr>
              <a:t>x</a:t>
            </a:r>
            <a:r>
              <a:rPr lang="en-US" altLang="ja-JP" i="1" baseline="-25000" dirty="0" smtClean="0">
                <a:solidFill>
                  <a:sysClr val="windowText" lastClr="000000"/>
                </a:solidFill>
                <a:latin typeface="Times New Roman" panose="02020603050405020304" pitchFamily="18" charset="0"/>
                <a:cs typeface="Times New Roman" panose="02020603050405020304" pitchFamily="18" charset="0"/>
              </a:rPr>
              <a:t>i</a:t>
            </a:r>
            <a:endParaRPr kumimoji="1" lang="ja-JP" altLang="en-US" i="1" baseline="-25000" dirty="0">
              <a:solidFill>
                <a:sysClr val="windowText" lastClr="000000"/>
              </a:solidFill>
              <a:latin typeface="Times New Roman" panose="02020603050405020304" pitchFamily="18" charset="0"/>
              <a:cs typeface="Times New Roman" panose="02020603050405020304" pitchFamily="18" charset="0"/>
            </a:endParaRPr>
          </a:p>
        </p:txBody>
      </p:sp>
      <p:sp>
        <p:nvSpPr>
          <p:cNvPr id="86" name="正方形/長方形 85"/>
          <p:cNvSpPr/>
          <p:nvPr/>
        </p:nvSpPr>
        <p:spPr>
          <a:xfrm>
            <a:off x="7729363" y="6391416"/>
            <a:ext cx="476250" cy="419100"/>
          </a:xfrm>
          <a:prstGeom prst="rect">
            <a:avLst/>
          </a:prstGeom>
          <a:solidFill>
            <a:schemeClr val="accent1">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i="1" dirty="0" smtClean="0">
                <a:solidFill>
                  <a:sysClr val="windowText" lastClr="000000"/>
                </a:solidFill>
                <a:latin typeface="Times New Roman" panose="02020603050405020304" pitchFamily="18" charset="0"/>
                <a:cs typeface="Times New Roman" panose="02020603050405020304" pitchFamily="18" charset="0"/>
              </a:rPr>
              <a:t>l</a:t>
            </a:r>
            <a:r>
              <a:rPr lang="en-US" altLang="ja-JP" baseline="-25000" dirty="0" smtClean="0">
                <a:solidFill>
                  <a:sysClr val="windowText" lastClr="000000"/>
                </a:solidFill>
                <a:latin typeface="Times New Roman" panose="02020603050405020304" pitchFamily="18" charset="0"/>
                <a:cs typeface="Times New Roman" panose="02020603050405020304" pitchFamily="18" charset="0"/>
              </a:rPr>
              <a:t>4</a:t>
            </a:r>
            <a:endParaRPr kumimoji="1" lang="ja-JP" altLang="en-US" baseline="-25000" dirty="0">
              <a:solidFill>
                <a:sysClr val="windowText" lastClr="000000"/>
              </a:solidFill>
              <a:latin typeface="Times New Roman" panose="02020603050405020304" pitchFamily="18" charset="0"/>
              <a:cs typeface="Times New Roman" panose="02020603050405020304" pitchFamily="18" charset="0"/>
            </a:endParaRPr>
          </a:p>
        </p:txBody>
      </p:sp>
      <p:sp>
        <p:nvSpPr>
          <p:cNvPr id="87" name="正方形/長方形 86"/>
          <p:cNvSpPr/>
          <p:nvPr/>
        </p:nvSpPr>
        <p:spPr>
          <a:xfrm>
            <a:off x="2844406" y="6117431"/>
            <a:ext cx="476250" cy="4191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solidFill>
                  <a:sysClr val="windowText" lastClr="000000"/>
                </a:solidFill>
                <a:latin typeface="Times New Roman" panose="02020603050405020304" pitchFamily="18" charset="0"/>
                <a:cs typeface="Times New Roman" panose="02020603050405020304" pitchFamily="18" charset="0"/>
              </a:rPr>
              <a:t>1</a:t>
            </a:r>
            <a:endParaRPr lang="ja-JP" altLang="en-US" baseline="-25000" dirty="0">
              <a:solidFill>
                <a:sysClr val="windowText" lastClr="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96725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マルチラベル識別問題</a:t>
            </a:r>
            <a:endParaRPr kumimoji="1" lang="ja-JP" altLang="en-US" dirty="0"/>
          </a:p>
        </p:txBody>
      </p:sp>
      <mc:AlternateContent xmlns:mc="http://schemas.openxmlformats.org/markup-compatibility/2006" xmlns:a14="http://schemas.microsoft.com/office/drawing/2010/main">
        <mc:Choice Requires="a14">
          <p:sp>
            <p:nvSpPr>
              <p:cNvPr id="3" name="コンテンツ プレースホルダー 2"/>
              <p:cNvSpPr>
                <a:spLocks noGrp="1"/>
              </p:cNvSpPr>
              <p:nvPr>
                <p:ph idx="1"/>
              </p:nvPr>
            </p:nvSpPr>
            <p:spPr/>
            <p:txBody>
              <a:bodyPr/>
              <a:lstStyle/>
              <a:p>
                <a:pPr marL="514350" indent="-514350">
                  <a:buFont typeface="+mj-lt"/>
                  <a:buAutoNum type="arabicPeriod"/>
                </a:pPr>
                <a:endParaRPr kumimoji="1" lang="en-US" altLang="ja-JP" dirty="0" smtClean="0"/>
              </a:p>
              <a:p>
                <a:pPr marL="457200" indent="-457200">
                  <a:buFont typeface="Arial" panose="020B0604020202020204" pitchFamily="34" charset="0"/>
                  <a:buChar char="•"/>
                </a:pPr>
                <a:r>
                  <a:rPr lang="ja-JP" altLang="en-US" sz="2400" dirty="0" smtClean="0"/>
                  <a:t>ラベル集合 </a:t>
                </a:r>
                <a14:m>
                  <m:oMath xmlns:m="http://schemas.openxmlformats.org/officeDocument/2006/math">
                    <m:r>
                      <a:rPr lang="en-US" altLang="ja-JP" sz="2400" b="0" i="1" smtClean="0">
                        <a:latin typeface="Cambria Math" panose="02040503050406030204" pitchFamily="18" charset="0"/>
                      </a:rPr>
                      <m:t>ℒ</m:t>
                    </m:r>
                  </m:oMath>
                </a14:m>
                <a:r>
                  <a:rPr lang="en-US" altLang="ja-JP" sz="2400" dirty="0" smtClean="0">
                    <a:latin typeface="Times New Roman" panose="02020603050405020304" pitchFamily="18" charset="0"/>
                    <a:cs typeface="Times New Roman" panose="02020603050405020304" pitchFamily="18" charset="0"/>
                  </a:rPr>
                  <a:t>,</a:t>
                </a:r>
                <a:r>
                  <a:rPr lang="en-US" altLang="ja-JP" sz="2400" dirty="0" smtClean="0"/>
                  <a:t> </a:t>
                </a:r>
                <a:r>
                  <a:rPr lang="ja-JP" altLang="en-US" sz="2400" dirty="0" smtClean="0"/>
                  <a:t>パターン</a:t>
                </a:r>
                <a:r>
                  <a:rPr lang="en-US" altLang="ja-JP" sz="2400" b="1" dirty="0" smtClean="0">
                    <a:latin typeface="Times New Roman" panose="02020603050405020304" pitchFamily="18" charset="0"/>
                    <a:cs typeface="Times New Roman" panose="02020603050405020304" pitchFamily="18" charset="0"/>
                  </a:rPr>
                  <a:t>x</a:t>
                </a:r>
                <a:r>
                  <a:rPr lang="ja-JP" altLang="en-US" sz="2400" dirty="0" smtClean="0"/>
                  <a:t>の真のラベル集合 </a:t>
                </a:r>
                <a14:m>
                  <m:oMath xmlns:m="http://schemas.openxmlformats.org/officeDocument/2006/math">
                    <m:sSub>
                      <m:sSubPr>
                        <m:ctrlPr>
                          <a:rPr lang="en-US" altLang="ja-JP" sz="2400" i="1">
                            <a:latin typeface="Cambria Math" panose="02040503050406030204" pitchFamily="18" charset="0"/>
                            <a:cs typeface="Times New Roman" panose="02020603050405020304" pitchFamily="18" charset="0"/>
                          </a:rPr>
                        </m:ctrlPr>
                      </m:sSubPr>
                      <m:e>
                        <m:r>
                          <a:rPr lang="en-US" altLang="ja-JP" sz="2400" i="1">
                            <a:latin typeface="Cambria Math" panose="02040503050406030204" pitchFamily="18" charset="0"/>
                            <a:cs typeface="Times New Roman" panose="02020603050405020304" pitchFamily="18" charset="0"/>
                          </a:rPr>
                          <m:t>𝑃</m:t>
                        </m:r>
                      </m:e>
                      <m:sub>
                        <m:r>
                          <a:rPr lang="en-US" altLang="ja-JP" sz="2400" b="1">
                            <a:latin typeface="Cambria Math" panose="02040503050406030204" pitchFamily="18" charset="0"/>
                            <a:cs typeface="Times New Roman" panose="02020603050405020304" pitchFamily="18" charset="0"/>
                          </a:rPr>
                          <m:t>𝐱</m:t>
                        </m:r>
                      </m:sub>
                    </m:sSub>
                  </m:oMath>
                </a14:m>
                <a:r>
                  <a:rPr lang="en-US" altLang="ja-JP" sz="2400" dirty="0" smtClean="0">
                    <a:latin typeface="Times New Roman" panose="02020603050405020304" pitchFamily="18" charset="0"/>
                    <a:ea typeface="Tahoma" panose="020B0604030504040204" pitchFamily="34" charset="0"/>
                    <a:cs typeface="Times New Roman" panose="02020603050405020304" pitchFamily="18" charset="0"/>
                  </a:rPr>
                  <a:t>, (</a:t>
                </a:r>
                <a14:m>
                  <m:oMath xmlns:m="http://schemas.openxmlformats.org/officeDocument/2006/math">
                    <m:sSub>
                      <m:sSubPr>
                        <m:ctrlPr>
                          <a:rPr lang="en-US" altLang="ja-JP" sz="2400" i="1">
                            <a:latin typeface="Cambria Math" panose="02040503050406030204" pitchFamily="18" charset="0"/>
                            <a:cs typeface="Times New Roman" panose="02020603050405020304" pitchFamily="18" charset="0"/>
                          </a:rPr>
                        </m:ctrlPr>
                      </m:sSubPr>
                      <m:e>
                        <m:r>
                          <a:rPr lang="en-US" altLang="ja-JP" sz="2400" b="0" i="1" smtClean="0">
                            <a:latin typeface="Cambria Math" panose="02040503050406030204" pitchFamily="18" charset="0"/>
                            <a:cs typeface="Times New Roman" panose="02020603050405020304" pitchFamily="18" charset="0"/>
                          </a:rPr>
                          <m:t>𝑁</m:t>
                        </m:r>
                      </m:e>
                      <m:sub>
                        <m:r>
                          <a:rPr lang="en-US" altLang="ja-JP" sz="2400" b="1">
                            <a:latin typeface="Cambria Math" panose="02040503050406030204" pitchFamily="18" charset="0"/>
                            <a:cs typeface="Times New Roman" panose="02020603050405020304" pitchFamily="18" charset="0"/>
                          </a:rPr>
                          <m:t>𝐱</m:t>
                        </m:r>
                      </m:sub>
                    </m:sSub>
                  </m:oMath>
                </a14:m>
                <a:r>
                  <a:rPr lang="en-US" altLang="ja-JP" sz="2400" dirty="0" smtClean="0">
                    <a:latin typeface="Times New Roman" panose="02020603050405020304" pitchFamily="18" charset="0"/>
                    <a:ea typeface="Tahoma" panose="020B0604030504040204" pitchFamily="34" charset="0"/>
                    <a:cs typeface="Times New Roman" panose="02020603050405020304" pitchFamily="18" charset="0"/>
                  </a:rPr>
                  <a:t> := </a:t>
                </a:r>
                <a14:m>
                  <m:oMath xmlns:m="http://schemas.openxmlformats.org/officeDocument/2006/math">
                    <m:r>
                      <a:rPr lang="en-US" altLang="ja-JP" sz="2400" i="1">
                        <a:latin typeface="Cambria Math" panose="02040503050406030204" pitchFamily="18" charset="0"/>
                      </a:rPr>
                      <m:t>ℒ</m:t>
                    </m:r>
                    <m:r>
                      <a:rPr lang="en-US" altLang="ja-JP" sz="2400" b="0" i="1" smtClean="0">
                        <a:latin typeface="Cambria Math" panose="02040503050406030204" pitchFamily="18" charset="0"/>
                      </a:rPr>
                      <m:t>−</m:t>
                    </m:r>
                    <m:sSub>
                      <m:sSubPr>
                        <m:ctrlPr>
                          <a:rPr lang="en-US" altLang="ja-JP" sz="2400" i="1">
                            <a:latin typeface="Cambria Math" panose="02040503050406030204" pitchFamily="18" charset="0"/>
                            <a:cs typeface="Times New Roman" panose="02020603050405020304" pitchFamily="18" charset="0"/>
                          </a:rPr>
                        </m:ctrlPr>
                      </m:sSubPr>
                      <m:e>
                        <m:r>
                          <a:rPr lang="en-US" altLang="ja-JP" sz="2400" i="1">
                            <a:latin typeface="Cambria Math" panose="02040503050406030204" pitchFamily="18" charset="0"/>
                            <a:cs typeface="Times New Roman" panose="02020603050405020304" pitchFamily="18" charset="0"/>
                          </a:rPr>
                          <m:t>𝑃</m:t>
                        </m:r>
                      </m:e>
                      <m:sub>
                        <m:r>
                          <a:rPr lang="en-US" altLang="ja-JP" sz="2400" b="1">
                            <a:latin typeface="Cambria Math" panose="02040503050406030204" pitchFamily="18" charset="0"/>
                            <a:cs typeface="Times New Roman" panose="02020603050405020304" pitchFamily="18" charset="0"/>
                          </a:rPr>
                          <m:t>𝐱</m:t>
                        </m:r>
                      </m:sub>
                    </m:sSub>
                  </m:oMath>
                </a14:m>
                <a:r>
                  <a:rPr lang="en-US" altLang="ja-JP" sz="2400" dirty="0" smtClean="0">
                    <a:latin typeface="Times New Roman" panose="02020603050405020304" pitchFamily="18" charset="0"/>
                    <a:ea typeface="Tahoma" panose="020B0604030504040204" pitchFamily="34" charset="0"/>
                    <a:cs typeface="Times New Roman" panose="02020603050405020304" pitchFamily="18" charset="0"/>
                  </a:rPr>
                  <a:t>)</a:t>
                </a:r>
              </a:p>
              <a:p>
                <a:pPr marL="457200" indent="-457200">
                  <a:buFont typeface="Arial" panose="020B0604020202020204" pitchFamily="34" charset="0"/>
                  <a:buChar char="•"/>
                </a:pPr>
                <a:r>
                  <a:rPr lang="ja-JP" altLang="en-US" sz="2400" dirty="0" smtClean="0">
                    <a:latin typeface="+mj-ea"/>
                    <a:ea typeface="+mj-ea"/>
                    <a:cs typeface="Times New Roman" panose="02020603050405020304" pitchFamily="18" charset="0"/>
                  </a:rPr>
                  <a:t>予測されたラベル集合 </a:t>
                </a:r>
                <a14:m>
                  <m:oMath xmlns:m="http://schemas.openxmlformats.org/officeDocument/2006/math">
                    <m:acc>
                      <m:accPr>
                        <m:chr m:val="̂"/>
                        <m:ctrlPr>
                          <a:rPr lang="ja-JP" altLang="en-US" sz="2400" i="1" smtClean="0">
                            <a:latin typeface="Cambria Math" panose="02040503050406030204" pitchFamily="18" charset="0"/>
                            <a:ea typeface="+mj-ea"/>
                            <a:cs typeface="Times New Roman" panose="02020603050405020304" pitchFamily="18" charset="0"/>
                          </a:rPr>
                        </m:ctrlPr>
                      </m:accPr>
                      <m:e>
                        <m:sSub>
                          <m:sSubPr>
                            <m:ctrlPr>
                              <a:rPr lang="en-US" altLang="ja-JP" sz="2400" i="1" smtClean="0">
                                <a:latin typeface="Cambria Math" panose="02040503050406030204" pitchFamily="18" charset="0"/>
                                <a:ea typeface="+mj-ea"/>
                                <a:cs typeface="Times New Roman" panose="02020603050405020304" pitchFamily="18" charset="0"/>
                              </a:rPr>
                            </m:ctrlPr>
                          </m:sSubPr>
                          <m:e>
                            <m:r>
                              <a:rPr lang="en-US" altLang="ja-JP" sz="2400" b="0" i="1" smtClean="0">
                                <a:latin typeface="Cambria Math" panose="02040503050406030204" pitchFamily="18" charset="0"/>
                                <a:ea typeface="+mj-ea"/>
                                <a:cs typeface="Times New Roman" panose="02020603050405020304" pitchFamily="18" charset="0"/>
                              </a:rPr>
                              <m:t>𝑃</m:t>
                            </m:r>
                          </m:e>
                          <m:sub>
                            <m:r>
                              <a:rPr lang="en-US" altLang="ja-JP" sz="2400" b="1" i="0" smtClean="0">
                                <a:latin typeface="Cambria Math" panose="02040503050406030204" pitchFamily="18" charset="0"/>
                                <a:ea typeface="+mj-ea"/>
                                <a:cs typeface="Times New Roman" panose="02020603050405020304" pitchFamily="18" charset="0"/>
                              </a:rPr>
                              <m:t>𝐱</m:t>
                            </m:r>
                          </m:sub>
                        </m:sSub>
                      </m:e>
                    </m:acc>
                  </m:oMath>
                </a14:m>
                <a:r>
                  <a:rPr lang="en-US" altLang="ja-JP" sz="2400" dirty="0" smtClean="0">
                    <a:latin typeface="Times New Roman" panose="02020603050405020304" pitchFamily="18" charset="0"/>
                    <a:ea typeface="+mj-ea"/>
                    <a:cs typeface="Times New Roman" panose="02020603050405020304" pitchFamily="18" charset="0"/>
                  </a:rPr>
                  <a:t>, </a:t>
                </a:r>
                <a:r>
                  <a:rPr lang="en-US" altLang="ja-JP" sz="2400" dirty="0">
                    <a:latin typeface="Times New Roman" panose="02020603050405020304" pitchFamily="18" charset="0"/>
                    <a:ea typeface="Tahoma" panose="020B0604030504040204" pitchFamily="34" charset="0"/>
                    <a:cs typeface="Times New Roman" panose="02020603050405020304" pitchFamily="18" charset="0"/>
                  </a:rPr>
                  <a:t>(</a:t>
                </a:r>
                <a14:m>
                  <m:oMath xmlns:m="http://schemas.openxmlformats.org/officeDocument/2006/math">
                    <m:acc>
                      <m:accPr>
                        <m:chr m:val="̂"/>
                        <m:ctrlPr>
                          <a:rPr lang="ja-JP" altLang="en-US" sz="2400" i="1">
                            <a:latin typeface="Cambria Math" panose="02040503050406030204" pitchFamily="18" charset="0"/>
                            <a:cs typeface="Times New Roman" panose="02020603050405020304" pitchFamily="18" charset="0"/>
                          </a:rPr>
                        </m:ctrlPr>
                      </m:accPr>
                      <m:e>
                        <m:sSub>
                          <m:sSubPr>
                            <m:ctrlPr>
                              <a:rPr lang="en-US" altLang="ja-JP" sz="2400" i="1">
                                <a:latin typeface="Cambria Math" panose="02040503050406030204" pitchFamily="18" charset="0"/>
                                <a:cs typeface="Times New Roman" panose="02020603050405020304" pitchFamily="18" charset="0"/>
                              </a:rPr>
                            </m:ctrlPr>
                          </m:sSubPr>
                          <m:e>
                            <m:r>
                              <a:rPr lang="en-US" altLang="ja-JP" sz="2400" b="0" i="1" smtClean="0">
                                <a:latin typeface="Cambria Math" panose="02040503050406030204" pitchFamily="18" charset="0"/>
                                <a:cs typeface="Times New Roman" panose="02020603050405020304" pitchFamily="18" charset="0"/>
                              </a:rPr>
                              <m:t>𝑁</m:t>
                            </m:r>
                          </m:e>
                          <m:sub>
                            <m:r>
                              <a:rPr lang="en-US" altLang="ja-JP" sz="2400" b="1">
                                <a:latin typeface="Cambria Math" panose="02040503050406030204" pitchFamily="18" charset="0"/>
                                <a:cs typeface="Times New Roman" panose="02020603050405020304" pitchFamily="18" charset="0"/>
                              </a:rPr>
                              <m:t>𝐱</m:t>
                            </m:r>
                          </m:sub>
                        </m:sSub>
                      </m:e>
                    </m:acc>
                  </m:oMath>
                </a14:m>
                <a:r>
                  <a:rPr lang="en-US" altLang="ja-JP" sz="2400" dirty="0">
                    <a:latin typeface="Times New Roman" panose="02020603050405020304" pitchFamily="18" charset="0"/>
                    <a:ea typeface="Tahoma" panose="020B0604030504040204" pitchFamily="34" charset="0"/>
                    <a:cs typeface="Times New Roman" panose="02020603050405020304" pitchFamily="18" charset="0"/>
                  </a:rPr>
                  <a:t>:= </a:t>
                </a:r>
                <a14:m>
                  <m:oMath xmlns:m="http://schemas.openxmlformats.org/officeDocument/2006/math">
                    <m:r>
                      <a:rPr lang="en-US" altLang="ja-JP" sz="2400" i="1">
                        <a:latin typeface="Cambria Math" panose="02040503050406030204" pitchFamily="18" charset="0"/>
                      </a:rPr>
                      <m:t>ℒ</m:t>
                    </m:r>
                    <m:r>
                      <a:rPr lang="en-US" altLang="ja-JP" sz="2400" i="1">
                        <a:latin typeface="Cambria Math" panose="02040503050406030204" pitchFamily="18" charset="0"/>
                      </a:rPr>
                      <m:t>−</m:t>
                    </m:r>
                    <m:acc>
                      <m:accPr>
                        <m:chr m:val="̂"/>
                        <m:ctrlPr>
                          <a:rPr lang="ja-JP" altLang="en-US" sz="2400" i="1">
                            <a:latin typeface="Cambria Math" panose="02040503050406030204" pitchFamily="18" charset="0"/>
                            <a:cs typeface="Times New Roman" panose="02020603050405020304" pitchFamily="18" charset="0"/>
                          </a:rPr>
                        </m:ctrlPr>
                      </m:accPr>
                      <m:e>
                        <m:sSub>
                          <m:sSubPr>
                            <m:ctrlPr>
                              <a:rPr lang="en-US" altLang="ja-JP" sz="2400" i="1">
                                <a:latin typeface="Cambria Math" panose="02040503050406030204" pitchFamily="18" charset="0"/>
                                <a:cs typeface="Times New Roman" panose="02020603050405020304" pitchFamily="18" charset="0"/>
                              </a:rPr>
                            </m:ctrlPr>
                          </m:sSubPr>
                          <m:e>
                            <m:r>
                              <a:rPr lang="en-US" altLang="ja-JP" sz="2400" i="1">
                                <a:latin typeface="Cambria Math" panose="02040503050406030204" pitchFamily="18" charset="0"/>
                                <a:cs typeface="Times New Roman" panose="02020603050405020304" pitchFamily="18" charset="0"/>
                              </a:rPr>
                              <m:t>𝑃</m:t>
                            </m:r>
                          </m:e>
                          <m:sub>
                            <m:r>
                              <a:rPr lang="en-US" altLang="ja-JP" sz="2400" b="1">
                                <a:latin typeface="Cambria Math" panose="02040503050406030204" pitchFamily="18" charset="0"/>
                                <a:cs typeface="Times New Roman" panose="02020603050405020304" pitchFamily="18" charset="0"/>
                              </a:rPr>
                              <m:t>𝐱</m:t>
                            </m:r>
                          </m:sub>
                        </m:sSub>
                      </m:e>
                    </m:acc>
                  </m:oMath>
                </a14:m>
                <a:r>
                  <a:rPr lang="en-US" altLang="ja-JP" sz="2400" dirty="0" smtClean="0">
                    <a:latin typeface="Times New Roman" panose="02020603050405020304" pitchFamily="18" charset="0"/>
                    <a:ea typeface="Tahoma" panose="020B0604030504040204" pitchFamily="34" charset="0"/>
                    <a:cs typeface="Times New Roman" panose="02020603050405020304" pitchFamily="18" charset="0"/>
                  </a:rPr>
                  <a:t>)</a:t>
                </a:r>
              </a:p>
              <a:p>
                <a:pPr marL="457200" indent="-457200">
                  <a:buFont typeface="Arial" panose="020B0604020202020204" pitchFamily="34" charset="0"/>
                  <a:buChar char="•"/>
                </a:pPr>
                <a:r>
                  <a:rPr lang="en-US" altLang="ja-JP" sz="2400" b="1" dirty="0" smtClean="0">
                    <a:latin typeface="Times New Roman" panose="02020603050405020304" pitchFamily="18" charset="0"/>
                    <a:ea typeface="+mj-ea"/>
                    <a:cs typeface="Times New Roman" panose="02020603050405020304" pitchFamily="18" charset="0"/>
                  </a:rPr>
                  <a:t>x</a:t>
                </a:r>
                <a:r>
                  <a:rPr lang="ja-JP" altLang="en-US" sz="2400" dirty="0" smtClean="0">
                    <a:latin typeface="+mj-ea"/>
                    <a:ea typeface="+mj-ea"/>
                    <a:cs typeface="Times New Roman" panose="02020603050405020304" pitchFamily="18" charset="0"/>
                  </a:rPr>
                  <a:t>に対して識別器が予測したラベル</a:t>
                </a:r>
                <a14:m>
                  <m:oMath xmlns:m="http://schemas.openxmlformats.org/officeDocument/2006/math">
                    <m:r>
                      <a:rPr lang="ja-JP" altLang="en-US" sz="2400" i="1">
                        <a:latin typeface="Cambria Math" panose="02040503050406030204" pitchFamily="18" charset="0"/>
                        <a:cs typeface="Times New Roman" panose="02020603050405020304" pitchFamily="18" charset="0"/>
                      </a:rPr>
                      <m:t>𝜆</m:t>
                    </m:r>
                  </m:oMath>
                </a14:m>
                <a:r>
                  <a:rPr lang="ja-JP" altLang="en-US" sz="2400" dirty="0" smtClean="0">
                    <a:latin typeface="+mj-ea"/>
                    <a:ea typeface="+mj-ea"/>
                    <a:cs typeface="Times New Roman" panose="02020603050405020304" pitchFamily="18" charset="0"/>
                  </a:rPr>
                  <a:t>の順序 </a:t>
                </a:r>
                <a14:m>
                  <m:oMath xmlns:m="http://schemas.openxmlformats.org/officeDocument/2006/math">
                    <m:r>
                      <a:rPr lang="ja-JP" altLang="en-US" sz="2400" i="1" smtClean="0">
                        <a:latin typeface="Cambria Math" panose="02040503050406030204" pitchFamily="18" charset="0"/>
                        <a:ea typeface="+mj-ea"/>
                        <a:cs typeface="Times New Roman" panose="02020603050405020304" pitchFamily="18" charset="0"/>
                      </a:rPr>
                      <m:t>𝜏</m:t>
                    </m:r>
                    <m:d>
                      <m:dPr>
                        <m:ctrlPr>
                          <a:rPr lang="en-US" altLang="ja-JP" sz="2400" i="1" smtClean="0">
                            <a:latin typeface="Cambria Math" panose="02040503050406030204" pitchFamily="18" charset="0"/>
                            <a:ea typeface="+mj-ea"/>
                            <a:cs typeface="Times New Roman" panose="02020603050405020304" pitchFamily="18" charset="0"/>
                          </a:rPr>
                        </m:ctrlPr>
                      </m:dPr>
                      <m:e>
                        <m:r>
                          <a:rPr lang="ja-JP" altLang="en-US" sz="2400" i="1" smtClean="0">
                            <a:latin typeface="Cambria Math" panose="02040503050406030204" pitchFamily="18" charset="0"/>
                            <a:ea typeface="+mj-ea"/>
                            <a:cs typeface="Times New Roman" panose="02020603050405020304" pitchFamily="18" charset="0"/>
                          </a:rPr>
                          <m:t>𝜆</m:t>
                        </m:r>
                      </m:e>
                    </m:d>
                  </m:oMath>
                </a14:m>
                <a:r>
                  <a:rPr lang="ja-JP" altLang="en-US" sz="2400" dirty="0" smtClean="0">
                    <a:latin typeface="+mj-ea"/>
                    <a:ea typeface="+mj-ea"/>
                    <a:cs typeface="Times New Roman" panose="02020603050405020304" pitchFamily="18" charset="0"/>
                  </a:rPr>
                  <a:t> </a:t>
                </a:r>
                <a:endParaRPr lang="en-US" altLang="ja-JP" sz="2400" dirty="0" smtClean="0">
                  <a:latin typeface="+mj-ea"/>
                  <a:ea typeface="+mj-ea"/>
                  <a:cs typeface="Times New Roman" panose="02020603050405020304" pitchFamily="18" charset="0"/>
                </a:endParaRPr>
              </a:p>
              <a:p>
                <a:endParaRPr kumimoji="1" lang="en-US" altLang="ja-JP" sz="1400" dirty="0" smtClean="0"/>
              </a:p>
              <a:p>
                <a:pPr marL="514350" indent="-514350">
                  <a:buFont typeface="+mj-lt"/>
                  <a:buAutoNum type="arabicPeriod"/>
                </a:pPr>
                <a:r>
                  <a:rPr kumimoji="1" lang="en-US" altLang="ja-JP" b="1" dirty="0" smtClean="0"/>
                  <a:t>Hamming Loss</a:t>
                </a:r>
                <a:r>
                  <a:rPr kumimoji="1" lang="ja-JP" altLang="en-US" dirty="0" smtClean="0"/>
                  <a:t> </a:t>
                </a:r>
                <a:r>
                  <a:rPr kumimoji="1" lang="en-US" altLang="ja-JP" b="1" dirty="0" smtClean="0"/>
                  <a:t>(</a:t>
                </a:r>
                <a:r>
                  <a:rPr kumimoji="1" lang="en-US" altLang="ja-JP" b="1" dirty="0" smtClean="0">
                    <a:solidFill>
                      <a:srgbClr val="0070C0"/>
                    </a:solidFill>
                  </a:rPr>
                  <a:t>minimize</a:t>
                </a:r>
                <a:r>
                  <a:rPr kumimoji="1" lang="en-US" altLang="ja-JP" b="1" dirty="0" smtClean="0"/>
                  <a:t>)</a:t>
                </a:r>
                <a:r>
                  <a:rPr kumimoji="1" lang="en-US" altLang="ja-JP" dirty="0" smtClean="0"/>
                  <a:t>:</a:t>
                </a:r>
              </a:p>
              <a:p>
                <a:pPr lvl="1"/>
                <a:r>
                  <a:rPr lang="ja-JP" altLang="en-US" dirty="0"/>
                  <a:t>真</a:t>
                </a:r>
                <a:r>
                  <a:rPr lang="ja-JP" altLang="en-US" dirty="0" smtClean="0"/>
                  <a:t>のラベル集合と予測ラベル集合との差の割合</a:t>
                </a:r>
                <a:endParaRPr kumimoji="1" lang="en-US" altLang="ja-JP" dirty="0"/>
              </a:p>
              <a:p>
                <a:pPr lvl="1"/>
                <a:endParaRPr kumimoji="1" lang="en-US" altLang="ja-JP" sz="1800" dirty="0" smtClean="0"/>
              </a:p>
              <a:p>
                <a:pPr marL="514350" indent="-514350">
                  <a:buFont typeface="+mj-lt"/>
                  <a:buAutoNum type="arabicPeriod"/>
                </a:pPr>
                <a:r>
                  <a:rPr lang="en-US" altLang="ja-JP" b="1" dirty="0" smtClean="0"/>
                  <a:t>Ranking Loss</a:t>
                </a:r>
                <a:r>
                  <a:rPr lang="ja-JP" altLang="en-US" b="1" dirty="0"/>
                  <a:t> </a:t>
                </a:r>
                <a:r>
                  <a:rPr lang="en-US" altLang="ja-JP" b="1" dirty="0"/>
                  <a:t>(</a:t>
                </a:r>
                <a:r>
                  <a:rPr lang="en-US" altLang="ja-JP" b="1" dirty="0">
                    <a:solidFill>
                      <a:srgbClr val="0070C0"/>
                    </a:solidFill>
                  </a:rPr>
                  <a:t>minimize</a:t>
                </a:r>
                <a:r>
                  <a:rPr lang="en-US" altLang="ja-JP" b="1" dirty="0" smtClean="0"/>
                  <a:t>)</a:t>
                </a:r>
                <a:r>
                  <a:rPr lang="en-US" altLang="ja-JP" dirty="0" smtClean="0"/>
                  <a:t>:</a:t>
                </a:r>
              </a:p>
              <a:p>
                <a:pPr lvl="1"/>
                <a14:m>
                  <m:oMath xmlns:m="http://schemas.openxmlformats.org/officeDocument/2006/math">
                    <m:sSub>
                      <m:sSubPr>
                        <m:ctrlPr>
                          <a:rPr lang="en-US" altLang="ja-JP" i="1">
                            <a:latin typeface="Cambria Math" panose="02040503050406030204" pitchFamily="18" charset="0"/>
                            <a:cs typeface="Times New Roman" panose="02020603050405020304" pitchFamily="18" charset="0"/>
                          </a:rPr>
                        </m:ctrlPr>
                      </m:sSubPr>
                      <m:e>
                        <m:r>
                          <a:rPr lang="en-US" altLang="ja-JP" i="1">
                            <a:latin typeface="Cambria Math" panose="02040503050406030204" pitchFamily="18" charset="0"/>
                            <a:cs typeface="Times New Roman" panose="02020603050405020304" pitchFamily="18" charset="0"/>
                          </a:rPr>
                          <m:t>𝑁</m:t>
                        </m:r>
                      </m:e>
                      <m:sub>
                        <m:r>
                          <a:rPr lang="en-US" altLang="ja-JP" b="1">
                            <a:latin typeface="Cambria Math" panose="02040503050406030204" pitchFamily="18" charset="0"/>
                            <a:cs typeface="Times New Roman" panose="02020603050405020304" pitchFamily="18" charset="0"/>
                          </a:rPr>
                          <m:t>𝐱</m:t>
                        </m:r>
                      </m:sub>
                    </m:sSub>
                  </m:oMath>
                </a14:m>
                <a:r>
                  <a:rPr lang="ja-JP" altLang="en-US" dirty="0" smtClean="0"/>
                  <a:t>よりも下位であると識別された</a:t>
                </a:r>
                <a14:m>
                  <m:oMath xmlns:m="http://schemas.openxmlformats.org/officeDocument/2006/math">
                    <m:sSub>
                      <m:sSubPr>
                        <m:ctrlPr>
                          <a:rPr lang="en-US" altLang="ja-JP" i="1">
                            <a:latin typeface="Cambria Math" panose="02040503050406030204" pitchFamily="18" charset="0"/>
                            <a:cs typeface="Times New Roman" panose="02020603050405020304" pitchFamily="18" charset="0"/>
                          </a:rPr>
                        </m:ctrlPr>
                      </m:sSubPr>
                      <m:e>
                        <m:r>
                          <a:rPr lang="en-US" altLang="ja-JP" i="1">
                            <a:latin typeface="Cambria Math" panose="02040503050406030204" pitchFamily="18" charset="0"/>
                            <a:cs typeface="Times New Roman" panose="02020603050405020304" pitchFamily="18" charset="0"/>
                          </a:rPr>
                          <m:t>𝑃</m:t>
                        </m:r>
                      </m:e>
                      <m:sub>
                        <m:r>
                          <a:rPr lang="en-US" altLang="ja-JP" b="1">
                            <a:latin typeface="Cambria Math" panose="02040503050406030204" pitchFamily="18" charset="0"/>
                            <a:cs typeface="Times New Roman" panose="02020603050405020304" pitchFamily="18" charset="0"/>
                          </a:rPr>
                          <m:t>𝐱</m:t>
                        </m:r>
                      </m:sub>
                    </m:sSub>
                  </m:oMath>
                </a14:m>
                <a:r>
                  <a:rPr lang="ja-JP" altLang="en-US" dirty="0" smtClean="0"/>
                  <a:t>の割合</a:t>
                </a:r>
                <a:endParaRPr lang="en-US" altLang="ja-JP" dirty="0" smtClean="0"/>
              </a:p>
            </p:txBody>
          </p:sp>
        </mc:Choice>
        <mc:Fallback xmlns="">
          <p:sp>
            <p:nvSpPr>
              <p:cNvPr id="3" name="コンテンツ プレースホルダー 2"/>
              <p:cNvSpPr>
                <a:spLocks noGrp="1" noRot="1" noChangeAspect="1" noMove="1" noResize="1" noEditPoints="1" noAdjustHandles="1" noChangeArrowheads="1" noChangeShapeType="1" noTextEdit="1"/>
              </p:cNvSpPr>
              <p:nvPr>
                <p:ph idx="1"/>
              </p:nvPr>
            </p:nvSpPr>
            <p:spPr>
              <a:blipFill>
                <a:blip r:embed="rId2"/>
                <a:stretch>
                  <a:fillRect l="-1263"/>
                </a:stretch>
              </a:blipFill>
            </p:spPr>
            <p:txBody>
              <a:bodyPr/>
              <a:lstStyle/>
              <a:p>
                <a:r>
                  <a:rPr lang="ja-JP" altLang="en-US">
                    <a:noFill/>
                  </a:rPr>
                  <a:t> </a:t>
                </a:r>
              </a:p>
            </p:txBody>
          </p:sp>
        </mc:Fallback>
      </mc:AlternateContent>
      <p:sp>
        <p:nvSpPr>
          <p:cNvPr id="4" name="スライド番号プレースホルダー 3"/>
          <p:cNvSpPr>
            <a:spLocks noGrp="1"/>
          </p:cNvSpPr>
          <p:nvPr>
            <p:ph type="sldNum" sz="quarter" idx="12"/>
          </p:nvPr>
        </p:nvSpPr>
        <p:spPr/>
        <p:txBody>
          <a:bodyPr/>
          <a:lstStyle/>
          <a:p>
            <a:r>
              <a:rPr kumimoji="1" lang="en-US" altLang="ja-JP" smtClean="0"/>
              <a:t>7/21</a:t>
            </a:r>
            <a:endParaRPr kumimoji="1" lang="ja-JP" altLang="en-US"/>
          </a:p>
        </p:txBody>
      </p:sp>
      <p:sp>
        <p:nvSpPr>
          <p:cNvPr id="5" name="テキスト プレースホルダー 4"/>
          <p:cNvSpPr>
            <a:spLocks noGrp="1"/>
          </p:cNvSpPr>
          <p:nvPr>
            <p:ph type="body" sz="quarter" idx="13"/>
          </p:nvPr>
        </p:nvSpPr>
        <p:spPr/>
        <p:txBody>
          <a:bodyPr/>
          <a:lstStyle/>
          <a:p>
            <a:r>
              <a:rPr kumimoji="1" lang="en-US" altLang="ja-JP" dirty="0" smtClean="0"/>
              <a:t>5</a:t>
            </a:r>
            <a:r>
              <a:rPr kumimoji="1" lang="ja-JP" altLang="en-US" dirty="0" err="1" smtClean="0"/>
              <a:t>つの</a:t>
            </a:r>
            <a:r>
              <a:rPr kumimoji="1" lang="ja-JP" altLang="en-US" dirty="0" smtClean="0"/>
              <a:t>評価尺度</a:t>
            </a:r>
            <a:endParaRPr kumimoji="1" lang="ja-JP" altLang="en-US" dirty="0"/>
          </a:p>
        </p:txBody>
      </p:sp>
      <p:sp>
        <p:nvSpPr>
          <p:cNvPr id="8" name="角丸四角形 7"/>
          <p:cNvSpPr/>
          <p:nvPr/>
        </p:nvSpPr>
        <p:spPr>
          <a:xfrm>
            <a:off x="228600" y="1371600"/>
            <a:ext cx="8686800" cy="1924050"/>
          </a:xfrm>
          <a:prstGeom prst="roundRect">
            <a:avLst>
              <a:gd name="adj" fmla="val 1021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p:cNvSpPr txBox="1"/>
          <p:nvPr/>
        </p:nvSpPr>
        <p:spPr>
          <a:xfrm>
            <a:off x="228600" y="1371600"/>
            <a:ext cx="4330032" cy="461665"/>
          </a:xfrm>
          <a:prstGeom prst="rect">
            <a:avLst/>
          </a:prstGeom>
          <a:solidFill>
            <a:schemeClr val="bg1"/>
          </a:solidFill>
          <a:ln w="19050">
            <a:solidFill>
              <a:schemeClr val="tx1"/>
            </a:solidFill>
          </a:ln>
        </p:spPr>
        <p:txBody>
          <a:bodyPr wrap="none" rtlCol="0">
            <a:spAutoFit/>
          </a:bodyPr>
          <a:lstStyle/>
          <a:p>
            <a:pPr algn="ctr"/>
            <a:r>
              <a:rPr kumimoji="1" lang="ja-JP" altLang="en-US" sz="2400" dirty="0" smtClean="0"/>
              <a:t>マルチラベル識別問題での定義</a:t>
            </a:r>
          </a:p>
        </p:txBody>
      </p:sp>
      <mc:AlternateContent xmlns:mc="http://schemas.openxmlformats.org/markup-compatibility/2006" xmlns:a14="http://schemas.microsoft.com/office/drawing/2010/main">
        <mc:Choice Requires="a14">
          <p:sp>
            <p:nvSpPr>
              <p:cNvPr id="11" name="テキスト ボックス 10"/>
              <p:cNvSpPr txBox="1"/>
              <p:nvPr/>
            </p:nvSpPr>
            <p:spPr>
              <a:xfrm>
                <a:off x="7259754" y="3550629"/>
                <a:ext cx="1655646" cy="1039323"/>
              </a:xfrm>
              <a:prstGeom prst="rect">
                <a:avLst/>
              </a:prstGeom>
              <a:noFill/>
            </p:spPr>
            <p:txBody>
              <a:bodyPr wrap="none" rtlCol="0">
                <a:spAutoFit/>
              </a:bodyPr>
              <a:lstStyle/>
              <a:p>
                <a:pPr algn="ctr"/>
                <a14:m>
                  <m:oMathPara xmlns:m="http://schemas.openxmlformats.org/officeDocument/2006/math">
                    <m:oMathParaPr>
                      <m:jc m:val="center"/>
                    </m:oMathParaPr>
                    <m:oMath xmlns:m="http://schemas.openxmlformats.org/officeDocument/2006/math">
                      <m:f>
                        <m:fPr>
                          <m:ctrlPr>
                            <a:rPr lang="en-US" altLang="ja-JP" sz="2800" i="1">
                              <a:latin typeface="Cambria Math" panose="02040503050406030204" pitchFamily="18" charset="0"/>
                            </a:rPr>
                          </m:ctrlPr>
                        </m:fPr>
                        <m:num>
                          <m:d>
                            <m:dPr>
                              <m:begChr m:val="|"/>
                              <m:endChr m:val="|"/>
                              <m:ctrlPr>
                                <a:rPr lang="en-US" altLang="ja-JP" sz="2800" i="1">
                                  <a:latin typeface="Cambria Math" panose="02040503050406030204" pitchFamily="18" charset="0"/>
                                </a:rPr>
                              </m:ctrlPr>
                            </m:dPr>
                            <m:e>
                              <m:acc>
                                <m:accPr>
                                  <m:chr m:val="̂"/>
                                  <m:ctrlPr>
                                    <a:rPr lang="ja-JP" altLang="en-US" sz="2800" i="1">
                                      <a:latin typeface="Cambria Math" panose="02040503050406030204" pitchFamily="18" charset="0"/>
                                      <a:cs typeface="Times New Roman" panose="02020603050405020304" pitchFamily="18" charset="0"/>
                                    </a:rPr>
                                  </m:ctrlPr>
                                </m:accPr>
                                <m:e>
                                  <m:sSub>
                                    <m:sSubPr>
                                      <m:ctrlPr>
                                        <a:rPr lang="en-US" altLang="ja-JP" sz="2800" i="1">
                                          <a:latin typeface="Cambria Math" panose="02040503050406030204" pitchFamily="18" charset="0"/>
                                          <a:cs typeface="Times New Roman" panose="02020603050405020304" pitchFamily="18" charset="0"/>
                                        </a:rPr>
                                      </m:ctrlPr>
                                    </m:sSubPr>
                                    <m:e>
                                      <m:r>
                                        <a:rPr lang="en-US" altLang="ja-JP" sz="2800" i="1">
                                          <a:latin typeface="Cambria Math" panose="02040503050406030204" pitchFamily="18" charset="0"/>
                                          <a:cs typeface="Times New Roman" panose="02020603050405020304" pitchFamily="18" charset="0"/>
                                        </a:rPr>
                                        <m:t>𝑃</m:t>
                                      </m:r>
                                    </m:e>
                                    <m:sub>
                                      <m:r>
                                        <a:rPr lang="en-US" altLang="ja-JP" sz="2800" b="1">
                                          <a:latin typeface="Cambria Math" panose="02040503050406030204" pitchFamily="18" charset="0"/>
                                          <a:cs typeface="Times New Roman" panose="02020603050405020304" pitchFamily="18" charset="0"/>
                                        </a:rPr>
                                        <m:t>𝐱</m:t>
                                      </m:r>
                                    </m:sub>
                                  </m:sSub>
                                </m:e>
                              </m:acc>
                              <m:r>
                                <a:rPr lang="en-US" altLang="ja-JP" sz="2800" b="1"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ja-JP" sz="2800" i="1">
                                      <a:latin typeface="Cambria Math" panose="02040503050406030204" pitchFamily="18" charset="0"/>
                                      <a:cs typeface="Times New Roman" panose="02020603050405020304" pitchFamily="18" charset="0"/>
                                    </a:rPr>
                                  </m:ctrlPr>
                                </m:sSubPr>
                                <m:e>
                                  <m:r>
                                    <a:rPr lang="en-US" altLang="ja-JP" sz="2800" i="1">
                                      <a:latin typeface="Cambria Math" panose="02040503050406030204" pitchFamily="18" charset="0"/>
                                      <a:cs typeface="Times New Roman" panose="02020603050405020304" pitchFamily="18" charset="0"/>
                                    </a:rPr>
                                    <m:t>𝑃</m:t>
                                  </m:r>
                                </m:e>
                                <m:sub>
                                  <m:r>
                                    <a:rPr lang="en-US" altLang="ja-JP" sz="2800" b="1">
                                      <a:latin typeface="Cambria Math" panose="02040503050406030204" pitchFamily="18" charset="0"/>
                                      <a:cs typeface="Times New Roman" panose="02020603050405020304" pitchFamily="18" charset="0"/>
                                    </a:rPr>
                                    <m:t>𝐱</m:t>
                                  </m:r>
                                </m:sub>
                              </m:sSub>
                            </m:e>
                          </m:d>
                        </m:num>
                        <m:den>
                          <m:d>
                            <m:dPr>
                              <m:begChr m:val="|"/>
                              <m:endChr m:val="|"/>
                              <m:ctrlPr>
                                <a:rPr lang="en-US" altLang="ja-JP" sz="2800" i="1">
                                  <a:latin typeface="Cambria Math" panose="02040503050406030204" pitchFamily="18" charset="0"/>
                                </a:rPr>
                              </m:ctrlPr>
                            </m:dPr>
                            <m:e>
                              <m:r>
                                <a:rPr lang="en-US" altLang="ja-JP" sz="2800" i="1">
                                  <a:latin typeface="Cambria Math" panose="02040503050406030204" pitchFamily="18" charset="0"/>
                                </a:rPr>
                                <m:t>ℒ</m:t>
                              </m:r>
                            </m:e>
                          </m:d>
                        </m:den>
                      </m:f>
                    </m:oMath>
                  </m:oMathPara>
                </a14:m>
                <a:endParaRPr kumimoji="1" lang="ja-JP" altLang="en-US" sz="2800" dirty="0" smtClean="0"/>
              </a:p>
            </p:txBody>
          </p:sp>
        </mc:Choice>
        <mc:Fallback xmlns="">
          <p:sp>
            <p:nvSpPr>
              <p:cNvPr id="11" name="テキスト ボックス 10"/>
              <p:cNvSpPr txBox="1">
                <a:spLocks noRot="1" noChangeAspect="1" noMove="1" noResize="1" noEditPoints="1" noAdjustHandles="1" noChangeArrowheads="1" noChangeShapeType="1" noTextEdit="1"/>
              </p:cNvSpPr>
              <p:nvPr/>
            </p:nvSpPr>
            <p:spPr>
              <a:xfrm>
                <a:off x="7259754" y="3550629"/>
                <a:ext cx="1655646" cy="1039323"/>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2" name="テキスト ボックス 11"/>
              <p:cNvSpPr txBox="1"/>
              <p:nvPr/>
            </p:nvSpPr>
            <p:spPr>
              <a:xfrm>
                <a:off x="1843573" y="5776768"/>
                <a:ext cx="5533053" cy="1005083"/>
              </a:xfrm>
              <a:prstGeom prst="rect">
                <a:avLst/>
              </a:prstGeom>
              <a:noFill/>
            </p:spPr>
            <p:txBody>
              <a:bodyPr wrap="none" rtlCol="0">
                <a:spAutoFit/>
              </a:bodyPr>
              <a:lstStyle/>
              <a:p>
                <a:pPr algn="ctr"/>
                <a14:m>
                  <m:oMathPara xmlns:m="http://schemas.openxmlformats.org/officeDocument/2006/math">
                    <m:oMathParaPr>
                      <m:jc m:val="center"/>
                    </m:oMathParaPr>
                    <m:oMath xmlns:m="http://schemas.openxmlformats.org/officeDocument/2006/math">
                      <m:f>
                        <m:fPr>
                          <m:ctrlPr>
                            <a:rPr lang="en-US" altLang="ja-JP" sz="2800" i="1" smtClean="0">
                              <a:latin typeface="Cambria Math" panose="02040503050406030204" pitchFamily="18" charset="0"/>
                            </a:rPr>
                          </m:ctrlPr>
                        </m:fPr>
                        <m:num>
                          <m:d>
                            <m:dPr>
                              <m:begChr m:val="|"/>
                              <m:endChr m:val="|"/>
                              <m:ctrlPr>
                                <a:rPr lang="en-US" altLang="ja-JP" sz="2800" i="1">
                                  <a:latin typeface="Cambria Math" panose="02040503050406030204" pitchFamily="18" charset="0"/>
                                </a:rPr>
                              </m:ctrlPr>
                            </m:dPr>
                            <m:e>
                              <m:d>
                                <m:dPr>
                                  <m:begChr m:val="{"/>
                                  <m:endChr m:val="}"/>
                                  <m:ctrlPr>
                                    <a:rPr lang="en-US" altLang="ja-JP" sz="2800" i="1" smtClean="0">
                                      <a:latin typeface="Cambria Math" panose="02040503050406030204" pitchFamily="18" charset="0"/>
                                    </a:rPr>
                                  </m:ctrlPr>
                                </m:dPr>
                                <m:e>
                                  <m:d>
                                    <m:dPr>
                                      <m:ctrlPr>
                                        <a:rPr lang="en-US" altLang="ja-JP" sz="2800" i="1" smtClean="0">
                                          <a:latin typeface="Cambria Math" panose="02040503050406030204" pitchFamily="18" charset="0"/>
                                        </a:rPr>
                                      </m:ctrlPr>
                                    </m:dPr>
                                    <m:e>
                                      <m:r>
                                        <a:rPr lang="ja-JP" altLang="en-US" sz="2800" i="1" smtClean="0">
                                          <a:latin typeface="Cambria Math" panose="02040503050406030204" pitchFamily="18" charset="0"/>
                                        </a:rPr>
                                        <m:t>𝜆</m:t>
                                      </m:r>
                                      <m:r>
                                        <a:rPr lang="en-US" altLang="ja-JP" sz="2800" b="0" i="1" smtClean="0">
                                          <a:latin typeface="Cambria Math" panose="02040503050406030204" pitchFamily="18" charset="0"/>
                                        </a:rPr>
                                        <m:t>, </m:t>
                                      </m:r>
                                      <m:r>
                                        <a:rPr lang="ja-JP" altLang="en-US" sz="2800" b="0" i="1" smtClean="0">
                                          <a:latin typeface="Cambria Math" panose="02040503050406030204" pitchFamily="18" charset="0"/>
                                        </a:rPr>
                                        <m:t>𝜆</m:t>
                                      </m:r>
                                      <m:r>
                                        <a:rPr lang="en-US" altLang="ja-JP" sz="2800" b="0" i="1" smtClean="0">
                                          <a:latin typeface="Cambria Math" panose="02040503050406030204" pitchFamily="18" charset="0"/>
                                        </a:rPr>
                                        <m:t>′</m:t>
                                      </m:r>
                                    </m:e>
                                  </m:d>
                                  <m:r>
                                    <a:rPr lang="en-US" altLang="ja-JP" sz="2800" i="1" smtClean="0">
                                      <a:latin typeface="Cambria Math" panose="02040503050406030204" pitchFamily="18" charset="0"/>
                                      <a:ea typeface="Cambria Math" panose="02040503050406030204" pitchFamily="18" charset="0"/>
                                    </a:rPr>
                                    <m:t>∈</m:t>
                                  </m:r>
                                  <m:d>
                                    <m:dPr>
                                      <m:ctrlPr>
                                        <a:rPr lang="en-US" altLang="ja-JP" sz="2800" i="1" smtClean="0">
                                          <a:latin typeface="Cambria Math" panose="02040503050406030204" pitchFamily="18" charset="0"/>
                                          <a:ea typeface="Cambria Math" panose="02040503050406030204" pitchFamily="18" charset="0"/>
                                        </a:rPr>
                                      </m:ctrlPr>
                                    </m:dPr>
                                    <m:e>
                                      <m:sSub>
                                        <m:sSubPr>
                                          <m:ctrlPr>
                                            <a:rPr lang="en-US" altLang="ja-JP" sz="2800" i="1">
                                              <a:latin typeface="Cambria Math" panose="02040503050406030204" pitchFamily="18" charset="0"/>
                                              <a:cs typeface="Times New Roman" panose="02020603050405020304" pitchFamily="18" charset="0"/>
                                            </a:rPr>
                                          </m:ctrlPr>
                                        </m:sSubPr>
                                        <m:e>
                                          <m:r>
                                            <a:rPr lang="en-US" altLang="ja-JP" sz="2800" i="1">
                                              <a:latin typeface="Cambria Math" panose="02040503050406030204" pitchFamily="18" charset="0"/>
                                              <a:cs typeface="Times New Roman" panose="02020603050405020304" pitchFamily="18" charset="0"/>
                                            </a:rPr>
                                            <m:t>𝑃</m:t>
                                          </m:r>
                                        </m:e>
                                        <m:sub>
                                          <m:r>
                                            <a:rPr lang="en-US" altLang="ja-JP" sz="2800" b="1">
                                              <a:latin typeface="Cambria Math" panose="02040503050406030204" pitchFamily="18" charset="0"/>
                                              <a:cs typeface="Times New Roman" panose="02020603050405020304" pitchFamily="18" charset="0"/>
                                            </a:rPr>
                                            <m:t>𝐱</m:t>
                                          </m:r>
                                        </m:sub>
                                      </m:sSub>
                                      <m:r>
                                        <a:rPr lang="en-US" altLang="ja-JP" sz="2800" b="1"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ja-JP" sz="2800" i="1">
                                              <a:latin typeface="Cambria Math" panose="02040503050406030204" pitchFamily="18" charset="0"/>
                                              <a:cs typeface="Times New Roman" panose="02020603050405020304" pitchFamily="18" charset="0"/>
                                            </a:rPr>
                                          </m:ctrlPr>
                                        </m:sSubPr>
                                        <m:e>
                                          <m:r>
                                            <a:rPr lang="en-US" altLang="ja-JP" sz="2800" b="0" i="1" smtClean="0">
                                              <a:latin typeface="Cambria Math" panose="02040503050406030204" pitchFamily="18" charset="0"/>
                                              <a:cs typeface="Times New Roman" panose="02020603050405020304" pitchFamily="18" charset="0"/>
                                            </a:rPr>
                                            <m:t>𝑁</m:t>
                                          </m:r>
                                        </m:e>
                                        <m:sub>
                                          <m:r>
                                            <a:rPr lang="en-US" altLang="ja-JP" sz="2800" b="1">
                                              <a:latin typeface="Cambria Math" panose="02040503050406030204" pitchFamily="18" charset="0"/>
                                              <a:cs typeface="Times New Roman" panose="02020603050405020304" pitchFamily="18" charset="0"/>
                                            </a:rPr>
                                            <m:t>𝐱</m:t>
                                          </m:r>
                                        </m:sub>
                                      </m:sSub>
                                    </m:e>
                                  </m:d>
                                  <m:r>
                                    <a:rPr lang="en-US" altLang="ja-JP" sz="2800" b="0" i="1" smtClean="0">
                                      <a:latin typeface="Cambria Math" panose="02040503050406030204" pitchFamily="18" charset="0"/>
                                      <a:ea typeface="Cambria Math" panose="02040503050406030204" pitchFamily="18" charset="0"/>
                                    </a:rPr>
                                    <m:t>|</m:t>
                                  </m:r>
                                  <m:r>
                                    <a:rPr lang="ja-JP" altLang="en-US" sz="2800" b="0" i="1" smtClean="0">
                                      <a:latin typeface="Cambria Math" panose="02040503050406030204" pitchFamily="18" charset="0"/>
                                      <a:ea typeface="Cambria Math" panose="02040503050406030204" pitchFamily="18" charset="0"/>
                                    </a:rPr>
                                    <m:t>𝜏</m:t>
                                  </m:r>
                                  <m:d>
                                    <m:dPr>
                                      <m:ctrlPr>
                                        <a:rPr lang="en-US" altLang="ja-JP" sz="2800" b="0" i="1" smtClean="0">
                                          <a:latin typeface="Cambria Math" panose="02040503050406030204" pitchFamily="18" charset="0"/>
                                          <a:ea typeface="Cambria Math" panose="02040503050406030204" pitchFamily="18" charset="0"/>
                                        </a:rPr>
                                      </m:ctrlPr>
                                    </m:dPr>
                                    <m:e>
                                      <m:r>
                                        <a:rPr lang="ja-JP" altLang="en-US" sz="2800" b="0" i="1" smtClean="0">
                                          <a:latin typeface="Cambria Math" panose="02040503050406030204" pitchFamily="18" charset="0"/>
                                          <a:ea typeface="Cambria Math" panose="02040503050406030204" pitchFamily="18" charset="0"/>
                                        </a:rPr>
                                        <m:t>𝜆</m:t>
                                      </m:r>
                                    </m:e>
                                  </m:d>
                                  <m:r>
                                    <a:rPr lang="en-US" altLang="ja-JP" sz="2800" b="0" i="1" smtClean="0">
                                      <a:latin typeface="Cambria Math" panose="02040503050406030204" pitchFamily="18" charset="0"/>
                                      <a:ea typeface="Cambria Math" panose="02040503050406030204" pitchFamily="18" charset="0"/>
                                    </a:rPr>
                                    <m:t>&gt;</m:t>
                                  </m:r>
                                  <m:r>
                                    <a:rPr lang="ja-JP" altLang="en-US" sz="2800" i="1">
                                      <a:latin typeface="Cambria Math" panose="02040503050406030204" pitchFamily="18" charset="0"/>
                                      <a:ea typeface="Cambria Math" panose="02040503050406030204" pitchFamily="18" charset="0"/>
                                    </a:rPr>
                                    <m:t>𝜏</m:t>
                                  </m:r>
                                  <m:d>
                                    <m:dPr>
                                      <m:ctrlPr>
                                        <a:rPr lang="en-US" altLang="ja-JP" sz="2800" i="1">
                                          <a:latin typeface="Cambria Math" panose="02040503050406030204" pitchFamily="18" charset="0"/>
                                          <a:ea typeface="Cambria Math" panose="02040503050406030204" pitchFamily="18" charset="0"/>
                                        </a:rPr>
                                      </m:ctrlPr>
                                    </m:dPr>
                                    <m:e>
                                      <m:r>
                                        <a:rPr lang="ja-JP" altLang="en-US" sz="2800" i="1">
                                          <a:latin typeface="Cambria Math" panose="02040503050406030204" pitchFamily="18" charset="0"/>
                                          <a:ea typeface="Cambria Math" panose="02040503050406030204" pitchFamily="18" charset="0"/>
                                        </a:rPr>
                                        <m:t>𝜆</m:t>
                                      </m:r>
                                      <m:r>
                                        <a:rPr lang="en-US" altLang="ja-JP" sz="2800" b="0" i="1" smtClean="0">
                                          <a:latin typeface="Cambria Math" panose="02040503050406030204" pitchFamily="18" charset="0"/>
                                          <a:ea typeface="Cambria Math" panose="02040503050406030204" pitchFamily="18" charset="0"/>
                                        </a:rPr>
                                        <m:t>′</m:t>
                                      </m:r>
                                    </m:e>
                                  </m:d>
                                </m:e>
                              </m:d>
                            </m:e>
                          </m:d>
                        </m:num>
                        <m:den>
                          <m:d>
                            <m:dPr>
                              <m:begChr m:val="|"/>
                              <m:endChr m:val="|"/>
                              <m:ctrlPr>
                                <a:rPr lang="en-US" altLang="ja-JP" sz="2800" i="1">
                                  <a:latin typeface="Cambria Math" panose="02040503050406030204" pitchFamily="18" charset="0"/>
                                </a:rPr>
                              </m:ctrlPr>
                            </m:dPr>
                            <m:e>
                              <m:sSub>
                                <m:sSubPr>
                                  <m:ctrlPr>
                                    <a:rPr lang="en-US" altLang="ja-JP" sz="2800" i="1">
                                      <a:latin typeface="Cambria Math" panose="02040503050406030204" pitchFamily="18" charset="0"/>
                                      <a:cs typeface="Times New Roman" panose="02020603050405020304" pitchFamily="18" charset="0"/>
                                    </a:rPr>
                                  </m:ctrlPr>
                                </m:sSubPr>
                                <m:e>
                                  <m:r>
                                    <a:rPr lang="en-US" altLang="ja-JP" sz="2800" i="1">
                                      <a:latin typeface="Cambria Math" panose="02040503050406030204" pitchFamily="18" charset="0"/>
                                      <a:cs typeface="Times New Roman" panose="02020603050405020304" pitchFamily="18" charset="0"/>
                                    </a:rPr>
                                    <m:t>𝑃</m:t>
                                  </m:r>
                                </m:e>
                                <m:sub>
                                  <m:r>
                                    <a:rPr lang="en-US" altLang="ja-JP" sz="2800" b="1">
                                      <a:latin typeface="Cambria Math" panose="02040503050406030204" pitchFamily="18" charset="0"/>
                                      <a:cs typeface="Times New Roman" panose="02020603050405020304" pitchFamily="18" charset="0"/>
                                    </a:rPr>
                                    <m:t>𝐱</m:t>
                                  </m:r>
                                </m:sub>
                              </m:sSub>
                            </m:e>
                          </m:d>
                          <m:r>
                            <a:rPr lang="en-US" altLang="ja-JP" sz="2800" i="1" smtClean="0">
                              <a:latin typeface="Cambria Math" panose="02040503050406030204" pitchFamily="18" charset="0"/>
                              <a:ea typeface="Cambria Math" panose="02040503050406030204" pitchFamily="18" charset="0"/>
                            </a:rPr>
                            <m:t>∙</m:t>
                          </m:r>
                          <m:d>
                            <m:dPr>
                              <m:begChr m:val="|"/>
                              <m:endChr m:val="|"/>
                              <m:ctrlPr>
                                <a:rPr lang="en-US" altLang="ja-JP" sz="2800" i="1">
                                  <a:latin typeface="Cambria Math" panose="02040503050406030204" pitchFamily="18" charset="0"/>
                                </a:rPr>
                              </m:ctrlPr>
                            </m:dPr>
                            <m:e>
                              <m:sSub>
                                <m:sSubPr>
                                  <m:ctrlPr>
                                    <a:rPr lang="en-US" altLang="ja-JP" sz="2800" i="1">
                                      <a:latin typeface="Cambria Math" panose="02040503050406030204" pitchFamily="18" charset="0"/>
                                      <a:cs typeface="Times New Roman" panose="02020603050405020304" pitchFamily="18" charset="0"/>
                                    </a:rPr>
                                  </m:ctrlPr>
                                </m:sSubPr>
                                <m:e>
                                  <m:r>
                                    <a:rPr lang="en-US" altLang="ja-JP" sz="2800" b="0" i="1" smtClean="0">
                                      <a:latin typeface="Cambria Math" panose="02040503050406030204" pitchFamily="18" charset="0"/>
                                      <a:cs typeface="Times New Roman" panose="02020603050405020304" pitchFamily="18" charset="0"/>
                                    </a:rPr>
                                    <m:t>𝑁</m:t>
                                  </m:r>
                                </m:e>
                                <m:sub>
                                  <m:r>
                                    <a:rPr lang="en-US" altLang="ja-JP" sz="2800" b="1">
                                      <a:latin typeface="Cambria Math" panose="02040503050406030204" pitchFamily="18" charset="0"/>
                                      <a:cs typeface="Times New Roman" panose="02020603050405020304" pitchFamily="18" charset="0"/>
                                    </a:rPr>
                                    <m:t>𝐱</m:t>
                                  </m:r>
                                </m:sub>
                              </m:sSub>
                            </m:e>
                          </m:d>
                        </m:den>
                      </m:f>
                    </m:oMath>
                  </m:oMathPara>
                </a14:m>
                <a:endParaRPr kumimoji="1" lang="ja-JP" altLang="en-US" sz="2800" dirty="0" smtClean="0"/>
              </a:p>
            </p:txBody>
          </p:sp>
        </mc:Choice>
        <mc:Fallback xmlns="">
          <p:sp>
            <p:nvSpPr>
              <p:cNvPr id="12" name="テキスト ボックス 11"/>
              <p:cNvSpPr txBox="1">
                <a:spLocks noRot="1" noChangeAspect="1" noMove="1" noResize="1" noEditPoints="1" noAdjustHandles="1" noChangeArrowheads="1" noChangeShapeType="1" noTextEdit="1"/>
              </p:cNvSpPr>
              <p:nvPr/>
            </p:nvSpPr>
            <p:spPr>
              <a:xfrm>
                <a:off x="1843573" y="5776768"/>
                <a:ext cx="5533053" cy="1005083"/>
              </a:xfrm>
              <a:prstGeom prst="rect">
                <a:avLst/>
              </a:prstGeom>
              <a:blipFill>
                <a:blip r:embed="rId4"/>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158355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マルチラベル識別問題</a:t>
            </a:r>
            <a:endParaRPr kumimoji="1" lang="ja-JP" altLang="en-US" dirty="0"/>
          </a:p>
        </p:txBody>
      </p:sp>
      <mc:AlternateContent xmlns:mc="http://schemas.openxmlformats.org/markup-compatibility/2006" xmlns:a14="http://schemas.microsoft.com/office/drawing/2010/main">
        <mc:Choice Requires="a14">
          <p:sp>
            <p:nvSpPr>
              <p:cNvPr id="3" name="コンテンツ プレースホルダー 2"/>
              <p:cNvSpPr>
                <a:spLocks noGrp="1"/>
              </p:cNvSpPr>
              <p:nvPr>
                <p:ph idx="1"/>
              </p:nvPr>
            </p:nvSpPr>
            <p:spPr/>
            <p:txBody>
              <a:bodyPr/>
              <a:lstStyle/>
              <a:p>
                <a:pPr marL="514350" indent="-514350">
                  <a:buFont typeface="+mj-lt"/>
                  <a:buAutoNum type="arabicPeriod"/>
                </a:pPr>
                <a:endParaRPr kumimoji="1" lang="en-US" altLang="ja-JP" dirty="0" smtClean="0"/>
              </a:p>
              <a:p>
                <a:pPr marL="457200" indent="-457200">
                  <a:buFont typeface="Arial" panose="020B0604020202020204" pitchFamily="34" charset="0"/>
                  <a:buChar char="•"/>
                </a:pPr>
                <a:r>
                  <a:rPr lang="ja-JP" altLang="en-US" sz="2400" dirty="0" smtClean="0"/>
                  <a:t>ラベル集合 </a:t>
                </a:r>
                <a14:m>
                  <m:oMath xmlns:m="http://schemas.openxmlformats.org/officeDocument/2006/math">
                    <m:r>
                      <a:rPr lang="en-US" altLang="ja-JP" sz="2400" b="0" i="1" smtClean="0">
                        <a:latin typeface="Cambria Math" panose="02040503050406030204" pitchFamily="18" charset="0"/>
                      </a:rPr>
                      <m:t>ℒ</m:t>
                    </m:r>
                  </m:oMath>
                </a14:m>
                <a:r>
                  <a:rPr lang="en-US" altLang="ja-JP" sz="2400" dirty="0" smtClean="0">
                    <a:latin typeface="Times New Roman" panose="02020603050405020304" pitchFamily="18" charset="0"/>
                    <a:cs typeface="Times New Roman" panose="02020603050405020304" pitchFamily="18" charset="0"/>
                  </a:rPr>
                  <a:t>,</a:t>
                </a:r>
                <a:r>
                  <a:rPr lang="en-US" altLang="ja-JP" sz="2400" dirty="0" smtClean="0"/>
                  <a:t> </a:t>
                </a:r>
                <a:r>
                  <a:rPr lang="ja-JP" altLang="en-US" sz="2400" dirty="0" smtClean="0"/>
                  <a:t>パターン</a:t>
                </a:r>
                <a:r>
                  <a:rPr lang="en-US" altLang="ja-JP" sz="2400" b="1" dirty="0" smtClean="0">
                    <a:latin typeface="Times New Roman" panose="02020603050405020304" pitchFamily="18" charset="0"/>
                    <a:cs typeface="Times New Roman" panose="02020603050405020304" pitchFamily="18" charset="0"/>
                  </a:rPr>
                  <a:t>x</a:t>
                </a:r>
                <a:r>
                  <a:rPr lang="ja-JP" altLang="en-US" sz="2400" dirty="0" smtClean="0"/>
                  <a:t>の真のラベル集合 </a:t>
                </a:r>
                <a14:m>
                  <m:oMath xmlns:m="http://schemas.openxmlformats.org/officeDocument/2006/math">
                    <m:sSub>
                      <m:sSubPr>
                        <m:ctrlPr>
                          <a:rPr lang="en-US" altLang="ja-JP" sz="2400" i="1">
                            <a:latin typeface="Cambria Math" panose="02040503050406030204" pitchFamily="18" charset="0"/>
                            <a:cs typeface="Times New Roman" panose="02020603050405020304" pitchFamily="18" charset="0"/>
                          </a:rPr>
                        </m:ctrlPr>
                      </m:sSubPr>
                      <m:e>
                        <m:r>
                          <a:rPr lang="en-US" altLang="ja-JP" sz="2400" i="1">
                            <a:latin typeface="Cambria Math" panose="02040503050406030204" pitchFamily="18" charset="0"/>
                            <a:cs typeface="Times New Roman" panose="02020603050405020304" pitchFamily="18" charset="0"/>
                          </a:rPr>
                          <m:t>𝑃</m:t>
                        </m:r>
                      </m:e>
                      <m:sub>
                        <m:r>
                          <a:rPr lang="en-US" altLang="ja-JP" sz="2400" b="1">
                            <a:latin typeface="Cambria Math" panose="02040503050406030204" pitchFamily="18" charset="0"/>
                            <a:cs typeface="Times New Roman" panose="02020603050405020304" pitchFamily="18" charset="0"/>
                          </a:rPr>
                          <m:t>𝐱</m:t>
                        </m:r>
                      </m:sub>
                    </m:sSub>
                  </m:oMath>
                </a14:m>
                <a:r>
                  <a:rPr lang="en-US" altLang="ja-JP" sz="2400" dirty="0" smtClean="0">
                    <a:latin typeface="Times New Roman" panose="02020603050405020304" pitchFamily="18" charset="0"/>
                    <a:ea typeface="Tahoma" panose="020B0604030504040204" pitchFamily="34" charset="0"/>
                    <a:cs typeface="Times New Roman" panose="02020603050405020304" pitchFamily="18" charset="0"/>
                  </a:rPr>
                  <a:t>, (</a:t>
                </a:r>
                <a14:m>
                  <m:oMath xmlns:m="http://schemas.openxmlformats.org/officeDocument/2006/math">
                    <m:sSub>
                      <m:sSubPr>
                        <m:ctrlPr>
                          <a:rPr lang="en-US" altLang="ja-JP" sz="2400" i="1">
                            <a:latin typeface="Cambria Math" panose="02040503050406030204" pitchFamily="18" charset="0"/>
                            <a:cs typeface="Times New Roman" panose="02020603050405020304" pitchFamily="18" charset="0"/>
                          </a:rPr>
                        </m:ctrlPr>
                      </m:sSubPr>
                      <m:e>
                        <m:r>
                          <a:rPr lang="en-US" altLang="ja-JP" sz="2400" b="0" i="1" smtClean="0">
                            <a:latin typeface="Cambria Math" panose="02040503050406030204" pitchFamily="18" charset="0"/>
                            <a:cs typeface="Times New Roman" panose="02020603050405020304" pitchFamily="18" charset="0"/>
                          </a:rPr>
                          <m:t>𝑁</m:t>
                        </m:r>
                      </m:e>
                      <m:sub>
                        <m:r>
                          <a:rPr lang="en-US" altLang="ja-JP" sz="2400" b="1">
                            <a:latin typeface="Cambria Math" panose="02040503050406030204" pitchFamily="18" charset="0"/>
                            <a:cs typeface="Times New Roman" panose="02020603050405020304" pitchFamily="18" charset="0"/>
                          </a:rPr>
                          <m:t>𝐱</m:t>
                        </m:r>
                      </m:sub>
                    </m:sSub>
                  </m:oMath>
                </a14:m>
                <a:r>
                  <a:rPr lang="en-US" altLang="ja-JP" sz="2400" dirty="0" smtClean="0">
                    <a:latin typeface="Times New Roman" panose="02020603050405020304" pitchFamily="18" charset="0"/>
                    <a:ea typeface="Tahoma" panose="020B0604030504040204" pitchFamily="34" charset="0"/>
                    <a:cs typeface="Times New Roman" panose="02020603050405020304" pitchFamily="18" charset="0"/>
                  </a:rPr>
                  <a:t> := </a:t>
                </a:r>
                <a14:m>
                  <m:oMath xmlns:m="http://schemas.openxmlformats.org/officeDocument/2006/math">
                    <m:r>
                      <a:rPr lang="en-US" altLang="ja-JP" sz="2400" i="1">
                        <a:latin typeface="Cambria Math" panose="02040503050406030204" pitchFamily="18" charset="0"/>
                      </a:rPr>
                      <m:t>ℒ</m:t>
                    </m:r>
                    <m:r>
                      <a:rPr lang="en-US" altLang="ja-JP" sz="2400" b="0" i="1" smtClean="0">
                        <a:latin typeface="Cambria Math" panose="02040503050406030204" pitchFamily="18" charset="0"/>
                      </a:rPr>
                      <m:t>−</m:t>
                    </m:r>
                    <m:sSub>
                      <m:sSubPr>
                        <m:ctrlPr>
                          <a:rPr lang="en-US" altLang="ja-JP" sz="2400" i="1">
                            <a:latin typeface="Cambria Math" panose="02040503050406030204" pitchFamily="18" charset="0"/>
                            <a:cs typeface="Times New Roman" panose="02020603050405020304" pitchFamily="18" charset="0"/>
                          </a:rPr>
                        </m:ctrlPr>
                      </m:sSubPr>
                      <m:e>
                        <m:r>
                          <a:rPr lang="en-US" altLang="ja-JP" sz="2400" i="1">
                            <a:latin typeface="Cambria Math" panose="02040503050406030204" pitchFamily="18" charset="0"/>
                            <a:cs typeface="Times New Roman" panose="02020603050405020304" pitchFamily="18" charset="0"/>
                          </a:rPr>
                          <m:t>𝑃</m:t>
                        </m:r>
                      </m:e>
                      <m:sub>
                        <m:r>
                          <a:rPr lang="en-US" altLang="ja-JP" sz="2400" b="1">
                            <a:latin typeface="Cambria Math" panose="02040503050406030204" pitchFamily="18" charset="0"/>
                            <a:cs typeface="Times New Roman" panose="02020603050405020304" pitchFamily="18" charset="0"/>
                          </a:rPr>
                          <m:t>𝐱</m:t>
                        </m:r>
                      </m:sub>
                    </m:sSub>
                  </m:oMath>
                </a14:m>
                <a:r>
                  <a:rPr lang="en-US" altLang="ja-JP" sz="2400" dirty="0" smtClean="0">
                    <a:latin typeface="Times New Roman" panose="02020603050405020304" pitchFamily="18" charset="0"/>
                    <a:ea typeface="Tahoma" panose="020B0604030504040204" pitchFamily="34" charset="0"/>
                    <a:cs typeface="Times New Roman" panose="02020603050405020304" pitchFamily="18" charset="0"/>
                  </a:rPr>
                  <a:t>)</a:t>
                </a:r>
              </a:p>
              <a:p>
                <a:pPr marL="457200" indent="-457200">
                  <a:buFont typeface="Arial" panose="020B0604020202020204" pitchFamily="34" charset="0"/>
                  <a:buChar char="•"/>
                </a:pPr>
                <a:r>
                  <a:rPr lang="ja-JP" altLang="en-US" sz="2400" dirty="0" smtClean="0">
                    <a:latin typeface="+mj-ea"/>
                    <a:ea typeface="+mj-ea"/>
                    <a:cs typeface="Times New Roman" panose="02020603050405020304" pitchFamily="18" charset="0"/>
                  </a:rPr>
                  <a:t>予測されたラベル集合 </a:t>
                </a:r>
                <a14:m>
                  <m:oMath xmlns:m="http://schemas.openxmlformats.org/officeDocument/2006/math">
                    <m:acc>
                      <m:accPr>
                        <m:chr m:val="̂"/>
                        <m:ctrlPr>
                          <a:rPr lang="ja-JP" altLang="en-US" sz="2400" i="1" smtClean="0">
                            <a:latin typeface="Cambria Math" panose="02040503050406030204" pitchFamily="18" charset="0"/>
                            <a:ea typeface="+mj-ea"/>
                            <a:cs typeface="Times New Roman" panose="02020603050405020304" pitchFamily="18" charset="0"/>
                          </a:rPr>
                        </m:ctrlPr>
                      </m:accPr>
                      <m:e>
                        <m:sSub>
                          <m:sSubPr>
                            <m:ctrlPr>
                              <a:rPr lang="en-US" altLang="ja-JP" sz="2400" i="1" smtClean="0">
                                <a:latin typeface="Cambria Math" panose="02040503050406030204" pitchFamily="18" charset="0"/>
                                <a:ea typeface="+mj-ea"/>
                                <a:cs typeface="Times New Roman" panose="02020603050405020304" pitchFamily="18" charset="0"/>
                              </a:rPr>
                            </m:ctrlPr>
                          </m:sSubPr>
                          <m:e>
                            <m:r>
                              <a:rPr lang="en-US" altLang="ja-JP" sz="2400" b="0" i="1" smtClean="0">
                                <a:latin typeface="Cambria Math" panose="02040503050406030204" pitchFamily="18" charset="0"/>
                                <a:ea typeface="+mj-ea"/>
                                <a:cs typeface="Times New Roman" panose="02020603050405020304" pitchFamily="18" charset="0"/>
                              </a:rPr>
                              <m:t>𝑃</m:t>
                            </m:r>
                          </m:e>
                          <m:sub>
                            <m:r>
                              <a:rPr lang="en-US" altLang="ja-JP" sz="2400" b="1" i="0" smtClean="0">
                                <a:latin typeface="Cambria Math" panose="02040503050406030204" pitchFamily="18" charset="0"/>
                                <a:ea typeface="+mj-ea"/>
                                <a:cs typeface="Times New Roman" panose="02020603050405020304" pitchFamily="18" charset="0"/>
                              </a:rPr>
                              <m:t>𝐱</m:t>
                            </m:r>
                          </m:sub>
                        </m:sSub>
                      </m:e>
                    </m:acc>
                  </m:oMath>
                </a14:m>
                <a:r>
                  <a:rPr lang="en-US" altLang="ja-JP" sz="2400" dirty="0" smtClean="0">
                    <a:latin typeface="Times New Roman" panose="02020603050405020304" pitchFamily="18" charset="0"/>
                    <a:ea typeface="+mj-ea"/>
                    <a:cs typeface="Times New Roman" panose="02020603050405020304" pitchFamily="18" charset="0"/>
                  </a:rPr>
                  <a:t>, </a:t>
                </a:r>
                <a:r>
                  <a:rPr lang="en-US" altLang="ja-JP" sz="2400" dirty="0">
                    <a:latin typeface="Times New Roman" panose="02020603050405020304" pitchFamily="18" charset="0"/>
                    <a:ea typeface="Tahoma" panose="020B0604030504040204" pitchFamily="34" charset="0"/>
                    <a:cs typeface="Times New Roman" panose="02020603050405020304" pitchFamily="18" charset="0"/>
                  </a:rPr>
                  <a:t>(</a:t>
                </a:r>
                <a14:m>
                  <m:oMath xmlns:m="http://schemas.openxmlformats.org/officeDocument/2006/math">
                    <m:acc>
                      <m:accPr>
                        <m:chr m:val="̂"/>
                        <m:ctrlPr>
                          <a:rPr lang="ja-JP" altLang="en-US" sz="2400" i="1">
                            <a:latin typeface="Cambria Math" panose="02040503050406030204" pitchFamily="18" charset="0"/>
                            <a:cs typeface="Times New Roman" panose="02020603050405020304" pitchFamily="18" charset="0"/>
                          </a:rPr>
                        </m:ctrlPr>
                      </m:accPr>
                      <m:e>
                        <m:sSub>
                          <m:sSubPr>
                            <m:ctrlPr>
                              <a:rPr lang="en-US" altLang="ja-JP" sz="2400" i="1">
                                <a:latin typeface="Cambria Math" panose="02040503050406030204" pitchFamily="18" charset="0"/>
                                <a:cs typeface="Times New Roman" panose="02020603050405020304" pitchFamily="18" charset="0"/>
                              </a:rPr>
                            </m:ctrlPr>
                          </m:sSubPr>
                          <m:e>
                            <m:r>
                              <a:rPr lang="en-US" altLang="ja-JP" sz="2400" b="0" i="1" smtClean="0">
                                <a:latin typeface="Cambria Math" panose="02040503050406030204" pitchFamily="18" charset="0"/>
                                <a:cs typeface="Times New Roman" panose="02020603050405020304" pitchFamily="18" charset="0"/>
                              </a:rPr>
                              <m:t>𝑁</m:t>
                            </m:r>
                          </m:e>
                          <m:sub>
                            <m:r>
                              <a:rPr lang="en-US" altLang="ja-JP" sz="2400" b="1">
                                <a:latin typeface="Cambria Math" panose="02040503050406030204" pitchFamily="18" charset="0"/>
                                <a:cs typeface="Times New Roman" panose="02020603050405020304" pitchFamily="18" charset="0"/>
                              </a:rPr>
                              <m:t>𝐱</m:t>
                            </m:r>
                          </m:sub>
                        </m:sSub>
                      </m:e>
                    </m:acc>
                  </m:oMath>
                </a14:m>
                <a:r>
                  <a:rPr lang="en-US" altLang="ja-JP" sz="2400" dirty="0">
                    <a:latin typeface="Times New Roman" panose="02020603050405020304" pitchFamily="18" charset="0"/>
                    <a:ea typeface="Tahoma" panose="020B0604030504040204" pitchFamily="34" charset="0"/>
                    <a:cs typeface="Times New Roman" panose="02020603050405020304" pitchFamily="18" charset="0"/>
                  </a:rPr>
                  <a:t>:= </a:t>
                </a:r>
                <a14:m>
                  <m:oMath xmlns:m="http://schemas.openxmlformats.org/officeDocument/2006/math">
                    <m:r>
                      <a:rPr lang="en-US" altLang="ja-JP" sz="2400" i="1">
                        <a:latin typeface="Cambria Math" panose="02040503050406030204" pitchFamily="18" charset="0"/>
                      </a:rPr>
                      <m:t>ℒ</m:t>
                    </m:r>
                    <m:r>
                      <a:rPr lang="en-US" altLang="ja-JP" sz="2400" i="1">
                        <a:latin typeface="Cambria Math" panose="02040503050406030204" pitchFamily="18" charset="0"/>
                      </a:rPr>
                      <m:t>−</m:t>
                    </m:r>
                    <m:acc>
                      <m:accPr>
                        <m:chr m:val="̂"/>
                        <m:ctrlPr>
                          <a:rPr lang="ja-JP" altLang="en-US" sz="2400" i="1">
                            <a:latin typeface="Cambria Math" panose="02040503050406030204" pitchFamily="18" charset="0"/>
                            <a:cs typeface="Times New Roman" panose="02020603050405020304" pitchFamily="18" charset="0"/>
                          </a:rPr>
                        </m:ctrlPr>
                      </m:accPr>
                      <m:e>
                        <m:sSub>
                          <m:sSubPr>
                            <m:ctrlPr>
                              <a:rPr lang="en-US" altLang="ja-JP" sz="2400" i="1">
                                <a:latin typeface="Cambria Math" panose="02040503050406030204" pitchFamily="18" charset="0"/>
                                <a:cs typeface="Times New Roman" panose="02020603050405020304" pitchFamily="18" charset="0"/>
                              </a:rPr>
                            </m:ctrlPr>
                          </m:sSubPr>
                          <m:e>
                            <m:r>
                              <a:rPr lang="en-US" altLang="ja-JP" sz="2400" i="1">
                                <a:latin typeface="Cambria Math" panose="02040503050406030204" pitchFamily="18" charset="0"/>
                                <a:cs typeface="Times New Roman" panose="02020603050405020304" pitchFamily="18" charset="0"/>
                              </a:rPr>
                              <m:t>𝑃</m:t>
                            </m:r>
                          </m:e>
                          <m:sub>
                            <m:r>
                              <a:rPr lang="en-US" altLang="ja-JP" sz="2400" b="1">
                                <a:latin typeface="Cambria Math" panose="02040503050406030204" pitchFamily="18" charset="0"/>
                                <a:cs typeface="Times New Roman" panose="02020603050405020304" pitchFamily="18" charset="0"/>
                              </a:rPr>
                              <m:t>𝐱</m:t>
                            </m:r>
                          </m:sub>
                        </m:sSub>
                      </m:e>
                    </m:acc>
                  </m:oMath>
                </a14:m>
                <a:r>
                  <a:rPr lang="en-US" altLang="ja-JP" sz="2400" dirty="0" smtClean="0">
                    <a:latin typeface="Times New Roman" panose="02020603050405020304" pitchFamily="18" charset="0"/>
                    <a:ea typeface="Tahoma" panose="020B0604030504040204" pitchFamily="34" charset="0"/>
                    <a:cs typeface="Times New Roman" panose="02020603050405020304" pitchFamily="18" charset="0"/>
                  </a:rPr>
                  <a:t>)</a:t>
                </a:r>
              </a:p>
              <a:p>
                <a:pPr marL="457200" indent="-457200">
                  <a:buFont typeface="Arial" panose="020B0604020202020204" pitchFamily="34" charset="0"/>
                  <a:buChar char="•"/>
                </a:pPr>
                <a:r>
                  <a:rPr lang="en-US" altLang="ja-JP" sz="2400" b="1" dirty="0">
                    <a:latin typeface="Times New Roman" panose="02020603050405020304" pitchFamily="18" charset="0"/>
                    <a:cs typeface="Times New Roman" panose="02020603050405020304" pitchFamily="18" charset="0"/>
                  </a:rPr>
                  <a:t>x</a:t>
                </a:r>
                <a:r>
                  <a:rPr lang="ja-JP" altLang="en-US" sz="2400" dirty="0">
                    <a:latin typeface="+mj-ea"/>
                    <a:cs typeface="Times New Roman" panose="02020603050405020304" pitchFamily="18" charset="0"/>
                  </a:rPr>
                  <a:t>に対して識別器が予測したラベル</a:t>
                </a:r>
                <a14:m>
                  <m:oMath xmlns:m="http://schemas.openxmlformats.org/officeDocument/2006/math">
                    <m:r>
                      <a:rPr lang="ja-JP" altLang="en-US" sz="2400" i="1">
                        <a:latin typeface="Cambria Math" panose="02040503050406030204" pitchFamily="18" charset="0"/>
                        <a:cs typeface="Times New Roman" panose="02020603050405020304" pitchFamily="18" charset="0"/>
                      </a:rPr>
                      <m:t>𝜆</m:t>
                    </m:r>
                  </m:oMath>
                </a14:m>
                <a:r>
                  <a:rPr lang="ja-JP" altLang="en-US" sz="2400" dirty="0">
                    <a:latin typeface="+mj-ea"/>
                    <a:cs typeface="Times New Roman" panose="02020603050405020304" pitchFamily="18" charset="0"/>
                  </a:rPr>
                  <a:t>の順序 </a:t>
                </a:r>
                <a14:m>
                  <m:oMath xmlns:m="http://schemas.openxmlformats.org/officeDocument/2006/math">
                    <m:r>
                      <a:rPr lang="ja-JP" altLang="en-US" sz="2400" i="1">
                        <a:latin typeface="Cambria Math" panose="02040503050406030204" pitchFamily="18" charset="0"/>
                        <a:cs typeface="Times New Roman" panose="02020603050405020304" pitchFamily="18" charset="0"/>
                      </a:rPr>
                      <m:t>𝜏</m:t>
                    </m:r>
                    <m:d>
                      <m:dPr>
                        <m:ctrlPr>
                          <a:rPr lang="en-US" altLang="ja-JP" sz="2400" i="1">
                            <a:latin typeface="Cambria Math" panose="02040503050406030204" pitchFamily="18" charset="0"/>
                            <a:cs typeface="Times New Roman" panose="02020603050405020304" pitchFamily="18" charset="0"/>
                          </a:rPr>
                        </m:ctrlPr>
                      </m:dPr>
                      <m:e>
                        <m:r>
                          <a:rPr lang="ja-JP" altLang="en-US" sz="2400" i="1">
                            <a:latin typeface="Cambria Math" panose="02040503050406030204" pitchFamily="18" charset="0"/>
                            <a:cs typeface="Times New Roman" panose="02020603050405020304" pitchFamily="18" charset="0"/>
                          </a:rPr>
                          <m:t>𝜆</m:t>
                        </m:r>
                      </m:e>
                    </m:d>
                  </m:oMath>
                </a14:m>
                <a:r>
                  <a:rPr lang="ja-JP" altLang="en-US" sz="2400" dirty="0" smtClean="0">
                    <a:latin typeface="+mj-ea"/>
                    <a:ea typeface="+mj-ea"/>
                    <a:cs typeface="Times New Roman" panose="02020603050405020304" pitchFamily="18" charset="0"/>
                  </a:rPr>
                  <a:t> </a:t>
                </a:r>
                <a:endParaRPr lang="en-US" altLang="ja-JP" sz="2400" dirty="0" smtClean="0">
                  <a:latin typeface="+mj-ea"/>
                  <a:ea typeface="+mj-ea"/>
                  <a:cs typeface="Times New Roman" panose="02020603050405020304" pitchFamily="18" charset="0"/>
                </a:endParaRPr>
              </a:p>
              <a:p>
                <a:endParaRPr kumimoji="1" lang="en-US" altLang="ja-JP" sz="1400" dirty="0" smtClean="0"/>
              </a:p>
              <a:p>
                <a:pPr marL="514350" indent="-514350">
                  <a:buFont typeface="+mj-lt"/>
                  <a:buAutoNum type="arabicPeriod" startAt="3"/>
                </a:pPr>
                <a:r>
                  <a:rPr kumimoji="1" lang="en-US" altLang="ja-JP" b="1" dirty="0" smtClean="0"/>
                  <a:t>One-error</a:t>
                </a:r>
                <a:r>
                  <a:rPr lang="ja-JP" altLang="en-US" dirty="0" smtClean="0"/>
                  <a:t> </a:t>
                </a:r>
                <a:r>
                  <a:rPr lang="en-US" altLang="ja-JP" b="1" dirty="0"/>
                  <a:t>(</a:t>
                </a:r>
                <a:r>
                  <a:rPr lang="en-US" altLang="ja-JP" b="1" dirty="0">
                    <a:solidFill>
                      <a:srgbClr val="0070C0"/>
                    </a:solidFill>
                  </a:rPr>
                  <a:t>minimize</a:t>
                </a:r>
                <a:r>
                  <a:rPr lang="en-US" altLang="ja-JP" b="1" dirty="0" smtClean="0"/>
                  <a:t>)</a:t>
                </a:r>
                <a:r>
                  <a:rPr kumimoji="1" lang="en-US" altLang="ja-JP" dirty="0" smtClean="0"/>
                  <a:t>:</a:t>
                </a:r>
              </a:p>
              <a:p>
                <a:pPr lvl="1"/>
                <a:r>
                  <a:rPr kumimoji="1" lang="ja-JP" altLang="en-US" dirty="0" smtClean="0"/>
                  <a:t>最も関連するラベルを誤識別した回数</a:t>
                </a:r>
                <a:endParaRPr kumimoji="1" lang="en-US" altLang="ja-JP" dirty="0" smtClean="0"/>
              </a:p>
              <a:p>
                <a:pPr lvl="1"/>
                <a:endParaRPr kumimoji="1" lang="en-US" altLang="ja-JP" sz="1800" dirty="0" smtClean="0"/>
              </a:p>
              <a:p>
                <a:pPr marL="514350" indent="-514350">
                  <a:buFont typeface="+mj-lt"/>
                  <a:buAutoNum type="arabicPeriod" startAt="3"/>
                </a:pPr>
                <a:r>
                  <a:rPr lang="en-US" altLang="ja-JP" b="1" dirty="0" smtClean="0"/>
                  <a:t>Average Precision</a:t>
                </a:r>
                <a:r>
                  <a:rPr lang="ja-JP" altLang="en-US" b="1" dirty="0"/>
                  <a:t> </a:t>
                </a:r>
                <a:r>
                  <a:rPr lang="en-US" altLang="ja-JP" b="1" dirty="0"/>
                  <a:t>(</a:t>
                </a:r>
                <a:r>
                  <a:rPr lang="en-US" altLang="ja-JP" b="1" dirty="0" smtClean="0">
                    <a:solidFill>
                      <a:schemeClr val="accent1"/>
                    </a:solidFill>
                  </a:rPr>
                  <a:t>maximize</a:t>
                </a:r>
                <a:r>
                  <a:rPr lang="en-US" altLang="ja-JP" b="1" dirty="0" smtClean="0"/>
                  <a:t>)</a:t>
                </a:r>
                <a:r>
                  <a:rPr lang="en-US" altLang="ja-JP" dirty="0" smtClean="0"/>
                  <a:t>:</a:t>
                </a:r>
              </a:p>
              <a:p>
                <a:pPr lvl="1"/>
                <a14:m>
                  <m:oMath xmlns:m="http://schemas.openxmlformats.org/officeDocument/2006/math">
                    <m:sSub>
                      <m:sSubPr>
                        <m:ctrlPr>
                          <a:rPr lang="en-US" altLang="ja-JP" i="1">
                            <a:latin typeface="Cambria Math" panose="02040503050406030204" pitchFamily="18" charset="0"/>
                            <a:cs typeface="Times New Roman" panose="02020603050405020304" pitchFamily="18" charset="0"/>
                          </a:rPr>
                        </m:ctrlPr>
                      </m:sSubPr>
                      <m:e>
                        <m:r>
                          <a:rPr lang="en-US" altLang="ja-JP" i="1">
                            <a:latin typeface="Cambria Math" panose="02040503050406030204" pitchFamily="18" charset="0"/>
                            <a:cs typeface="Times New Roman" panose="02020603050405020304" pitchFamily="18" charset="0"/>
                          </a:rPr>
                          <m:t>𝑃</m:t>
                        </m:r>
                      </m:e>
                      <m:sub>
                        <m:r>
                          <a:rPr lang="en-US" altLang="ja-JP" b="1">
                            <a:latin typeface="Cambria Math" panose="02040503050406030204" pitchFamily="18" charset="0"/>
                            <a:cs typeface="Times New Roman" panose="02020603050405020304" pitchFamily="18" charset="0"/>
                          </a:rPr>
                          <m:t>𝐱</m:t>
                        </m:r>
                      </m:sub>
                    </m:sSub>
                  </m:oMath>
                </a14:m>
                <a:r>
                  <a:rPr lang="ja-JP" altLang="en-US" dirty="0" smtClean="0"/>
                  <a:t>よりも下位だと識別した割合</a:t>
                </a:r>
                <a:endParaRPr lang="en-US" altLang="ja-JP" dirty="0" smtClean="0"/>
              </a:p>
              <a:p>
                <a:pPr lvl="1"/>
                <a:endParaRPr lang="en-US" altLang="ja-JP" sz="2800" dirty="0" smtClean="0"/>
              </a:p>
              <a:p>
                <a:pPr marL="514350" indent="-514350">
                  <a:buFont typeface="+mj-lt"/>
                  <a:buAutoNum type="arabicPeriod" startAt="3"/>
                </a:pPr>
                <a:r>
                  <a:rPr kumimoji="1" lang="en-US" altLang="ja-JP" b="1" dirty="0" smtClean="0"/>
                  <a:t>Subset Accuracy</a:t>
                </a:r>
                <a:r>
                  <a:rPr lang="ja-JP" altLang="en-US" b="1" dirty="0"/>
                  <a:t> </a:t>
                </a:r>
                <a:r>
                  <a:rPr lang="en-US" altLang="ja-JP" b="1" dirty="0"/>
                  <a:t>(</a:t>
                </a:r>
                <a:r>
                  <a:rPr lang="en-US" altLang="ja-JP" b="1" dirty="0" smtClean="0">
                    <a:solidFill>
                      <a:schemeClr val="accent1"/>
                    </a:solidFill>
                  </a:rPr>
                  <a:t>maximize</a:t>
                </a:r>
                <a:r>
                  <a:rPr lang="en-US" altLang="ja-JP" b="1" dirty="0" smtClean="0"/>
                  <a:t>)</a:t>
                </a:r>
                <a:r>
                  <a:rPr kumimoji="1" lang="en-US" altLang="ja-JP" dirty="0" smtClean="0"/>
                  <a:t>:</a:t>
                </a:r>
                <a:r>
                  <a:rPr lang="ja-JP" altLang="en-US" dirty="0"/>
                  <a:t> </a:t>
                </a:r>
                <a:r>
                  <a:rPr lang="ja-JP" altLang="en-US" dirty="0" smtClean="0"/>
                  <a:t>完全一致した割合</a:t>
                </a:r>
                <a:endParaRPr kumimoji="1" lang="ja-JP" altLang="en-US" dirty="0"/>
              </a:p>
            </p:txBody>
          </p:sp>
        </mc:Choice>
        <mc:Fallback xmlns="">
          <p:sp>
            <p:nvSpPr>
              <p:cNvPr id="3" name="コンテンツ プレースホルダー 2"/>
              <p:cNvSpPr>
                <a:spLocks noGrp="1" noRot="1" noChangeAspect="1" noMove="1" noResize="1" noEditPoints="1" noAdjustHandles="1" noChangeArrowheads="1" noChangeShapeType="1" noTextEdit="1"/>
              </p:cNvSpPr>
              <p:nvPr>
                <p:ph idx="1"/>
              </p:nvPr>
            </p:nvSpPr>
            <p:spPr>
              <a:blipFill>
                <a:blip r:embed="rId2"/>
                <a:stretch>
                  <a:fillRect l="-1263" b="-6706"/>
                </a:stretch>
              </a:blipFill>
            </p:spPr>
            <p:txBody>
              <a:bodyPr/>
              <a:lstStyle/>
              <a:p>
                <a:r>
                  <a:rPr lang="ja-JP" altLang="en-US">
                    <a:noFill/>
                  </a:rPr>
                  <a:t> </a:t>
                </a:r>
              </a:p>
            </p:txBody>
          </p:sp>
        </mc:Fallback>
      </mc:AlternateContent>
      <p:sp>
        <p:nvSpPr>
          <p:cNvPr id="4" name="スライド番号プレースホルダー 3"/>
          <p:cNvSpPr>
            <a:spLocks noGrp="1"/>
          </p:cNvSpPr>
          <p:nvPr>
            <p:ph type="sldNum" sz="quarter" idx="12"/>
          </p:nvPr>
        </p:nvSpPr>
        <p:spPr/>
        <p:txBody>
          <a:bodyPr/>
          <a:lstStyle/>
          <a:p>
            <a:r>
              <a:rPr kumimoji="1" lang="en-US" altLang="ja-JP" smtClean="0"/>
              <a:t>8/21</a:t>
            </a:r>
            <a:endParaRPr kumimoji="1" lang="ja-JP" altLang="en-US"/>
          </a:p>
        </p:txBody>
      </p:sp>
      <p:sp>
        <p:nvSpPr>
          <p:cNvPr id="5" name="テキスト プレースホルダー 4"/>
          <p:cNvSpPr>
            <a:spLocks noGrp="1"/>
          </p:cNvSpPr>
          <p:nvPr>
            <p:ph type="body" sz="quarter" idx="13"/>
          </p:nvPr>
        </p:nvSpPr>
        <p:spPr/>
        <p:txBody>
          <a:bodyPr/>
          <a:lstStyle/>
          <a:p>
            <a:r>
              <a:rPr kumimoji="1" lang="en-US" altLang="ja-JP" dirty="0" smtClean="0"/>
              <a:t>5</a:t>
            </a:r>
            <a:r>
              <a:rPr kumimoji="1" lang="ja-JP" altLang="en-US" dirty="0" err="1" smtClean="0"/>
              <a:t>つの</a:t>
            </a:r>
            <a:r>
              <a:rPr kumimoji="1" lang="ja-JP" altLang="en-US" dirty="0" smtClean="0"/>
              <a:t>評価尺度</a:t>
            </a:r>
            <a:endParaRPr kumimoji="1" lang="ja-JP" altLang="en-US" dirty="0"/>
          </a:p>
        </p:txBody>
      </p:sp>
      <p:sp>
        <p:nvSpPr>
          <p:cNvPr id="8" name="角丸四角形 7"/>
          <p:cNvSpPr/>
          <p:nvPr/>
        </p:nvSpPr>
        <p:spPr>
          <a:xfrm>
            <a:off x="228600" y="1371600"/>
            <a:ext cx="8686800" cy="1924050"/>
          </a:xfrm>
          <a:prstGeom prst="roundRect">
            <a:avLst>
              <a:gd name="adj" fmla="val 1021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p:cNvSpPr txBox="1"/>
          <p:nvPr/>
        </p:nvSpPr>
        <p:spPr>
          <a:xfrm>
            <a:off x="228600" y="1371600"/>
            <a:ext cx="4330032" cy="461665"/>
          </a:xfrm>
          <a:prstGeom prst="rect">
            <a:avLst/>
          </a:prstGeom>
          <a:solidFill>
            <a:schemeClr val="bg1"/>
          </a:solidFill>
          <a:ln w="19050">
            <a:solidFill>
              <a:schemeClr val="tx1"/>
            </a:solidFill>
          </a:ln>
        </p:spPr>
        <p:txBody>
          <a:bodyPr wrap="none" rtlCol="0">
            <a:spAutoFit/>
          </a:bodyPr>
          <a:lstStyle/>
          <a:p>
            <a:pPr algn="ctr"/>
            <a:r>
              <a:rPr kumimoji="1" lang="ja-JP" altLang="en-US" sz="2400" dirty="0" smtClean="0"/>
              <a:t>マルチラベル識別問題での定義</a:t>
            </a:r>
          </a:p>
        </p:txBody>
      </p:sp>
      <mc:AlternateContent xmlns:mc="http://schemas.openxmlformats.org/markup-compatibility/2006" xmlns:a14="http://schemas.microsoft.com/office/drawing/2010/main">
        <mc:Choice Requires="a14">
          <p:sp>
            <p:nvSpPr>
              <p:cNvPr id="10" name="テキスト ボックス 9"/>
              <p:cNvSpPr txBox="1"/>
              <p:nvPr/>
            </p:nvSpPr>
            <p:spPr>
              <a:xfrm>
                <a:off x="6419428" y="3436615"/>
                <a:ext cx="2318455" cy="1051570"/>
              </a:xfrm>
              <a:prstGeom prst="rect">
                <a:avLst/>
              </a:prstGeom>
              <a:noFill/>
            </p:spPr>
            <p:txBody>
              <a:bodyPr wrap="none" rtlCol="0">
                <a:spAutoFit/>
              </a:bodyPr>
              <a:lstStyle/>
              <a:p>
                <a:pPr algn="ctr"/>
                <a14:m>
                  <m:oMathPara xmlns:m="http://schemas.openxmlformats.org/officeDocument/2006/math">
                    <m:oMathParaPr>
                      <m:jc m:val="center"/>
                    </m:oMathParaPr>
                    <m:oMath xmlns:m="http://schemas.openxmlformats.org/officeDocument/2006/math">
                      <m:d>
                        <m:dPr>
                          <m:begChr m:val="{"/>
                          <m:endChr m:val=""/>
                          <m:ctrlPr>
                            <a:rPr kumimoji="1" lang="en-US" altLang="ja-JP" sz="2400" i="1" smtClean="0">
                              <a:latin typeface="Cambria Math" panose="02040503050406030204" pitchFamily="18" charset="0"/>
                            </a:rPr>
                          </m:ctrlPr>
                        </m:dPr>
                        <m:e>
                          <m:eqArr>
                            <m:eqArrPr>
                              <m:ctrlPr>
                                <a:rPr kumimoji="1" lang="en-US" altLang="ja-JP" sz="2400" i="1" smtClean="0">
                                  <a:latin typeface="Cambria Math" panose="02040503050406030204" pitchFamily="18" charset="0"/>
                                </a:rPr>
                              </m:ctrlPr>
                            </m:eqArrPr>
                            <m:e>
                              <m:r>
                                <a:rPr kumimoji="1" lang="en-US" altLang="ja-JP" sz="2400" b="0" i="1" smtClean="0">
                                  <a:latin typeface="Cambria Math" panose="02040503050406030204" pitchFamily="18" charset="0"/>
                                </a:rPr>
                                <m:t>1 </m:t>
                              </m:r>
                              <m:r>
                                <a:rPr kumimoji="1" lang="en-US" altLang="ja-JP" sz="2400" b="0" i="0" smtClean="0">
                                  <a:latin typeface="Cambria Math" panose="02040503050406030204" pitchFamily="18" charset="0"/>
                                </a:rPr>
                                <m:t>| </m:t>
                              </m:r>
                              <m:sSup>
                                <m:sSupPr>
                                  <m:ctrlPr>
                                    <a:rPr kumimoji="1" lang="en-US" altLang="ja-JP" sz="2400" b="0" i="1" smtClean="0">
                                      <a:latin typeface="Cambria Math" panose="02040503050406030204" pitchFamily="18" charset="0"/>
                                    </a:rPr>
                                  </m:ctrlPr>
                                </m:sSupPr>
                                <m:e>
                                  <m:r>
                                    <a:rPr kumimoji="1" lang="ja-JP" altLang="en-US" sz="2400" b="0" i="1" smtClean="0">
                                      <a:latin typeface="Cambria Math" panose="02040503050406030204" pitchFamily="18" charset="0"/>
                                    </a:rPr>
                                    <m:t>𝜏</m:t>
                                  </m:r>
                                </m:e>
                                <m:sup>
                                  <m:r>
                                    <a:rPr kumimoji="1" lang="en-US" altLang="ja-JP" sz="2400" b="0" i="1" smtClean="0">
                                      <a:latin typeface="Cambria Math" panose="02040503050406030204" pitchFamily="18" charset="0"/>
                                    </a:rPr>
                                    <m:t>−1</m:t>
                                  </m:r>
                                </m:sup>
                              </m:sSup>
                              <m:d>
                                <m:dPr>
                                  <m:ctrlPr>
                                    <a:rPr kumimoji="1" lang="en-US" altLang="ja-JP" sz="2400" b="0" i="1" smtClean="0">
                                      <a:latin typeface="Cambria Math" panose="02040503050406030204" pitchFamily="18" charset="0"/>
                                    </a:rPr>
                                  </m:ctrlPr>
                                </m:dPr>
                                <m:e>
                                  <m:r>
                                    <a:rPr kumimoji="1" lang="en-US" altLang="ja-JP" sz="2400" b="0" i="1" smtClean="0">
                                      <a:latin typeface="Cambria Math" panose="02040503050406030204" pitchFamily="18" charset="0"/>
                                    </a:rPr>
                                    <m:t>1</m:t>
                                  </m:r>
                                </m:e>
                              </m:d>
                              <m:r>
                                <a:rPr kumimoji="1" lang="en-US" altLang="ja-JP" sz="2400" b="0" i="1" smtClean="0">
                                  <a:latin typeface="Cambria Math" panose="02040503050406030204" pitchFamily="18" charset="0"/>
                                  <a:ea typeface="Cambria Math" panose="02040503050406030204" pitchFamily="18" charset="0"/>
                                </a:rPr>
                                <m:t>∈</m:t>
                              </m:r>
                              <m:acc>
                                <m:accPr>
                                  <m:chr m:val="̂"/>
                                  <m:ctrlPr>
                                    <a:rPr lang="ja-JP" altLang="en-US" sz="2400" i="1">
                                      <a:latin typeface="Cambria Math" panose="02040503050406030204" pitchFamily="18" charset="0"/>
                                      <a:cs typeface="Times New Roman" panose="02020603050405020304" pitchFamily="18" charset="0"/>
                                    </a:rPr>
                                  </m:ctrlPr>
                                </m:accPr>
                                <m:e>
                                  <m:sSub>
                                    <m:sSubPr>
                                      <m:ctrlPr>
                                        <a:rPr lang="en-US" altLang="ja-JP" sz="2400" i="1">
                                          <a:latin typeface="Cambria Math" panose="02040503050406030204" pitchFamily="18" charset="0"/>
                                          <a:cs typeface="Times New Roman" panose="02020603050405020304" pitchFamily="18" charset="0"/>
                                        </a:rPr>
                                      </m:ctrlPr>
                                    </m:sSubPr>
                                    <m:e>
                                      <m:r>
                                        <a:rPr lang="en-US" altLang="ja-JP" sz="2400" i="1">
                                          <a:latin typeface="Cambria Math" panose="02040503050406030204" pitchFamily="18" charset="0"/>
                                          <a:cs typeface="Times New Roman" panose="02020603050405020304" pitchFamily="18" charset="0"/>
                                        </a:rPr>
                                        <m:t>𝑃</m:t>
                                      </m:r>
                                    </m:e>
                                    <m:sub>
                                      <m:r>
                                        <a:rPr lang="en-US" altLang="ja-JP" sz="2400" b="1">
                                          <a:latin typeface="Cambria Math" panose="02040503050406030204" pitchFamily="18" charset="0"/>
                                          <a:cs typeface="Times New Roman" panose="02020603050405020304" pitchFamily="18" charset="0"/>
                                        </a:rPr>
                                        <m:t>𝐱</m:t>
                                      </m:r>
                                    </m:sub>
                                  </m:sSub>
                                </m:e>
                              </m:acc>
                            </m:e>
                            <m:e>
                              <m:r>
                                <a:rPr kumimoji="1" lang="en-US" altLang="ja-JP" sz="2400" b="0" i="1" smtClean="0">
                                  <a:latin typeface="Cambria Math" panose="02040503050406030204" pitchFamily="18" charset="0"/>
                                </a:rPr>
                                <m:t>0 |  </m:t>
                              </m:r>
                              <m:r>
                                <m:rPr>
                                  <m:sty m:val="p"/>
                                </m:rPr>
                                <a:rPr kumimoji="1" lang="en-US" altLang="ja-JP" sz="2400" b="0" i="0" smtClean="0">
                                  <a:latin typeface="Cambria Math" panose="02040503050406030204" pitchFamily="18" charset="0"/>
                                </a:rPr>
                                <m:t>otherwise</m:t>
                              </m:r>
                              <m:r>
                                <a:rPr kumimoji="1" lang="en-US" altLang="ja-JP" sz="2400" b="0" i="0" smtClean="0">
                                  <a:latin typeface="Cambria Math" panose="02040503050406030204" pitchFamily="18" charset="0"/>
                                </a:rPr>
                                <m:t>  </m:t>
                              </m:r>
                            </m:e>
                          </m:eqArr>
                        </m:e>
                      </m:d>
                    </m:oMath>
                  </m:oMathPara>
                </a14:m>
                <a:endParaRPr kumimoji="1" lang="ja-JP" altLang="en-US" sz="2400" dirty="0" smtClean="0"/>
              </a:p>
            </p:txBody>
          </p:sp>
        </mc:Choice>
        <mc:Fallback xmlns="">
          <p:sp>
            <p:nvSpPr>
              <p:cNvPr id="10" name="テキスト ボックス 9"/>
              <p:cNvSpPr txBox="1">
                <a:spLocks noRot="1" noChangeAspect="1" noMove="1" noResize="1" noEditPoints="1" noAdjustHandles="1" noChangeArrowheads="1" noChangeShapeType="1" noTextEdit="1"/>
              </p:cNvSpPr>
              <p:nvPr/>
            </p:nvSpPr>
            <p:spPr>
              <a:xfrm>
                <a:off x="6419428" y="3436615"/>
                <a:ext cx="2318455" cy="1051570"/>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3" name="テキスト ボックス 12"/>
              <p:cNvSpPr txBox="1"/>
              <p:nvPr/>
            </p:nvSpPr>
            <p:spPr>
              <a:xfrm>
                <a:off x="4790267" y="5168446"/>
                <a:ext cx="4433778" cy="1044004"/>
              </a:xfrm>
              <a:prstGeom prst="rect">
                <a:avLst/>
              </a:prstGeom>
              <a:noFill/>
            </p:spPr>
            <p:txBody>
              <a:bodyPr wrap="none" rtlCol="0">
                <a:spAutoFit/>
              </a:bodyPr>
              <a:lstStyle/>
              <a:p>
                <a:pPr algn="ctr"/>
                <a14:m>
                  <m:oMathPara xmlns:m="http://schemas.openxmlformats.org/officeDocument/2006/math">
                    <m:oMathParaPr>
                      <m:jc m:val="center"/>
                    </m:oMathParaPr>
                    <m:oMath xmlns:m="http://schemas.openxmlformats.org/officeDocument/2006/math">
                      <m:f>
                        <m:fPr>
                          <m:ctrlPr>
                            <a:rPr lang="en-US" altLang="ja-JP" sz="2400" i="1" smtClean="0">
                              <a:latin typeface="Cambria Math" panose="02040503050406030204" pitchFamily="18" charset="0"/>
                            </a:rPr>
                          </m:ctrlPr>
                        </m:fPr>
                        <m:num>
                          <m:r>
                            <a:rPr lang="en-US" altLang="ja-JP" sz="2400" b="0" i="1" smtClean="0">
                              <a:latin typeface="Cambria Math" panose="02040503050406030204" pitchFamily="18" charset="0"/>
                            </a:rPr>
                            <m:t>1</m:t>
                          </m:r>
                        </m:num>
                        <m:den>
                          <m:d>
                            <m:dPr>
                              <m:begChr m:val="|"/>
                              <m:endChr m:val="|"/>
                              <m:ctrlPr>
                                <a:rPr lang="en-US" altLang="ja-JP" sz="2400" i="1">
                                  <a:latin typeface="Cambria Math" panose="02040503050406030204" pitchFamily="18" charset="0"/>
                                </a:rPr>
                              </m:ctrlPr>
                            </m:dPr>
                            <m:e>
                              <m:sSub>
                                <m:sSubPr>
                                  <m:ctrlPr>
                                    <a:rPr lang="en-US" altLang="ja-JP" sz="2400" i="1">
                                      <a:latin typeface="Cambria Math" panose="02040503050406030204" pitchFamily="18" charset="0"/>
                                      <a:cs typeface="Times New Roman" panose="02020603050405020304" pitchFamily="18" charset="0"/>
                                    </a:rPr>
                                  </m:ctrlPr>
                                </m:sSubPr>
                                <m:e>
                                  <m:r>
                                    <a:rPr lang="en-US" altLang="ja-JP" sz="2400" i="1">
                                      <a:latin typeface="Cambria Math" panose="02040503050406030204" pitchFamily="18" charset="0"/>
                                      <a:cs typeface="Times New Roman" panose="02020603050405020304" pitchFamily="18" charset="0"/>
                                    </a:rPr>
                                    <m:t>𝑃</m:t>
                                  </m:r>
                                </m:e>
                                <m:sub>
                                  <m:r>
                                    <a:rPr lang="en-US" altLang="ja-JP" sz="2400" b="1">
                                      <a:latin typeface="Cambria Math" panose="02040503050406030204" pitchFamily="18" charset="0"/>
                                      <a:cs typeface="Times New Roman" panose="02020603050405020304" pitchFamily="18" charset="0"/>
                                    </a:rPr>
                                    <m:t>𝐱</m:t>
                                  </m:r>
                                </m:sub>
                              </m:sSub>
                            </m:e>
                          </m:d>
                        </m:den>
                      </m:f>
                      <m:nary>
                        <m:naryPr>
                          <m:chr m:val="∑"/>
                          <m:supHide m:val="on"/>
                          <m:ctrlPr>
                            <a:rPr lang="en-US" altLang="ja-JP" sz="2400" i="1" smtClean="0">
                              <a:latin typeface="Cambria Math" panose="02040503050406030204" pitchFamily="18" charset="0"/>
                            </a:rPr>
                          </m:ctrlPr>
                        </m:naryPr>
                        <m:sub>
                          <m:r>
                            <m:rPr>
                              <m:brk m:alnAt="7"/>
                            </m:rPr>
                            <a:rPr lang="ja-JP" altLang="en-US" sz="2400" i="1" smtClean="0">
                              <a:latin typeface="Cambria Math" panose="02040503050406030204" pitchFamily="18" charset="0"/>
                            </a:rPr>
                            <m:t>𝜆</m:t>
                          </m:r>
                          <m:r>
                            <a:rPr lang="en-US" altLang="ja-JP" sz="2400" i="1" smtClean="0">
                              <a:latin typeface="Cambria Math" panose="02040503050406030204" pitchFamily="18" charset="0"/>
                              <a:ea typeface="Cambria Math" panose="02040503050406030204" pitchFamily="18" charset="0"/>
                            </a:rPr>
                            <m:t>∈</m:t>
                          </m:r>
                          <m:sSub>
                            <m:sSubPr>
                              <m:ctrlPr>
                                <a:rPr lang="en-US" altLang="ja-JP" sz="2400" i="1">
                                  <a:latin typeface="Cambria Math" panose="02040503050406030204" pitchFamily="18" charset="0"/>
                                  <a:cs typeface="Times New Roman" panose="02020603050405020304" pitchFamily="18" charset="0"/>
                                </a:rPr>
                              </m:ctrlPr>
                            </m:sSubPr>
                            <m:e>
                              <m:r>
                                <a:rPr lang="en-US" altLang="ja-JP" sz="2400" i="1">
                                  <a:latin typeface="Cambria Math" panose="02040503050406030204" pitchFamily="18" charset="0"/>
                                  <a:cs typeface="Times New Roman" panose="02020603050405020304" pitchFamily="18" charset="0"/>
                                </a:rPr>
                                <m:t>𝑃</m:t>
                              </m:r>
                            </m:e>
                            <m:sub>
                              <m:r>
                                <a:rPr lang="en-US" altLang="ja-JP" sz="2400" b="1">
                                  <a:latin typeface="Cambria Math" panose="02040503050406030204" pitchFamily="18" charset="0"/>
                                  <a:cs typeface="Times New Roman" panose="02020603050405020304" pitchFamily="18" charset="0"/>
                                </a:rPr>
                                <m:t>𝐱</m:t>
                              </m:r>
                            </m:sub>
                          </m:sSub>
                        </m:sub>
                        <m:sup/>
                        <m:e>
                          <m:f>
                            <m:fPr>
                              <m:ctrlPr>
                                <a:rPr lang="en-US" altLang="ja-JP" sz="2400" i="1" smtClean="0">
                                  <a:latin typeface="Cambria Math" panose="02040503050406030204" pitchFamily="18" charset="0"/>
                                </a:rPr>
                              </m:ctrlPr>
                            </m:fPr>
                            <m:num>
                              <m:d>
                                <m:dPr>
                                  <m:begChr m:val="|"/>
                                  <m:endChr m:val="|"/>
                                  <m:ctrlPr>
                                    <a:rPr lang="en-US" altLang="ja-JP" sz="2400" i="1" smtClean="0">
                                      <a:latin typeface="Cambria Math" panose="02040503050406030204" pitchFamily="18" charset="0"/>
                                    </a:rPr>
                                  </m:ctrlPr>
                                </m:dPr>
                                <m:e>
                                  <m:d>
                                    <m:dPr>
                                      <m:begChr m:val="{"/>
                                      <m:endChr m:val="}"/>
                                      <m:ctrlPr>
                                        <a:rPr lang="en-US" altLang="ja-JP" sz="2400" i="1" smtClean="0">
                                          <a:latin typeface="Cambria Math" panose="02040503050406030204" pitchFamily="18" charset="0"/>
                                        </a:rPr>
                                      </m:ctrlPr>
                                    </m:dPr>
                                    <m:e>
                                      <m:sSup>
                                        <m:sSupPr>
                                          <m:ctrlPr>
                                            <a:rPr lang="en-US" altLang="ja-JP" sz="2400" b="0" i="1" smtClean="0">
                                              <a:latin typeface="Cambria Math" panose="02040503050406030204" pitchFamily="18" charset="0"/>
                                            </a:rPr>
                                          </m:ctrlPr>
                                        </m:sSupPr>
                                        <m:e>
                                          <m:r>
                                            <a:rPr lang="ja-JP" altLang="en-US" sz="2400" i="1" smtClean="0">
                                              <a:latin typeface="Cambria Math" panose="02040503050406030204" pitchFamily="18" charset="0"/>
                                            </a:rPr>
                                            <m:t>𝜆</m:t>
                                          </m:r>
                                        </m:e>
                                        <m:sup>
                                          <m:r>
                                            <a:rPr lang="en-US" altLang="ja-JP" sz="2400" b="0" i="1" smtClean="0">
                                              <a:latin typeface="Cambria Math" panose="02040503050406030204" pitchFamily="18" charset="0"/>
                                            </a:rPr>
                                            <m:t>′</m:t>
                                          </m:r>
                                        </m:sup>
                                      </m:sSup>
                                      <m:r>
                                        <a:rPr lang="en-US" altLang="ja-JP" sz="2400" b="0" i="1" smtClean="0">
                                          <a:latin typeface="Cambria Math" panose="02040503050406030204" pitchFamily="18" charset="0"/>
                                          <a:ea typeface="Cambria Math" panose="02040503050406030204" pitchFamily="18" charset="0"/>
                                        </a:rPr>
                                        <m:t>∈</m:t>
                                      </m:r>
                                      <m:sSub>
                                        <m:sSubPr>
                                          <m:ctrlPr>
                                            <a:rPr lang="en-US" altLang="ja-JP" sz="2400" i="1">
                                              <a:latin typeface="Cambria Math" panose="02040503050406030204" pitchFamily="18" charset="0"/>
                                              <a:cs typeface="Times New Roman" panose="02020603050405020304" pitchFamily="18" charset="0"/>
                                            </a:rPr>
                                          </m:ctrlPr>
                                        </m:sSubPr>
                                        <m:e>
                                          <m:r>
                                            <a:rPr lang="en-US" altLang="ja-JP" sz="2400" i="1">
                                              <a:latin typeface="Cambria Math" panose="02040503050406030204" pitchFamily="18" charset="0"/>
                                              <a:cs typeface="Times New Roman" panose="02020603050405020304" pitchFamily="18" charset="0"/>
                                            </a:rPr>
                                            <m:t>𝑃</m:t>
                                          </m:r>
                                        </m:e>
                                        <m:sub>
                                          <m:r>
                                            <a:rPr lang="en-US" altLang="ja-JP" sz="2400" b="1">
                                              <a:latin typeface="Cambria Math" panose="02040503050406030204" pitchFamily="18" charset="0"/>
                                              <a:cs typeface="Times New Roman" panose="02020603050405020304" pitchFamily="18" charset="0"/>
                                            </a:rPr>
                                            <m:t>𝐱</m:t>
                                          </m:r>
                                        </m:sub>
                                      </m:sSub>
                                      <m:r>
                                        <a:rPr lang="en-US" altLang="ja-JP" sz="2400" b="1" i="1" smtClean="0">
                                          <a:latin typeface="Cambria Math" panose="02040503050406030204" pitchFamily="18" charset="0"/>
                                          <a:cs typeface="Times New Roman" panose="02020603050405020304" pitchFamily="18" charset="0"/>
                                        </a:rPr>
                                        <m:t> </m:t>
                                      </m:r>
                                      <m:r>
                                        <a:rPr lang="en-US" altLang="ja-JP" sz="2400" b="0" i="1" smtClean="0">
                                          <a:latin typeface="Cambria Math" panose="02040503050406030204" pitchFamily="18" charset="0"/>
                                          <a:cs typeface="Times New Roman" panose="02020603050405020304" pitchFamily="18" charset="0"/>
                                        </a:rPr>
                                        <m:t>|</m:t>
                                      </m:r>
                                      <m:r>
                                        <a:rPr lang="ja-JP" altLang="en-US" sz="2400" b="0" i="1" smtClean="0">
                                          <a:latin typeface="Cambria Math" panose="02040503050406030204" pitchFamily="18" charset="0"/>
                                          <a:cs typeface="Times New Roman" panose="02020603050405020304" pitchFamily="18" charset="0"/>
                                        </a:rPr>
                                        <m:t>𝜏</m:t>
                                      </m:r>
                                      <m:d>
                                        <m:dPr>
                                          <m:ctrlPr>
                                            <a:rPr lang="en-US" altLang="ja-JP" sz="2400" b="0" i="1" smtClean="0">
                                              <a:latin typeface="Cambria Math" panose="02040503050406030204" pitchFamily="18" charset="0"/>
                                              <a:cs typeface="Times New Roman" panose="02020603050405020304" pitchFamily="18" charset="0"/>
                                            </a:rPr>
                                          </m:ctrlPr>
                                        </m:dPr>
                                        <m:e>
                                          <m:r>
                                            <a:rPr lang="ja-JP" altLang="en-US" sz="2400" b="0" i="1" smtClean="0">
                                              <a:latin typeface="Cambria Math" panose="02040503050406030204" pitchFamily="18" charset="0"/>
                                              <a:cs typeface="Times New Roman" panose="02020603050405020304" pitchFamily="18" charset="0"/>
                                            </a:rPr>
                                            <m:t>𝜆</m:t>
                                          </m:r>
                                          <m:r>
                                            <a:rPr lang="en-US" altLang="ja-JP" sz="2400" b="0" i="1" smtClean="0">
                                              <a:latin typeface="Cambria Math" panose="02040503050406030204" pitchFamily="18" charset="0"/>
                                              <a:cs typeface="Times New Roman" panose="02020603050405020304" pitchFamily="18" charset="0"/>
                                            </a:rPr>
                                            <m:t>′</m:t>
                                          </m:r>
                                        </m:e>
                                      </m:d>
                                      <m:r>
                                        <a:rPr lang="en-US" altLang="ja-JP"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ja-JP" altLang="en-US" sz="2400" b="0" i="1" smtClean="0">
                                          <a:latin typeface="Cambria Math" panose="02040503050406030204" pitchFamily="18" charset="0"/>
                                          <a:ea typeface="Cambria Math" panose="02040503050406030204" pitchFamily="18" charset="0"/>
                                          <a:cs typeface="Times New Roman" panose="02020603050405020304" pitchFamily="18" charset="0"/>
                                        </a:rPr>
                                        <m:t>𝜏</m:t>
                                      </m:r>
                                      <m:d>
                                        <m:dPr>
                                          <m:ctrlPr>
                                            <a:rPr lang="en-US" altLang="ja-JP" sz="24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ja-JP" altLang="en-US" sz="2400" b="0" i="1" smtClean="0">
                                              <a:latin typeface="Cambria Math" panose="02040503050406030204" pitchFamily="18" charset="0"/>
                                              <a:ea typeface="Cambria Math" panose="02040503050406030204" pitchFamily="18" charset="0"/>
                                              <a:cs typeface="Times New Roman" panose="02020603050405020304" pitchFamily="18" charset="0"/>
                                            </a:rPr>
                                            <m:t>𝜆</m:t>
                                          </m:r>
                                        </m:e>
                                      </m:d>
                                    </m:e>
                                  </m:d>
                                </m:e>
                              </m:d>
                            </m:num>
                            <m:den>
                              <m:r>
                                <a:rPr lang="ja-JP" altLang="en-US" sz="2400" i="1" smtClean="0">
                                  <a:latin typeface="Cambria Math" panose="02040503050406030204" pitchFamily="18" charset="0"/>
                                </a:rPr>
                                <m:t>𝜏</m:t>
                              </m:r>
                              <m:d>
                                <m:dPr>
                                  <m:ctrlPr>
                                    <a:rPr lang="en-US" altLang="ja-JP" sz="2400" i="1" smtClean="0">
                                      <a:latin typeface="Cambria Math" panose="02040503050406030204" pitchFamily="18" charset="0"/>
                                    </a:rPr>
                                  </m:ctrlPr>
                                </m:dPr>
                                <m:e>
                                  <m:r>
                                    <a:rPr lang="ja-JP" altLang="en-US" sz="2400" i="1" smtClean="0">
                                      <a:latin typeface="Cambria Math" panose="02040503050406030204" pitchFamily="18" charset="0"/>
                                    </a:rPr>
                                    <m:t>𝜆</m:t>
                                  </m:r>
                                </m:e>
                              </m:d>
                            </m:den>
                          </m:f>
                        </m:e>
                      </m:nary>
                    </m:oMath>
                  </m:oMathPara>
                </a14:m>
                <a:endParaRPr kumimoji="1" lang="ja-JP" altLang="en-US" sz="2400" dirty="0" smtClean="0"/>
              </a:p>
            </p:txBody>
          </p:sp>
        </mc:Choice>
        <mc:Fallback xmlns="">
          <p:sp>
            <p:nvSpPr>
              <p:cNvPr id="13" name="テキスト ボックス 12"/>
              <p:cNvSpPr txBox="1">
                <a:spLocks noRot="1" noChangeAspect="1" noMove="1" noResize="1" noEditPoints="1" noAdjustHandles="1" noChangeArrowheads="1" noChangeShapeType="1" noTextEdit="1"/>
              </p:cNvSpPr>
              <p:nvPr/>
            </p:nvSpPr>
            <p:spPr>
              <a:xfrm>
                <a:off x="4790267" y="5168446"/>
                <a:ext cx="4433778" cy="1044004"/>
              </a:xfrm>
              <a:prstGeom prst="rect">
                <a:avLst/>
              </a:prstGeom>
              <a:blipFill>
                <a:blip r:embed="rId4"/>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4100034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マルチラベル識別問題</a:t>
            </a:r>
            <a:endParaRPr kumimoji="1" lang="ja-JP" altLang="en-US" dirty="0"/>
          </a:p>
        </p:txBody>
      </p:sp>
      <p:sp>
        <p:nvSpPr>
          <p:cNvPr id="3" name="コンテンツ プレースホルダー 2"/>
          <p:cNvSpPr>
            <a:spLocks noGrp="1"/>
          </p:cNvSpPr>
          <p:nvPr>
            <p:ph idx="1"/>
          </p:nvPr>
        </p:nvSpPr>
        <p:spPr/>
        <p:txBody>
          <a:bodyPr/>
          <a:lstStyle/>
          <a:p>
            <a:r>
              <a:rPr kumimoji="1" lang="ja-JP" altLang="en-US" sz="2400" dirty="0" smtClean="0"/>
              <a:t>ファジィルールベースの識別器として</a:t>
            </a:r>
            <a:r>
              <a:rPr kumimoji="1" lang="en-US" altLang="ja-JP" sz="2400" dirty="0" smtClean="0"/>
              <a:t>FURIA</a:t>
            </a:r>
            <a:r>
              <a:rPr kumimoji="1" lang="ja-JP" altLang="en-US" sz="2400" dirty="0" smtClean="0"/>
              <a:t>を取り上げる．</a:t>
            </a:r>
            <a:endParaRPr kumimoji="1" lang="en-US" altLang="ja-JP" sz="2400" dirty="0" smtClean="0"/>
          </a:p>
          <a:p>
            <a:r>
              <a:rPr lang="ja-JP" altLang="en-US" sz="2400" dirty="0" smtClean="0"/>
              <a:t>マルチラベル識別問題に対して問題変換法を用いた場合の</a:t>
            </a:r>
            <a:r>
              <a:rPr lang="en-US" altLang="ja-JP" sz="2400" dirty="0" smtClean="0"/>
              <a:t>FURIA</a:t>
            </a:r>
            <a:r>
              <a:rPr lang="ja-JP" altLang="en-US" sz="2400" dirty="0" smtClean="0"/>
              <a:t>の性能を調べるために，</a:t>
            </a:r>
            <a:r>
              <a:rPr lang="en-US" altLang="ja-JP" sz="2400" dirty="0" smtClean="0"/>
              <a:t>Mulan</a:t>
            </a:r>
            <a:r>
              <a:rPr lang="ja-JP" altLang="en-US" sz="2400" dirty="0" smtClean="0"/>
              <a:t>リポジトリから以下の</a:t>
            </a:r>
            <a:r>
              <a:rPr lang="en-US" altLang="ja-JP" sz="2400" dirty="0" smtClean="0"/>
              <a:t>6</a:t>
            </a:r>
            <a:r>
              <a:rPr lang="ja-JP" altLang="en-US" sz="2400" dirty="0" err="1" smtClean="0"/>
              <a:t>つの</a:t>
            </a:r>
            <a:r>
              <a:rPr lang="ja-JP" altLang="en-US" sz="2400" dirty="0" smtClean="0"/>
              <a:t>データセットを用いた．</a:t>
            </a:r>
            <a:endParaRPr kumimoji="1" lang="ja-JP" altLang="en-US" sz="2400" dirty="0"/>
          </a:p>
        </p:txBody>
      </p:sp>
      <p:sp>
        <p:nvSpPr>
          <p:cNvPr id="4" name="スライド番号プレースホルダー 3"/>
          <p:cNvSpPr>
            <a:spLocks noGrp="1"/>
          </p:cNvSpPr>
          <p:nvPr>
            <p:ph type="sldNum" sz="quarter" idx="12"/>
          </p:nvPr>
        </p:nvSpPr>
        <p:spPr/>
        <p:txBody>
          <a:bodyPr/>
          <a:lstStyle/>
          <a:p>
            <a:r>
              <a:rPr kumimoji="1" lang="en-US" altLang="ja-JP" smtClean="0"/>
              <a:t>9/21</a:t>
            </a:r>
            <a:endParaRPr kumimoji="1" lang="ja-JP" altLang="en-US"/>
          </a:p>
        </p:txBody>
      </p:sp>
      <p:sp>
        <p:nvSpPr>
          <p:cNvPr id="5" name="テキスト プレースホルダー 4"/>
          <p:cNvSpPr>
            <a:spLocks noGrp="1"/>
          </p:cNvSpPr>
          <p:nvPr>
            <p:ph type="body" sz="quarter" idx="13"/>
          </p:nvPr>
        </p:nvSpPr>
        <p:spPr/>
        <p:txBody>
          <a:bodyPr/>
          <a:lstStyle/>
          <a:p>
            <a:r>
              <a:rPr kumimoji="1" lang="en-US" altLang="ja-JP" dirty="0" smtClean="0"/>
              <a:t>6</a:t>
            </a:r>
            <a:r>
              <a:rPr kumimoji="1" lang="ja-JP" altLang="en-US" dirty="0" err="1" smtClean="0"/>
              <a:t>つの</a:t>
            </a:r>
            <a:r>
              <a:rPr kumimoji="1" lang="ja-JP" altLang="en-US" dirty="0" smtClean="0"/>
              <a:t>データセット</a:t>
            </a:r>
            <a:endParaRPr kumimoji="1" lang="ja-JP" altLang="en-US" dirty="0"/>
          </a:p>
        </p:txBody>
      </p:sp>
      <p:pic>
        <p:nvPicPr>
          <p:cNvPr id="6" name="図 5"/>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3242152"/>
            <a:ext cx="9144000" cy="2280000"/>
          </a:xfrm>
          <a:prstGeom prst="rect">
            <a:avLst/>
          </a:prstGeom>
        </p:spPr>
      </p:pic>
      <p:sp>
        <p:nvSpPr>
          <p:cNvPr id="7" name="テキスト ボックス 6"/>
          <p:cNvSpPr txBox="1"/>
          <p:nvPr/>
        </p:nvSpPr>
        <p:spPr>
          <a:xfrm>
            <a:off x="3074325" y="2938454"/>
            <a:ext cx="6069675" cy="400110"/>
          </a:xfrm>
          <a:prstGeom prst="rect">
            <a:avLst/>
          </a:prstGeom>
          <a:noFill/>
        </p:spPr>
        <p:txBody>
          <a:bodyPr wrap="none" rtlCol="0">
            <a:spAutoFit/>
          </a:bodyPr>
          <a:lstStyle/>
          <a:p>
            <a:pPr algn="ctr"/>
            <a:r>
              <a:rPr kumimoji="1" lang="en-US" altLang="ja-JP" sz="2000" dirty="0" smtClean="0">
                <a:latin typeface="Times New Roman" panose="02020603050405020304" pitchFamily="18" charset="0"/>
                <a:cs typeface="Times New Roman" panose="02020603050405020304" pitchFamily="18" charset="0"/>
              </a:rPr>
              <a:t>Available: http://mulan.sourceforge.net/datasets-mlc.html</a:t>
            </a:r>
            <a:endParaRPr kumimoji="1" lang="ja-JP" altLang="en-US" sz="2000" dirty="0" smtClean="0">
              <a:latin typeface="Times New Roman" panose="02020603050405020304" pitchFamily="18" charset="0"/>
              <a:cs typeface="Times New Roman" panose="02020603050405020304" pitchFamily="18" charset="0"/>
            </a:endParaRPr>
          </a:p>
        </p:txBody>
      </p:sp>
      <p:sp>
        <p:nvSpPr>
          <p:cNvPr id="8" name="テキスト ボックス 7"/>
          <p:cNvSpPr txBox="1"/>
          <p:nvPr/>
        </p:nvSpPr>
        <p:spPr>
          <a:xfrm>
            <a:off x="228600" y="5480267"/>
            <a:ext cx="8686800" cy="1200329"/>
          </a:xfrm>
          <a:prstGeom prst="rect">
            <a:avLst/>
          </a:prstGeom>
          <a:noFill/>
        </p:spPr>
        <p:txBody>
          <a:bodyPr wrap="square" rtlCol="0">
            <a:spAutoFit/>
          </a:bodyPr>
          <a:lstStyle/>
          <a:p>
            <a:r>
              <a:rPr kumimoji="1" lang="en-US" altLang="ja-JP" sz="2400" b="1" dirty="0" smtClean="0">
                <a:solidFill>
                  <a:schemeClr val="accent2"/>
                </a:solidFill>
              </a:rPr>
              <a:t>cardinality: </a:t>
            </a:r>
            <a:r>
              <a:rPr kumimoji="1" lang="en-US" altLang="ja-JP" sz="2400" dirty="0" smtClean="0"/>
              <a:t>1</a:t>
            </a:r>
            <a:r>
              <a:rPr kumimoji="1" lang="ja-JP" altLang="en-US" sz="2400" dirty="0" smtClean="0"/>
              <a:t>パターンあたりの平均ラベル数</a:t>
            </a:r>
            <a:endParaRPr kumimoji="1" lang="en-US" altLang="ja-JP" sz="2400" dirty="0" smtClean="0"/>
          </a:p>
          <a:p>
            <a:r>
              <a:rPr lang="en-US" altLang="ja-JP" sz="2400" b="1" dirty="0" smtClean="0">
                <a:solidFill>
                  <a:schemeClr val="accent2"/>
                </a:solidFill>
              </a:rPr>
              <a:t>density: </a:t>
            </a:r>
            <a:r>
              <a:rPr lang="en-US" altLang="ja-JP" sz="2400" dirty="0" smtClean="0"/>
              <a:t>cardinality / #labels</a:t>
            </a:r>
          </a:p>
          <a:p>
            <a:r>
              <a:rPr kumimoji="1" lang="en-US" altLang="ja-JP" sz="2400" b="1" dirty="0" smtClean="0">
                <a:solidFill>
                  <a:schemeClr val="accent2"/>
                </a:solidFill>
              </a:rPr>
              <a:t>#unique label sets: </a:t>
            </a:r>
            <a:r>
              <a:rPr kumimoji="1" lang="en-US" altLang="ja-JP" sz="2400" dirty="0" smtClean="0"/>
              <a:t>Label Power Sets</a:t>
            </a:r>
            <a:r>
              <a:rPr kumimoji="1" lang="ja-JP" altLang="en-US" sz="2400" dirty="0" smtClean="0"/>
              <a:t>を用いるときのクラス</a:t>
            </a:r>
            <a:r>
              <a:rPr lang="ja-JP" altLang="en-US" sz="2400" dirty="0"/>
              <a:t>数</a:t>
            </a:r>
            <a:endParaRPr kumimoji="1" lang="ja-JP" altLang="en-US" sz="2400" dirty="0" smtClean="0"/>
          </a:p>
        </p:txBody>
      </p:sp>
    </p:spTree>
    <p:extLst>
      <p:ext uri="{BB962C8B-B14F-4D97-AF65-F5344CB8AC3E}">
        <p14:creationId xmlns:p14="http://schemas.microsoft.com/office/powerpoint/2010/main" val="3463751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Experiments Evaluation</a:t>
            </a:r>
            <a:endParaRPr kumimoji="1" lang="ja-JP" altLang="en-US" dirty="0"/>
          </a:p>
        </p:txBody>
      </p:sp>
      <p:sp>
        <p:nvSpPr>
          <p:cNvPr id="3" name="コンテンツ プレースホルダー 2"/>
          <p:cNvSpPr>
            <a:spLocks noGrp="1"/>
          </p:cNvSpPr>
          <p:nvPr>
            <p:ph idx="1"/>
          </p:nvPr>
        </p:nvSpPr>
        <p:spPr/>
        <p:txBody>
          <a:bodyPr/>
          <a:lstStyle/>
          <a:p>
            <a:r>
              <a:rPr kumimoji="1" lang="ja-JP" altLang="en-US" sz="2400" dirty="0" smtClean="0"/>
              <a:t>解釈可能な表現を持つ</a:t>
            </a:r>
            <a:r>
              <a:rPr kumimoji="1" lang="en-US" altLang="ja-JP" sz="2400" dirty="0" smtClean="0"/>
              <a:t>7</a:t>
            </a:r>
            <a:r>
              <a:rPr kumimoji="1" lang="ja-JP" altLang="en-US" sz="2400" dirty="0" err="1" smtClean="0"/>
              <a:t>つの識</a:t>
            </a:r>
            <a:r>
              <a:rPr kumimoji="1" lang="ja-JP" altLang="en-US" sz="2400" dirty="0" smtClean="0"/>
              <a:t>別器を比較対象として選択した．</a:t>
            </a:r>
            <a:endParaRPr kumimoji="1" lang="en-US" altLang="ja-JP" sz="2400" dirty="0" smtClean="0"/>
          </a:p>
        </p:txBody>
      </p:sp>
      <p:sp>
        <p:nvSpPr>
          <p:cNvPr id="4" name="スライド番号プレースホルダー 3"/>
          <p:cNvSpPr>
            <a:spLocks noGrp="1"/>
          </p:cNvSpPr>
          <p:nvPr>
            <p:ph type="sldNum" sz="quarter" idx="12"/>
          </p:nvPr>
        </p:nvSpPr>
        <p:spPr/>
        <p:txBody>
          <a:bodyPr/>
          <a:lstStyle/>
          <a:p>
            <a:r>
              <a:rPr kumimoji="1" lang="en-US" altLang="ja-JP" smtClean="0"/>
              <a:t>10/21</a:t>
            </a:r>
            <a:endParaRPr kumimoji="1" lang="ja-JP" altLang="en-US"/>
          </a:p>
        </p:txBody>
      </p:sp>
      <p:sp>
        <p:nvSpPr>
          <p:cNvPr id="5" name="テキスト プレースホルダー 4"/>
          <p:cNvSpPr>
            <a:spLocks noGrp="1"/>
          </p:cNvSpPr>
          <p:nvPr>
            <p:ph type="body" sz="quarter" idx="13"/>
          </p:nvPr>
        </p:nvSpPr>
        <p:spPr/>
        <p:txBody>
          <a:bodyPr/>
          <a:lstStyle/>
          <a:p>
            <a:r>
              <a:rPr kumimoji="1" lang="en-US" altLang="ja-JP" dirty="0" smtClean="0"/>
              <a:t>8</a:t>
            </a:r>
            <a:r>
              <a:rPr kumimoji="1" lang="ja-JP" altLang="en-US" dirty="0" err="1" smtClean="0"/>
              <a:t>つの</a:t>
            </a:r>
            <a:r>
              <a:rPr kumimoji="1" lang="ja-JP" altLang="en-US" dirty="0" smtClean="0"/>
              <a:t>単一ラベル識別器</a:t>
            </a:r>
            <a:endParaRPr kumimoji="1" lang="ja-JP" altLang="en-US" dirty="0"/>
          </a:p>
        </p:txBody>
      </p:sp>
      <p:graphicFrame>
        <p:nvGraphicFramePr>
          <p:cNvPr id="6" name="表 5"/>
          <p:cNvGraphicFramePr>
            <a:graphicFrameLocks noGrp="1"/>
          </p:cNvGraphicFramePr>
          <p:nvPr>
            <p:extLst>
              <p:ext uri="{D42A27DB-BD31-4B8C-83A1-F6EECF244321}">
                <p14:modId xmlns:p14="http://schemas.microsoft.com/office/powerpoint/2010/main" val="3658679676"/>
              </p:ext>
            </p:extLst>
          </p:nvPr>
        </p:nvGraphicFramePr>
        <p:xfrm>
          <a:off x="228600" y="2101850"/>
          <a:ext cx="8686800" cy="4114800"/>
        </p:xfrm>
        <a:graphic>
          <a:graphicData uri="http://schemas.openxmlformats.org/drawingml/2006/table">
            <a:tbl>
              <a:tblPr firstRow="1" bandRow="1">
                <a:tableStyleId>{5C22544A-7EE6-4342-B048-85BDC9FD1C3A}</a:tableStyleId>
              </a:tblPr>
              <a:tblGrid>
                <a:gridCol w="2495550">
                  <a:extLst>
                    <a:ext uri="{9D8B030D-6E8A-4147-A177-3AD203B41FA5}">
                      <a16:colId xmlns:a16="http://schemas.microsoft.com/office/drawing/2014/main" val="3662079478"/>
                    </a:ext>
                  </a:extLst>
                </a:gridCol>
                <a:gridCol w="6191250">
                  <a:extLst>
                    <a:ext uri="{9D8B030D-6E8A-4147-A177-3AD203B41FA5}">
                      <a16:colId xmlns:a16="http://schemas.microsoft.com/office/drawing/2014/main" val="1131694032"/>
                    </a:ext>
                  </a:extLst>
                </a:gridCol>
              </a:tblGrid>
              <a:tr h="370840">
                <a:tc>
                  <a:txBody>
                    <a:bodyPr/>
                    <a:lstStyle/>
                    <a:p>
                      <a:pPr algn="ctr"/>
                      <a:r>
                        <a:rPr kumimoji="1" lang="ja-JP" altLang="en-US" sz="2400" dirty="0" smtClean="0">
                          <a:solidFill>
                            <a:sysClr val="windowText" lastClr="000000"/>
                          </a:solidFill>
                        </a:rPr>
                        <a:t>アルゴリズム</a:t>
                      </a:r>
                      <a:endParaRPr kumimoji="1" lang="ja-JP" altLang="en-US" sz="2400" dirty="0">
                        <a:solidFill>
                          <a:sysClr val="windowText" lastClr="000000"/>
                        </a:solidFill>
                      </a:endParaRP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2400" dirty="0" smtClean="0">
                          <a:solidFill>
                            <a:sysClr val="windowText" lastClr="000000"/>
                          </a:solidFill>
                        </a:rPr>
                        <a:t>概要</a:t>
                      </a:r>
                      <a:endParaRPr kumimoji="1" lang="ja-JP" altLang="en-US" sz="2400" dirty="0">
                        <a:solidFill>
                          <a:sysClr val="windowText" lastClr="000000"/>
                        </a:solidFill>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00928929"/>
                  </a:ext>
                </a:extLst>
              </a:tr>
              <a:tr h="370840">
                <a:tc>
                  <a:txBody>
                    <a:bodyPr/>
                    <a:lstStyle/>
                    <a:p>
                      <a:pPr algn="l"/>
                      <a:r>
                        <a:rPr kumimoji="1" lang="en-US" altLang="ja-JP" sz="2400" dirty="0" smtClean="0">
                          <a:solidFill>
                            <a:sysClr val="windowText" lastClr="000000"/>
                          </a:solidFill>
                        </a:rPr>
                        <a:t>J4.8</a:t>
                      </a:r>
                      <a:endParaRPr kumimoji="1" lang="ja-JP" altLang="en-US" sz="2400" dirty="0">
                        <a:solidFill>
                          <a:sysClr val="windowText" lastClr="000000"/>
                        </a:solidFill>
                      </a:endParaRP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kumimoji="1" lang="en-US" altLang="ja-JP" sz="2400" dirty="0" smtClean="0">
                          <a:solidFill>
                            <a:sysClr val="windowText" lastClr="000000"/>
                          </a:solidFill>
                        </a:rPr>
                        <a:t>C4.5</a:t>
                      </a:r>
                      <a:r>
                        <a:rPr kumimoji="1" lang="ja-JP" altLang="en-US" sz="2400" dirty="0" smtClean="0">
                          <a:solidFill>
                            <a:sysClr val="windowText" lastClr="000000"/>
                          </a:solidFill>
                        </a:rPr>
                        <a:t>アルゴリズムを実装した</a:t>
                      </a:r>
                      <a:r>
                        <a:rPr kumimoji="1" lang="ja-JP" altLang="en-US" sz="2400" dirty="0" smtClean="0">
                          <a:solidFill>
                            <a:schemeClr val="accent1"/>
                          </a:solidFill>
                        </a:rPr>
                        <a:t>決定木</a:t>
                      </a:r>
                      <a:r>
                        <a:rPr kumimoji="1" lang="ja-JP" altLang="en-US" sz="2400" dirty="0" smtClean="0">
                          <a:solidFill>
                            <a:sysClr val="windowText" lastClr="000000"/>
                          </a:solidFill>
                        </a:rPr>
                        <a:t>．</a:t>
                      </a:r>
                      <a:endParaRPr kumimoji="1" lang="ja-JP" altLang="en-US" sz="2400" dirty="0">
                        <a:solidFill>
                          <a:sysClr val="windowText" lastClr="000000"/>
                        </a:solidFill>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3932029"/>
                  </a:ext>
                </a:extLst>
              </a:tr>
              <a:tr h="370840">
                <a:tc>
                  <a:txBody>
                    <a:bodyPr/>
                    <a:lstStyle/>
                    <a:p>
                      <a:pPr algn="l"/>
                      <a:r>
                        <a:rPr kumimoji="1" lang="en-US" altLang="ja-JP" sz="2400" dirty="0" err="1" smtClean="0">
                          <a:solidFill>
                            <a:sysClr val="windowText" lastClr="000000"/>
                          </a:solidFill>
                        </a:rPr>
                        <a:t>SimpleCart</a:t>
                      </a:r>
                      <a:endParaRPr kumimoji="1" lang="ja-JP" altLang="en-US" sz="2400" dirty="0">
                        <a:solidFill>
                          <a:sysClr val="windowText" lastClr="000000"/>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kumimoji="1" lang="en-US" altLang="ja-JP" sz="2400" dirty="0" smtClean="0">
                          <a:solidFill>
                            <a:sysClr val="windowText" lastClr="000000"/>
                          </a:solidFill>
                        </a:rPr>
                        <a:t>CART</a:t>
                      </a:r>
                      <a:r>
                        <a:rPr kumimoji="1" lang="ja-JP" altLang="en-US" sz="2400" dirty="0" smtClean="0">
                          <a:solidFill>
                            <a:sysClr val="windowText" lastClr="000000"/>
                          </a:solidFill>
                        </a:rPr>
                        <a:t>アルゴリズムを実装した</a:t>
                      </a:r>
                      <a:r>
                        <a:rPr kumimoji="1" lang="ja-JP" altLang="en-US" sz="2400" dirty="0" smtClean="0">
                          <a:solidFill>
                            <a:schemeClr val="accent1"/>
                          </a:solidFill>
                        </a:rPr>
                        <a:t>決定木</a:t>
                      </a:r>
                      <a:r>
                        <a:rPr kumimoji="1" lang="ja-JP" altLang="en-US" sz="2400" dirty="0" smtClean="0">
                          <a:solidFill>
                            <a:sysClr val="windowText" lastClr="000000"/>
                          </a:solidFill>
                        </a:rPr>
                        <a:t>．</a:t>
                      </a:r>
                      <a:endParaRPr kumimoji="1" lang="ja-JP" altLang="en-US" sz="2400" dirty="0">
                        <a:solidFill>
                          <a:sysClr val="windowText" lastClr="000000"/>
                        </a:solidFil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25483063"/>
                  </a:ext>
                </a:extLst>
              </a:tr>
              <a:tr h="370840">
                <a:tc>
                  <a:txBody>
                    <a:bodyPr/>
                    <a:lstStyle/>
                    <a:p>
                      <a:pPr algn="l"/>
                      <a:r>
                        <a:rPr kumimoji="1" lang="en-US" altLang="ja-JP" sz="2400" dirty="0" smtClean="0">
                          <a:solidFill>
                            <a:sysClr val="windowText" lastClr="000000"/>
                          </a:solidFill>
                        </a:rPr>
                        <a:t>PART</a:t>
                      </a:r>
                      <a:endParaRPr kumimoji="1" lang="ja-JP" altLang="en-US" sz="2400" dirty="0">
                        <a:solidFill>
                          <a:sysClr val="windowText" lastClr="000000"/>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kumimoji="1" lang="en-US" altLang="ja-JP" sz="2400" dirty="0" smtClean="0">
                          <a:solidFill>
                            <a:sysClr val="windowText" lastClr="000000"/>
                          </a:solidFill>
                        </a:rPr>
                        <a:t>separate-and-conquer</a:t>
                      </a:r>
                      <a:r>
                        <a:rPr kumimoji="1" lang="ja-JP" altLang="en-US" sz="2400" dirty="0" smtClean="0">
                          <a:solidFill>
                            <a:sysClr val="windowText" lastClr="000000"/>
                          </a:solidFill>
                        </a:rPr>
                        <a:t>系の</a:t>
                      </a:r>
                      <a:r>
                        <a:rPr kumimoji="1" lang="en-US" altLang="ja-JP" sz="2400" dirty="0" smtClean="0">
                          <a:solidFill>
                            <a:sysClr val="windowText" lastClr="000000"/>
                          </a:solidFill>
                        </a:rPr>
                        <a:t>C4.5</a:t>
                      </a:r>
                      <a:r>
                        <a:rPr kumimoji="1" lang="ja-JP" altLang="en-US" sz="2400" dirty="0" smtClean="0">
                          <a:solidFill>
                            <a:schemeClr val="accent1"/>
                          </a:solidFill>
                        </a:rPr>
                        <a:t>決定木</a:t>
                      </a:r>
                      <a:r>
                        <a:rPr kumimoji="1" lang="ja-JP" altLang="en-US" sz="2400" dirty="0" smtClean="0">
                          <a:solidFill>
                            <a:sysClr val="windowText" lastClr="000000"/>
                          </a:solidFill>
                        </a:rPr>
                        <a:t>．</a:t>
                      </a:r>
                      <a:endParaRPr kumimoji="1" lang="ja-JP" altLang="en-US" sz="2400" dirty="0">
                        <a:solidFill>
                          <a:sysClr val="windowText" lastClr="000000"/>
                        </a:solidFil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29731661"/>
                  </a:ext>
                </a:extLst>
              </a:tr>
              <a:tr h="370840">
                <a:tc>
                  <a:txBody>
                    <a:bodyPr/>
                    <a:lstStyle/>
                    <a:p>
                      <a:pPr algn="l"/>
                      <a:r>
                        <a:rPr kumimoji="1" lang="en-US" altLang="ja-JP" sz="2400" dirty="0" smtClean="0">
                          <a:solidFill>
                            <a:sysClr val="windowText" lastClr="000000"/>
                          </a:solidFill>
                        </a:rPr>
                        <a:t>Conjunctive Rule</a:t>
                      </a:r>
                      <a:endParaRPr kumimoji="1" lang="ja-JP" altLang="en-US" sz="2400" dirty="0">
                        <a:solidFill>
                          <a:sysClr val="windowText" lastClr="000000"/>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kumimoji="1" lang="en-US" altLang="ja-JP" sz="2400" dirty="0" smtClean="0">
                          <a:solidFill>
                            <a:sysClr val="windowText" lastClr="000000"/>
                          </a:solidFill>
                        </a:rPr>
                        <a:t>IREP</a:t>
                      </a:r>
                      <a:r>
                        <a:rPr kumimoji="1" lang="ja-JP" altLang="en-US" sz="2400" dirty="0" smtClean="0">
                          <a:solidFill>
                            <a:sysClr val="windowText" lastClr="000000"/>
                          </a:solidFill>
                        </a:rPr>
                        <a:t>に基づく単純な</a:t>
                      </a:r>
                      <a:r>
                        <a:rPr kumimoji="1" lang="ja-JP" altLang="en-US" sz="2400" dirty="0" smtClean="0">
                          <a:solidFill>
                            <a:schemeClr val="accent1"/>
                          </a:solidFill>
                        </a:rPr>
                        <a:t>ルール</a:t>
                      </a:r>
                      <a:r>
                        <a:rPr kumimoji="1" lang="ja-JP" altLang="en-US" sz="2400" dirty="0" smtClean="0">
                          <a:solidFill>
                            <a:sysClr val="windowText" lastClr="000000"/>
                          </a:solidFill>
                        </a:rPr>
                        <a:t>学習アルゴリズム．</a:t>
                      </a:r>
                      <a:endParaRPr kumimoji="1" lang="ja-JP" altLang="en-US" sz="2400" dirty="0">
                        <a:solidFill>
                          <a:sysClr val="windowText" lastClr="000000"/>
                        </a:solidFil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0283586"/>
                  </a:ext>
                </a:extLst>
              </a:tr>
              <a:tr h="370840">
                <a:tc>
                  <a:txBody>
                    <a:bodyPr/>
                    <a:lstStyle/>
                    <a:p>
                      <a:pPr algn="l"/>
                      <a:r>
                        <a:rPr kumimoji="1" lang="en-US" altLang="ja-JP" sz="2400" dirty="0" err="1" smtClean="0">
                          <a:solidFill>
                            <a:sysClr val="windowText" lastClr="000000"/>
                          </a:solidFill>
                        </a:rPr>
                        <a:t>RIdor</a:t>
                      </a:r>
                      <a:endParaRPr kumimoji="1" lang="ja-JP" altLang="en-US" sz="2400" dirty="0">
                        <a:solidFill>
                          <a:sysClr val="windowText" lastClr="000000"/>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kumimoji="1" lang="en-US" altLang="ja-JP" sz="2400" dirty="0" smtClean="0">
                          <a:solidFill>
                            <a:sysClr val="windowText" lastClr="000000"/>
                          </a:solidFill>
                        </a:rPr>
                        <a:t>Ripple-Down</a:t>
                      </a:r>
                      <a:r>
                        <a:rPr kumimoji="1" lang="en-US" altLang="ja-JP" sz="2400" baseline="0" dirty="0" smtClean="0">
                          <a:solidFill>
                            <a:sysClr val="windowText" lastClr="000000"/>
                          </a:solidFill>
                        </a:rPr>
                        <a:t> </a:t>
                      </a:r>
                      <a:r>
                        <a:rPr kumimoji="1" lang="en-US" altLang="ja-JP" sz="2400" baseline="0" dirty="0" smtClean="0">
                          <a:solidFill>
                            <a:schemeClr val="accent1"/>
                          </a:solidFill>
                        </a:rPr>
                        <a:t>Rule</a:t>
                      </a:r>
                      <a:r>
                        <a:rPr kumimoji="1" lang="ja-JP" altLang="en-US" sz="2400" baseline="0" dirty="0" smtClean="0">
                          <a:solidFill>
                            <a:sysClr val="windowText" lastClr="000000"/>
                          </a:solidFill>
                        </a:rPr>
                        <a:t>学習の実装．</a:t>
                      </a:r>
                      <a:endParaRPr kumimoji="1" lang="ja-JP" altLang="en-US" sz="2400" dirty="0">
                        <a:solidFill>
                          <a:sysClr val="windowText" lastClr="000000"/>
                        </a:solidFil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53494433"/>
                  </a:ext>
                </a:extLst>
              </a:tr>
              <a:tr h="370840">
                <a:tc>
                  <a:txBody>
                    <a:bodyPr/>
                    <a:lstStyle/>
                    <a:p>
                      <a:pPr algn="l"/>
                      <a:r>
                        <a:rPr kumimoji="1" lang="en-US" altLang="ja-JP" sz="2400" dirty="0" err="1" smtClean="0">
                          <a:solidFill>
                            <a:sysClr val="windowText" lastClr="000000"/>
                          </a:solidFill>
                        </a:rPr>
                        <a:t>JRip</a:t>
                      </a:r>
                      <a:endParaRPr kumimoji="1" lang="ja-JP" altLang="en-US" sz="2400" dirty="0">
                        <a:solidFill>
                          <a:sysClr val="windowText" lastClr="000000"/>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kumimoji="1" lang="en-US" altLang="ja-JP" sz="2400" dirty="0" smtClean="0">
                          <a:solidFill>
                            <a:sysClr val="windowText" lastClr="000000"/>
                          </a:solidFill>
                        </a:rPr>
                        <a:t>Ripper</a:t>
                      </a:r>
                      <a:r>
                        <a:rPr kumimoji="1" lang="ja-JP" altLang="en-US" sz="2400" dirty="0" smtClean="0">
                          <a:solidFill>
                            <a:sysClr val="windowText" lastClr="000000"/>
                          </a:solidFill>
                        </a:rPr>
                        <a:t>の実装．</a:t>
                      </a:r>
                      <a:r>
                        <a:rPr kumimoji="1" lang="ja-JP" altLang="en-US" sz="2400" dirty="0" smtClean="0">
                          <a:solidFill>
                            <a:schemeClr val="accent1"/>
                          </a:solidFill>
                        </a:rPr>
                        <a:t>ルール</a:t>
                      </a:r>
                      <a:r>
                        <a:rPr kumimoji="1" lang="ja-JP" altLang="en-US" sz="2400" dirty="0" smtClean="0">
                          <a:solidFill>
                            <a:sysClr val="windowText" lastClr="000000"/>
                          </a:solidFill>
                        </a:rPr>
                        <a:t>の成長と最適化を行う．</a:t>
                      </a:r>
                      <a:endParaRPr kumimoji="1" lang="ja-JP" altLang="en-US" sz="2400" dirty="0">
                        <a:solidFill>
                          <a:sysClr val="windowText" lastClr="000000"/>
                        </a:solidFil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74119651"/>
                  </a:ext>
                </a:extLst>
              </a:tr>
              <a:tr h="370840">
                <a:tc>
                  <a:txBody>
                    <a:bodyPr/>
                    <a:lstStyle/>
                    <a:p>
                      <a:pPr algn="l"/>
                      <a:r>
                        <a:rPr kumimoji="1" lang="en-US" altLang="ja-JP" sz="2400" dirty="0" smtClean="0">
                          <a:solidFill>
                            <a:sysClr val="windowText" lastClr="000000"/>
                          </a:solidFill>
                        </a:rPr>
                        <a:t>MODLEM</a:t>
                      </a:r>
                      <a:endParaRPr kumimoji="1" lang="ja-JP" altLang="en-US" sz="2400" dirty="0">
                        <a:solidFill>
                          <a:sysClr val="windowText" lastClr="000000"/>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kumimoji="1" lang="ja-JP" altLang="en-US" sz="2400" dirty="0" smtClean="0">
                          <a:solidFill>
                            <a:schemeClr val="accent1"/>
                          </a:solidFill>
                        </a:rPr>
                        <a:t>ラフ集合</a:t>
                      </a:r>
                      <a:r>
                        <a:rPr kumimoji="1" lang="ja-JP" altLang="en-US" sz="2400" dirty="0" smtClean="0">
                          <a:solidFill>
                            <a:sysClr val="windowText" lastClr="000000"/>
                          </a:solidFill>
                        </a:rPr>
                        <a:t>理論に基づくアルゴリズム．</a:t>
                      </a:r>
                      <a:endParaRPr kumimoji="1" lang="ja-JP" altLang="en-US" sz="2400" dirty="0">
                        <a:solidFill>
                          <a:sysClr val="windowText" lastClr="000000"/>
                        </a:solidFil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22537878"/>
                  </a:ext>
                </a:extLst>
              </a:tr>
              <a:tr h="370840">
                <a:tc>
                  <a:txBody>
                    <a:bodyPr/>
                    <a:lstStyle/>
                    <a:p>
                      <a:pPr algn="l"/>
                      <a:r>
                        <a:rPr kumimoji="1" lang="en-US" altLang="ja-JP" sz="2400" dirty="0" smtClean="0">
                          <a:solidFill>
                            <a:schemeClr val="accent1"/>
                          </a:solidFill>
                        </a:rPr>
                        <a:t>FURIA</a:t>
                      </a:r>
                      <a:endParaRPr kumimoji="1" lang="ja-JP" altLang="en-US" sz="2400" dirty="0">
                        <a:solidFill>
                          <a:schemeClr val="accent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2400" dirty="0" smtClean="0">
                          <a:solidFill>
                            <a:schemeClr val="accent1"/>
                          </a:solidFill>
                        </a:rPr>
                        <a:t>ファジィルール</a:t>
                      </a:r>
                      <a:r>
                        <a:rPr kumimoji="1" lang="ja-JP" altLang="en-US" sz="2400" dirty="0" smtClean="0">
                          <a:solidFill>
                            <a:sysClr val="windowText" lastClr="000000"/>
                          </a:solidFill>
                        </a:rPr>
                        <a:t>を用いた</a:t>
                      </a:r>
                      <a:r>
                        <a:rPr kumimoji="1" lang="en-US" altLang="ja-JP" sz="2400" dirty="0" smtClean="0">
                          <a:solidFill>
                            <a:sysClr val="windowText" lastClr="000000"/>
                          </a:solidFill>
                        </a:rPr>
                        <a:t>Ripper</a:t>
                      </a:r>
                      <a:r>
                        <a:rPr kumimoji="1" lang="ja-JP" altLang="en-US" sz="2400" dirty="0" smtClean="0">
                          <a:solidFill>
                            <a:sysClr val="windowText" lastClr="000000"/>
                          </a:solidFill>
                        </a:rPr>
                        <a:t>の拡張．</a:t>
                      </a:r>
                      <a:endParaRPr kumimoji="1" lang="ja-JP" altLang="en-US" sz="2400" dirty="0">
                        <a:solidFill>
                          <a:sysClr val="windowText" lastClr="000000"/>
                        </a:solidFill>
                      </a:endParaRP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4107437"/>
                  </a:ext>
                </a:extLst>
              </a:tr>
            </a:tbl>
          </a:graphicData>
        </a:graphic>
      </p:graphicFrame>
      <p:sp>
        <p:nvSpPr>
          <p:cNvPr id="8" name="角丸四角形 7"/>
          <p:cNvSpPr/>
          <p:nvPr/>
        </p:nvSpPr>
        <p:spPr>
          <a:xfrm>
            <a:off x="228600" y="2619375"/>
            <a:ext cx="8686800" cy="1285875"/>
          </a:xfrm>
          <a:prstGeom prst="roundRect">
            <a:avLst>
              <a:gd name="adj" fmla="val 6153"/>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角丸四角形 8"/>
          <p:cNvSpPr/>
          <p:nvPr/>
        </p:nvSpPr>
        <p:spPr>
          <a:xfrm>
            <a:off x="228600" y="3952875"/>
            <a:ext cx="8686800" cy="1323975"/>
          </a:xfrm>
          <a:prstGeom prst="roundRect">
            <a:avLst>
              <a:gd name="adj" fmla="val 6153"/>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3845045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Experiments Evaluation</a:t>
            </a:r>
            <a:endParaRPr kumimoji="1" lang="ja-JP" altLang="en-US" dirty="0"/>
          </a:p>
        </p:txBody>
      </p:sp>
      <p:sp>
        <p:nvSpPr>
          <p:cNvPr id="3" name="コンテンツ プレースホルダー 2"/>
          <p:cNvSpPr>
            <a:spLocks noGrp="1"/>
          </p:cNvSpPr>
          <p:nvPr>
            <p:ph idx="1"/>
          </p:nvPr>
        </p:nvSpPr>
        <p:spPr/>
        <p:txBody>
          <a:bodyPr/>
          <a:lstStyle/>
          <a:p>
            <a:r>
              <a:rPr lang="en-US" altLang="ja-JP" sz="2400" dirty="0" smtClean="0">
                <a:solidFill>
                  <a:schemeClr val="accent1"/>
                </a:solidFill>
              </a:rPr>
              <a:t>Mulan </a:t>
            </a:r>
            <a:r>
              <a:rPr lang="en-US" altLang="ja-JP" sz="2400" dirty="0">
                <a:solidFill>
                  <a:schemeClr val="accent1"/>
                </a:solidFill>
              </a:rPr>
              <a:t>API</a:t>
            </a:r>
            <a:r>
              <a:rPr lang="ja-JP" altLang="en-US" sz="2400" dirty="0"/>
              <a:t> </a:t>
            </a:r>
            <a:r>
              <a:rPr lang="en-US" altLang="ja-JP" sz="2400" dirty="0"/>
              <a:t>ver.1.4 </a:t>
            </a:r>
            <a:r>
              <a:rPr lang="ja-JP" altLang="en-US" sz="2400" dirty="0"/>
              <a:t>（</a:t>
            </a:r>
            <a:r>
              <a:rPr lang="en-US" altLang="ja-JP" sz="2400" dirty="0"/>
              <a:t>Java </a:t>
            </a:r>
            <a:r>
              <a:rPr lang="ja-JP" altLang="en-US" sz="2400" dirty="0"/>
              <a:t>オープンソース）を用いて実験を行った</a:t>
            </a:r>
            <a:r>
              <a:rPr lang="ja-JP" altLang="en-US" sz="2400" dirty="0" smtClean="0"/>
              <a:t>．</a:t>
            </a:r>
            <a:endParaRPr lang="en-US" altLang="ja-JP" sz="2400" dirty="0" smtClean="0"/>
          </a:p>
          <a:p>
            <a:r>
              <a:rPr lang="en-US" altLang="ja-JP" sz="2400" dirty="0" smtClean="0"/>
              <a:t>Mulan API</a:t>
            </a:r>
            <a:r>
              <a:rPr lang="ja-JP" altLang="en-US" sz="2400" dirty="0" smtClean="0"/>
              <a:t>には，前述した</a:t>
            </a:r>
            <a:r>
              <a:rPr lang="en-US" altLang="ja-JP" sz="2400" dirty="0" smtClean="0"/>
              <a:t>4</a:t>
            </a:r>
            <a:r>
              <a:rPr lang="ja-JP" altLang="en-US" sz="2400" dirty="0" err="1" smtClean="0"/>
              <a:t>つの</a:t>
            </a:r>
            <a:r>
              <a:rPr lang="ja-JP" altLang="en-US" sz="2400" dirty="0" smtClean="0"/>
              <a:t>問題変換法や</a:t>
            </a:r>
            <a:r>
              <a:rPr lang="en-US" altLang="ja-JP" sz="2400" dirty="0" smtClean="0"/>
              <a:t>5</a:t>
            </a:r>
            <a:r>
              <a:rPr lang="ja-JP" altLang="en-US" sz="2400" dirty="0" err="1" smtClean="0"/>
              <a:t>つの</a:t>
            </a:r>
            <a:r>
              <a:rPr lang="ja-JP" altLang="en-US" sz="2400" dirty="0" smtClean="0"/>
              <a:t>評価尺度の</a:t>
            </a:r>
            <a:r>
              <a:rPr lang="en-US" altLang="ja-JP" sz="2400" dirty="0" smtClean="0"/>
              <a:t/>
            </a:r>
            <a:br>
              <a:rPr lang="en-US" altLang="ja-JP" sz="2400" dirty="0" smtClean="0"/>
            </a:br>
            <a:r>
              <a:rPr lang="ja-JP" altLang="en-US" sz="2400" dirty="0" smtClean="0"/>
              <a:t>フレームワークが実装されている．</a:t>
            </a:r>
            <a:endParaRPr lang="en-US" altLang="ja-JP" sz="2400" dirty="0" smtClean="0"/>
          </a:p>
          <a:p>
            <a:endParaRPr lang="en-US" altLang="ja-JP" sz="2400" dirty="0"/>
          </a:p>
          <a:p>
            <a:r>
              <a:rPr lang="ja-JP" altLang="en-US" sz="2400" dirty="0" smtClean="0"/>
              <a:t>データセット内には非常にまれにしか使われないラベルも存在するため，</a:t>
            </a:r>
            <a:r>
              <a:rPr lang="en-US" altLang="ja-JP" sz="2400" dirty="0" smtClean="0">
                <a:solidFill>
                  <a:schemeClr val="accent1"/>
                </a:solidFill>
              </a:rPr>
              <a:t>5-fold cross-validation</a:t>
            </a:r>
            <a:r>
              <a:rPr lang="ja-JP" altLang="en-US" sz="2400" dirty="0" smtClean="0"/>
              <a:t>に従って実験を行った．</a:t>
            </a:r>
            <a:endParaRPr lang="en-US" altLang="ja-JP" sz="2400" dirty="0" smtClean="0"/>
          </a:p>
          <a:p>
            <a:endParaRPr lang="en-US" altLang="ja-JP" sz="2400" dirty="0"/>
          </a:p>
          <a:p>
            <a:r>
              <a:rPr lang="en-US" altLang="ja-JP" sz="2400" dirty="0" smtClean="0"/>
              <a:t>8</a:t>
            </a:r>
            <a:r>
              <a:rPr lang="ja-JP" altLang="en-US" sz="2400" dirty="0" err="1" smtClean="0"/>
              <a:t>つの</a:t>
            </a:r>
            <a:r>
              <a:rPr lang="ja-JP" altLang="en-US" sz="2400" dirty="0" smtClean="0"/>
              <a:t>各識別器間の有意差を調べるために，</a:t>
            </a:r>
            <a:r>
              <a:rPr lang="en-US" altLang="ja-JP" sz="2400" dirty="0" smtClean="0">
                <a:solidFill>
                  <a:schemeClr val="accent1"/>
                </a:solidFill>
              </a:rPr>
              <a:t>95%</a:t>
            </a:r>
            <a:r>
              <a:rPr lang="ja-JP" altLang="en-US" sz="2400" dirty="0" smtClean="0">
                <a:solidFill>
                  <a:schemeClr val="accent1"/>
                </a:solidFill>
              </a:rPr>
              <a:t>フリードマン検定</a:t>
            </a:r>
            <a:r>
              <a:rPr lang="ja-JP" altLang="en-US" sz="2400" dirty="0" smtClean="0"/>
              <a:t>を行った．</a:t>
            </a:r>
            <a:endParaRPr lang="en-US" altLang="ja-JP" sz="2400" dirty="0" smtClean="0"/>
          </a:p>
          <a:p>
            <a:r>
              <a:rPr lang="ja-JP" altLang="en-US" sz="2400" dirty="0" smtClean="0"/>
              <a:t>フリードマン検定において</a:t>
            </a:r>
            <a:r>
              <a:rPr lang="ja-JP" altLang="en-US" sz="2400" u="sng" dirty="0" smtClean="0"/>
              <a:t>有意差があったアルゴリズム</a:t>
            </a:r>
            <a:r>
              <a:rPr lang="ja-JP" altLang="en-US" sz="2400" dirty="0" smtClean="0"/>
              <a:t>に対して，</a:t>
            </a:r>
            <a:r>
              <a:rPr lang="en-US" altLang="ja-JP" sz="2400" dirty="0" err="1" smtClean="0">
                <a:solidFill>
                  <a:schemeClr val="accent1"/>
                </a:solidFill>
              </a:rPr>
              <a:t>Bonferroni</a:t>
            </a:r>
            <a:r>
              <a:rPr lang="en-US" altLang="ja-JP" sz="2400" dirty="0" smtClean="0">
                <a:solidFill>
                  <a:schemeClr val="accent1"/>
                </a:solidFill>
              </a:rPr>
              <a:t>-Dunn</a:t>
            </a:r>
            <a:r>
              <a:rPr lang="ja-JP" altLang="en-US" sz="2400" dirty="0" smtClean="0">
                <a:solidFill>
                  <a:schemeClr val="accent1"/>
                </a:solidFill>
              </a:rPr>
              <a:t>テスト</a:t>
            </a:r>
            <a:r>
              <a:rPr lang="ja-JP" altLang="en-US" sz="2400" dirty="0" smtClean="0"/>
              <a:t>を用いて</a:t>
            </a:r>
            <a:r>
              <a:rPr lang="en-US" altLang="ja-JP" sz="2400" u="sng" dirty="0" smtClean="0"/>
              <a:t>FURIA</a:t>
            </a:r>
            <a:r>
              <a:rPr lang="ja-JP" altLang="en-US" sz="2400" u="sng" dirty="0" smtClean="0"/>
              <a:t>との有意差</a:t>
            </a:r>
            <a:r>
              <a:rPr lang="ja-JP" altLang="en-US" sz="2400" dirty="0" smtClean="0"/>
              <a:t>があるかどうかを調べた．</a:t>
            </a:r>
            <a:endParaRPr lang="en-US" altLang="ja-JP" sz="2400" dirty="0"/>
          </a:p>
          <a:p>
            <a:endParaRPr kumimoji="1" lang="ja-JP" altLang="en-US" sz="2400" dirty="0"/>
          </a:p>
        </p:txBody>
      </p:sp>
      <p:sp>
        <p:nvSpPr>
          <p:cNvPr id="4" name="スライド番号プレースホルダー 3"/>
          <p:cNvSpPr>
            <a:spLocks noGrp="1"/>
          </p:cNvSpPr>
          <p:nvPr>
            <p:ph type="sldNum" sz="quarter" idx="12"/>
          </p:nvPr>
        </p:nvSpPr>
        <p:spPr/>
        <p:txBody>
          <a:bodyPr/>
          <a:lstStyle/>
          <a:p>
            <a:r>
              <a:rPr kumimoji="1" lang="en-US" altLang="ja-JP" smtClean="0"/>
              <a:t>11/21</a:t>
            </a:r>
            <a:endParaRPr kumimoji="1" lang="ja-JP" altLang="en-US"/>
          </a:p>
        </p:txBody>
      </p:sp>
      <p:sp>
        <p:nvSpPr>
          <p:cNvPr id="5" name="テキスト プレースホルダー 4"/>
          <p:cNvSpPr>
            <a:spLocks noGrp="1"/>
          </p:cNvSpPr>
          <p:nvPr>
            <p:ph type="body" sz="quarter" idx="13"/>
          </p:nvPr>
        </p:nvSpPr>
        <p:spPr/>
        <p:txBody>
          <a:bodyPr/>
          <a:lstStyle/>
          <a:p>
            <a:r>
              <a:rPr kumimoji="1" lang="ja-JP" altLang="en-US" dirty="0" smtClean="0"/>
              <a:t>数値実験設定</a:t>
            </a:r>
            <a:endParaRPr kumimoji="1" lang="ja-JP" altLang="en-US" dirty="0"/>
          </a:p>
        </p:txBody>
      </p:sp>
    </p:spTree>
    <p:extLst>
      <p:ext uri="{BB962C8B-B14F-4D97-AF65-F5344CB8AC3E}">
        <p14:creationId xmlns:p14="http://schemas.microsoft.com/office/powerpoint/2010/main" val="15257605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360207"/>
            <a:ext cx="9144000" cy="6500968"/>
          </a:xfrm>
          <a:prstGeom prst="rect">
            <a:avLst/>
          </a:prstGeom>
        </p:spPr>
      </p:pic>
      <p:sp>
        <p:nvSpPr>
          <p:cNvPr id="6" name="テキスト ボックス 5"/>
          <p:cNvSpPr txBox="1"/>
          <p:nvPr/>
        </p:nvSpPr>
        <p:spPr>
          <a:xfrm>
            <a:off x="6070937" y="-42075"/>
            <a:ext cx="3111749" cy="461665"/>
          </a:xfrm>
          <a:prstGeom prst="rect">
            <a:avLst/>
          </a:prstGeom>
          <a:noFill/>
          <a:ln w="19050">
            <a:noFill/>
          </a:ln>
        </p:spPr>
        <p:txBody>
          <a:bodyPr wrap="none" rtlCol="0">
            <a:spAutoFit/>
          </a:bodyPr>
          <a:lstStyle/>
          <a:p>
            <a:r>
              <a:rPr lang="en-US" altLang="ja-JP" sz="2400" dirty="0" smtClean="0"/>
              <a:t>(B</a:t>
            </a:r>
            <a:r>
              <a:rPr kumimoji="1" lang="en-US" altLang="ja-JP" sz="2400" dirty="0" smtClean="0"/>
              <a:t>old: best algorithm)</a:t>
            </a:r>
            <a:endParaRPr kumimoji="1" lang="ja-JP" altLang="en-US" sz="2400" dirty="0" smtClean="0"/>
          </a:p>
        </p:txBody>
      </p:sp>
      <p:sp>
        <p:nvSpPr>
          <p:cNvPr id="7" name="テキスト ボックス 6"/>
          <p:cNvSpPr txBox="1"/>
          <p:nvPr/>
        </p:nvSpPr>
        <p:spPr>
          <a:xfrm>
            <a:off x="51137" y="-58893"/>
            <a:ext cx="2031325" cy="461665"/>
          </a:xfrm>
          <a:prstGeom prst="rect">
            <a:avLst/>
          </a:prstGeom>
          <a:noFill/>
          <a:ln w="19050">
            <a:noFill/>
          </a:ln>
        </p:spPr>
        <p:txBody>
          <a:bodyPr wrap="none" rtlCol="0">
            <a:spAutoFit/>
          </a:bodyPr>
          <a:lstStyle/>
          <a:p>
            <a:r>
              <a:rPr kumimoji="1" lang="ja-JP" altLang="en-US" sz="2400" b="1" dirty="0" smtClean="0"/>
              <a:t>数値実験結果</a:t>
            </a:r>
          </a:p>
        </p:txBody>
      </p:sp>
    </p:spTree>
    <p:extLst>
      <p:ext uri="{BB962C8B-B14F-4D97-AF65-F5344CB8AC3E}">
        <p14:creationId xmlns:p14="http://schemas.microsoft.com/office/powerpoint/2010/main" val="382969188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360207"/>
            <a:ext cx="9144000" cy="6500968"/>
          </a:xfrm>
          <a:prstGeom prst="rect">
            <a:avLst/>
          </a:prstGeom>
        </p:spPr>
      </p:pic>
      <p:sp>
        <p:nvSpPr>
          <p:cNvPr id="5" name="テキスト ボックス 4"/>
          <p:cNvSpPr txBox="1"/>
          <p:nvPr/>
        </p:nvSpPr>
        <p:spPr>
          <a:xfrm>
            <a:off x="51137" y="-58893"/>
            <a:ext cx="2031325" cy="461665"/>
          </a:xfrm>
          <a:prstGeom prst="rect">
            <a:avLst/>
          </a:prstGeom>
          <a:noFill/>
          <a:ln w="19050">
            <a:noFill/>
          </a:ln>
        </p:spPr>
        <p:txBody>
          <a:bodyPr wrap="none" rtlCol="0">
            <a:spAutoFit/>
          </a:bodyPr>
          <a:lstStyle/>
          <a:p>
            <a:r>
              <a:rPr kumimoji="1" lang="ja-JP" altLang="en-US" sz="2400" b="1" dirty="0" smtClean="0"/>
              <a:t>数値実験結果</a:t>
            </a:r>
          </a:p>
        </p:txBody>
      </p:sp>
      <p:sp>
        <p:nvSpPr>
          <p:cNvPr id="6" name="テキスト ボックス 5"/>
          <p:cNvSpPr txBox="1"/>
          <p:nvPr/>
        </p:nvSpPr>
        <p:spPr>
          <a:xfrm>
            <a:off x="6070937" y="-42075"/>
            <a:ext cx="3145413" cy="461665"/>
          </a:xfrm>
          <a:prstGeom prst="rect">
            <a:avLst/>
          </a:prstGeom>
          <a:noFill/>
          <a:ln w="19050">
            <a:noFill/>
          </a:ln>
        </p:spPr>
        <p:txBody>
          <a:bodyPr wrap="none" rtlCol="0">
            <a:spAutoFit/>
          </a:bodyPr>
          <a:lstStyle/>
          <a:p>
            <a:r>
              <a:rPr lang="en-US" altLang="ja-JP" sz="2400" dirty="0" smtClean="0"/>
              <a:t>(B</a:t>
            </a:r>
            <a:r>
              <a:rPr kumimoji="1" lang="en-US" altLang="ja-JP" sz="2400" dirty="0" smtClean="0"/>
              <a:t>old: Best algorithm)</a:t>
            </a:r>
            <a:endParaRPr kumimoji="1" lang="ja-JP" altLang="en-US" sz="2400" dirty="0" smtClean="0"/>
          </a:p>
        </p:txBody>
      </p:sp>
      <p:sp>
        <p:nvSpPr>
          <p:cNvPr id="7" name="角丸四角形 6"/>
          <p:cNvSpPr/>
          <p:nvPr/>
        </p:nvSpPr>
        <p:spPr>
          <a:xfrm>
            <a:off x="2489201" y="360208"/>
            <a:ext cx="723900" cy="6383492"/>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155709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2"/>
          </p:nvPr>
        </p:nvSpPr>
        <p:spPr/>
        <p:txBody>
          <a:bodyPr/>
          <a:lstStyle/>
          <a:p>
            <a:r>
              <a:rPr kumimoji="1" lang="en-US" altLang="ja-JP" smtClean="0"/>
              <a:t>14/21</a:t>
            </a:r>
            <a:endParaRPr kumimoji="1" lang="ja-JP" altLang="en-US" dirty="0"/>
          </a:p>
        </p:txBody>
      </p:sp>
      <p:sp>
        <p:nvSpPr>
          <p:cNvPr id="7" name="正方形/長方形 6"/>
          <p:cNvSpPr/>
          <p:nvPr/>
        </p:nvSpPr>
        <p:spPr>
          <a:xfrm>
            <a:off x="3733799" y="0"/>
            <a:ext cx="5419725" cy="409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p:cNvSpPr>
            <a:spLocks noGrp="1"/>
          </p:cNvSpPr>
          <p:nvPr>
            <p:ph type="title"/>
          </p:nvPr>
        </p:nvSpPr>
        <p:spPr/>
        <p:txBody>
          <a:bodyPr/>
          <a:lstStyle/>
          <a:p>
            <a:r>
              <a:rPr kumimoji="1" lang="ja-JP" altLang="en-US" dirty="0" smtClean="0"/>
              <a:t>数値実験</a:t>
            </a:r>
            <a:endParaRPr kumimoji="1" lang="ja-JP" altLang="en-US" dirty="0"/>
          </a:p>
        </p:txBody>
      </p:sp>
      <p:pic>
        <p:nvPicPr>
          <p:cNvPr id="6" name="コンテンツ プレースホルダー 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733800" y="273256"/>
            <a:ext cx="5419725" cy="6584744"/>
          </a:xfrm>
        </p:spPr>
      </p:pic>
      <p:sp>
        <p:nvSpPr>
          <p:cNvPr id="5" name="テキスト プレースホルダー 4"/>
          <p:cNvSpPr>
            <a:spLocks noGrp="1"/>
          </p:cNvSpPr>
          <p:nvPr>
            <p:ph type="body" sz="quarter" idx="13"/>
          </p:nvPr>
        </p:nvSpPr>
        <p:spPr/>
        <p:txBody>
          <a:bodyPr/>
          <a:lstStyle/>
          <a:p>
            <a:r>
              <a:rPr kumimoji="1" lang="ja-JP" altLang="en-US" dirty="0" smtClean="0"/>
              <a:t>数値実験結果</a:t>
            </a:r>
            <a:endParaRPr kumimoji="1" lang="ja-JP" altLang="en-US" dirty="0"/>
          </a:p>
        </p:txBody>
      </p:sp>
      <p:sp>
        <p:nvSpPr>
          <p:cNvPr id="8" name="テキスト ボックス 7"/>
          <p:cNvSpPr txBox="1"/>
          <p:nvPr/>
        </p:nvSpPr>
        <p:spPr>
          <a:xfrm>
            <a:off x="3808151" y="-34859"/>
            <a:ext cx="1061509" cy="338554"/>
          </a:xfrm>
          <a:prstGeom prst="rect">
            <a:avLst/>
          </a:prstGeom>
          <a:noFill/>
        </p:spPr>
        <p:txBody>
          <a:bodyPr wrap="none" rtlCol="0">
            <a:spAutoFit/>
          </a:bodyPr>
          <a:lstStyle/>
          <a:p>
            <a:pPr algn="ctr"/>
            <a:r>
              <a:rPr kumimoji="1" lang="en-US" altLang="ja-JP" sz="1600" dirty="0" smtClean="0">
                <a:solidFill>
                  <a:schemeClr val="accent3">
                    <a:lumMod val="50000"/>
                  </a:schemeClr>
                </a:solidFill>
              </a:rPr>
              <a:t>Hamming</a:t>
            </a:r>
            <a:endParaRPr kumimoji="1" lang="ja-JP" altLang="en-US" sz="1600" dirty="0" smtClean="0">
              <a:solidFill>
                <a:schemeClr val="accent3">
                  <a:lumMod val="50000"/>
                </a:schemeClr>
              </a:solidFill>
            </a:endParaRPr>
          </a:p>
        </p:txBody>
      </p:sp>
      <p:sp>
        <p:nvSpPr>
          <p:cNvPr id="9" name="テキスト ボックス 8"/>
          <p:cNvSpPr txBox="1"/>
          <p:nvPr/>
        </p:nvSpPr>
        <p:spPr>
          <a:xfrm>
            <a:off x="4913929" y="-34859"/>
            <a:ext cx="934872" cy="338554"/>
          </a:xfrm>
          <a:prstGeom prst="rect">
            <a:avLst/>
          </a:prstGeom>
          <a:noFill/>
        </p:spPr>
        <p:txBody>
          <a:bodyPr wrap="none" rtlCol="0">
            <a:spAutoFit/>
          </a:bodyPr>
          <a:lstStyle/>
          <a:p>
            <a:pPr algn="ctr"/>
            <a:r>
              <a:rPr kumimoji="1" lang="en-US" altLang="ja-JP" sz="1600" dirty="0" smtClean="0">
                <a:solidFill>
                  <a:schemeClr val="accent3">
                    <a:lumMod val="50000"/>
                  </a:schemeClr>
                </a:solidFill>
              </a:rPr>
              <a:t>Ranking</a:t>
            </a:r>
            <a:endParaRPr kumimoji="1" lang="ja-JP" altLang="en-US" sz="1600" dirty="0" smtClean="0">
              <a:solidFill>
                <a:schemeClr val="accent3">
                  <a:lumMod val="50000"/>
                </a:schemeClr>
              </a:solidFill>
            </a:endParaRPr>
          </a:p>
        </p:txBody>
      </p:sp>
      <p:sp>
        <p:nvSpPr>
          <p:cNvPr id="10" name="テキスト ボックス 9"/>
          <p:cNvSpPr txBox="1"/>
          <p:nvPr/>
        </p:nvSpPr>
        <p:spPr>
          <a:xfrm>
            <a:off x="6042749" y="-35964"/>
            <a:ext cx="801823" cy="338554"/>
          </a:xfrm>
          <a:prstGeom prst="rect">
            <a:avLst/>
          </a:prstGeom>
          <a:noFill/>
        </p:spPr>
        <p:txBody>
          <a:bodyPr wrap="none" rtlCol="0">
            <a:spAutoFit/>
          </a:bodyPr>
          <a:lstStyle/>
          <a:p>
            <a:pPr algn="ctr"/>
            <a:r>
              <a:rPr lang="en-US" altLang="ja-JP" sz="1600" dirty="0" smtClean="0">
                <a:solidFill>
                  <a:schemeClr val="accent3">
                    <a:lumMod val="50000"/>
                  </a:schemeClr>
                </a:solidFill>
              </a:rPr>
              <a:t>1-error</a:t>
            </a:r>
            <a:endParaRPr kumimoji="1" lang="ja-JP" altLang="en-US" sz="1600" dirty="0" smtClean="0">
              <a:solidFill>
                <a:schemeClr val="accent3">
                  <a:lumMod val="50000"/>
                </a:schemeClr>
              </a:solidFill>
            </a:endParaRPr>
          </a:p>
        </p:txBody>
      </p:sp>
      <p:sp>
        <p:nvSpPr>
          <p:cNvPr id="11" name="テキスト ボックス 10"/>
          <p:cNvSpPr txBox="1"/>
          <p:nvPr/>
        </p:nvSpPr>
        <p:spPr>
          <a:xfrm>
            <a:off x="6989668" y="-38174"/>
            <a:ext cx="1070613" cy="338554"/>
          </a:xfrm>
          <a:prstGeom prst="rect">
            <a:avLst/>
          </a:prstGeom>
          <a:noFill/>
        </p:spPr>
        <p:txBody>
          <a:bodyPr wrap="none" rtlCol="0">
            <a:spAutoFit/>
          </a:bodyPr>
          <a:lstStyle/>
          <a:p>
            <a:pPr algn="ctr"/>
            <a:r>
              <a:rPr lang="en-US" altLang="ja-JP" sz="1600" dirty="0" err="1" smtClean="0">
                <a:solidFill>
                  <a:schemeClr val="accent1"/>
                </a:solidFill>
              </a:rPr>
              <a:t>Ave.Prec</a:t>
            </a:r>
            <a:r>
              <a:rPr lang="en-US" altLang="ja-JP" sz="1600" dirty="0" smtClean="0">
                <a:solidFill>
                  <a:schemeClr val="accent1"/>
                </a:solidFill>
              </a:rPr>
              <a:t>.</a:t>
            </a:r>
            <a:endParaRPr kumimoji="1" lang="ja-JP" altLang="en-US" sz="1600" dirty="0" smtClean="0">
              <a:solidFill>
                <a:schemeClr val="accent1"/>
              </a:solidFill>
            </a:endParaRPr>
          </a:p>
        </p:txBody>
      </p:sp>
      <p:sp>
        <p:nvSpPr>
          <p:cNvPr id="14" name="テキスト ボックス 13"/>
          <p:cNvSpPr txBox="1"/>
          <p:nvPr/>
        </p:nvSpPr>
        <p:spPr>
          <a:xfrm>
            <a:off x="8170920" y="-33791"/>
            <a:ext cx="822661" cy="338554"/>
          </a:xfrm>
          <a:prstGeom prst="rect">
            <a:avLst/>
          </a:prstGeom>
          <a:noFill/>
        </p:spPr>
        <p:txBody>
          <a:bodyPr wrap="none" rtlCol="0">
            <a:spAutoFit/>
          </a:bodyPr>
          <a:lstStyle/>
          <a:p>
            <a:pPr algn="ctr"/>
            <a:r>
              <a:rPr lang="en-US" altLang="ja-JP" sz="1600" dirty="0" smtClean="0">
                <a:solidFill>
                  <a:schemeClr val="accent1"/>
                </a:solidFill>
              </a:rPr>
              <a:t>Subset</a:t>
            </a:r>
            <a:endParaRPr kumimoji="1" lang="ja-JP" altLang="en-US" sz="1600" dirty="0" smtClean="0">
              <a:solidFill>
                <a:schemeClr val="accent1"/>
              </a:solidFill>
            </a:endParaRPr>
          </a:p>
        </p:txBody>
      </p:sp>
      <p:sp>
        <p:nvSpPr>
          <p:cNvPr id="15" name="正方形/長方形 14"/>
          <p:cNvSpPr/>
          <p:nvPr/>
        </p:nvSpPr>
        <p:spPr>
          <a:xfrm>
            <a:off x="2722619" y="342"/>
            <a:ext cx="1041264" cy="14188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p:cNvSpPr txBox="1"/>
          <p:nvPr/>
        </p:nvSpPr>
        <p:spPr>
          <a:xfrm>
            <a:off x="3060834" y="693602"/>
            <a:ext cx="628698" cy="338554"/>
          </a:xfrm>
          <a:prstGeom prst="rect">
            <a:avLst/>
          </a:prstGeom>
          <a:noFill/>
        </p:spPr>
        <p:txBody>
          <a:bodyPr wrap="none" rtlCol="0">
            <a:spAutoFit/>
          </a:bodyPr>
          <a:lstStyle/>
          <a:p>
            <a:pPr algn="ctr"/>
            <a:r>
              <a:rPr kumimoji="1" lang="en-US" altLang="ja-JP" sz="1600" dirty="0" smtClean="0"/>
              <a:t>birds</a:t>
            </a:r>
            <a:endParaRPr kumimoji="1" lang="ja-JP" altLang="en-US" sz="1600" dirty="0" smtClean="0"/>
          </a:p>
        </p:txBody>
      </p:sp>
      <p:sp>
        <p:nvSpPr>
          <p:cNvPr id="17" name="テキスト ボックス 16"/>
          <p:cNvSpPr txBox="1"/>
          <p:nvPr/>
        </p:nvSpPr>
        <p:spPr>
          <a:xfrm>
            <a:off x="2719897" y="1755569"/>
            <a:ext cx="1016625" cy="338554"/>
          </a:xfrm>
          <a:prstGeom prst="rect">
            <a:avLst/>
          </a:prstGeom>
          <a:noFill/>
        </p:spPr>
        <p:txBody>
          <a:bodyPr wrap="none" rtlCol="0">
            <a:spAutoFit/>
          </a:bodyPr>
          <a:lstStyle/>
          <a:p>
            <a:pPr algn="ctr"/>
            <a:r>
              <a:rPr kumimoji="1" lang="en-US" altLang="ja-JP" sz="1600" dirty="0" smtClean="0"/>
              <a:t>emotions</a:t>
            </a:r>
            <a:endParaRPr kumimoji="1" lang="ja-JP" altLang="en-US" sz="1600" dirty="0" smtClean="0"/>
          </a:p>
        </p:txBody>
      </p:sp>
      <p:sp>
        <p:nvSpPr>
          <p:cNvPr id="18" name="テキスト ボックス 17"/>
          <p:cNvSpPr txBox="1"/>
          <p:nvPr/>
        </p:nvSpPr>
        <p:spPr>
          <a:xfrm>
            <a:off x="3066444" y="2810596"/>
            <a:ext cx="617477" cy="338554"/>
          </a:xfrm>
          <a:prstGeom prst="rect">
            <a:avLst/>
          </a:prstGeom>
          <a:noFill/>
        </p:spPr>
        <p:txBody>
          <a:bodyPr wrap="none" rtlCol="0">
            <a:spAutoFit/>
          </a:bodyPr>
          <a:lstStyle/>
          <a:p>
            <a:pPr algn="ctr"/>
            <a:r>
              <a:rPr kumimoji="1" lang="en-US" altLang="ja-JP" sz="1600" dirty="0" smtClean="0"/>
              <a:t>flags</a:t>
            </a:r>
            <a:endParaRPr kumimoji="1" lang="ja-JP" altLang="en-US" sz="1600" dirty="0" smtClean="0"/>
          </a:p>
        </p:txBody>
      </p:sp>
      <p:sp>
        <p:nvSpPr>
          <p:cNvPr id="19" name="テキスト ボックス 18"/>
          <p:cNvSpPr txBox="1"/>
          <p:nvPr/>
        </p:nvSpPr>
        <p:spPr>
          <a:xfrm>
            <a:off x="2763661" y="3838158"/>
            <a:ext cx="970138" cy="338554"/>
          </a:xfrm>
          <a:prstGeom prst="rect">
            <a:avLst/>
          </a:prstGeom>
          <a:noFill/>
        </p:spPr>
        <p:txBody>
          <a:bodyPr wrap="none" rtlCol="0">
            <a:spAutoFit/>
          </a:bodyPr>
          <a:lstStyle/>
          <a:p>
            <a:pPr algn="ctr"/>
            <a:r>
              <a:rPr kumimoji="1" lang="en-US" altLang="ja-JP" sz="1600" dirty="0" err="1" smtClean="0"/>
              <a:t>genbase</a:t>
            </a:r>
            <a:endParaRPr kumimoji="1" lang="ja-JP" altLang="en-US" sz="1600" dirty="0" smtClean="0"/>
          </a:p>
        </p:txBody>
      </p:sp>
      <p:sp>
        <p:nvSpPr>
          <p:cNvPr id="20" name="テキスト ボックス 19"/>
          <p:cNvSpPr txBox="1"/>
          <p:nvPr/>
        </p:nvSpPr>
        <p:spPr>
          <a:xfrm>
            <a:off x="2952631" y="4903820"/>
            <a:ext cx="731290" cy="338554"/>
          </a:xfrm>
          <a:prstGeom prst="rect">
            <a:avLst/>
          </a:prstGeom>
          <a:noFill/>
        </p:spPr>
        <p:txBody>
          <a:bodyPr wrap="none" rtlCol="0">
            <a:spAutoFit/>
          </a:bodyPr>
          <a:lstStyle/>
          <a:p>
            <a:pPr algn="ctr"/>
            <a:r>
              <a:rPr kumimoji="1" lang="en-US" altLang="ja-JP" sz="1600" dirty="0" smtClean="0"/>
              <a:t>scene</a:t>
            </a:r>
            <a:endParaRPr kumimoji="1" lang="ja-JP" altLang="en-US" sz="1600" dirty="0" smtClean="0"/>
          </a:p>
        </p:txBody>
      </p:sp>
      <p:sp>
        <p:nvSpPr>
          <p:cNvPr id="21" name="テキスト ボックス 20"/>
          <p:cNvSpPr txBox="1"/>
          <p:nvPr/>
        </p:nvSpPr>
        <p:spPr>
          <a:xfrm>
            <a:off x="3008736" y="6066905"/>
            <a:ext cx="675185" cy="338554"/>
          </a:xfrm>
          <a:prstGeom prst="rect">
            <a:avLst/>
          </a:prstGeom>
          <a:noFill/>
        </p:spPr>
        <p:txBody>
          <a:bodyPr wrap="none" rtlCol="0">
            <a:spAutoFit/>
          </a:bodyPr>
          <a:lstStyle/>
          <a:p>
            <a:pPr algn="ctr"/>
            <a:r>
              <a:rPr lang="en-US" altLang="ja-JP" sz="1600" dirty="0" smtClean="0"/>
              <a:t>yeast</a:t>
            </a:r>
            <a:endParaRPr kumimoji="1" lang="ja-JP" altLang="en-US" sz="1600" dirty="0" smtClean="0"/>
          </a:p>
        </p:txBody>
      </p:sp>
      <p:pic>
        <p:nvPicPr>
          <p:cNvPr id="22" name="図 21"/>
          <p:cNvPicPr>
            <a:picLocks noChangeAspect="1"/>
          </p:cNvPicPr>
          <p:nvPr/>
        </p:nvPicPr>
        <p:blipFill rotWithShape="1">
          <a:blip r:embed="rId3" cstate="print">
            <a:extLst>
              <a:ext uri="{28A0092B-C50C-407E-A947-70E740481C1C}">
                <a14:useLocalDpi xmlns:a14="http://schemas.microsoft.com/office/drawing/2010/main" val="0"/>
              </a:ext>
            </a:extLst>
          </a:blip>
          <a:srcRect l="1402" t="983" r="80370" b="83195"/>
          <a:stretch/>
        </p:blipFill>
        <p:spPr>
          <a:xfrm>
            <a:off x="16994" y="1262940"/>
            <a:ext cx="2762894" cy="2913771"/>
          </a:xfrm>
          <a:prstGeom prst="rect">
            <a:avLst/>
          </a:prstGeom>
        </p:spPr>
      </p:pic>
      <p:sp>
        <p:nvSpPr>
          <p:cNvPr id="23" name="テキスト ボックス 22"/>
          <p:cNvSpPr txBox="1"/>
          <p:nvPr/>
        </p:nvSpPr>
        <p:spPr>
          <a:xfrm rot="16200000">
            <a:off x="-193988" y="4318429"/>
            <a:ext cx="798617" cy="338554"/>
          </a:xfrm>
          <a:prstGeom prst="rect">
            <a:avLst/>
          </a:prstGeom>
          <a:noFill/>
        </p:spPr>
        <p:txBody>
          <a:bodyPr wrap="none" rtlCol="0">
            <a:spAutoFit/>
          </a:bodyPr>
          <a:lstStyle/>
          <a:p>
            <a:pPr algn="r"/>
            <a:r>
              <a:rPr kumimoji="1" lang="en-US" altLang="ja-JP" sz="1600" dirty="0" smtClean="0"/>
              <a:t>FURIA</a:t>
            </a:r>
            <a:endParaRPr kumimoji="1" lang="ja-JP" altLang="en-US" sz="1600" dirty="0" smtClean="0"/>
          </a:p>
        </p:txBody>
      </p:sp>
      <p:sp>
        <p:nvSpPr>
          <p:cNvPr id="24" name="テキスト ボックス 23"/>
          <p:cNvSpPr txBox="1"/>
          <p:nvPr/>
        </p:nvSpPr>
        <p:spPr>
          <a:xfrm rot="16200000">
            <a:off x="-5523" y="4459565"/>
            <a:ext cx="1085554" cy="338554"/>
          </a:xfrm>
          <a:prstGeom prst="rect">
            <a:avLst/>
          </a:prstGeom>
          <a:noFill/>
        </p:spPr>
        <p:txBody>
          <a:bodyPr wrap="none" rtlCol="0">
            <a:spAutoFit/>
          </a:bodyPr>
          <a:lstStyle/>
          <a:p>
            <a:pPr algn="r"/>
            <a:r>
              <a:rPr kumimoji="1" lang="en-US" altLang="ja-JP" sz="1600" dirty="0" smtClean="0"/>
              <a:t>MODLEM</a:t>
            </a:r>
            <a:endParaRPr kumimoji="1" lang="ja-JP" altLang="en-US" sz="1600" dirty="0" smtClean="0"/>
          </a:p>
        </p:txBody>
      </p:sp>
      <p:sp>
        <p:nvSpPr>
          <p:cNvPr id="25" name="テキスト ボックス 24"/>
          <p:cNvSpPr txBox="1"/>
          <p:nvPr/>
        </p:nvSpPr>
        <p:spPr>
          <a:xfrm rot="16200000">
            <a:off x="594699" y="4203084"/>
            <a:ext cx="572594" cy="338554"/>
          </a:xfrm>
          <a:prstGeom prst="rect">
            <a:avLst/>
          </a:prstGeom>
          <a:noFill/>
        </p:spPr>
        <p:txBody>
          <a:bodyPr wrap="none" rtlCol="0">
            <a:spAutoFit/>
          </a:bodyPr>
          <a:lstStyle/>
          <a:p>
            <a:pPr algn="r"/>
            <a:r>
              <a:rPr kumimoji="1" lang="en-US" altLang="ja-JP" sz="1600" dirty="0" smtClean="0"/>
              <a:t>J4.8</a:t>
            </a:r>
            <a:endParaRPr kumimoji="1" lang="ja-JP" altLang="en-US" sz="1600" dirty="0" smtClean="0"/>
          </a:p>
        </p:txBody>
      </p:sp>
      <p:sp>
        <p:nvSpPr>
          <p:cNvPr id="26" name="テキスト ボックス 25"/>
          <p:cNvSpPr txBox="1"/>
          <p:nvPr/>
        </p:nvSpPr>
        <p:spPr>
          <a:xfrm rot="16200000">
            <a:off x="604772" y="4544525"/>
            <a:ext cx="1255473" cy="338554"/>
          </a:xfrm>
          <a:prstGeom prst="rect">
            <a:avLst/>
          </a:prstGeom>
          <a:noFill/>
        </p:spPr>
        <p:txBody>
          <a:bodyPr wrap="none" rtlCol="0">
            <a:spAutoFit/>
          </a:bodyPr>
          <a:lstStyle/>
          <a:p>
            <a:pPr algn="r"/>
            <a:r>
              <a:rPr kumimoji="1" lang="en-US" altLang="ja-JP" sz="1600" dirty="0" smtClean="0"/>
              <a:t>Simple Cart</a:t>
            </a:r>
            <a:endParaRPr kumimoji="1" lang="ja-JP" altLang="en-US" sz="1600" dirty="0" smtClean="0"/>
          </a:p>
        </p:txBody>
      </p:sp>
      <p:sp>
        <p:nvSpPr>
          <p:cNvPr id="27" name="テキスト ボックス 26"/>
          <p:cNvSpPr txBox="1"/>
          <p:nvPr/>
        </p:nvSpPr>
        <p:spPr>
          <a:xfrm rot="16200000">
            <a:off x="1214543" y="4272143"/>
            <a:ext cx="710707" cy="338554"/>
          </a:xfrm>
          <a:prstGeom prst="rect">
            <a:avLst/>
          </a:prstGeom>
          <a:noFill/>
        </p:spPr>
        <p:txBody>
          <a:bodyPr wrap="none" rtlCol="0">
            <a:spAutoFit/>
          </a:bodyPr>
          <a:lstStyle/>
          <a:p>
            <a:pPr algn="r"/>
            <a:r>
              <a:rPr kumimoji="1" lang="en-US" altLang="ja-JP" sz="1600" dirty="0" smtClean="0"/>
              <a:t>PART</a:t>
            </a:r>
            <a:endParaRPr kumimoji="1" lang="ja-JP" altLang="en-US" sz="1600" dirty="0" smtClean="0"/>
          </a:p>
        </p:txBody>
      </p:sp>
      <p:sp>
        <p:nvSpPr>
          <p:cNvPr id="28" name="テキスト ボックス 27"/>
          <p:cNvSpPr txBox="1"/>
          <p:nvPr/>
        </p:nvSpPr>
        <p:spPr>
          <a:xfrm rot="16200000">
            <a:off x="1567157" y="4259993"/>
            <a:ext cx="686406" cy="338554"/>
          </a:xfrm>
          <a:prstGeom prst="rect">
            <a:avLst/>
          </a:prstGeom>
          <a:noFill/>
        </p:spPr>
        <p:txBody>
          <a:bodyPr wrap="none" rtlCol="0">
            <a:spAutoFit/>
          </a:bodyPr>
          <a:lstStyle/>
          <a:p>
            <a:pPr algn="r"/>
            <a:r>
              <a:rPr kumimoji="1" lang="en-US" altLang="ja-JP" sz="1600" dirty="0" err="1" smtClean="0"/>
              <a:t>RIdor</a:t>
            </a:r>
            <a:endParaRPr kumimoji="1" lang="ja-JP" altLang="en-US" sz="1600" dirty="0" smtClean="0"/>
          </a:p>
        </p:txBody>
      </p:sp>
      <p:sp>
        <p:nvSpPr>
          <p:cNvPr id="29" name="テキスト ボックス 28"/>
          <p:cNvSpPr txBox="1"/>
          <p:nvPr/>
        </p:nvSpPr>
        <p:spPr>
          <a:xfrm rot="16200000">
            <a:off x="1380125" y="4784902"/>
            <a:ext cx="1731564" cy="338554"/>
          </a:xfrm>
          <a:prstGeom prst="rect">
            <a:avLst/>
          </a:prstGeom>
          <a:noFill/>
        </p:spPr>
        <p:txBody>
          <a:bodyPr wrap="none" rtlCol="0">
            <a:spAutoFit/>
          </a:bodyPr>
          <a:lstStyle/>
          <a:p>
            <a:pPr algn="r"/>
            <a:r>
              <a:rPr kumimoji="1" lang="en-US" altLang="ja-JP" sz="1600" dirty="0" smtClean="0"/>
              <a:t>Conjunctive Rule</a:t>
            </a:r>
            <a:endParaRPr kumimoji="1" lang="ja-JP" altLang="en-US" sz="1600" dirty="0" smtClean="0"/>
          </a:p>
        </p:txBody>
      </p:sp>
      <p:sp>
        <p:nvSpPr>
          <p:cNvPr id="30" name="テキスト ボックス 29"/>
          <p:cNvSpPr txBox="1"/>
          <p:nvPr/>
        </p:nvSpPr>
        <p:spPr>
          <a:xfrm rot="16200000">
            <a:off x="2298832" y="4215836"/>
            <a:ext cx="593432" cy="338554"/>
          </a:xfrm>
          <a:prstGeom prst="rect">
            <a:avLst/>
          </a:prstGeom>
          <a:noFill/>
        </p:spPr>
        <p:txBody>
          <a:bodyPr wrap="none" rtlCol="0">
            <a:spAutoFit/>
          </a:bodyPr>
          <a:lstStyle/>
          <a:p>
            <a:pPr algn="r"/>
            <a:r>
              <a:rPr kumimoji="1" lang="en-US" altLang="ja-JP" sz="1600" dirty="0" err="1" smtClean="0"/>
              <a:t>JRip</a:t>
            </a:r>
            <a:endParaRPr kumimoji="1" lang="ja-JP" altLang="en-US" sz="1600" dirty="0" smtClean="0"/>
          </a:p>
        </p:txBody>
      </p:sp>
    </p:spTree>
    <p:extLst>
      <p:ext uri="{BB962C8B-B14F-4D97-AF65-F5344CB8AC3E}">
        <p14:creationId xmlns:p14="http://schemas.microsoft.com/office/powerpoint/2010/main" val="12603097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数値実験</a:t>
            </a:r>
            <a:endParaRPr kumimoji="1" lang="ja-JP" altLang="en-US" dirty="0"/>
          </a:p>
        </p:txBody>
      </p:sp>
      <p:sp>
        <p:nvSpPr>
          <p:cNvPr id="3" name="コンテンツ プレースホルダー 2"/>
          <p:cNvSpPr>
            <a:spLocks noGrp="1"/>
          </p:cNvSpPr>
          <p:nvPr>
            <p:ph idx="1"/>
          </p:nvPr>
        </p:nvSpPr>
        <p:spPr/>
        <p:txBody>
          <a:bodyPr/>
          <a:lstStyle/>
          <a:p>
            <a:r>
              <a:rPr kumimoji="1" lang="ja-JP" altLang="en-US" sz="2400" dirty="0" smtClean="0"/>
              <a:t>統計的な結果が</a:t>
            </a:r>
            <a:r>
              <a:rPr kumimoji="1" lang="ja-JP" altLang="en-US" sz="2400" dirty="0" smtClean="0">
                <a:solidFill>
                  <a:schemeClr val="accent1"/>
                </a:solidFill>
              </a:rPr>
              <a:t>良い順に左</a:t>
            </a:r>
            <a:r>
              <a:rPr kumimoji="1" lang="ja-JP" altLang="en-US" sz="2400" dirty="0" smtClean="0"/>
              <a:t>から並んでいる．</a:t>
            </a:r>
            <a:endParaRPr kumimoji="1" lang="ja-JP" altLang="en-US" sz="2400" dirty="0"/>
          </a:p>
        </p:txBody>
      </p:sp>
      <p:sp>
        <p:nvSpPr>
          <p:cNvPr id="4" name="スライド番号プレースホルダー 3"/>
          <p:cNvSpPr>
            <a:spLocks noGrp="1"/>
          </p:cNvSpPr>
          <p:nvPr>
            <p:ph type="sldNum" sz="quarter" idx="12"/>
          </p:nvPr>
        </p:nvSpPr>
        <p:spPr/>
        <p:txBody>
          <a:bodyPr/>
          <a:lstStyle/>
          <a:p>
            <a:r>
              <a:rPr kumimoji="1" lang="en-US" altLang="ja-JP" smtClean="0"/>
              <a:t>15/21</a:t>
            </a:r>
            <a:endParaRPr kumimoji="1" lang="ja-JP" altLang="en-US"/>
          </a:p>
        </p:txBody>
      </p:sp>
      <p:sp>
        <p:nvSpPr>
          <p:cNvPr id="5" name="テキスト プレースホルダー 4"/>
          <p:cNvSpPr>
            <a:spLocks noGrp="1"/>
          </p:cNvSpPr>
          <p:nvPr>
            <p:ph type="body" sz="quarter" idx="13"/>
          </p:nvPr>
        </p:nvSpPr>
        <p:spPr/>
        <p:txBody>
          <a:bodyPr/>
          <a:lstStyle/>
          <a:p>
            <a:r>
              <a:rPr kumimoji="1" lang="ja-JP" altLang="en-US" dirty="0" smtClean="0"/>
              <a:t>統計的有意差</a:t>
            </a:r>
            <a:endParaRPr kumimoji="1" lang="ja-JP" altLang="en-US" dirty="0"/>
          </a:p>
        </p:txBody>
      </p:sp>
      <p:pic>
        <p:nvPicPr>
          <p:cNvPr id="6" name="図 5"/>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2246487"/>
            <a:ext cx="9144000" cy="4631976"/>
          </a:xfrm>
          <a:prstGeom prst="rect">
            <a:avLst/>
          </a:prstGeom>
        </p:spPr>
      </p:pic>
      <p:sp>
        <p:nvSpPr>
          <p:cNvPr id="7" name="テキスト ボックス 6"/>
          <p:cNvSpPr txBox="1"/>
          <p:nvPr/>
        </p:nvSpPr>
        <p:spPr>
          <a:xfrm>
            <a:off x="6825059" y="1155639"/>
            <a:ext cx="2204641" cy="400110"/>
          </a:xfrm>
          <a:prstGeom prst="rect">
            <a:avLst/>
          </a:prstGeom>
          <a:noFill/>
        </p:spPr>
        <p:txBody>
          <a:bodyPr wrap="none" rtlCol="0">
            <a:spAutoFit/>
          </a:bodyPr>
          <a:lstStyle/>
          <a:p>
            <a:pPr algn="ctr"/>
            <a:r>
              <a:rPr kumimoji="1" lang="en-US" altLang="ja-JP" sz="2000" u="sng" dirty="0" smtClean="0">
                <a:solidFill>
                  <a:schemeClr val="accent1"/>
                </a:solidFill>
              </a:rPr>
              <a:t>Critical Difference</a:t>
            </a:r>
            <a:endParaRPr kumimoji="1" lang="ja-JP" altLang="en-US" sz="2000" u="sng" dirty="0" smtClean="0">
              <a:solidFill>
                <a:schemeClr val="accent1"/>
              </a:solidFill>
            </a:endParaRPr>
          </a:p>
        </p:txBody>
      </p:sp>
      <p:cxnSp>
        <p:nvCxnSpPr>
          <p:cNvPr id="9" name="直線矢印コネクタ 8"/>
          <p:cNvCxnSpPr/>
          <p:nvPr/>
        </p:nvCxnSpPr>
        <p:spPr>
          <a:xfrm flipH="1">
            <a:off x="6600826" y="1555749"/>
            <a:ext cx="301347" cy="87312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7016473" y="1470375"/>
            <a:ext cx="2196435" cy="707886"/>
          </a:xfrm>
          <a:prstGeom prst="rect">
            <a:avLst/>
          </a:prstGeom>
          <a:noFill/>
        </p:spPr>
        <p:txBody>
          <a:bodyPr wrap="none" rtlCol="0">
            <a:spAutoFit/>
          </a:bodyPr>
          <a:lstStyle/>
          <a:p>
            <a:r>
              <a:rPr kumimoji="1" lang="en-US" altLang="ja-JP" sz="2000" dirty="0" smtClean="0"/>
              <a:t>FURIA</a:t>
            </a:r>
            <a:r>
              <a:rPr kumimoji="1" lang="ja-JP" altLang="en-US" sz="2000" dirty="0" smtClean="0"/>
              <a:t>と統計的に</a:t>
            </a:r>
            <a:endParaRPr kumimoji="1" lang="en-US" altLang="ja-JP" sz="2000" dirty="0" smtClean="0"/>
          </a:p>
          <a:p>
            <a:r>
              <a:rPr kumimoji="1" lang="ja-JP" altLang="en-US" sz="2000" dirty="0" smtClean="0"/>
              <a:t>有意差がない領域</a:t>
            </a:r>
          </a:p>
        </p:txBody>
      </p:sp>
    </p:spTree>
    <p:extLst>
      <p:ext uri="{BB962C8B-B14F-4D97-AF65-F5344CB8AC3E}">
        <p14:creationId xmlns:p14="http://schemas.microsoft.com/office/powerpoint/2010/main" val="14974085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数値実験</a:t>
            </a:r>
            <a:endParaRPr kumimoji="1" lang="ja-JP" altLang="en-US" dirty="0"/>
          </a:p>
        </p:txBody>
      </p:sp>
      <p:sp>
        <p:nvSpPr>
          <p:cNvPr id="3" name="コンテンツ プレースホルダー 2"/>
          <p:cNvSpPr>
            <a:spLocks noGrp="1"/>
          </p:cNvSpPr>
          <p:nvPr>
            <p:ph idx="1"/>
          </p:nvPr>
        </p:nvSpPr>
        <p:spPr/>
        <p:txBody>
          <a:bodyPr/>
          <a:lstStyle/>
          <a:p>
            <a:r>
              <a:rPr kumimoji="1" lang="ja-JP" altLang="en-US" sz="2400" dirty="0" smtClean="0"/>
              <a:t>統計的な結果が</a:t>
            </a:r>
            <a:r>
              <a:rPr kumimoji="1" lang="ja-JP" altLang="en-US" sz="2400" dirty="0" smtClean="0">
                <a:solidFill>
                  <a:schemeClr val="accent1"/>
                </a:solidFill>
              </a:rPr>
              <a:t>良い順に左</a:t>
            </a:r>
            <a:r>
              <a:rPr kumimoji="1" lang="ja-JP" altLang="en-US" sz="2400" dirty="0" smtClean="0"/>
              <a:t>から並んでいる．</a:t>
            </a:r>
            <a:endParaRPr kumimoji="1" lang="ja-JP" altLang="en-US" sz="2400" dirty="0"/>
          </a:p>
        </p:txBody>
      </p:sp>
      <p:sp>
        <p:nvSpPr>
          <p:cNvPr id="4" name="スライド番号プレースホルダー 3"/>
          <p:cNvSpPr>
            <a:spLocks noGrp="1"/>
          </p:cNvSpPr>
          <p:nvPr>
            <p:ph type="sldNum" sz="quarter" idx="12"/>
          </p:nvPr>
        </p:nvSpPr>
        <p:spPr/>
        <p:txBody>
          <a:bodyPr/>
          <a:lstStyle/>
          <a:p>
            <a:r>
              <a:rPr kumimoji="1" lang="en-US" altLang="ja-JP" smtClean="0"/>
              <a:t>16/21</a:t>
            </a:r>
            <a:endParaRPr kumimoji="1" lang="ja-JP" altLang="en-US"/>
          </a:p>
        </p:txBody>
      </p:sp>
      <p:sp>
        <p:nvSpPr>
          <p:cNvPr id="5" name="テキスト プレースホルダー 4"/>
          <p:cNvSpPr>
            <a:spLocks noGrp="1"/>
          </p:cNvSpPr>
          <p:nvPr>
            <p:ph type="body" sz="quarter" idx="13"/>
          </p:nvPr>
        </p:nvSpPr>
        <p:spPr/>
        <p:txBody>
          <a:bodyPr/>
          <a:lstStyle/>
          <a:p>
            <a:r>
              <a:rPr kumimoji="1" lang="ja-JP" altLang="en-US" dirty="0" smtClean="0"/>
              <a:t>統計的有意差</a:t>
            </a:r>
            <a:endParaRPr kumimoji="1" lang="ja-JP" altLang="en-US" dirty="0"/>
          </a:p>
        </p:txBody>
      </p:sp>
      <p:pic>
        <p:nvPicPr>
          <p:cNvPr id="6" name="図 5"/>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2246487"/>
            <a:ext cx="9144000" cy="4631976"/>
          </a:xfrm>
          <a:prstGeom prst="rect">
            <a:avLst/>
          </a:prstGeom>
        </p:spPr>
      </p:pic>
      <p:sp>
        <p:nvSpPr>
          <p:cNvPr id="8" name="楕円 7"/>
          <p:cNvSpPr/>
          <p:nvPr/>
        </p:nvSpPr>
        <p:spPr>
          <a:xfrm>
            <a:off x="933450" y="2390775"/>
            <a:ext cx="190500" cy="19050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楕円 10"/>
          <p:cNvSpPr/>
          <p:nvPr/>
        </p:nvSpPr>
        <p:spPr>
          <a:xfrm>
            <a:off x="1238250" y="3933825"/>
            <a:ext cx="190500" cy="19050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p:cNvSpPr/>
          <p:nvPr/>
        </p:nvSpPr>
        <p:spPr>
          <a:xfrm>
            <a:off x="3486150" y="5467350"/>
            <a:ext cx="190500" cy="19050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楕円 12"/>
          <p:cNvSpPr/>
          <p:nvPr/>
        </p:nvSpPr>
        <p:spPr>
          <a:xfrm>
            <a:off x="6248400" y="3933825"/>
            <a:ext cx="190500" cy="19050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楕円 13"/>
          <p:cNvSpPr/>
          <p:nvPr/>
        </p:nvSpPr>
        <p:spPr>
          <a:xfrm>
            <a:off x="6496050" y="2390775"/>
            <a:ext cx="190500" cy="19050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角丸四角形 9"/>
          <p:cNvSpPr/>
          <p:nvPr/>
        </p:nvSpPr>
        <p:spPr>
          <a:xfrm>
            <a:off x="5238750" y="2676525"/>
            <a:ext cx="485775" cy="476250"/>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3539816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数値実験</a:t>
            </a:r>
            <a:endParaRPr kumimoji="1" lang="ja-JP" altLang="en-US" dirty="0"/>
          </a:p>
        </p:txBody>
      </p:sp>
      <p:sp>
        <p:nvSpPr>
          <p:cNvPr id="3" name="コンテンツ プレースホルダー 2"/>
          <p:cNvSpPr>
            <a:spLocks noGrp="1"/>
          </p:cNvSpPr>
          <p:nvPr>
            <p:ph idx="1"/>
          </p:nvPr>
        </p:nvSpPr>
        <p:spPr/>
        <p:txBody>
          <a:bodyPr/>
          <a:lstStyle/>
          <a:p>
            <a:r>
              <a:rPr kumimoji="1" lang="ja-JP" altLang="en-US" sz="2400" dirty="0" smtClean="0"/>
              <a:t>統計的な結果が</a:t>
            </a:r>
            <a:r>
              <a:rPr kumimoji="1" lang="ja-JP" altLang="en-US" sz="2400" dirty="0" smtClean="0">
                <a:solidFill>
                  <a:schemeClr val="accent1"/>
                </a:solidFill>
              </a:rPr>
              <a:t>良い順に左</a:t>
            </a:r>
            <a:r>
              <a:rPr kumimoji="1" lang="ja-JP" altLang="en-US" sz="2400" dirty="0" smtClean="0"/>
              <a:t>から並んでいる．</a:t>
            </a:r>
            <a:endParaRPr kumimoji="1" lang="ja-JP" altLang="en-US" sz="2400" dirty="0"/>
          </a:p>
        </p:txBody>
      </p:sp>
      <p:sp>
        <p:nvSpPr>
          <p:cNvPr id="4" name="スライド番号プレースホルダー 3"/>
          <p:cNvSpPr>
            <a:spLocks noGrp="1"/>
          </p:cNvSpPr>
          <p:nvPr>
            <p:ph type="sldNum" sz="quarter" idx="12"/>
          </p:nvPr>
        </p:nvSpPr>
        <p:spPr/>
        <p:txBody>
          <a:bodyPr/>
          <a:lstStyle/>
          <a:p>
            <a:r>
              <a:rPr kumimoji="1" lang="en-US" altLang="ja-JP" smtClean="0"/>
              <a:t>17/21</a:t>
            </a:r>
            <a:endParaRPr kumimoji="1" lang="ja-JP" altLang="en-US"/>
          </a:p>
        </p:txBody>
      </p:sp>
      <p:sp>
        <p:nvSpPr>
          <p:cNvPr id="5" name="テキスト プレースホルダー 4"/>
          <p:cNvSpPr>
            <a:spLocks noGrp="1"/>
          </p:cNvSpPr>
          <p:nvPr>
            <p:ph type="body" sz="quarter" idx="13"/>
          </p:nvPr>
        </p:nvSpPr>
        <p:spPr/>
        <p:txBody>
          <a:bodyPr/>
          <a:lstStyle/>
          <a:p>
            <a:r>
              <a:rPr kumimoji="1" lang="ja-JP" altLang="en-US" dirty="0" smtClean="0"/>
              <a:t>統計的有意差</a:t>
            </a:r>
            <a:endParaRPr kumimoji="1" lang="ja-JP" altLang="en-US" dirty="0"/>
          </a:p>
        </p:txBody>
      </p:sp>
      <p:pic>
        <p:nvPicPr>
          <p:cNvPr id="6" name="図 5"/>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2246487"/>
            <a:ext cx="9144000" cy="4631976"/>
          </a:xfrm>
          <a:prstGeom prst="rect">
            <a:avLst/>
          </a:prstGeom>
        </p:spPr>
      </p:pic>
      <p:sp>
        <p:nvSpPr>
          <p:cNvPr id="10" name="楕円 9"/>
          <p:cNvSpPr/>
          <p:nvPr/>
        </p:nvSpPr>
        <p:spPr>
          <a:xfrm>
            <a:off x="1352550" y="2400300"/>
            <a:ext cx="190500" cy="19050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楕円 10"/>
          <p:cNvSpPr/>
          <p:nvPr/>
        </p:nvSpPr>
        <p:spPr>
          <a:xfrm>
            <a:off x="4010025" y="5467350"/>
            <a:ext cx="190500" cy="19050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角丸四角形 11"/>
          <p:cNvSpPr/>
          <p:nvPr/>
        </p:nvSpPr>
        <p:spPr>
          <a:xfrm>
            <a:off x="219075" y="2854353"/>
            <a:ext cx="433387" cy="136497"/>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角丸四角形 12"/>
          <p:cNvSpPr/>
          <p:nvPr/>
        </p:nvSpPr>
        <p:spPr>
          <a:xfrm>
            <a:off x="2762250" y="5940453"/>
            <a:ext cx="433387" cy="136497"/>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角丸四角形 13"/>
          <p:cNvSpPr/>
          <p:nvPr/>
        </p:nvSpPr>
        <p:spPr>
          <a:xfrm>
            <a:off x="19050" y="3016984"/>
            <a:ext cx="614361" cy="116741"/>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角丸四角形 15"/>
          <p:cNvSpPr/>
          <p:nvPr/>
        </p:nvSpPr>
        <p:spPr>
          <a:xfrm>
            <a:off x="3167062" y="2709037"/>
            <a:ext cx="823913" cy="135791"/>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角丸四角形 16"/>
          <p:cNvSpPr/>
          <p:nvPr/>
        </p:nvSpPr>
        <p:spPr>
          <a:xfrm>
            <a:off x="3148012" y="4563222"/>
            <a:ext cx="614361" cy="116741"/>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角丸四角形 17"/>
          <p:cNvSpPr/>
          <p:nvPr/>
        </p:nvSpPr>
        <p:spPr>
          <a:xfrm>
            <a:off x="5700712" y="6098441"/>
            <a:ext cx="614361" cy="116741"/>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角丸四角形 18"/>
          <p:cNvSpPr/>
          <p:nvPr/>
        </p:nvSpPr>
        <p:spPr>
          <a:xfrm>
            <a:off x="8243889" y="4410075"/>
            <a:ext cx="614361" cy="116741"/>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角丸四角形 19"/>
          <p:cNvSpPr/>
          <p:nvPr/>
        </p:nvSpPr>
        <p:spPr>
          <a:xfrm>
            <a:off x="8243888" y="3016983"/>
            <a:ext cx="614361" cy="116741"/>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角丸四角形 20"/>
          <p:cNvSpPr/>
          <p:nvPr/>
        </p:nvSpPr>
        <p:spPr>
          <a:xfrm>
            <a:off x="3167062" y="4243782"/>
            <a:ext cx="823913" cy="135791"/>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角丸四角形 21"/>
          <p:cNvSpPr/>
          <p:nvPr/>
        </p:nvSpPr>
        <p:spPr>
          <a:xfrm>
            <a:off x="5710237" y="5795137"/>
            <a:ext cx="823913" cy="135791"/>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角丸四角形 22"/>
          <p:cNvSpPr/>
          <p:nvPr/>
        </p:nvSpPr>
        <p:spPr>
          <a:xfrm>
            <a:off x="8253412" y="4243782"/>
            <a:ext cx="823913" cy="135791"/>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角丸四角形 23"/>
          <p:cNvSpPr/>
          <p:nvPr/>
        </p:nvSpPr>
        <p:spPr>
          <a:xfrm>
            <a:off x="8243888" y="2709037"/>
            <a:ext cx="823913" cy="135791"/>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8985610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数値実験</a:t>
            </a:r>
            <a:endParaRPr kumimoji="1" lang="ja-JP" altLang="en-US" dirty="0"/>
          </a:p>
        </p:txBody>
      </p:sp>
      <p:sp>
        <p:nvSpPr>
          <p:cNvPr id="3" name="コンテンツ プレースホルダー 2"/>
          <p:cNvSpPr>
            <a:spLocks noGrp="1"/>
          </p:cNvSpPr>
          <p:nvPr>
            <p:ph idx="1"/>
          </p:nvPr>
        </p:nvSpPr>
        <p:spPr/>
        <p:txBody>
          <a:bodyPr/>
          <a:lstStyle/>
          <a:p>
            <a:endParaRPr kumimoji="1" lang="en-US" altLang="ja-JP" sz="2400" dirty="0" smtClean="0"/>
          </a:p>
          <a:p>
            <a:endParaRPr lang="en-US" altLang="ja-JP" sz="1400" dirty="0" smtClean="0"/>
          </a:p>
          <a:p>
            <a:pPr marL="457200" indent="-457200">
              <a:buClr>
                <a:schemeClr val="tx1"/>
              </a:buClr>
              <a:buFont typeface="+mj-lt"/>
              <a:buAutoNum type="arabicPeriod"/>
            </a:pPr>
            <a:r>
              <a:rPr kumimoji="1" lang="en-US" altLang="ja-JP" sz="2400" b="1" dirty="0" smtClean="0">
                <a:solidFill>
                  <a:schemeClr val="accent2"/>
                </a:solidFill>
              </a:rPr>
              <a:t>Hamming Loss: </a:t>
            </a:r>
          </a:p>
          <a:p>
            <a:pPr lvl="1">
              <a:buClr>
                <a:schemeClr val="tx1"/>
              </a:buClr>
            </a:pPr>
            <a:r>
              <a:rPr kumimoji="1" lang="ja-JP" altLang="en-US" dirty="0" smtClean="0"/>
              <a:t>   真のラベルセットに近い</a:t>
            </a:r>
            <a:endParaRPr kumimoji="1" lang="en-US" altLang="ja-JP" dirty="0" smtClean="0"/>
          </a:p>
          <a:p>
            <a:pPr marL="457200" indent="-457200">
              <a:buClr>
                <a:schemeClr val="tx1"/>
              </a:buClr>
              <a:buFont typeface="+mj-lt"/>
              <a:buAutoNum type="arabicPeriod"/>
            </a:pPr>
            <a:r>
              <a:rPr lang="en-US" altLang="ja-JP" sz="2400" b="1" dirty="0" smtClean="0">
                <a:solidFill>
                  <a:schemeClr val="accent2"/>
                </a:solidFill>
              </a:rPr>
              <a:t>Ranking Loss: </a:t>
            </a:r>
          </a:p>
          <a:p>
            <a:pPr lvl="1">
              <a:buClr>
                <a:schemeClr val="tx1"/>
              </a:buClr>
            </a:pPr>
            <a:r>
              <a:rPr lang="ja-JP" altLang="en-US" dirty="0" smtClean="0"/>
              <a:t>   パターンと関連のないラベルを予想しにくい</a:t>
            </a:r>
            <a:endParaRPr lang="en-US" altLang="ja-JP" dirty="0" smtClean="0"/>
          </a:p>
          <a:p>
            <a:pPr marL="457200" indent="-457200">
              <a:buClr>
                <a:schemeClr val="tx1"/>
              </a:buClr>
              <a:buFont typeface="+mj-lt"/>
              <a:buAutoNum type="arabicPeriod"/>
            </a:pPr>
            <a:r>
              <a:rPr kumimoji="1" lang="en-US" altLang="ja-JP" sz="2400" b="1" dirty="0" smtClean="0">
                <a:solidFill>
                  <a:schemeClr val="accent2"/>
                </a:solidFill>
              </a:rPr>
              <a:t>One-error:</a:t>
            </a:r>
            <a:r>
              <a:rPr lang="ja-JP" altLang="en-US" sz="2400" b="1" dirty="0">
                <a:solidFill>
                  <a:schemeClr val="accent2"/>
                </a:solidFill>
              </a:rPr>
              <a:t> </a:t>
            </a:r>
            <a:endParaRPr lang="en-US" altLang="ja-JP" sz="2400" b="1" dirty="0" smtClean="0">
              <a:solidFill>
                <a:schemeClr val="accent2"/>
              </a:solidFill>
            </a:endParaRPr>
          </a:p>
          <a:p>
            <a:pPr lvl="1"/>
            <a:r>
              <a:rPr lang="ja-JP" altLang="en-US" dirty="0" smtClean="0"/>
              <a:t>   最上位で予測されたラベルが真のラベルである可能性が高い</a:t>
            </a:r>
            <a:endParaRPr kumimoji="1" lang="en-US" altLang="ja-JP" dirty="0" smtClean="0"/>
          </a:p>
          <a:p>
            <a:pPr marL="457200" indent="-457200">
              <a:buClr>
                <a:schemeClr val="tx1"/>
              </a:buClr>
              <a:buFont typeface="+mj-lt"/>
              <a:buAutoNum type="arabicPeriod"/>
            </a:pPr>
            <a:r>
              <a:rPr lang="en-US" altLang="ja-JP" sz="2400" b="1" dirty="0" smtClean="0">
                <a:solidFill>
                  <a:schemeClr val="accent1"/>
                </a:solidFill>
              </a:rPr>
              <a:t>Average Precision: </a:t>
            </a:r>
          </a:p>
          <a:p>
            <a:pPr lvl="1"/>
            <a:r>
              <a:rPr lang="ja-JP" altLang="en-US" dirty="0" smtClean="0"/>
              <a:t>   パターン</a:t>
            </a:r>
            <a:r>
              <a:rPr lang="ja-JP" altLang="en-US" dirty="0"/>
              <a:t>と関連のないラベルを予想</a:t>
            </a:r>
            <a:r>
              <a:rPr lang="ja-JP" altLang="en-US" dirty="0" smtClean="0"/>
              <a:t>しにくい</a:t>
            </a:r>
            <a:endParaRPr lang="en-US" altLang="ja-JP" dirty="0" smtClean="0"/>
          </a:p>
          <a:p>
            <a:pPr marL="457200" indent="-457200">
              <a:buClr>
                <a:schemeClr val="tx1"/>
              </a:buClr>
              <a:buFont typeface="+mj-lt"/>
              <a:buAutoNum type="arabicPeriod"/>
            </a:pPr>
            <a:r>
              <a:rPr kumimoji="1" lang="en-US" altLang="ja-JP" sz="2400" b="1" dirty="0" smtClean="0">
                <a:solidFill>
                  <a:schemeClr val="accent1"/>
                </a:solidFill>
              </a:rPr>
              <a:t>Subset Accuracy: </a:t>
            </a:r>
          </a:p>
          <a:p>
            <a:pPr lvl="1">
              <a:buClr>
                <a:schemeClr val="tx1"/>
              </a:buClr>
            </a:pPr>
            <a:r>
              <a:rPr kumimoji="1" lang="ja-JP" altLang="en-US" dirty="0" smtClean="0"/>
              <a:t>   予測されたラベルが完全一致しやすい</a:t>
            </a:r>
            <a:endParaRPr kumimoji="1" lang="ja-JP" altLang="en-US" dirty="0"/>
          </a:p>
        </p:txBody>
      </p:sp>
      <p:sp>
        <p:nvSpPr>
          <p:cNvPr id="4" name="スライド番号プレースホルダー 3"/>
          <p:cNvSpPr>
            <a:spLocks noGrp="1"/>
          </p:cNvSpPr>
          <p:nvPr>
            <p:ph type="sldNum" sz="quarter" idx="12"/>
          </p:nvPr>
        </p:nvSpPr>
        <p:spPr/>
        <p:txBody>
          <a:bodyPr/>
          <a:lstStyle/>
          <a:p>
            <a:r>
              <a:rPr kumimoji="1" lang="en-US" altLang="ja-JP" smtClean="0"/>
              <a:t>18/21</a:t>
            </a:r>
            <a:endParaRPr kumimoji="1" lang="ja-JP" altLang="en-US"/>
          </a:p>
        </p:txBody>
      </p:sp>
      <p:sp>
        <p:nvSpPr>
          <p:cNvPr id="5" name="テキスト プレースホルダー 4"/>
          <p:cNvSpPr>
            <a:spLocks noGrp="1"/>
          </p:cNvSpPr>
          <p:nvPr>
            <p:ph type="body" sz="quarter" idx="13"/>
          </p:nvPr>
        </p:nvSpPr>
        <p:spPr/>
        <p:txBody>
          <a:bodyPr/>
          <a:lstStyle/>
          <a:p>
            <a:r>
              <a:rPr kumimoji="1" lang="ja-JP" altLang="en-US" dirty="0" smtClean="0"/>
              <a:t>統計的有意差</a:t>
            </a:r>
            <a:endParaRPr kumimoji="1" lang="ja-JP" altLang="en-US" dirty="0"/>
          </a:p>
        </p:txBody>
      </p:sp>
      <p:sp>
        <p:nvSpPr>
          <p:cNvPr id="8" name="テキスト ボックス 7"/>
          <p:cNvSpPr txBox="1"/>
          <p:nvPr/>
        </p:nvSpPr>
        <p:spPr>
          <a:xfrm>
            <a:off x="228601" y="1371600"/>
            <a:ext cx="5078634" cy="461665"/>
          </a:xfrm>
          <a:prstGeom prst="rect">
            <a:avLst/>
          </a:prstGeom>
          <a:solidFill>
            <a:schemeClr val="bg1"/>
          </a:solidFill>
          <a:ln w="19050">
            <a:solidFill>
              <a:schemeClr val="tx1"/>
            </a:solidFill>
          </a:ln>
        </p:spPr>
        <p:txBody>
          <a:bodyPr wrap="none" rtlCol="0">
            <a:spAutoFit/>
          </a:bodyPr>
          <a:lstStyle/>
          <a:p>
            <a:pPr algn="ctr"/>
            <a:r>
              <a:rPr lang="ja-JP" altLang="en-US" sz="2400" dirty="0"/>
              <a:t>各評価尺度が良い</a:t>
            </a:r>
            <a:r>
              <a:rPr lang="en-US" altLang="ja-JP" sz="2400" dirty="0"/>
              <a:t>FURIA</a:t>
            </a:r>
            <a:r>
              <a:rPr lang="ja-JP" altLang="en-US" sz="2400" dirty="0"/>
              <a:t>が持つ特徴</a:t>
            </a:r>
            <a:endParaRPr lang="en-US" altLang="ja-JP" sz="2400" dirty="0"/>
          </a:p>
        </p:txBody>
      </p:sp>
    </p:spTree>
    <p:extLst>
      <p:ext uri="{BB962C8B-B14F-4D97-AF65-F5344CB8AC3E}">
        <p14:creationId xmlns:p14="http://schemas.microsoft.com/office/powerpoint/2010/main" val="34890403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数値実験</a:t>
            </a:r>
            <a:endParaRPr kumimoji="1" lang="ja-JP" altLang="en-US" dirty="0"/>
          </a:p>
        </p:txBody>
      </p:sp>
      <p:sp>
        <p:nvSpPr>
          <p:cNvPr id="3" name="コンテンツ プレースホルダー 2"/>
          <p:cNvSpPr>
            <a:spLocks noGrp="1"/>
          </p:cNvSpPr>
          <p:nvPr>
            <p:ph idx="1"/>
          </p:nvPr>
        </p:nvSpPr>
        <p:spPr>
          <a:xfrm>
            <a:off x="228600" y="1371600"/>
            <a:ext cx="2305050" cy="5181600"/>
          </a:xfrm>
        </p:spPr>
        <p:txBody>
          <a:bodyPr/>
          <a:lstStyle/>
          <a:p>
            <a:r>
              <a:rPr kumimoji="1" lang="en-US" altLang="ja-JP" sz="2400" dirty="0" smtClean="0">
                <a:solidFill>
                  <a:schemeClr val="accent1"/>
                </a:solidFill>
              </a:rPr>
              <a:t>FURIA</a:t>
            </a:r>
            <a:r>
              <a:rPr lang="ja-JP" altLang="en-US" sz="2400" dirty="0" smtClean="0"/>
              <a:t>における</a:t>
            </a:r>
            <a:r>
              <a:rPr kumimoji="1" lang="ja-JP" altLang="en-US" sz="2400" dirty="0" smtClean="0"/>
              <a:t>各問題変換法を用いた場合の</a:t>
            </a:r>
            <a:r>
              <a:rPr kumimoji="1" lang="en-US" altLang="ja-JP" sz="2400" dirty="0" smtClean="0"/>
              <a:t>5CV</a:t>
            </a:r>
            <a:r>
              <a:rPr kumimoji="1" lang="ja-JP" altLang="en-US" sz="2400" dirty="0" smtClean="0"/>
              <a:t>平均結果</a:t>
            </a:r>
            <a:endParaRPr kumimoji="1" lang="ja-JP" altLang="en-US" sz="2400" dirty="0"/>
          </a:p>
        </p:txBody>
      </p:sp>
      <p:sp>
        <p:nvSpPr>
          <p:cNvPr id="4" name="スライド番号プレースホルダー 3"/>
          <p:cNvSpPr>
            <a:spLocks noGrp="1"/>
          </p:cNvSpPr>
          <p:nvPr>
            <p:ph type="sldNum" sz="quarter" idx="12"/>
          </p:nvPr>
        </p:nvSpPr>
        <p:spPr/>
        <p:txBody>
          <a:bodyPr/>
          <a:lstStyle/>
          <a:p>
            <a:r>
              <a:rPr kumimoji="1" lang="en-US" altLang="ja-JP" smtClean="0"/>
              <a:t>19/21</a:t>
            </a:r>
            <a:endParaRPr kumimoji="1" lang="ja-JP" altLang="en-US"/>
          </a:p>
        </p:txBody>
      </p:sp>
      <p:sp>
        <p:nvSpPr>
          <p:cNvPr id="5" name="テキスト プレースホルダー 4"/>
          <p:cNvSpPr>
            <a:spLocks noGrp="1"/>
          </p:cNvSpPr>
          <p:nvPr>
            <p:ph type="body" sz="quarter" idx="13"/>
          </p:nvPr>
        </p:nvSpPr>
        <p:spPr/>
        <p:txBody>
          <a:bodyPr/>
          <a:lstStyle/>
          <a:p>
            <a:r>
              <a:rPr kumimoji="1" lang="ja-JP" altLang="en-US" dirty="0" smtClean="0"/>
              <a:t>実験</a:t>
            </a:r>
            <a:r>
              <a:rPr kumimoji="1" lang="en-US" altLang="ja-JP" dirty="0" smtClean="0"/>
              <a:t>2: </a:t>
            </a:r>
            <a:r>
              <a:rPr kumimoji="1" lang="ja-JP" altLang="en-US" dirty="0" smtClean="0"/>
              <a:t>問題変換法による違いの調査</a:t>
            </a:r>
            <a:endParaRPr kumimoji="1" lang="ja-JP" altLang="en-US" dirty="0"/>
          </a:p>
        </p:txBody>
      </p:sp>
      <p:pic>
        <p:nvPicPr>
          <p:cNvPr id="6" name="図 5"/>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33650" y="1156632"/>
            <a:ext cx="6610350" cy="5734693"/>
          </a:xfrm>
          <a:prstGeom prst="rect">
            <a:avLst/>
          </a:prstGeom>
        </p:spPr>
      </p:pic>
      <p:sp>
        <p:nvSpPr>
          <p:cNvPr id="7" name="テキスト ボックス 6"/>
          <p:cNvSpPr txBox="1"/>
          <p:nvPr/>
        </p:nvSpPr>
        <p:spPr>
          <a:xfrm>
            <a:off x="6512262" y="757535"/>
            <a:ext cx="2648482" cy="400110"/>
          </a:xfrm>
          <a:prstGeom prst="rect">
            <a:avLst/>
          </a:prstGeom>
          <a:solidFill>
            <a:schemeClr val="bg1"/>
          </a:solidFill>
          <a:ln w="19050">
            <a:noFill/>
          </a:ln>
        </p:spPr>
        <p:txBody>
          <a:bodyPr wrap="none" rtlCol="0">
            <a:spAutoFit/>
          </a:bodyPr>
          <a:lstStyle/>
          <a:p>
            <a:r>
              <a:rPr lang="en-US" altLang="ja-JP" sz="2000" dirty="0" smtClean="0"/>
              <a:t>(B</a:t>
            </a:r>
            <a:r>
              <a:rPr kumimoji="1" lang="en-US" altLang="ja-JP" sz="2000" dirty="0" smtClean="0"/>
              <a:t>old: Best algorithm)</a:t>
            </a:r>
            <a:endParaRPr kumimoji="1" lang="ja-JP" altLang="en-US" sz="2000" dirty="0" smtClean="0"/>
          </a:p>
        </p:txBody>
      </p:sp>
      <p:sp>
        <p:nvSpPr>
          <p:cNvPr id="8" name="角丸四角形 7"/>
          <p:cNvSpPr/>
          <p:nvPr/>
        </p:nvSpPr>
        <p:spPr>
          <a:xfrm>
            <a:off x="4749800" y="1156632"/>
            <a:ext cx="1104899" cy="5612468"/>
          </a:xfrm>
          <a:prstGeom prst="roundRect">
            <a:avLst>
              <a:gd name="adj" fmla="val 10920"/>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角丸四角形 8"/>
          <p:cNvSpPr/>
          <p:nvPr/>
        </p:nvSpPr>
        <p:spPr>
          <a:xfrm>
            <a:off x="5918199" y="1156632"/>
            <a:ext cx="1104899" cy="5612468"/>
          </a:xfrm>
          <a:prstGeom prst="roundRect">
            <a:avLst>
              <a:gd name="adj" fmla="val 10920"/>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角丸四角形 10"/>
          <p:cNvSpPr/>
          <p:nvPr/>
        </p:nvSpPr>
        <p:spPr>
          <a:xfrm>
            <a:off x="7086598" y="4152900"/>
            <a:ext cx="1104899" cy="838200"/>
          </a:xfrm>
          <a:prstGeom prst="roundRect">
            <a:avLst>
              <a:gd name="adj" fmla="val 10920"/>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9046978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図 12"/>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33650" y="1156632"/>
            <a:ext cx="6610350" cy="5734693"/>
          </a:xfrm>
          <a:prstGeom prst="rect">
            <a:avLst/>
          </a:prstGeom>
        </p:spPr>
      </p:pic>
      <p:sp>
        <p:nvSpPr>
          <p:cNvPr id="14" name="角丸四角形 13"/>
          <p:cNvSpPr/>
          <p:nvPr/>
        </p:nvSpPr>
        <p:spPr>
          <a:xfrm>
            <a:off x="4749800" y="1156632"/>
            <a:ext cx="1104899" cy="5612468"/>
          </a:xfrm>
          <a:prstGeom prst="roundRect">
            <a:avLst>
              <a:gd name="adj" fmla="val 10920"/>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角丸四角形 14"/>
          <p:cNvSpPr/>
          <p:nvPr/>
        </p:nvSpPr>
        <p:spPr>
          <a:xfrm>
            <a:off x="5918199" y="1156632"/>
            <a:ext cx="1104899" cy="5612468"/>
          </a:xfrm>
          <a:prstGeom prst="roundRect">
            <a:avLst>
              <a:gd name="adj" fmla="val 10920"/>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p:cNvSpPr/>
          <p:nvPr/>
        </p:nvSpPr>
        <p:spPr>
          <a:xfrm>
            <a:off x="2533650" y="5082373"/>
            <a:ext cx="6627094" cy="17756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p:cNvSpPr>
            <a:spLocks noGrp="1"/>
          </p:cNvSpPr>
          <p:nvPr>
            <p:ph type="title"/>
          </p:nvPr>
        </p:nvSpPr>
        <p:spPr/>
        <p:txBody>
          <a:bodyPr/>
          <a:lstStyle/>
          <a:p>
            <a:r>
              <a:rPr kumimoji="1" lang="ja-JP" altLang="en-US" dirty="0" smtClean="0"/>
              <a:t>数値実験</a:t>
            </a:r>
            <a:endParaRPr kumimoji="1" lang="ja-JP" altLang="en-US" dirty="0"/>
          </a:p>
        </p:txBody>
      </p:sp>
      <p:sp>
        <p:nvSpPr>
          <p:cNvPr id="3" name="コンテンツ プレースホルダー 2"/>
          <p:cNvSpPr>
            <a:spLocks noGrp="1"/>
          </p:cNvSpPr>
          <p:nvPr>
            <p:ph idx="1"/>
          </p:nvPr>
        </p:nvSpPr>
        <p:spPr>
          <a:xfrm>
            <a:off x="228600" y="1371600"/>
            <a:ext cx="2305050" cy="5181600"/>
          </a:xfrm>
        </p:spPr>
        <p:txBody>
          <a:bodyPr/>
          <a:lstStyle/>
          <a:p>
            <a:r>
              <a:rPr kumimoji="1" lang="en-US" altLang="ja-JP" sz="2400" dirty="0" smtClean="0">
                <a:solidFill>
                  <a:schemeClr val="accent1"/>
                </a:solidFill>
              </a:rPr>
              <a:t>FURIA</a:t>
            </a:r>
            <a:r>
              <a:rPr lang="ja-JP" altLang="en-US" sz="2400" dirty="0" smtClean="0"/>
              <a:t>における</a:t>
            </a:r>
            <a:r>
              <a:rPr kumimoji="1" lang="ja-JP" altLang="en-US" sz="2400" dirty="0" smtClean="0"/>
              <a:t>各問題変換法を用いた場合の</a:t>
            </a:r>
            <a:r>
              <a:rPr kumimoji="1" lang="en-US" altLang="ja-JP" sz="2400" dirty="0" smtClean="0"/>
              <a:t>5CV</a:t>
            </a:r>
            <a:r>
              <a:rPr kumimoji="1" lang="ja-JP" altLang="en-US" sz="2400" dirty="0" smtClean="0"/>
              <a:t>平均結果</a:t>
            </a:r>
            <a:endParaRPr kumimoji="1" lang="en-US" altLang="ja-JP" sz="2400" dirty="0" smtClean="0"/>
          </a:p>
          <a:p>
            <a:endParaRPr lang="en-US" altLang="ja-JP" sz="2400" dirty="0" smtClean="0"/>
          </a:p>
          <a:p>
            <a:endParaRPr lang="en-US" altLang="ja-JP" sz="2400" dirty="0"/>
          </a:p>
          <a:p>
            <a:endParaRPr lang="en-US" altLang="ja-JP" sz="2400" dirty="0" smtClean="0"/>
          </a:p>
          <a:p>
            <a:r>
              <a:rPr lang="ja-JP" altLang="en-US" sz="2400" dirty="0" smtClean="0"/>
              <a:t>フリードマンの</a:t>
            </a:r>
            <a:r>
              <a:rPr lang="en-US" altLang="ja-JP" sz="2400" dirty="0" smtClean="0"/>
              <a:t>post-hoc</a:t>
            </a:r>
            <a:r>
              <a:rPr lang="ja-JP" altLang="en-US" sz="2400" dirty="0" smtClean="0"/>
              <a:t>として，</a:t>
            </a:r>
            <a:r>
              <a:rPr lang="en-US" altLang="ja-JP" sz="2400" dirty="0" err="1" smtClean="0"/>
              <a:t>Nemenyi</a:t>
            </a:r>
            <a:r>
              <a:rPr lang="ja-JP" altLang="en-US" sz="2400" dirty="0" smtClean="0"/>
              <a:t>テストを行った結果．</a:t>
            </a:r>
            <a:endParaRPr lang="en-US" altLang="ja-JP" sz="2400" dirty="0" smtClean="0"/>
          </a:p>
          <a:p>
            <a:r>
              <a:rPr kumimoji="1" lang="ja-JP" altLang="en-US" sz="2400" dirty="0"/>
              <a:t>全</a:t>
            </a:r>
            <a:r>
              <a:rPr kumimoji="1" lang="ja-JP" altLang="en-US" sz="2400" dirty="0" smtClean="0"/>
              <a:t>てのペアを</a:t>
            </a:r>
            <a:r>
              <a:rPr kumimoji="1" lang="en-US" altLang="ja-JP" sz="2400" dirty="0" smtClean="0"/>
              <a:t/>
            </a:r>
            <a:br>
              <a:rPr kumimoji="1" lang="en-US" altLang="ja-JP" sz="2400" dirty="0" smtClean="0"/>
            </a:br>
            <a:r>
              <a:rPr kumimoji="1" lang="ja-JP" altLang="en-US" sz="2400" dirty="0" smtClean="0"/>
              <a:t>比較する検定．</a:t>
            </a:r>
            <a:endParaRPr kumimoji="1" lang="en-US" altLang="ja-JP" sz="2400" dirty="0" smtClean="0"/>
          </a:p>
        </p:txBody>
      </p:sp>
      <p:sp>
        <p:nvSpPr>
          <p:cNvPr id="4" name="スライド番号プレースホルダー 3"/>
          <p:cNvSpPr>
            <a:spLocks noGrp="1"/>
          </p:cNvSpPr>
          <p:nvPr>
            <p:ph type="sldNum" sz="quarter" idx="12"/>
          </p:nvPr>
        </p:nvSpPr>
        <p:spPr/>
        <p:txBody>
          <a:bodyPr/>
          <a:lstStyle/>
          <a:p>
            <a:r>
              <a:rPr kumimoji="1" lang="en-US" altLang="ja-JP" smtClean="0"/>
              <a:t>20/21</a:t>
            </a:r>
            <a:endParaRPr kumimoji="1" lang="ja-JP" altLang="en-US"/>
          </a:p>
        </p:txBody>
      </p:sp>
      <p:sp>
        <p:nvSpPr>
          <p:cNvPr id="5" name="テキスト プレースホルダー 4"/>
          <p:cNvSpPr>
            <a:spLocks noGrp="1"/>
          </p:cNvSpPr>
          <p:nvPr>
            <p:ph type="body" sz="quarter" idx="13"/>
          </p:nvPr>
        </p:nvSpPr>
        <p:spPr/>
        <p:txBody>
          <a:bodyPr/>
          <a:lstStyle/>
          <a:p>
            <a:r>
              <a:rPr kumimoji="1" lang="ja-JP" altLang="en-US" dirty="0" smtClean="0"/>
              <a:t>実験</a:t>
            </a:r>
            <a:r>
              <a:rPr kumimoji="1" lang="en-US" altLang="ja-JP" dirty="0" smtClean="0"/>
              <a:t>2: </a:t>
            </a:r>
            <a:r>
              <a:rPr kumimoji="1" lang="ja-JP" altLang="en-US" dirty="0" smtClean="0"/>
              <a:t>問題変換法による違いの調査</a:t>
            </a:r>
            <a:endParaRPr kumimoji="1" lang="ja-JP" altLang="en-US" dirty="0"/>
          </a:p>
        </p:txBody>
      </p:sp>
      <p:sp>
        <p:nvSpPr>
          <p:cNvPr id="7" name="テキスト ボックス 6"/>
          <p:cNvSpPr txBox="1"/>
          <p:nvPr/>
        </p:nvSpPr>
        <p:spPr>
          <a:xfrm>
            <a:off x="6512262" y="757535"/>
            <a:ext cx="2648482" cy="400110"/>
          </a:xfrm>
          <a:prstGeom prst="rect">
            <a:avLst/>
          </a:prstGeom>
          <a:solidFill>
            <a:schemeClr val="bg1"/>
          </a:solidFill>
          <a:ln w="19050">
            <a:noFill/>
          </a:ln>
        </p:spPr>
        <p:txBody>
          <a:bodyPr wrap="none" rtlCol="0">
            <a:spAutoFit/>
          </a:bodyPr>
          <a:lstStyle/>
          <a:p>
            <a:r>
              <a:rPr lang="en-US" altLang="ja-JP" sz="2000" dirty="0" smtClean="0"/>
              <a:t>(B</a:t>
            </a:r>
            <a:r>
              <a:rPr kumimoji="1" lang="en-US" altLang="ja-JP" sz="2000" dirty="0" smtClean="0"/>
              <a:t>old: Best algorithm)</a:t>
            </a:r>
            <a:endParaRPr kumimoji="1" lang="ja-JP" altLang="en-US" sz="2000" dirty="0" smtClean="0"/>
          </a:p>
        </p:txBody>
      </p:sp>
      <p:pic>
        <p:nvPicPr>
          <p:cNvPr id="11" name="図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39515" y="5135624"/>
            <a:ext cx="5575885" cy="1495351"/>
          </a:xfrm>
          <a:prstGeom prst="rect">
            <a:avLst/>
          </a:prstGeom>
          <a:ln w="28575">
            <a:solidFill>
              <a:schemeClr val="tx1"/>
            </a:solidFill>
          </a:ln>
        </p:spPr>
      </p:pic>
      <p:sp>
        <p:nvSpPr>
          <p:cNvPr id="17" name="楕円 16"/>
          <p:cNvSpPr/>
          <p:nvPr/>
        </p:nvSpPr>
        <p:spPr>
          <a:xfrm>
            <a:off x="5394617" y="5692799"/>
            <a:ext cx="190500" cy="19050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9" name="直線コネクタ 18"/>
          <p:cNvCxnSpPr/>
          <p:nvPr/>
        </p:nvCxnSpPr>
        <p:spPr>
          <a:xfrm>
            <a:off x="5689600" y="5499100"/>
            <a:ext cx="0" cy="889000"/>
          </a:xfrm>
          <a:prstGeom prst="line">
            <a:avLst/>
          </a:prstGeom>
          <a:ln w="28575">
            <a:solidFill>
              <a:schemeClr val="accent3"/>
            </a:solidFill>
            <a:prstDash val="sysDash"/>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2986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Conclusion &amp; Future work</a:t>
            </a:r>
            <a:endParaRPr kumimoji="1" lang="ja-JP" altLang="en-US" dirty="0"/>
          </a:p>
        </p:txBody>
      </p:sp>
      <p:sp>
        <p:nvSpPr>
          <p:cNvPr id="3" name="コンテンツ プレースホルダー 2"/>
          <p:cNvSpPr>
            <a:spLocks noGrp="1"/>
          </p:cNvSpPr>
          <p:nvPr>
            <p:ph idx="1"/>
          </p:nvPr>
        </p:nvSpPr>
        <p:spPr/>
        <p:txBody>
          <a:bodyPr/>
          <a:lstStyle/>
          <a:p>
            <a:endParaRPr kumimoji="1" lang="en-US" altLang="ja-JP" sz="2400" dirty="0" smtClean="0"/>
          </a:p>
          <a:p>
            <a:pPr marL="342900" indent="-342900">
              <a:buFont typeface="Arial" panose="020B0604020202020204" pitchFamily="34" charset="0"/>
              <a:buChar char="•"/>
            </a:pPr>
            <a:r>
              <a:rPr lang="ja-JP" altLang="en-US" sz="2400" dirty="0" smtClean="0"/>
              <a:t>問題変換法を用いたファジィルールベース識別器のマルチ</a:t>
            </a:r>
            <a:r>
              <a:rPr lang="en-US" altLang="ja-JP" sz="2400" dirty="0" smtClean="0"/>
              <a:t/>
            </a:r>
            <a:br>
              <a:rPr lang="en-US" altLang="ja-JP" sz="2400" dirty="0" smtClean="0"/>
            </a:br>
            <a:r>
              <a:rPr lang="ja-JP" altLang="en-US" sz="2400" dirty="0" smtClean="0"/>
              <a:t>ラベル識別問題への応用を調査した．</a:t>
            </a:r>
            <a:endParaRPr lang="en-US" altLang="ja-JP" sz="2400" dirty="0" smtClean="0"/>
          </a:p>
          <a:p>
            <a:pPr marL="342900" indent="-342900">
              <a:buFont typeface="Arial" panose="020B0604020202020204" pitchFamily="34" charset="0"/>
              <a:buChar char="•"/>
            </a:pPr>
            <a:r>
              <a:rPr lang="ja-JP" altLang="en-US" sz="2400" dirty="0" smtClean="0"/>
              <a:t>ファジィルールベース識別器として</a:t>
            </a:r>
            <a:r>
              <a:rPr lang="en-US" altLang="ja-JP" sz="2400" dirty="0" smtClean="0"/>
              <a:t>FURIA</a:t>
            </a:r>
            <a:r>
              <a:rPr lang="ja-JP" altLang="en-US" sz="2400" dirty="0" smtClean="0"/>
              <a:t>に着目し，</a:t>
            </a:r>
            <a:r>
              <a:rPr lang="en-US" altLang="ja-JP" sz="2400" dirty="0" smtClean="0"/>
              <a:t>5</a:t>
            </a:r>
            <a:r>
              <a:rPr lang="ja-JP" altLang="en-US" sz="2400" dirty="0" err="1" smtClean="0"/>
              <a:t>つの</a:t>
            </a:r>
            <a:r>
              <a:rPr lang="ja-JP" altLang="en-US" sz="2400" dirty="0" smtClean="0"/>
              <a:t>評価尺度から他のルールベース識別器と比較して良い結果を示した．</a:t>
            </a:r>
            <a:endParaRPr lang="en-US" altLang="ja-JP" sz="2400" dirty="0" smtClean="0"/>
          </a:p>
          <a:p>
            <a:pPr marL="342900" indent="-342900">
              <a:buFont typeface="Arial" panose="020B0604020202020204" pitchFamily="34" charset="0"/>
              <a:buChar char="•"/>
            </a:pPr>
            <a:r>
              <a:rPr kumimoji="1" lang="en-US" altLang="ja-JP" sz="2400" dirty="0" smtClean="0"/>
              <a:t>6</a:t>
            </a:r>
            <a:r>
              <a:rPr kumimoji="1" lang="ja-JP" altLang="en-US" sz="2400" dirty="0" err="1" smtClean="0"/>
              <a:t>つの</a:t>
            </a:r>
            <a:r>
              <a:rPr kumimoji="1" lang="ja-JP" altLang="en-US" sz="2400" dirty="0" smtClean="0"/>
              <a:t>データセットでは，</a:t>
            </a:r>
            <a:r>
              <a:rPr kumimoji="1" lang="en-US" altLang="ja-JP" sz="2400" dirty="0" smtClean="0"/>
              <a:t>Binary Relevance</a:t>
            </a:r>
            <a:r>
              <a:rPr kumimoji="1" lang="ja-JP" altLang="en-US" sz="2400" dirty="0" smtClean="0"/>
              <a:t>と</a:t>
            </a:r>
            <a:r>
              <a:rPr kumimoji="1" lang="en-US" altLang="ja-JP" sz="2400" dirty="0" smtClean="0"/>
              <a:t>Classifier Chain</a:t>
            </a:r>
            <a:r>
              <a:rPr lang="ja-JP" altLang="en-US" sz="2400" dirty="0" smtClean="0"/>
              <a:t>が最適な問題変換法であった．</a:t>
            </a:r>
            <a:endParaRPr lang="en-US" altLang="ja-JP" sz="2400" dirty="0" smtClean="0"/>
          </a:p>
          <a:p>
            <a:endParaRPr kumimoji="1" lang="en-US" altLang="ja-JP" sz="1600" dirty="0" smtClean="0"/>
          </a:p>
          <a:p>
            <a:endParaRPr kumimoji="1" lang="en-US" altLang="ja-JP" sz="2400" dirty="0" smtClean="0"/>
          </a:p>
          <a:p>
            <a:pPr marL="342900" indent="-342900">
              <a:buFont typeface="Arial" panose="020B0604020202020204" pitchFamily="34" charset="0"/>
              <a:buChar char="•"/>
            </a:pPr>
            <a:r>
              <a:rPr lang="en-US" altLang="ja-JP" sz="2400" dirty="0" err="1" smtClean="0"/>
              <a:t>RAkEL</a:t>
            </a:r>
            <a:r>
              <a:rPr lang="ja-JP" altLang="en-US" sz="2400" dirty="0" smtClean="0"/>
              <a:t>や</a:t>
            </a:r>
            <a:r>
              <a:rPr lang="en-US" altLang="ja-JP" sz="2400" dirty="0" smtClean="0"/>
              <a:t>Classifier Trellis</a:t>
            </a:r>
            <a:r>
              <a:rPr lang="ja-JP" altLang="en-US" sz="2400" dirty="0" smtClean="0"/>
              <a:t>などの他の問題変換法の評価</a:t>
            </a:r>
            <a:endParaRPr lang="en-US" altLang="ja-JP" sz="2400" dirty="0" smtClean="0"/>
          </a:p>
          <a:p>
            <a:pPr marL="342900" indent="-342900">
              <a:buFont typeface="Arial" panose="020B0604020202020204" pitchFamily="34" charset="0"/>
              <a:buChar char="•"/>
            </a:pPr>
            <a:r>
              <a:rPr kumimoji="1" lang="ja-JP" altLang="en-US" sz="2400" dirty="0"/>
              <a:t>他</a:t>
            </a:r>
            <a:r>
              <a:rPr kumimoji="1" lang="ja-JP" altLang="en-US" sz="2400" dirty="0" smtClean="0"/>
              <a:t>のブラックボックスな識別器との比較</a:t>
            </a:r>
            <a:endParaRPr kumimoji="1" lang="en-US" altLang="ja-JP" sz="2400" dirty="0" smtClean="0"/>
          </a:p>
          <a:p>
            <a:pPr marL="342900" indent="-342900">
              <a:buFont typeface="Arial" panose="020B0604020202020204" pitchFamily="34" charset="0"/>
              <a:buChar char="•"/>
            </a:pPr>
            <a:r>
              <a:rPr lang="ja-JP" altLang="en-US" sz="2400" dirty="0" smtClean="0"/>
              <a:t>より多くのデータセットに対する調査</a:t>
            </a:r>
            <a:endParaRPr lang="en-US" altLang="ja-JP" sz="2400" dirty="0" smtClean="0"/>
          </a:p>
          <a:p>
            <a:pPr marL="342900" indent="-342900">
              <a:buFont typeface="Arial" panose="020B0604020202020204" pitchFamily="34" charset="0"/>
              <a:buChar char="•"/>
            </a:pPr>
            <a:r>
              <a:rPr kumimoji="1" lang="ja-JP" altLang="en-US" sz="2400" dirty="0" smtClean="0"/>
              <a:t>アルゴリズム適応法としての</a:t>
            </a:r>
            <a:r>
              <a:rPr kumimoji="1" lang="en-US" altLang="ja-JP" sz="2400" dirty="0" smtClean="0"/>
              <a:t>FURIA</a:t>
            </a:r>
            <a:r>
              <a:rPr kumimoji="1" lang="ja-JP" altLang="en-US" sz="2400" dirty="0" smtClean="0"/>
              <a:t>の拡張</a:t>
            </a:r>
            <a:endParaRPr kumimoji="1" lang="ja-JP" altLang="en-US" sz="2400" dirty="0"/>
          </a:p>
        </p:txBody>
      </p:sp>
      <p:sp>
        <p:nvSpPr>
          <p:cNvPr id="4" name="スライド番号プレースホルダー 3"/>
          <p:cNvSpPr>
            <a:spLocks noGrp="1"/>
          </p:cNvSpPr>
          <p:nvPr>
            <p:ph type="sldNum" sz="quarter" idx="12"/>
          </p:nvPr>
        </p:nvSpPr>
        <p:spPr/>
        <p:txBody>
          <a:bodyPr/>
          <a:lstStyle/>
          <a:p>
            <a:r>
              <a:rPr kumimoji="1" lang="en-US" altLang="ja-JP" dirty="0" smtClean="0"/>
              <a:t>21/21</a:t>
            </a:r>
            <a:endParaRPr kumimoji="1" lang="ja-JP" altLang="en-US" dirty="0"/>
          </a:p>
        </p:txBody>
      </p:sp>
      <p:sp>
        <p:nvSpPr>
          <p:cNvPr id="5" name="テキスト ボックス 4"/>
          <p:cNvSpPr txBox="1"/>
          <p:nvPr/>
        </p:nvSpPr>
        <p:spPr>
          <a:xfrm>
            <a:off x="228601" y="1371600"/>
            <a:ext cx="1710725" cy="461665"/>
          </a:xfrm>
          <a:prstGeom prst="rect">
            <a:avLst/>
          </a:prstGeom>
          <a:solidFill>
            <a:schemeClr val="bg1"/>
          </a:solidFill>
          <a:ln w="19050">
            <a:solidFill>
              <a:schemeClr val="tx1"/>
            </a:solidFill>
          </a:ln>
        </p:spPr>
        <p:txBody>
          <a:bodyPr wrap="none" rtlCol="0">
            <a:spAutoFit/>
          </a:bodyPr>
          <a:lstStyle/>
          <a:p>
            <a:pPr algn="ctr"/>
            <a:r>
              <a:rPr lang="en-US" altLang="ja-JP" sz="2400" dirty="0" smtClean="0"/>
              <a:t>Conclusion</a:t>
            </a:r>
            <a:endParaRPr lang="en-US" altLang="ja-JP" sz="2400" dirty="0"/>
          </a:p>
        </p:txBody>
      </p:sp>
      <p:sp>
        <p:nvSpPr>
          <p:cNvPr id="6" name="テキスト ボックス 5"/>
          <p:cNvSpPr txBox="1"/>
          <p:nvPr/>
        </p:nvSpPr>
        <p:spPr>
          <a:xfrm>
            <a:off x="228599" y="4531667"/>
            <a:ext cx="1871859" cy="461665"/>
          </a:xfrm>
          <a:prstGeom prst="rect">
            <a:avLst/>
          </a:prstGeom>
          <a:noFill/>
          <a:ln w="19050">
            <a:solidFill>
              <a:schemeClr val="tx1"/>
            </a:solidFill>
          </a:ln>
        </p:spPr>
        <p:txBody>
          <a:bodyPr wrap="none" rtlCol="0">
            <a:spAutoFit/>
          </a:bodyPr>
          <a:lstStyle/>
          <a:p>
            <a:pPr algn="ctr"/>
            <a:r>
              <a:rPr lang="en-US" altLang="ja-JP" sz="2400" dirty="0" smtClean="0"/>
              <a:t>Future Work</a:t>
            </a:r>
            <a:endParaRPr lang="en-US" altLang="ja-JP" sz="2400" dirty="0"/>
          </a:p>
        </p:txBody>
      </p:sp>
    </p:spTree>
    <p:extLst>
      <p:ext uri="{BB962C8B-B14F-4D97-AF65-F5344CB8AC3E}">
        <p14:creationId xmlns:p14="http://schemas.microsoft.com/office/powerpoint/2010/main" val="22741123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6122186"/>
      </p:ext>
    </p:extLst>
  </p:cSld>
  <p:clrMapOvr>
    <a:masterClrMapping/>
  </p:clrMapOvr>
</p:sld>
</file>

<file path=ppt/theme/theme1.xml><?xml version="1.0" encoding="utf-8"?>
<a:theme xmlns:a="http://schemas.openxmlformats.org/drawingml/2006/main" name="8g">
  <a:themeElements>
    <a:clrScheme name="8G">
      <a:dk1>
        <a:srgbClr val="000000"/>
      </a:dk1>
      <a:lt1>
        <a:srgbClr val="FFFFFF"/>
      </a:lt1>
      <a:dk2>
        <a:srgbClr val="000000"/>
      </a:dk2>
      <a:lt2>
        <a:srgbClr val="808080"/>
      </a:lt2>
      <a:accent1>
        <a:srgbClr val="FF1D38"/>
      </a:accent1>
      <a:accent2>
        <a:srgbClr val="333399"/>
      </a:accent2>
      <a:accent3>
        <a:srgbClr val="34ADFD"/>
      </a:accent3>
      <a:accent4>
        <a:srgbClr val="FFFF00"/>
      </a:accent4>
      <a:accent5>
        <a:srgbClr val="00B050"/>
      </a:accent5>
      <a:accent6>
        <a:srgbClr val="F93DD5"/>
      </a:accent6>
      <a:hlink>
        <a:srgbClr val="009999"/>
      </a:hlink>
      <a:folHlink>
        <a:srgbClr val="99CC00"/>
      </a:folHlink>
    </a:clrScheme>
    <a:fontScheme name="ユーザー定義 4">
      <a:majorFont>
        <a:latin typeface="Arial"/>
        <a:ea typeface="ＭＳ Ｐゴシック"/>
        <a:cs typeface=""/>
      </a:majorFont>
      <a:minorFont>
        <a:latin typeface="Arial"/>
        <a:ea typeface="ＭＳ P 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tx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ctr">
          <a:defRPr kumimoji="1" sz="2800" dirty="0" smtClean="0"/>
        </a:defPPr>
      </a:lstStyle>
    </a:txDef>
  </a:objectDefaults>
  <a:extraClrSchemeLst>
    <a:extraClrScheme>
      <a:clrScheme name="標準デザイン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標準デザイン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標準デザイン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標準デザイン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標準デザイン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標準デザイン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標準デザイン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標準デザイン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8g" id="{46DF5A43-2816-4A0C-8C8F-B7A00603F42F}" vid="{24AC82D7-19A5-45B4-9417-B59F2B9C65A3}"/>
    </a:ext>
  </a:extLst>
</a:theme>
</file>

<file path=docProps/app.xml><?xml version="1.0" encoding="utf-8"?>
<Properties xmlns="http://schemas.openxmlformats.org/officeDocument/2006/extended-properties" xmlns:vt="http://schemas.openxmlformats.org/officeDocument/2006/docPropsVTypes">
  <Template>8g</Template>
  <TotalTime>3627</TotalTime>
  <Words>1144</Words>
  <Application>Microsoft Office PowerPoint</Application>
  <PresentationFormat>画面に合わせる (4:3)</PresentationFormat>
  <Paragraphs>297</Paragraphs>
  <Slides>23</Slides>
  <Notes>0</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23</vt:i4>
      </vt:variant>
    </vt:vector>
  </HeadingPairs>
  <TitlesOfParts>
    <vt:vector size="31" baseType="lpstr">
      <vt:lpstr>ＭＳ P ゴシック</vt:lpstr>
      <vt:lpstr>ＭＳ Ｐゴシック</vt:lpstr>
      <vt:lpstr>Arial</vt:lpstr>
      <vt:lpstr>Cambria Math</vt:lpstr>
      <vt:lpstr>Symbol</vt:lpstr>
      <vt:lpstr>Tahoma</vt:lpstr>
      <vt:lpstr>Times New Roman</vt:lpstr>
      <vt:lpstr>8g</vt:lpstr>
      <vt:lpstr>PowerPoint プレゼンテーション</vt:lpstr>
      <vt:lpstr>Introduction</vt:lpstr>
      <vt:lpstr>Introduction</vt:lpstr>
      <vt:lpstr>Introduction</vt:lpstr>
      <vt:lpstr>Introduction</vt:lpstr>
      <vt:lpstr>マルチラベル識別問題</vt:lpstr>
      <vt:lpstr>マルチラベル識別問題</vt:lpstr>
      <vt:lpstr>マルチラベル識別問題</vt:lpstr>
      <vt:lpstr>マルチラベル識別問題</vt:lpstr>
      <vt:lpstr>マルチラベル識別問題</vt:lpstr>
      <vt:lpstr>Experiments Evaluation</vt:lpstr>
      <vt:lpstr>Experiments Evaluation</vt:lpstr>
      <vt:lpstr>PowerPoint プレゼンテーション</vt:lpstr>
      <vt:lpstr>PowerPoint プレゼンテーション</vt:lpstr>
      <vt:lpstr>数値実験</vt:lpstr>
      <vt:lpstr>数値実験</vt:lpstr>
      <vt:lpstr>数値実験</vt:lpstr>
      <vt:lpstr>数値実験</vt:lpstr>
      <vt:lpstr>数値実験</vt:lpstr>
      <vt:lpstr>数値実験</vt:lpstr>
      <vt:lpstr>数値実験</vt:lpstr>
      <vt:lpstr>Conclusion &amp; Future work</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Omozaki Yuichi</dc:creator>
  <cp:lastModifiedBy>Omozaki Yuichi</cp:lastModifiedBy>
  <cp:revision>144</cp:revision>
  <dcterms:created xsi:type="dcterms:W3CDTF">2019-10-02T14:43:50Z</dcterms:created>
  <dcterms:modified xsi:type="dcterms:W3CDTF">2019-11-04T02:43:15Z</dcterms:modified>
</cp:coreProperties>
</file>