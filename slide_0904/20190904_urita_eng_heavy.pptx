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sldIdLst>
    <p:sldId id="264" r:id="rId2"/>
    <p:sldId id="265" r:id="rId3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28600" y="1365254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68795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78798" y="191542"/>
            <a:ext cx="34913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3800" dirty="0"/>
              <a:t>Gradient-based One-Side Sampling</a:t>
            </a:r>
            <a:endParaRPr kumimoji="1" lang="ja-JP" altLang="en-US" sz="380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弱識別</a:t>
            </a:r>
            <a:r>
              <a:rPr lang="ja-JP" altLang="en-US" dirty="0"/>
              <a:t>器</a:t>
            </a:r>
            <a:r>
              <a:rPr lang="ja-JP" altLang="en-US" dirty="0" smtClean="0"/>
              <a:t>を追加する際，勾配が大きいデータに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対して適応することが重要である．</a:t>
            </a:r>
            <a:endParaRPr lang="en-US" altLang="ja-JP" dirty="0" smtClean="0"/>
          </a:p>
          <a:p>
            <a:r>
              <a:rPr kumimoji="1" lang="ja-JP" altLang="en-US" dirty="0" smtClean="0"/>
              <a:t>勾配の上位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kumimoji="1" lang="en-US" altLang="ja-JP" dirty="0" smtClean="0">
                <a:cs typeface="Times New Roman" panose="02020603050405020304" pitchFamily="18" charset="0"/>
              </a:rPr>
              <a:t>×100</a:t>
            </a:r>
            <a:r>
              <a:rPr kumimoji="1" lang="en-US" altLang="ja-JP" dirty="0" smtClean="0"/>
              <a:t>%</a:t>
            </a:r>
            <a:r>
              <a:rPr kumimoji="1" lang="ja-JP" altLang="en-US" dirty="0" smtClean="0"/>
              <a:t>のデータはすべて使用し，残りのデータ</a:t>
            </a:r>
            <a:r>
              <a:rPr lang="ja-JP" altLang="en-US" dirty="0" smtClean="0"/>
              <a:t>は，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kumimoji="1" lang="en-US" altLang="ja-JP" dirty="0" smtClean="0">
                <a:cs typeface="Times New Roman" panose="02020603050405020304" pitchFamily="18" charset="0"/>
              </a:rPr>
              <a:t>×100</a:t>
            </a:r>
            <a:r>
              <a:rPr kumimoji="1" lang="en-US" altLang="ja-JP" dirty="0" smtClean="0"/>
              <a:t>%</a:t>
            </a:r>
            <a:r>
              <a:rPr kumimoji="1" lang="ja-JP" altLang="en-US" dirty="0" smtClean="0"/>
              <a:t>をランダムサンプリングする．</a:t>
            </a:r>
            <a:endParaRPr kumimoji="1" lang="en-US" altLang="ja-JP" dirty="0" smtClean="0"/>
          </a:p>
          <a:p>
            <a:endParaRPr kumimoji="1" lang="ja-JP" altLang="en-US" sz="2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35747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3800" dirty="0"/>
              <a:t>Gradient-based One-Side Sampling</a:t>
            </a:r>
            <a:endParaRPr kumimoji="1" lang="ja-JP" altLang="en-US" sz="3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近似情報ゲイン</a:t>
                </a:r>
                <a:r>
                  <a:rPr lang="en-US" altLang="ja-JP" dirty="0" smtClean="0"/>
                  <a:t>(</a:t>
                </a:r>
                <a:r>
                  <a:rPr lang="ja-JP" altLang="en-US" dirty="0" smtClean="0"/>
                  <a:t>分散ゲイン</a:t>
                </a:r>
                <a:r>
                  <a:rPr lang="en-US" altLang="ja-JP" dirty="0" smtClean="0"/>
                  <a:t>)</a:t>
                </a:r>
                <a:r>
                  <a:rPr lang="ja-JP" altLang="en-US" dirty="0" smtClean="0"/>
                  <a:t>を以下のように定義</a:t>
                </a:r>
                <a:endParaRPr lang="en-US" altLang="ja-JP" dirty="0" smtClean="0"/>
              </a:p>
              <a:p>
                <a:endParaRPr lang="en-US" altLang="ja-JP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V</m:t>
                          </m:r>
                        </m:e>
                      </m:acc>
                      <m:r>
                        <m:rPr>
                          <m:nor/>
                        </m:rPr>
                        <a:rPr kumimoji="1" lang="en-US" altLang="ja-JP" sz="2800" b="0" i="1" baseline="-25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j</m:t>
                      </m:r>
                      <m:d>
                        <m:dPr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d</m:t>
                          </m:r>
                        </m:e>
                      </m:d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ja-JP" sz="2800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f>
                        <m:fPr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kumimoji="1" lang="en-US" altLang="ja-JP" sz="2800" b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</m:t>
                          </m:r>
                        </m:den>
                      </m:f>
                      <m:d>
                        <m:dPr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altLang="ja-JP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altLang="ja-JP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>
                                          <a:latin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x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 baseline="-25000">
                                          <a:latin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∈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A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 baseline="-2500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l</m:t>
                                      </m:r>
                                    </m:sub>
                                    <m:sup/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g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 baseline="-2500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b="0" i="1" smtClean="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 +</m:t>
                                      </m:r>
                                      <m:f>
                                        <m:fPr>
                                          <m:ctrlPr>
                                            <a:rPr lang="en-US" altLang="ja-JP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a</m:t>
                                          </m:r>
                                        </m:num>
                                        <m:den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b</m:t>
                                          </m:r>
                                        </m:den>
                                      </m:f>
                                      <m:nary>
                                        <m:naryPr>
                                          <m:chr m:val="∑"/>
                                          <m:supHide m:val="on"/>
                                          <m:ctrlPr>
                                            <a:rPr lang="en-US" altLang="ja-JP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x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∈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B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l</m:t>
                                          </m:r>
                                        </m:sub>
                                        <m:sup/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g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</m:e>
                                      </m:nary>
                                    </m:e>
                                  </m:nary>
                                  <m:r>
                                    <m:rPr>
                                      <m:nor/>
                                    </m:rPr>
                                    <a:rPr lang="en-US" altLang="ja-JP" sz="28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en-US" altLang="ja-JP" sz="2800" baseline="3000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ja-JP" sz="2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nor/>
                                    </m:rPr>
                                    <a:rPr lang="en-US" altLang="ja-JP" sz="28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altLang="ja-JP" sz="2800" b="0" i="1" smtClean="0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nor/>
                                    </m:rPr>
                                    <a:rPr lang="en-US" altLang="ja-JP" sz="2800" b="0" i="1" smtClean="0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nor/>
                                </m:rPr>
                                <a:rPr lang="en-US" altLang="ja-JP" sz="2800" b="0" smtClean="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1" smtClean="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d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smtClean="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altLang="ja-JP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           </m:t>
                      </m:r>
                      <m:r>
                        <m:rPr>
                          <m:nor/>
                        </m:rPr>
                        <a:rPr lang="en-US" altLang="ja-JP" sz="2800" b="0" i="0" smtClean="0">
                          <a:latin typeface="Times New Roman" panose="020206030504050203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ja-JP" sz="28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ja-JP" sz="2800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</m:t>
                          </m:r>
                        </m:den>
                      </m:f>
                      <m:d>
                        <m:d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altLang="ja-JP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altLang="ja-JP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>
                                          <a:latin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x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 baseline="-25000">
                                          <a:latin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∈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A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 baseline="-2500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r</m:t>
                                      </m:r>
                                    </m:sub>
                                    <m:sup/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g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i="1" baseline="-2500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800" b="0" i="1" smtClean="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 +</m:t>
                                      </m:r>
                                      <m:f>
                                        <m:fPr>
                                          <m:ctrlPr>
                                            <a:rPr lang="en-US" altLang="ja-JP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a</m:t>
                                          </m:r>
                                        </m:num>
                                        <m:den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b</m:t>
                                          </m:r>
                                        </m:den>
                                      </m:f>
                                      <m:nary>
                                        <m:naryPr>
                                          <m:chr m:val="∑"/>
                                          <m:supHide m:val="on"/>
                                          <m:ctrlPr>
                                            <a:rPr lang="en-US" altLang="ja-JP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x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∈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B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r</m:t>
                                          </m:r>
                                        </m:sub>
                                        <m:sup/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g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8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</m:e>
                                      </m:nary>
                                    </m:e>
                                  </m:nary>
                                  <m:r>
                                    <m:rPr>
                                      <m:nor/>
                                    </m:rPr>
                                    <a:rPr lang="en-US" altLang="ja-JP" sz="28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en-US" altLang="ja-JP" sz="2800" baseline="3000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ja-JP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nor/>
                                    </m:rPr>
                                    <a:rPr lang="en-US" altLang="ja-JP" sz="28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altLang="ja-JP" sz="28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nor/>
                                    </m:rPr>
                                    <a:rPr lang="en-US" altLang="ja-JP" sz="28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nor/>
                                </m:rPr>
                                <a:rPr lang="en-US" altLang="ja-JP" sz="280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d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kumimoji="1"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  <p:grpSp>
        <p:nvGrpSpPr>
          <p:cNvPr id="14" name="グループ化 13"/>
          <p:cNvGrpSpPr/>
          <p:nvPr/>
        </p:nvGrpSpPr>
        <p:grpSpPr>
          <a:xfrm>
            <a:off x="7006885" y="3020851"/>
            <a:ext cx="1743808" cy="523220"/>
            <a:chOff x="6781800" y="3020851"/>
            <a:chExt cx="1743808" cy="523220"/>
          </a:xfrm>
        </p:grpSpPr>
        <p:sp>
          <p:nvSpPr>
            <p:cNvPr id="10" name="右矢印 9"/>
            <p:cNvSpPr/>
            <p:nvPr/>
          </p:nvSpPr>
          <p:spPr>
            <a:xfrm rot="10800000">
              <a:off x="6781800" y="3094892"/>
              <a:ext cx="590843" cy="375138"/>
            </a:xfrm>
            <a:prstGeom prst="rightArrow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/>
            <p:cNvSpPr txBox="1"/>
            <p:nvPr/>
          </p:nvSpPr>
          <p:spPr>
            <a:xfrm>
              <a:off x="7171592" y="3020851"/>
              <a:ext cx="13540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左側</a:t>
              </a:r>
              <a:endParaRPr kumimoji="1" lang="ja-JP" altLang="en-US" sz="2800" dirty="0" smtClean="0"/>
            </a:p>
          </p:txBody>
        </p:sp>
      </p:grpSp>
      <p:grpSp>
        <p:nvGrpSpPr>
          <p:cNvPr id="15" name="グループ化 14"/>
          <p:cNvGrpSpPr/>
          <p:nvPr/>
        </p:nvGrpSpPr>
        <p:grpSpPr>
          <a:xfrm>
            <a:off x="7006885" y="4374867"/>
            <a:ext cx="1743808" cy="523220"/>
            <a:chOff x="6781800" y="4374867"/>
            <a:chExt cx="1743808" cy="523220"/>
          </a:xfrm>
        </p:grpSpPr>
        <p:sp>
          <p:nvSpPr>
            <p:cNvPr id="11" name="右矢印 10"/>
            <p:cNvSpPr/>
            <p:nvPr/>
          </p:nvSpPr>
          <p:spPr>
            <a:xfrm rot="10800000">
              <a:off x="6781800" y="4448908"/>
              <a:ext cx="590843" cy="375138"/>
            </a:xfrm>
            <a:prstGeom prst="rightArrow">
              <a:avLst/>
            </a:prstGeom>
            <a:solidFill>
              <a:schemeClr val="accent2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/>
            <p:cNvSpPr txBox="1"/>
            <p:nvPr/>
          </p:nvSpPr>
          <p:spPr>
            <a:xfrm>
              <a:off x="7171592" y="4374867"/>
              <a:ext cx="13540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/>
                <a:t>右</a:t>
              </a:r>
              <a:r>
                <a:rPr lang="ja-JP" altLang="en-US" sz="2800" dirty="0" smtClean="0"/>
                <a:t>側</a:t>
              </a:r>
              <a:endParaRPr kumimoji="1" lang="ja-JP" altLang="en-US" sz="2800" dirty="0" smtClean="0"/>
            </a:p>
          </p:txBody>
        </p:sp>
      </p:grpSp>
      <p:sp>
        <p:nvSpPr>
          <p:cNvPr id="16" name="正方形/長方形 15"/>
          <p:cNvSpPr/>
          <p:nvPr/>
        </p:nvSpPr>
        <p:spPr>
          <a:xfrm>
            <a:off x="2166718" y="2504050"/>
            <a:ext cx="1462747" cy="72214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/>
          <p:cNvSpPr/>
          <p:nvPr/>
        </p:nvSpPr>
        <p:spPr>
          <a:xfrm>
            <a:off x="4646003" y="2504050"/>
            <a:ext cx="1462747" cy="72214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/>
          <p:cNvSpPr/>
          <p:nvPr/>
        </p:nvSpPr>
        <p:spPr>
          <a:xfrm>
            <a:off x="4646002" y="3912482"/>
            <a:ext cx="1483336" cy="72214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/>
          <p:cNvSpPr/>
          <p:nvPr/>
        </p:nvSpPr>
        <p:spPr>
          <a:xfrm>
            <a:off x="3968847" y="2504050"/>
            <a:ext cx="649020" cy="72214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/>
          <p:cNvSpPr/>
          <p:nvPr/>
        </p:nvSpPr>
        <p:spPr>
          <a:xfrm>
            <a:off x="3968846" y="3912482"/>
            <a:ext cx="649020" cy="72214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>
            <a:off x="2145506" y="3912482"/>
            <a:ext cx="1483959" cy="72214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215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6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4" grpId="0" animBg="1"/>
      <p:bldP spid="25" grpId="0" animBg="1"/>
      <p:bldP spid="25" grpId="1" animBg="1"/>
    </p:bld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240EDE69-6004-490A-8851-241177012245}" vid="{3655978B-9A6C-48D2-A3CA-A8F52A96FD4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180</TotalTime>
  <Words>35</Words>
  <Application>Microsoft Office PowerPoint</Application>
  <PresentationFormat>画面に合わせる (4:3)</PresentationFormat>
  <Paragraphs>11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ＭＳ P ゴシック</vt:lpstr>
      <vt:lpstr>ＭＳ Ｐゴシック</vt:lpstr>
      <vt:lpstr>Arial</vt:lpstr>
      <vt:lpstr>Cambria Math</vt:lpstr>
      <vt:lpstr>Times New Roman</vt:lpstr>
      <vt:lpstr>Theme_Lab</vt:lpstr>
      <vt:lpstr>Gradient-based One-Side Sampling</vt:lpstr>
      <vt:lpstr>Gradient-based One-Side Sampling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瓜田 俊貴</cp:lastModifiedBy>
  <cp:revision>21</cp:revision>
  <dcterms:created xsi:type="dcterms:W3CDTF">2019-09-02T15:16:24Z</dcterms:created>
  <dcterms:modified xsi:type="dcterms:W3CDTF">2019-09-03T08:38:52Z</dcterms:modified>
</cp:coreProperties>
</file>