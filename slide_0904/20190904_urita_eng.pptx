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sldIdLst>
    <p:sldId id="258" r:id="rId2"/>
    <p:sldId id="259" r:id="rId3"/>
    <p:sldId id="265" r:id="rId4"/>
    <p:sldId id="261" r:id="rId5"/>
    <p:sldId id="263" r:id="rId6"/>
    <p:sldId id="262" r:id="rId7"/>
    <p:sldId id="264" r:id="rId8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1176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228600" y="1365254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68795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  <p:sp>
        <p:nvSpPr>
          <p:cNvPr id="9" name="テキスト ボックス 8"/>
          <p:cNvSpPr txBox="1"/>
          <p:nvPr userDrawn="1"/>
        </p:nvSpPr>
        <p:spPr>
          <a:xfrm>
            <a:off x="78798" y="191542"/>
            <a:ext cx="34913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  <a:endParaRPr kumimoji="1" lang="ja-JP" altLang="en-US" sz="44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/>
              <a:t>LightGBM</a:t>
            </a:r>
            <a:r>
              <a:rPr lang="en-US" altLang="ja-JP" dirty="0"/>
              <a:t>: A Highly Efficient Gradient </a:t>
            </a:r>
            <a:r>
              <a:rPr lang="en-US" altLang="ja-JP" dirty="0" smtClean="0"/>
              <a:t>Boosting</a:t>
            </a:r>
            <a:r>
              <a:rPr lang="ja-JP" altLang="en-US" dirty="0" smtClean="0"/>
              <a:t>　</a:t>
            </a:r>
            <a:r>
              <a:rPr lang="en-US" altLang="ja-JP" dirty="0" smtClean="0"/>
              <a:t>Decision </a:t>
            </a:r>
            <a:r>
              <a:rPr lang="en-US" altLang="ja-JP" dirty="0"/>
              <a:t>Tree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ja-JP" dirty="0" err="1" smtClean="0"/>
              <a:t>Guolin</a:t>
            </a:r>
            <a:r>
              <a:rPr lang="en-US" altLang="ja-JP" dirty="0"/>
              <a:t> </a:t>
            </a:r>
            <a:r>
              <a:rPr lang="en-US" altLang="ja-JP" dirty="0" err="1" smtClean="0"/>
              <a:t>Ke</a:t>
            </a:r>
            <a:r>
              <a:rPr lang="en-US" altLang="ja-JP" dirty="0" smtClean="0"/>
              <a:t>, Qi </a:t>
            </a:r>
            <a:r>
              <a:rPr lang="en-US" altLang="ja-JP" dirty="0" err="1" smtClean="0"/>
              <a:t>Meng</a:t>
            </a:r>
            <a:r>
              <a:rPr lang="en-US" altLang="ja-JP" dirty="0" smtClean="0"/>
              <a:t>, </a:t>
            </a:r>
            <a:r>
              <a:rPr lang="en-US" altLang="ja-JP" dirty="0"/>
              <a:t>Thomas </a:t>
            </a:r>
            <a:r>
              <a:rPr lang="en-US" altLang="ja-JP" dirty="0" smtClean="0"/>
              <a:t>Finley, </a:t>
            </a:r>
            <a:r>
              <a:rPr lang="en-US" altLang="ja-JP" dirty="0" err="1" smtClean="0"/>
              <a:t>Taifeng</a:t>
            </a:r>
            <a:r>
              <a:rPr lang="ja-JP" altLang="en-US" dirty="0"/>
              <a:t> </a:t>
            </a:r>
            <a:r>
              <a:rPr lang="en-US" altLang="ja-JP" dirty="0" smtClean="0"/>
              <a:t>Wang, Wei Chen, </a:t>
            </a:r>
            <a:r>
              <a:rPr lang="en-US" altLang="ja-JP" dirty="0" err="1"/>
              <a:t>Weidong</a:t>
            </a:r>
            <a:r>
              <a:rPr lang="en-US" altLang="ja-JP" dirty="0"/>
              <a:t> </a:t>
            </a:r>
            <a:r>
              <a:rPr lang="en-US" altLang="ja-JP" dirty="0" smtClean="0"/>
              <a:t>Ma, </a:t>
            </a:r>
            <a:r>
              <a:rPr lang="en-US" altLang="ja-JP" dirty="0" err="1"/>
              <a:t>Qiwei</a:t>
            </a:r>
            <a:r>
              <a:rPr lang="en-US" altLang="ja-JP" dirty="0"/>
              <a:t> </a:t>
            </a:r>
            <a:r>
              <a:rPr lang="en-US" altLang="ja-JP" dirty="0" smtClean="0"/>
              <a:t>Ye, </a:t>
            </a:r>
            <a:r>
              <a:rPr lang="en-US" altLang="ja-JP" dirty="0"/>
              <a:t>Tie-Yan </a:t>
            </a:r>
            <a:r>
              <a:rPr lang="en-US" altLang="ja-JP" dirty="0" smtClean="0"/>
              <a:t>Liu</a:t>
            </a:r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altLang="ja-JP" dirty="0"/>
              <a:t>Advances in Neural Information </a:t>
            </a:r>
            <a:r>
              <a:rPr lang="en-US" altLang="ja-JP" dirty="0" smtClean="0"/>
              <a:t>Processing Systems</a:t>
            </a:r>
            <a:r>
              <a:rPr lang="en-US" altLang="ja-JP" dirty="0"/>
              <a:t>, </a:t>
            </a:r>
            <a:r>
              <a:rPr lang="en-US" altLang="ja-JP" dirty="0" smtClean="0"/>
              <a:t>pp. 3149–3157, </a:t>
            </a:r>
            <a:r>
              <a:rPr lang="en-US" altLang="ja-JP" dirty="0"/>
              <a:t>2017.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10171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概要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sz="2800" dirty="0" err="1" smtClean="0"/>
              <a:t>XGBoost</a:t>
            </a:r>
            <a:r>
              <a:rPr lang="ja-JP" altLang="en-US" sz="2800" dirty="0" smtClean="0"/>
              <a:t>や</a:t>
            </a:r>
            <a:r>
              <a:rPr lang="en-US" altLang="ja-JP" sz="2800" dirty="0" err="1" smtClean="0"/>
              <a:t>pGBRT</a:t>
            </a:r>
            <a:r>
              <a:rPr lang="ja-JP" altLang="en-US" sz="2800" dirty="0" smtClean="0"/>
              <a:t>などの勾配ブースティング決定木</a:t>
            </a:r>
            <a:r>
              <a:rPr lang="en-US" altLang="ja-JP" sz="2800" dirty="0" smtClean="0"/>
              <a:t>(GBDT)</a:t>
            </a:r>
            <a:r>
              <a:rPr lang="ja-JP" altLang="en-US" sz="2800" dirty="0" smtClean="0"/>
              <a:t>は，機械学習分野において優れた性能を</a:t>
            </a:r>
            <a:r>
              <a:rPr lang="en-US" altLang="ja-JP" sz="2800" dirty="0" smtClean="0"/>
              <a:t/>
            </a:r>
            <a:br>
              <a:rPr lang="en-US" altLang="ja-JP" sz="2800" dirty="0" smtClean="0"/>
            </a:br>
            <a:r>
              <a:rPr lang="ja-JP" altLang="en-US" sz="2800" dirty="0" smtClean="0"/>
              <a:t>発揮している．</a:t>
            </a:r>
            <a:endParaRPr lang="en-US" altLang="ja-JP" sz="2800" dirty="0" smtClean="0"/>
          </a:p>
          <a:p>
            <a:r>
              <a:rPr kumimoji="1" lang="ja-JP" altLang="en-US" sz="2800" dirty="0" smtClean="0"/>
              <a:t>しかし，多次元データ・ビッグデータに適用する場合，</a:t>
            </a:r>
            <a:r>
              <a:rPr kumimoji="1" lang="en-US" altLang="ja-JP" sz="2800" dirty="0" smtClean="0"/>
              <a:t/>
            </a:r>
            <a:br>
              <a:rPr kumimoji="1" lang="en-US" altLang="ja-JP" sz="2800" dirty="0" smtClean="0"/>
            </a:br>
            <a:r>
              <a:rPr kumimoji="1" lang="ja-JP" altLang="en-US" sz="2800" dirty="0" smtClean="0"/>
              <a:t>計算コストが非常に大きくなる．</a:t>
            </a:r>
            <a:endParaRPr lang="en-US" altLang="ja-JP" sz="2800" dirty="0" smtClean="0"/>
          </a:p>
          <a:p>
            <a:r>
              <a:rPr lang="en-US" altLang="ja-JP" sz="2800" dirty="0" smtClean="0"/>
              <a:t/>
            </a:r>
            <a:br>
              <a:rPr lang="en-US" altLang="ja-JP" sz="2800" dirty="0" smtClean="0"/>
            </a:br>
            <a:endParaRPr lang="en-US" altLang="ja-JP" sz="2800" dirty="0" smtClean="0"/>
          </a:p>
          <a:p>
            <a:r>
              <a:rPr kumimoji="1" lang="ja-JP" altLang="en-US" sz="2800" dirty="0" smtClean="0"/>
              <a:t>決定木の学習の際の適切な</a:t>
            </a:r>
            <a:r>
              <a:rPr kumimoji="1" lang="ja-JP" altLang="en-US" sz="2800" dirty="0" smtClean="0">
                <a:solidFill>
                  <a:schemeClr val="accent1"/>
                </a:solidFill>
              </a:rPr>
              <a:t>サンプリング手法</a:t>
            </a:r>
            <a:r>
              <a:rPr lang="en-US" altLang="ja-JP" sz="2800" dirty="0" smtClean="0"/>
              <a:t>Gradient-based </a:t>
            </a:r>
            <a:r>
              <a:rPr lang="en-US" altLang="ja-JP" sz="2800" dirty="0"/>
              <a:t>One-Side </a:t>
            </a:r>
            <a:r>
              <a:rPr lang="en-US" altLang="ja-JP" sz="2800" dirty="0" smtClean="0"/>
              <a:t>Sampling (GOSS)</a:t>
            </a:r>
            <a:r>
              <a:rPr lang="ja-JP" altLang="en-US" sz="2800" dirty="0" err="1" smtClean="0"/>
              <a:t>，</a:t>
            </a:r>
            <a:r>
              <a:rPr kumimoji="1" lang="ja-JP" altLang="en-US" sz="2800" dirty="0" smtClean="0">
                <a:solidFill>
                  <a:schemeClr val="accent1"/>
                </a:solidFill>
              </a:rPr>
              <a:t>スパースな</a:t>
            </a:r>
            <a:r>
              <a:rPr kumimoji="1" lang="en-US" altLang="ja-JP" sz="2800" dirty="0" smtClean="0">
                <a:solidFill>
                  <a:schemeClr val="accent1"/>
                </a:solidFill>
              </a:rPr>
              <a:t/>
            </a:r>
            <a:br>
              <a:rPr kumimoji="1" lang="en-US" altLang="ja-JP" sz="2800" dirty="0" smtClean="0">
                <a:solidFill>
                  <a:schemeClr val="accent1"/>
                </a:solidFill>
              </a:rPr>
            </a:br>
            <a:r>
              <a:rPr kumimoji="1" lang="ja-JP" altLang="en-US" sz="2800" dirty="0" smtClean="0">
                <a:solidFill>
                  <a:schemeClr val="accent1"/>
                </a:solidFill>
              </a:rPr>
              <a:t>データを</a:t>
            </a:r>
            <a:r>
              <a:rPr lang="ja-JP" altLang="en-US" sz="2800" dirty="0" smtClean="0">
                <a:solidFill>
                  <a:schemeClr val="accent1"/>
                </a:solidFill>
              </a:rPr>
              <a:t>まとめて</a:t>
            </a:r>
            <a:r>
              <a:rPr kumimoji="1" lang="ja-JP" altLang="en-US" sz="2800" dirty="0" smtClean="0">
                <a:solidFill>
                  <a:schemeClr val="accent1"/>
                </a:solidFill>
              </a:rPr>
              <a:t>扱う </a:t>
            </a:r>
            <a:r>
              <a:rPr lang="en-US" altLang="ja-JP" sz="2800" dirty="0" smtClean="0"/>
              <a:t>Exclusive </a:t>
            </a:r>
            <a:r>
              <a:rPr lang="en-US" altLang="ja-JP" sz="2800" dirty="0"/>
              <a:t>Feature </a:t>
            </a:r>
            <a:r>
              <a:rPr lang="en-US" altLang="ja-JP" sz="2800" dirty="0" smtClean="0"/>
              <a:t>Bundling (EFB) </a:t>
            </a:r>
            <a:r>
              <a:rPr lang="ja-JP" altLang="en-US" sz="2800" dirty="0" smtClean="0"/>
              <a:t>を</a:t>
            </a:r>
            <a:r>
              <a:rPr lang="en-US" altLang="ja-JP" sz="2800" dirty="0" smtClean="0"/>
              <a:t>GBDT</a:t>
            </a:r>
            <a:r>
              <a:rPr lang="ja-JP" altLang="en-US" sz="2800" dirty="0" smtClean="0"/>
              <a:t>に適用した</a:t>
            </a:r>
            <a:r>
              <a:rPr lang="en-US" altLang="ja-JP" sz="2800" dirty="0" err="1" smtClean="0"/>
              <a:t>LightGBM</a:t>
            </a:r>
            <a:r>
              <a:rPr lang="ja-JP" altLang="en-US" sz="2800" dirty="0" smtClean="0"/>
              <a:t>を提案する．</a:t>
            </a:r>
            <a:endParaRPr kumimoji="1" lang="en-US" altLang="ja-JP" sz="2800" dirty="0" smtClean="0"/>
          </a:p>
          <a:p>
            <a:endParaRPr kumimoji="1" lang="ja-JP" altLang="en-US" dirty="0"/>
          </a:p>
        </p:txBody>
      </p:sp>
      <p:sp>
        <p:nvSpPr>
          <p:cNvPr id="7" name="下矢印 6"/>
          <p:cNvSpPr/>
          <p:nvPr/>
        </p:nvSpPr>
        <p:spPr>
          <a:xfrm>
            <a:off x="4272475" y="3853288"/>
            <a:ext cx="675250" cy="629812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6369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決定木の計算コスト</a:t>
            </a:r>
            <a:endParaRPr kumimoji="1"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 smtClean="0"/>
                  <a:t>決定木の分岐は，すべての分岐候補について</a:t>
                </a:r>
                <a:r>
                  <a:rPr kumimoji="1" lang="en-US" altLang="ja-JP" dirty="0" smtClean="0"/>
                  <a:t/>
                </a:r>
                <a:br>
                  <a:rPr kumimoji="1" lang="en-US" altLang="ja-JP" dirty="0" smtClean="0"/>
                </a:br>
                <a:r>
                  <a:rPr kumimoji="1" lang="ja-JP" altLang="en-US" dirty="0" smtClean="0"/>
                  <a:t>不純度を調べ，最も小さくなるものを選択する．</a:t>
                </a:r>
                <a:endParaRPr kumimoji="1" lang="en-US" altLang="ja-JP" dirty="0" smtClean="0"/>
              </a:p>
              <a:p>
                <a:pPr algn="l"/>
                <a:r>
                  <a:rPr kumimoji="1" lang="ja-JP" altLang="en-US" dirty="0" smtClean="0"/>
                  <a:t>そのため，</a:t>
                </a:r>
                <a:r>
                  <a:rPr kumimoji="1" lang="en-US" altLang="ja-JP" dirty="0" smtClean="0"/>
                  <a:t>1</a:t>
                </a:r>
                <a:r>
                  <a:rPr kumimoji="1" lang="ja-JP" altLang="en-US" dirty="0" smtClean="0"/>
                  <a:t>回の分岐における計算量は</a:t>
                </a:r>
                <a:r>
                  <a:rPr lang="en-US" altLang="ja-JP" dirty="0"/>
                  <a:t/>
                </a:r>
                <a:br>
                  <a:rPr lang="en-US" altLang="ja-JP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en-US" altLang="ja-JP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O</m:t>
                      </m:r>
                      <m:r>
                        <m:rPr>
                          <m:nor/>
                        </m:rPr>
                        <a:rPr kumimoji="1" lang="en-US" altLang="ja-JP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(#</m:t>
                      </m:r>
                      <m:r>
                        <m:rPr>
                          <m:nor/>
                        </m:rPr>
                        <a:rPr kumimoji="1" lang="en-US" altLang="ja-JP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US" altLang="ja-JP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data</m:t>
                      </m:r>
                      <m:r>
                        <m:rPr>
                          <m:nor/>
                        </m:rPr>
                        <a:rPr lang="en-US" altLang="ja-JP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kumimoji="1" lang="en-US" altLang="ja-JP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#</m:t>
                      </m:r>
                      <m:r>
                        <m:rPr>
                          <m:nor/>
                        </m:rPr>
                        <a:rPr kumimoji="1" lang="en-US" altLang="ja-JP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US" altLang="ja-JP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feature</m:t>
                      </m:r>
                      <m:r>
                        <m:rPr>
                          <m:nor/>
                        </m:rPr>
                        <a:rPr kumimoji="1" lang="en-US" altLang="ja-JP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ja-JP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ja-JP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実行時間の短縮にはデータ数・特徴量の削減が重要になる．</a:t>
                </a:r>
                <a:endParaRPr kumimoji="1"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コンテンツ プレースホルダー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25" t="-1882" r="-17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  <p:sp>
        <p:nvSpPr>
          <p:cNvPr id="5" name="下矢印 4"/>
          <p:cNvSpPr/>
          <p:nvPr/>
        </p:nvSpPr>
        <p:spPr>
          <a:xfrm>
            <a:off x="4272475" y="3853288"/>
            <a:ext cx="675250" cy="629812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288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勾配ブースティング決定</a:t>
            </a:r>
            <a:r>
              <a:rPr lang="ja-JP" altLang="en-US" dirty="0"/>
              <a:t>木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ブースティング：逐次的に弱識別器を追加していくアンサンブル学習の手法</a:t>
            </a:r>
            <a:endParaRPr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grpSp>
        <p:nvGrpSpPr>
          <p:cNvPr id="46" name="グループ化 45"/>
          <p:cNvGrpSpPr/>
          <p:nvPr/>
        </p:nvGrpSpPr>
        <p:grpSpPr>
          <a:xfrm>
            <a:off x="359448" y="2665242"/>
            <a:ext cx="4206805" cy="3891679"/>
            <a:chOff x="359448" y="2665242"/>
            <a:chExt cx="4206805" cy="3891679"/>
          </a:xfrm>
        </p:grpSpPr>
        <p:sp>
          <p:nvSpPr>
            <p:cNvPr id="15" name="加算記号 14"/>
            <p:cNvSpPr/>
            <p:nvPr/>
          </p:nvSpPr>
          <p:spPr>
            <a:xfrm>
              <a:off x="2965418" y="4300913"/>
              <a:ext cx="621030" cy="62103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44" name="グループ化 43"/>
            <p:cNvGrpSpPr/>
            <p:nvPr/>
          </p:nvGrpSpPr>
          <p:grpSpPr>
            <a:xfrm>
              <a:off x="359448" y="2665242"/>
              <a:ext cx="4206805" cy="1526953"/>
              <a:chOff x="359448" y="2665242"/>
              <a:chExt cx="4206805" cy="1526953"/>
            </a:xfrm>
          </p:grpSpPr>
          <p:grpSp>
            <p:nvGrpSpPr>
              <p:cNvPr id="16" name="グループ化 15"/>
              <p:cNvGrpSpPr/>
              <p:nvPr/>
            </p:nvGrpSpPr>
            <p:grpSpPr>
              <a:xfrm>
                <a:off x="1985613" y="2665242"/>
                <a:ext cx="2580640" cy="1526953"/>
                <a:chOff x="812800" y="4152900"/>
                <a:chExt cx="3670300" cy="2171700"/>
              </a:xfrm>
            </p:grpSpPr>
            <p:sp>
              <p:nvSpPr>
                <p:cNvPr id="5" name="正方形/長方形 4"/>
                <p:cNvSpPr/>
                <p:nvPr/>
              </p:nvSpPr>
              <p:spPr>
                <a:xfrm>
                  <a:off x="812800" y="4152900"/>
                  <a:ext cx="3670300" cy="21717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6" name="円/楕円 5"/>
                <p:cNvSpPr/>
                <p:nvPr/>
              </p:nvSpPr>
              <p:spPr>
                <a:xfrm>
                  <a:off x="1000760" y="5859780"/>
                  <a:ext cx="101600" cy="1016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7" name="円/楕円 6"/>
                <p:cNvSpPr/>
                <p:nvPr/>
              </p:nvSpPr>
              <p:spPr>
                <a:xfrm>
                  <a:off x="1638300" y="5477510"/>
                  <a:ext cx="101600" cy="1016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9" name="円/楕円 8"/>
                <p:cNvSpPr/>
                <p:nvPr/>
              </p:nvSpPr>
              <p:spPr>
                <a:xfrm>
                  <a:off x="2164080" y="4583430"/>
                  <a:ext cx="101600" cy="1016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0" name="円/楕円 9"/>
                <p:cNvSpPr/>
                <p:nvPr/>
              </p:nvSpPr>
              <p:spPr>
                <a:xfrm>
                  <a:off x="4091940" y="4993640"/>
                  <a:ext cx="101600" cy="1016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1" name="円/楕円 10"/>
                <p:cNvSpPr/>
                <p:nvPr/>
              </p:nvSpPr>
              <p:spPr>
                <a:xfrm>
                  <a:off x="3467100" y="4602480"/>
                  <a:ext cx="101600" cy="1016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2" name="円/楕円 11"/>
                <p:cNvSpPr/>
                <p:nvPr/>
              </p:nvSpPr>
              <p:spPr>
                <a:xfrm>
                  <a:off x="2862580" y="4897120"/>
                  <a:ext cx="101600" cy="1016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cxnSp>
              <p:nvCxnSpPr>
                <p:cNvPr id="14" name="直線コネクタ 13"/>
                <p:cNvCxnSpPr/>
                <p:nvPr/>
              </p:nvCxnSpPr>
              <p:spPr>
                <a:xfrm flipH="1">
                  <a:off x="1000760" y="4485640"/>
                  <a:ext cx="3360420" cy="1271270"/>
                </a:xfrm>
                <a:prstGeom prst="line">
                  <a:avLst/>
                </a:prstGeom>
                <a:ln w="28575">
                  <a:solidFill>
                    <a:schemeClr val="accent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2" name="テキスト ボックス 41"/>
              <p:cNvSpPr txBox="1"/>
              <p:nvPr/>
            </p:nvSpPr>
            <p:spPr>
              <a:xfrm>
                <a:off x="359448" y="2670963"/>
                <a:ext cx="1484594" cy="523220"/>
              </a:xfrm>
              <a:prstGeom prst="rect">
                <a:avLst/>
              </a:prstGeom>
              <a:noFill/>
              <a:ln w="3810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2800" dirty="0" smtClean="0"/>
                  <a:t>Model</a:t>
                </a:r>
                <a:r>
                  <a:rPr lang="ja-JP" altLang="en-US" sz="2800" dirty="0"/>
                  <a:t> </a:t>
                </a:r>
                <a:r>
                  <a:rPr lang="en-US" altLang="ja-JP" sz="2800" dirty="0"/>
                  <a:t>1</a:t>
                </a:r>
                <a:endParaRPr kumimoji="1" lang="ja-JP" altLang="en-US" sz="2800" dirty="0" smtClean="0"/>
              </a:p>
            </p:txBody>
          </p:sp>
        </p:grpSp>
        <p:grpSp>
          <p:nvGrpSpPr>
            <p:cNvPr id="45" name="グループ化 44"/>
            <p:cNvGrpSpPr/>
            <p:nvPr/>
          </p:nvGrpSpPr>
          <p:grpSpPr>
            <a:xfrm>
              <a:off x="359448" y="5030475"/>
              <a:ext cx="4206219" cy="1526446"/>
              <a:chOff x="359448" y="5030475"/>
              <a:chExt cx="4206219" cy="1526446"/>
            </a:xfrm>
          </p:grpSpPr>
          <p:grpSp>
            <p:nvGrpSpPr>
              <p:cNvPr id="8" name="グループ化 7"/>
              <p:cNvGrpSpPr/>
              <p:nvPr/>
            </p:nvGrpSpPr>
            <p:grpSpPr>
              <a:xfrm>
                <a:off x="1986199" y="5030661"/>
                <a:ext cx="2579468" cy="1526260"/>
                <a:chOff x="5017770" y="4381500"/>
                <a:chExt cx="3670300" cy="2171700"/>
              </a:xfrm>
            </p:grpSpPr>
            <p:grpSp>
              <p:nvGrpSpPr>
                <p:cNvPr id="17" name="グループ化 16"/>
                <p:cNvGrpSpPr/>
                <p:nvPr/>
              </p:nvGrpSpPr>
              <p:grpSpPr>
                <a:xfrm>
                  <a:off x="5017770" y="4381500"/>
                  <a:ext cx="3670300" cy="2171700"/>
                  <a:chOff x="812800" y="4152900"/>
                  <a:chExt cx="3670300" cy="2171700"/>
                </a:xfrm>
              </p:grpSpPr>
              <p:sp>
                <p:nvSpPr>
                  <p:cNvPr id="18" name="正方形/長方形 17"/>
                  <p:cNvSpPr/>
                  <p:nvPr/>
                </p:nvSpPr>
                <p:spPr>
                  <a:xfrm>
                    <a:off x="812800" y="4152900"/>
                    <a:ext cx="3670300" cy="2171700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9" name="円/楕円 18"/>
                  <p:cNvSpPr/>
                  <p:nvPr/>
                </p:nvSpPr>
                <p:spPr>
                  <a:xfrm>
                    <a:off x="1000760" y="5859780"/>
                    <a:ext cx="101600" cy="1016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0" name="円/楕円 19"/>
                  <p:cNvSpPr/>
                  <p:nvPr/>
                </p:nvSpPr>
                <p:spPr>
                  <a:xfrm>
                    <a:off x="1638300" y="5477510"/>
                    <a:ext cx="101600" cy="1016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1" name="円/楕円 20"/>
                  <p:cNvSpPr/>
                  <p:nvPr/>
                </p:nvSpPr>
                <p:spPr>
                  <a:xfrm>
                    <a:off x="2164080" y="4583430"/>
                    <a:ext cx="101600" cy="1016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2" name="円/楕円 21"/>
                  <p:cNvSpPr/>
                  <p:nvPr/>
                </p:nvSpPr>
                <p:spPr>
                  <a:xfrm>
                    <a:off x="4091940" y="4993640"/>
                    <a:ext cx="101600" cy="1016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3" name="円/楕円 22"/>
                  <p:cNvSpPr/>
                  <p:nvPr/>
                </p:nvSpPr>
                <p:spPr>
                  <a:xfrm>
                    <a:off x="3467100" y="4602480"/>
                    <a:ext cx="101600" cy="1016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4" name="円/楕円 23"/>
                  <p:cNvSpPr/>
                  <p:nvPr/>
                </p:nvSpPr>
                <p:spPr>
                  <a:xfrm>
                    <a:off x="2862580" y="4897120"/>
                    <a:ext cx="101600" cy="1016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sp>
              <p:nvSpPr>
                <p:cNvPr id="26" name="フリーフォーム 25"/>
                <p:cNvSpPr/>
                <p:nvPr/>
              </p:nvSpPr>
              <p:spPr>
                <a:xfrm>
                  <a:off x="5270500" y="4902200"/>
                  <a:ext cx="3098800" cy="635000"/>
                </a:xfrm>
                <a:custGeom>
                  <a:avLst/>
                  <a:gdLst>
                    <a:gd name="connsiteX0" fmla="*/ 0 w 3098800"/>
                    <a:gd name="connsiteY0" fmla="*/ 635000 h 635000"/>
                    <a:gd name="connsiteX1" fmla="*/ 1130300 w 3098800"/>
                    <a:gd name="connsiteY1" fmla="*/ 0 h 635000"/>
                    <a:gd name="connsiteX2" fmla="*/ 2463800 w 3098800"/>
                    <a:gd name="connsiteY2" fmla="*/ 127000 h 635000"/>
                    <a:gd name="connsiteX3" fmla="*/ 3098800 w 3098800"/>
                    <a:gd name="connsiteY3" fmla="*/ 342900 h 635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98800" h="635000">
                      <a:moveTo>
                        <a:pt x="0" y="635000"/>
                      </a:moveTo>
                      <a:lnTo>
                        <a:pt x="1130300" y="0"/>
                      </a:lnTo>
                      <a:lnTo>
                        <a:pt x="2463800" y="127000"/>
                      </a:lnTo>
                      <a:lnTo>
                        <a:pt x="3098800" y="342900"/>
                      </a:lnTo>
                    </a:path>
                  </a:pathLst>
                </a:cu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43" name="テキスト ボックス 42"/>
              <p:cNvSpPr txBox="1"/>
              <p:nvPr/>
            </p:nvSpPr>
            <p:spPr>
              <a:xfrm>
                <a:off x="359448" y="5030475"/>
                <a:ext cx="1484593" cy="523220"/>
              </a:xfrm>
              <a:prstGeom prst="rect">
                <a:avLst/>
              </a:prstGeom>
              <a:noFill/>
              <a:ln w="3810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2800" dirty="0" smtClean="0"/>
                  <a:t>Model</a:t>
                </a:r>
                <a:r>
                  <a:rPr lang="ja-JP" altLang="en-US" sz="2800" dirty="0"/>
                  <a:t> </a:t>
                </a:r>
                <a:r>
                  <a:rPr lang="en-US" altLang="ja-JP" sz="2800" dirty="0" smtClean="0"/>
                  <a:t>2</a:t>
                </a:r>
                <a:endParaRPr kumimoji="1" lang="ja-JP" altLang="en-US" sz="2800" dirty="0" smtClean="0"/>
              </a:p>
            </p:txBody>
          </p:sp>
        </p:grpSp>
      </p:grpSp>
      <p:grpSp>
        <p:nvGrpSpPr>
          <p:cNvPr id="52" name="グループ化 51"/>
          <p:cNvGrpSpPr/>
          <p:nvPr/>
        </p:nvGrpSpPr>
        <p:grpSpPr>
          <a:xfrm>
            <a:off x="4980505" y="3124845"/>
            <a:ext cx="3572087" cy="2293034"/>
            <a:chOff x="4980505" y="3124845"/>
            <a:chExt cx="3572087" cy="2293034"/>
          </a:xfrm>
        </p:grpSpPr>
        <p:sp>
          <p:nvSpPr>
            <p:cNvPr id="25" name="下矢印 24"/>
            <p:cNvSpPr/>
            <p:nvPr/>
          </p:nvSpPr>
          <p:spPr>
            <a:xfrm rot="16200000">
              <a:off x="4957786" y="4296176"/>
              <a:ext cx="675250" cy="629812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49" name="グループ化 48"/>
            <p:cNvGrpSpPr/>
            <p:nvPr/>
          </p:nvGrpSpPr>
          <p:grpSpPr>
            <a:xfrm>
              <a:off x="5973124" y="3124845"/>
              <a:ext cx="2579468" cy="2293034"/>
              <a:chOff x="5973124" y="3124845"/>
              <a:chExt cx="2579468" cy="2293034"/>
            </a:xfrm>
          </p:grpSpPr>
          <p:grpSp>
            <p:nvGrpSpPr>
              <p:cNvPr id="40" name="グループ化 39"/>
              <p:cNvGrpSpPr/>
              <p:nvPr/>
            </p:nvGrpSpPr>
            <p:grpSpPr>
              <a:xfrm>
                <a:off x="5973124" y="3891619"/>
                <a:ext cx="2579468" cy="1526260"/>
                <a:chOff x="4828598" y="3864222"/>
                <a:chExt cx="2579468" cy="1526260"/>
              </a:xfrm>
            </p:grpSpPr>
            <p:grpSp>
              <p:nvGrpSpPr>
                <p:cNvPr id="28" name="グループ化 27"/>
                <p:cNvGrpSpPr/>
                <p:nvPr/>
              </p:nvGrpSpPr>
              <p:grpSpPr>
                <a:xfrm>
                  <a:off x="4828598" y="3864222"/>
                  <a:ext cx="2579468" cy="1526260"/>
                  <a:chOff x="812800" y="4152900"/>
                  <a:chExt cx="3670300" cy="2171700"/>
                </a:xfrm>
              </p:grpSpPr>
              <p:sp>
                <p:nvSpPr>
                  <p:cNvPr id="30" name="正方形/長方形 29"/>
                  <p:cNvSpPr/>
                  <p:nvPr/>
                </p:nvSpPr>
                <p:spPr>
                  <a:xfrm>
                    <a:off x="812800" y="4152900"/>
                    <a:ext cx="3670300" cy="2171700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1" name="円/楕円 30"/>
                  <p:cNvSpPr/>
                  <p:nvPr/>
                </p:nvSpPr>
                <p:spPr>
                  <a:xfrm>
                    <a:off x="1000760" y="5859780"/>
                    <a:ext cx="101600" cy="1016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2" name="円/楕円 31"/>
                  <p:cNvSpPr/>
                  <p:nvPr/>
                </p:nvSpPr>
                <p:spPr>
                  <a:xfrm>
                    <a:off x="1638300" y="5477510"/>
                    <a:ext cx="101600" cy="1016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3" name="円/楕円 32"/>
                  <p:cNvSpPr/>
                  <p:nvPr/>
                </p:nvSpPr>
                <p:spPr>
                  <a:xfrm>
                    <a:off x="2164080" y="4583430"/>
                    <a:ext cx="101600" cy="1016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4" name="円/楕円 33"/>
                  <p:cNvSpPr/>
                  <p:nvPr/>
                </p:nvSpPr>
                <p:spPr>
                  <a:xfrm>
                    <a:off x="4091940" y="4993640"/>
                    <a:ext cx="101600" cy="1016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5" name="円/楕円 34"/>
                  <p:cNvSpPr/>
                  <p:nvPr/>
                </p:nvSpPr>
                <p:spPr>
                  <a:xfrm>
                    <a:off x="3467100" y="4602480"/>
                    <a:ext cx="101600" cy="1016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6" name="円/楕円 35"/>
                  <p:cNvSpPr/>
                  <p:nvPr/>
                </p:nvSpPr>
                <p:spPr>
                  <a:xfrm>
                    <a:off x="2862580" y="4897120"/>
                    <a:ext cx="101600" cy="1016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sp>
              <p:nvSpPr>
                <p:cNvPr id="38" name="フリーフォーム 37"/>
                <p:cNvSpPr/>
                <p:nvPr/>
              </p:nvSpPr>
              <p:spPr>
                <a:xfrm>
                  <a:off x="4998720" y="4236720"/>
                  <a:ext cx="2202180" cy="800100"/>
                </a:xfrm>
                <a:custGeom>
                  <a:avLst/>
                  <a:gdLst>
                    <a:gd name="connsiteX0" fmla="*/ 0 w 2202180"/>
                    <a:gd name="connsiteY0" fmla="*/ 800100 h 800100"/>
                    <a:gd name="connsiteX1" fmla="*/ 411480 w 2202180"/>
                    <a:gd name="connsiteY1" fmla="*/ 563880 h 800100"/>
                    <a:gd name="connsiteX2" fmla="*/ 830580 w 2202180"/>
                    <a:gd name="connsiteY2" fmla="*/ 60960 h 800100"/>
                    <a:gd name="connsiteX3" fmla="*/ 1310640 w 2202180"/>
                    <a:gd name="connsiteY3" fmla="*/ 106680 h 800100"/>
                    <a:gd name="connsiteX4" fmla="*/ 1752600 w 2202180"/>
                    <a:gd name="connsiteY4" fmla="*/ 0 h 800100"/>
                    <a:gd name="connsiteX5" fmla="*/ 2202180 w 2202180"/>
                    <a:gd name="connsiteY5" fmla="*/ 182880 h 800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202180" h="800100">
                      <a:moveTo>
                        <a:pt x="0" y="800100"/>
                      </a:moveTo>
                      <a:lnTo>
                        <a:pt x="411480" y="563880"/>
                      </a:lnTo>
                      <a:lnTo>
                        <a:pt x="830580" y="60960"/>
                      </a:lnTo>
                      <a:lnTo>
                        <a:pt x="1310640" y="106680"/>
                      </a:lnTo>
                      <a:lnTo>
                        <a:pt x="1752600" y="0"/>
                      </a:lnTo>
                      <a:lnTo>
                        <a:pt x="2202180" y="182880"/>
                      </a:lnTo>
                    </a:path>
                  </a:pathLst>
                </a:cu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48" name="テキスト ボックス 47"/>
              <p:cNvSpPr txBox="1"/>
              <p:nvPr/>
            </p:nvSpPr>
            <p:spPr>
              <a:xfrm>
                <a:off x="5973124" y="3124845"/>
                <a:ext cx="1744787" cy="523220"/>
              </a:xfrm>
              <a:prstGeom prst="rect">
                <a:avLst/>
              </a:prstGeom>
              <a:noFill/>
              <a:ln w="3810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2800" dirty="0" smtClean="0"/>
                  <a:t>Classifier</a:t>
                </a:r>
                <a:endParaRPr kumimoji="1" lang="ja-JP" altLang="en-US" sz="2800" dirty="0" smtClean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21778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勾配ブースティング決定</a:t>
            </a:r>
            <a:r>
              <a:rPr lang="ja-JP" altLang="en-US" dirty="0"/>
              <a:t>木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勾配ブースティング：弱識別器を追加する際</a:t>
            </a:r>
            <a:r>
              <a:rPr lang="ja-JP" altLang="en-US" dirty="0" smtClean="0"/>
              <a:t>，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前段</a:t>
            </a:r>
            <a:r>
              <a:rPr lang="ja-JP" altLang="en-US" dirty="0"/>
              <a:t>までの残差 </a:t>
            </a:r>
            <a:r>
              <a:rPr lang="en-US" altLang="ja-JP" dirty="0"/>
              <a:t>(</a:t>
            </a:r>
            <a:r>
              <a:rPr lang="ja-JP" altLang="en-US" dirty="0"/>
              <a:t>勾配</a:t>
            </a:r>
            <a:r>
              <a:rPr lang="en-US" altLang="ja-JP" dirty="0"/>
              <a:t>) </a:t>
            </a:r>
            <a:r>
              <a:rPr lang="ja-JP" altLang="en-US" dirty="0"/>
              <a:t>を用いる手法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sp>
        <p:nvSpPr>
          <p:cNvPr id="15" name="加算記号 14"/>
          <p:cNvSpPr/>
          <p:nvPr/>
        </p:nvSpPr>
        <p:spPr>
          <a:xfrm>
            <a:off x="2965418" y="4300913"/>
            <a:ext cx="621030" cy="621030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4" name="グループ化 43"/>
          <p:cNvGrpSpPr/>
          <p:nvPr/>
        </p:nvGrpSpPr>
        <p:grpSpPr>
          <a:xfrm>
            <a:off x="359448" y="2665242"/>
            <a:ext cx="4206805" cy="1526953"/>
            <a:chOff x="359448" y="2665242"/>
            <a:chExt cx="4206805" cy="1526953"/>
          </a:xfrm>
        </p:grpSpPr>
        <p:grpSp>
          <p:nvGrpSpPr>
            <p:cNvPr id="16" name="グループ化 15"/>
            <p:cNvGrpSpPr/>
            <p:nvPr/>
          </p:nvGrpSpPr>
          <p:grpSpPr>
            <a:xfrm>
              <a:off x="1985613" y="2665242"/>
              <a:ext cx="2580640" cy="1526953"/>
              <a:chOff x="812800" y="4152900"/>
              <a:chExt cx="3670300" cy="2171700"/>
            </a:xfrm>
          </p:grpSpPr>
          <p:sp>
            <p:nvSpPr>
              <p:cNvPr id="5" name="正方形/長方形 4"/>
              <p:cNvSpPr/>
              <p:nvPr/>
            </p:nvSpPr>
            <p:spPr>
              <a:xfrm>
                <a:off x="812800" y="4152900"/>
                <a:ext cx="3670300" cy="21717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" name="円/楕円 5"/>
              <p:cNvSpPr/>
              <p:nvPr/>
            </p:nvSpPr>
            <p:spPr>
              <a:xfrm>
                <a:off x="1000760" y="5859780"/>
                <a:ext cx="101600" cy="1016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" name="円/楕円 6"/>
              <p:cNvSpPr/>
              <p:nvPr/>
            </p:nvSpPr>
            <p:spPr>
              <a:xfrm>
                <a:off x="1638300" y="5477510"/>
                <a:ext cx="101600" cy="1016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" name="円/楕円 8"/>
              <p:cNvSpPr/>
              <p:nvPr/>
            </p:nvSpPr>
            <p:spPr>
              <a:xfrm>
                <a:off x="2164080" y="4583430"/>
                <a:ext cx="101600" cy="1016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" name="円/楕円 9"/>
              <p:cNvSpPr/>
              <p:nvPr/>
            </p:nvSpPr>
            <p:spPr>
              <a:xfrm>
                <a:off x="4091940" y="4993640"/>
                <a:ext cx="101600" cy="1016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" name="円/楕円 10"/>
              <p:cNvSpPr/>
              <p:nvPr/>
            </p:nvSpPr>
            <p:spPr>
              <a:xfrm>
                <a:off x="3467100" y="4602480"/>
                <a:ext cx="101600" cy="1016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" name="円/楕円 11"/>
              <p:cNvSpPr/>
              <p:nvPr/>
            </p:nvSpPr>
            <p:spPr>
              <a:xfrm>
                <a:off x="2862580" y="4897120"/>
                <a:ext cx="101600" cy="1016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4" name="直線コネクタ 13"/>
              <p:cNvCxnSpPr/>
              <p:nvPr/>
            </p:nvCxnSpPr>
            <p:spPr>
              <a:xfrm flipH="1">
                <a:off x="1000760" y="4485640"/>
                <a:ext cx="3360420" cy="127127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テキスト ボックス 41"/>
            <p:cNvSpPr txBox="1"/>
            <p:nvPr/>
          </p:nvSpPr>
          <p:spPr>
            <a:xfrm>
              <a:off x="359448" y="2670963"/>
              <a:ext cx="1484594" cy="52322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 smtClean="0"/>
                <a:t>Model</a:t>
              </a:r>
              <a:r>
                <a:rPr lang="ja-JP" altLang="en-US" sz="2800" dirty="0"/>
                <a:t> </a:t>
              </a:r>
              <a:r>
                <a:rPr lang="en-US" altLang="ja-JP" sz="2800" dirty="0"/>
                <a:t>1</a:t>
              </a:r>
              <a:endParaRPr kumimoji="1" lang="ja-JP" altLang="en-US" sz="2800" dirty="0" smtClean="0"/>
            </a:p>
          </p:txBody>
        </p:sp>
      </p:grpSp>
      <p:grpSp>
        <p:nvGrpSpPr>
          <p:cNvPr id="27" name="グループ化 26"/>
          <p:cNvGrpSpPr/>
          <p:nvPr/>
        </p:nvGrpSpPr>
        <p:grpSpPr>
          <a:xfrm>
            <a:off x="4980505" y="3124845"/>
            <a:ext cx="3572087" cy="2293034"/>
            <a:chOff x="4980505" y="3124845"/>
            <a:chExt cx="3572087" cy="2293034"/>
          </a:xfrm>
        </p:grpSpPr>
        <p:sp>
          <p:nvSpPr>
            <p:cNvPr id="25" name="下矢印 24"/>
            <p:cNvSpPr/>
            <p:nvPr/>
          </p:nvSpPr>
          <p:spPr>
            <a:xfrm rot="16200000">
              <a:off x="4957786" y="4296176"/>
              <a:ext cx="675250" cy="629812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49" name="グループ化 48"/>
            <p:cNvGrpSpPr/>
            <p:nvPr/>
          </p:nvGrpSpPr>
          <p:grpSpPr>
            <a:xfrm>
              <a:off x="5973124" y="3124845"/>
              <a:ext cx="2579468" cy="2293034"/>
              <a:chOff x="5973124" y="3124845"/>
              <a:chExt cx="2579468" cy="2293034"/>
            </a:xfrm>
          </p:grpSpPr>
          <p:grpSp>
            <p:nvGrpSpPr>
              <p:cNvPr id="40" name="グループ化 39"/>
              <p:cNvGrpSpPr/>
              <p:nvPr/>
            </p:nvGrpSpPr>
            <p:grpSpPr>
              <a:xfrm>
                <a:off x="5973124" y="3891619"/>
                <a:ext cx="2579468" cy="1526260"/>
                <a:chOff x="4828598" y="3864222"/>
                <a:chExt cx="2579468" cy="1526260"/>
              </a:xfrm>
            </p:grpSpPr>
            <p:grpSp>
              <p:nvGrpSpPr>
                <p:cNvPr id="28" name="グループ化 27"/>
                <p:cNvGrpSpPr/>
                <p:nvPr/>
              </p:nvGrpSpPr>
              <p:grpSpPr>
                <a:xfrm>
                  <a:off x="4828598" y="3864222"/>
                  <a:ext cx="2579468" cy="1526260"/>
                  <a:chOff x="812800" y="4152900"/>
                  <a:chExt cx="3670300" cy="2171700"/>
                </a:xfrm>
              </p:grpSpPr>
              <p:sp>
                <p:nvSpPr>
                  <p:cNvPr id="30" name="正方形/長方形 29"/>
                  <p:cNvSpPr/>
                  <p:nvPr/>
                </p:nvSpPr>
                <p:spPr>
                  <a:xfrm>
                    <a:off x="812800" y="4152900"/>
                    <a:ext cx="3670300" cy="2171700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1" name="円/楕円 30"/>
                  <p:cNvSpPr/>
                  <p:nvPr/>
                </p:nvSpPr>
                <p:spPr>
                  <a:xfrm>
                    <a:off x="1000760" y="5859780"/>
                    <a:ext cx="101600" cy="1016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2" name="円/楕円 31"/>
                  <p:cNvSpPr/>
                  <p:nvPr/>
                </p:nvSpPr>
                <p:spPr>
                  <a:xfrm>
                    <a:off x="1638300" y="5477510"/>
                    <a:ext cx="101600" cy="1016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3" name="円/楕円 32"/>
                  <p:cNvSpPr/>
                  <p:nvPr/>
                </p:nvSpPr>
                <p:spPr>
                  <a:xfrm>
                    <a:off x="2164080" y="4583430"/>
                    <a:ext cx="101600" cy="1016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4" name="円/楕円 33"/>
                  <p:cNvSpPr/>
                  <p:nvPr/>
                </p:nvSpPr>
                <p:spPr>
                  <a:xfrm>
                    <a:off x="4091940" y="4993640"/>
                    <a:ext cx="101600" cy="1016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5" name="円/楕円 34"/>
                  <p:cNvSpPr/>
                  <p:nvPr/>
                </p:nvSpPr>
                <p:spPr>
                  <a:xfrm>
                    <a:off x="3467100" y="4602480"/>
                    <a:ext cx="101600" cy="1016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6" name="円/楕円 35"/>
                  <p:cNvSpPr/>
                  <p:nvPr/>
                </p:nvSpPr>
                <p:spPr>
                  <a:xfrm>
                    <a:off x="2862580" y="4897120"/>
                    <a:ext cx="101600" cy="1016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sp>
              <p:nvSpPr>
                <p:cNvPr id="38" name="フリーフォーム 37"/>
                <p:cNvSpPr/>
                <p:nvPr/>
              </p:nvSpPr>
              <p:spPr>
                <a:xfrm>
                  <a:off x="4998720" y="4236720"/>
                  <a:ext cx="2202180" cy="800100"/>
                </a:xfrm>
                <a:custGeom>
                  <a:avLst/>
                  <a:gdLst>
                    <a:gd name="connsiteX0" fmla="*/ 0 w 2202180"/>
                    <a:gd name="connsiteY0" fmla="*/ 800100 h 800100"/>
                    <a:gd name="connsiteX1" fmla="*/ 411480 w 2202180"/>
                    <a:gd name="connsiteY1" fmla="*/ 563880 h 800100"/>
                    <a:gd name="connsiteX2" fmla="*/ 830580 w 2202180"/>
                    <a:gd name="connsiteY2" fmla="*/ 60960 h 800100"/>
                    <a:gd name="connsiteX3" fmla="*/ 1310640 w 2202180"/>
                    <a:gd name="connsiteY3" fmla="*/ 106680 h 800100"/>
                    <a:gd name="connsiteX4" fmla="*/ 1752600 w 2202180"/>
                    <a:gd name="connsiteY4" fmla="*/ 0 h 800100"/>
                    <a:gd name="connsiteX5" fmla="*/ 2202180 w 2202180"/>
                    <a:gd name="connsiteY5" fmla="*/ 182880 h 800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202180" h="800100">
                      <a:moveTo>
                        <a:pt x="0" y="800100"/>
                      </a:moveTo>
                      <a:lnTo>
                        <a:pt x="411480" y="563880"/>
                      </a:lnTo>
                      <a:lnTo>
                        <a:pt x="830580" y="60960"/>
                      </a:lnTo>
                      <a:lnTo>
                        <a:pt x="1310640" y="106680"/>
                      </a:lnTo>
                      <a:lnTo>
                        <a:pt x="1752600" y="0"/>
                      </a:lnTo>
                      <a:lnTo>
                        <a:pt x="2202180" y="182880"/>
                      </a:lnTo>
                    </a:path>
                  </a:pathLst>
                </a:cu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48" name="テキスト ボックス 47"/>
              <p:cNvSpPr txBox="1"/>
              <p:nvPr/>
            </p:nvSpPr>
            <p:spPr>
              <a:xfrm>
                <a:off x="5973124" y="3124845"/>
                <a:ext cx="1744787" cy="523220"/>
              </a:xfrm>
              <a:prstGeom prst="rect">
                <a:avLst/>
              </a:prstGeom>
              <a:noFill/>
              <a:ln w="3810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2800" dirty="0" smtClean="0"/>
                  <a:t>Classifier</a:t>
                </a:r>
                <a:endParaRPr kumimoji="1" lang="ja-JP" altLang="en-US" sz="2800" dirty="0" smtClean="0"/>
              </a:p>
            </p:txBody>
          </p:sp>
        </p:grpSp>
      </p:grpSp>
      <p:grpSp>
        <p:nvGrpSpPr>
          <p:cNvPr id="37" name="グループ化 36"/>
          <p:cNvGrpSpPr/>
          <p:nvPr/>
        </p:nvGrpSpPr>
        <p:grpSpPr>
          <a:xfrm>
            <a:off x="178312" y="5029710"/>
            <a:ext cx="4753506" cy="1526260"/>
            <a:chOff x="178312" y="5029710"/>
            <a:chExt cx="4753506" cy="1526260"/>
          </a:xfrm>
        </p:grpSpPr>
        <p:sp>
          <p:nvSpPr>
            <p:cNvPr id="43" name="テキスト ボックス 42"/>
            <p:cNvSpPr txBox="1"/>
            <p:nvPr/>
          </p:nvSpPr>
          <p:spPr>
            <a:xfrm>
              <a:off x="359448" y="5030475"/>
              <a:ext cx="1484593" cy="52322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 smtClean="0"/>
                <a:t>Model</a:t>
              </a:r>
              <a:r>
                <a:rPr lang="ja-JP" altLang="en-US" sz="2800" dirty="0"/>
                <a:t> </a:t>
              </a:r>
              <a:r>
                <a:rPr lang="en-US" altLang="ja-JP" sz="2800" dirty="0" smtClean="0"/>
                <a:t>2</a:t>
              </a:r>
              <a:endParaRPr kumimoji="1" lang="ja-JP" altLang="en-US" sz="2800" dirty="0" smtClean="0"/>
            </a:p>
          </p:txBody>
        </p:sp>
        <p:sp>
          <p:nvSpPr>
            <p:cNvPr id="72" name="テキスト ボックス 71"/>
            <p:cNvSpPr txBox="1"/>
            <p:nvPr/>
          </p:nvSpPr>
          <p:spPr>
            <a:xfrm>
              <a:off x="178312" y="5606989"/>
              <a:ext cx="1846864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dirty="0" smtClean="0"/>
                <a:t>(</a:t>
              </a:r>
              <a:r>
                <a:rPr lang="ja-JP" altLang="en-US" sz="2400" dirty="0" smtClean="0"/>
                <a:t>勾配情報</a:t>
              </a:r>
              <a:r>
                <a:rPr lang="en-US" altLang="ja-JP" sz="2400" dirty="0" smtClean="0"/>
                <a:t>)</a:t>
              </a:r>
              <a:endParaRPr kumimoji="1" lang="ja-JP" altLang="en-US" sz="2400" dirty="0" smtClean="0"/>
            </a:p>
          </p:txBody>
        </p:sp>
        <p:grpSp>
          <p:nvGrpSpPr>
            <p:cNvPr id="29" name="グループ化 28"/>
            <p:cNvGrpSpPr/>
            <p:nvPr/>
          </p:nvGrpSpPr>
          <p:grpSpPr>
            <a:xfrm>
              <a:off x="1986199" y="5029710"/>
              <a:ext cx="2945619" cy="1526260"/>
              <a:chOff x="1986199" y="5029710"/>
              <a:chExt cx="2945619" cy="1526260"/>
            </a:xfrm>
          </p:grpSpPr>
          <p:grpSp>
            <p:nvGrpSpPr>
              <p:cNvPr id="61" name="グループ化 60"/>
              <p:cNvGrpSpPr/>
              <p:nvPr/>
            </p:nvGrpSpPr>
            <p:grpSpPr>
              <a:xfrm>
                <a:off x="1986199" y="5029710"/>
                <a:ext cx="2579468" cy="1526260"/>
                <a:chOff x="926434" y="5046847"/>
                <a:chExt cx="2579468" cy="1526260"/>
              </a:xfrm>
            </p:grpSpPr>
            <p:grpSp>
              <p:nvGrpSpPr>
                <p:cNvPr id="62" name="グループ化 61"/>
                <p:cNvGrpSpPr/>
                <p:nvPr/>
              </p:nvGrpSpPr>
              <p:grpSpPr>
                <a:xfrm>
                  <a:off x="926434" y="5046847"/>
                  <a:ext cx="2579468" cy="1526260"/>
                  <a:chOff x="812800" y="4152900"/>
                  <a:chExt cx="3670300" cy="2171700"/>
                </a:xfrm>
              </p:grpSpPr>
              <p:sp>
                <p:nvSpPr>
                  <p:cNvPr id="65" name="正方形/長方形 64"/>
                  <p:cNvSpPr/>
                  <p:nvPr/>
                </p:nvSpPr>
                <p:spPr>
                  <a:xfrm>
                    <a:off x="812800" y="4152900"/>
                    <a:ext cx="3670300" cy="2171700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66" name="円/楕円 65"/>
                  <p:cNvSpPr/>
                  <p:nvPr/>
                </p:nvSpPr>
                <p:spPr>
                  <a:xfrm>
                    <a:off x="1000760" y="5304106"/>
                    <a:ext cx="101600" cy="1016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67" name="円/楕円 66"/>
                  <p:cNvSpPr/>
                  <p:nvPr/>
                </p:nvSpPr>
                <p:spPr>
                  <a:xfrm>
                    <a:off x="1638300" y="5206449"/>
                    <a:ext cx="101600" cy="1016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68" name="円/楕円 67"/>
                  <p:cNvSpPr/>
                  <p:nvPr/>
                </p:nvSpPr>
                <p:spPr>
                  <a:xfrm>
                    <a:off x="2164081" y="4447899"/>
                    <a:ext cx="101600" cy="1016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69" name="円/楕円 68"/>
                  <p:cNvSpPr/>
                  <p:nvPr/>
                </p:nvSpPr>
                <p:spPr>
                  <a:xfrm>
                    <a:off x="4091940" y="5562867"/>
                    <a:ext cx="101600" cy="1016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70" name="円/楕円 69"/>
                  <p:cNvSpPr/>
                  <p:nvPr/>
                </p:nvSpPr>
                <p:spPr>
                  <a:xfrm>
                    <a:off x="3467099" y="4995518"/>
                    <a:ext cx="101600" cy="1016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71" name="円/楕円 70"/>
                  <p:cNvSpPr/>
                  <p:nvPr/>
                </p:nvSpPr>
                <p:spPr>
                  <a:xfrm>
                    <a:off x="2862580" y="5100415"/>
                    <a:ext cx="101600" cy="1016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cxnSp>
              <p:nvCxnSpPr>
                <p:cNvPr id="63" name="直線コネクタ 62"/>
                <p:cNvCxnSpPr>
                  <a:stCxn id="65" idx="1"/>
                  <a:endCxn id="65" idx="3"/>
                </p:cNvCxnSpPr>
                <p:nvPr/>
              </p:nvCxnSpPr>
              <p:spPr>
                <a:xfrm>
                  <a:off x="926434" y="5809977"/>
                  <a:ext cx="257946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4" name="フリーフォーム 63"/>
                <p:cNvSpPr/>
                <p:nvPr/>
              </p:nvSpPr>
              <p:spPr>
                <a:xfrm>
                  <a:off x="1066800" y="5362575"/>
                  <a:ext cx="2238375" cy="666750"/>
                </a:xfrm>
                <a:custGeom>
                  <a:avLst/>
                  <a:gdLst>
                    <a:gd name="connsiteX0" fmla="*/ 0 w 2238375"/>
                    <a:gd name="connsiteY0" fmla="*/ 447675 h 666750"/>
                    <a:gd name="connsiteX1" fmla="*/ 495300 w 2238375"/>
                    <a:gd name="connsiteY1" fmla="*/ 400050 h 666750"/>
                    <a:gd name="connsiteX2" fmla="*/ 819150 w 2238375"/>
                    <a:gd name="connsiteY2" fmla="*/ 0 h 666750"/>
                    <a:gd name="connsiteX3" fmla="*/ 2238375 w 2238375"/>
                    <a:gd name="connsiteY3" fmla="*/ 666750 h 666750"/>
                    <a:gd name="connsiteX4" fmla="*/ 2238375 w 2238375"/>
                    <a:gd name="connsiteY4" fmla="*/ 666750 h 666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38375" h="666750">
                      <a:moveTo>
                        <a:pt x="0" y="447675"/>
                      </a:moveTo>
                      <a:lnTo>
                        <a:pt x="495300" y="400050"/>
                      </a:lnTo>
                      <a:lnTo>
                        <a:pt x="819150" y="0"/>
                      </a:lnTo>
                      <a:lnTo>
                        <a:pt x="2238375" y="666750"/>
                      </a:lnTo>
                      <a:lnTo>
                        <a:pt x="2238375" y="666750"/>
                      </a:lnTo>
                    </a:path>
                  </a:pathLst>
                </a:cu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73" name="テキスト ボックス 72"/>
              <p:cNvSpPr txBox="1"/>
              <p:nvPr/>
            </p:nvSpPr>
            <p:spPr>
              <a:xfrm>
                <a:off x="4610100" y="5536190"/>
                <a:ext cx="321718" cy="4616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2400" dirty="0"/>
                  <a:t>0</a:t>
                </a:r>
                <a:endParaRPr kumimoji="1" lang="ja-JP" altLang="en-US" sz="2400" dirty="0" smtClean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92976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勾配ブースティング決定</a:t>
            </a:r>
            <a:r>
              <a:rPr lang="ja-JP" altLang="en-US" dirty="0"/>
              <a:t>木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勾配ブースティング：弱識別器を追加する際，前段までの残差 </a:t>
            </a:r>
            <a:r>
              <a:rPr lang="en-US" altLang="ja-JP" dirty="0"/>
              <a:t>(</a:t>
            </a:r>
            <a:r>
              <a:rPr lang="ja-JP" altLang="en-US" dirty="0"/>
              <a:t>勾配</a:t>
            </a:r>
            <a:r>
              <a:rPr lang="en-US" altLang="ja-JP" dirty="0"/>
              <a:t>) </a:t>
            </a:r>
            <a:r>
              <a:rPr lang="ja-JP" altLang="en-US" dirty="0"/>
              <a:t>を用いる手法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sp>
        <p:nvSpPr>
          <p:cNvPr id="25" name="下矢印 24"/>
          <p:cNvSpPr/>
          <p:nvPr/>
        </p:nvSpPr>
        <p:spPr>
          <a:xfrm rot="16200000">
            <a:off x="4420468" y="4268149"/>
            <a:ext cx="675250" cy="629812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6" name="グループ化 15"/>
          <p:cNvGrpSpPr/>
          <p:nvPr/>
        </p:nvGrpSpPr>
        <p:grpSpPr>
          <a:xfrm>
            <a:off x="925262" y="2593000"/>
            <a:ext cx="2580640" cy="1526953"/>
            <a:chOff x="812800" y="4152900"/>
            <a:chExt cx="3670300" cy="2171700"/>
          </a:xfrm>
        </p:grpSpPr>
        <p:sp>
          <p:nvSpPr>
            <p:cNvPr id="5" name="正方形/長方形 4"/>
            <p:cNvSpPr/>
            <p:nvPr/>
          </p:nvSpPr>
          <p:spPr>
            <a:xfrm>
              <a:off x="812800" y="4152900"/>
              <a:ext cx="3670300" cy="21717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円/楕円 5"/>
            <p:cNvSpPr/>
            <p:nvPr/>
          </p:nvSpPr>
          <p:spPr>
            <a:xfrm>
              <a:off x="1000760" y="5859780"/>
              <a:ext cx="101600" cy="101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円/楕円 6"/>
            <p:cNvSpPr/>
            <p:nvPr/>
          </p:nvSpPr>
          <p:spPr>
            <a:xfrm>
              <a:off x="1638300" y="5477510"/>
              <a:ext cx="101600" cy="101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円/楕円 8"/>
            <p:cNvSpPr/>
            <p:nvPr/>
          </p:nvSpPr>
          <p:spPr>
            <a:xfrm>
              <a:off x="2164080" y="4583430"/>
              <a:ext cx="101600" cy="101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円/楕円 9"/>
            <p:cNvSpPr/>
            <p:nvPr/>
          </p:nvSpPr>
          <p:spPr>
            <a:xfrm>
              <a:off x="4091940" y="4993640"/>
              <a:ext cx="101600" cy="101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円/楕円 10"/>
            <p:cNvSpPr/>
            <p:nvPr/>
          </p:nvSpPr>
          <p:spPr>
            <a:xfrm>
              <a:off x="3467100" y="4602480"/>
              <a:ext cx="101600" cy="101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円/楕円 11"/>
            <p:cNvSpPr/>
            <p:nvPr/>
          </p:nvSpPr>
          <p:spPr>
            <a:xfrm>
              <a:off x="2862580" y="4897120"/>
              <a:ext cx="101600" cy="101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4" name="直線コネクタ 13"/>
            <p:cNvCxnSpPr/>
            <p:nvPr/>
          </p:nvCxnSpPr>
          <p:spPr>
            <a:xfrm flipH="1">
              <a:off x="1000760" y="4485640"/>
              <a:ext cx="3360420" cy="1271270"/>
            </a:xfrm>
            <a:prstGeom prst="line">
              <a:avLst/>
            </a:prstGeom>
            <a:ln w="28575">
              <a:solidFill>
                <a:schemeClr val="accent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加算記号 14"/>
          <p:cNvSpPr/>
          <p:nvPr/>
        </p:nvSpPr>
        <p:spPr>
          <a:xfrm>
            <a:off x="1928283" y="4272885"/>
            <a:ext cx="621030" cy="621030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8" name="グループ化 27"/>
          <p:cNvGrpSpPr/>
          <p:nvPr/>
        </p:nvGrpSpPr>
        <p:grpSpPr>
          <a:xfrm>
            <a:off x="6010284" y="3864567"/>
            <a:ext cx="2579468" cy="1526260"/>
            <a:chOff x="812800" y="4152900"/>
            <a:chExt cx="3670300" cy="2171700"/>
          </a:xfrm>
        </p:grpSpPr>
        <p:sp>
          <p:nvSpPr>
            <p:cNvPr id="30" name="正方形/長方形 29"/>
            <p:cNvSpPr/>
            <p:nvPr/>
          </p:nvSpPr>
          <p:spPr>
            <a:xfrm>
              <a:off x="812800" y="4152900"/>
              <a:ext cx="3670300" cy="21717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円/楕円 30"/>
            <p:cNvSpPr/>
            <p:nvPr/>
          </p:nvSpPr>
          <p:spPr>
            <a:xfrm>
              <a:off x="1000760" y="5859780"/>
              <a:ext cx="101600" cy="101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円/楕円 31"/>
            <p:cNvSpPr/>
            <p:nvPr/>
          </p:nvSpPr>
          <p:spPr>
            <a:xfrm>
              <a:off x="1638300" y="5477510"/>
              <a:ext cx="101600" cy="101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円/楕円 32"/>
            <p:cNvSpPr/>
            <p:nvPr/>
          </p:nvSpPr>
          <p:spPr>
            <a:xfrm>
              <a:off x="2164080" y="4583430"/>
              <a:ext cx="101600" cy="101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円/楕円 33"/>
            <p:cNvSpPr/>
            <p:nvPr/>
          </p:nvSpPr>
          <p:spPr>
            <a:xfrm>
              <a:off x="4091940" y="4993640"/>
              <a:ext cx="101600" cy="101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円/楕円 34"/>
            <p:cNvSpPr/>
            <p:nvPr/>
          </p:nvSpPr>
          <p:spPr>
            <a:xfrm>
              <a:off x="3467100" y="4602480"/>
              <a:ext cx="101600" cy="101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円/楕円 35"/>
            <p:cNvSpPr/>
            <p:nvPr/>
          </p:nvSpPr>
          <p:spPr>
            <a:xfrm>
              <a:off x="2862580" y="4897120"/>
              <a:ext cx="101600" cy="101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8" name="フリーフォーム 37"/>
          <p:cNvSpPr/>
          <p:nvPr/>
        </p:nvSpPr>
        <p:spPr>
          <a:xfrm>
            <a:off x="6180406" y="4237065"/>
            <a:ext cx="2202180" cy="800100"/>
          </a:xfrm>
          <a:custGeom>
            <a:avLst/>
            <a:gdLst>
              <a:gd name="connsiteX0" fmla="*/ 0 w 2202180"/>
              <a:gd name="connsiteY0" fmla="*/ 800100 h 800100"/>
              <a:gd name="connsiteX1" fmla="*/ 411480 w 2202180"/>
              <a:gd name="connsiteY1" fmla="*/ 563880 h 800100"/>
              <a:gd name="connsiteX2" fmla="*/ 830580 w 2202180"/>
              <a:gd name="connsiteY2" fmla="*/ 60960 h 800100"/>
              <a:gd name="connsiteX3" fmla="*/ 1310640 w 2202180"/>
              <a:gd name="connsiteY3" fmla="*/ 106680 h 800100"/>
              <a:gd name="connsiteX4" fmla="*/ 1752600 w 2202180"/>
              <a:gd name="connsiteY4" fmla="*/ 0 h 800100"/>
              <a:gd name="connsiteX5" fmla="*/ 2202180 w 2202180"/>
              <a:gd name="connsiteY5" fmla="*/ 18288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02180" h="800100">
                <a:moveTo>
                  <a:pt x="0" y="800100"/>
                </a:moveTo>
                <a:lnTo>
                  <a:pt x="411480" y="563880"/>
                </a:lnTo>
                <a:lnTo>
                  <a:pt x="830580" y="60960"/>
                </a:lnTo>
                <a:lnTo>
                  <a:pt x="1310640" y="106680"/>
                </a:lnTo>
                <a:lnTo>
                  <a:pt x="1752600" y="0"/>
                </a:lnTo>
                <a:lnTo>
                  <a:pt x="2202180" y="182880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3" name="グループ化 42"/>
          <p:cNvGrpSpPr/>
          <p:nvPr/>
        </p:nvGrpSpPr>
        <p:grpSpPr>
          <a:xfrm>
            <a:off x="926434" y="5046847"/>
            <a:ext cx="2579468" cy="1526260"/>
            <a:chOff x="926434" y="5046847"/>
            <a:chExt cx="2579468" cy="1526260"/>
          </a:xfrm>
        </p:grpSpPr>
        <p:grpSp>
          <p:nvGrpSpPr>
            <p:cNvPr id="17" name="グループ化 16"/>
            <p:cNvGrpSpPr/>
            <p:nvPr/>
          </p:nvGrpSpPr>
          <p:grpSpPr>
            <a:xfrm>
              <a:off x="926434" y="5046847"/>
              <a:ext cx="2579468" cy="1526260"/>
              <a:chOff x="812800" y="4152900"/>
              <a:chExt cx="3670300" cy="2171700"/>
            </a:xfrm>
          </p:grpSpPr>
          <p:sp>
            <p:nvSpPr>
              <p:cNvPr id="18" name="正方形/長方形 17"/>
              <p:cNvSpPr/>
              <p:nvPr/>
            </p:nvSpPr>
            <p:spPr>
              <a:xfrm>
                <a:off x="812800" y="4152900"/>
                <a:ext cx="3670300" cy="21717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9" name="円/楕円 18"/>
              <p:cNvSpPr/>
              <p:nvPr/>
            </p:nvSpPr>
            <p:spPr>
              <a:xfrm>
                <a:off x="1000760" y="5304106"/>
                <a:ext cx="101600" cy="1016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0" name="円/楕円 19"/>
              <p:cNvSpPr/>
              <p:nvPr/>
            </p:nvSpPr>
            <p:spPr>
              <a:xfrm>
                <a:off x="1638300" y="5206449"/>
                <a:ext cx="101600" cy="1016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1" name="円/楕円 20"/>
              <p:cNvSpPr/>
              <p:nvPr/>
            </p:nvSpPr>
            <p:spPr>
              <a:xfrm>
                <a:off x="2164081" y="4447899"/>
                <a:ext cx="101600" cy="1016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2" name="円/楕円 21"/>
              <p:cNvSpPr/>
              <p:nvPr/>
            </p:nvSpPr>
            <p:spPr>
              <a:xfrm>
                <a:off x="4091940" y="5562867"/>
                <a:ext cx="101600" cy="1016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3" name="円/楕円 22"/>
              <p:cNvSpPr/>
              <p:nvPr/>
            </p:nvSpPr>
            <p:spPr>
              <a:xfrm>
                <a:off x="3467099" y="4995518"/>
                <a:ext cx="101600" cy="1016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4" name="円/楕円 23"/>
              <p:cNvSpPr/>
              <p:nvPr/>
            </p:nvSpPr>
            <p:spPr>
              <a:xfrm>
                <a:off x="2862580" y="5100415"/>
                <a:ext cx="101600" cy="1016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27" name="直線コネクタ 26"/>
            <p:cNvCxnSpPr>
              <a:stCxn id="18" idx="1"/>
              <a:endCxn id="18" idx="3"/>
            </p:cNvCxnSpPr>
            <p:nvPr/>
          </p:nvCxnSpPr>
          <p:spPr>
            <a:xfrm>
              <a:off x="926434" y="5809977"/>
              <a:ext cx="2579468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フリーフォーム 28"/>
            <p:cNvSpPr/>
            <p:nvPr/>
          </p:nvSpPr>
          <p:spPr>
            <a:xfrm>
              <a:off x="1066800" y="5362575"/>
              <a:ext cx="2238375" cy="666750"/>
            </a:xfrm>
            <a:custGeom>
              <a:avLst/>
              <a:gdLst>
                <a:gd name="connsiteX0" fmla="*/ 0 w 2238375"/>
                <a:gd name="connsiteY0" fmla="*/ 447675 h 666750"/>
                <a:gd name="connsiteX1" fmla="*/ 495300 w 2238375"/>
                <a:gd name="connsiteY1" fmla="*/ 400050 h 666750"/>
                <a:gd name="connsiteX2" fmla="*/ 819150 w 2238375"/>
                <a:gd name="connsiteY2" fmla="*/ 0 h 666750"/>
                <a:gd name="connsiteX3" fmla="*/ 2238375 w 2238375"/>
                <a:gd name="connsiteY3" fmla="*/ 666750 h 666750"/>
                <a:gd name="connsiteX4" fmla="*/ 2238375 w 2238375"/>
                <a:gd name="connsiteY4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8375" h="666750">
                  <a:moveTo>
                    <a:pt x="0" y="447675"/>
                  </a:moveTo>
                  <a:lnTo>
                    <a:pt x="495300" y="400050"/>
                  </a:lnTo>
                  <a:lnTo>
                    <a:pt x="819150" y="0"/>
                  </a:lnTo>
                  <a:lnTo>
                    <a:pt x="2238375" y="666750"/>
                  </a:lnTo>
                  <a:lnTo>
                    <a:pt x="2238375" y="666750"/>
                  </a:lnTo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7" name="テキスト ボックス 36"/>
          <p:cNvSpPr txBox="1"/>
          <p:nvPr/>
        </p:nvSpPr>
        <p:spPr>
          <a:xfrm>
            <a:off x="100354" y="4419881"/>
            <a:ext cx="1633861" cy="52322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勾配情報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926776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3800" dirty="0"/>
              <a:t>Gradient-based One-Side Sampling</a:t>
            </a:r>
            <a:endParaRPr kumimoji="1" lang="ja-JP" altLang="en-US" sz="3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 dirty="0" smtClean="0"/>
                  <a:t>弱識別</a:t>
                </a:r>
                <a:r>
                  <a:rPr lang="ja-JP" altLang="en-US" dirty="0"/>
                  <a:t>器</a:t>
                </a:r>
                <a:r>
                  <a:rPr lang="ja-JP" altLang="en-US" dirty="0" smtClean="0"/>
                  <a:t>を追加する際，勾配が大きいデータに</a:t>
                </a:r>
                <a:r>
                  <a:rPr lang="en-US" altLang="ja-JP" dirty="0" smtClean="0"/>
                  <a:t/>
                </a:r>
                <a:br>
                  <a:rPr lang="en-US" altLang="ja-JP" dirty="0" smtClean="0"/>
                </a:br>
                <a:r>
                  <a:rPr lang="ja-JP" altLang="en-US" dirty="0" smtClean="0"/>
                  <a:t>対して適応することが重要である．</a:t>
                </a:r>
                <a:endParaRPr lang="en-US" altLang="ja-JP" dirty="0" smtClean="0"/>
              </a:p>
              <a:p>
                <a:r>
                  <a:rPr kumimoji="1" lang="ja-JP" altLang="en-US" dirty="0" smtClean="0"/>
                  <a:t>勾配の上位</a:t>
                </a:r>
                <a:r>
                  <a:rPr kumimoji="1" lang="en-US" altLang="ja-JP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dirty="0" smtClean="0"/>
                  <a:t>%</a:t>
                </a:r>
                <a:r>
                  <a:rPr kumimoji="1" lang="ja-JP" altLang="en-US" dirty="0" smtClean="0"/>
                  <a:t>のデータはすべて使用し，残りのデータから</a:t>
                </a:r>
                <a:r>
                  <a:rPr kumimoji="1" lang="en-US" altLang="ja-JP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kumimoji="1" lang="en-US" altLang="ja-JP" dirty="0" smtClean="0"/>
                  <a:t>%</a:t>
                </a:r>
                <a:r>
                  <a:rPr kumimoji="1" lang="ja-JP" altLang="en-US" dirty="0" smtClean="0"/>
                  <a:t>をランダムサンプリングする．</a:t>
                </a:r>
                <a:endParaRPr kumimoji="1" lang="en-US" altLang="ja-JP" dirty="0" smtClean="0"/>
              </a:p>
              <a:p>
                <a:r>
                  <a:rPr lang="ja-JP" altLang="en-US" dirty="0" smtClean="0"/>
                  <a:t>近似情報ゲイン</a:t>
                </a:r>
                <a:r>
                  <a:rPr lang="en-US" altLang="ja-JP" dirty="0" smtClean="0"/>
                  <a:t>(</a:t>
                </a:r>
                <a:r>
                  <a:rPr lang="ja-JP" altLang="en-US" dirty="0" smtClean="0"/>
                  <a:t>分散ゲイン</a:t>
                </a:r>
                <a:r>
                  <a:rPr lang="en-US" altLang="ja-JP" dirty="0" smtClean="0"/>
                  <a:t>)</a:t>
                </a:r>
                <a:r>
                  <a:rPr lang="ja-JP" altLang="en-US" dirty="0" smtClean="0"/>
                  <a:t>を以下のように定義</a:t>
                </a:r>
                <a:endParaRPr lang="en-US" altLang="ja-JP" dirty="0" smtClean="0"/>
              </a:p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𝑉𝑗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𝑥𝑖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𝐴𝑙</m:t>
                                </m:r>
                              </m:sub>
                              <m:sup/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𝑔𝑖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𝑥𝑖</m:t>
                                    </m:r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𝐵𝑙</m:t>
                                    </m:r>
                                  </m:sub>
                                  <m:sup/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𝑔𝑖</m:t>
                                    </m:r>
                                  </m:e>
                                </m:nary>
                              </m:e>
                            </m:nary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𝑛𝑗𝑖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𝑥𝑖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𝐴𝑟</m:t>
                                </m:r>
                              </m:sub>
                              <m:sup/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𝑔𝑖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ja-JP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𝐵𝑟</m:t>
                                    </m:r>
                                  </m:sub>
                                  <m:sup/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𝑔𝑖</m:t>
                                    </m:r>
                                  </m:e>
                                </m:nary>
                              </m:e>
                            </m:nary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𝑛𝑗𝑖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</m:den>
                    </m:f>
                  </m:oMath>
                </a14:m>
                <a:r>
                  <a:rPr kumimoji="1" lang="en-US" altLang="ja-JP" dirty="0" smtClean="0"/>
                  <a:t>)</a:t>
                </a:r>
                <a:endParaRPr kumimoji="1" lang="ja-JP" altLang="en-US" dirty="0"/>
              </a:p>
            </p:txBody>
          </p:sp>
        </mc:Choice>
        <mc:Fallback>
          <p:sp>
            <p:nvSpPr>
              <p:cNvPr id="3" name="コンテンツ プレースホルダー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25" t="-1882" r="-17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35747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240EDE69-6004-490A-8851-241177012245}" vid="{3655978B-9A6C-48D2-A3CA-A8F52A96FD4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120</TotalTime>
  <Words>177</Words>
  <Application>Microsoft Office PowerPoint</Application>
  <PresentationFormat>画面に合わせる (4:3)</PresentationFormat>
  <Paragraphs>39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3" baseType="lpstr">
      <vt:lpstr>ＭＳ P ゴシック</vt:lpstr>
      <vt:lpstr>ＭＳ Ｐゴシック</vt:lpstr>
      <vt:lpstr>Arial</vt:lpstr>
      <vt:lpstr>Cambria Math</vt:lpstr>
      <vt:lpstr>Times New Roman</vt:lpstr>
      <vt:lpstr>Theme_Lab</vt:lpstr>
      <vt:lpstr>PowerPoint プレゼンテーション</vt:lpstr>
      <vt:lpstr>概要</vt:lpstr>
      <vt:lpstr>決定木の計算コスト</vt:lpstr>
      <vt:lpstr>勾配ブースティング決定木</vt:lpstr>
      <vt:lpstr>勾配ブースティング決定木</vt:lpstr>
      <vt:lpstr>勾配ブースティング決定木</vt:lpstr>
      <vt:lpstr>Gradient-based One-Side Sampling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瓜田 俊貴</dc:creator>
  <cp:lastModifiedBy>瓜田 俊貴</cp:lastModifiedBy>
  <cp:revision>13</cp:revision>
  <dcterms:created xsi:type="dcterms:W3CDTF">2019-09-02T15:16:24Z</dcterms:created>
  <dcterms:modified xsi:type="dcterms:W3CDTF">2019-09-02T17:17:10Z</dcterms:modified>
</cp:coreProperties>
</file>