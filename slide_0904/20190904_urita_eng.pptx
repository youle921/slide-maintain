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6" r:id="rId1"/>
  </p:sldMasterIdLst>
  <p:notesMasterIdLst>
    <p:notesMasterId r:id="rId33"/>
  </p:notesMasterIdLst>
  <p:sldIdLst>
    <p:sldId id="258" r:id="rId2"/>
    <p:sldId id="259" r:id="rId3"/>
    <p:sldId id="261" r:id="rId4"/>
    <p:sldId id="263" r:id="rId5"/>
    <p:sldId id="287" r:id="rId6"/>
    <p:sldId id="266" r:id="rId7"/>
    <p:sldId id="265" r:id="rId8"/>
    <p:sldId id="269" r:id="rId9"/>
    <p:sldId id="270" r:id="rId10"/>
    <p:sldId id="271" r:id="rId11"/>
    <p:sldId id="272" r:id="rId12"/>
    <p:sldId id="274" r:id="rId13"/>
    <p:sldId id="276" r:id="rId14"/>
    <p:sldId id="275" r:id="rId15"/>
    <p:sldId id="277" r:id="rId16"/>
    <p:sldId id="278" r:id="rId17"/>
    <p:sldId id="280" r:id="rId18"/>
    <p:sldId id="281" r:id="rId19"/>
    <p:sldId id="282" r:id="rId20"/>
    <p:sldId id="283" r:id="rId21"/>
    <p:sldId id="284" r:id="rId22"/>
    <p:sldId id="285" r:id="rId23"/>
    <p:sldId id="286" r:id="rId24"/>
    <p:sldId id="288" r:id="rId25"/>
    <p:sldId id="289" r:id="rId26"/>
    <p:sldId id="290" r:id="rId27"/>
    <p:sldId id="291" r:id="rId28"/>
    <p:sldId id="292" r:id="rId29"/>
    <p:sldId id="294" r:id="rId30"/>
    <p:sldId id="293" r:id="rId31"/>
    <p:sldId id="295" r:id="rId32"/>
  </p:sldIdLst>
  <p:sldSz cx="9144000" cy="6858000" type="screen4x3"/>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735" autoAdjust="0"/>
    <p:restoredTop sz="94660"/>
  </p:normalViewPr>
  <p:slideViewPr>
    <p:cSldViewPr snapToGrid="0">
      <p:cViewPr>
        <p:scale>
          <a:sx n="75" d="100"/>
          <a:sy n="75" d="100"/>
        </p:scale>
        <p:origin x="1350" y="-2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C86A45-1864-4022-BFC2-712EA35300F2}" type="datetimeFigureOut">
              <a:rPr kumimoji="1" lang="ja-JP" altLang="en-US" smtClean="0"/>
              <a:t>2019/9/3</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B0EF386-0410-461B-B8A3-AC6CB450B89C}" type="slidenum">
              <a:rPr kumimoji="1" lang="ja-JP" altLang="en-US" smtClean="0"/>
              <a:t>‹#›</a:t>
            </a:fld>
            <a:endParaRPr kumimoji="1" lang="ja-JP" altLang="en-US"/>
          </a:p>
        </p:txBody>
      </p:sp>
    </p:spTree>
    <p:extLst>
      <p:ext uri="{BB962C8B-B14F-4D97-AF65-F5344CB8AC3E}">
        <p14:creationId xmlns:p14="http://schemas.microsoft.com/office/powerpoint/2010/main" val="258159325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9B0EF386-0410-461B-B8A3-AC6CB450B89C}" type="slidenum">
              <a:rPr kumimoji="1" lang="ja-JP" altLang="en-US" smtClean="0"/>
              <a:t>1</a:t>
            </a:fld>
            <a:endParaRPr kumimoji="1" lang="ja-JP" altLang="en-US"/>
          </a:p>
        </p:txBody>
      </p:sp>
    </p:spTree>
    <p:extLst>
      <p:ext uri="{BB962C8B-B14F-4D97-AF65-F5344CB8AC3E}">
        <p14:creationId xmlns:p14="http://schemas.microsoft.com/office/powerpoint/2010/main" val="12196483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4" name="Rectangle 7"/>
          <p:cNvSpPr>
            <a:spLocks noChangeArrowheads="1"/>
          </p:cNvSpPr>
          <p:nvPr/>
        </p:nvSpPr>
        <p:spPr bwMode="auto">
          <a:xfrm>
            <a:off x="0" y="0"/>
            <a:ext cx="9144000" cy="4114800"/>
          </a:xfrm>
          <a:prstGeom prst="rect">
            <a:avLst/>
          </a:prstGeom>
          <a:solidFill>
            <a:schemeClr val="accent2"/>
          </a:solidFill>
          <a:ln w="9525">
            <a:solidFill>
              <a:schemeClr val="accent2"/>
            </a:solidFill>
            <a:miter lim="800000"/>
            <a:headEnd/>
            <a:tailEnd/>
          </a:ln>
        </p:spPr>
        <p:txBody>
          <a:bodyPr wrap="none" anchor="ctr"/>
          <a:lstStyle>
            <a:lvl1pPr eaLnBrk="0" hangingPunct="0">
              <a:defRPr kumimoji="1">
                <a:solidFill>
                  <a:schemeClr val="tx1"/>
                </a:solidFill>
                <a:latin typeface="Arial" pitchFamily="34" charset="0"/>
                <a:ea typeface="ＭＳ Ｐゴシック" pitchFamily="50" charset="-128"/>
              </a:defRPr>
            </a:lvl1pPr>
            <a:lvl2pPr marL="742950" indent="-285750" eaLnBrk="0" hangingPunct="0">
              <a:defRPr kumimoji="1">
                <a:solidFill>
                  <a:schemeClr val="tx1"/>
                </a:solidFill>
                <a:latin typeface="Arial" pitchFamily="34" charset="0"/>
                <a:ea typeface="ＭＳ Ｐゴシック" pitchFamily="50" charset="-128"/>
              </a:defRPr>
            </a:lvl2pPr>
            <a:lvl3pPr marL="1143000" indent="-228600" eaLnBrk="0" hangingPunct="0">
              <a:defRPr kumimoji="1">
                <a:solidFill>
                  <a:schemeClr val="tx1"/>
                </a:solidFill>
                <a:latin typeface="Arial" pitchFamily="34" charset="0"/>
                <a:ea typeface="ＭＳ Ｐゴシック" pitchFamily="50" charset="-128"/>
              </a:defRPr>
            </a:lvl3pPr>
            <a:lvl4pPr marL="1600200" indent="-228600" eaLnBrk="0" hangingPunct="0">
              <a:defRPr kumimoji="1">
                <a:solidFill>
                  <a:schemeClr val="tx1"/>
                </a:solidFill>
                <a:latin typeface="Arial" pitchFamily="34" charset="0"/>
                <a:ea typeface="ＭＳ Ｐゴシック" pitchFamily="50" charset="-128"/>
              </a:defRPr>
            </a:lvl4pPr>
            <a:lvl5pPr marL="2057400" indent="-228600" eaLnBrk="0" hangingPunct="0">
              <a:defRPr kumimoji="1">
                <a:solidFill>
                  <a:schemeClr val="tx1"/>
                </a:solidFill>
                <a:latin typeface="Arial" pitchFamily="34" charset="0"/>
                <a:ea typeface="ＭＳ Ｐゴシック" pitchFamily="50" charset="-128"/>
              </a:defRPr>
            </a:lvl5pPr>
            <a:lvl6pPr marL="2514600" indent="-228600" eaLnBrk="0" fontAlgn="base" hangingPunct="0">
              <a:spcBef>
                <a:spcPct val="0"/>
              </a:spcBef>
              <a:spcAft>
                <a:spcPct val="0"/>
              </a:spcAft>
              <a:defRPr kumimoji="1">
                <a:solidFill>
                  <a:schemeClr val="tx1"/>
                </a:solidFill>
                <a:latin typeface="Arial" pitchFamily="34" charset="0"/>
                <a:ea typeface="ＭＳ Ｐゴシック" pitchFamily="50" charset="-128"/>
              </a:defRPr>
            </a:lvl6pPr>
            <a:lvl7pPr marL="2971800" indent="-228600" eaLnBrk="0" fontAlgn="base" hangingPunct="0">
              <a:spcBef>
                <a:spcPct val="0"/>
              </a:spcBef>
              <a:spcAft>
                <a:spcPct val="0"/>
              </a:spcAft>
              <a:defRPr kumimoji="1">
                <a:solidFill>
                  <a:schemeClr val="tx1"/>
                </a:solidFill>
                <a:latin typeface="Arial" pitchFamily="34" charset="0"/>
                <a:ea typeface="ＭＳ Ｐゴシック" pitchFamily="50" charset="-128"/>
              </a:defRPr>
            </a:lvl7pPr>
            <a:lvl8pPr marL="3429000" indent="-228600" eaLnBrk="0" fontAlgn="base" hangingPunct="0">
              <a:spcBef>
                <a:spcPct val="0"/>
              </a:spcBef>
              <a:spcAft>
                <a:spcPct val="0"/>
              </a:spcAft>
              <a:defRPr kumimoji="1">
                <a:solidFill>
                  <a:schemeClr val="tx1"/>
                </a:solidFill>
                <a:latin typeface="Arial" pitchFamily="34" charset="0"/>
                <a:ea typeface="ＭＳ Ｐゴシック" pitchFamily="50" charset="-128"/>
              </a:defRPr>
            </a:lvl8pPr>
            <a:lvl9pPr marL="3886200" indent="-228600" eaLnBrk="0" fontAlgn="base" hangingPunct="0">
              <a:spcBef>
                <a:spcPct val="0"/>
              </a:spcBef>
              <a:spcAft>
                <a:spcPct val="0"/>
              </a:spcAft>
              <a:defRPr kumimoji="1">
                <a:solidFill>
                  <a:schemeClr val="tx1"/>
                </a:solidFill>
                <a:latin typeface="Arial" pitchFamily="34" charset="0"/>
                <a:ea typeface="ＭＳ Ｐゴシック" pitchFamily="50" charset="-128"/>
              </a:defRPr>
            </a:lvl9pPr>
          </a:lstStyle>
          <a:p>
            <a:pPr eaLnBrk="1" hangingPunct="1">
              <a:defRPr/>
            </a:pPr>
            <a:endParaRPr lang="ja-JP" altLang="en-US" sz="1350" dirty="0"/>
          </a:p>
        </p:txBody>
      </p:sp>
      <p:sp>
        <p:nvSpPr>
          <p:cNvPr id="9218" name="Rectangle 2"/>
          <p:cNvSpPr>
            <a:spLocks noGrp="1" noChangeArrowheads="1"/>
          </p:cNvSpPr>
          <p:nvPr>
            <p:ph type="ctrTitle"/>
          </p:nvPr>
        </p:nvSpPr>
        <p:spPr>
          <a:xfrm>
            <a:off x="685800" y="2130431"/>
            <a:ext cx="7772400" cy="1470025"/>
          </a:xfrm>
        </p:spPr>
        <p:txBody>
          <a:bodyPr/>
          <a:lstStyle>
            <a:lvl1pPr algn="ctr">
              <a:defRPr sz="4400"/>
            </a:lvl1pPr>
          </a:lstStyle>
          <a:p>
            <a:r>
              <a:rPr lang="ja-JP" altLang="en-US" smtClean="0"/>
              <a:t>マスター タイトルの書式設定</a:t>
            </a:r>
            <a:endParaRPr lang="ja-JP" altLang="en-US" dirty="0"/>
          </a:p>
        </p:txBody>
      </p:sp>
      <p:sp>
        <p:nvSpPr>
          <p:cNvPr id="9219" name="Rectangle 3"/>
          <p:cNvSpPr>
            <a:spLocks noGrp="1" noChangeArrowheads="1"/>
          </p:cNvSpPr>
          <p:nvPr>
            <p:ph type="subTitle" idx="1"/>
          </p:nvPr>
        </p:nvSpPr>
        <p:spPr>
          <a:xfrm>
            <a:off x="1371600" y="4267200"/>
            <a:ext cx="6400800" cy="1371600"/>
          </a:xfrm>
        </p:spPr>
        <p:txBody>
          <a:bodyPr anchor="ctr"/>
          <a:lstStyle>
            <a:lvl1pPr marL="0" indent="0" algn="ctr">
              <a:buFontTx/>
              <a:buNone/>
              <a:defRPr sz="3200"/>
            </a:lvl1pPr>
          </a:lstStyle>
          <a:p>
            <a:r>
              <a:rPr lang="ja-JP" altLang="en-US" smtClean="0"/>
              <a:t>マスター サブタイトルの書式設定</a:t>
            </a:r>
            <a:endParaRPr lang="ja-JP" altLang="en-US" dirty="0"/>
          </a:p>
        </p:txBody>
      </p:sp>
    </p:spTree>
    <p:extLst>
      <p:ext uri="{BB962C8B-B14F-4D97-AF65-F5344CB8AC3E}">
        <p14:creationId xmlns:p14="http://schemas.microsoft.com/office/powerpoint/2010/main" val="89163190"/>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sp>
        <p:nvSpPr>
          <p:cNvPr id="3" name="テキスト ボックス 2"/>
          <p:cNvSpPr txBox="1"/>
          <p:nvPr/>
        </p:nvSpPr>
        <p:spPr>
          <a:xfrm>
            <a:off x="228600" y="1365254"/>
            <a:ext cx="1466850" cy="584775"/>
          </a:xfrm>
          <a:prstGeom prst="rect">
            <a:avLst/>
          </a:prstGeom>
          <a:noFill/>
          <a:ln w="28575">
            <a:solidFill>
              <a:schemeClr val="accent2"/>
            </a:solidFill>
          </a:ln>
        </p:spPr>
        <p:txBody>
          <a:bodyPr wrap="square" rtlCol="0">
            <a:spAutoFit/>
          </a:bodyPr>
          <a:lstStyle/>
          <a:p>
            <a:pPr algn="ctr"/>
            <a:r>
              <a:rPr kumimoji="1" lang="ja-JP" altLang="en-US" sz="3200" dirty="0" smtClean="0"/>
              <a:t>論文名</a:t>
            </a:r>
          </a:p>
        </p:txBody>
      </p:sp>
      <p:sp>
        <p:nvSpPr>
          <p:cNvPr id="4" name="テキスト ボックス 3"/>
          <p:cNvSpPr txBox="1"/>
          <p:nvPr/>
        </p:nvSpPr>
        <p:spPr>
          <a:xfrm>
            <a:off x="228600" y="3125440"/>
            <a:ext cx="1466850" cy="584775"/>
          </a:xfrm>
          <a:prstGeom prst="rect">
            <a:avLst/>
          </a:prstGeom>
          <a:noFill/>
          <a:ln w="28575">
            <a:solidFill>
              <a:schemeClr val="accent2"/>
            </a:solidFill>
          </a:ln>
        </p:spPr>
        <p:txBody>
          <a:bodyPr wrap="square" rtlCol="0">
            <a:spAutoFit/>
          </a:bodyPr>
          <a:lstStyle/>
          <a:p>
            <a:pPr algn="ctr"/>
            <a:r>
              <a:rPr kumimoji="1" lang="ja-JP" altLang="en-US" sz="3200" dirty="0" smtClean="0"/>
              <a:t>著者名</a:t>
            </a:r>
          </a:p>
        </p:txBody>
      </p:sp>
      <p:sp>
        <p:nvSpPr>
          <p:cNvPr id="5" name="テキスト ボックス 4"/>
          <p:cNvSpPr txBox="1"/>
          <p:nvPr/>
        </p:nvSpPr>
        <p:spPr>
          <a:xfrm>
            <a:off x="228600" y="4724400"/>
            <a:ext cx="1466850" cy="584775"/>
          </a:xfrm>
          <a:prstGeom prst="rect">
            <a:avLst/>
          </a:prstGeom>
          <a:noFill/>
          <a:ln w="28575">
            <a:solidFill>
              <a:schemeClr val="accent2"/>
            </a:solidFill>
          </a:ln>
        </p:spPr>
        <p:txBody>
          <a:bodyPr wrap="square" rtlCol="0">
            <a:spAutoFit/>
          </a:bodyPr>
          <a:lstStyle/>
          <a:p>
            <a:pPr algn="ctr"/>
            <a:r>
              <a:rPr lang="ja-JP" altLang="en-US" sz="3200" dirty="0"/>
              <a:t>出典</a:t>
            </a:r>
            <a:endParaRPr kumimoji="1" lang="ja-JP" altLang="en-US" sz="3200" dirty="0" smtClean="0"/>
          </a:p>
        </p:txBody>
      </p:sp>
      <p:sp>
        <p:nvSpPr>
          <p:cNvPr id="6" name="コンテンツ プレースホルダ 2"/>
          <p:cNvSpPr>
            <a:spLocks noGrp="1"/>
          </p:cNvSpPr>
          <p:nvPr>
            <p:ph idx="1" hasCustomPrompt="1"/>
          </p:nvPr>
        </p:nvSpPr>
        <p:spPr>
          <a:xfrm>
            <a:off x="1828800" y="1368795"/>
            <a:ext cx="7086600" cy="1551337"/>
          </a:xfrm>
        </p:spPr>
        <p:txBody>
          <a:bodyPr/>
          <a:lstStyle>
            <a:lvl1pPr marL="0" indent="0" algn="just">
              <a:buNone/>
              <a:defRPr sz="2800"/>
            </a:lvl1pPr>
            <a:lvl2pPr marL="342900" indent="0" algn="just">
              <a:buNone/>
              <a:defRPr sz="2400"/>
            </a:lvl2pPr>
            <a:lvl3pPr marL="685800" indent="0" algn="just">
              <a:buNone/>
              <a:defRPr/>
            </a:lvl3pPr>
            <a:lvl4pPr marL="1028700" indent="0" algn="l">
              <a:buNone/>
              <a:defRPr/>
            </a:lvl4pPr>
            <a:lvl5pPr marL="1371600" indent="0" algn="l">
              <a:buNone/>
              <a:defRPr/>
            </a:lvl5pPr>
          </a:lstStyle>
          <a:p>
            <a:pPr lvl="0"/>
            <a:r>
              <a:rPr lang="ja-JP" altLang="en-US" dirty="0" smtClean="0"/>
              <a:t>論文名</a:t>
            </a:r>
          </a:p>
        </p:txBody>
      </p:sp>
      <p:sp>
        <p:nvSpPr>
          <p:cNvPr id="7" name="コンテンツ プレースホルダ 2"/>
          <p:cNvSpPr>
            <a:spLocks noGrp="1"/>
          </p:cNvSpPr>
          <p:nvPr>
            <p:ph idx="10" hasCustomPrompt="1"/>
          </p:nvPr>
        </p:nvSpPr>
        <p:spPr>
          <a:xfrm>
            <a:off x="1828800" y="3125441"/>
            <a:ext cx="7086600" cy="1391142"/>
          </a:xfrm>
        </p:spPr>
        <p:txBody>
          <a:bodyPr/>
          <a:lstStyle>
            <a:lvl1pPr marL="0" indent="0" algn="just">
              <a:buNone/>
              <a:defRPr sz="2800"/>
            </a:lvl1pPr>
            <a:lvl2pPr marL="342900" indent="0" algn="just">
              <a:buNone/>
              <a:defRPr sz="2400"/>
            </a:lvl2pPr>
            <a:lvl3pPr marL="685800" indent="0" algn="just">
              <a:buNone/>
              <a:defRPr/>
            </a:lvl3pPr>
            <a:lvl4pPr marL="1028700" indent="0" algn="l">
              <a:buNone/>
              <a:defRPr/>
            </a:lvl4pPr>
            <a:lvl5pPr marL="1371600" indent="0" algn="l">
              <a:buNone/>
              <a:defRPr/>
            </a:lvl5pPr>
          </a:lstStyle>
          <a:p>
            <a:pPr lvl="0"/>
            <a:r>
              <a:rPr lang="ja-JP" altLang="en-US" dirty="0" smtClean="0"/>
              <a:t>著者名</a:t>
            </a:r>
          </a:p>
        </p:txBody>
      </p:sp>
      <p:sp>
        <p:nvSpPr>
          <p:cNvPr id="8" name="コンテンツ プレースホルダ 2"/>
          <p:cNvSpPr>
            <a:spLocks noGrp="1"/>
          </p:cNvSpPr>
          <p:nvPr>
            <p:ph idx="11" hasCustomPrompt="1"/>
          </p:nvPr>
        </p:nvSpPr>
        <p:spPr>
          <a:xfrm>
            <a:off x="1828800" y="4724400"/>
            <a:ext cx="7086600" cy="1551337"/>
          </a:xfrm>
        </p:spPr>
        <p:txBody>
          <a:bodyPr/>
          <a:lstStyle>
            <a:lvl1pPr marL="0" indent="0" algn="just">
              <a:buNone/>
              <a:defRPr sz="2800"/>
            </a:lvl1pPr>
            <a:lvl2pPr marL="342900" indent="0" algn="just">
              <a:buNone/>
              <a:defRPr sz="2400"/>
            </a:lvl2pPr>
            <a:lvl3pPr marL="685800" indent="0" algn="just">
              <a:buNone/>
              <a:defRPr/>
            </a:lvl3pPr>
            <a:lvl4pPr marL="1028700" indent="0" algn="l">
              <a:buNone/>
              <a:defRPr/>
            </a:lvl4pPr>
            <a:lvl5pPr marL="1371600" indent="0" algn="l">
              <a:buNone/>
              <a:defRPr/>
            </a:lvl5pPr>
          </a:lstStyle>
          <a:p>
            <a:pPr lvl="0"/>
            <a:r>
              <a:rPr lang="ja-JP" altLang="en-US" dirty="0" smtClean="0"/>
              <a:t>出典</a:t>
            </a:r>
          </a:p>
        </p:txBody>
      </p:sp>
      <p:sp>
        <p:nvSpPr>
          <p:cNvPr id="9" name="テキスト ボックス 8"/>
          <p:cNvSpPr txBox="1"/>
          <p:nvPr userDrawn="1"/>
        </p:nvSpPr>
        <p:spPr>
          <a:xfrm>
            <a:off x="78798" y="191542"/>
            <a:ext cx="3491346" cy="769441"/>
          </a:xfrm>
          <a:prstGeom prst="rect">
            <a:avLst/>
          </a:prstGeom>
          <a:noFill/>
        </p:spPr>
        <p:txBody>
          <a:bodyPr wrap="square" rtlCol="0">
            <a:spAutoFit/>
          </a:bodyPr>
          <a:lstStyle/>
          <a:p>
            <a:pPr algn="l"/>
            <a:r>
              <a:rPr kumimoji="1" lang="ja-JP" altLang="en-US" sz="4400" b="1" dirty="0" smtClean="0">
                <a:solidFill>
                  <a:schemeClr val="bg1"/>
                </a:solidFill>
              </a:rPr>
              <a:t>論文情報</a:t>
            </a:r>
          </a:p>
        </p:txBody>
      </p:sp>
      <p:sp>
        <p:nvSpPr>
          <p:cNvPr id="10" name="Rectangle 6"/>
          <p:cNvSpPr>
            <a:spLocks noGrp="1" noChangeArrowheads="1"/>
          </p:cNvSpPr>
          <p:nvPr>
            <p:ph type="sldNum" sz="quarter" idx="12"/>
          </p:nvPr>
        </p:nvSpPr>
        <p:spPr bwMode="auto">
          <a:xfrm>
            <a:off x="6781800" y="333375"/>
            <a:ext cx="2133600" cy="476250"/>
          </a:xfrm>
          <a:prstGeom prst="rect">
            <a:avLst/>
          </a:prstGeom>
          <a:ln>
            <a:miter lim="800000"/>
            <a:headEnd/>
            <a:tailEnd/>
          </a:ln>
        </p:spPr>
        <p:txBody>
          <a:bodyPr vert="horz" wrap="square" lIns="91440" tIns="45720" rIns="91440" bIns="45720" numCol="1" anchor="t" anchorCtr="0" compatLnSpc="1">
            <a:prstTxWarp prst="textNoShape">
              <a:avLst/>
            </a:prstTxWarp>
          </a:bodyPr>
          <a:lstStyle>
            <a:lvl1pPr algn="r">
              <a:defRPr kumimoji="0" sz="2800" b="1">
                <a:solidFill>
                  <a:srgbClr val="FFFF00"/>
                </a:solidFill>
              </a:defRPr>
            </a:lvl1pPr>
          </a:lstStyle>
          <a:p>
            <a:fld id="{B5C67937-D10B-4F1B-BCB2-26B69D4AE1E2}" type="slidenum">
              <a:rPr kumimoji="1" lang="ja-JP" altLang="en-US" smtClean="0"/>
              <a:pPr/>
              <a:t>‹#›</a:t>
            </a:fld>
            <a:endParaRPr kumimoji="1" lang="ja-JP" altLang="en-US" dirty="0"/>
          </a:p>
        </p:txBody>
      </p:sp>
    </p:spTree>
    <p:extLst>
      <p:ext uri="{BB962C8B-B14F-4D97-AF65-F5344CB8AC3E}">
        <p14:creationId xmlns:p14="http://schemas.microsoft.com/office/powerpoint/2010/main" val="39418127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lgn="l">
              <a:defRPr sz="4400"/>
            </a:lvl1pPr>
          </a:lstStyle>
          <a:p>
            <a:r>
              <a:rPr lang="ja-JP" altLang="en-US" smtClean="0"/>
              <a:t>マスター タイトルの書式設定</a:t>
            </a:r>
            <a:endParaRPr lang="ja-JP" altLang="en-US" dirty="0"/>
          </a:p>
        </p:txBody>
      </p:sp>
      <p:sp>
        <p:nvSpPr>
          <p:cNvPr id="3" name="コンテンツ プレースホルダ 2"/>
          <p:cNvSpPr>
            <a:spLocks noGrp="1"/>
          </p:cNvSpPr>
          <p:nvPr>
            <p:ph idx="1"/>
          </p:nvPr>
        </p:nvSpPr>
        <p:spPr/>
        <p:txBody>
          <a:bodyPr/>
          <a:lstStyle>
            <a:lvl1pPr marL="0" indent="0" algn="just">
              <a:buNone/>
              <a:defRPr sz="3200"/>
            </a:lvl1pPr>
            <a:lvl2pPr marL="342900" indent="0" algn="just">
              <a:buNone/>
              <a:defRPr sz="2400"/>
            </a:lvl2pPr>
            <a:lvl3pPr marL="685800" indent="0" algn="just">
              <a:buNone/>
              <a:defRPr/>
            </a:lvl3pPr>
            <a:lvl4pPr marL="1028700" indent="0" algn="l">
              <a:buNone/>
              <a:defRPr/>
            </a:lvl4pPr>
            <a:lvl5pPr marL="1371600" indent="0" algn="l">
              <a:buNone/>
              <a:defRPr/>
            </a:lvl5pPr>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p:txBody>
      </p:sp>
      <p:sp>
        <p:nvSpPr>
          <p:cNvPr id="4" name="Rectangle 6"/>
          <p:cNvSpPr>
            <a:spLocks noGrp="1" noChangeArrowheads="1"/>
          </p:cNvSpPr>
          <p:nvPr>
            <p:ph type="sldNum" sz="quarter" idx="12"/>
          </p:nvPr>
        </p:nvSpPr>
        <p:spPr bwMode="auto">
          <a:xfrm>
            <a:off x="6781800" y="333375"/>
            <a:ext cx="2133600" cy="476250"/>
          </a:xfrm>
          <a:prstGeom prst="rect">
            <a:avLst/>
          </a:prstGeom>
          <a:ln>
            <a:miter lim="800000"/>
            <a:headEnd/>
            <a:tailEnd/>
          </a:ln>
        </p:spPr>
        <p:txBody>
          <a:bodyPr vert="horz" wrap="square" lIns="91440" tIns="45720" rIns="91440" bIns="45720" numCol="1" anchor="t" anchorCtr="0" compatLnSpc="1">
            <a:prstTxWarp prst="textNoShape">
              <a:avLst/>
            </a:prstTxWarp>
          </a:bodyPr>
          <a:lstStyle>
            <a:lvl1pPr algn="r">
              <a:defRPr kumimoji="0" sz="2800" b="1">
                <a:solidFill>
                  <a:srgbClr val="FFFF00"/>
                </a:solidFill>
              </a:defRPr>
            </a:lvl1pPr>
          </a:lstStyle>
          <a:p>
            <a:fld id="{B5C67937-D10B-4F1B-BCB2-26B69D4AE1E2}" type="slidenum">
              <a:rPr kumimoji="1" lang="ja-JP" altLang="en-US" smtClean="0"/>
              <a:pPr/>
              <a:t>‹#›</a:t>
            </a:fld>
            <a:endParaRPr kumimoji="1" lang="ja-JP" altLang="en-US" dirty="0"/>
          </a:p>
        </p:txBody>
      </p:sp>
    </p:spTree>
    <p:extLst>
      <p:ext uri="{BB962C8B-B14F-4D97-AF65-F5344CB8AC3E}">
        <p14:creationId xmlns:p14="http://schemas.microsoft.com/office/powerpoint/2010/main" val="1176694181"/>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タイトル+サブタイトル">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76200" y="0"/>
            <a:ext cx="9067800" cy="609600"/>
          </a:xfrm>
        </p:spPr>
        <p:txBody>
          <a:bodyPr/>
          <a:lstStyle>
            <a:lvl1pPr algn="l">
              <a:defRPr sz="4400"/>
            </a:lvl1pPr>
          </a:lstStyle>
          <a:p>
            <a:r>
              <a:rPr lang="ja-JP" altLang="en-US" dirty="0" smtClean="0"/>
              <a:t>メインタイトル</a:t>
            </a:r>
            <a:endParaRPr lang="ja-JP" altLang="en-US" dirty="0"/>
          </a:p>
        </p:txBody>
      </p:sp>
      <p:sp>
        <p:nvSpPr>
          <p:cNvPr id="3" name="コンテンツ プレースホルダ 2"/>
          <p:cNvSpPr>
            <a:spLocks noGrp="1"/>
          </p:cNvSpPr>
          <p:nvPr>
            <p:ph idx="1"/>
          </p:nvPr>
        </p:nvSpPr>
        <p:spPr/>
        <p:txBody>
          <a:bodyPr/>
          <a:lstStyle>
            <a:lvl1pPr marL="0" indent="0" algn="just">
              <a:buNone/>
              <a:defRPr sz="3200"/>
            </a:lvl1pPr>
            <a:lvl2pPr marL="342900" indent="0" algn="just">
              <a:buNone/>
              <a:defRPr sz="2400"/>
            </a:lvl2pPr>
            <a:lvl3pPr marL="685800" indent="0" algn="just">
              <a:buNone/>
              <a:defRPr/>
            </a:lvl3pPr>
            <a:lvl4pPr marL="1028700" indent="0" algn="l">
              <a:buNone/>
              <a:defRPr/>
            </a:lvl4pPr>
            <a:lvl5pPr marL="1371600" indent="0" algn="l">
              <a:buNone/>
              <a:defRPr/>
            </a:lvl5pPr>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p:txBody>
      </p:sp>
      <p:sp>
        <p:nvSpPr>
          <p:cNvPr id="4" name="Rectangle 6"/>
          <p:cNvSpPr>
            <a:spLocks noGrp="1" noChangeArrowheads="1"/>
          </p:cNvSpPr>
          <p:nvPr>
            <p:ph type="sldNum" sz="quarter" idx="12"/>
          </p:nvPr>
        </p:nvSpPr>
        <p:spPr bwMode="auto">
          <a:xfrm>
            <a:off x="6781800" y="333375"/>
            <a:ext cx="2133600" cy="476250"/>
          </a:xfrm>
          <a:prstGeom prst="rect">
            <a:avLst/>
          </a:prstGeom>
          <a:ln>
            <a:miter lim="800000"/>
            <a:headEnd/>
            <a:tailEnd/>
          </a:ln>
        </p:spPr>
        <p:txBody>
          <a:bodyPr vert="horz" wrap="square" lIns="91440" tIns="45720" rIns="91440" bIns="45720" numCol="1" anchor="t" anchorCtr="0" compatLnSpc="1">
            <a:prstTxWarp prst="textNoShape">
              <a:avLst/>
            </a:prstTxWarp>
          </a:bodyPr>
          <a:lstStyle>
            <a:lvl1pPr algn="r">
              <a:defRPr kumimoji="0" sz="2800" b="1">
                <a:solidFill>
                  <a:srgbClr val="FFFF00"/>
                </a:solidFill>
              </a:defRPr>
            </a:lvl1pPr>
          </a:lstStyle>
          <a:p>
            <a:fld id="{B5C67937-D10B-4F1B-BCB2-26B69D4AE1E2}" type="slidenum">
              <a:rPr kumimoji="1" lang="ja-JP" altLang="en-US" smtClean="0"/>
              <a:pPr/>
              <a:t>‹#›</a:t>
            </a:fld>
            <a:endParaRPr kumimoji="1" lang="ja-JP" altLang="en-US" dirty="0"/>
          </a:p>
        </p:txBody>
      </p:sp>
      <p:sp>
        <p:nvSpPr>
          <p:cNvPr id="14" name="テキスト プレースホルダー 13"/>
          <p:cNvSpPr>
            <a:spLocks noGrp="1"/>
          </p:cNvSpPr>
          <p:nvPr>
            <p:ph type="body" sz="quarter" idx="13" hasCustomPrompt="1"/>
          </p:nvPr>
        </p:nvSpPr>
        <p:spPr>
          <a:xfrm>
            <a:off x="76200" y="570780"/>
            <a:ext cx="9067800" cy="573087"/>
          </a:xfrm>
        </p:spPr>
        <p:txBody>
          <a:bodyPr anchor="ctr"/>
          <a:lstStyle>
            <a:lvl1pPr marL="0" indent="0">
              <a:buNone/>
              <a:defRPr sz="3600" b="1" baseline="0">
                <a:solidFill>
                  <a:schemeClr val="accent4"/>
                </a:solidFill>
                <a:latin typeface="+mj-lt"/>
                <a:ea typeface="+mj-ea"/>
              </a:defRPr>
            </a:lvl1pPr>
          </a:lstStyle>
          <a:p>
            <a:pPr lvl="0"/>
            <a:r>
              <a:rPr kumimoji="1" lang="ja-JP" altLang="en-US" dirty="0" smtClean="0"/>
              <a:t>サブタイトル</a:t>
            </a:r>
          </a:p>
        </p:txBody>
      </p:sp>
    </p:spTree>
    <p:extLst>
      <p:ext uri="{BB962C8B-B14F-4D97-AF65-F5344CB8AC3E}">
        <p14:creationId xmlns:p14="http://schemas.microsoft.com/office/powerpoint/2010/main" val="1080426907"/>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タイトル+サブタイトルのみ">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76200" y="0"/>
            <a:ext cx="9067800" cy="609600"/>
          </a:xfrm>
        </p:spPr>
        <p:txBody>
          <a:bodyPr/>
          <a:lstStyle>
            <a:lvl1pPr algn="l">
              <a:defRPr sz="4400"/>
            </a:lvl1pPr>
          </a:lstStyle>
          <a:p>
            <a:r>
              <a:rPr lang="ja-JP" altLang="en-US" dirty="0" smtClean="0"/>
              <a:t>メインタイトル</a:t>
            </a:r>
            <a:endParaRPr lang="ja-JP" altLang="en-US" dirty="0"/>
          </a:p>
        </p:txBody>
      </p:sp>
      <p:sp>
        <p:nvSpPr>
          <p:cNvPr id="4" name="Rectangle 6"/>
          <p:cNvSpPr>
            <a:spLocks noGrp="1" noChangeArrowheads="1"/>
          </p:cNvSpPr>
          <p:nvPr>
            <p:ph type="sldNum" sz="quarter" idx="12"/>
          </p:nvPr>
        </p:nvSpPr>
        <p:spPr bwMode="auto">
          <a:xfrm>
            <a:off x="6781800" y="333375"/>
            <a:ext cx="2133600" cy="476250"/>
          </a:xfrm>
          <a:prstGeom prst="rect">
            <a:avLst/>
          </a:prstGeom>
          <a:ln>
            <a:miter lim="800000"/>
            <a:headEnd/>
            <a:tailEnd/>
          </a:ln>
        </p:spPr>
        <p:txBody>
          <a:bodyPr vert="horz" wrap="square" lIns="91440" tIns="45720" rIns="91440" bIns="45720" numCol="1" anchor="t" anchorCtr="0" compatLnSpc="1">
            <a:prstTxWarp prst="textNoShape">
              <a:avLst/>
            </a:prstTxWarp>
          </a:bodyPr>
          <a:lstStyle>
            <a:lvl1pPr algn="r">
              <a:defRPr kumimoji="0" sz="2800" b="1">
                <a:solidFill>
                  <a:srgbClr val="FFFF00"/>
                </a:solidFill>
              </a:defRPr>
            </a:lvl1pPr>
          </a:lstStyle>
          <a:p>
            <a:fld id="{B5C67937-D10B-4F1B-BCB2-26B69D4AE1E2}" type="slidenum">
              <a:rPr kumimoji="1" lang="ja-JP" altLang="en-US" smtClean="0"/>
              <a:pPr/>
              <a:t>‹#›</a:t>
            </a:fld>
            <a:endParaRPr kumimoji="1" lang="ja-JP" altLang="en-US" dirty="0"/>
          </a:p>
        </p:txBody>
      </p:sp>
      <p:sp>
        <p:nvSpPr>
          <p:cNvPr id="14" name="テキスト プレースホルダー 13"/>
          <p:cNvSpPr>
            <a:spLocks noGrp="1"/>
          </p:cNvSpPr>
          <p:nvPr>
            <p:ph type="body" sz="quarter" idx="13" hasCustomPrompt="1"/>
          </p:nvPr>
        </p:nvSpPr>
        <p:spPr>
          <a:xfrm>
            <a:off x="76200" y="570780"/>
            <a:ext cx="9067800" cy="573087"/>
          </a:xfrm>
        </p:spPr>
        <p:txBody>
          <a:bodyPr anchor="ctr"/>
          <a:lstStyle>
            <a:lvl1pPr marL="0" indent="0">
              <a:buNone/>
              <a:defRPr sz="3600" b="1" baseline="0">
                <a:solidFill>
                  <a:schemeClr val="accent4"/>
                </a:solidFill>
                <a:latin typeface="+mj-lt"/>
                <a:ea typeface="+mj-ea"/>
              </a:defRPr>
            </a:lvl1pPr>
          </a:lstStyle>
          <a:p>
            <a:pPr lvl="0"/>
            <a:r>
              <a:rPr kumimoji="1" lang="ja-JP" altLang="en-US" dirty="0" smtClean="0"/>
              <a:t>サブタイトル</a:t>
            </a:r>
          </a:p>
        </p:txBody>
      </p:sp>
    </p:spTree>
    <p:extLst>
      <p:ext uri="{BB962C8B-B14F-4D97-AF65-F5344CB8AC3E}">
        <p14:creationId xmlns:p14="http://schemas.microsoft.com/office/powerpoint/2010/main" val="550715513"/>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lgn="l">
              <a:defRPr sz="4400"/>
            </a:lvl1pPr>
          </a:lstStyle>
          <a:p>
            <a:r>
              <a:rPr lang="ja-JP" altLang="en-US" smtClean="0"/>
              <a:t>マスター タイトルの書式設定</a:t>
            </a:r>
            <a:endParaRPr lang="ja-JP" altLang="en-US" dirty="0"/>
          </a:p>
        </p:txBody>
      </p:sp>
      <p:sp>
        <p:nvSpPr>
          <p:cNvPr id="4" name="Rectangle 6"/>
          <p:cNvSpPr>
            <a:spLocks noGrp="1" noChangeArrowheads="1"/>
          </p:cNvSpPr>
          <p:nvPr>
            <p:ph type="sldNum" sz="quarter" idx="12"/>
          </p:nvPr>
        </p:nvSpPr>
        <p:spPr bwMode="auto">
          <a:xfrm>
            <a:off x="6781800" y="333375"/>
            <a:ext cx="2133600" cy="476250"/>
          </a:xfrm>
          <a:prstGeom prst="rect">
            <a:avLst/>
          </a:prstGeom>
          <a:ln>
            <a:miter lim="800000"/>
            <a:headEnd/>
            <a:tailEnd/>
          </a:ln>
        </p:spPr>
        <p:txBody>
          <a:bodyPr vert="horz" wrap="square" lIns="91440" tIns="45720" rIns="91440" bIns="45720" numCol="1" anchor="t" anchorCtr="0" compatLnSpc="1">
            <a:prstTxWarp prst="textNoShape">
              <a:avLst/>
            </a:prstTxWarp>
          </a:bodyPr>
          <a:lstStyle>
            <a:lvl1pPr algn="r">
              <a:defRPr kumimoji="0" sz="2800" b="1">
                <a:solidFill>
                  <a:srgbClr val="FFFF00"/>
                </a:solidFill>
              </a:defRPr>
            </a:lvl1pPr>
          </a:lstStyle>
          <a:p>
            <a:fld id="{B5C67937-D10B-4F1B-BCB2-26B69D4AE1E2}" type="slidenum">
              <a:rPr kumimoji="1" lang="ja-JP" altLang="en-US" smtClean="0"/>
              <a:pPr/>
              <a:t>‹#›</a:t>
            </a:fld>
            <a:endParaRPr kumimoji="1" lang="ja-JP" altLang="en-US" dirty="0"/>
          </a:p>
        </p:txBody>
      </p:sp>
    </p:spTree>
    <p:extLst>
      <p:ext uri="{BB962C8B-B14F-4D97-AF65-F5344CB8AC3E}">
        <p14:creationId xmlns:p14="http://schemas.microsoft.com/office/powerpoint/2010/main" val="4250252942"/>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作図用">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58773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終了">
    <p:spTree>
      <p:nvGrpSpPr>
        <p:cNvPr id="1" name=""/>
        <p:cNvGrpSpPr/>
        <p:nvPr/>
      </p:nvGrpSpPr>
      <p:grpSpPr>
        <a:xfrm>
          <a:off x="0" y="0"/>
          <a:ext cx="0" cy="0"/>
          <a:chOff x="0" y="0"/>
          <a:chExt cx="0" cy="0"/>
        </a:xfrm>
      </p:grpSpPr>
      <p:sp>
        <p:nvSpPr>
          <p:cNvPr id="4" name="Rectangle 7"/>
          <p:cNvSpPr>
            <a:spLocks noChangeAspect="1" noChangeArrowheads="1"/>
          </p:cNvSpPr>
          <p:nvPr/>
        </p:nvSpPr>
        <p:spPr bwMode="auto">
          <a:xfrm>
            <a:off x="-19431" y="-102870"/>
            <a:ext cx="9182862" cy="7063740"/>
          </a:xfrm>
          <a:prstGeom prst="rect">
            <a:avLst/>
          </a:prstGeom>
          <a:solidFill>
            <a:schemeClr val="tx1"/>
          </a:solidFill>
          <a:ln w="9525">
            <a:solidFill>
              <a:schemeClr val="accent2"/>
            </a:solidFill>
            <a:miter lim="800000"/>
            <a:headEnd/>
            <a:tailEnd/>
          </a:ln>
        </p:spPr>
        <p:txBody>
          <a:bodyPr wrap="none" anchor="ctr"/>
          <a:lstStyle>
            <a:lvl1pPr eaLnBrk="0" hangingPunct="0">
              <a:defRPr kumimoji="1">
                <a:solidFill>
                  <a:schemeClr val="tx1"/>
                </a:solidFill>
                <a:latin typeface="Arial" pitchFamily="34" charset="0"/>
                <a:ea typeface="ＭＳ Ｐゴシック" pitchFamily="50" charset="-128"/>
              </a:defRPr>
            </a:lvl1pPr>
            <a:lvl2pPr marL="742950" indent="-285750" eaLnBrk="0" hangingPunct="0">
              <a:defRPr kumimoji="1">
                <a:solidFill>
                  <a:schemeClr val="tx1"/>
                </a:solidFill>
                <a:latin typeface="Arial" pitchFamily="34" charset="0"/>
                <a:ea typeface="ＭＳ Ｐゴシック" pitchFamily="50" charset="-128"/>
              </a:defRPr>
            </a:lvl2pPr>
            <a:lvl3pPr marL="1143000" indent="-228600" eaLnBrk="0" hangingPunct="0">
              <a:defRPr kumimoji="1">
                <a:solidFill>
                  <a:schemeClr val="tx1"/>
                </a:solidFill>
                <a:latin typeface="Arial" pitchFamily="34" charset="0"/>
                <a:ea typeface="ＭＳ Ｐゴシック" pitchFamily="50" charset="-128"/>
              </a:defRPr>
            </a:lvl3pPr>
            <a:lvl4pPr marL="1600200" indent="-228600" eaLnBrk="0" hangingPunct="0">
              <a:defRPr kumimoji="1">
                <a:solidFill>
                  <a:schemeClr val="tx1"/>
                </a:solidFill>
                <a:latin typeface="Arial" pitchFamily="34" charset="0"/>
                <a:ea typeface="ＭＳ Ｐゴシック" pitchFamily="50" charset="-128"/>
              </a:defRPr>
            </a:lvl4pPr>
            <a:lvl5pPr marL="2057400" indent="-228600" eaLnBrk="0" hangingPunct="0">
              <a:defRPr kumimoji="1">
                <a:solidFill>
                  <a:schemeClr val="tx1"/>
                </a:solidFill>
                <a:latin typeface="Arial" pitchFamily="34" charset="0"/>
                <a:ea typeface="ＭＳ Ｐゴシック" pitchFamily="50" charset="-128"/>
              </a:defRPr>
            </a:lvl5pPr>
            <a:lvl6pPr marL="2514600" indent="-228600" eaLnBrk="0" fontAlgn="base" hangingPunct="0">
              <a:spcBef>
                <a:spcPct val="0"/>
              </a:spcBef>
              <a:spcAft>
                <a:spcPct val="0"/>
              </a:spcAft>
              <a:defRPr kumimoji="1">
                <a:solidFill>
                  <a:schemeClr val="tx1"/>
                </a:solidFill>
                <a:latin typeface="Arial" pitchFamily="34" charset="0"/>
                <a:ea typeface="ＭＳ Ｐゴシック" pitchFamily="50" charset="-128"/>
              </a:defRPr>
            </a:lvl6pPr>
            <a:lvl7pPr marL="2971800" indent="-228600" eaLnBrk="0" fontAlgn="base" hangingPunct="0">
              <a:spcBef>
                <a:spcPct val="0"/>
              </a:spcBef>
              <a:spcAft>
                <a:spcPct val="0"/>
              </a:spcAft>
              <a:defRPr kumimoji="1">
                <a:solidFill>
                  <a:schemeClr val="tx1"/>
                </a:solidFill>
                <a:latin typeface="Arial" pitchFamily="34" charset="0"/>
                <a:ea typeface="ＭＳ Ｐゴシック" pitchFamily="50" charset="-128"/>
              </a:defRPr>
            </a:lvl7pPr>
            <a:lvl8pPr marL="3429000" indent="-228600" eaLnBrk="0" fontAlgn="base" hangingPunct="0">
              <a:spcBef>
                <a:spcPct val="0"/>
              </a:spcBef>
              <a:spcAft>
                <a:spcPct val="0"/>
              </a:spcAft>
              <a:defRPr kumimoji="1">
                <a:solidFill>
                  <a:schemeClr val="tx1"/>
                </a:solidFill>
                <a:latin typeface="Arial" pitchFamily="34" charset="0"/>
                <a:ea typeface="ＭＳ Ｐゴシック" pitchFamily="50" charset="-128"/>
              </a:defRPr>
            </a:lvl8pPr>
            <a:lvl9pPr marL="3886200" indent="-228600" eaLnBrk="0" fontAlgn="base" hangingPunct="0">
              <a:spcBef>
                <a:spcPct val="0"/>
              </a:spcBef>
              <a:spcAft>
                <a:spcPct val="0"/>
              </a:spcAft>
              <a:defRPr kumimoji="1">
                <a:solidFill>
                  <a:schemeClr val="tx1"/>
                </a:solidFill>
                <a:latin typeface="Arial" pitchFamily="34" charset="0"/>
                <a:ea typeface="ＭＳ Ｐゴシック" pitchFamily="50" charset="-128"/>
              </a:defRPr>
            </a:lvl9pPr>
          </a:lstStyle>
          <a:p>
            <a:pPr eaLnBrk="1" hangingPunct="1">
              <a:defRPr/>
            </a:pPr>
            <a:endParaRPr lang="ja-JP" altLang="en-US" sz="1350" dirty="0"/>
          </a:p>
        </p:txBody>
      </p:sp>
    </p:spTree>
    <p:extLst>
      <p:ext uri="{BB962C8B-B14F-4D97-AF65-F5344CB8AC3E}">
        <p14:creationId xmlns:p14="http://schemas.microsoft.com/office/powerpoint/2010/main" val="1932991971"/>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7"/>
          <p:cNvSpPr>
            <a:spLocks noChangeArrowheads="1"/>
          </p:cNvSpPr>
          <p:nvPr/>
        </p:nvSpPr>
        <p:spPr bwMode="auto">
          <a:xfrm>
            <a:off x="0" y="0"/>
            <a:ext cx="9144000" cy="1143000"/>
          </a:xfrm>
          <a:prstGeom prst="rect">
            <a:avLst/>
          </a:prstGeom>
          <a:solidFill>
            <a:schemeClr val="accent2"/>
          </a:solidFill>
          <a:ln w="9525">
            <a:solidFill>
              <a:schemeClr val="accent2"/>
            </a:solidFill>
            <a:miter lim="800000"/>
            <a:headEnd/>
            <a:tailEnd/>
          </a:ln>
        </p:spPr>
        <p:txBody>
          <a:bodyPr wrap="none" anchor="ctr"/>
          <a:lstStyle>
            <a:lvl1pPr eaLnBrk="0" hangingPunct="0">
              <a:defRPr kumimoji="1">
                <a:solidFill>
                  <a:schemeClr val="tx1"/>
                </a:solidFill>
                <a:latin typeface="Arial" pitchFamily="34" charset="0"/>
                <a:ea typeface="ＭＳ Ｐゴシック" pitchFamily="50" charset="-128"/>
              </a:defRPr>
            </a:lvl1pPr>
            <a:lvl2pPr marL="742950" indent="-285750" eaLnBrk="0" hangingPunct="0">
              <a:defRPr kumimoji="1">
                <a:solidFill>
                  <a:schemeClr val="tx1"/>
                </a:solidFill>
                <a:latin typeface="Arial" pitchFamily="34" charset="0"/>
                <a:ea typeface="ＭＳ Ｐゴシック" pitchFamily="50" charset="-128"/>
              </a:defRPr>
            </a:lvl2pPr>
            <a:lvl3pPr marL="1143000" indent="-228600" eaLnBrk="0" hangingPunct="0">
              <a:defRPr kumimoji="1">
                <a:solidFill>
                  <a:schemeClr val="tx1"/>
                </a:solidFill>
                <a:latin typeface="Arial" pitchFamily="34" charset="0"/>
                <a:ea typeface="ＭＳ Ｐゴシック" pitchFamily="50" charset="-128"/>
              </a:defRPr>
            </a:lvl3pPr>
            <a:lvl4pPr marL="1600200" indent="-228600" eaLnBrk="0" hangingPunct="0">
              <a:defRPr kumimoji="1">
                <a:solidFill>
                  <a:schemeClr val="tx1"/>
                </a:solidFill>
                <a:latin typeface="Arial" pitchFamily="34" charset="0"/>
                <a:ea typeface="ＭＳ Ｐゴシック" pitchFamily="50" charset="-128"/>
              </a:defRPr>
            </a:lvl4pPr>
            <a:lvl5pPr marL="2057400" indent="-228600" eaLnBrk="0" hangingPunct="0">
              <a:defRPr kumimoji="1">
                <a:solidFill>
                  <a:schemeClr val="tx1"/>
                </a:solidFill>
                <a:latin typeface="Arial" pitchFamily="34" charset="0"/>
                <a:ea typeface="ＭＳ Ｐゴシック" pitchFamily="50" charset="-128"/>
              </a:defRPr>
            </a:lvl5pPr>
            <a:lvl6pPr marL="2514600" indent="-228600" eaLnBrk="0" fontAlgn="base" hangingPunct="0">
              <a:spcBef>
                <a:spcPct val="0"/>
              </a:spcBef>
              <a:spcAft>
                <a:spcPct val="0"/>
              </a:spcAft>
              <a:defRPr kumimoji="1">
                <a:solidFill>
                  <a:schemeClr val="tx1"/>
                </a:solidFill>
                <a:latin typeface="Arial" pitchFamily="34" charset="0"/>
                <a:ea typeface="ＭＳ Ｐゴシック" pitchFamily="50" charset="-128"/>
              </a:defRPr>
            </a:lvl6pPr>
            <a:lvl7pPr marL="2971800" indent="-228600" eaLnBrk="0" fontAlgn="base" hangingPunct="0">
              <a:spcBef>
                <a:spcPct val="0"/>
              </a:spcBef>
              <a:spcAft>
                <a:spcPct val="0"/>
              </a:spcAft>
              <a:defRPr kumimoji="1">
                <a:solidFill>
                  <a:schemeClr val="tx1"/>
                </a:solidFill>
                <a:latin typeface="Arial" pitchFamily="34" charset="0"/>
                <a:ea typeface="ＭＳ Ｐゴシック" pitchFamily="50" charset="-128"/>
              </a:defRPr>
            </a:lvl7pPr>
            <a:lvl8pPr marL="3429000" indent="-228600" eaLnBrk="0" fontAlgn="base" hangingPunct="0">
              <a:spcBef>
                <a:spcPct val="0"/>
              </a:spcBef>
              <a:spcAft>
                <a:spcPct val="0"/>
              </a:spcAft>
              <a:defRPr kumimoji="1">
                <a:solidFill>
                  <a:schemeClr val="tx1"/>
                </a:solidFill>
                <a:latin typeface="Arial" pitchFamily="34" charset="0"/>
                <a:ea typeface="ＭＳ Ｐゴシック" pitchFamily="50" charset="-128"/>
              </a:defRPr>
            </a:lvl8pPr>
            <a:lvl9pPr marL="3886200" indent="-228600" eaLnBrk="0" fontAlgn="base" hangingPunct="0">
              <a:spcBef>
                <a:spcPct val="0"/>
              </a:spcBef>
              <a:spcAft>
                <a:spcPct val="0"/>
              </a:spcAft>
              <a:defRPr kumimoji="1">
                <a:solidFill>
                  <a:schemeClr val="tx1"/>
                </a:solidFill>
                <a:latin typeface="Arial" pitchFamily="34" charset="0"/>
                <a:ea typeface="ＭＳ Ｐゴシック" pitchFamily="50" charset="-128"/>
              </a:defRPr>
            </a:lvl9pPr>
          </a:lstStyle>
          <a:p>
            <a:pPr eaLnBrk="1" hangingPunct="1">
              <a:defRPr/>
            </a:pPr>
            <a:endParaRPr lang="ja-JP" altLang="en-US" sz="1350" dirty="0"/>
          </a:p>
        </p:txBody>
      </p:sp>
      <p:sp>
        <p:nvSpPr>
          <p:cNvPr id="1027" name="Rectangle 2"/>
          <p:cNvSpPr>
            <a:spLocks noGrp="1" noChangeArrowheads="1"/>
          </p:cNvSpPr>
          <p:nvPr>
            <p:ph type="title"/>
          </p:nvPr>
        </p:nvSpPr>
        <p:spPr bwMode="auto">
          <a:xfrm>
            <a:off x="76200" y="0"/>
            <a:ext cx="90678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ja-JP" altLang="en-US" dirty="0"/>
              <a:t>マスタ タイトルの書式設定</a:t>
            </a:r>
          </a:p>
        </p:txBody>
      </p:sp>
      <p:sp>
        <p:nvSpPr>
          <p:cNvPr id="1028" name="Rectangle 3"/>
          <p:cNvSpPr>
            <a:spLocks noGrp="1" noChangeArrowheads="1"/>
          </p:cNvSpPr>
          <p:nvPr>
            <p:ph type="body" idx="1"/>
          </p:nvPr>
        </p:nvSpPr>
        <p:spPr bwMode="auto">
          <a:xfrm>
            <a:off x="228600" y="1371600"/>
            <a:ext cx="8686800" cy="5181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Tree>
    <p:extLst>
      <p:ext uri="{BB962C8B-B14F-4D97-AF65-F5344CB8AC3E}">
        <p14:creationId xmlns:p14="http://schemas.microsoft.com/office/powerpoint/2010/main" val="3689500998"/>
      </p:ext>
    </p:extLst>
  </p:cSld>
  <p:clrMap bg1="lt1" tx1="dk1" bg2="lt2" tx2="dk2" accent1="accent1" accent2="accent2" accent3="accent3" accent4="accent4" accent5="accent5" accent6="accent6" hlink="hlink" folHlink="folHlink"/>
  <p:sldLayoutIdLst>
    <p:sldLayoutId id="2147483667" r:id="rId1"/>
    <p:sldLayoutId id="2147483674" r:id="rId2"/>
    <p:sldLayoutId id="2147483668" r:id="rId3"/>
    <p:sldLayoutId id="2147483669" r:id="rId4"/>
    <p:sldLayoutId id="2147483673" r:id="rId5"/>
    <p:sldLayoutId id="2147483670" r:id="rId6"/>
    <p:sldLayoutId id="2147483671" r:id="rId7"/>
    <p:sldLayoutId id="2147483672" r:id="rId8"/>
  </p:sldLayoutIdLst>
  <p:timing>
    <p:tnLst>
      <p:par>
        <p:cTn id="1" dur="indefinite" restart="never" nodeType="tmRoot"/>
      </p:par>
    </p:tnLst>
  </p:timing>
  <p:hf hdr="0" ftr="0" dt="0"/>
  <p:txStyles>
    <p:titleStyle>
      <a:lvl1pPr algn="just" rtl="0" eaLnBrk="1" fontAlgn="base" hangingPunct="1">
        <a:spcBef>
          <a:spcPct val="0"/>
        </a:spcBef>
        <a:spcAft>
          <a:spcPct val="0"/>
        </a:spcAft>
        <a:defRPr kumimoji="1" sz="3300" b="1">
          <a:solidFill>
            <a:schemeClr val="bg1"/>
          </a:solidFill>
          <a:latin typeface="+mj-lt"/>
          <a:ea typeface="+mj-ea"/>
          <a:cs typeface="+mj-cs"/>
        </a:defRPr>
      </a:lvl1pPr>
      <a:lvl2pPr algn="just" rtl="0" eaLnBrk="1" fontAlgn="base" hangingPunct="1">
        <a:spcBef>
          <a:spcPct val="0"/>
        </a:spcBef>
        <a:spcAft>
          <a:spcPct val="0"/>
        </a:spcAft>
        <a:defRPr kumimoji="1" sz="3300" b="1">
          <a:solidFill>
            <a:schemeClr val="bg1"/>
          </a:solidFill>
          <a:latin typeface="Times New Roman" pitchFamily="18" charset="0"/>
          <a:ea typeface="ＭＳ Ｐゴシック" pitchFamily="50" charset="-128"/>
        </a:defRPr>
      </a:lvl2pPr>
      <a:lvl3pPr algn="just" rtl="0" eaLnBrk="1" fontAlgn="base" hangingPunct="1">
        <a:spcBef>
          <a:spcPct val="0"/>
        </a:spcBef>
        <a:spcAft>
          <a:spcPct val="0"/>
        </a:spcAft>
        <a:defRPr kumimoji="1" sz="3300" b="1">
          <a:solidFill>
            <a:schemeClr val="bg1"/>
          </a:solidFill>
          <a:latin typeface="Times New Roman" pitchFamily="18" charset="0"/>
          <a:ea typeface="ＭＳ Ｐゴシック" pitchFamily="50" charset="-128"/>
        </a:defRPr>
      </a:lvl3pPr>
      <a:lvl4pPr algn="just" rtl="0" eaLnBrk="1" fontAlgn="base" hangingPunct="1">
        <a:spcBef>
          <a:spcPct val="0"/>
        </a:spcBef>
        <a:spcAft>
          <a:spcPct val="0"/>
        </a:spcAft>
        <a:defRPr kumimoji="1" sz="3300" b="1">
          <a:solidFill>
            <a:schemeClr val="bg1"/>
          </a:solidFill>
          <a:latin typeface="Times New Roman" pitchFamily="18" charset="0"/>
          <a:ea typeface="ＭＳ Ｐゴシック" pitchFamily="50" charset="-128"/>
        </a:defRPr>
      </a:lvl4pPr>
      <a:lvl5pPr algn="just" rtl="0" eaLnBrk="1" fontAlgn="base" hangingPunct="1">
        <a:spcBef>
          <a:spcPct val="0"/>
        </a:spcBef>
        <a:spcAft>
          <a:spcPct val="0"/>
        </a:spcAft>
        <a:defRPr kumimoji="1" sz="3300" b="1">
          <a:solidFill>
            <a:schemeClr val="bg1"/>
          </a:solidFill>
          <a:latin typeface="Times New Roman" pitchFamily="18" charset="0"/>
          <a:ea typeface="ＭＳ Ｐゴシック" pitchFamily="50" charset="-128"/>
        </a:defRPr>
      </a:lvl5pPr>
      <a:lvl6pPr marL="342900" algn="just" rtl="0" eaLnBrk="1" fontAlgn="base" hangingPunct="1">
        <a:spcBef>
          <a:spcPct val="0"/>
        </a:spcBef>
        <a:spcAft>
          <a:spcPct val="0"/>
        </a:spcAft>
        <a:defRPr kumimoji="1" sz="3300" b="1">
          <a:solidFill>
            <a:schemeClr val="bg1"/>
          </a:solidFill>
          <a:latin typeface="Times New Roman" pitchFamily="18" charset="0"/>
          <a:ea typeface="ＭＳ Ｐゴシック" pitchFamily="50" charset="-128"/>
        </a:defRPr>
      </a:lvl6pPr>
      <a:lvl7pPr marL="685800" algn="just" rtl="0" eaLnBrk="1" fontAlgn="base" hangingPunct="1">
        <a:spcBef>
          <a:spcPct val="0"/>
        </a:spcBef>
        <a:spcAft>
          <a:spcPct val="0"/>
        </a:spcAft>
        <a:defRPr kumimoji="1" sz="3300" b="1">
          <a:solidFill>
            <a:schemeClr val="bg1"/>
          </a:solidFill>
          <a:latin typeface="Times New Roman" pitchFamily="18" charset="0"/>
          <a:ea typeface="ＭＳ Ｐゴシック" pitchFamily="50" charset="-128"/>
        </a:defRPr>
      </a:lvl7pPr>
      <a:lvl8pPr marL="1028700" algn="just" rtl="0" eaLnBrk="1" fontAlgn="base" hangingPunct="1">
        <a:spcBef>
          <a:spcPct val="0"/>
        </a:spcBef>
        <a:spcAft>
          <a:spcPct val="0"/>
        </a:spcAft>
        <a:defRPr kumimoji="1" sz="3300" b="1">
          <a:solidFill>
            <a:schemeClr val="bg1"/>
          </a:solidFill>
          <a:latin typeface="Times New Roman" pitchFamily="18" charset="0"/>
          <a:ea typeface="ＭＳ Ｐゴシック" pitchFamily="50" charset="-128"/>
        </a:defRPr>
      </a:lvl8pPr>
      <a:lvl9pPr marL="1371600" algn="just" rtl="0" eaLnBrk="1" fontAlgn="base" hangingPunct="1">
        <a:spcBef>
          <a:spcPct val="0"/>
        </a:spcBef>
        <a:spcAft>
          <a:spcPct val="0"/>
        </a:spcAft>
        <a:defRPr kumimoji="1" sz="3300" b="1">
          <a:solidFill>
            <a:schemeClr val="bg1"/>
          </a:solidFill>
          <a:latin typeface="Times New Roman" pitchFamily="18" charset="0"/>
          <a:ea typeface="ＭＳ Ｐゴシック" pitchFamily="50" charset="-128"/>
        </a:defRPr>
      </a:lvl9pPr>
    </p:titleStyle>
    <p:bodyStyle>
      <a:lvl1pPr marL="257175" indent="-257175" algn="l" rtl="0" eaLnBrk="1" fontAlgn="base" hangingPunct="1">
        <a:spcBef>
          <a:spcPct val="20000"/>
        </a:spcBef>
        <a:spcAft>
          <a:spcPct val="0"/>
        </a:spcAft>
        <a:buChar char="•"/>
        <a:defRPr kumimoji="1" sz="2400">
          <a:solidFill>
            <a:schemeClr val="tx1"/>
          </a:solidFill>
          <a:latin typeface="+mn-lt"/>
          <a:ea typeface="+mn-ea"/>
          <a:cs typeface="+mn-cs"/>
        </a:defRPr>
      </a:lvl1pPr>
      <a:lvl2pPr marL="557213" indent="-214313" algn="l" rtl="0" eaLnBrk="1" fontAlgn="base" hangingPunct="1">
        <a:spcBef>
          <a:spcPct val="20000"/>
        </a:spcBef>
        <a:spcAft>
          <a:spcPct val="0"/>
        </a:spcAft>
        <a:buChar char="–"/>
        <a:defRPr kumimoji="1" sz="2100">
          <a:solidFill>
            <a:schemeClr val="tx1"/>
          </a:solidFill>
          <a:latin typeface="+mn-lt"/>
          <a:ea typeface="+mn-ea"/>
        </a:defRPr>
      </a:lvl2pPr>
      <a:lvl3pPr marL="857250" indent="-171450" algn="l" rtl="0" eaLnBrk="1" fontAlgn="base" hangingPunct="1">
        <a:spcBef>
          <a:spcPct val="20000"/>
        </a:spcBef>
        <a:spcAft>
          <a:spcPct val="0"/>
        </a:spcAft>
        <a:buChar char="•"/>
        <a:defRPr kumimoji="1" sz="1800">
          <a:solidFill>
            <a:schemeClr val="tx1"/>
          </a:solidFill>
          <a:latin typeface="+mn-lt"/>
          <a:ea typeface="+mn-ea"/>
        </a:defRPr>
      </a:lvl3pPr>
      <a:lvl4pPr marL="1200150" indent="-171450" algn="l" rtl="0" eaLnBrk="1" fontAlgn="base" hangingPunct="1">
        <a:spcBef>
          <a:spcPct val="20000"/>
        </a:spcBef>
        <a:spcAft>
          <a:spcPct val="0"/>
        </a:spcAft>
        <a:buChar char="–"/>
        <a:defRPr kumimoji="1" sz="1500">
          <a:solidFill>
            <a:schemeClr val="tx1"/>
          </a:solidFill>
          <a:latin typeface="+mn-lt"/>
          <a:ea typeface="+mn-ea"/>
        </a:defRPr>
      </a:lvl4pPr>
      <a:lvl5pPr marL="1543050" indent="-171450" algn="l" rtl="0" eaLnBrk="1" fontAlgn="base" hangingPunct="1">
        <a:spcBef>
          <a:spcPct val="20000"/>
        </a:spcBef>
        <a:spcAft>
          <a:spcPct val="0"/>
        </a:spcAft>
        <a:buChar char="»"/>
        <a:defRPr kumimoji="1" sz="1500">
          <a:solidFill>
            <a:schemeClr val="tx1"/>
          </a:solidFill>
          <a:latin typeface="+mn-lt"/>
          <a:ea typeface="+mn-ea"/>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0.png"/><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0.png"/><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コンテンツ プレースホルダー 1"/>
          <p:cNvSpPr>
            <a:spLocks noGrp="1"/>
          </p:cNvSpPr>
          <p:nvPr>
            <p:ph idx="1"/>
          </p:nvPr>
        </p:nvSpPr>
        <p:spPr/>
        <p:txBody>
          <a:bodyPr/>
          <a:lstStyle/>
          <a:p>
            <a:r>
              <a:rPr lang="en-US" altLang="ja-JP" dirty="0" err="1"/>
              <a:t>LightGBM</a:t>
            </a:r>
            <a:r>
              <a:rPr lang="en-US" altLang="ja-JP" dirty="0"/>
              <a:t>: A Highly Efficient Gradient </a:t>
            </a:r>
            <a:r>
              <a:rPr lang="en-US" altLang="ja-JP" dirty="0" smtClean="0"/>
              <a:t>Boosting</a:t>
            </a:r>
            <a:r>
              <a:rPr lang="ja-JP" altLang="en-US" dirty="0" smtClean="0"/>
              <a:t>　</a:t>
            </a:r>
            <a:r>
              <a:rPr lang="en-US" altLang="ja-JP" dirty="0" smtClean="0"/>
              <a:t>Decision </a:t>
            </a:r>
            <a:r>
              <a:rPr lang="en-US" altLang="ja-JP" dirty="0"/>
              <a:t>Tree</a:t>
            </a:r>
            <a:endParaRPr kumimoji="1" lang="ja-JP" altLang="en-US" dirty="0"/>
          </a:p>
        </p:txBody>
      </p:sp>
      <p:sp>
        <p:nvSpPr>
          <p:cNvPr id="3" name="コンテンツ プレースホルダー 2"/>
          <p:cNvSpPr>
            <a:spLocks noGrp="1"/>
          </p:cNvSpPr>
          <p:nvPr>
            <p:ph idx="10"/>
          </p:nvPr>
        </p:nvSpPr>
        <p:spPr/>
        <p:txBody>
          <a:bodyPr/>
          <a:lstStyle/>
          <a:p>
            <a:r>
              <a:rPr lang="en-US" altLang="ja-JP" dirty="0" err="1" smtClean="0"/>
              <a:t>Guolin</a:t>
            </a:r>
            <a:r>
              <a:rPr lang="en-US" altLang="ja-JP" dirty="0"/>
              <a:t> </a:t>
            </a:r>
            <a:r>
              <a:rPr lang="en-US" altLang="ja-JP" dirty="0" err="1" smtClean="0"/>
              <a:t>Ke</a:t>
            </a:r>
            <a:r>
              <a:rPr lang="en-US" altLang="ja-JP" dirty="0" smtClean="0"/>
              <a:t>, Qi </a:t>
            </a:r>
            <a:r>
              <a:rPr lang="en-US" altLang="ja-JP" dirty="0" err="1" smtClean="0"/>
              <a:t>Meng</a:t>
            </a:r>
            <a:r>
              <a:rPr lang="en-US" altLang="ja-JP" dirty="0" smtClean="0"/>
              <a:t>, </a:t>
            </a:r>
            <a:r>
              <a:rPr lang="en-US" altLang="ja-JP" dirty="0"/>
              <a:t>Thomas </a:t>
            </a:r>
            <a:r>
              <a:rPr lang="en-US" altLang="ja-JP" dirty="0" smtClean="0"/>
              <a:t>Finley, </a:t>
            </a:r>
            <a:r>
              <a:rPr lang="en-US" altLang="ja-JP" dirty="0" err="1" smtClean="0"/>
              <a:t>Taifeng</a:t>
            </a:r>
            <a:r>
              <a:rPr lang="ja-JP" altLang="en-US" dirty="0"/>
              <a:t> </a:t>
            </a:r>
            <a:r>
              <a:rPr lang="en-US" altLang="ja-JP" dirty="0" smtClean="0"/>
              <a:t>Wang, Wei Chen, </a:t>
            </a:r>
            <a:r>
              <a:rPr lang="en-US" altLang="ja-JP" dirty="0" err="1"/>
              <a:t>Weidong</a:t>
            </a:r>
            <a:r>
              <a:rPr lang="en-US" altLang="ja-JP" dirty="0"/>
              <a:t> </a:t>
            </a:r>
            <a:r>
              <a:rPr lang="en-US" altLang="ja-JP" dirty="0" smtClean="0"/>
              <a:t>Ma, </a:t>
            </a:r>
            <a:r>
              <a:rPr lang="en-US" altLang="ja-JP" dirty="0" err="1"/>
              <a:t>Qiwei</a:t>
            </a:r>
            <a:r>
              <a:rPr lang="en-US" altLang="ja-JP" dirty="0"/>
              <a:t> </a:t>
            </a:r>
            <a:r>
              <a:rPr lang="en-US" altLang="ja-JP" dirty="0" smtClean="0"/>
              <a:t>Ye, </a:t>
            </a:r>
            <a:r>
              <a:rPr lang="en-US" altLang="ja-JP" dirty="0"/>
              <a:t>Tie-Yan </a:t>
            </a:r>
            <a:r>
              <a:rPr lang="en-US" altLang="ja-JP" dirty="0" smtClean="0"/>
              <a:t>Liu</a:t>
            </a:r>
            <a:endParaRPr kumimoji="1" lang="ja-JP" altLang="en-US" dirty="0"/>
          </a:p>
        </p:txBody>
      </p:sp>
      <p:sp>
        <p:nvSpPr>
          <p:cNvPr id="4" name="コンテンツ プレースホルダー 3"/>
          <p:cNvSpPr>
            <a:spLocks noGrp="1"/>
          </p:cNvSpPr>
          <p:nvPr>
            <p:ph idx="11"/>
          </p:nvPr>
        </p:nvSpPr>
        <p:spPr/>
        <p:txBody>
          <a:bodyPr/>
          <a:lstStyle/>
          <a:p>
            <a:r>
              <a:rPr lang="en-US" altLang="ja-JP" dirty="0"/>
              <a:t>Advances in Neural Information </a:t>
            </a:r>
            <a:r>
              <a:rPr lang="en-US" altLang="ja-JP" dirty="0" smtClean="0"/>
              <a:t>Processing Systems</a:t>
            </a:r>
            <a:r>
              <a:rPr lang="en-US" altLang="ja-JP" dirty="0"/>
              <a:t>, </a:t>
            </a:r>
            <a:r>
              <a:rPr lang="en-US" altLang="ja-JP" dirty="0" smtClean="0"/>
              <a:t>pp. 3149</a:t>
            </a:r>
            <a:r>
              <a:rPr lang="ja-JP" altLang="en-US" dirty="0" err="1" smtClean="0"/>
              <a:t>ｰ</a:t>
            </a:r>
            <a:r>
              <a:rPr lang="en-US" altLang="ja-JP" dirty="0" smtClean="0"/>
              <a:t>3157, </a:t>
            </a:r>
            <a:r>
              <a:rPr lang="en-US" altLang="ja-JP" dirty="0"/>
              <a:t>2017.</a:t>
            </a:r>
            <a:endParaRPr kumimoji="1" lang="ja-JP" altLang="en-US" dirty="0"/>
          </a:p>
        </p:txBody>
      </p:sp>
      <p:sp>
        <p:nvSpPr>
          <p:cNvPr id="5" name="スライド番号プレースホルダー 4"/>
          <p:cNvSpPr>
            <a:spLocks noGrp="1"/>
          </p:cNvSpPr>
          <p:nvPr>
            <p:ph type="sldNum" sz="quarter" idx="12"/>
          </p:nvPr>
        </p:nvSpPr>
        <p:spPr/>
        <p:txBody>
          <a:bodyPr/>
          <a:lstStyle/>
          <a:p>
            <a:fld id="{B5C67937-D10B-4F1B-BCB2-26B69D4AE1E2}" type="slidenum">
              <a:rPr kumimoji="1" lang="ja-JP" altLang="en-US" smtClean="0"/>
              <a:pPr/>
              <a:t>1</a:t>
            </a:fld>
            <a:endParaRPr kumimoji="1" lang="ja-JP" altLang="en-US" dirty="0"/>
          </a:p>
        </p:txBody>
      </p:sp>
    </p:spTree>
    <p:extLst>
      <p:ext uri="{BB962C8B-B14F-4D97-AF65-F5344CB8AC3E}">
        <p14:creationId xmlns:p14="http://schemas.microsoft.com/office/powerpoint/2010/main" val="1410171696"/>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p:cNvSpPr>
            <a:spLocks noGrp="1"/>
          </p:cNvSpPr>
          <p:nvPr>
            <p:ph type="title"/>
          </p:nvPr>
        </p:nvSpPr>
        <p:spPr/>
        <p:txBody>
          <a:bodyPr/>
          <a:lstStyle/>
          <a:p>
            <a:r>
              <a:rPr lang="ja-JP" altLang="en-US" dirty="0"/>
              <a:t>概要</a:t>
            </a:r>
            <a:endParaRPr kumimoji="1" lang="ja-JP" altLang="en-US" dirty="0"/>
          </a:p>
        </p:txBody>
      </p:sp>
      <p:sp>
        <p:nvSpPr>
          <p:cNvPr id="6" name="コンテンツ プレースホルダー 5"/>
          <p:cNvSpPr>
            <a:spLocks noGrp="1"/>
          </p:cNvSpPr>
          <p:nvPr>
            <p:ph idx="1"/>
          </p:nvPr>
        </p:nvSpPr>
        <p:spPr/>
        <p:txBody>
          <a:bodyPr/>
          <a:lstStyle/>
          <a:p>
            <a:r>
              <a:rPr lang="ja-JP" altLang="en-US" dirty="0" smtClean="0"/>
              <a:t>勾配ブースティング決定木</a:t>
            </a:r>
            <a:r>
              <a:rPr lang="en-US" altLang="ja-JP" dirty="0" smtClean="0"/>
              <a:t>(GBDT)</a:t>
            </a:r>
            <a:r>
              <a:rPr lang="ja-JP" altLang="en-US" dirty="0" smtClean="0"/>
              <a:t>は，機械学習分野において優れた性能を発揮している．</a:t>
            </a:r>
            <a:endParaRPr lang="en-US" altLang="ja-JP" dirty="0" smtClean="0"/>
          </a:p>
          <a:p>
            <a:r>
              <a:rPr kumimoji="1" lang="ja-JP" altLang="en-US" dirty="0" smtClean="0"/>
              <a:t>しかし，多次元データ・ビッグデータに適用する</a:t>
            </a:r>
            <a:r>
              <a:rPr kumimoji="1" lang="en-US" altLang="ja-JP" dirty="0" smtClean="0"/>
              <a:t/>
            </a:r>
            <a:br>
              <a:rPr kumimoji="1" lang="en-US" altLang="ja-JP" dirty="0" smtClean="0"/>
            </a:br>
            <a:r>
              <a:rPr kumimoji="1" lang="ja-JP" altLang="en-US" dirty="0" smtClean="0"/>
              <a:t>場合，計算コストが非常に大きくなる．</a:t>
            </a:r>
            <a:endParaRPr lang="en-US" altLang="ja-JP" dirty="0" smtClean="0"/>
          </a:p>
          <a:p>
            <a:endParaRPr lang="en-US" altLang="ja-JP" dirty="0"/>
          </a:p>
          <a:p>
            <a:r>
              <a:rPr kumimoji="1" lang="ja-JP" altLang="en-US" dirty="0" smtClean="0"/>
              <a:t>決定木の学習の際の適切な</a:t>
            </a:r>
            <a:r>
              <a:rPr kumimoji="1" lang="ja-JP" altLang="en-US" dirty="0" smtClean="0">
                <a:solidFill>
                  <a:schemeClr val="accent1"/>
                </a:solidFill>
              </a:rPr>
              <a:t>サンプリング手法</a:t>
            </a:r>
            <a:r>
              <a:rPr lang="en-US" altLang="ja-JP" dirty="0" smtClean="0"/>
              <a:t>Gradient-based </a:t>
            </a:r>
            <a:r>
              <a:rPr lang="en-US" altLang="ja-JP" dirty="0"/>
              <a:t>One-Side </a:t>
            </a:r>
            <a:r>
              <a:rPr lang="en-US" altLang="ja-JP" dirty="0" smtClean="0"/>
              <a:t>Sampling (GOSS)</a:t>
            </a:r>
            <a:r>
              <a:rPr lang="ja-JP" altLang="en-US" dirty="0" err="1" smtClean="0"/>
              <a:t>，</a:t>
            </a:r>
            <a:r>
              <a:rPr kumimoji="1" lang="ja-JP" altLang="en-US" dirty="0" smtClean="0">
                <a:solidFill>
                  <a:schemeClr val="accent1"/>
                </a:solidFill>
              </a:rPr>
              <a:t>スパースなデータを</a:t>
            </a:r>
            <a:r>
              <a:rPr lang="ja-JP" altLang="en-US" dirty="0" smtClean="0">
                <a:solidFill>
                  <a:schemeClr val="accent1"/>
                </a:solidFill>
              </a:rPr>
              <a:t>まとめて</a:t>
            </a:r>
            <a:r>
              <a:rPr kumimoji="1" lang="ja-JP" altLang="en-US" dirty="0" smtClean="0">
                <a:solidFill>
                  <a:schemeClr val="accent1"/>
                </a:solidFill>
              </a:rPr>
              <a:t>扱う </a:t>
            </a:r>
            <a:r>
              <a:rPr lang="en-US" altLang="ja-JP" dirty="0" smtClean="0"/>
              <a:t>Exclusive </a:t>
            </a:r>
            <a:r>
              <a:rPr lang="en-US" altLang="ja-JP" dirty="0"/>
              <a:t>Feature </a:t>
            </a:r>
            <a:r>
              <a:rPr lang="en-US" altLang="ja-JP" dirty="0" smtClean="0"/>
              <a:t>Bundling (EFB) </a:t>
            </a:r>
            <a:r>
              <a:rPr lang="ja-JP" altLang="en-US" dirty="0" smtClean="0"/>
              <a:t>を</a:t>
            </a:r>
            <a:r>
              <a:rPr lang="en-US" altLang="ja-JP" dirty="0" smtClean="0"/>
              <a:t>GBDT</a:t>
            </a:r>
            <a:r>
              <a:rPr lang="ja-JP" altLang="en-US" dirty="0" smtClean="0"/>
              <a:t>に適用した</a:t>
            </a:r>
            <a:r>
              <a:rPr lang="en-US" altLang="ja-JP" dirty="0" err="1" smtClean="0"/>
              <a:t>LightGBM</a:t>
            </a:r>
            <a:r>
              <a:rPr lang="ja-JP" altLang="en-US" dirty="0" smtClean="0"/>
              <a:t>を提案する．</a:t>
            </a:r>
            <a:endParaRPr kumimoji="1" lang="en-US" altLang="ja-JP" dirty="0" smtClean="0"/>
          </a:p>
          <a:p>
            <a:endParaRPr kumimoji="1" lang="ja-JP" altLang="en-US" dirty="0"/>
          </a:p>
        </p:txBody>
      </p:sp>
      <p:sp>
        <p:nvSpPr>
          <p:cNvPr id="7" name="下矢印 6"/>
          <p:cNvSpPr/>
          <p:nvPr/>
        </p:nvSpPr>
        <p:spPr>
          <a:xfrm>
            <a:off x="4272475" y="3501596"/>
            <a:ext cx="675250" cy="629812"/>
          </a:xfrm>
          <a:prstGeom prst="down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スライド番号プレースホルダー 1"/>
          <p:cNvSpPr>
            <a:spLocks noGrp="1"/>
          </p:cNvSpPr>
          <p:nvPr>
            <p:ph type="sldNum" sz="quarter" idx="12"/>
          </p:nvPr>
        </p:nvSpPr>
        <p:spPr/>
        <p:txBody>
          <a:bodyPr/>
          <a:lstStyle/>
          <a:p>
            <a:fld id="{B5C67937-D10B-4F1B-BCB2-26B69D4AE1E2}" type="slidenum">
              <a:rPr kumimoji="1" lang="ja-JP" altLang="en-US" smtClean="0"/>
              <a:pPr/>
              <a:t>2</a:t>
            </a:fld>
            <a:endParaRPr kumimoji="1" lang="ja-JP" altLang="en-US" dirty="0"/>
          </a:p>
        </p:txBody>
      </p:sp>
    </p:spTree>
    <p:extLst>
      <p:ext uri="{BB962C8B-B14F-4D97-AF65-F5344CB8AC3E}">
        <p14:creationId xmlns:p14="http://schemas.microsoft.com/office/powerpoint/2010/main" val="3686369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smtClean="0"/>
              <a:t>勾配ブースティング</a:t>
            </a:r>
            <a:endParaRPr kumimoji="1" lang="ja-JP" altLang="en-US" dirty="0"/>
          </a:p>
        </p:txBody>
      </p:sp>
      <p:sp>
        <p:nvSpPr>
          <p:cNvPr id="3" name="コンテンツ プレースホルダー 2"/>
          <p:cNvSpPr>
            <a:spLocks noGrp="1"/>
          </p:cNvSpPr>
          <p:nvPr>
            <p:ph idx="1"/>
          </p:nvPr>
        </p:nvSpPr>
        <p:spPr/>
        <p:txBody>
          <a:bodyPr/>
          <a:lstStyle/>
          <a:p>
            <a:r>
              <a:rPr lang="ja-JP" altLang="en-US" dirty="0" smtClean="0"/>
              <a:t>ブースティング：逐次的に弱識別器を追加していくアンサンブル学習の手法</a:t>
            </a:r>
            <a:endParaRPr lang="en-US" altLang="ja-JP" dirty="0" smtClean="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3</a:t>
            </a:fld>
            <a:endParaRPr kumimoji="1" lang="ja-JP" altLang="en-US" dirty="0"/>
          </a:p>
        </p:txBody>
      </p:sp>
      <p:sp>
        <p:nvSpPr>
          <p:cNvPr id="25" name="下矢印 24"/>
          <p:cNvSpPr/>
          <p:nvPr/>
        </p:nvSpPr>
        <p:spPr>
          <a:xfrm rot="16200000">
            <a:off x="4932271" y="4296176"/>
            <a:ext cx="675250" cy="629812"/>
          </a:xfrm>
          <a:prstGeom prst="down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9" name="グループ化 78"/>
          <p:cNvGrpSpPr/>
          <p:nvPr/>
        </p:nvGrpSpPr>
        <p:grpSpPr>
          <a:xfrm>
            <a:off x="5973124" y="3124845"/>
            <a:ext cx="2579468" cy="2293034"/>
            <a:chOff x="5973124" y="3124845"/>
            <a:chExt cx="2579468" cy="2293034"/>
          </a:xfrm>
        </p:grpSpPr>
        <p:grpSp>
          <p:nvGrpSpPr>
            <p:cNvPr id="78" name="グループ化 77"/>
            <p:cNvGrpSpPr/>
            <p:nvPr/>
          </p:nvGrpSpPr>
          <p:grpSpPr>
            <a:xfrm>
              <a:off x="5973124" y="3891619"/>
              <a:ext cx="2579468" cy="1526260"/>
              <a:chOff x="5973124" y="3891619"/>
              <a:chExt cx="2579468" cy="1526260"/>
            </a:xfrm>
          </p:grpSpPr>
          <p:sp>
            <p:nvSpPr>
              <p:cNvPr id="38" name="フリーフォーム 37"/>
              <p:cNvSpPr/>
              <p:nvPr/>
            </p:nvSpPr>
            <p:spPr>
              <a:xfrm>
                <a:off x="6143246" y="4264117"/>
                <a:ext cx="2202180" cy="800100"/>
              </a:xfrm>
              <a:custGeom>
                <a:avLst/>
                <a:gdLst>
                  <a:gd name="connsiteX0" fmla="*/ 0 w 2202180"/>
                  <a:gd name="connsiteY0" fmla="*/ 800100 h 800100"/>
                  <a:gd name="connsiteX1" fmla="*/ 411480 w 2202180"/>
                  <a:gd name="connsiteY1" fmla="*/ 563880 h 800100"/>
                  <a:gd name="connsiteX2" fmla="*/ 830580 w 2202180"/>
                  <a:gd name="connsiteY2" fmla="*/ 60960 h 800100"/>
                  <a:gd name="connsiteX3" fmla="*/ 1310640 w 2202180"/>
                  <a:gd name="connsiteY3" fmla="*/ 106680 h 800100"/>
                  <a:gd name="connsiteX4" fmla="*/ 1752600 w 2202180"/>
                  <a:gd name="connsiteY4" fmla="*/ 0 h 800100"/>
                  <a:gd name="connsiteX5" fmla="*/ 2202180 w 2202180"/>
                  <a:gd name="connsiteY5" fmla="*/ 182880 h 800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02180" h="800100">
                    <a:moveTo>
                      <a:pt x="0" y="800100"/>
                    </a:moveTo>
                    <a:lnTo>
                      <a:pt x="411480" y="563880"/>
                    </a:lnTo>
                    <a:lnTo>
                      <a:pt x="830580" y="60960"/>
                    </a:lnTo>
                    <a:lnTo>
                      <a:pt x="1310640" y="106680"/>
                    </a:lnTo>
                    <a:lnTo>
                      <a:pt x="1752600" y="0"/>
                    </a:lnTo>
                    <a:lnTo>
                      <a:pt x="2202180" y="182880"/>
                    </a:ln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973124" y="3891619"/>
                <a:ext cx="2579468" cy="152626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円/楕円 30"/>
              <p:cNvSpPr>
                <a:spLocks noChangeAspect="1"/>
              </p:cNvSpPr>
              <p:nvPr/>
            </p:nvSpPr>
            <p:spPr>
              <a:xfrm>
                <a:off x="6105221" y="5091206"/>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円/楕円 31"/>
              <p:cNvSpPr>
                <a:spLocks noChangeAspect="1"/>
              </p:cNvSpPr>
              <p:nvPr/>
            </p:nvSpPr>
            <p:spPr>
              <a:xfrm>
                <a:off x="6553281" y="4822548"/>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円/楕円 32"/>
              <p:cNvSpPr>
                <a:spLocks noChangeAspect="1"/>
              </p:cNvSpPr>
              <p:nvPr/>
            </p:nvSpPr>
            <p:spPr>
              <a:xfrm>
                <a:off x="6922797" y="4194193"/>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円/楕円 33"/>
              <p:cNvSpPr>
                <a:spLocks noChangeAspect="1"/>
              </p:cNvSpPr>
              <p:nvPr/>
            </p:nvSpPr>
            <p:spPr>
              <a:xfrm>
                <a:off x="8277687" y="4482487"/>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円/楕円 34"/>
              <p:cNvSpPr>
                <a:spLocks noChangeAspect="1"/>
              </p:cNvSpPr>
              <p:nvPr/>
            </p:nvSpPr>
            <p:spPr>
              <a:xfrm>
                <a:off x="7838552" y="4207582"/>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円/楕円 35"/>
              <p:cNvSpPr>
                <a:spLocks noChangeAspect="1"/>
              </p:cNvSpPr>
              <p:nvPr/>
            </p:nvSpPr>
            <p:spPr>
              <a:xfrm>
                <a:off x="7413699" y="4414653"/>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8" name="テキスト ボックス 47"/>
            <p:cNvSpPr txBox="1"/>
            <p:nvPr/>
          </p:nvSpPr>
          <p:spPr>
            <a:xfrm>
              <a:off x="5973124" y="3124845"/>
              <a:ext cx="1744787" cy="523220"/>
            </a:xfrm>
            <a:prstGeom prst="rect">
              <a:avLst/>
            </a:prstGeom>
            <a:noFill/>
            <a:ln w="38100">
              <a:solidFill>
                <a:schemeClr val="accent2"/>
              </a:solidFill>
            </a:ln>
          </p:spPr>
          <p:txBody>
            <a:bodyPr wrap="square" rtlCol="0">
              <a:spAutoFit/>
            </a:bodyPr>
            <a:lstStyle/>
            <a:p>
              <a:pPr algn="ctr"/>
              <a:r>
                <a:rPr lang="en-US" altLang="ja-JP" sz="2800" dirty="0" smtClean="0"/>
                <a:t>Classifier</a:t>
              </a:r>
              <a:endParaRPr kumimoji="1" lang="ja-JP" altLang="en-US" sz="2800" dirty="0" smtClean="0"/>
            </a:p>
          </p:txBody>
        </p:sp>
      </p:grpSp>
      <p:sp>
        <p:nvSpPr>
          <p:cNvPr id="15" name="加算記号 14"/>
          <p:cNvSpPr/>
          <p:nvPr/>
        </p:nvSpPr>
        <p:spPr>
          <a:xfrm>
            <a:off x="2965418" y="4300913"/>
            <a:ext cx="621030" cy="621030"/>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p:cNvGrpSpPr/>
          <p:nvPr/>
        </p:nvGrpSpPr>
        <p:grpSpPr>
          <a:xfrm>
            <a:off x="359448" y="2665242"/>
            <a:ext cx="4206805" cy="1526953"/>
            <a:chOff x="359448" y="2665242"/>
            <a:chExt cx="4206805" cy="1526953"/>
          </a:xfrm>
        </p:grpSpPr>
        <p:grpSp>
          <p:nvGrpSpPr>
            <p:cNvPr id="39" name="グループ化 38"/>
            <p:cNvGrpSpPr/>
            <p:nvPr/>
          </p:nvGrpSpPr>
          <p:grpSpPr>
            <a:xfrm>
              <a:off x="1985613" y="2665242"/>
              <a:ext cx="2580640" cy="1526953"/>
              <a:chOff x="1985613" y="2665242"/>
              <a:chExt cx="2580640" cy="1526953"/>
            </a:xfrm>
          </p:grpSpPr>
          <p:cxnSp>
            <p:nvCxnSpPr>
              <p:cNvPr id="61" name="直線コネクタ 60"/>
              <p:cNvCxnSpPr/>
              <p:nvPr/>
            </p:nvCxnSpPr>
            <p:spPr>
              <a:xfrm flipH="1">
                <a:off x="2117770" y="2899196"/>
                <a:ext cx="2362759" cy="893848"/>
              </a:xfrm>
              <a:prstGeom prst="line">
                <a:avLst/>
              </a:prstGeom>
              <a:ln w="28575">
                <a:solidFill>
                  <a:schemeClr val="accent1"/>
                </a:solidFill>
                <a:tailEnd type="none"/>
              </a:ln>
            </p:spPr>
            <p:style>
              <a:lnRef idx="1">
                <a:schemeClr val="accent1"/>
              </a:lnRef>
              <a:fillRef idx="0">
                <a:schemeClr val="accent1"/>
              </a:fillRef>
              <a:effectRef idx="0">
                <a:schemeClr val="accent1"/>
              </a:effectRef>
              <a:fontRef idx="minor">
                <a:schemeClr val="tx1"/>
              </a:fontRef>
            </p:style>
          </p:cxnSp>
          <p:sp>
            <p:nvSpPr>
              <p:cNvPr id="54" name="正方形/長方形 53"/>
              <p:cNvSpPr/>
              <p:nvPr/>
            </p:nvSpPr>
            <p:spPr>
              <a:xfrm>
                <a:off x="1985613" y="2665242"/>
                <a:ext cx="2580640" cy="152695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円/楕円 54"/>
              <p:cNvSpPr>
                <a:spLocks noChangeAspect="1"/>
              </p:cNvSpPr>
              <p:nvPr/>
            </p:nvSpPr>
            <p:spPr>
              <a:xfrm>
                <a:off x="2117770" y="3865373"/>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円/楕円 55"/>
              <p:cNvSpPr>
                <a:spLocks noChangeAspect="1"/>
              </p:cNvSpPr>
              <p:nvPr/>
            </p:nvSpPr>
            <p:spPr>
              <a:xfrm>
                <a:off x="2566034" y="3596594"/>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円/楕円 56"/>
              <p:cNvSpPr>
                <a:spLocks noChangeAspect="1"/>
              </p:cNvSpPr>
              <p:nvPr/>
            </p:nvSpPr>
            <p:spPr>
              <a:xfrm>
                <a:off x="2935717" y="2967954"/>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円/楕円 57"/>
              <p:cNvSpPr>
                <a:spLocks noChangeAspect="1"/>
              </p:cNvSpPr>
              <p:nvPr/>
            </p:nvSpPr>
            <p:spPr>
              <a:xfrm>
                <a:off x="4291223" y="3256378"/>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円/楕円 58"/>
              <p:cNvSpPr>
                <a:spLocks noChangeAspect="1"/>
              </p:cNvSpPr>
              <p:nvPr/>
            </p:nvSpPr>
            <p:spPr>
              <a:xfrm>
                <a:off x="3851889" y="2981348"/>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円/楕円 59"/>
              <p:cNvSpPr>
                <a:spLocks noChangeAspect="1"/>
              </p:cNvSpPr>
              <p:nvPr/>
            </p:nvSpPr>
            <p:spPr>
              <a:xfrm>
                <a:off x="3426842" y="3188514"/>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3" name="テキスト ボックス 52"/>
            <p:cNvSpPr txBox="1"/>
            <p:nvPr/>
          </p:nvSpPr>
          <p:spPr>
            <a:xfrm>
              <a:off x="359448" y="2670963"/>
              <a:ext cx="1484594" cy="523220"/>
            </a:xfrm>
            <a:prstGeom prst="rect">
              <a:avLst/>
            </a:prstGeom>
            <a:noFill/>
            <a:ln w="38100">
              <a:solidFill>
                <a:schemeClr val="accent2"/>
              </a:solidFill>
            </a:ln>
          </p:spPr>
          <p:txBody>
            <a:bodyPr wrap="square" rtlCol="0">
              <a:spAutoFit/>
            </a:bodyPr>
            <a:lstStyle/>
            <a:p>
              <a:pPr algn="ctr"/>
              <a:r>
                <a:rPr lang="en-US" altLang="ja-JP" sz="2800" dirty="0" smtClean="0"/>
                <a:t>Model</a:t>
              </a:r>
              <a:r>
                <a:rPr lang="ja-JP" altLang="en-US" sz="2800" dirty="0"/>
                <a:t> </a:t>
              </a:r>
              <a:r>
                <a:rPr lang="en-US" altLang="ja-JP" sz="2800" dirty="0"/>
                <a:t>1</a:t>
              </a:r>
              <a:endParaRPr kumimoji="1" lang="ja-JP" altLang="en-US" sz="2800" dirty="0" smtClean="0"/>
            </a:p>
          </p:txBody>
        </p:sp>
      </p:grpSp>
      <p:grpSp>
        <p:nvGrpSpPr>
          <p:cNvPr id="80" name="グループ化 79"/>
          <p:cNvGrpSpPr/>
          <p:nvPr/>
        </p:nvGrpSpPr>
        <p:grpSpPr>
          <a:xfrm>
            <a:off x="359448" y="5029200"/>
            <a:ext cx="4207220" cy="1526260"/>
            <a:chOff x="359448" y="5029200"/>
            <a:chExt cx="4207220" cy="1526260"/>
          </a:xfrm>
        </p:grpSpPr>
        <p:grpSp>
          <p:nvGrpSpPr>
            <p:cNvPr id="13" name="グループ化 12"/>
            <p:cNvGrpSpPr/>
            <p:nvPr/>
          </p:nvGrpSpPr>
          <p:grpSpPr>
            <a:xfrm>
              <a:off x="1987200" y="5029200"/>
              <a:ext cx="2579468" cy="1526260"/>
              <a:chOff x="1986199" y="5030661"/>
              <a:chExt cx="2579468" cy="1526260"/>
            </a:xfrm>
          </p:grpSpPr>
          <p:sp>
            <p:nvSpPr>
              <p:cNvPr id="26" name="フリーフォーム 25"/>
              <p:cNvSpPr/>
              <p:nvPr/>
            </p:nvSpPr>
            <p:spPr>
              <a:xfrm>
                <a:off x="2163816" y="5396606"/>
                <a:ext cx="2177821" cy="446275"/>
              </a:xfrm>
              <a:custGeom>
                <a:avLst/>
                <a:gdLst>
                  <a:gd name="connsiteX0" fmla="*/ 0 w 3098800"/>
                  <a:gd name="connsiteY0" fmla="*/ 635000 h 635000"/>
                  <a:gd name="connsiteX1" fmla="*/ 1130300 w 3098800"/>
                  <a:gd name="connsiteY1" fmla="*/ 0 h 635000"/>
                  <a:gd name="connsiteX2" fmla="*/ 2463800 w 3098800"/>
                  <a:gd name="connsiteY2" fmla="*/ 127000 h 635000"/>
                  <a:gd name="connsiteX3" fmla="*/ 3098800 w 3098800"/>
                  <a:gd name="connsiteY3" fmla="*/ 342900 h 635000"/>
                </a:gdLst>
                <a:ahLst/>
                <a:cxnLst>
                  <a:cxn ang="0">
                    <a:pos x="connsiteX0" y="connsiteY0"/>
                  </a:cxn>
                  <a:cxn ang="0">
                    <a:pos x="connsiteX1" y="connsiteY1"/>
                  </a:cxn>
                  <a:cxn ang="0">
                    <a:pos x="connsiteX2" y="connsiteY2"/>
                  </a:cxn>
                  <a:cxn ang="0">
                    <a:pos x="connsiteX3" y="connsiteY3"/>
                  </a:cxn>
                </a:cxnLst>
                <a:rect l="l" t="t" r="r" b="b"/>
                <a:pathLst>
                  <a:path w="3098800" h="635000">
                    <a:moveTo>
                      <a:pt x="0" y="635000"/>
                    </a:moveTo>
                    <a:lnTo>
                      <a:pt x="1130300" y="0"/>
                    </a:lnTo>
                    <a:lnTo>
                      <a:pt x="2463800" y="127000"/>
                    </a:lnTo>
                    <a:lnTo>
                      <a:pt x="3098800" y="342900"/>
                    </a:ln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正方形/長方形 17"/>
              <p:cNvSpPr/>
              <p:nvPr/>
            </p:nvSpPr>
            <p:spPr>
              <a:xfrm>
                <a:off x="1986199" y="5030661"/>
                <a:ext cx="2579468" cy="152626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円/楕円 18"/>
              <p:cNvSpPr/>
              <p:nvPr/>
            </p:nvSpPr>
            <p:spPr>
              <a:xfrm>
                <a:off x="2118296" y="6230248"/>
                <a:ext cx="108000" cy="108000"/>
              </a:xfrm>
              <a:prstGeom prst="ellipse">
                <a:avLst/>
              </a:prstGeom>
              <a:solidFill>
                <a:schemeClr val="tx1">
                  <a:lumMod val="50000"/>
                  <a:lumOff val="50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円/楕円 19"/>
              <p:cNvSpPr/>
              <p:nvPr/>
            </p:nvSpPr>
            <p:spPr>
              <a:xfrm>
                <a:off x="2566356" y="5961590"/>
                <a:ext cx="108000" cy="108000"/>
              </a:xfrm>
              <a:prstGeom prst="ellipse">
                <a:avLst/>
              </a:prstGeom>
              <a:solidFill>
                <a:schemeClr val="bg2">
                  <a:lumMod val="40000"/>
                  <a:lumOff val="60000"/>
                </a:schemeClr>
              </a:solidFill>
              <a:ln>
                <a:solidFill>
                  <a:schemeClr val="bg2">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円/楕円 20"/>
              <p:cNvSpPr/>
              <p:nvPr/>
            </p:nvSpPr>
            <p:spPr>
              <a:xfrm>
                <a:off x="2935872" y="5333235"/>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円/楕円 21"/>
              <p:cNvSpPr/>
              <p:nvPr/>
            </p:nvSpPr>
            <p:spPr>
              <a:xfrm>
                <a:off x="4290762" y="5621529"/>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円/楕円 22"/>
              <p:cNvSpPr/>
              <p:nvPr/>
            </p:nvSpPr>
            <p:spPr>
              <a:xfrm>
                <a:off x="3851627" y="5346624"/>
                <a:ext cx="108000" cy="108000"/>
              </a:xfrm>
              <a:prstGeom prst="ellipse">
                <a:avLst/>
              </a:prstGeom>
              <a:solidFill>
                <a:schemeClr val="tx1">
                  <a:lumMod val="50000"/>
                  <a:lumOff val="50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円/楕円 23"/>
              <p:cNvSpPr/>
              <p:nvPr/>
            </p:nvSpPr>
            <p:spPr>
              <a:xfrm>
                <a:off x="3426774" y="5553695"/>
                <a:ext cx="108000" cy="108000"/>
              </a:xfrm>
              <a:prstGeom prst="ellipse">
                <a:avLst/>
              </a:prstGeom>
              <a:solidFill>
                <a:schemeClr val="bg2">
                  <a:lumMod val="40000"/>
                  <a:lumOff val="60000"/>
                </a:schemeClr>
              </a:solidFill>
              <a:ln>
                <a:solidFill>
                  <a:schemeClr val="bg2">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3" name="テキスト ボックス 62"/>
            <p:cNvSpPr txBox="1"/>
            <p:nvPr/>
          </p:nvSpPr>
          <p:spPr>
            <a:xfrm>
              <a:off x="359448" y="5030475"/>
              <a:ext cx="1484593" cy="523220"/>
            </a:xfrm>
            <a:prstGeom prst="rect">
              <a:avLst/>
            </a:prstGeom>
            <a:noFill/>
            <a:ln w="38100">
              <a:solidFill>
                <a:schemeClr val="accent2"/>
              </a:solidFill>
            </a:ln>
          </p:spPr>
          <p:txBody>
            <a:bodyPr wrap="square" rtlCol="0">
              <a:spAutoFit/>
            </a:bodyPr>
            <a:lstStyle/>
            <a:p>
              <a:pPr algn="ctr"/>
              <a:r>
                <a:rPr lang="en-US" altLang="ja-JP" sz="2800" dirty="0" smtClean="0"/>
                <a:t>Model</a:t>
              </a:r>
              <a:r>
                <a:rPr lang="ja-JP" altLang="en-US" sz="2800" dirty="0"/>
                <a:t> </a:t>
              </a:r>
              <a:r>
                <a:rPr lang="en-US" altLang="ja-JP" sz="2800" dirty="0" smtClean="0"/>
                <a:t>2</a:t>
              </a:r>
              <a:endParaRPr kumimoji="1" lang="ja-JP" altLang="en-US" sz="2800" dirty="0" smtClean="0"/>
            </a:p>
          </p:txBody>
        </p:sp>
      </p:grpSp>
    </p:spTree>
    <p:extLst>
      <p:ext uri="{BB962C8B-B14F-4D97-AF65-F5344CB8AC3E}">
        <p14:creationId xmlns:p14="http://schemas.microsoft.com/office/powerpoint/2010/main" val="721778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1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smtClean="0"/>
              <a:t>勾配ブースティング</a:t>
            </a:r>
            <a:endParaRPr kumimoji="1" lang="ja-JP" altLang="en-US" dirty="0"/>
          </a:p>
        </p:txBody>
      </p:sp>
      <p:sp>
        <p:nvSpPr>
          <p:cNvPr id="3" name="コンテンツ プレースホルダー 2"/>
          <p:cNvSpPr>
            <a:spLocks noGrp="1"/>
          </p:cNvSpPr>
          <p:nvPr>
            <p:ph idx="1"/>
          </p:nvPr>
        </p:nvSpPr>
        <p:spPr/>
        <p:txBody>
          <a:bodyPr/>
          <a:lstStyle/>
          <a:p>
            <a:r>
              <a:rPr lang="ja-JP" altLang="en-US" dirty="0"/>
              <a:t>勾配ブースティング：弱識別器を追加する際</a:t>
            </a:r>
            <a:r>
              <a:rPr lang="ja-JP" altLang="en-US" dirty="0" smtClean="0"/>
              <a:t>，</a:t>
            </a:r>
            <a:r>
              <a:rPr lang="en-US" altLang="ja-JP" dirty="0" smtClean="0"/>
              <a:t/>
            </a:r>
            <a:br>
              <a:rPr lang="en-US" altLang="ja-JP" dirty="0" smtClean="0"/>
            </a:br>
            <a:r>
              <a:rPr lang="ja-JP" altLang="en-US" dirty="0" smtClean="0">
                <a:solidFill>
                  <a:schemeClr val="accent1"/>
                </a:solidFill>
              </a:rPr>
              <a:t>前段</a:t>
            </a:r>
            <a:r>
              <a:rPr lang="ja-JP" altLang="en-US" dirty="0">
                <a:solidFill>
                  <a:schemeClr val="accent1"/>
                </a:solidFill>
              </a:rPr>
              <a:t>までの残差 </a:t>
            </a:r>
            <a:r>
              <a:rPr lang="en-US" altLang="ja-JP" dirty="0"/>
              <a:t>(</a:t>
            </a:r>
            <a:r>
              <a:rPr lang="ja-JP" altLang="en-US" dirty="0"/>
              <a:t>勾配</a:t>
            </a:r>
            <a:r>
              <a:rPr lang="en-US" altLang="ja-JP" dirty="0"/>
              <a:t>) </a:t>
            </a:r>
            <a:r>
              <a:rPr lang="ja-JP" altLang="en-US" dirty="0"/>
              <a:t>を用いる手法</a:t>
            </a:r>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4</a:t>
            </a:fld>
            <a:endParaRPr kumimoji="1" lang="ja-JP" altLang="en-US" dirty="0"/>
          </a:p>
        </p:txBody>
      </p:sp>
      <p:sp>
        <p:nvSpPr>
          <p:cNvPr id="15" name="加算記号 14"/>
          <p:cNvSpPr/>
          <p:nvPr/>
        </p:nvSpPr>
        <p:spPr>
          <a:xfrm>
            <a:off x="2965418" y="4300913"/>
            <a:ext cx="621030" cy="621030"/>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p:cNvGrpSpPr/>
          <p:nvPr/>
        </p:nvGrpSpPr>
        <p:grpSpPr>
          <a:xfrm>
            <a:off x="359448" y="2665242"/>
            <a:ext cx="4206805" cy="1526953"/>
            <a:chOff x="359448" y="2665242"/>
            <a:chExt cx="4206805" cy="1526953"/>
          </a:xfrm>
        </p:grpSpPr>
        <p:grpSp>
          <p:nvGrpSpPr>
            <p:cNvPr id="13" name="グループ化 12"/>
            <p:cNvGrpSpPr/>
            <p:nvPr/>
          </p:nvGrpSpPr>
          <p:grpSpPr>
            <a:xfrm>
              <a:off x="1985613" y="2665242"/>
              <a:ext cx="2580640" cy="1526953"/>
              <a:chOff x="1985613" y="2665242"/>
              <a:chExt cx="2580640" cy="1526953"/>
            </a:xfrm>
          </p:grpSpPr>
          <p:cxnSp>
            <p:nvCxnSpPr>
              <p:cNvPr id="14" name="直線コネクタ 13"/>
              <p:cNvCxnSpPr/>
              <p:nvPr/>
            </p:nvCxnSpPr>
            <p:spPr>
              <a:xfrm flipH="1">
                <a:off x="2117770" y="2899196"/>
                <a:ext cx="2362759" cy="893848"/>
              </a:xfrm>
              <a:prstGeom prst="line">
                <a:avLst/>
              </a:prstGeom>
              <a:ln w="28575">
                <a:solidFill>
                  <a:schemeClr val="accent1"/>
                </a:solidFill>
                <a:tailEnd type="none"/>
              </a:ln>
            </p:spPr>
            <p:style>
              <a:lnRef idx="1">
                <a:schemeClr val="accent1"/>
              </a:lnRef>
              <a:fillRef idx="0">
                <a:schemeClr val="accent1"/>
              </a:fillRef>
              <a:effectRef idx="0">
                <a:schemeClr val="accent1"/>
              </a:effectRef>
              <a:fontRef idx="minor">
                <a:schemeClr val="tx1"/>
              </a:fontRef>
            </p:style>
          </p:cxnSp>
          <p:sp>
            <p:nvSpPr>
              <p:cNvPr id="5" name="正方形/長方形 4"/>
              <p:cNvSpPr/>
              <p:nvPr/>
            </p:nvSpPr>
            <p:spPr>
              <a:xfrm>
                <a:off x="1985613" y="2665242"/>
                <a:ext cx="2580640" cy="152695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円/楕円 5"/>
              <p:cNvSpPr>
                <a:spLocks noChangeAspect="1"/>
              </p:cNvSpPr>
              <p:nvPr/>
            </p:nvSpPr>
            <p:spPr>
              <a:xfrm>
                <a:off x="2117770" y="3865373"/>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円/楕円 6"/>
              <p:cNvSpPr>
                <a:spLocks noChangeAspect="1"/>
              </p:cNvSpPr>
              <p:nvPr/>
            </p:nvSpPr>
            <p:spPr>
              <a:xfrm>
                <a:off x="2566034" y="3596594"/>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円/楕円 8"/>
              <p:cNvSpPr>
                <a:spLocks noChangeAspect="1"/>
              </p:cNvSpPr>
              <p:nvPr/>
            </p:nvSpPr>
            <p:spPr>
              <a:xfrm>
                <a:off x="2935717" y="2967954"/>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円/楕円 9"/>
              <p:cNvSpPr>
                <a:spLocks noChangeAspect="1"/>
              </p:cNvSpPr>
              <p:nvPr/>
            </p:nvSpPr>
            <p:spPr>
              <a:xfrm>
                <a:off x="4291223" y="3256378"/>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円/楕円 10"/>
              <p:cNvSpPr>
                <a:spLocks noChangeAspect="1"/>
              </p:cNvSpPr>
              <p:nvPr/>
            </p:nvSpPr>
            <p:spPr>
              <a:xfrm>
                <a:off x="3851889" y="2981348"/>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円/楕円 11"/>
              <p:cNvSpPr>
                <a:spLocks noChangeAspect="1"/>
              </p:cNvSpPr>
              <p:nvPr/>
            </p:nvSpPr>
            <p:spPr>
              <a:xfrm>
                <a:off x="3426842" y="3188514"/>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2" name="テキスト ボックス 41"/>
            <p:cNvSpPr txBox="1"/>
            <p:nvPr/>
          </p:nvSpPr>
          <p:spPr>
            <a:xfrm>
              <a:off x="359448" y="2670963"/>
              <a:ext cx="1484594" cy="523220"/>
            </a:xfrm>
            <a:prstGeom prst="rect">
              <a:avLst/>
            </a:prstGeom>
            <a:noFill/>
            <a:ln w="38100">
              <a:solidFill>
                <a:schemeClr val="accent2"/>
              </a:solidFill>
            </a:ln>
          </p:spPr>
          <p:txBody>
            <a:bodyPr wrap="square" rtlCol="0">
              <a:spAutoFit/>
            </a:bodyPr>
            <a:lstStyle/>
            <a:p>
              <a:pPr algn="ctr"/>
              <a:r>
                <a:rPr lang="en-US" altLang="ja-JP" sz="2800" dirty="0" smtClean="0"/>
                <a:t>Model</a:t>
              </a:r>
              <a:r>
                <a:rPr lang="ja-JP" altLang="en-US" sz="2800" dirty="0"/>
                <a:t> </a:t>
              </a:r>
              <a:r>
                <a:rPr lang="en-US" altLang="ja-JP" sz="2800" dirty="0"/>
                <a:t>1</a:t>
              </a:r>
              <a:endParaRPr kumimoji="1" lang="ja-JP" altLang="en-US" sz="2800" dirty="0" smtClean="0"/>
            </a:p>
          </p:txBody>
        </p:sp>
      </p:grpSp>
      <p:grpSp>
        <p:nvGrpSpPr>
          <p:cNvPr id="18" name="グループ化 17"/>
          <p:cNvGrpSpPr/>
          <p:nvPr/>
        </p:nvGrpSpPr>
        <p:grpSpPr>
          <a:xfrm>
            <a:off x="178312" y="5029710"/>
            <a:ext cx="4753506" cy="1526260"/>
            <a:chOff x="178312" y="5029710"/>
            <a:chExt cx="4753506" cy="1526260"/>
          </a:xfrm>
        </p:grpSpPr>
        <p:sp>
          <p:nvSpPr>
            <p:cNvPr id="43" name="テキスト ボックス 42"/>
            <p:cNvSpPr txBox="1"/>
            <p:nvPr/>
          </p:nvSpPr>
          <p:spPr>
            <a:xfrm>
              <a:off x="359448" y="5030475"/>
              <a:ext cx="1484593" cy="523220"/>
            </a:xfrm>
            <a:prstGeom prst="rect">
              <a:avLst/>
            </a:prstGeom>
            <a:noFill/>
            <a:ln w="38100">
              <a:solidFill>
                <a:schemeClr val="accent2"/>
              </a:solidFill>
            </a:ln>
          </p:spPr>
          <p:txBody>
            <a:bodyPr wrap="square" rtlCol="0">
              <a:spAutoFit/>
            </a:bodyPr>
            <a:lstStyle/>
            <a:p>
              <a:pPr algn="ctr"/>
              <a:r>
                <a:rPr lang="en-US" altLang="ja-JP" sz="2800" dirty="0" smtClean="0"/>
                <a:t>Model</a:t>
              </a:r>
              <a:r>
                <a:rPr lang="ja-JP" altLang="en-US" sz="2800" dirty="0"/>
                <a:t> </a:t>
              </a:r>
              <a:r>
                <a:rPr lang="en-US" altLang="ja-JP" sz="2800" dirty="0" smtClean="0"/>
                <a:t>2</a:t>
              </a:r>
              <a:endParaRPr kumimoji="1" lang="ja-JP" altLang="en-US" sz="2800" dirty="0" smtClean="0"/>
            </a:p>
          </p:txBody>
        </p:sp>
        <p:sp>
          <p:nvSpPr>
            <p:cNvPr id="72" name="テキスト ボックス 71"/>
            <p:cNvSpPr txBox="1"/>
            <p:nvPr/>
          </p:nvSpPr>
          <p:spPr>
            <a:xfrm>
              <a:off x="178312" y="5606989"/>
              <a:ext cx="1846864" cy="461665"/>
            </a:xfrm>
            <a:prstGeom prst="rect">
              <a:avLst/>
            </a:prstGeom>
            <a:noFill/>
            <a:ln w="38100">
              <a:noFill/>
            </a:ln>
          </p:spPr>
          <p:txBody>
            <a:bodyPr wrap="square" rtlCol="0">
              <a:spAutoFit/>
            </a:bodyPr>
            <a:lstStyle/>
            <a:p>
              <a:pPr algn="ctr"/>
              <a:r>
                <a:rPr lang="en-US" altLang="ja-JP" sz="2400" dirty="0" smtClean="0"/>
                <a:t>(</a:t>
              </a:r>
              <a:r>
                <a:rPr lang="ja-JP" altLang="en-US" sz="2400" dirty="0" smtClean="0"/>
                <a:t>勾配情報</a:t>
              </a:r>
              <a:r>
                <a:rPr lang="en-US" altLang="ja-JP" sz="2400" dirty="0" smtClean="0"/>
                <a:t>)</a:t>
              </a:r>
              <a:endParaRPr kumimoji="1" lang="ja-JP" altLang="en-US" sz="2400" dirty="0" smtClean="0"/>
            </a:p>
          </p:txBody>
        </p:sp>
        <p:grpSp>
          <p:nvGrpSpPr>
            <p:cNvPr id="8" name="グループ化 7"/>
            <p:cNvGrpSpPr/>
            <p:nvPr/>
          </p:nvGrpSpPr>
          <p:grpSpPr>
            <a:xfrm>
              <a:off x="1986199" y="5029710"/>
              <a:ext cx="2945619" cy="1526260"/>
              <a:chOff x="1986199" y="5029710"/>
              <a:chExt cx="2945619" cy="1526260"/>
            </a:xfrm>
          </p:grpSpPr>
          <p:cxnSp>
            <p:nvCxnSpPr>
              <p:cNvPr id="63" name="直線コネクタ 62"/>
              <p:cNvCxnSpPr>
                <a:stCxn id="65" idx="1"/>
                <a:endCxn id="65" idx="3"/>
              </p:cNvCxnSpPr>
              <p:nvPr/>
            </p:nvCxnSpPr>
            <p:spPr>
              <a:xfrm>
                <a:off x="1986199" y="5792840"/>
                <a:ext cx="2579468" cy="0"/>
              </a:xfrm>
              <a:prstGeom prst="line">
                <a:avLst/>
              </a:prstGeom>
              <a:ln w="28575">
                <a:solidFill>
                  <a:schemeClr val="tx1"/>
                </a:solidFill>
                <a:prstDash val="sysDot"/>
                <a:tailEnd type="none"/>
              </a:ln>
            </p:spPr>
            <p:style>
              <a:lnRef idx="1">
                <a:schemeClr val="accent1"/>
              </a:lnRef>
              <a:fillRef idx="0">
                <a:schemeClr val="accent1"/>
              </a:fillRef>
              <a:effectRef idx="0">
                <a:schemeClr val="accent1"/>
              </a:effectRef>
              <a:fontRef idx="minor">
                <a:schemeClr val="tx1"/>
              </a:fontRef>
            </p:style>
          </p:cxnSp>
          <p:sp>
            <p:nvSpPr>
              <p:cNvPr id="64" name="フリーフォーム 63"/>
              <p:cNvSpPr/>
              <p:nvPr/>
            </p:nvSpPr>
            <p:spPr>
              <a:xfrm>
                <a:off x="2126565" y="5345438"/>
                <a:ext cx="2238375" cy="666750"/>
              </a:xfrm>
              <a:custGeom>
                <a:avLst/>
                <a:gdLst>
                  <a:gd name="connsiteX0" fmla="*/ 0 w 2238375"/>
                  <a:gd name="connsiteY0" fmla="*/ 447675 h 666750"/>
                  <a:gd name="connsiteX1" fmla="*/ 495300 w 2238375"/>
                  <a:gd name="connsiteY1" fmla="*/ 400050 h 666750"/>
                  <a:gd name="connsiteX2" fmla="*/ 819150 w 2238375"/>
                  <a:gd name="connsiteY2" fmla="*/ 0 h 666750"/>
                  <a:gd name="connsiteX3" fmla="*/ 2238375 w 2238375"/>
                  <a:gd name="connsiteY3" fmla="*/ 666750 h 666750"/>
                  <a:gd name="connsiteX4" fmla="*/ 2238375 w 2238375"/>
                  <a:gd name="connsiteY4" fmla="*/ 666750 h 666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38375" h="666750">
                    <a:moveTo>
                      <a:pt x="0" y="447675"/>
                    </a:moveTo>
                    <a:lnTo>
                      <a:pt x="495300" y="400050"/>
                    </a:lnTo>
                    <a:lnTo>
                      <a:pt x="819150" y="0"/>
                    </a:lnTo>
                    <a:lnTo>
                      <a:pt x="2238375" y="666750"/>
                    </a:lnTo>
                    <a:lnTo>
                      <a:pt x="2238375" y="666750"/>
                    </a:ln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正方形/長方形 64"/>
              <p:cNvSpPr/>
              <p:nvPr/>
            </p:nvSpPr>
            <p:spPr>
              <a:xfrm>
                <a:off x="1986199" y="5029710"/>
                <a:ext cx="2579468" cy="152626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円/楕円 65"/>
              <p:cNvSpPr>
                <a:spLocks noChangeAspect="1"/>
              </p:cNvSpPr>
              <p:nvPr/>
            </p:nvSpPr>
            <p:spPr>
              <a:xfrm>
                <a:off x="2118296" y="5838772"/>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円/楕円 66"/>
              <p:cNvSpPr>
                <a:spLocks noChangeAspect="1"/>
              </p:cNvSpPr>
              <p:nvPr/>
            </p:nvSpPr>
            <p:spPr>
              <a:xfrm>
                <a:off x="2566356" y="5770139"/>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8" name="円/楕円 67"/>
              <p:cNvSpPr>
                <a:spLocks noChangeAspect="1"/>
              </p:cNvSpPr>
              <p:nvPr/>
            </p:nvSpPr>
            <p:spPr>
              <a:xfrm>
                <a:off x="2935872" y="5237034"/>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円/楕円 68"/>
              <p:cNvSpPr>
                <a:spLocks noChangeAspect="1"/>
              </p:cNvSpPr>
              <p:nvPr/>
            </p:nvSpPr>
            <p:spPr>
              <a:xfrm>
                <a:off x="4290762" y="6020628"/>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円/楕円 69"/>
              <p:cNvSpPr>
                <a:spLocks noChangeAspect="1"/>
              </p:cNvSpPr>
              <p:nvPr/>
            </p:nvSpPr>
            <p:spPr>
              <a:xfrm>
                <a:off x="3851627" y="5621898"/>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円/楕円 70"/>
              <p:cNvSpPr>
                <a:spLocks noChangeAspect="1"/>
              </p:cNvSpPr>
              <p:nvPr/>
            </p:nvSpPr>
            <p:spPr>
              <a:xfrm>
                <a:off x="3426774" y="5695619"/>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p:cNvSpPr txBox="1"/>
              <p:nvPr/>
            </p:nvSpPr>
            <p:spPr>
              <a:xfrm>
                <a:off x="4610100" y="5536190"/>
                <a:ext cx="321718" cy="461665"/>
              </a:xfrm>
              <a:prstGeom prst="rect">
                <a:avLst/>
              </a:prstGeom>
              <a:noFill/>
              <a:ln w="38100">
                <a:noFill/>
              </a:ln>
            </p:spPr>
            <p:txBody>
              <a:bodyPr wrap="square" rtlCol="0">
                <a:spAutoFit/>
              </a:bodyPr>
              <a:lstStyle/>
              <a:p>
                <a:pPr algn="ctr"/>
                <a:r>
                  <a:rPr lang="en-US" altLang="ja-JP" sz="2400" dirty="0"/>
                  <a:t>0</a:t>
                </a:r>
                <a:endParaRPr kumimoji="1" lang="ja-JP" altLang="en-US" sz="2400" dirty="0" smtClean="0"/>
              </a:p>
            </p:txBody>
          </p:sp>
        </p:grpSp>
      </p:grpSp>
      <p:sp>
        <p:nvSpPr>
          <p:cNvPr id="47" name="下矢印 46"/>
          <p:cNvSpPr/>
          <p:nvPr/>
        </p:nvSpPr>
        <p:spPr>
          <a:xfrm rot="16200000">
            <a:off x="4932271" y="4296176"/>
            <a:ext cx="675250" cy="629812"/>
          </a:xfrm>
          <a:prstGeom prst="down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0" name="グループ化 49"/>
          <p:cNvGrpSpPr/>
          <p:nvPr/>
        </p:nvGrpSpPr>
        <p:grpSpPr>
          <a:xfrm>
            <a:off x="5973124" y="3124845"/>
            <a:ext cx="2579468" cy="2293034"/>
            <a:chOff x="5973124" y="3124845"/>
            <a:chExt cx="2579468" cy="2293034"/>
          </a:xfrm>
        </p:grpSpPr>
        <p:grpSp>
          <p:nvGrpSpPr>
            <p:cNvPr id="51" name="グループ化 50"/>
            <p:cNvGrpSpPr/>
            <p:nvPr/>
          </p:nvGrpSpPr>
          <p:grpSpPr>
            <a:xfrm>
              <a:off x="5973124" y="3891619"/>
              <a:ext cx="2579468" cy="1526260"/>
              <a:chOff x="5973124" y="3891619"/>
              <a:chExt cx="2579468" cy="1526260"/>
            </a:xfrm>
          </p:grpSpPr>
          <p:sp>
            <p:nvSpPr>
              <p:cNvPr id="60" name="フリーフォーム 59"/>
              <p:cNvSpPr/>
              <p:nvPr/>
            </p:nvSpPr>
            <p:spPr>
              <a:xfrm>
                <a:off x="6143246" y="4264117"/>
                <a:ext cx="2202180" cy="800100"/>
              </a:xfrm>
              <a:custGeom>
                <a:avLst/>
                <a:gdLst>
                  <a:gd name="connsiteX0" fmla="*/ 0 w 2202180"/>
                  <a:gd name="connsiteY0" fmla="*/ 800100 h 800100"/>
                  <a:gd name="connsiteX1" fmla="*/ 411480 w 2202180"/>
                  <a:gd name="connsiteY1" fmla="*/ 563880 h 800100"/>
                  <a:gd name="connsiteX2" fmla="*/ 830580 w 2202180"/>
                  <a:gd name="connsiteY2" fmla="*/ 60960 h 800100"/>
                  <a:gd name="connsiteX3" fmla="*/ 1310640 w 2202180"/>
                  <a:gd name="connsiteY3" fmla="*/ 106680 h 800100"/>
                  <a:gd name="connsiteX4" fmla="*/ 1752600 w 2202180"/>
                  <a:gd name="connsiteY4" fmla="*/ 0 h 800100"/>
                  <a:gd name="connsiteX5" fmla="*/ 2202180 w 2202180"/>
                  <a:gd name="connsiteY5" fmla="*/ 182880 h 800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02180" h="800100">
                    <a:moveTo>
                      <a:pt x="0" y="800100"/>
                    </a:moveTo>
                    <a:lnTo>
                      <a:pt x="411480" y="563880"/>
                    </a:lnTo>
                    <a:lnTo>
                      <a:pt x="830580" y="60960"/>
                    </a:lnTo>
                    <a:lnTo>
                      <a:pt x="1310640" y="106680"/>
                    </a:lnTo>
                    <a:lnTo>
                      <a:pt x="1752600" y="0"/>
                    </a:lnTo>
                    <a:lnTo>
                      <a:pt x="2202180" y="182880"/>
                    </a:ln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正方形/長方形 52"/>
              <p:cNvSpPr/>
              <p:nvPr/>
            </p:nvSpPr>
            <p:spPr>
              <a:xfrm>
                <a:off x="5973124" y="3891619"/>
                <a:ext cx="2579468" cy="152626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円/楕円 53"/>
              <p:cNvSpPr>
                <a:spLocks noChangeAspect="1"/>
              </p:cNvSpPr>
              <p:nvPr/>
            </p:nvSpPr>
            <p:spPr>
              <a:xfrm>
                <a:off x="6105221" y="5091206"/>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円/楕円 54"/>
              <p:cNvSpPr>
                <a:spLocks noChangeAspect="1"/>
              </p:cNvSpPr>
              <p:nvPr/>
            </p:nvSpPr>
            <p:spPr>
              <a:xfrm>
                <a:off x="6553281" y="4822548"/>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円/楕円 55"/>
              <p:cNvSpPr>
                <a:spLocks noChangeAspect="1"/>
              </p:cNvSpPr>
              <p:nvPr/>
            </p:nvSpPr>
            <p:spPr>
              <a:xfrm>
                <a:off x="6922797" y="4194193"/>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円/楕円 56"/>
              <p:cNvSpPr>
                <a:spLocks noChangeAspect="1"/>
              </p:cNvSpPr>
              <p:nvPr/>
            </p:nvSpPr>
            <p:spPr>
              <a:xfrm>
                <a:off x="8277687" y="4482487"/>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円/楕円 57"/>
              <p:cNvSpPr>
                <a:spLocks noChangeAspect="1"/>
              </p:cNvSpPr>
              <p:nvPr/>
            </p:nvSpPr>
            <p:spPr>
              <a:xfrm>
                <a:off x="7838552" y="4207582"/>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円/楕円 58"/>
              <p:cNvSpPr>
                <a:spLocks noChangeAspect="1"/>
              </p:cNvSpPr>
              <p:nvPr/>
            </p:nvSpPr>
            <p:spPr>
              <a:xfrm>
                <a:off x="7413699" y="4414653"/>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2" name="テキスト ボックス 51"/>
            <p:cNvSpPr txBox="1"/>
            <p:nvPr/>
          </p:nvSpPr>
          <p:spPr>
            <a:xfrm>
              <a:off x="5973124" y="3124845"/>
              <a:ext cx="1744787" cy="523220"/>
            </a:xfrm>
            <a:prstGeom prst="rect">
              <a:avLst/>
            </a:prstGeom>
            <a:noFill/>
            <a:ln w="38100">
              <a:solidFill>
                <a:schemeClr val="accent2"/>
              </a:solidFill>
            </a:ln>
          </p:spPr>
          <p:txBody>
            <a:bodyPr wrap="square" rtlCol="0">
              <a:spAutoFit/>
            </a:bodyPr>
            <a:lstStyle/>
            <a:p>
              <a:pPr algn="ctr"/>
              <a:r>
                <a:rPr lang="en-US" altLang="ja-JP" sz="2800" dirty="0" smtClean="0"/>
                <a:t>Classifier</a:t>
              </a:r>
              <a:endParaRPr kumimoji="1" lang="ja-JP" altLang="en-US" sz="2800" dirty="0" smtClean="0"/>
            </a:p>
          </p:txBody>
        </p:sp>
      </p:grpSp>
    </p:spTree>
    <p:extLst>
      <p:ext uri="{BB962C8B-B14F-4D97-AF65-F5344CB8AC3E}">
        <p14:creationId xmlns:p14="http://schemas.microsoft.com/office/powerpoint/2010/main" val="24929769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4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smtClean="0"/>
              <a:t>勾配ブースティング</a:t>
            </a:r>
            <a:endParaRPr kumimoji="1" lang="ja-JP" altLang="en-US" dirty="0"/>
          </a:p>
        </p:txBody>
      </p:sp>
      <p:sp>
        <p:nvSpPr>
          <p:cNvPr id="3" name="コンテンツ プレースホルダー 2"/>
          <p:cNvSpPr>
            <a:spLocks noGrp="1"/>
          </p:cNvSpPr>
          <p:nvPr>
            <p:ph idx="1"/>
          </p:nvPr>
        </p:nvSpPr>
        <p:spPr/>
        <p:txBody>
          <a:bodyPr/>
          <a:lstStyle/>
          <a:p>
            <a:r>
              <a:rPr kumimoji="1" lang="ja-JP" altLang="en-US" dirty="0" smtClean="0"/>
              <a:t>勾配ブースティングの考え方</a:t>
            </a:r>
            <a:endParaRPr kumimoji="1" lang="en-US" altLang="ja-JP" dirty="0" smtClean="0"/>
          </a:p>
          <a:p>
            <a:r>
              <a:rPr lang="en-US" altLang="ja-JP" dirty="0"/>
              <a:t>1</a:t>
            </a:r>
            <a:r>
              <a:rPr lang="ja-JP" altLang="en-US" dirty="0" smtClean="0"/>
              <a:t>つ</a:t>
            </a:r>
            <a:r>
              <a:rPr lang="ja-JP" altLang="en-US" dirty="0"/>
              <a:t>目</a:t>
            </a:r>
            <a:r>
              <a:rPr lang="ja-JP" altLang="en-US" dirty="0" smtClean="0"/>
              <a:t>の識別器の出力を返す関数 </a:t>
            </a:r>
            <a:r>
              <a:rPr lang="en-US" altLang="ja-JP" i="1" dirty="0" smtClean="0">
                <a:latin typeface="Times New Roman" panose="02020603050405020304" pitchFamily="18" charset="0"/>
                <a:cs typeface="Times New Roman" panose="02020603050405020304" pitchFamily="18" charset="0"/>
              </a:rPr>
              <a:t>f</a:t>
            </a:r>
            <a:r>
              <a:rPr lang="en-US" altLang="ja-JP" baseline="-25000" dirty="0" smtClean="0">
                <a:latin typeface="Times New Roman" panose="02020603050405020304" pitchFamily="18" charset="0"/>
                <a:cs typeface="Times New Roman" panose="02020603050405020304" pitchFamily="18" charset="0"/>
              </a:rPr>
              <a:t>1 </a:t>
            </a:r>
            <a:r>
              <a:rPr lang="ja-JP" altLang="en-US" dirty="0" smtClean="0"/>
              <a:t>を考えると</a:t>
            </a:r>
            <a:r>
              <a:rPr lang="en-US" altLang="ja-JP" dirty="0" smtClean="0"/>
              <a:t>,</a:t>
            </a:r>
            <a:r>
              <a:rPr lang="ja-JP" altLang="en-US" dirty="0" smtClean="0"/>
              <a:t>入力</a:t>
            </a:r>
            <a:r>
              <a:rPr lang="en-US" altLang="ja-JP" i="1" dirty="0" smtClean="0">
                <a:latin typeface="Times New Roman" panose="02020603050405020304" pitchFamily="18" charset="0"/>
                <a:cs typeface="Times New Roman" panose="02020603050405020304" pitchFamily="18" charset="0"/>
              </a:rPr>
              <a:t>x</a:t>
            </a:r>
            <a:r>
              <a:rPr lang="en-US" altLang="ja-JP" i="1" baseline="-25000" dirty="0" smtClean="0">
                <a:latin typeface="Times New Roman" panose="02020603050405020304" pitchFamily="18" charset="0"/>
                <a:cs typeface="Times New Roman" panose="02020603050405020304" pitchFamily="18" charset="0"/>
              </a:rPr>
              <a:t>i</a:t>
            </a:r>
            <a:r>
              <a:rPr lang="ja-JP" altLang="en-US" dirty="0" smtClean="0"/>
              <a:t>に対する</a:t>
            </a:r>
            <a:r>
              <a:rPr lang="ja-JP" altLang="en-US" dirty="0" smtClean="0"/>
              <a:t>損失</a:t>
            </a:r>
            <a:r>
              <a:rPr lang="ja-JP" altLang="en-US" dirty="0" smtClean="0"/>
              <a:t>関数 </a:t>
            </a:r>
            <a:r>
              <a:rPr lang="en-US" altLang="ja-JP" i="1" dirty="0" smtClean="0">
                <a:latin typeface="Times New Roman" panose="02020603050405020304" pitchFamily="18" charset="0"/>
                <a:cs typeface="Times New Roman" panose="02020603050405020304" pitchFamily="18" charset="0"/>
              </a:rPr>
              <a:t>L </a:t>
            </a:r>
            <a:r>
              <a:rPr lang="ja-JP" altLang="en-US" dirty="0" smtClean="0"/>
              <a:t>の勾配 </a:t>
            </a:r>
            <a:r>
              <a:rPr lang="en-US" altLang="ja-JP" i="1" dirty="0" err="1" smtClean="0">
                <a:latin typeface="Times New Roman" panose="02020603050405020304" pitchFamily="18" charset="0"/>
                <a:cs typeface="Times New Roman" panose="02020603050405020304" pitchFamily="18" charset="0"/>
              </a:rPr>
              <a:t>g</a:t>
            </a:r>
            <a:r>
              <a:rPr lang="en-US" altLang="ja-JP" i="1" baseline="-25000" dirty="0" err="1" smtClean="0">
                <a:latin typeface="Times New Roman" panose="02020603050405020304" pitchFamily="18" charset="0"/>
                <a:cs typeface="Times New Roman" panose="02020603050405020304" pitchFamily="18" charset="0"/>
              </a:rPr>
              <a:t>i</a:t>
            </a:r>
            <a:r>
              <a:rPr lang="en-US" altLang="ja-JP" i="1" baseline="-25000" dirty="0" smtClean="0">
                <a:latin typeface="Times New Roman" panose="02020603050405020304" pitchFamily="18" charset="0"/>
                <a:cs typeface="Times New Roman" panose="02020603050405020304" pitchFamily="18" charset="0"/>
              </a:rPr>
              <a:t> </a:t>
            </a:r>
            <a:r>
              <a:rPr lang="ja-JP" altLang="en-US" dirty="0" smtClean="0"/>
              <a:t>は</a:t>
            </a:r>
            <a:endParaRPr lang="en-US" altLang="ja-JP" dirty="0" smtClean="0"/>
          </a:p>
          <a:p>
            <a:r>
              <a:rPr lang="en-US" altLang="ja-JP" i="1" dirty="0">
                <a:latin typeface="Cambria Math" panose="02040503050406030204" pitchFamily="18" charset="0"/>
              </a:rPr>
              <a:t/>
            </a:r>
            <a:br>
              <a:rPr lang="en-US" altLang="ja-JP" i="1" dirty="0">
                <a:latin typeface="Cambria Math" panose="02040503050406030204" pitchFamily="18" charset="0"/>
              </a:rPr>
            </a:br>
            <a:endParaRPr lang="en-US" altLang="ja-JP" sz="2000" i="1" dirty="0" smtClean="0">
              <a:latin typeface="Cambria Math" panose="02040503050406030204" pitchFamily="18" charset="0"/>
            </a:endParaRPr>
          </a:p>
          <a:p>
            <a:endParaRPr lang="en-US" altLang="ja-JP" sz="2000" i="1" dirty="0">
              <a:latin typeface="Cambria Math" panose="02040503050406030204" pitchFamily="18" charset="0"/>
            </a:endParaRPr>
          </a:p>
          <a:p>
            <a:r>
              <a:rPr lang="ja-JP" altLang="en-US" dirty="0" smtClean="0"/>
              <a:t>勾配</a:t>
            </a:r>
            <a:r>
              <a:rPr lang="ja-JP" altLang="en-US" dirty="0" smtClean="0"/>
              <a:t>降下法の考えを用いると，</a:t>
            </a:r>
            <a:r>
              <a:rPr lang="en-US" altLang="ja-JP" dirty="0" smtClean="0"/>
              <a:t>2</a:t>
            </a:r>
            <a:r>
              <a:rPr lang="ja-JP" altLang="en-US" dirty="0" smtClean="0"/>
              <a:t>つ目の識別器の出力を返す関数 </a:t>
            </a:r>
            <a:r>
              <a:rPr lang="en-US" altLang="ja-JP" i="1" dirty="0" smtClean="0">
                <a:latin typeface="Times New Roman" panose="02020603050405020304" pitchFamily="18" charset="0"/>
                <a:cs typeface="Times New Roman" panose="02020603050405020304" pitchFamily="18" charset="0"/>
              </a:rPr>
              <a:t>f</a:t>
            </a:r>
            <a:r>
              <a:rPr lang="en-US" altLang="ja-JP" baseline="-25000" dirty="0" smtClean="0">
                <a:latin typeface="Times New Roman" panose="02020603050405020304" pitchFamily="18" charset="0"/>
                <a:cs typeface="Times New Roman" panose="02020603050405020304" pitchFamily="18" charset="0"/>
              </a:rPr>
              <a:t>2</a:t>
            </a:r>
            <a:r>
              <a:rPr lang="ja-JP" altLang="en-US" dirty="0"/>
              <a:t>は入力</a:t>
            </a:r>
            <a:r>
              <a:rPr lang="en-US" altLang="ja-JP" i="1" dirty="0">
                <a:latin typeface="Times New Roman" panose="02020603050405020304" pitchFamily="18" charset="0"/>
                <a:cs typeface="Times New Roman" panose="02020603050405020304" pitchFamily="18" charset="0"/>
              </a:rPr>
              <a:t>x</a:t>
            </a:r>
            <a:r>
              <a:rPr lang="en-US" altLang="ja-JP" i="1" baseline="-25000" dirty="0">
                <a:latin typeface="Times New Roman" panose="02020603050405020304" pitchFamily="18" charset="0"/>
                <a:cs typeface="Times New Roman" panose="02020603050405020304" pitchFamily="18" charset="0"/>
              </a:rPr>
              <a:t>i</a:t>
            </a:r>
            <a:r>
              <a:rPr lang="ja-JP" altLang="en-US" dirty="0"/>
              <a:t>に</a:t>
            </a:r>
            <a:r>
              <a:rPr lang="ja-JP" altLang="en-US" dirty="0" smtClean="0"/>
              <a:t>対して</a:t>
            </a:r>
            <a:endParaRPr lang="en-US" altLang="ja-JP" dirty="0" smtClean="0"/>
          </a:p>
          <a:p>
            <a:endParaRPr kumimoji="1" lang="en-US" altLang="ja-JP" sz="2000" dirty="0" smtClean="0"/>
          </a:p>
          <a:p>
            <a:endParaRPr lang="en-US" altLang="ja-JP" sz="2000" dirty="0"/>
          </a:p>
          <a:p>
            <a:r>
              <a:rPr kumimoji="1" lang="ja-JP" altLang="en-US" dirty="0" smtClean="0"/>
              <a:t>と</a:t>
            </a:r>
            <a:r>
              <a:rPr kumimoji="1" lang="ja-JP" altLang="en-US" dirty="0" smtClean="0"/>
              <a:t>なるようにすればよい．</a:t>
            </a:r>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5</a:t>
            </a:fld>
            <a:endParaRPr kumimoji="1" lang="ja-JP" altLang="en-US" dirty="0"/>
          </a:p>
        </p:txBody>
      </p:sp>
      <mc:AlternateContent xmlns:mc="http://schemas.openxmlformats.org/markup-compatibility/2006">
        <mc:Choice xmlns:a14="http://schemas.microsoft.com/office/drawing/2010/main" Requires="a14">
          <p:sp>
            <p:nvSpPr>
              <p:cNvPr id="5" name="テキスト ボックス 4"/>
              <p:cNvSpPr txBox="1"/>
              <p:nvPr/>
            </p:nvSpPr>
            <p:spPr>
              <a:xfrm>
                <a:off x="1962150" y="3124200"/>
                <a:ext cx="5219700" cy="1111073"/>
              </a:xfrm>
              <a:prstGeom prst="rect">
                <a:avLst/>
              </a:prstGeom>
              <a:noFill/>
              <a:ln w="19050">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m:rPr>
                          <m:nor/>
                        </m:rPr>
                        <a:rPr lang="en-US" altLang="ja-JP" sz="3200" i="1">
                          <a:latin typeface="Times New Roman" panose="02020603050405020304" pitchFamily="18" charset="0"/>
                          <a:cs typeface="Times New Roman" panose="02020603050405020304" pitchFamily="18" charset="0"/>
                        </a:rPr>
                        <m:t>g</m:t>
                      </m:r>
                      <m:r>
                        <m:rPr>
                          <m:nor/>
                        </m:rPr>
                        <a:rPr lang="en-US" altLang="ja-JP" sz="3200" i="1" baseline="-25000">
                          <a:latin typeface="Times New Roman" panose="02020603050405020304" pitchFamily="18" charset="0"/>
                          <a:cs typeface="Times New Roman" panose="02020603050405020304" pitchFamily="18" charset="0"/>
                        </a:rPr>
                        <m:t>i</m:t>
                      </m:r>
                      <m:r>
                        <m:rPr>
                          <m:nor/>
                        </m:rPr>
                        <a:rPr lang="en-US" altLang="ja-JP" sz="3200" i="1">
                          <a:latin typeface="Times New Roman" panose="02020603050405020304" pitchFamily="18" charset="0"/>
                          <a:cs typeface="Times New Roman" panose="02020603050405020304" pitchFamily="18" charset="0"/>
                        </a:rPr>
                        <m:t> =</m:t>
                      </m:r>
                      <m:f>
                        <m:fPr>
                          <m:ctrlPr>
                            <a:rPr lang="en-US" altLang="ja-JP" sz="3200" i="1">
                              <a:latin typeface="Cambria Math" panose="02040503050406030204" pitchFamily="18" charset="0"/>
                              <a:cs typeface="Times New Roman" panose="02020603050405020304" pitchFamily="18" charset="0"/>
                            </a:rPr>
                          </m:ctrlPr>
                        </m:fPr>
                        <m:num>
                          <m:r>
                            <m:rPr>
                              <m:nor/>
                            </m:rPr>
                            <a:rPr lang="en-US" altLang="ja-JP" sz="3200" i="1">
                              <a:latin typeface="Times New Roman" panose="02020603050405020304" pitchFamily="18" charset="0"/>
                              <a:cs typeface="Times New Roman" panose="02020603050405020304" pitchFamily="18" charset="0"/>
                            </a:rPr>
                            <m:t>∂</m:t>
                          </m:r>
                          <m:r>
                            <m:rPr>
                              <m:nor/>
                            </m:rPr>
                            <a:rPr lang="en-US" altLang="ja-JP" sz="3200" i="1">
                              <a:latin typeface="Times New Roman" panose="02020603050405020304" pitchFamily="18" charset="0"/>
                              <a:cs typeface="Times New Roman" panose="02020603050405020304" pitchFamily="18" charset="0"/>
                            </a:rPr>
                            <m:t>L</m:t>
                          </m:r>
                          <m:r>
                            <m:rPr>
                              <m:nor/>
                            </m:rPr>
                            <a:rPr lang="en-US" altLang="ja-JP" sz="3200">
                              <a:latin typeface="Times New Roman" panose="02020603050405020304" pitchFamily="18" charset="0"/>
                              <a:cs typeface="Times New Roman" panose="02020603050405020304" pitchFamily="18" charset="0"/>
                            </a:rPr>
                            <m:t>(</m:t>
                          </m:r>
                          <m:r>
                            <m:rPr>
                              <m:nor/>
                            </m:rPr>
                            <a:rPr lang="en-US" altLang="ja-JP" sz="3200" i="1">
                              <a:latin typeface="Times New Roman" panose="02020603050405020304" pitchFamily="18" charset="0"/>
                              <a:cs typeface="Times New Roman" panose="02020603050405020304" pitchFamily="18" charset="0"/>
                            </a:rPr>
                            <m:t>y</m:t>
                          </m:r>
                          <m:r>
                            <m:rPr>
                              <m:nor/>
                            </m:rPr>
                            <a:rPr lang="en-US" altLang="ja-JP" sz="3200" i="1" baseline="-25000">
                              <a:latin typeface="Times New Roman" panose="02020603050405020304" pitchFamily="18" charset="0"/>
                              <a:cs typeface="Times New Roman" panose="02020603050405020304" pitchFamily="18" charset="0"/>
                            </a:rPr>
                            <m:t>i</m:t>
                          </m:r>
                          <m:r>
                            <m:rPr>
                              <m:nor/>
                            </m:rPr>
                            <a:rPr lang="en-US" altLang="ja-JP" sz="3200" i="1" baseline="-25000">
                              <a:latin typeface="Times New Roman" panose="02020603050405020304" pitchFamily="18" charset="0"/>
                              <a:cs typeface="Times New Roman" panose="02020603050405020304" pitchFamily="18" charset="0"/>
                            </a:rPr>
                            <m:t> , </m:t>
                          </m:r>
                          <m:r>
                            <m:rPr>
                              <m:nor/>
                            </m:rPr>
                            <a:rPr lang="en-US" altLang="ja-JP" sz="3200" i="1">
                              <a:latin typeface="Times New Roman" panose="02020603050405020304" pitchFamily="18" charset="0"/>
                              <a:cs typeface="Times New Roman" panose="02020603050405020304" pitchFamily="18" charset="0"/>
                            </a:rPr>
                            <m:t>f</m:t>
                          </m:r>
                          <m:r>
                            <m:rPr>
                              <m:nor/>
                            </m:rPr>
                            <a:rPr lang="en-US" altLang="ja-JP" sz="3200" baseline="-25000">
                              <a:latin typeface="Times New Roman" panose="02020603050405020304" pitchFamily="18" charset="0"/>
                              <a:cs typeface="Times New Roman" panose="02020603050405020304" pitchFamily="18" charset="0"/>
                            </a:rPr>
                            <m:t>1</m:t>
                          </m:r>
                          <m:r>
                            <m:rPr>
                              <m:nor/>
                            </m:rPr>
                            <a:rPr lang="en-US" altLang="ja-JP" sz="3200">
                              <a:latin typeface="Times New Roman" panose="02020603050405020304" pitchFamily="18" charset="0"/>
                              <a:cs typeface="Times New Roman" panose="02020603050405020304" pitchFamily="18" charset="0"/>
                            </a:rPr>
                            <m:t>(</m:t>
                          </m:r>
                          <m:r>
                            <m:rPr>
                              <m:nor/>
                            </m:rPr>
                            <a:rPr lang="en-US" altLang="ja-JP" sz="3200" i="1">
                              <a:latin typeface="Times New Roman" panose="02020603050405020304" pitchFamily="18" charset="0"/>
                              <a:cs typeface="Times New Roman" panose="02020603050405020304" pitchFamily="18" charset="0"/>
                            </a:rPr>
                            <m:t>x</m:t>
                          </m:r>
                          <m:r>
                            <m:rPr>
                              <m:nor/>
                            </m:rPr>
                            <a:rPr lang="en-US" altLang="ja-JP" sz="3200" i="1" baseline="-25000">
                              <a:latin typeface="Times New Roman" panose="02020603050405020304" pitchFamily="18" charset="0"/>
                              <a:cs typeface="Times New Roman" panose="02020603050405020304" pitchFamily="18" charset="0"/>
                            </a:rPr>
                            <m:t>i</m:t>
                          </m:r>
                          <m:r>
                            <m:rPr>
                              <m:nor/>
                            </m:rPr>
                            <a:rPr lang="en-US" altLang="ja-JP" sz="3200">
                              <a:latin typeface="Times New Roman" panose="02020603050405020304" pitchFamily="18" charset="0"/>
                              <a:cs typeface="Times New Roman" panose="02020603050405020304" pitchFamily="18" charset="0"/>
                            </a:rPr>
                            <m:t>))</m:t>
                          </m:r>
                        </m:num>
                        <m:den>
                          <m:r>
                            <m:rPr>
                              <m:nor/>
                            </m:rPr>
                            <a:rPr lang="en-US" altLang="ja-JP" sz="3200" i="1">
                              <a:latin typeface="Times New Roman" panose="02020603050405020304" pitchFamily="18" charset="0"/>
                              <a:cs typeface="Times New Roman" panose="02020603050405020304" pitchFamily="18" charset="0"/>
                            </a:rPr>
                            <m:t>∂</m:t>
                          </m:r>
                          <m:r>
                            <m:rPr>
                              <m:nor/>
                            </m:rPr>
                            <a:rPr lang="en-US" altLang="ja-JP" sz="3200" i="1">
                              <a:latin typeface="Times New Roman" panose="02020603050405020304" pitchFamily="18" charset="0"/>
                              <a:cs typeface="Times New Roman" panose="02020603050405020304" pitchFamily="18" charset="0"/>
                            </a:rPr>
                            <m:t>f</m:t>
                          </m:r>
                          <m:r>
                            <m:rPr>
                              <m:nor/>
                            </m:rPr>
                            <a:rPr lang="en-US" altLang="ja-JP" sz="3200" baseline="-25000">
                              <a:latin typeface="Times New Roman" panose="02020603050405020304" pitchFamily="18" charset="0"/>
                              <a:cs typeface="Times New Roman" panose="02020603050405020304" pitchFamily="18" charset="0"/>
                            </a:rPr>
                            <m:t>1</m:t>
                          </m:r>
                          <m:r>
                            <m:rPr>
                              <m:nor/>
                            </m:rPr>
                            <a:rPr lang="en-US" altLang="ja-JP" sz="3200">
                              <a:latin typeface="Times New Roman" panose="02020603050405020304" pitchFamily="18" charset="0"/>
                              <a:cs typeface="Times New Roman" panose="02020603050405020304" pitchFamily="18" charset="0"/>
                            </a:rPr>
                            <m:t>(</m:t>
                          </m:r>
                          <m:r>
                            <m:rPr>
                              <m:nor/>
                            </m:rPr>
                            <a:rPr lang="en-US" altLang="ja-JP" sz="3200" i="1">
                              <a:latin typeface="Times New Roman" panose="02020603050405020304" pitchFamily="18" charset="0"/>
                              <a:cs typeface="Times New Roman" panose="02020603050405020304" pitchFamily="18" charset="0"/>
                            </a:rPr>
                            <m:t>x</m:t>
                          </m:r>
                          <m:r>
                            <m:rPr>
                              <m:nor/>
                            </m:rPr>
                            <a:rPr lang="en-US" altLang="ja-JP" sz="3200" i="1" baseline="-25000">
                              <a:latin typeface="Times New Roman" panose="02020603050405020304" pitchFamily="18" charset="0"/>
                              <a:cs typeface="Times New Roman" panose="02020603050405020304" pitchFamily="18" charset="0"/>
                            </a:rPr>
                            <m:t>i</m:t>
                          </m:r>
                          <m:r>
                            <m:rPr>
                              <m:nor/>
                            </m:rPr>
                            <a:rPr lang="en-US" altLang="ja-JP" sz="3200">
                              <a:latin typeface="Times New Roman" panose="02020603050405020304" pitchFamily="18" charset="0"/>
                              <a:cs typeface="Times New Roman" panose="02020603050405020304" pitchFamily="18" charset="0"/>
                            </a:rPr>
                            <m:t>)</m:t>
                          </m:r>
                        </m:den>
                      </m:f>
                    </m:oMath>
                  </m:oMathPara>
                </a14:m>
                <a:endParaRPr kumimoji="1" lang="ja-JP" altLang="en-US" sz="3200" dirty="0" smtClean="0"/>
              </a:p>
            </p:txBody>
          </p:sp>
        </mc:Choice>
        <mc:Fallback>
          <p:sp>
            <p:nvSpPr>
              <p:cNvPr id="5" name="テキスト ボックス 4"/>
              <p:cNvSpPr txBox="1">
                <a:spLocks noRot="1" noChangeAspect="1" noMove="1" noResize="1" noEditPoints="1" noAdjustHandles="1" noChangeArrowheads="1" noChangeShapeType="1" noTextEdit="1"/>
              </p:cNvSpPr>
              <p:nvPr/>
            </p:nvSpPr>
            <p:spPr>
              <a:xfrm>
                <a:off x="1962150" y="3124200"/>
                <a:ext cx="5219700" cy="1111073"/>
              </a:xfrm>
              <a:prstGeom prst="rect">
                <a:avLst/>
              </a:prstGeom>
              <a:blipFill rotWithShape="0">
                <a:blip r:embed="rId2"/>
                <a:stretch>
                  <a:fillRect/>
                </a:stretch>
              </a:blipFill>
              <a:ln w="19050">
                <a:noFill/>
              </a:ln>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6" name="テキスト ボックス 5"/>
              <p:cNvSpPr txBox="1"/>
              <p:nvPr/>
            </p:nvSpPr>
            <p:spPr>
              <a:xfrm>
                <a:off x="2559050" y="5414446"/>
                <a:ext cx="4025900" cy="573427"/>
              </a:xfrm>
              <a:prstGeom prst="rect">
                <a:avLst/>
              </a:prstGeom>
              <a:noFill/>
              <a:ln w="19050">
                <a:noFill/>
              </a:ln>
            </p:spPr>
            <p:txBody>
              <a:bodyPr wrap="square" rtlCol="0">
                <a:spAutoFit/>
              </a:bodyPr>
              <a:lstStyle/>
              <a:p>
                <a:pPr/>
                <a14:m>
                  <m:oMathPara xmlns:m="http://schemas.openxmlformats.org/officeDocument/2006/math">
                    <m:oMathParaPr>
                      <m:jc m:val="centerGroup"/>
                    </m:oMathParaPr>
                    <m:oMath xmlns:m="http://schemas.openxmlformats.org/officeDocument/2006/math">
                      <m:r>
                        <m:rPr>
                          <m:nor/>
                        </m:rPr>
                        <a:rPr lang="en-US" altLang="ja-JP" sz="3200" i="1">
                          <a:latin typeface="Times New Roman" panose="02020603050405020304" pitchFamily="18" charset="0"/>
                          <a:cs typeface="Times New Roman" panose="02020603050405020304" pitchFamily="18" charset="0"/>
                        </a:rPr>
                        <m:t>f</m:t>
                      </m:r>
                      <m:r>
                        <m:rPr>
                          <m:nor/>
                        </m:rPr>
                        <a:rPr lang="en-US" altLang="ja-JP" sz="3200" baseline="-25000">
                          <a:latin typeface="Times New Roman" panose="02020603050405020304" pitchFamily="18" charset="0"/>
                          <a:cs typeface="Times New Roman" panose="02020603050405020304" pitchFamily="18" charset="0"/>
                        </a:rPr>
                        <m:t>2</m:t>
                      </m:r>
                      <m:r>
                        <m:rPr>
                          <m:nor/>
                        </m:rPr>
                        <a:rPr lang="en-US" altLang="ja-JP" sz="3200">
                          <a:latin typeface="Times New Roman" panose="02020603050405020304" pitchFamily="18" charset="0"/>
                          <a:cs typeface="Times New Roman" panose="02020603050405020304" pitchFamily="18" charset="0"/>
                        </a:rPr>
                        <m:t>(</m:t>
                      </m:r>
                      <m:r>
                        <m:rPr>
                          <m:nor/>
                        </m:rPr>
                        <a:rPr lang="en-US" altLang="ja-JP" sz="3200" i="1">
                          <a:latin typeface="Times New Roman" panose="02020603050405020304" pitchFamily="18" charset="0"/>
                          <a:cs typeface="Times New Roman" panose="02020603050405020304" pitchFamily="18" charset="0"/>
                        </a:rPr>
                        <m:t>x</m:t>
                      </m:r>
                      <m:r>
                        <m:rPr>
                          <m:nor/>
                        </m:rPr>
                        <a:rPr lang="en-US" altLang="ja-JP" sz="3200" i="1" baseline="-25000">
                          <a:latin typeface="Times New Roman" panose="02020603050405020304" pitchFamily="18" charset="0"/>
                          <a:cs typeface="Times New Roman" panose="02020603050405020304" pitchFamily="18" charset="0"/>
                        </a:rPr>
                        <m:t>i</m:t>
                      </m:r>
                      <m:r>
                        <m:rPr>
                          <m:nor/>
                        </m:rPr>
                        <a:rPr lang="en-US" altLang="ja-JP" sz="3200">
                          <a:latin typeface="Times New Roman" panose="02020603050405020304" pitchFamily="18" charset="0"/>
                          <a:cs typeface="Times New Roman" panose="02020603050405020304" pitchFamily="18" charset="0"/>
                        </a:rPr>
                        <m:t>)</m:t>
                      </m:r>
                      <m:r>
                        <a:rPr lang="en-US" altLang="ja-JP" sz="3200" i="1" baseline="-25000">
                          <a:latin typeface="Cambria Math" panose="02040503050406030204" pitchFamily="18" charset="0"/>
                          <a:cs typeface="Times New Roman" panose="02020603050405020304" pitchFamily="18" charset="0"/>
                        </a:rPr>
                        <m:t> </m:t>
                      </m:r>
                      <m:r>
                        <m:rPr>
                          <m:nor/>
                        </m:rPr>
                        <a:rPr lang="en-US" altLang="ja-JP" sz="3200" i="1">
                          <a:latin typeface="Times New Roman" panose="02020603050405020304" pitchFamily="18" charset="0"/>
                          <a:cs typeface="Times New Roman" panose="02020603050405020304" pitchFamily="18" charset="0"/>
                        </a:rPr>
                        <m:t>=</m:t>
                      </m:r>
                      <m:r>
                        <a:rPr lang="en-US" altLang="ja-JP" sz="3200" i="1">
                          <a:latin typeface="Cambria Math" panose="02040503050406030204" pitchFamily="18" charset="0"/>
                          <a:cs typeface="Times New Roman" panose="02020603050405020304" pitchFamily="18" charset="0"/>
                        </a:rPr>
                        <m:t> </m:t>
                      </m:r>
                      <m:r>
                        <m:rPr>
                          <m:nor/>
                        </m:rPr>
                        <a:rPr lang="en-US" altLang="ja-JP" sz="3200">
                          <a:latin typeface="Times New Roman" panose="02020603050405020304" pitchFamily="18" charset="0"/>
                          <a:cs typeface="Times New Roman" panose="02020603050405020304" pitchFamily="18" charset="0"/>
                        </a:rPr>
                        <m:t>−</m:t>
                      </m:r>
                      <m:r>
                        <m:rPr>
                          <m:nor/>
                        </m:rPr>
                        <a:rPr lang="en-US" altLang="ja-JP" sz="3200" i="1">
                          <a:latin typeface="Symbol" panose="05050102010706020507" pitchFamily="18" charset="2"/>
                          <a:cs typeface="Times New Roman" panose="02020603050405020304" pitchFamily="18" charset="0"/>
                        </a:rPr>
                        <m:t>a</m:t>
                      </m:r>
                      <m:r>
                        <m:rPr>
                          <m:nor/>
                        </m:rPr>
                        <a:rPr lang="en-US" altLang="ja-JP" sz="3200" i="1">
                          <a:latin typeface="Times New Roman" panose="02020603050405020304" pitchFamily="18" charset="0"/>
                          <a:cs typeface="Times New Roman" panose="02020603050405020304" pitchFamily="18" charset="0"/>
                        </a:rPr>
                        <m:t>g</m:t>
                      </m:r>
                      <m:r>
                        <m:rPr>
                          <m:nor/>
                        </m:rPr>
                        <a:rPr lang="en-US" altLang="ja-JP" sz="3200" i="1" baseline="-25000">
                          <a:latin typeface="Times New Roman" panose="02020603050405020304" pitchFamily="18" charset="0"/>
                          <a:cs typeface="Times New Roman" panose="02020603050405020304" pitchFamily="18" charset="0"/>
                        </a:rPr>
                        <m:t>i</m:t>
                      </m:r>
                    </m:oMath>
                  </m:oMathPara>
                </a14:m>
                <a:endParaRPr lang="en-US" altLang="ja-JP" sz="3200" i="1" baseline="-25000" dirty="0">
                  <a:latin typeface="Times New Roman" panose="02020603050405020304" pitchFamily="18" charset="0"/>
                  <a:cs typeface="Times New Roman" panose="02020603050405020304" pitchFamily="18" charset="0"/>
                </a:endParaRPr>
              </a:p>
            </p:txBody>
          </p:sp>
        </mc:Choice>
        <mc:Fallback>
          <p:sp>
            <p:nvSpPr>
              <p:cNvPr id="6" name="テキスト ボックス 5"/>
              <p:cNvSpPr txBox="1">
                <a:spLocks noRot="1" noChangeAspect="1" noMove="1" noResize="1" noEditPoints="1" noAdjustHandles="1" noChangeArrowheads="1" noChangeShapeType="1" noTextEdit="1"/>
              </p:cNvSpPr>
              <p:nvPr/>
            </p:nvSpPr>
            <p:spPr>
              <a:xfrm>
                <a:off x="2559050" y="5414446"/>
                <a:ext cx="4025900" cy="573427"/>
              </a:xfrm>
              <a:prstGeom prst="rect">
                <a:avLst/>
              </a:prstGeom>
              <a:blipFill rotWithShape="0">
                <a:blip r:embed="rId3"/>
                <a:stretch>
                  <a:fillRect/>
                </a:stretch>
              </a:blipFill>
              <a:ln w="19050">
                <a:noFill/>
              </a:ln>
            </p:spPr>
            <p:txBody>
              <a:bodyPr/>
              <a:lstStyle/>
              <a:p>
                <a:r>
                  <a:rPr lang="ja-JP" altLang="en-US">
                    <a:noFill/>
                  </a:rPr>
                  <a:t> </a:t>
                </a:r>
              </a:p>
            </p:txBody>
          </p:sp>
        </mc:Fallback>
      </mc:AlternateContent>
    </p:spTree>
    <p:extLst>
      <p:ext uri="{BB962C8B-B14F-4D97-AF65-F5344CB8AC3E}">
        <p14:creationId xmlns:p14="http://schemas.microsoft.com/office/powerpoint/2010/main" val="21020721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smtClean="0"/>
              <a:t>勾配ブースティング決定木</a:t>
            </a:r>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6</a:t>
            </a:fld>
            <a:endParaRPr kumimoji="1" lang="ja-JP" altLang="en-US" dirty="0"/>
          </a:p>
        </p:txBody>
      </p:sp>
      <p:sp>
        <p:nvSpPr>
          <p:cNvPr id="10" name="コンテンツ プレースホルダー 2"/>
          <p:cNvSpPr>
            <a:spLocks noGrp="1"/>
          </p:cNvSpPr>
          <p:nvPr>
            <p:ph idx="1"/>
          </p:nvPr>
        </p:nvSpPr>
        <p:spPr>
          <a:xfrm>
            <a:off x="228600" y="1371600"/>
            <a:ext cx="8686800" cy="5181600"/>
          </a:xfrm>
        </p:spPr>
        <p:txBody>
          <a:bodyPr/>
          <a:lstStyle/>
          <a:p>
            <a:r>
              <a:rPr lang="ja-JP" altLang="en-US" dirty="0"/>
              <a:t>勾配ブースティング決定木：弱識別器に決定木を使用し</a:t>
            </a:r>
            <a:r>
              <a:rPr lang="ja-JP" altLang="en-US" dirty="0" smtClean="0"/>
              <a:t>，損失関数の勾配に従い分岐</a:t>
            </a:r>
            <a:r>
              <a:rPr lang="ja-JP" altLang="en-US" dirty="0"/>
              <a:t>を</a:t>
            </a:r>
            <a:r>
              <a:rPr lang="ja-JP" altLang="en-US" dirty="0" smtClean="0"/>
              <a:t>決定</a:t>
            </a:r>
            <a:endParaRPr lang="en-US" altLang="ja-JP" dirty="0"/>
          </a:p>
          <a:p>
            <a:r>
              <a:rPr lang="en-US" altLang="ja-JP" dirty="0" smtClean="0"/>
              <a:t/>
            </a:r>
            <a:br>
              <a:rPr lang="en-US" altLang="ja-JP" dirty="0" smtClean="0"/>
            </a:br>
            <a:r>
              <a:rPr lang="ja-JP" altLang="en-US" dirty="0" smtClean="0"/>
              <a:t>アルゴリズム</a:t>
            </a:r>
            <a:endParaRPr lang="en-US" altLang="ja-JP" dirty="0" smtClean="0"/>
          </a:p>
          <a:p>
            <a:pPr marL="514350" indent="-514350">
              <a:buFont typeface="+mj-lt"/>
              <a:buAutoNum type="arabicPeriod"/>
            </a:pPr>
            <a:r>
              <a:rPr lang="en-US" altLang="ja-JP" dirty="0"/>
              <a:t>1</a:t>
            </a:r>
            <a:r>
              <a:rPr lang="ja-JP" altLang="en-US" dirty="0" smtClean="0"/>
              <a:t>つ</a:t>
            </a:r>
            <a:r>
              <a:rPr lang="ja-JP" altLang="en-US" dirty="0"/>
              <a:t>目</a:t>
            </a:r>
            <a:r>
              <a:rPr lang="ja-JP" altLang="en-US" dirty="0" smtClean="0"/>
              <a:t>のモデルを生成</a:t>
            </a:r>
            <a:r>
              <a:rPr lang="en-US" altLang="ja-JP" dirty="0" smtClean="0"/>
              <a:t>(</a:t>
            </a:r>
            <a:r>
              <a:rPr lang="ja-JP" altLang="en-US" dirty="0" smtClean="0"/>
              <a:t>初期化</a:t>
            </a:r>
            <a:r>
              <a:rPr lang="en-US" altLang="ja-JP" dirty="0" smtClean="0"/>
              <a:t>)</a:t>
            </a:r>
          </a:p>
          <a:p>
            <a:pPr marL="514350" indent="-514350">
              <a:buFont typeface="+mj-lt"/>
              <a:buAutoNum type="arabicPeriod"/>
            </a:pPr>
            <a:r>
              <a:rPr lang="ja-JP" altLang="en-US" dirty="0" smtClean="0"/>
              <a:t>学習用データに対する勾配を計算</a:t>
            </a:r>
            <a:endParaRPr lang="en-US" altLang="ja-JP" dirty="0" smtClean="0"/>
          </a:p>
          <a:p>
            <a:pPr marL="514350" indent="-514350">
              <a:buFont typeface="+mj-lt"/>
              <a:buAutoNum type="arabicPeriod"/>
            </a:pPr>
            <a:r>
              <a:rPr lang="ja-JP" altLang="en-US" dirty="0"/>
              <a:t>次</a:t>
            </a:r>
            <a:r>
              <a:rPr lang="ja-JP" altLang="en-US" dirty="0" smtClean="0"/>
              <a:t>段の決定木を生成</a:t>
            </a:r>
            <a:endParaRPr lang="en-US" altLang="ja-JP" dirty="0"/>
          </a:p>
          <a:p>
            <a:pPr marL="857250" lvl="1" indent="-514350">
              <a:buFont typeface="+mj-lt"/>
              <a:buAutoNum type="arabicPeriod"/>
            </a:pPr>
            <a:r>
              <a:rPr lang="ja-JP" altLang="en-US" dirty="0" smtClean="0"/>
              <a:t>勾配を最小化する分岐を探索</a:t>
            </a:r>
            <a:endParaRPr lang="en-US" altLang="ja-JP" dirty="0" smtClean="0"/>
          </a:p>
          <a:p>
            <a:pPr marL="857250" lvl="1" indent="-514350">
              <a:buFont typeface="+mj-lt"/>
              <a:buAutoNum type="arabicPeriod"/>
            </a:pPr>
            <a:r>
              <a:rPr lang="ja-JP" altLang="en-US" dirty="0"/>
              <a:t>指定</a:t>
            </a:r>
            <a:r>
              <a:rPr lang="ja-JP" altLang="en-US" dirty="0" smtClean="0"/>
              <a:t>した複雑さになるまで</a:t>
            </a:r>
            <a:r>
              <a:rPr lang="en-US" altLang="ja-JP" dirty="0"/>
              <a:t>1</a:t>
            </a:r>
            <a:r>
              <a:rPr lang="ja-JP" altLang="en-US" dirty="0" err="1" smtClean="0"/>
              <a:t>．</a:t>
            </a:r>
            <a:r>
              <a:rPr lang="ja-JP" altLang="en-US" dirty="0" smtClean="0"/>
              <a:t>を繰り返す</a:t>
            </a:r>
            <a:endParaRPr lang="en-US" altLang="ja-JP" dirty="0"/>
          </a:p>
          <a:p>
            <a:pPr marL="514350" indent="-514350">
              <a:buFont typeface="+mj-lt"/>
              <a:buAutoNum type="arabicPeriod"/>
            </a:pPr>
            <a:r>
              <a:rPr lang="en-US" altLang="ja-JP" dirty="0" smtClean="0"/>
              <a:t>2-3</a:t>
            </a:r>
            <a:r>
              <a:rPr lang="ja-JP" altLang="en-US" dirty="0" smtClean="0"/>
              <a:t>を指定した回数だけ繰り返す</a:t>
            </a:r>
            <a:endParaRPr lang="en-US" altLang="ja-JP" dirty="0" smtClean="0"/>
          </a:p>
        </p:txBody>
      </p:sp>
    </p:spTree>
    <p:extLst>
      <p:ext uri="{BB962C8B-B14F-4D97-AF65-F5344CB8AC3E}">
        <p14:creationId xmlns:p14="http://schemas.microsoft.com/office/powerpoint/2010/main" val="2694607472"/>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smtClean="0"/>
              <a:t>決定木の計算コスト</a:t>
            </a:r>
            <a:endParaRPr kumimoji="1" lang="ja-JP" altLang="en-US" dirty="0"/>
          </a:p>
        </p:txBody>
      </p:sp>
      <p:sp>
        <p:nvSpPr>
          <p:cNvPr id="3" name="コンテンツ プレースホルダー 2"/>
          <p:cNvSpPr>
            <a:spLocks noGrp="1"/>
          </p:cNvSpPr>
          <p:nvPr>
            <p:ph idx="1"/>
          </p:nvPr>
        </p:nvSpPr>
        <p:spPr/>
        <p:txBody>
          <a:bodyPr/>
          <a:lstStyle/>
          <a:p>
            <a:r>
              <a:rPr kumimoji="1" lang="ja-JP" altLang="en-US" dirty="0" smtClean="0"/>
              <a:t>決定木の分岐は，すべての分岐候補について</a:t>
            </a:r>
            <a:r>
              <a:rPr kumimoji="1" lang="en-US" altLang="ja-JP" dirty="0" smtClean="0"/>
              <a:t/>
            </a:r>
            <a:br>
              <a:rPr kumimoji="1" lang="en-US" altLang="ja-JP" dirty="0" smtClean="0"/>
            </a:br>
            <a:r>
              <a:rPr kumimoji="1" lang="ja-JP" altLang="en-US" dirty="0" smtClean="0"/>
              <a:t>不純度</a:t>
            </a:r>
            <a:r>
              <a:rPr kumimoji="1" lang="en-US" altLang="ja-JP" dirty="0" smtClean="0"/>
              <a:t>(</a:t>
            </a:r>
            <a:r>
              <a:rPr kumimoji="1" lang="ja-JP" altLang="en-US" dirty="0" smtClean="0"/>
              <a:t>勾配</a:t>
            </a:r>
            <a:r>
              <a:rPr kumimoji="1" lang="en-US" altLang="ja-JP" dirty="0" smtClean="0"/>
              <a:t>)</a:t>
            </a:r>
            <a:r>
              <a:rPr kumimoji="1" lang="ja-JP" altLang="en-US" dirty="0" smtClean="0"/>
              <a:t>を調べ，最も小さくなる</a:t>
            </a:r>
            <a:r>
              <a:rPr lang="ja-JP" altLang="en-US" dirty="0"/>
              <a:t>分岐</a:t>
            </a:r>
            <a:r>
              <a:rPr kumimoji="1" lang="ja-JP" altLang="en-US" dirty="0" smtClean="0"/>
              <a:t>を選択する．</a:t>
            </a:r>
            <a:endParaRPr kumimoji="1" lang="en-US" altLang="ja-JP" dirty="0" smtClean="0"/>
          </a:p>
          <a:p>
            <a:pPr algn="l"/>
            <a:r>
              <a:rPr kumimoji="1" lang="ja-JP" altLang="en-US" dirty="0" smtClean="0"/>
              <a:t>そのため，</a:t>
            </a:r>
            <a:r>
              <a:rPr kumimoji="1" lang="en-US" altLang="ja-JP" dirty="0" smtClean="0"/>
              <a:t>1</a:t>
            </a:r>
            <a:r>
              <a:rPr kumimoji="1" lang="ja-JP" altLang="en-US" dirty="0" smtClean="0"/>
              <a:t>回の分岐における計算量は</a:t>
            </a:r>
            <a:r>
              <a:rPr lang="en-US" altLang="ja-JP" dirty="0"/>
              <a:t/>
            </a:r>
            <a:br>
              <a:rPr lang="en-US" altLang="ja-JP" dirty="0"/>
            </a:br>
            <a:r>
              <a:rPr lang="en-US" altLang="ja-JP" dirty="0">
                <a:latin typeface="Times New Roman" panose="02020603050405020304" pitchFamily="18" charset="0"/>
                <a:cs typeface="Times New Roman" panose="02020603050405020304" pitchFamily="18" charset="0"/>
              </a:rPr>
              <a:t/>
            </a:r>
            <a:br>
              <a:rPr lang="en-US" altLang="ja-JP" dirty="0">
                <a:latin typeface="Times New Roman" panose="02020603050405020304" pitchFamily="18" charset="0"/>
                <a:cs typeface="Times New Roman" panose="02020603050405020304" pitchFamily="18" charset="0"/>
              </a:rPr>
            </a:br>
            <a:r>
              <a:rPr lang="en-US" altLang="ja-JP" dirty="0" smtClean="0">
                <a:latin typeface="Times New Roman" panose="02020603050405020304" pitchFamily="18" charset="0"/>
                <a:cs typeface="Times New Roman" panose="02020603050405020304" pitchFamily="18" charset="0"/>
              </a:rPr>
              <a:t/>
            </a:r>
            <a:br>
              <a:rPr lang="en-US" altLang="ja-JP" dirty="0" smtClean="0">
                <a:latin typeface="Times New Roman" panose="02020603050405020304" pitchFamily="18" charset="0"/>
                <a:cs typeface="Times New Roman" panose="02020603050405020304" pitchFamily="18" charset="0"/>
              </a:rPr>
            </a:br>
            <a:r>
              <a:rPr lang="en-US" altLang="ja-JP" dirty="0" smtClean="0">
                <a:latin typeface="Times New Roman" panose="02020603050405020304" pitchFamily="18" charset="0"/>
                <a:cs typeface="Times New Roman" panose="02020603050405020304" pitchFamily="18" charset="0"/>
              </a:rPr>
              <a:t/>
            </a:r>
            <a:br>
              <a:rPr lang="en-US" altLang="ja-JP" dirty="0" smtClean="0">
                <a:latin typeface="Times New Roman" panose="02020603050405020304" pitchFamily="18" charset="0"/>
                <a:cs typeface="Times New Roman" panose="02020603050405020304" pitchFamily="18" charset="0"/>
              </a:rPr>
            </a:br>
            <a:r>
              <a:rPr lang="ja-JP" altLang="en-US" dirty="0" smtClean="0">
                <a:latin typeface="Times New Roman" panose="02020603050405020304" pitchFamily="18" charset="0"/>
                <a:cs typeface="Times New Roman" panose="02020603050405020304" pitchFamily="18" charset="0"/>
              </a:rPr>
              <a:t>実行</a:t>
            </a:r>
            <a:r>
              <a:rPr lang="ja-JP" altLang="en-US" dirty="0" smtClean="0">
                <a:latin typeface="Times New Roman" panose="02020603050405020304" pitchFamily="18" charset="0"/>
                <a:cs typeface="Times New Roman" panose="02020603050405020304" pitchFamily="18" charset="0"/>
              </a:rPr>
              <a:t>時間の短縮にはデータ数・</a:t>
            </a:r>
            <a:r>
              <a:rPr lang="ja-JP" altLang="en-US" dirty="0" smtClean="0">
                <a:latin typeface="Times New Roman" panose="02020603050405020304" pitchFamily="18" charset="0"/>
                <a:cs typeface="Times New Roman" panose="02020603050405020304" pitchFamily="18" charset="0"/>
              </a:rPr>
              <a:t>特徴数の</a:t>
            </a:r>
            <a:r>
              <a:rPr lang="ja-JP" altLang="en-US" dirty="0" smtClean="0">
                <a:latin typeface="Times New Roman" panose="02020603050405020304" pitchFamily="18" charset="0"/>
                <a:cs typeface="Times New Roman" panose="02020603050405020304" pitchFamily="18" charset="0"/>
              </a:rPr>
              <a:t>削減が重要になる．</a:t>
            </a:r>
            <a:endParaRPr kumimoji="1" lang="ja-JP" altLang="en-US" dirty="0">
              <a:latin typeface="Times New Roman" panose="02020603050405020304" pitchFamily="18" charset="0"/>
              <a:cs typeface="Times New Roman" panose="02020603050405020304" pitchFamily="18" charset="0"/>
            </a:endParaRPr>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7</a:t>
            </a:fld>
            <a:endParaRPr kumimoji="1" lang="ja-JP" altLang="en-US" dirty="0"/>
          </a:p>
        </p:txBody>
      </p:sp>
      <p:sp>
        <p:nvSpPr>
          <p:cNvPr id="5" name="下矢印 4"/>
          <p:cNvSpPr/>
          <p:nvPr/>
        </p:nvSpPr>
        <p:spPr>
          <a:xfrm>
            <a:off x="4234375" y="4210203"/>
            <a:ext cx="675250" cy="629812"/>
          </a:xfrm>
          <a:prstGeom prst="down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mc:Choice xmlns:a14="http://schemas.microsoft.com/office/drawing/2010/main" Requires="a14">
          <p:sp>
            <p:nvSpPr>
              <p:cNvPr id="6" name="テキスト ボックス 5"/>
              <p:cNvSpPr txBox="1"/>
              <p:nvPr/>
            </p:nvSpPr>
            <p:spPr>
              <a:xfrm>
                <a:off x="2400300" y="3505200"/>
                <a:ext cx="4343400" cy="584775"/>
              </a:xfrm>
              <a:prstGeom prst="rect">
                <a:avLst/>
              </a:prstGeom>
              <a:noFill/>
              <a:ln w="19050">
                <a:noFill/>
              </a:ln>
            </p:spPr>
            <p:txBody>
              <a:bodyPr wrap="square" rtlCol="0">
                <a:spAutoFit/>
              </a:bodyPr>
              <a:lstStyle/>
              <a:p>
                <a14:m>
                  <m:oMathPara xmlns:m="http://schemas.openxmlformats.org/officeDocument/2006/math">
                    <m:oMathParaPr>
                      <m:jc m:val="centerGroup"/>
                    </m:oMathParaPr>
                    <m:oMath xmlns:m="http://schemas.openxmlformats.org/officeDocument/2006/math">
                      <m:r>
                        <m:rPr>
                          <m:nor/>
                        </m:rPr>
                        <a:rPr lang="en-US" altLang="ja-JP" sz="3200" i="1">
                          <a:latin typeface="Times New Roman" panose="02020603050405020304" pitchFamily="18" charset="0"/>
                          <a:cs typeface="Times New Roman" panose="02020603050405020304" pitchFamily="18" charset="0"/>
                        </a:rPr>
                        <m:t>O</m:t>
                      </m:r>
                      <m:r>
                        <m:rPr>
                          <m:nor/>
                        </m:rPr>
                        <a:rPr lang="en-US" altLang="ja-JP" sz="3200">
                          <a:latin typeface="Times New Roman" panose="02020603050405020304" pitchFamily="18" charset="0"/>
                          <a:cs typeface="Times New Roman" panose="02020603050405020304" pitchFamily="18" charset="0"/>
                        </a:rPr>
                        <m:t> (#</m:t>
                      </m:r>
                      <m:r>
                        <m:rPr>
                          <m:nor/>
                        </m:rPr>
                        <a:rPr lang="en-US" altLang="ja-JP" sz="3200" i="1">
                          <a:latin typeface="Times New Roman" panose="02020603050405020304" pitchFamily="18" charset="0"/>
                          <a:cs typeface="Times New Roman" panose="02020603050405020304" pitchFamily="18" charset="0"/>
                        </a:rPr>
                        <m:t>data</m:t>
                      </m:r>
                      <m:r>
                        <m:rPr>
                          <m:nor/>
                        </m:rPr>
                        <a:rPr lang="en-US" altLang="ja-JP" sz="3200">
                          <a:latin typeface="Times New Roman" panose="02020603050405020304" pitchFamily="18" charset="0"/>
                          <a:cs typeface="Times New Roman" panose="02020603050405020304" pitchFamily="18" charset="0"/>
                        </a:rPr>
                        <m:t> × #</m:t>
                      </m:r>
                      <m:r>
                        <m:rPr>
                          <m:nor/>
                        </m:rPr>
                        <a:rPr lang="en-US" altLang="ja-JP" sz="3200" i="1">
                          <a:latin typeface="Times New Roman" panose="02020603050405020304" pitchFamily="18" charset="0"/>
                          <a:cs typeface="Times New Roman" panose="02020603050405020304" pitchFamily="18" charset="0"/>
                        </a:rPr>
                        <m:t>feature</m:t>
                      </m:r>
                      <m:r>
                        <m:rPr>
                          <m:nor/>
                        </m:rPr>
                        <a:rPr lang="en-US" altLang="ja-JP" sz="3200">
                          <a:latin typeface="Times New Roman" panose="02020603050405020304" pitchFamily="18" charset="0"/>
                          <a:cs typeface="Times New Roman" panose="02020603050405020304" pitchFamily="18" charset="0"/>
                        </a:rPr>
                        <m:t>)</m:t>
                      </m:r>
                    </m:oMath>
                  </m:oMathPara>
                </a14:m>
                <a:endParaRPr lang="en-US" altLang="ja-JP" sz="3200" dirty="0">
                  <a:latin typeface="Times New Roman" panose="02020603050405020304" pitchFamily="18" charset="0"/>
                  <a:cs typeface="Times New Roman" panose="02020603050405020304" pitchFamily="18" charset="0"/>
                </a:endParaRPr>
              </a:p>
            </p:txBody>
          </p:sp>
        </mc:Choice>
        <mc:Fallback>
          <p:sp>
            <p:nvSpPr>
              <p:cNvPr id="6" name="テキスト ボックス 5"/>
              <p:cNvSpPr txBox="1">
                <a:spLocks noRot="1" noChangeAspect="1" noMove="1" noResize="1" noEditPoints="1" noAdjustHandles="1" noChangeArrowheads="1" noChangeShapeType="1" noTextEdit="1"/>
              </p:cNvSpPr>
              <p:nvPr/>
            </p:nvSpPr>
            <p:spPr>
              <a:xfrm>
                <a:off x="2400300" y="3505200"/>
                <a:ext cx="4343400" cy="584775"/>
              </a:xfrm>
              <a:prstGeom prst="rect">
                <a:avLst/>
              </a:prstGeom>
              <a:blipFill rotWithShape="0">
                <a:blip r:embed="rId2"/>
                <a:stretch>
                  <a:fillRect/>
                </a:stretch>
              </a:blipFill>
              <a:ln w="19050">
                <a:noFill/>
              </a:ln>
            </p:spPr>
            <p:txBody>
              <a:bodyPr/>
              <a:lstStyle/>
              <a:p>
                <a:r>
                  <a:rPr lang="ja-JP" altLang="en-US">
                    <a:noFill/>
                  </a:rPr>
                  <a:t> </a:t>
                </a:r>
              </a:p>
            </p:txBody>
          </p:sp>
        </mc:Fallback>
      </mc:AlternateContent>
    </p:spTree>
    <p:extLst>
      <p:ext uri="{BB962C8B-B14F-4D97-AF65-F5344CB8AC3E}">
        <p14:creationId xmlns:p14="http://schemas.microsoft.com/office/powerpoint/2010/main" val="28428813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smtClean="0"/>
              <a:t>Exclusive</a:t>
            </a:r>
            <a:r>
              <a:rPr kumimoji="1" lang="ja-JP" altLang="en-US" dirty="0" smtClean="0"/>
              <a:t> </a:t>
            </a:r>
            <a:r>
              <a:rPr kumimoji="1" lang="en-US" altLang="ja-JP" dirty="0" smtClean="0"/>
              <a:t>Feature</a:t>
            </a:r>
            <a:r>
              <a:rPr kumimoji="1" lang="ja-JP" altLang="en-US" dirty="0" smtClean="0"/>
              <a:t> </a:t>
            </a:r>
            <a:r>
              <a:rPr kumimoji="1" lang="en-US" altLang="ja-JP" dirty="0" smtClean="0"/>
              <a:t>Bundling</a:t>
            </a:r>
            <a:endParaRPr kumimoji="1" lang="ja-JP" altLang="en-US" dirty="0"/>
          </a:p>
        </p:txBody>
      </p:sp>
      <p:sp>
        <p:nvSpPr>
          <p:cNvPr id="3" name="コンテンツ プレースホルダー 2"/>
          <p:cNvSpPr>
            <a:spLocks noGrp="1"/>
          </p:cNvSpPr>
          <p:nvPr>
            <p:ph idx="1"/>
          </p:nvPr>
        </p:nvSpPr>
        <p:spPr/>
        <p:txBody>
          <a:bodyPr/>
          <a:lstStyle/>
          <a:p>
            <a:r>
              <a:rPr lang="en-US" altLang="ja-JP" dirty="0" smtClean="0"/>
              <a:t>One-hot</a:t>
            </a:r>
            <a:r>
              <a:rPr lang="ja-JP" altLang="en-US" dirty="0" smtClean="0"/>
              <a:t>ラベルなどの</a:t>
            </a:r>
            <a:r>
              <a:rPr kumimoji="1" lang="ja-JP" altLang="en-US" dirty="0" smtClean="0"/>
              <a:t>データに対し，最適な分岐を全探索で求めると，非常に効率が悪い．</a:t>
            </a:r>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8</a:t>
            </a:fld>
            <a:endParaRPr kumimoji="1" lang="ja-JP" altLang="en-US" dirty="0"/>
          </a:p>
        </p:txBody>
      </p:sp>
      <p:grpSp>
        <p:nvGrpSpPr>
          <p:cNvPr id="30" name="グループ化 29"/>
          <p:cNvGrpSpPr/>
          <p:nvPr/>
        </p:nvGrpSpPr>
        <p:grpSpPr>
          <a:xfrm>
            <a:off x="965200" y="2893080"/>
            <a:ext cx="1371600" cy="3370540"/>
            <a:chOff x="1651000" y="2880380"/>
            <a:chExt cx="1371600" cy="3370540"/>
          </a:xfrm>
        </p:grpSpPr>
        <p:grpSp>
          <p:nvGrpSpPr>
            <p:cNvPr id="9" name="グループ化 8"/>
            <p:cNvGrpSpPr/>
            <p:nvPr/>
          </p:nvGrpSpPr>
          <p:grpSpPr>
            <a:xfrm>
              <a:off x="1651000" y="2880380"/>
              <a:ext cx="1371600" cy="523220"/>
              <a:chOff x="1498600" y="3416300"/>
              <a:chExt cx="1371600" cy="523220"/>
            </a:xfrm>
          </p:grpSpPr>
          <p:sp>
            <p:nvSpPr>
              <p:cNvPr id="6" name="テキスト ボックス 5"/>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a:t>1</a:t>
                </a:r>
                <a:endParaRPr kumimoji="1" lang="ja-JP" altLang="en-US" sz="2800" dirty="0" smtClean="0"/>
              </a:p>
            </p:txBody>
          </p:sp>
          <p:sp>
            <p:nvSpPr>
              <p:cNvPr id="7" name="テキスト ボックス 6"/>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kumimoji="1" lang="en-US" altLang="ja-JP" sz="2800" smtClean="0"/>
                  <a:t>0</a:t>
                </a:r>
                <a:endParaRPr kumimoji="1" lang="ja-JP" altLang="en-US" sz="2800" dirty="0" smtClean="0"/>
              </a:p>
            </p:txBody>
          </p:sp>
          <p:sp>
            <p:nvSpPr>
              <p:cNvPr id="8" name="テキスト ボックス 7"/>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smtClean="0"/>
                  <a:t>0</a:t>
                </a:r>
                <a:endParaRPr kumimoji="1" lang="ja-JP" altLang="en-US" sz="2800" dirty="0" smtClean="0"/>
              </a:p>
            </p:txBody>
          </p:sp>
        </p:grpSp>
        <p:grpSp>
          <p:nvGrpSpPr>
            <p:cNvPr id="10" name="グループ化 9"/>
            <p:cNvGrpSpPr/>
            <p:nvPr/>
          </p:nvGrpSpPr>
          <p:grpSpPr>
            <a:xfrm>
              <a:off x="1651000" y="3592210"/>
              <a:ext cx="1371600" cy="523220"/>
              <a:chOff x="1498600" y="3416300"/>
              <a:chExt cx="1371600" cy="523220"/>
            </a:xfrm>
          </p:grpSpPr>
          <p:sp>
            <p:nvSpPr>
              <p:cNvPr id="11" name="テキスト ボックス 10"/>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0</a:t>
                </a:r>
              </a:p>
            </p:txBody>
          </p:sp>
          <p:sp>
            <p:nvSpPr>
              <p:cNvPr id="12" name="テキスト ボックス 11"/>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a:t>1</a:t>
                </a:r>
                <a:endParaRPr kumimoji="1" lang="ja-JP" altLang="en-US" sz="2800" dirty="0" smtClean="0"/>
              </a:p>
            </p:txBody>
          </p:sp>
          <p:sp>
            <p:nvSpPr>
              <p:cNvPr id="13" name="テキスト ボックス 12"/>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smtClean="0"/>
                  <a:t>0</a:t>
                </a:r>
                <a:endParaRPr kumimoji="1" lang="ja-JP" altLang="en-US" sz="2800" dirty="0" smtClean="0"/>
              </a:p>
            </p:txBody>
          </p:sp>
        </p:grpSp>
        <p:grpSp>
          <p:nvGrpSpPr>
            <p:cNvPr id="14" name="グループ化 13"/>
            <p:cNvGrpSpPr/>
            <p:nvPr/>
          </p:nvGrpSpPr>
          <p:grpSpPr>
            <a:xfrm>
              <a:off x="1651000" y="5015870"/>
              <a:ext cx="1371600" cy="523220"/>
              <a:chOff x="1498600" y="3416300"/>
              <a:chExt cx="1371600" cy="523220"/>
            </a:xfrm>
          </p:grpSpPr>
          <p:sp>
            <p:nvSpPr>
              <p:cNvPr id="15" name="テキスト ボックス 14"/>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0</a:t>
                </a:r>
                <a:endParaRPr kumimoji="1" lang="ja-JP" altLang="en-US" sz="2800" dirty="0" smtClean="0"/>
              </a:p>
            </p:txBody>
          </p:sp>
          <p:sp>
            <p:nvSpPr>
              <p:cNvPr id="16" name="テキスト ボックス 15"/>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a:t>1</a:t>
                </a:r>
                <a:endParaRPr kumimoji="1" lang="ja-JP" altLang="en-US" sz="2800" dirty="0" smtClean="0"/>
              </a:p>
            </p:txBody>
          </p:sp>
          <p:sp>
            <p:nvSpPr>
              <p:cNvPr id="17" name="テキスト ボックス 16"/>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smtClean="0"/>
                  <a:t>0</a:t>
                </a:r>
                <a:endParaRPr kumimoji="1" lang="ja-JP" altLang="en-US" sz="2800" dirty="0" smtClean="0"/>
              </a:p>
            </p:txBody>
          </p:sp>
        </p:grpSp>
        <p:grpSp>
          <p:nvGrpSpPr>
            <p:cNvPr id="22" name="グループ化 21"/>
            <p:cNvGrpSpPr/>
            <p:nvPr/>
          </p:nvGrpSpPr>
          <p:grpSpPr>
            <a:xfrm>
              <a:off x="1651000" y="5727700"/>
              <a:ext cx="1371600" cy="523220"/>
              <a:chOff x="1498600" y="3416300"/>
              <a:chExt cx="1371600" cy="523220"/>
            </a:xfrm>
          </p:grpSpPr>
          <p:sp>
            <p:nvSpPr>
              <p:cNvPr id="23" name="テキスト ボックス 22"/>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kumimoji="1" lang="en-US" altLang="ja-JP" sz="2800" dirty="0" smtClean="0"/>
                  <a:t>0</a:t>
                </a:r>
                <a:endParaRPr kumimoji="1" lang="ja-JP" altLang="en-US" sz="2800" dirty="0" smtClean="0"/>
              </a:p>
            </p:txBody>
          </p:sp>
          <p:sp>
            <p:nvSpPr>
              <p:cNvPr id="24" name="テキスト ボックス 23"/>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kumimoji="1" lang="en-US" altLang="ja-JP" sz="2800" smtClean="0"/>
                  <a:t>0</a:t>
                </a:r>
                <a:endParaRPr kumimoji="1" lang="ja-JP" altLang="en-US" sz="2800" dirty="0" smtClean="0"/>
              </a:p>
            </p:txBody>
          </p:sp>
          <p:sp>
            <p:nvSpPr>
              <p:cNvPr id="25" name="テキスト ボックス 24"/>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lang="en-US" altLang="ja-JP" sz="2800" dirty="0"/>
                  <a:t>1</a:t>
                </a:r>
                <a:endParaRPr kumimoji="1" lang="ja-JP" altLang="en-US" sz="2800" dirty="0" smtClean="0"/>
              </a:p>
            </p:txBody>
          </p:sp>
        </p:grpSp>
        <p:grpSp>
          <p:nvGrpSpPr>
            <p:cNvPr id="26" name="グループ化 25"/>
            <p:cNvGrpSpPr/>
            <p:nvPr/>
          </p:nvGrpSpPr>
          <p:grpSpPr>
            <a:xfrm>
              <a:off x="1651000" y="4304040"/>
              <a:ext cx="1371600" cy="523220"/>
              <a:chOff x="1498600" y="3416300"/>
              <a:chExt cx="1371600" cy="523220"/>
            </a:xfrm>
          </p:grpSpPr>
          <p:sp>
            <p:nvSpPr>
              <p:cNvPr id="27" name="テキスト ボックス 26"/>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0</a:t>
                </a:r>
                <a:endParaRPr kumimoji="1" lang="ja-JP" altLang="en-US" sz="2800" dirty="0" smtClean="0"/>
              </a:p>
            </p:txBody>
          </p:sp>
          <p:sp>
            <p:nvSpPr>
              <p:cNvPr id="28" name="テキスト ボックス 27"/>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a:t>1</a:t>
                </a:r>
                <a:endParaRPr kumimoji="1" lang="ja-JP" altLang="en-US" sz="2800" dirty="0" smtClean="0"/>
              </a:p>
            </p:txBody>
          </p:sp>
          <p:sp>
            <p:nvSpPr>
              <p:cNvPr id="29" name="テキスト ボックス 28"/>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dirty="0" smtClean="0"/>
                  <a:t>0</a:t>
                </a:r>
                <a:endParaRPr kumimoji="1" lang="ja-JP" altLang="en-US" sz="2800" dirty="0" smtClean="0"/>
              </a:p>
            </p:txBody>
          </p:sp>
        </p:grpSp>
      </p:grpSp>
      <p:sp>
        <p:nvSpPr>
          <p:cNvPr id="31" name="正方形/長方形 30"/>
          <p:cNvSpPr/>
          <p:nvPr/>
        </p:nvSpPr>
        <p:spPr>
          <a:xfrm>
            <a:off x="1790700" y="2817510"/>
            <a:ext cx="635000" cy="67310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33" name="テキスト ボックス 32"/>
              <p:cNvSpPr txBox="1"/>
              <p:nvPr/>
            </p:nvSpPr>
            <p:spPr>
              <a:xfrm>
                <a:off x="4917627" y="2934661"/>
                <a:ext cx="1500411" cy="440057"/>
              </a:xfrm>
              <a:prstGeom prst="rect">
                <a:avLst/>
              </a:prstGeom>
              <a:noFill/>
            </p:spPr>
            <p:txBody>
              <a:bodyPr wrap="none" lIns="0" tIns="0" rIns="0" bIns="0" rtlCol="0">
                <a:spAutoFit/>
              </a:bodyPr>
              <a:lstStyle/>
              <a:p>
                <a:pPr algn="ctr"/>
                <a14:m>
                  <m:oMath xmlns:m="http://schemas.openxmlformats.org/officeDocument/2006/math">
                    <m:acc>
                      <m:accPr>
                        <m:chr m:val="̃"/>
                        <m:ctrlPr>
                          <a:rPr kumimoji="1" lang="ja-JP" altLang="en-US" sz="2800" i="1" smtClean="0">
                            <a:latin typeface="Cambria Math" panose="02040503050406030204" pitchFamily="18" charset="0"/>
                          </a:rPr>
                        </m:ctrlPr>
                      </m:accPr>
                      <m:e>
                        <m:r>
                          <m:rPr>
                            <m:nor/>
                          </m:rPr>
                          <a:rPr kumimoji="1" lang="en-US" altLang="ja-JP" sz="2800" b="0" i="1" smtClean="0">
                            <a:latin typeface="Times New Roman" panose="02020603050405020304" pitchFamily="18" charset="0"/>
                            <a:cs typeface="Times New Roman" panose="02020603050405020304" pitchFamily="18" charset="0"/>
                          </a:rPr>
                          <m:t>V</m:t>
                        </m:r>
                      </m:e>
                    </m:acc>
                    <m:r>
                      <m:rPr>
                        <m:nor/>
                      </m:rPr>
                      <a:rPr kumimoji="1" lang="en-US" altLang="ja-JP" sz="2800" b="0" i="0" baseline="-25000" smtClean="0">
                        <a:latin typeface="Times New Roman" panose="02020603050405020304" pitchFamily="18" charset="0"/>
                        <a:cs typeface="Times New Roman" panose="02020603050405020304" pitchFamily="18" charset="0"/>
                      </a:rPr>
                      <m:t>1</m:t>
                    </m:r>
                    <m:r>
                      <m:rPr>
                        <m:nor/>
                      </m:rPr>
                      <a:rPr kumimoji="1" lang="en-US" altLang="ja-JP" sz="2800" b="0" i="0" smtClean="0">
                        <a:latin typeface="Times New Roman" panose="02020603050405020304" pitchFamily="18" charset="0"/>
                        <a:cs typeface="Times New Roman" panose="02020603050405020304" pitchFamily="18" charset="0"/>
                      </a:rPr>
                      <m:t>(0) =</m:t>
                    </m:r>
                  </m:oMath>
                </a14:m>
                <a:r>
                  <a:rPr kumimoji="1" lang="ja-JP" altLang="en-US" sz="2800" dirty="0" smtClean="0">
                    <a:latin typeface="Times New Roman" panose="02020603050405020304" pitchFamily="18" charset="0"/>
                    <a:cs typeface="Times New Roman" panose="02020603050405020304" pitchFamily="18" charset="0"/>
                  </a:rPr>
                  <a:t> </a:t>
                </a:r>
                <a:r>
                  <a:rPr kumimoji="1" lang="en-US" altLang="ja-JP" sz="2800" dirty="0" smtClean="0">
                    <a:latin typeface="Times New Roman" panose="02020603050405020304" pitchFamily="18" charset="0"/>
                    <a:cs typeface="Times New Roman" panose="02020603050405020304" pitchFamily="18" charset="0"/>
                  </a:rPr>
                  <a:t>…</a:t>
                </a:r>
                <a:endParaRPr kumimoji="1" lang="ja-JP" altLang="en-US" sz="2800" dirty="0" smtClean="0">
                  <a:latin typeface="Times New Roman" panose="02020603050405020304" pitchFamily="18" charset="0"/>
                  <a:cs typeface="Times New Roman" panose="02020603050405020304" pitchFamily="18" charset="0"/>
                </a:endParaRPr>
              </a:p>
            </p:txBody>
          </p:sp>
        </mc:Choice>
        <mc:Fallback xmlns="">
          <p:sp>
            <p:nvSpPr>
              <p:cNvPr id="33" name="テキスト ボックス 32"/>
              <p:cNvSpPr txBox="1">
                <a:spLocks noRot="1" noChangeAspect="1" noMove="1" noResize="1" noEditPoints="1" noAdjustHandles="1" noChangeArrowheads="1" noChangeShapeType="1" noTextEdit="1"/>
              </p:cNvSpPr>
              <p:nvPr/>
            </p:nvSpPr>
            <p:spPr>
              <a:xfrm>
                <a:off x="4917627" y="2934661"/>
                <a:ext cx="1500411" cy="440057"/>
              </a:xfrm>
              <a:prstGeom prst="rect">
                <a:avLst/>
              </a:prstGeom>
              <a:blipFill rotWithShape="0">
                <a:blip r:embed="rId2"/>
                <a:stretch>
                  <a:fillRect t="-21918" r="-13821" b="-4794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4" name="テキスト ボックス 33"/>
              <p:cNvSpPr txBox="1"/>
              <p:nvPr/>
            </p:nvSpPr>
            <p:spPr>
              <a:xfrm>
                <a:off x="2828477" y="2934661"/>
                <a:ext cx="1500411" cy="440057"/>
              </a:xfrm>
              <a:prstGeom prst="rect">
                <a:avLst/>
              </a:prstGeom>
              <a:noFill/>
            </p:spPr>
            <p:txBody>
              <a:bodyPr wrap="none" lIns="0" tIns="0" rIns="0" bIns="0" rtlCol="0">
                <a:spAutoFit/>
              </a:bodyPr>
              <a:lstStyle/>
              <a:p>
                <a:pPr algn="ctr"/>
                <a14:m>
                  <m:oMath xmlns:m="http://schemas.openxmlformats.org/officeDocument/2006/math">
                    <m:acc>
                      <m:accPr>
                        <m:chr m:val="̃"/>
                        <m:ctrlPr>
                          <a:rPr kumimoji="1" lang="ja-JP" altLang="en-US" sz="2800" i="1" smtClean="0">
                            <a:latin typeface="Cambria Math" panose="02040503050406030204" pitchFamily="18" charset="0"/>
                          </a:rPr>
                        </m:ctrlPr>
                      </m:accPr>
                      <m:e>
                        <m:r>
                          <m:rPr>
                            <m:nor/>
                          </m:rPr>
                          <a:rPr kumimoji="1" lang="en-US" altLang="ja-JP" sz="2800" b="0" i="1" smtClean="0">
                            <a:latin typeface="Times New Roman" panose="02020603050405020304" pitchFamily="18" charset="0"/>
                            <a:cs typeface="Times New Roman" panose="02020603050405020304" pitchFamily="18" charset="0"/>
                          </a:rPr>
                          <m:t>V</m:t>
                        </m:r>
                      </m:e>
                    </m:acc>
                    <m:r>
                      <m:rPr>
                        <m:nor/>
                      </m:rPr>
                      <a:rPr kumimoji="1" lang="en-US" altLang="ja-JP" sz="2800" b="0" i="0" baseline="-25000" smtClean="0">
                        <a:latin typeface="Times New Roman" panose="02020603050405020304" pitchFamily="18" charset="0"/>
                        <a:cs typeface="Times New Roman" panose="02020603050405020304" pitchFamily="18" charset="0"/>
                      </a:rPr>
                      <m:t>0</m:t>
                    </m:r>
                    <m:r>
                      <m:rPr>
                        <m:nor/>
                      </m:rPr>
                      <a:rPr kumimoji="1" lang="en-US" altLang="ja-JP" sz="2800" b="0" i="0" smtClean="0">
                        <a:latin typeface="Times New Roman" panose="02020603050405020304" pitchFamily="18" charset="0"/>
                        <a:cs typeface="Times New Roman" panose="02020603050405020304" pitchFamily="18" charset="0"/>
                      </a:rPr>
                      <m:t>(1) =</m:t>
                    </m:r>
                  </m:oMath>
                </a14:m>
                <a:r>
                  <a:rPr kumimoji="1" lang="ja-JP" altLang="en-US" sz="2800" dirty="0" smtClean="0">
                    <a:latin typeface="Times New Roman" panose="02020603050405020304" pitchFamily="18" charset="0"/>
                    <a:cs typeface="Times New Roman" panose="02020603050405020304" pitchFamily="18" charset="0"/>
                  </a:rPr>
                  <a:t> </a:t>
                </a:r>
                <a:r>
                  <a:rPr kumimoji="1" lang="en-US" altLang="ja-JP" sz="2800" dirty="0" smtClean="0">
                    <a:latin typeface="Times New Roman" panose="02020603050405020304" pitchFamily="18" charset="0"/>
                    <a:cs typeface="Times New Roman" panose="02020603050405020304" pitchFamily="18" charset="0"/>
                  </a:rPr>
                  <a:t>…</a:t>
                </a:r>
                <a:endParaRPr kumimoji="1" lang="ja-JP" altLang="en-US" sz="2800" dirty="0" smtClean="0">
                  <a:latin typeface="Times New Roman" panose="02020603050405020304" pitchFamily="18" charset="0"/>
                  <a:cs typeface="Times New Roman" panose="02020603050405020304" pitchFamily="18" charset="0"/>
                </a:endParaRPr>
              </a:p>
            </p:txBody>
          </p:sp>
        </mc:Choice>
        <mc:Fallback xmlns="">
          <p:sp>
            <p:nvSpPr>
              <p:cNvPr id="34" name="テキスト ボックス 33"/>
              <p:cNvSpPr txBox="1">
                <a:spLocks noRot="1" noChangeAspect="1" noMove="1" noResize="1" noEditPoints="1" noAdjustHandles="1" noChangeArrowheads="1" noChangeShapeType="1" noTextEdit="1"/>
              </p:cNvSpPr>
              <p:nvPr/>
            </p:nvSpPr>
            <p:spPr>
              <a:xfrm>
                <a:off x="2828477" y="2934661"/>
                <a:ext cx="1500411" cy="440057"/>
              </a:xfrm>
              <a:prstGeom prst="rect">
                <a:avLst/>
              </a:prstGeom>
              <a:blipFill rotWithShape="0">
                <a:blip r:embed="rId3"/>
                <a:stretch>
                  <a:fillRect t="-21918" r="-14228" b="-4794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5" name="テキスト ボックス 34"/>
              <p:cNvSpPr txBox="1"/>
              <p:nvPr/>
            </p:nvSpPr>
            <p:spPr>
              <a:xfrm>
                <a:off x="7006777" y="2934661"/>
                <a:ext cx="1500411" cy="440057"/>
              </a:xfrm>
              <a:prstGeom prst="rect">
                <a:avLst/>
              </a:prstGeom>
              <a:noFill/>
            </p:spPr>
            <p:txBody>
              <a:bodyPr wrap="none" lIns="0" tIns="0" rIns="0" bIns="0" rtlCol="0">
                <a:spAutoFit/>
              </a:bodyPr>
              <a:lstStyle/>
              <a:p>
                <a:pPr algn="ctr"/>
                <a14:m>
                  <m:oMath xmlns:m="http://schemas.openxmlformats.org/officeDocument/2006/math">
                    <m:acc>
                      <m:accPr>
                        <m:chr m:val="̃"/>
                        <m:ctrlPr>
                          <a:rPr kumimoji="1" lang="ja-JP" altLang="en-US" sz="2800" i="1" smtClean="0">
                            <a:latin typeface="Cambria Math" panose="02040503050406030204" pitchFamily="18" charset="0"/>
                          </a:rPr>
                        </m:ctrlPr>
                      </m:accPr>
                      <m:e>
                        <m:r>
                          <m:rPr>
                            <m:nor/>
                          </m:rPr>
                          <a:rPr kumimoji="1" lang="en-US" altLang="ja-JP" sz="2800" b="0" i="1" smtClean="0">
                            <a:latin typeface="Times New Roman" panose="02020603050405020304" pitchFamily="18" charset="0"/>
                            <a:cs typeface="Times New Roman" panose="02020603050405020304" pitchFamily="18" charset="0"/>
                          </a:rPr>
                          <m:t>V</m:t>
                        </m:r>
                      </m:e>
                    </m:acc>
                    <m:r>
                      <m:rPr>
                        <m:nor/>
                      </m:rPr>
                      <a:rPr kumimoji="1" lang="en-US" altLang="ja-JP" sz="2800" b="0" i="0" baseline="-25000" smtClean="0">
                        <a:latin typeface="Times New Roman" panose="02020603050405020304" pitchFamily="18" charset="0"/>
                        <a:cs typeface="Times New Roman" panose="02020603050405020304" pitchFamily="18" charset="0"/>
                      </a:rPr>
                      <m:t>2</m:t>
                    </m:r>
                    <m:r>
                      <m:rPr>
                        <m:nor/>
                      </m:rPr>
                      <a:rPr kumimoji="1" lang="en-US" altLang="ja-JP" sz="2800" b="0" i="0" smtClean="0">
                        <a:latin typeface="Times New Roman" panose="02020603050405020304" pitchFamily="18" charset="0"/>
                        <a:cs typeface="Times New Roman" panose="02020603050405020304" pitchFamily="18" charset="0"/>
                      </a:rPr>
                      <m:t>(0) =</m:t>
                    </m:r>
                  </m:oMath>
                </a14:m>
                <a:r>
                  <a:rPr kumimoji="1" lang="ja-JP" altLang="en-US" sz="2800" dirty="0" smtClean="0">
                    <a:latin typeface="Times New Roman" panose="02020603050405020304" pitchFamily="18" charset="0"/>
                    <a:cs typeface="Times New Roman" panose="02020603050405020304" pitchFamily="18" charset="0"/>
                  </a:rPr>
                  <a:t> </a:t>
                </a:r>
                <a:r>
                  <a:rPr kumimoji="1" lang="en-US" altLang="ja-JP" sz="2800" dirty="0" smtClean="0">
                    <a:latin typeface="Times New Roman" panose="02020603050405020304" pitchFamily="18" charset="0"/>
                    <a:cs typeface="Times New Roman" panose="02020603050405020304" pitchFamily="18" charset="0"/>
                  </a:rPr>
                  <a:t>…</a:t>
                </a:r>
                <a:endParaRPr kumimoji="1" lang="ja-JP" altLang="en-US" sz="2800" dirty="0" smtClean="0">
                  <a:latin typeface="Times New Roman" panose="02020603050405020304" pitchFamily="18" charset="0"/>
                  <a:cs typeface="Times New Roman" panose="02020603050405020304" pitchFamily="18" charset="0"/>
                </a:endParaRPr>
              </a:p>
            </p:txBody>
          </p:sp>
        </mc:Choice>
        <mc:Fallback xmlns="">
          <p:sp>
            <p:nvSpPr>
              <p:cNvPr id="35" name="テキスト ボックス 34"/>
              <p:cNvSpPr txBox="1">
                <a:spLocks noRot="1" noChangeAspect="1" noMove="1" noResize="1" noEditPoints="1" noAdjustHandles="1" noChangeArrowheads="1" noChangeShapeType="1" noTextEdit="1"/>
              </p:cNvSpPr>
              <p:nvPr/>
            </p:nvSpPr>
            <p:spPr>
              <a:xfrm>
                <a:off x="7006777" y="2934661"/>
                <a:ext cx="1500411" cy="440057"/>
              </a:xfrm>
              <a:prstGeom prst="rect">
                <a:avLst/>
              </a:prstGeom>
              <a:blipFill rotWithShape="0">
                <a:blip r:embed="rId4"/>
                <a:stretch>
                  <a:fillRect t="-21918" r="-13765" b="-47945"/>
                </a:stretch>
              </a:blipFill>
            </p:spPr>
            <p:txBody>
              <a:bodyPr/>
              <a:lstStyle/>
              <a:p>
                <a:r>
                  <a:rPr lang="ja-JP" altLang="en-US">
                    <a:noFill/>
                  </a:rPr>
                  <a:t> </a:t>
                </a:r>
              </a:p>
            </p:txBody>
          </p:sp>
        </mc:Fallback>
      </mc:AlternateContent>
      <p:sp>
        <p:nvSpPr>
          <p:cNvPr id="36" name="正方形/長方形 35"/>
          <p:cNvSpPr/>
          <p:nvPr/>
        </p:nvSpPr>
        <p:spPr>
          <a:xfrm>
            <a:off x="1333500" y="2817510"/>
            <a:ext cx="635000" cy="67310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p:cNvSpPr/>
          <p:nvPr/>
        </p:nvSpPr>
        <p:spPr>
          <a:xfrm>
            <a:off x="876300" y="2817510"/>
            <a:ext cx="635000" cy="67310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9640969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37"/>
                                        </p:tgtEl>
                                        <p:attrNameLst>
                                          <p:attrName>style.visibility</p:attrName>
                                        </p:attrNameLst>
                                      </p:cBhvr>
                                      <p:to>
                                        <p:strVal val="hidden"/>
                                      </p:to>
                                    </p:set>
                                  </p:childTnLst>
                                </p:cTn>
                              </p:par>
                              <p:par>
                                <p:cTn id="17" presetID="1" presetClass="entr" presetSubtype="0" fill="hold" grpId="0" nodeType="withEffect">
                                  <p:stCondLst>
                                    <p:cond delay="0"/>
                                  </p:stCondLst>
                                  <p:childTnLst>
                                    <p:set>
                                      <p:cBhvr>
                                        <p:cTn id="18" dur="1" fill="hold">
                                          <p:stCondLst>
                                            <p:cond delay="0"/>
                                          </p:stCondLst>
                                        </p:cTn>
                                        <p:tgtEl>
                                          <p:spTgt spid="3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36"/>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3" grpId="0"/>
      <p:bldP spid="34" grpId="0"/>
      <p:bldP spid="35" grpId="0"/>
      <p:bldP spid="36" grpId="0" animBg="1"/>
      <p:bldP spid="36" grpId="1" animBg="1"/>
      <p:bldP spid="37" grpId="0" animBg="1"/>
      <p:bldP spid="37"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smtClean="0"/>
              <a:t>Exclusive</a:t>
            </a:r>
            <a:r>
              <a:rPr kumimoji="1" lang="ja-JP" altLang="en-US" dirty="0" smtClean="0"/>
              <a:t> </a:t>
            </a:r>
            <a:r>
              <a:rPr kumimoji="1" lang="en-US" altLang="ja-JP" dirty="0" smtClean="0"/>
              <a:t>Feature</a:t>
            </a:r>
            <a:r>
              <a:rPr kumimoji="1" lang="ja-JP" altLang="en-US" dirty="0" smtClean="0"/>
              <a:t> </a:t>
            </a:r>
            <a:r>
              <a:rPr kumimoji="1" lang="en-US" altLang="ja-JP" dirty="0" smtClean="0"/>
              <a:t>Bundling</a:t>
            </a:r>
            <a:endParaRPr kumimoji="1" lang="ja-JP" altLang="en-US" dirty="0"/>
          </a:p>
        </p:txBody>
      </p:sp>
      <p:sp>
        <p:nvSpPr>
          <p:cNvPr id="3" name="コンテンツ プレースホルダー 2"/>
          <p:cNvSpPr>
            <a:spLocks noGrp="1"/>
          </p:cNvSpPr>
          <p:nvPr>
            <p:ph idx="1"/>
          </p:nvPr>
        </p:nvSpPr>
        <p:spPr/>
        <p:txBody>
          <a:bodyPr/>
          <a:lstStyle/>
          <a:p>
            <a:r>
              <a:rPr lang="en-US" altLang="ja-JP" dirty="0" smtClean="0"/>
              <a:t>One-hot</a:t>
            </a:r>
            <a:r>
              <a:rPr lang="ja-JP" altLang="en-US" dirty="0" smtClean="0"/>
              <a:t>ラベルなどの</a:t>
            </a:r>
            <a:r>
              <a:rPr kumimoji="1" lang="ja-JP" altLang="en-US" dirty="0" smtClean="0"/>
              <a:t>データに対し，最適な分岐を全探索で求めると，非常に効率が悪い．</a:t>
            </a:r>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9</a:t>
            </a:fld>
            <a:endParaRPr kumimoji="1" lang="ja-JP" altLang="en-US" dirty="0"/>
          </a:p>
        </p:txBody>
      </p:sp>
      <p:grpSp>
        <p:nvGrpSpPr>
          <p:cNvPr id="30" name="グループ化 29"/>
          <p:cNvGrpSpPr/>
          <p:nvPr/>
        </p:nvGrpSpPr>
        <p:grpSpPr>
          <a:xfrm>
            <a:off x="965200" y="2893080"/>
            <a:ext cx="1371600" cy="3370540"/>
            <a:chOff x="1651000" y="2880380"/>
            <a:chExt cx="1371600" cy="3370540"/>
          </a:xfrm>
        </p:grpSpPr>
        <p:grpSp>
          <p:nvGrpSpPr>
            <p:cNvPr id="9" name="グループ化 8"/>
            <p:cNvGrpSpPr/>
            <p:nvPr/>
          </p:nvGrpSpPr>
          <p:grpSpPr>
            <a:xfrm>
              <a:off x="1651000" y="2880380"/>
              <a:ext cx="1371600" cy="523220"/>
              <a:chOff x="1498600" y="3416300"/>
              <a:chExt cx="1371600" cy="523220"/>
            </a:xfrm>
          </p:grpSpPr>
          <p:sp>
            <p:nvSpPr>
              <p:cNvPr id="6" name="テキスト ボックス 5"/>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a:t>1</a:t>
                </a:r>
                <a:endParaRPr kumimoji="1" lang="ja-JP" altLang="en-US" sz="2800" dirty="0" smtClean="0"/>
              </a:p>
            </p:txBody>
          </p:sp>
          <p:sp>
            <p:nvSpPr>
              <p:cNvPr id="7" name="テキスト ボックス 6"/>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kumimoji="1" lang="en-US" altLang="ja-JP" sz="2800" smtClean="0"/>
                  <a:t>0</a:t>
                </a:r>
                <a:endParaRPr kumimoji="1" lang="ja-JP" altLang="en-US" sz="2800" dirty="0" smtClean="0"/>
              </a:p>
            </p:txBody>
          </p:sp>
          <p:sp>
            <p:nvSpPr>
              <p:cNvPr id="8" name="テキスト ボックス 7"/>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smtClean="0"/>
                  <a:t>0</a:t>
                </a:r>
                <a:endParaRPr kumimoji="1" lang="ja-JP" altLang="en-US" sz="2800" dirty="0" smtClean="0"/>
              </a:p>
            </p:txBody>
          </p:sp>
        </p:grpSp>
        <p:grpSp>
          <p:nvGrpSpPr>
            <p:cNvPr id="10" name="グループ化 9"/>
            <p:cNvGrpSpPr/>
            <p:nvPr/>
          </p:nvGrpSpPr>
          <p:grpSpPr>
            <a:xfrm>
              <a:off x="1651000" y="3592210"/>
              <a:ext cx="1371600" cy="523220"/>
              <a:chOff x="1498600" y="3416300"/>
              <a:chExt cx="1371600" cy="523220"/>
            </a:xfrm>
          </p:grpSpPr>
          <p:sp>
            <p:nvSpPr>
              <p:cNvPr id="11" name="テキスト ボックス 10"/>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kumimoji="1" lang="en-US" altLang="ja-JP" sz="2800" dirty="0" smtClean="0"/>
                  <a:t>0</a:t>
                </a:r>
                <a:endParaRPr kumimoji="1" lang="ja-JP" altLang="en-US" sz="2800" dirty="0" smtClean="0"/>
              </a:p>
            </p:txBody>
          </p:sp>
          <p:sp>
            <p:nvSpPr>
              <p:cNvPr id="12" name="テキスト ボックス 11"/>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a:t>1</a:t>
                </a:r>
                <a:endParaRPr kumimoji="1" lang="ja-JP" altLang="en-US" sz="2800" dirty="0" smtClean="0"/>
              </a:p>
            </p:txBody>
          </p:sp>
          <p:sp>
            <p:nvSpPr>
              <p:cNvPr id="13" name="テキスト ボックス 12"/>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smtClean="0"/>
                  <a:t>0</a:t>
                </a:r>
                <a:endParaRPr kumimoji="1" lang="ja-JP" altLang="en-US" sz="2800" dirty="0" smtClean="0"/>
              </a:p>
            </p:txBody>
          </p:sp>
        </p:grpSp>
        <p:grpSp>
          <p:nvGrpSpPr>
            <p:cNvPr id="14" name="グループ化 13"/>
            <p:cNvGrpSpPr/>
            <p:nvPr/>
          </p:nvGrpSpPr>
          <p:grpSpPr>
            <a:xfrm>
              <a:off x="1651000" y="5015870"/>
              <a:ext cx="1371600" cy="523220"/>
              <a:chOff x="1498600" y="3416300"/>
              <a:chExt cx="1371600" cy="523220"/>
            </a:xfrm>
          </p:grpSpPr>
          <p:sp>
            <p:nvSpPr>
              <p:cNvPr id="15" name="テキスト ボックス 14"/>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0</a:t>
                </a:r>
                <a:endParaRPr kumimoji="1" lang="ja-JP" altLang="en-US" sz="2800" dirty="0" smtClean="0"/>
              </a:p>
            </p:txBody>
          </p:sp>
          <p:sp>
            <p:nvSpPr>
              <p:cNvPr id="16" name="テキスト ボックス 15"/>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a:t>1</a:t>
                </a:r>
                <a:endParaRPr kumimoji="1" lang="ja-JP" altLang="en-US" sz="2800" dirty="0" smtClean="0"/>
              </a:p>
            </p:txBody>
          </p:sp>
          <p:sp>
            <p:nvSpPr>
              <p:cNvPr id="17" name="テキスト ボックス 16"/>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smtClean="0"/>
                  <a:t>0</a:t>
                </a:r>
                <a:endParaRPr kumimoji="1" lang="ja-JP" altLang="en-US" sz="2800" dirty="0" smtClean="0"/>
              </a:p>
            </p:txBody>
          </p:sp>
        </p:grpSp>
        <p:grpSp>
          <p:nvGrpSpPr>
            <p:cNvPr id="22" name="グループ化 21"/>
            <p:cNvGrpSpPr/>
            <p:nvPr/>
          </p:nvGrpSpPr>
          <p:grpSpPr>
            <a:xfrm>
              <a:off x="1651000" y="5727700"/>
              <a:ext cx="1371600" cy="523220"/>
              <a:chOff x="1498600" y="3416300"/>
              <a:chExt cx="1371600" cy="523220"/>
            </a:xfrm>
          </p:grpSpPr>
          <p:sp>
            <p:nvSpPr>
              <p:cNvPr id="23" name="テキスト ボックス 22"/>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kumimoji="1" lang="en-US" altLang="ja-JP" sz="2800" dirty="0" smtClean="0"/>
                  <a:t>0</a:t>
                </a:r>
                <a:endParaRPr kumimoji="1" lang="ja-JP" altLang="en-US" sz="2800" dirty="0" smtClean="0"/>
              </a:p>
            </p:txBody>
          </p:sp>
          <p:sp>
            <p:nvSpPr>
              <p:cNvPr id="24" name="テキスト ボックス 23"/>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kumimoji="1" lang="en-US" altLang="ja-JP" sz="2800" smtClean="0"/>
                  <a:t>0</a:t>
                </a:r>
                <a:endParaRPr kumimoji="1" lang="ja-JP" altLang="en-US" sz="2800" dirty="0" smtClean="0"/>
              </a:p>
            </p:txBody>
          </p:sp>
          <p:sp>
            <p:nvSpPr>
              <p:cNvPr id="25" name="テキスト ボックス 24"/>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lang="en-US" altLang="ja-JP" sz="2800" dirty="0"/>
                  <a:t>1</a:t>
                </a:r>
                <a:endParaRPr kumimoji="1" lang="ja-JP" altLang="en-US" sz="2800" dirty="0" smtClean="0"/>
              </a:p>
            </p:txBody>
          </p:sp>
        </p:grpSp>
        <p:grpSp>
          <p:nvGrpSpPr>
            <p:cNvPr id="26" name="グループ化 25"/>
            <p:cNvGrpSpPr/>
            <p:nvPr/>
          </p:nvGrpSpPr>
          <p:grpSpPr>
            <a:xfrm>
              <a:off x="1651000" y="4304040"/>
              <a:ext cx="1371600" cy="523220"/>
              <a:chOff x="1498600" y="3416300"/>
              <a:chExt cx="1371600" cy="523220"/>
            </a:xfrm>
          </p:grpSpPr>
          <p:sp>
            <p:nvSpPr>
              <p:cNvPr id="27" name="テキスト ボックス 26"/>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0</a:t>
                </a:r>
                <a:endParaRPr kumimoji="1" lang="ja-JP" altLang="en-US" sz="2800" dirty="0" smtClean="0"/>
              </a:p>
            </p:txBody>
          </p:sp>
          <p:sp>
            <p:nvSpPr>
              <p:cNvPr id="28" name="テキスト ボックス 27"/>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a:t>1</a:t>
                </a:r>
                <a:endParaRPr kumimoji="1" lang="ja-JP" altLang="en-US" sz="2800" dirty="0" smtClean="0"/>
              </a:p>
            </p:txBody>
          </p:sp>
          <p:sp>
            <p:nvSpPr>
              <p:cNvPr id="29" name="テキスト ボックス 28"/>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smtClean="0"/>
                  <a:t>0</a:t>
                </a:r>
                <a:endParaRPr kumimoji="1" lang="ja-JP" altLang="en-US" sz="2800" dirty="0" smtClean="0"/>
              </a:p>
            </p:txBody>
          </p:sp>
        </p:grpSp>
      </p:grpSp>
      <p:sp>
        <p:nvSpPr>
          <p:cNvPr id="31" name="正方形/長方形 30"/>
          <p:cNvSpPr/>
          <p:nvPr/>
        </p:nvSpPr>
        <p:spPr>
          <a:xfrm>
            <a:off x="1790700" y="3529340"/>
            <a:ext cx="635000" cy="67310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33" name="テキスト ボックス 32"/>
              <p:cNvSpPr txBox="1"/>
              <p:nvPr/>
            </p:nvSpPr>
            <p:spPr>
              <a:xfrm>
                <a:off x="4917627" y="2934661"/>
                <a:ext cx="1500411" cy="440057"/>
              </a:xfrm>
              <a:prstGeom prst="rect">
                <a:avLst/>
              </a:prstGeom>
              <a:noFill/>
            </p:spPr>
            <p:txBody>
              <a:bodyPr wrap="none" lIns="0" tIns="0" rIns="0" bIns="0" rtlCol="0">
                <a:spAutoFit/>
              </a:bodyPr>
              <a:lstStyle/>
              <a:p>
                <a:pPr algn="ctr"/>
                <a14:m>
                  <m:oMath xmlns:m="http://schemas.openxmlformats.org/officeDocument/2006/math">
                    <m:acc>
                      <m:accPr>
                        <m:chr m:val="̃"/>
                        <m:ctrlPr>
                          <a:rPr kumimoji="1" lang="ja-JP" altLang="en-US" sz="2800" i="1" smtClean="0">
                            <a:latin typeface="Cambria Math" panose="02040503050406030204" pitchFamily="18" charset="0"/>
                          </a:rPr>
                        </m:ctrlPr>
                      </m:accPr>
                      <m:e>
                        <m:r>
                          <m:rPr>
                            <m:nor/>
                          </m:rPr>
                          <a:rPr kumimoji="1" lang="en-US" altLang="ja-JP" sz="2800" b="0" i="1" smtClean="0">
                            <a:latin typeface="Times New Roman" panose="02020603050405020304" pitchFamily="18" charset="0"/>
                            <a:cs typeface="Times New Roman" panose="02020603050405020304" pitchFamily="18" charset="0"/>
                          </a:rPr>
                          <m:t>V</m:t>
                        </m:r>
                      </m:e>
                    </m:acc>
                    <m:r>
                      <m:rPr>
                        <m:nor/>
                      </m:rPr>
                      <a:rPr kumimoji="1" lang="en-US" altLang="ja-JP" sz="2800" b="0" i="0" baseline="-25000" smtClean="0">
                        <a:latin typeface="Times New Roman" panose="02020603050405020304" pitchFamily="18" charset="0"/>
                        <a:cs typeface="Times New Roman" panose="02020603050405020304" pitchFamily="18" charset="0"/>
                      </a:rPr>
                      <m:t>1</m:t>
                    </m:r>
                    <m:r>
                      <m:rPr>
                        <m:nor/>
                      </m:rPr>
                      <a:rPr kumimoji="1" lang="en-US" altLang="ja-JP" sz="2800" b="0" i="0" smtClean="0">
                        <a:latin typeface="Times New Roman" panose="02020603050405020304" pitchFamily="18" charset="0"/>
                        <a:cs typeface="Times New Roman" panose="02020603050405020304" pitchFamily="18" charset="0"/>
                      </a:rPr>
                      <m:t>(0) =</m:t>
                    </m:r>
                  </m:oMath>
                </a14:m>
                <a:r>
                  <a:rPr kumimoji="1" lang="ja-JP" altLang="en-US" sz="2800" dirty="0" smtClean="0">
                    <a:latin typeface="Times New Roman" panose="02020603050405020304" pitchFamily="18" charset="0"/>
                    <a:cs typeface="Times New Roman" panose="02020603050405020304" pitchFamily="18" charset="0"/>
                  </a:rPr>
                  <a:t> </a:t>
                </a:r>
                <a:r>
                  <a:rPr kumimoji="1" lang="en-US" altLang="ja-JP" sz="2800" dirty="0" smtClean="0">
                    <a:latin typeface="Times New Roman" panose="02020603050405020304" pitchFamily="18" charset="0"/>
                    <a:cs typeface="Times New Roman" panose="02020603050405020304" pitchFamily="18" charset="0"/>
                  </a:rPr>
                  <a:t>…</a:t>
                </a:r>
                <a:endParaRPr kumimoji="1" lang="ja-JP" altLang="en-US" sz="2800" dirty="0" smtClean="0">
                  <a:latin typeface="Times New Roman" panose="02020603050405020304" pitchFamily="18" charset="0"/>
                  <a:cs typeface="Times New Roman" panose="02020603050405020304" pitchFamily="18" charset="0"/>
                </a:endParaRPr>
              </a:p>
            </p:txBody>
          </p:sp>
        </mc:Choice>
        <mc:Fallback xmlns="">
          <p:sp>
            <p:nvSpPr>
              <p:cNvPr id="33" name="テキスト ボックス 32"/>
              <p:cNvSpPr txBox="1">
                <a:spLocks noRot="1" noChangeAspect="1" noMove="1" noResize="1" noEditPoints="1" noAdjustHandles="1" noChangeArrowheads="1" noChangeShapeType="1" noTextEdit="1"/>
              </p:cNvSpPr>
              <p:nvPr/>
            </p:nvSpPr>
            <p:spPr>
              <a:xfrm>
                <a:off x="4917627" y="2934661"/>
                <a:ext cx="1500411" cy="440057"/>
              </a:xfrm>
              <a:prstGeom prst="rect">
                <a:avLst/>
              </a:prstGeom>
              <a:blipFill rotWithShape="0">
                <a:blip r:embed="rId2"/>
                <a:stretch>
                  <a:fillRect t="-21918" r="-13821" b="-4794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4" name="テキスト ボックス 33"/>
              <p:cNvSpPr txBox="1"/>
              <p:nvPr/>
            </p:nvSpPr>
            <p:spPr>
              <a:xfrm>
                <a:off x="2828477" y="2934661"/>
                <a:ext cx="1500411" cy="440057"/>
              </a:xfrm>
              <a:prstGeom prst="rect">
                <a:avLst/>
              </a:prstGeom>
              <a:noFill/>
            </p:spPr>
            <p:txBody>
              <a:bodyPr wrap="none" lIns="0" tIns="0" rIns="0" bIns="0" rtlCol="0">
                <a:spAutoFit/>
              </a:bodyPr>
              <a:lstStyle/>
              <a:p>
                <a:pPr algn="ctr"/>
                <a14:m>
                  <m:oMath xmlns:m="http://schemas.openxmlformats.org/officeDocument/2006/math">
                    <m:acc>
                      <m:accPr>
                        <m:chr m:val="̃"/>
                        <m:ctrlPr>
                          <a:rPr kumimoji="1" lang="ja-JP" altLang="en-US" sz="2800" i="1" smtClean="0">
                            <a:latin typeface="Cambria Math" panose="02040503050406030204" pitchFamily="18" charset="0"/>
                          </a:rPr>
                        </m:ctrlPr>
                      </m:accPr>
                      <m:e>
                        <m:r>
                          <m:rPr>
                            <m:nor/>
                          </m:rPr>
                          <a:rPr kumimoji="1" lang="en-US" altLang="ja-JP" sz="2800" b="0" i="1" smtClean="0">
                            <a:latin typeface="Times New Roman" panose="02020603050405020304" pitchFamily="18" charset="0"/>
                            <a:cs typeface="Times New Roman" panose="02020603050405020304" pitchFamily="18" charset="0"/>
                          </a:rPr>
                          <m:t>V</m:t>
                        </m:r>
                      </m:e>
                    </m:acc>
                    <m:r>
                      <m:rPr>
                        <m:nor/>
                      </m:rPr>
                      <a:rPr kumimoji="1" lang="en-US" altLang="ja-JP" sz="2800" b="0" i="0" baseline="-25000" smtClean="0">
                        <a:latin typeface="Times New Roman" panose="02020603050405020304" pitchFamily="18" charset="0"/>
                        <a:cs typeface="Times New Roman" panose="02020603050405020304" pitchFamily="18" charset="0"/>
                      </a:rPr>
                      <m:t>0</m:t>
                    </m:r>
                    <m:r>
                      <m:rPr>
                        <m:nor/>
                      </m:rPr>
                      <a:rPr kumimoji="1" lang="en-US" altLang="ja-JP" sz="2800" b="0" i="0" smtClean="0">
                        <a:latin typeface="Times New Roman" panose="02020603050405020304" pitchFamily="18" charset="0"/>
                        <a:cs typeface="Times New Roman" panose="02020603050405020304" pitchFamily="18" charset="0"/>
                      </a:rPr>
                      <m:t>(1) =</m:t>
                    </m:r>
                  </m:oMath>
                </a14:m>
                <a:r>
                  <a:rPr kumimoji="1" lang="ja-JP" altLang="en-US" sz="2800" dirty="0" smtClean="0">
                    <a:latin typeface="Times New Roman" panose="02020603050405020304" pitchFamily="18" charset="0"/>
                    <a:cs typeface="Times New Roman" panose="02020603050405020304" pitchFamily="18" charset="0"/>
                  </a:rPr>
                  <a:t> </a:t>
                </a:r>
                <a:r>
                  <a:rPr kumimoji="1" lang="en-US" altLang="ja-JP" sz="2800" dirty="0" smtClean="0">
                    <a:latin typeface="Times New Roman" panose="02020603050405020304" pitchFamily="18" charset="0"/>
                    <a:cs typeface="Times New Roman" panose="02020603050405020304" pitchFamily="18" charset="0"/>
                  </a:rPr>
                  <a:t>…</a:t>
                </a:r>
                <a:endParaRPr kumimoji="1" lang="ja-JP" altLang="en-US" sz="2800" dirty="0" smtClean="0">
                  <a:latin typeface="Times New Roman" panose="02020603050405020304" pitchFamily="18" charset="0"/>
                  <a:cs typeface="Times New Roman" panose="02020603050405020304" pitchFamily="18" charset="0"/>
                </a:endParaRPr>
              </a:p>
            </p:txBody>
          </p:sp>
        </mc:Choice>
        <mc:Fallback xmlns="">
          <p:sp>
            <p:nvSpPr>
              <p:cNvPr id="34" name="テキスト ボックス 33"/>
              <p:cNvSpPr txBox="1">
                <a:spLocks noRot="1" noChangeAspect="1" noMove="1" noResize="1" noEditPoints="1" noAdjustHandles="1" noChangeArrowheads="1" noChangeShapeType="1" noTextEdit="1"/>
              </p:cNvSpPr>
              <p:nvPr/>
            </p:nvSpPr>
            <p:spPr>
              <a:xfrm>
                <a:off x="2828477" y="2934661"/>
                <a:ext cx="1500411" cy="440057"/>
              </a:xfrm>
              <a:prstGeom prst="rect">
                <a:avLst/>
              </a:prstGeom>
              <a:blipFill rotWithShape="0">
                <a:blip r:embed="rId3"/>
                <a:stretch>
                  <a:fillRect t="-21918" r="-14228" b="-4794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5" name="テキスト ボックス 34"/>
              <p:cNvSpPr txBox="1"/>
              <p:nvPr/>
            </p:nvSpPr>
            <p:spPr>
              <a:xfrm>
                <a:off x="7006777" y="2934661"/>
                <a:ext cx="1500411" cy="440057"/>
              </a:xfrm>
              <a:prstGeom prst="rect">
                <a:avLst/>
              </a:prstGeom>
              <a:noFill/>
            </p:spPr>
            <p:txBody>
              <a:bodyPr wrap="none" lIns="0" tIns="0" rIns="0" bIns="0" rtlCol="0">
                <a:spAutoFit/>
              </a:bodyPr>
              <a:lstStyle/>
              <a:p>
                <a:pPr algn="ctr"/>
                <a14:m>
                  <m:oMath xmlns:m="http://schemas.openxmlformats.org/officeDocument/2006/math">
                    <m:acc>
                      <m:accPr>
                        <m:chr m:val="̃"/>
                        <m:ctrlPr>
                          <a:rPr kumimoji="1" lang="ja-JP" altLang="en-US" sz="2800" i="1" smtClean="0">
                            <a:latin typeface="Cambria Math" panose="02040503050406030204" pitchFamily="18" charset="0"/>
                          </a:rPr>
                        </m:ctrlPr>
                      </m:accPr>
                      <m:e>
                        <m:r>
                          <m:rPr>
                            <m:nor/>
                          </m:rPr>
                          <a:rPr kumimoji="1" lang="en-US" altLang="ja-JP" sz="2800" b="0" i="1" smtClean="0">
                            <a:latin typeface="Times New Roman" panose="02020603050405020304" pitchFamily="18" charset="0"/>
                            <a:cs typeface="Times New Roman" panose="02020603050405020304" pitchFamily="18" charset="0"/>
                          </a:rPr>
                          <m:t>V</m:t>
                        </m:r>
                      </m:e>
                    </m:acc>
                    <m:r>
                      <m:rPr>
                        <m:nor/>
                      </m:rPr>
                      <a:rPr kumimoji="1" lang="en-US" altLang="ja-JP" sz="2800" b="0" i="0" baseline="-25000" smtClean="0">
                        <a:latin typeface="Times New Roman" panose="02020603050405020304" pitchFamily="18" charset="0"/>
                        <a:cs typeface="Times New Roman" panose="02020603050405020304" pitchFamily="18" charset="0"/>
                      </a:rPr>
                      <m:t>2</m:t>
                    </m:r>
                    <m:r>
                      <m:rPr>
                        <m:nor/>
                      </m:rPr>
                      <a:rPr kumimoji="1" lang="en-US" altLang="ja-JP" sz="2800" b="0" i="0" smtClean="0">
                        <a:latin typeface="Times New Roman" panose="02020603050405020304" pitchFamily="18" charset="0"/>
                        <a:cs typeface="Times New Roman" panose="02020603050405020304" pitchFamily="18" charset="0"/>
                      </a:rPr>
                      <m:t>(0) =</m:t>
                    </m:r>
                  </m:oMath>
                </a14:m>
                <a:r>
                  <a:rPr kumimoji="1" lang="ja-JP" altLang="en-US" sz="2800" dirty="0" smtClean="0">
                    <a:latin typeface="Times New Roman" panose="02020603050405020304" pitchFamily="18" charset="0"/>
                    <a:cs typeface="Times New Roman" panose="02020603050405020304" pitchFamily="18" charset="0"/>
                  </a:rPr>
                  <a:t> </a:t>
                </a:r>
                <a:r>
                  <a:rPr kumimoji="1" lang="en-US" altLang="ja-JP" sz="2800" dirty="0" smtClean="0">
                    <a:latin typeface="Times New Roman" panose="02020603050405020304" pitchFamily="18" charset="0"/>
                    <a:cs typeface="Times New Roman" panose="02020603050405020304" pitchFamily="18" charset="0"/>
                  </a:rPr>
                  <a:t>…</a:t>
                </a:r>
                <a:endParaRPr kumimoji="1" lang="ja-JP" altLang="en-US" sz="2800" dirty="0" smtClean="0">
                  <a:latin typeface="Times New Roman" panose="02020603050405020304" pitchFamily="18" charset="0"/>
                  <a:cs typeface="Times New Roman" panose="02020603050405020304" pitchFamily="18" charset="0"/>
                </a:endParaRPr>
              </a:p>
            </p:txBody>
          </p:sp>
        </mc:Choice>
        <mc:Fallback xmlns="">
          <p:sp>
            <p:nvSpPr>
              <p:cNvPr id="35" name="テキスト ボックス 34"/>
              <p:cNvSpPr txBox="1">
                <a:spLocks noRot="1" noChangeAspect="1" noMove="1" noResize="1" noEditPoints="1" noAdjustHandles="1" noChangeArrowheads="1" noChangeShapeType="1" noTextEdit="1"/>
              </p:cNvSpPr>
              <p:nvPr/>
            </p:nvSpPr>
            <p:spPr>
              <a:xfrm>
                <a:off x="7006777" y="2934661"/>
                <a:ext cx="1500411" cy="440057"/>
              </a:xfrm>
              <a:prstGeom prst="rect">
                <a:avLst/>
              </a:prstGeom>
              <a:blipFill rotWithShape="0">
                <a:blip r:embed="rId4"/>
                <a:stretch>
                  <a:fillRect t="-21918" r="-13765" b="-47945"/>
                </a:stretch>
              </a:blipFill>
            </p:spPr>
            <p:txBody>
              <a:bodyPr/>
              <a:lstStyle/>
              <a:p>
                <a:r>
                  <a:rPr lang="ja-JP" altLang="en-US">
                    <a:noFill/>
                  </a:rPr>
                  <a:t> </a:t>
                </a:r>
              </a:p>
            </p:txBody>
          </p:sp>
        </mc:Fallback>
      </mc:AlternateContent>
      <p:sp>
        <p:nvSpPr>
          <p:cNvPr id="36" name="正方形/長方形 35"/>
          <p:cNvSpPr/>
          <p:nvPr/>
        </p:nvSpPr>
        <p:spPr>
          <a:xfrm>
            <a:off x="1333500" y="3529340"/>
            <a:ext cx="635000" cy="67310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p:cNvSpPr/>
          <p:nvPr/>
        </p:nvSpPr>
        <p:spPr>
          <a:xfrm>
            <a:off x="876300" y="3529340"/>
            <a:ext cx="635000" cy="67310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32" name="テキスト ボックス 31"/>
              <p:cNvSpPr txBox="1"/>
              <p:nvPr/>
            </p:nvSpPr>
            <p:spPr>
              <a:xfrm>
                <a:off x="4917627" y="3659191"/>
                <a:ext cx="1500411" cy="440057"/>
              </a:xfrm>
              <a:prstGeom prst="rect">
                <a:avLst/>
              </a:prstGeom>
              <a:noFill/>
            </p:spPr>
            <p:txBody>
              <a:bodyPr wrap="none" lIns="0" tIns="0" rIns="0" bIns="0" rtlCol="0">
                <a:spAutoFit/>
              </a:bodyPr>
              <a:lstStyle/>
              <a:p>
                <a:pPr algn="ctr"/>
                <a14:m>
                  <m:oMath xmlns:m="http://schemas.openxmlformats.org/officeDocument/2006/math">
                    <m:acc>
                      <m:accPr>
                        <m:chr m:val="̃"/>
                        <m:ctrlPr>
                          <a:rPr kumimoji="1" lang="ja-JP" altLang="en-US" sz="2800" i="1" smtClean="0">
                            <a:latin typeface="Cambria Math" panose="02040503050406030204" pitchFamily="18" charset="0"/>
                          </a:rPr>
                        </m:ctrlPr>
                      </m:accPr>
                      <m:e>
                        <m:r>
                          <m:rPr>
                            <m:nor/>
                          </m:rPr>
                          <a:rPr kumimoji="1" lang="en-US" altLang="ja-JP" sz="2800" b="0" i="1" smtClean="0">
                            <a:latin typeface="Times New Roman" panose="02020603050405020304" pitchFamily="18" charset="0"/>
                            <a:cs typeface="Times New Roman" panose="02020603050405020304" pitchFamily="18" charset="0"/>
                          </a:rPr>
                          <m:t>V</m:t>
                        </m:r>
                      </m:e>
                    </m:acc>
                    <m:r>
                      <m:rPr>
                        <m:nor/>
                      </m:rPr>
                      <a:rPr kumimoji="1" lang="en-US" altLang="ja-JP" sz="2800" b="0" i="0" baseline="-25000" smtClean="0">
                        <a:latin typeface="Times New Roman" panose="02020603050405020304" pitchFamily="18" charset="0"/>
                        <a:cs typeface="Times New Roman" panose="02020603050405020304" pitchFamily="18" charset="0"/>
                      </a:rPr>
                      <m:t>1</m:t>
                    </m:r>
                    <m:r>
                      <m:rPr>
                        <m:nor/>
                      </m:rPr>
                      <a:rPr kumimoji="1" lang="en-US" altLang="ja-JP" sz="2800" b="0" i="0" smtClean="0">
                        <a:latin typeface="Times New Roman" panose="02020603050405020304" pitchFamily="18" charset="0"/>
                        <a:cs typeface="Times New Roman" panose="02020603050405020304" pitchFamily="18" charset="0"/>
                      </a:rPr>
                      <m:t>(1) =</m:t>
                    </m:r>
                  </m:oMath>
                </a14:m>
                <a:r>
                  <a:rPr kumimoji="1" lang="ja-JP" altLang="en-US" sz="2800" dirty="0" smtClean="0">
                    <a:latin typeface="Times New Roman" panose="02020603050405020304" pitchFamily="18" charset="0"/>
                    <a:cs typeface="Times New Roman" panose="02020603050405020304" pitchFamily="18" charset="0"/>
                  </a:rPr>
                  <a:t> </a:t>
                </a:r>
                <a:r>
                  <a:rPr kumimoji="1" lang="en-US" altLang="ja-JP" sz="2800" dirty="0" smtClean="0">
                    <a:latin typeface="Times New Roman" panose="02020603050405020304" pitchFamily="18" charset="0"/>
                    <a:cs typeface="Times New Roman" panose="02020603050405020304" pitchFamily="18" charset="0"/>
                  </a:rPr>
                  <a:t>…</a:t>
                </a:r>
                <a:endParaRPr kumimoji="1" lang="ja-JP" altLang="en-US" sz="2800" dirty="0" smtClean="0">
                  <a:latin typeface="Times New Roman" panose="02020603050405020304" pitchFamily="18" charset="0"/>
                  <a:cs typeface="Times New Roman" panose="02020603050405020304" pitchFamily="18" charset="0"/>
                </a:endParaRPr>
              </a:p>
            </p:txBody>
          </p:sp>
        </mc:Choice>
        <mc:Fallback xmlns="">
          <p:sp>
            <p:nvSpPr>
              <p:cNvPr id="32" name="テキスト ボックス 31"/>
              <p:cNvSpPr txBox="1">
                <a:spLocks noRot="1" noChangeAspect="1" noMove="1" noResize="1" noEditPoints="1" noAdjustHandles="1" noChangeArrowheads="1" noChangeShapeType="1" noTextEdit="1"/>
              </p:cNvSpPr>
              <p:nvPr/>
            </p:nvSpPr>
            <p:spPr>
              <a:xfrm>
                <a:off x="4917627" y="3659191"/>
                <a:ext cx="1500411" cy="440057"/>
              </a:xfrm>
              <a:prstGeom prst="rect">
                <a:avLst/>
              </a:prstGeom>
              <a:blipFill rotWithShape="0">
                <a:blip r:embed="rId5"/>
                <a:stretch>
                  <a:fillRect t="-22222" r="-13821" b="-5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8" name="テキスト ボックス 37"/>
              <p:cNvSpPr txBox="1"/>
              <p:nvPr/>
            </p:nvSpPr>
            <p:spPr>
              <a:xfrm>
                <a:off x="2828477" y="3659191"/>
                <a:ext cx="1500411" cy="440057"/>
              </a:xfrm>
              <a:prstGeom prst="rect">
                <a:avLst/>
              </a:prstGeom>
              <a:noFill/>
            </p:spPr>
            <p:txBody>
              <a:bodyPr wrap="none" lIns="0" tIns="0" rIns="0" bIns="0" rtlCol="0">
                <a:spAutoFit/>
              </a:bodyPr>
              <a:lstStyle/>
              <a:p>
                <a:pPr algn="ctr"/>
                <a14:m>
                  <m:oMath xmlns:m="http://schemas.openxmlformats.org/officeDocument/2006/math">
                    <m:acc>
                      <m:accPr>
                        <m:chr m:val="̃"/>
                        <m:ctrlPr>
                          <a:rPr kumimoji="1" lang="ja-JP" altLang="en-US" sz="2800" i="1" smtClean="0">
                            <a:latin typeface="Cambria Math" panose="02040503050406030204" pitchFamily="18" charset="0"/>
                          </a:rPr>
                        </m:ctrlPr>
                      </m:accPr>
                      <m:e>
                        <m:r>
                          <m:rPr>
                            <m:nor/>
                          </m:rPr>
                          <a:rPr kumimoji="1" lang="en-US" altLang="ja-JP" sz="2800" b="0" i="1" smtClean="0">
                            <a:latin typeface="Times New Roman" panose="02020603050405020304" pitchFamily="18" charset="0"/>
                            <a:cs typeface="Times New Roman" panose="02020603050405020304" pitchFamily="18" charset="0"/>
                          </a:rPr>
                          <m:t>V</m:t>
                        </m:r>
                      </m:e>
                    </m:acc>
                    <m:r>
                      <m:rPr>
                        <m:nor/>
                      </m:rPr>
                      <a:rPr kumimoji="1" lang="en-US" altLang="ja-JP" sz="2800" b="0" i="0" baseline="-25000" smtClean="0">
                        <a:latin typeface="Times New Roman" panose="02020603050405020304" pitchFamily="18" charset="0"/>
                        <a:cs typeface="Times New Roman" panose="02020603050405020304" pitchFamily="18" charset="0"/>
                      </a:rPr>
                      <m:t>0</m:t>
                    </m:r>
                    <m:r>
                      <m:rPr>
                        <m:nor/>
                      </m:rPr>
                      <a:rPr kumimoji="1" lang="en-US" altLang="ja-JP" sz="2800" b="0" i="0" smtClean="0">
                        <a:latin typeface="Times New Roman" panose="02020603050405020304" pitchFamily="18" charset="0"/>
                        <a:cs typeface="Times New Roman" panose="02020603050405020304" pitchFamily="18" charset="0"/>
                      </a:rPr>
                      <m:t>(0) =</m:t>
                    </m:r>
                  </m:oMath>
                </a14:m>
                <a:r>
                  <a:rPr kumimoji="1" lang="ja-JP" altLang="en-US" sz="2800" dirty="0" smtClean="0">
                    <a:latin typeface="Times New Roman" panose="02020603050405020304" pitchFamily="18" charset="0"/>
                    <a:cs typeface="Times New Roman" panose="02020603050405020304" pitchFamily="18" charset="0"/>
                  </a:rPr>
                  <a:t> </a:t>
                </a:r>
                <a:r>
                  <a:rPr kumimoji="1" lang="en-US" altLang="ja-JP" sz="2800" dirty="0" smtClean="0">
                    <a:latin typeface="Times New Roman" panose="02020603050405020304" pitchFamily="18" charset="0"/>
                    <a:cs typeface="Times New Roman" panose="02020603050405020304" pitchFamily="18" charset="0"/>
                  </a:rPr>
                  <a:t>…</a:t>
                </a:r>
                <a:endParaRPr kumimoji="1" lang="ja-JP" altLang="en-US" sz="2800" dirty="0" smtClean="0">
                  <a:latin typeface="Times New Roman" panose="02020603050405020304" pitchFamily="18" charset="0"/>
                  <a:cs typeface="Times New Roman" panose="02020603050405020304" pitchFamily="18" charset="0"/>
                </a:endParaRPr>
              </a:p>
            </p:txBody>
          </p:sp>
        </mc:Choice>
        <mc:Fallback xmlns="">
          <p:sp>
            <p:nvSpPr>
              <p:cNvPr id="38" name="テキスト ボックス 37"/>
              <p:cNvSpPr txBox="1">
                <a:spLocks noRot="1" noChangeAspect="1" noMove="1" noResize="1" noEditPoints="1" noAdjustHandles="1" noChangeArrowheads="1" noChangeShapeType="1" noTextEdit="1"/>
              </p:cNvSpPr>
              <p:nvPr/>
            </p:nvSpPr>
            <p:spPr>
              <a:xfrm>
                <a:off x="2828477" y="3659191"/>
                <a:ext cx="1500411" cy="440057"/>
              </a:xfrm>
              <a:prstGeom prst="rect">
                <a:avLst/>
              </a:prstGeom>
              <a:blipFill rotWithShape="0">
                <a:blip r:embed="rId6"/>
                <a:stretch>
                  <a:fillRect t="-22222" r="-14228" b="-5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9" name="テキスト ボックス 38"/>
              <p:cNvSpPr txBox="1"/>
              <p:nvPr/>
            </p:nvSpPr>
            <p:spPr>
              <a:xfrm>
                <a:off x="7006777" y="3659191"/>
                <a:ext cx="1500411" cy="440057"/>
              </a:xfrm>
              <a:prstGeom prst="rect">
                <a:avLst/>
              </a:prstGeom>
              <a:noFill/>
            </p:spPr>
            <p:txBody>
              <a:bodyPr wrap="none" lIns="0" tIns="0" rIns="0" bIns="0" rtlCol="0">
                <a:spAutoFit/>
              </a:bodyPr>
              <a:lstStyle/>
              <a:p>
                <a:pPr algn="ctr"/>
                <a14:m>
                  <m:oMath xmlns:m="http://schemas.openxmlformats.org/officeDocument/2006/math">
                    <m:acc>
                      <m:accPr>
                        <m:chr m:val="̃"/>
                        <m:ctrlPr>
                          <a:rPr kumimoji="1" lang="ja-JP" altLang="en-US" sz="2800" i="1" smtClean="0">
                            <a:latin typeface="Cambria Math" panose="02040503050406030204" pitchFamily="18" charset="0"/>
                          </a:rPr>
                        </m:ctrlPr>
                      </m:accPr>
                      <m:e>
                        <m:r>
                          <m:rPr>
                            <m:nor/>
                          </m:rPr>
                          <a:rPr kumimoji="1" lang="en-US" altLang="ja-JP" sz="2800" b="0" i="1" smtClean="0">
                            <a:latin typeface="Times New Roman" panose="02020603050405020304" pitchFamily="18" charset="0"/>
                            <a:cs typeface="Times New Roman" panose="02020603050405020304" pitchFamily="18" charset="0"/>
                          </a:rPr>
                          <m:t>V</m:t>
                        </m:r>
                      </m:e>
                    </m:acc>
                    <m:r>
                      <m:rPr>
                        <m:nor/>
                      </m:rPr>
                      <a:rPr kumimoji="1" lang="en-US" altLang="ja-JP" sz="2800" b="0" i="0" baseline="-25000" smtClean="0">
                        <a:latin typeface="Times New Roman" panose="02020603050405020304" pitchFamily="18" charset="0"/>
                        <a:cs typeface="Times New Roman" panose="02020603050405020304" pitchFamily="18" charset="0"/>
                      </a:rPr>
                      <m:t>2</m:t>
                    </m:r>
                    <m:r>
                      <m:rPr>
                        <m:nor/>
                      </m:rPr>
                      <a:rPr kumimoji="1" lang="en-US" altLang="ja-JP" sz="2800" b="0" i="0" smtClean="0">
                        <a:latin typeface="Times New Roman" panose="02020603050405020304" pitchFamily="18" charset="0"/>
                        <a:cs typeface="Times New Roman" panose="02020603050405020304" pitchFamily="18" charset="0"/>
                      </a:rPr>
                      <m:t>(0) =</m:t>
                    </m:r>
                  </m:oMath>
                </a14:m>
                <a:r>
                  <a:rPr kumimoji="1" lang="ja-JP" altLang="en-US" sz="2800" dirty="0" smtClean="0">
                    <a:latin typeface="Times New Roman" panose="02020603050405020304" pitchFamily="18" charset="0"/>
                    <a:cs typeface="Times New Roman" panose="02020603050405020304" pitchFamily="18" charset="0"/>
                  </a:rPr>
                  <a:t> </a:t>
                </a:r>
                <a:r>
                  <a:rPr kumimoji="1" lang="en-US" altLang="ja-JP" sz="2800" dirty="0" smtClean="0">
                    <a:latin typeface="Times New Roman" panose="02020603050405020304" pitchFamily="18" charset="0"/>
                    <a:cs typeface="Times New Roman" panose="02020603050405020304" pitchFamily="18" charset="0"/>
                  </a:rPr>
                  <a:t>…</a:t>
                </a:r>
                <a:endParaRPr kumimoji="1" lang="ja-JP" altLang="en-US" sz="2800" dirty="0" smtClean="0">
                  <a:latin typeface="Times New Roman" panose="02020603050405020304" pitchFamily="18" charset="0"/>
                  <a:cs typeface="Times New Roman" panose="02020603050405020304" pitchFamily="18" charset="0"/>
                </a:endParaRPr>
              </a:p>
            </p:txBody>
          </p:sp>
        </mc:Choice>
        <mc:Fallback xmlns="">
          <p:sp>
            <p:nvSpPr>
              <p:cNvPr id="39" name="テキスト ボックス 38"/>
              <p:cNvSpPr txBox="1">
                <a:spLocks noRot="1" noChangeAspect="1" noMove="1" noResize="1" noEditPoints="1" noAdjustHandles="1" noChangeArrowheads="1" noChangeShapeType="1" noTextEdit="1"/>
              </p:cNvSpPr>
              <p:nvPr/>
            </p:nvSpPr>
            <p:spPr>
              <a:xfrm>
                <a:off x="7006777" y="3659191"/>
                <a:ext cx="1500411" cy="440057"/>
              </a:xfrm>
              <a:prstGeom prst="rect">
                <a:avLst/>
              </a:prstGeom>
              <a:blipFill rotWithShape="0">
                <a:blip r:embed="rId7"/>
                <a:stretch>
                  <a:fillRect t="-22222" r="-13765" b="-5000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9224383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37"/>
                                        </p:tgtEl>
                                        <p:attrNameLst>
                                          <p:attrName>style.visibility</p:attrName>
                                        </p:attrNameLst>
                                      </p:cBhvr>
                                      <p:to>
                                        <p:strVal val="hidden"/>
                                      </p:to>
                                    </p:set>
                                  </p:childTnLst>
                                </p:cTn>
                              </p:par>
                              <p:par>
                                <p:cTn id="13" presetID="1" presetClass="entr" presetSubtype="0" fill="hold" grpId="0" nodeType="with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36"/>
                                        </p:tgtEl>
                                        <p:attrNameLst>
                                          <p:attrName>style.visibility</p:attrName>
                                        </p:attrNameLst>
                                      </p:cBhvr>
                                      <p:to>
                                        <p:strVal val="hidden"/>
                                      </p:to>
                                    </p:set>
                                  </p:childTnLst>
                                </p:cTn>
                              </p:par>
                              <p:par>
                                <p:cTn id="21" presetID="1"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6" grpId="0" animBg="1"/>
      <p:bldP spid="36" grpId="1" animBg="1"/>
      <p:bldP spid="37" grpId="0" animBg="1"/>
      <p:bldP spid="37" grpId="1" animBg="1"/>
      <p:bldP spid="32" grpId="0"/>
      <p:bldP spid="38" grpId="0"/>
      <p:bldP spid="39"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smtClean="0"/>
              <a:t>Exclusive</a:t>
            </a:r>
            <a:r>
              <a:rPr kumimoji="1" lang="ja-JP" altLang="en-US" dirty="0" smtClean="0"/>
              <a:t> </a:t>
            </a:r>
            <a:r>
              <a:rPr kumimoji="1" lang="en-US" altLang="ja-JP" dirty="0" smtClean="0"/>
              <a:t>Feature</a:t>
            </a:r>
            <a:r>
              <a:rPr kumimoji="1" lang="ja-JP" altLang="en-US" dirty="0" smtClean="0"/>
              <a:t> </a:t>
            </a:r>
            <a:r>
              <a:rPr kumimoji="1" lang="en-US" altLang="ja-JP" dirty="0" smtClean="0"/>
              <a:t>Bundling</a:t>
            </a:r>
            <a:endParaRPr kumimoji="1" lang="ja-JP" altLang="en-US" dirty="0"/>
          </a:p>
        </p:txBody>
      </p:sp>
      <p:sp>
        <p:nvSpPr>
          <p:cNvPr id="3" name="コンテンツ プレースホルダー 2"/>
          <p:cNvSpPr>
            <a:spLocks noGrp="1"/>
          </p:cNvSpPr>
          <p:nvPr>
            <p:ph idx="1"/>
          </p:nvPr>
        </p:nvSpPr>
        <p:spPr/>
        <p:txBody>
          <a:bodyPr/>
          <a:lstStyle/>
          <a:p>
            <a:r>
              <a:rPr lang="en-US" altLang="ja-JP" dirty="0" smtClean="0"/>
              <a:t>One-hot</a:t>
            </a:r>
            <a:r>
              <a:rPr lang="ja-JP" altLang="en-US" dirty="0" smtClean="0"/>
              <a:t>ラベルなどの</a:t>
            </a:r>
            <a:r>
              <a:rPr kumimoji="1" lang="ja-JP" altLang="en-US" dirty="0" smtClean="0"/>
              <a:t>データに対し，最適な分岐を全探索で求めると，非常に効率が悪い．</a:t>
            </a:r>
            <a:endParaRPr kumimoji="1" lang="en-US" altLang="ja-JP" dirty="0" smtClean="0"/>
          </a:p>
          <a:p>
            <a:r>
              <a:rPr lang="ja-JP" altLang="en-US" dirty="0" smtClean="0"/>
              <a:t>この問題へ対処する手法の</a:t>
            </a:r>
            <a:r>
              <a:rPr lang="en-US" altLang="ja-JP" dirty="0" smtClean="0"/>
              <a:t>1</a:t>
            </a:r>
            <a:r>
              <a:rPr lang="ja-JP" altLang="en-US" dirty="0" smtClean="0"/>
              <a:t>つに，</a:t>
            </a:r>
            <a:r>
              <a:rPr lang="en-US" altLang="ja-JP" dirty="0" smtClean="0"/>
              <a:t>Histogram-based Algorithm</a:t>
            </a:r>
            <a:r>
              <a:rPr lang="ja-JP" altLang="en-US" dirty="0" smtClean="0"/>
              <a:t>が提案されている．</a:t>
            </a:r>
            <a:endParaRPr kumimoji="1" lang="en-US" altLang="ja-JP" dirty="0" smtClean="0"/>
          </a:p>
          <a:p>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10</a:t>
            </a:fld>
            <a:endParaRPr kumimoji="1" lang="ja-JP" altLang="en-US" dirty="0"/>
          </a:p>
        </p:txBody>
      </p:sp>
      <p:grpSp>
        <p:nvGrpSpPr>
          <p:cNvPr id="40" name="グループ化 39"/>
          <p:cNvGrpSpPr/>
          <p:nvPr/>
        </p:nvGrpSpPr>
        <p:grpSpPr>
          <a:xfrm>
            <a:off x="634999" y="3818290"/>
            <a:ext cx="2047337" cy="2658710"/>
            <a:chOff x="1651000" y="2880380"/>
            <a:chExt cx="1371600" cy="2658710"/>
          </a:xfrm>
        </p:grpSpPr>
        <p:grpSp>
          <p:nvGrpSpPr>
            <p:cNvPr id="41" name="グループ化 40"/>
            <p:cNvGrpSpPr/>
            <p:nvPr/>
          </p:nvGrpSpPr>
          <p:grpSpPr>
            <a:xfrm>
              <a:off x="1651000" y="2880380"/>
              <a:ext cx="1371600" cy="523220"/>
              <a:chOff x="1498600" y="3416300"/>
              <a:chExt cx="1371600" cy="523220"/>
            </a:xfrm>
          </p:grpSpPr>
          <p:sp>
            <p:nvSpPr>
              <p:cNvPr id="58" name="テキスト ボックス 57"/>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1.3</a:t>
                </a:r>
                <a:endParaRPr kumimoji="1" lang="ja-JP" altLang="en-US" sz="2800" dirty="0" smtClean="0"/>
              </a:p>
            </p:txBody>
          </p:sp>
          <p:sp>
            <p:nvSpPr>
              <p:cNvPr id="59" name="テキスト ボックス 58"/>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2.9</a:t>
                </a:r>
                <a:endParaRPr kumimoji="1" lang="ja-JP" altLang="en-US" sz="2800" dirty="0" smtClean="0"/>
              </a:p>
            </p:txBody>
          </p:sp>
          <p:sp>
            <p:nvSpPr>
              <p:cNvPr id="60" name="テキスト ボックス 59"/>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4.3</a:t>
                </a:r>
                <a:endParaRPr kumimoji="1" lang="ja-JP" altLang="en-US" sz="2800" dirty="0" smtClean="0"/>
              </a:p>
            </p:txBody>
          </p:sp>
        </p:grpSp>
        <p:grpSp>
          <p:nvGrpSpPr>
            <p:cNvPr id="42" name="グループ化 41"/>
            <p:cNvGrpSpPr/>
            <p:nvPr/>
          </p:nvGrpSpPr>
          <p:grpSpPr>
            <a:xfrm>
              <a:off x="1651000" y="3592210"/>
              <a:ext cx="1371600" cy="523220"/>
              <a:chOff x="1498600" y="3416300"/>
              <a:chExt cx="1371600" cy="523220"/>
            </a:xfrm>
          </p:grpSpPr>
          <p:sp>
            <p:nvSpPr>
              <p:cNvPr id="55" name="テキスト ボックス 54"/>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0.5</a:t>
                </a:r>
              </a:p>
            </p:txBody>
          </p:sp>
          <p:sp>
            <p:nvSpPr>
              <p:cNvPr id="56" name="テキスト ボックス 55"/>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1.0</a:t>
                </a:r>
                <a:endParaRPr kumimoji="1" lang="ja-JP" altLang="en-US" sz="2800" dirty="0" smtClean="0"/>
              </a:p>
            </p:txBody>
          </p:sp>
          <p:sp>
            <p:nvSpPr>
              <p:cNvPr id="57" name="テキスト ボックス 56"/>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dirty="0" smtClean="0"/>
                  <a:t>0.2</a:t>
                </a:r>
                <a:endParaRPr kumimoji="1" lang="ja-JP" altLang="en-US" sz="2800" dirty="0" smtClean="0"/>
              </a:p>
            </p:txBody>
          </p:sp>
        </p:grpSp>
        <p:grpSp>
          <p:nvGrpSpPr>
            <p:cNvPr id="43" name="グループ化 42"/>
            <p:cNvGrpSpPr/>
            <p:nvPr/>
          </p:nvGrpSpPr>
          <p:grpSpPr>
            <a:xfrm>
              <a:off x="1651000" y="5015870"/>
              <a:ext cx="1371600" cy="523220"/>
              <a:chOff x="1498600" y="3416300"/>
              <a:chExt cx="1371600" cy="523220"/>
            </a:xfrm>
          </p:grpSpPr>
          <p:sp>
            <p:nvSpPr>
              <p:cNvPr id="52" name="テキスト ボックス 51"/>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2.0</a:t>
                </a:r>
                <a:endParaRPr kumimoji="1" lang="ja-JP" altLang="en-US" sz="2800" dirty="0" smtClean="0"/>
              </a:p>
            </p:txBody>
          </p:sp>
          <p:sp>
            <p:nvSpPr>
              <p:cNvPr id="53" name="テキスト ボックス 52"/>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1.1</a:t>
                </a:r>
                <a:endParaRPr kumimoji="1" lang="ja-JP" altLang="en-US" sz="2800" dirty="0" smtClean="0"/>
              </a:p>
            </p:txBody>
          </p:sp>
          <p:sp>
            <p:nvSpPr>
              <p:cNvPr id="54" name="テキスト ボックス 53"/>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dirty="0" smtClean="0"/>
                  <a:t>0.2</a:t>
                </a:r>
                <a:endParaRPr kumimoji="1" lang="ja-JP" altLang="en-US" sz="2800" dirty="0" smtClean="0"/>
              </a:p>
            </p:txBody>
          </p:sp>
        </p:grpSp>
        <p:grpSp>
          <p:nvGrpSpPr>
            <p:cNvPr id="45" name="グループ化 44"/>
            <p:cNvGrpSpPr/>
            <p:nvPr/>
          </p:nvGrpSpPr>
          <p:grpSpPr>
            <a:xfrm>
              <a:off x="1651000" y="4304040"/>
              <a:ext cx="1371600" cy="523220"/>
              <a:chOff x="1498600" y="3416300"/>
              <a:chExt cx="1371600" cy="523220"/>
            </a:xfrm>
          </p:grpSpPr>
          <p:sp>
            <p:nvSpPr>
              <p:cNvPr id="46" name="テキスト ボックス 45"/>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2.0</a:t>
                </a:r>
                <a:endParaRPr kumimoji="1" lang="ja-JP" altLang="en-US" sz="2800" dirty="0" smtClean="0"/>
              </a:p>
            </p:txBody>
          </p:sp>
          <p:sp>
            <p:nvSpPr>
              <p:cNvPr id="47" name="テキスト ボックス 46"/>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1.0</a:t>
                </a:r>
                <a:endParaRPr kumimoji="1" lang="ja-JP" altLang="en-US" sz="2800" dirty="0" smtClean="0"/>
              </a:p>
            </p:txBody>
          </p:sp>
          <p:sp>
            <p:nvSpPr>
              <p:cNvPr id="48" name="テキスト ボックス 47"/>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3.3</a:t>
                </a:r>
                <a:endParaRPr kumimoji="1" lang="ja-JP" altLang="en-US" sz="2800" dirty="0" smtClean="0"/>
              </a:p>
            </p:txBody>
          </p:sp>
        </p:grpSp>
      </p:grpSp>
      <p:grpSp>
        <p:nvGrpSpPr>
          <p:cNvPr id="76" name="グループ化 75"/>
          <p:cNvGrpSpPr/>
          <p:nvPr/>
        </p:nvGrpSpPr>
        <p:grpSpPr>
          <a:xfrm>
            <a:off x="3322320" y="3826580"/>
            <a:ext cx="4526280" cy="2955220"/>
            <a:chOff x="3937000" y="3826580"/>
            <a:chExt cx="4526280" cy="2955220"/>
          </a:xfrm>
        </p:grpSpPr>
        <p:sp>
          <p:nvSpPr>
            <p:cNvPr id="18" name="テキスト ボックス 17"/>
            <p:cNvSpPr txBox="1"/>
            <p:nvPr/>
          </p:nvSpPr>
          <p:spPr>
            <a:xfrm>
              <a:off x="3937000" y="3826580"/>
              <a:ext cx="1600200" cy="523220"/>
            </a:xfrm>
            <a:prstGeom prst="rect">
              <a:avLst/>
            </a:prstGeom>
            <a:noFill/>
            <a:ln w="38100">
              <a:solidFill>
                <a:schemeClr val="accent2"/>
              </a:solidFill>
            </a:ln>
          </p:spPr>
          <p:txBody>
            <a:bodyPr wrap="square" rtlCol="0">
              <a:spAutoFit/>
            </a:bodyPr>
            <a:lstStyle/>
            <a:p>
              <a:pPr algn="ctr"/>
              <a:r>
                <a:rPr kumimoji="1" lang="en-US" altLang="ja-JP" sz="2800" dirty="0" smtClean="0"/>
                <a:t>feature1</a:t>
              </a:r>
              <a:endParaRPr kumimoji="1" lang="ja-JP" altLang="en-US" sz="2800" dirty="0" smtClean="0"/>
            </a:p>
          </p:txBody>
        </p:sp>
        <p:grpSp>
          <p:nvGrpSpPr>
            <p:cNvPr id="69" name="グループ化 68"/>
            <p:cNvGrpSpPr/>
            <p:nvPr/>
          </p:nvGrpSpPr>
          <p:grpSpPr>
            <a:xfrm>
              <a:off x="4211319" y="4981574"/>
              <a:ext cx="4251961" cy="1315106"/>
              <a:chOff x="2910839" y="5057774"/>
              <a:chExt cx="4251961" cy="1315106"/>
            </a:xfrm>
          </p:grpSpPr>
          <p:sp>
            <p:nvSpPr>
              <p:cNvPr id="61" name="正方形/長方形 60"/>
              <p:cNvSpPr/>
              <p:nvPr/>
            </p:nvSpPr>
            <p:spPr>
              <a:xfrm>
                <a:off x="3550920" y="5677226"/>
                <a:ext cx="563880" cy="619453"/>
              </a:xfrm>
              <a:prstGeom prst="rect">
                <a:avLst/>
              </a:prstGeom>
              <a:solidFill>
                <a:schemeClr val="accent2"/>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正方形/長方形 62"/>
              <p:cNvSpPr/>
              <p:nvPr/>
            </p:nvSpPr>
            <p:spPr>
              <a:xfrm>
                <a:off x="4114800" y="5677226"/>
                <a:ext cx="563880" cy="619453"/>
              </a:xfrm>
              <a:prstGeom prst="rect">
                <a:avLst/>
              </a:prstGeom>
              <a:solidFill>
                <a:schemeClr val="accent2"/>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p:cNvSpPr/>
              <p:nvPr/>
            </p:nvSpPr>
            <p:spPr>
              <a:xfrm>
                <a:off x="4659631" y="5057774"/>
                <a:ext cx="563880" cy="1238905"/>
              </a:xfrm>
              <a:prstGeom prst="rect">
                <a:avLst/>
              </a:prstGeom>
              <a:solidFill>
                <a:schemeClr val="accent2"/>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右矢印 20"/>
              <p:cNvSpPr/>
              <p:nvPr/>
            </p:nvSpPr>
            <p:spPr>
              <a:xfrm>
                <a:off x="2910839" y="6215390"/>
                <a:ext cx="4251961" cy="157490"/>
              </a:xfrm>
              <a:prstGeom prst="rightArrow">
                <a:avLst>
                  <a:gd name="adj1" fmla="val 33696"/>
                  <a:gd name="adj2" fmla="val 70607"/>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5" name="グループ化 74"/>
            <p:cNvGrpSpPr/>
            <p:nvPr/>
          </p:nvGrpSpPr>
          <p:grpSpPr>
            <a:xfrm>
              <a:off x="4672916" y="6258580"/>
              <a:ext cx="3137340" cy="523220"/>
              <a:chOff x="4672916" y="6258580"/>
              <a:chExt cx="3137340" cy="523220"/>
            </a:xfrm>
          </p:grpSpPr>
          <p:sp>
            <p:nvSpPr>
              <p:cNvPr id="66" name="テキスト ボックス 65"/>
              <p:cNvSpPr txBox="1"/>
              <p:nvPr/>
            </p:nvSpPr>
            <p:spPr>
              <a:xfrm>
                <a:off x="4672916" y="6258580"/>
                <a:ext cx="349348" cy="523220"/>
              </a:xfrm>
              <a:prstGeom prst="rect">
                <a:avLst/>
              </a:prstGeom>
              <a:noFill/>
            </p:spPr>
            <p:txBody>
              <a:bodyPr wrap="square" rtlCol="0">
                <a:spAutoFit/>
              </a:bodyPr>
              <a:lstStyle/>
              <a:p>
                <a:pPr algn="ctr"/>
                <a:r>
                  <a:rPr kumimoji="1" lang="en-US" altLang="ja-JP" sz="2800" dirty="0" smtClean="0"/>
                  <a:t>0</a:t>
                </a:r>
                <a:endParaRPr kumimoji="1" lang="ja-JP" altLang="en-US" sz="2800" dirty="0" smtClean="0"/>
              </a:p>
            </p:txBody>
          </p:sp>
          <p:sp>
            <p:nvSpPr>
              <p:cNvPr id="67" name="テキスト ボックス 66"/>
              <p:cNvSpPr txBox="1"/>
              <p:nvPr/>
            </p:nvSpPr>
            <p:spPr>
              <a:xfrm>
                <a:off x="5236796" y="6258580"/>
                <a:ext cx="349348" cy="523220"/>
              </a:xfrm>
              <a:prstGeom prst="rect">
                <a:avLst/>
              </a:prstGeom>
              <a:noFill/>
            </p:spPr>
            <p:txBody>
              <a:bodyPr wrap="square" rtlCol="0">
                <a:spAutoFit/>
              </a:bodyPr>
              <a:lstStyle/>
              <a:p>
                <a:pPr algn="ctr"/>
                <a:r>
                  <a:rPr kumimoji="1" lang="en-US" altLang="ja-JP" sz="2800" dirty="0" smtClean="0"/>
                  <a:t>1</a:t>
                </a:r>
                <a:endParaRPr kumimoji="1" lang="ja-JP" altLang="en-US" sz="2800" dirty="0" smtClean="0"/>
              </a:p>
            </p:txBody>
          </p:sp>
          <p:sp>
            <p:nvSpPr>
              <p:cNvPr id="68" name="テキスト ボックス 67"/>
              <p:cNvSpPr txBox="1"/>
              <p:nvPr/>
            </p:nvSpPr>
            <p:spPr>
              <a:xfrm>
                <a:off x="5781627" y="6258580"/>
                <a:ext cx="349348" cy="523220"/>
              </a:xfrm>
              <a:prstGeom prst="rect">
                <a:avLst/>
              </a:prstGeom>
              <a:noFill/>
            </p:spPr>
            <p:txBody>
              <a:bodyPr wrap="square" rtlCol="0">
                <a:spAutoFit/>
              </a:bodyPr>
              <a:lstStyle/>
              <a:p>
                <a:pPr algn="ctr"/>
                <a:r>
                  <a:rPr lang="en-US" altLang="ja-JP" sz="2800" dirty="0"/>
                  <a:t>2</a:t>
                </a:r>
                <a:endParaRPr kumimoji="1" lang="ja-JP" altLang="en-US" sz="2800" dirty="0" smtClean="0"/>
              </a:p>
            </p:txBody>
          </p:sp>
          <p:sp>
            <p:nvSpPr>
              <p:cNvPr id="72" name="テキスト ボックス 71"/>
              <p:cNvSpPr txBox="1"/>
              <p:nvPr/>
            </p:nvSpPr>
            <p:spPr>
              <a:xfrm>
                <a:off x="6352197" y="6258580"/>
                <a:ext cx="349348" cy="523220"/>
              </a:xfrm>
              <a:prstGeom prst="rect">
                <a:avLst/>
              </a:prstGeom>
              <a:noFill/>
            </p:spPr>
            <p:txBody>
              <a:bodyPr wrap="square" rtlCol="0">
                <a:spAutoFit/>
              </a:bodyPr>
              <a:lstStyle/>
              <a:p>
                <a:pPr algn="ctr"/>
                <a:r>
                  <a:rPr lang="en-US" altLang="ja-JP" sz="2800" dirty="0"/>
                  <a:t>3</a:t>
                </a:r>
                <a:endParaRPr kumimoji="1" lang="ja-JP" altLang="en-US" sz="2800" dirty="0" smtClean="0"/>
              </a:p>
            </p:txBody>
          </p:sp>
          <p:sp>
            <p:nvSpPr>
              <p:cNvPr id="73" name="テキスト ボックス 72"/>
              <p:cNvSpPr txBox="1"/>
              <p:nvPr/>
            </p:nvSpPr>
            <p:spPr>
              <a:xfrm>
                <a:off x="6916077" y="6258580"/>
                <a:ext cx="349348" cy="523220"/>
              </a:xfrm>
              <a:prstGeom prst="rect">
                <a:avLst/>
              </a:prstGeom>
              <a:noFill/>
            </p:spPr>
            <p:txBody>
              <a:bodyPr wrap="square" rtlCol="0">
                <a:spAutoFit/>
              </a:bodyPr>
              <a:lstStyle/>
              <a:p>
                <a:pPr algn="ctr"/>
                <a:r>
                  <a:rPr lang="en-US" altLang="ja-JP" sz="2800" dirty="0"/>
                  <a:t>4</a:t>
                </a:r>
                <a:endParaRPr kumimoji="1" lang="ja-JP" altLang="en-US" sz="2800" dirty="0" smtClean="0"/>
              </a:p>
            </p:txBody>
          </p:sp>
          <p:sp>
            <p:nvSpPr>
              <p:cNvPr id="74" name="テキスト ボックス 73"/>
              <p:cNvSpPr txBox="1"/>
              <p:nvPr/>
            </p:nvSpPr>
            <p:spPr>
              <a:xfrm>
                <a:off x="7460908" y="6258580"/>
                <a:ext cx="349348" cy="523220"/>
              </a:xfrm>
              <a:prstGeom prst="rect">
                <a:avLst/>
              </a:prstGeom>
              <a:noFill/>
            </p:spPr>
            <p:txBody>
              <a:bodyPr wrap="square" rtlCol="0">
                <a:spAutoFit/>
              </a:bodyPr>
              <a:lstStyle/>
              <a:p>
                <a:pPr algn="ctr"/>
                <a:r>
                  <a:rPr lang="en-US" altLang="ja-JP" sz="2800" dirty="0" smtClean="0"/>
                  <a:t>5</a:t>
                </a:r>
                <a:endParaRPr kumimoji="1" lang="ja-JP" altLang="en-US" sz="2800" dirty="0" smtClean="0"/>
              </a:p>
            </p:txBody>
          </p:sp>
        </p:grpSp>
      </p:grpSp>
      <p:sp>
        <p:nvSpPr>
          <p:cNvPr id="36" name="正方形/長方形 35"/>
          <p:cNvSpPr/>
          <p:nvPr/>
        </p:nvSpPr>
        <p:spPr>
          <a:xfrm>
            <a:off x="556619" y="3742720"/>
            <a:ext cx="839206" cy="281048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30864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smtClean="0"/>
              <a:t>Exclusive</a:t>
            </a:r>
            <a:r>
              <a:rPr kumimoji="1" lang="ja-JP" altLang="en-US" dirty="0" smtClean="0"/>
              <a:t> </a:t>
            </a:r>
            <a:r>
              <a:rPr kumimoji="1" lang="en-US" altLang="ja-JP" dirty="0" smtClean="0"/>
              <a:t>Feature</a:t>
            </a:r>
            <a:r>
              <a:rPr kumimoji="1" lang="ja-JP" altLang="en-US" dirty="0" smtClean="0"/>
              <a:t> </a:t>
            </a:r>
            <a:r>
              <a:rPr kumimoji="1" lang="en-US" altLang="ja-JP" dirty="0" smtClean="0"/>
              <a:t>Bundling</a:t>
            </a:r>
            <a:endParaRPr kumimoji="1" lang="ja-JP" altLang="en-US" dirty="0"/>
          </a:p>
        </p:txBody>
      </p:sp>
      <p:sp>
        <p:nvSpPr>
          <p:cNvPr id="3" name="コンテンツ プレースホルダー 2"/>
          <p:cNvSpPr>
            <a:spLocks noGrp="1"/>
          </p:cNvSpPr>
          <p:nvPr>
            <p:ph idx="1"/>
          </p:nvPr>
        </p:nvSpPr>
        <p:spPr/>
        <p:txBody>
          <a:bodyPr/>
          <a:lstStyle/>
          <a:p>
            <a:r>
              <a:rPr lang="en-US" altLang="ja-JP" dirty="0" smtClean="0"/>
              <a:t>One-hot</a:t>
            </a:r>
            <a:r>
              <a:rPr lang="ja-JP" altLang="en-US" dirty="0" smtClean="0"/>
              <a:t>ラベルなどの</a:t>
            </a:r>
            <a:r>
              <a:rPr kumimoji="1" lang="ja-JP" altLang="en-US" dirty="0" smtClean="0"/>
              <a:t>データに対し，最適な分岐を全探索で求めると，非常に効率が悪い．</a:t>
            </a:r>
            <a:endParaRPr kumimoji="1" lang="en-US" altLang="ja-JP" dirty="0" smtClean="0"/>
          </a:p>
          <a:p>
            <a:r>
              <a:rPr lang="ja-JP" altLang="en-US" dirty="0" smtClean="0"/>
              <a:t>この問題へ対処する手法の</a:t>
            </a:r>
            <a:r>
              <a:rPr lang="en-US" altLang="ja-JP" dirty="0" smtClean="0"/>
              <a:t>1</a:t>
            </a:r>
            <a:r>
              <a:rPr lang="ja-JP" altLang="en-US" dirty="0" smtClean="0"/>
              <a:t>つに，</a:t>
            </a:r>
            <a:r>
              <a:rPr lang="en-US" altLang="ja-JP" dirty="0" smtClean="0"/>
              <a:t>Histogram-based Algorithm</a:t>
            </a:r>
            <a:r>
              <a:rPr lang="ja-JP" altLang="en-US" dirty="0" smtClean="0"/>
              <a:t>が提案されている．</a:t>
            </a:r>
            <a:endParaRPr kumimoji="1" lang="en-US" altLang="ja-JP" dirty="0" smtClean="0"/>
          </a:p>
          <a:p>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11</a:t>
            </a:fld>
            <a:endParaRPr kumimoji="1" lang="ja-JP" altLang="en-US" dirty="0"/>
          </a:p>
        </p:txBody>
      </p:sp>
      <p:grpSp>
        <p:nvGrpSpPr>
          <p:cNvPr id="40" name="グループ化 39"/>
          <p:cNvGrpSpPr/>
          <p:nvPr/>
        </p:nvGrpSpPr>
        <p:grpSpPr>
          <a:xfrm>
            <a:off x="634999" y="3818290"/>
            <a:ext cx="2047337" cy="2658710"/>
            <a:chOff x="1651000" y="2880380"/>
            <a:chExt cx="1371600" cy="2658710"/>
          </a:xfrm>
        </p:grpSpPr>
        <p:grpSp>
          <p:nvGrpSpPr>
            <p:cNvPr id="41" name="グループ化 40"/>
            <p:cNvGrpSpPr/>
            <p:nvPr/>
          </p:nvGrpSpPr>
          <p:grpSpPr>
            <a:xfrm>
              <a:off x="1651000" y="2880380"/>
              <a:ext cx="1371600" cy="523220"/>
              <a:chOff x="1498600" y="3416300"/>
              <a:chExt cx="1371600" cy="523220"/>
            </a:xfrm>
          </p:grpSpPr>
          <p:sp>
            <p:nvSpPr>
              <p:cNvPr id="58" name="テキスト ボックス 57"/>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1.3</a:t>
                </a:r>
                <a:endParaRPr kumimoji="1" lang="ja-JP" altLang="en-US" sz="2800" dirty="0" smtClean="0"/>
              </a:p>
            </p:txBody>
          </p:sp>
          <p:sp>
            <p:nvSpPr>
              <p:cNvPr id="59" name="テキスト ボックス 58"/>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2.9</a:t>
                </a:r>
                <a:endParaRPr kumimoji="1" lang="ja-JP" altLang="en-US" sz="2800" dirty="0" smtClean="0"/>
              </a:p>
            </p:txBody>
          </p:sp>
          <p:sp>
            <p:nvSpPr>
              <p:cNvPr id="60" name="テキスト ボックス 59"/>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4.3</a:t>
                </a:r>
                <a:endParaRPr kumimoji="1" lang="ja-JP" altLang="en-US" sz="2800" dirty="0" smtClean="0"/>
              </a:p>
            </p:txBody>
          </p:sp>
        </p:grpSp>
        <p:grpSp>
          <p:nvGrpSpPr>
            <p:cNvPr id="42" name="グループ化 41"/>
            <p:cNvGrpSpPr/>
            <p:nvPr/>
          </p:nvGrpSpPr>
          <p:grpSpPr>
            <a:xfrm>
              <a:off x="1651000" y="3592210"/>
              <a:ext cx="1371600" cy="523220"/>
              <a:chOff x="1498600" y="3416300"/>
              <a:chExt cx="1371600" cy="523220"/>
            </a:xfrm>
          </p:grpSpPr>
          <p:sp>
            <p:nvSpPr>
              <p:cNvPr id="55" name="テキスト ボックス 54"/>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0.5</a:t>
                </a:r>
              </a:p>
            </p:txBody>
          </p:sp>
          <p:sp>
            <p:nvSpPr>
              <p:cNvPr id="56" name="テキスト ボックス 55"/>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1.0</a:t>
                </a:r>
                <a:endParaRPr kumimoji="1" lang="ja-JP" altLang="en-US" sz="2800" dirty="0" smtClean="0"/>
              </a:p>
            </p:txBody>
          </p:sp>
          <p:sp>
            <p:nvSpPr>
              <p:cNvPr id="57" name="テキスト ボックス 56"/>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dirty="0" smtClean="0"/>
                  <a:t>0.2</a:t>
                </a:r>
                <a:endParaRPr kumimoji="1" lang="ja-JP" altLang="en-US" sz="2800" dirty="0" smtClean="0"/>
              </a:p>
            </p:txBody>
          </p:sp>
        </p:grpSp>
        <p:grpSp>
          <p:nvGrpSpPr>
            <p:cNvPr id="43" name="グループ化 42"/>
            <p:cNvGrpSpPr/>
            <p:nvPr/>
          </p:nvGrpSpPr>
          <p:grpSpPr>
            <a:xfrm>
              <a:off x="1651000" y="5015870"/>
              <a:ext cx="1371600" cy="523220"/>
              <a:chOff x="1498600" y="3416300"/>
              <a:chExt cx="1371600" cy="523220"/>
            </a:xfrm>
          </p:grpSpPr>
          <p:sp>
            <p:nvSpPr>
              <p:cNvPr id="52" name="テキスト ボックス 51"/>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2.0</a:t>
                </a:r>
                <a:endParaRPr kumimoji="1" lang="ja-JP" altLang="en-US" sz="2800" dirty="0" smtClean="0"/>
              </a:p>
            </p:txBody>
          </p:sp>
          <p:sp>
            <p:nvSpPr>
              <p:cNvPr id="53" name="テキスト ボックス 52"/>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1.1</a:t>
                </a:r>
                <a:endParaRPr kumimoji="1" lang="ja-JP" altLang="en-US" sz="2800" dirty="0" smtClean="0"/>
              </a:p>
            </p:txBody>
          </p:sp>
          <p:sp>
            <p:nvSpPr>
              <p:cNvPr id="54" name="テキスト ボックス 53"/>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dirty="0" smtClean="0"/>
                  <a:t>0.2</a:t>
                </a:r>
                <a:endParaRPr kumimoji="1" lang="ja-JP" altLang="en-US" sz="2800" dirty="0" smtClean="0"/>
              </a:p>
            </p:txBody>
          </p:sp>
        </p:grpSp>
        <p:grpSp>
          <p:nvGrpSpPr>
            <p:cNvPr id="45" name="グループ化 44"/>
            <p:cNvGrpSpPr/>
            <p:nvPr/>
          </p:nvGrpSpPr>
          <p:grpSpPr>
            <a:xfrm>
              <a:off x="1651000" y="4304040"/>
              <a:ext cx="1371600" cy="523220"/>
              <a:chOff x="1498600" y="3416300"/>
              <a:chExt cx="1371600" cy="523220"/>
            </a:xfrm>
          </p:grpSpPr>
          <p:sp>
            <p:nvSpPr>
              <p:cNvPr id="46" name="テキスト ボックス 45"/>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2.0</a:t>
                </a:r>
                <a:endParaRPr kumimoji="1" lang="ja-JP" altLang="en-US" sz="2800" dirty="0" smtClean="0"/>
              </a:p>
            </p:txBody>
          </p:sp>
          <p:sp>
            <p:nvSpPr>
              <p:cNvPr id="47" name="テキスト ボックス 46"/>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1.0</a:t>
                </a:r>
                <a:endParaRPr kumimoji="1" lang="ja-JP" altLang="en-US" sz="2800" dirty="0" smtClean="0"/>
              </a:p>
            </p:txBody>
          </p:sp>
          <p:sp>
            <p:nvSpPr>
              <p:cNvPr id="48" name="テキスト ボックス 47"/>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3.3</a:t>
                </a:r>
                <a:endParaRPr kumimoji="1" lang="ja-JP" altLang="en-US" sz="2800" dirty="0" smtClean="0"/>
              </a:p>
            </p:txBody>
          </p:sp>
        </p:grpSp>
      </p:grpSp>
      <p:grpSp>
        <p:nvGrpSpPr>
          <p:cNvPr id="36" name="グループ化 35"/>
          <p:cNvGrpSpPr/>
          <p:nvPr/>
        </p:nvGrpSpPr>
        <p:grpSpPr>
          <a:xfrm>
            <a:off x="3322320" y="3826580"/>
            <a:ext cx="4526280" cy="2955220"/>
            <a:chOff x="3937000" y="3826580"/>
            <a:chExt cx="4526280" cy="2955220"/>
          </a:xfrm>
        </p:grpSpPr>
        <p:sp>
          <p:nvSpPr>
            <p:cNvPr id="37" name="テキスト ボックス 36"/>
            <p:cNvSpPr txBox="1"/>
            <p:nvPr/>
          </p:nvSpPr>
          <p:spPr>
            <a:xfrm>
              <a:off x="3937000" y="3826580"/>
              <a:ext cx="1600200" cy="523220"/>
            </a:xfrm>
            <a:prstGeom prst="rect">
              <a:avLst/>
            </a:prstGeom>
            <a:noFill/>
            <a:ln w="38100">
              <a:solidFill>
                <a:schemeClr val="accent2"/>
              </a:solidFill>
            </a:ln>
          </p:spPr>
          <p:txBody>
            <a:bodyPr wrap="square" rtlCol="0">
              <a:spAutoFit/>
            </a:bodyPr>
            <a:lstStyle/>
            <a:p>
              <a:pPr algn="ctr"/>
              <a:r>
                <a:rPr kumimoji="1" lang="en-US" altLang="ja-JP" sz="2800" dirty="0" smtClean="0"/>
                <a:t>feature2</a:t>
              </a:r>
            </a:p>
          </p:txBody>
        </p:sp>
        <p:grpSp>
          <p:nvGrpSpPr>
            <p:cNvPr id="38" name="グループ化 37"/>
            <p:cNvGrpSpPr/>
            <p:nvPr/>
          </p:nvGrpSpPr>
          <p:grpSpPr>
            <a:xfrm>
              <a:off x="4211319" y="4469190"/>
              <a:ext cx="4251961" cy="1827490"/>
              <a:chOff x="2910839" y="4545390"/>
              <a:chExt cx="4251961" cy="1827490"/>
            </a:xfrm>
          </p:grpSpPr>
          <p:sp>
            <p:nvSpPr>
              <p:cNvPr id="70" name="正方形/長方形 69"/>
              <p:cNvSpPr/>
              <p:nvPr/>
            </p:nvSpPr>
            <p:spPr>
              <a:xfrm>
                <a:off x="4674870" y="5677226"/>
                <a:ext cx="563880" cy="619453"/>
              </a:xfrm>
              <a:prstGeom prst="rect">
                <a:avLst/>
              </a:prstGeom>
              <a:solidFill>
                <a:schemeClr val="accent2"/>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正方形/長方形 76"/>
              <p:cNvSpPr/>
              <p:nvPr/>
            </p:nvSpPr>
            <p:spPr>
              <a:xfrm>
                <a:off x="4110990" y="4545390"/>
                <a:ext cx="563880" cy="1751289"/>
              </a:xfrm>
              <a:prstGeom prst="rect">
                <a:avLst/>
              </a:prstGeom>
              <a:solidFill>
                <a:schemeClr val="accent2"/>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右矢印 77"/>
              <p:cNvSpPr/>
              <p:nvPr/>
            </p:nvSpPr>
            <p:spPr>
              <a:xfrm>
                <a:off x="2910839" y="6215390"/>
                <a:ext cx="4251961" cy="157490"/>
              </a:xfrm>
              <a:prstGeom prst="rightArrow">
                <a:avLst>
                  <a:gd name="adj1" fmla="val 33696"/>
                  <a:gd name="adj2" fmla="val 70607"/>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9" name="グループ化 38"/>
            <p:cNvGrpSpPr/>
            <p:nvPr/>
          </p:nvGrpSpPr>
          <p:grpSpPr>
            <a:xfrm>
              <a:off x="4672916" y="6258580"/>
              <a:ext cx="3137340" cy="523220"/>
              <a:chOff x="4672916" y="6258580"/>
              <a:chExt cx="3137340" cy="523220"/>
            </a:xfrm>
          </p:grpSpPr>
          <p:sp>
            <p:nvSpPr>
              <p:cNvPr id="44" name="テキスト ボックス 43"/>
              <p:cNvSpPr txBox="1"/>
              <p:nvPr/>
            </p:nvSpPr>
            <p:spPr>
              <a:xfrm>
                <a:off x="4672916" y="6258580"/>
                <a:ext cx="349348" cy="523220"/>
              </a:xfrm>
              <a:prstGeom prst="rect">
                <a:avLst/>
              </a:prstGeom>
              <a:noFill/>
            </p:spPr>
            <p:txBody>
              <a:bodyPr wrap="square" rtlCol="0">
                <a:spAutoFit/>
              </a:bodyPr>
              <a:lstStyle/>
              <a:p>
                <a:pPr algn="ctr"/>
                <a:r>
                  <a:rPr kumimoji="1" lang="en-US" altLang="ja-JP" sz="2800" dirty="0" smtClean="0"/>
                  <a:t>0</a:t>
                </a:r>
                <a:endParaRPr kumimoji="1" lang="ja-JP" altLang="en-US" sz="2800" dirty="0" smtClean="0"/>
              </a:p>
            </p:txBody>
          </p:sp>
          <p:sp>
            <p:nvSpPr>
              <p:cNvPr id="49" name="テキスト ボックス 48"/>
              <p:cNvSpPr txBox="1"/>
              <p:nvPr/>
            </p:nvSpPr>
            <p:spPr>
              <a:xfrm>
                <a:off x="5236796" y="6258580"/>
                <a:ext cx="349348" cy="523220"/>
              </a:xfrm>
              <a:prstGeom prst="rect">
                <a:avLst/>
              </a:prstGeom>
              <a:noFill/>
            </p:spPr>
            <p:txBody>
              <a:bodyPr wrap="square" rtlCol="0">
                <a:spAutoFit/>
              </a:bodyPr>
              <a:lstStyle/>
              <a:p>
                <a:pPr algn="ctr"/>
                <a:r>
                  <a:rPr kumimoji="1" lang="en-US" altLang="ja-JP" sz="2800" dirty="0" smtClean="0"/>
                  <a:t>1</a:t>
                </a:r>
                <a:endParaRPr kumimoji="1" lang="ja-JP" altLang="en-US" sz="2800" dirty="0" smtClean="0"/>
              </a:p>
            </p:txBody>
          </p:sp>
          <p:sp>
            <p:nvSpPr>
              <p:cNvPr id="50" name="テキスト ボックス 49"/>
              <p:cNvSpPr txBox="1"/>
              <p:nvPr/>
            </p:nvSpPr>
            <p:spPr>
              <a:xfrm>
                <a:off x="5781627" y="6258580"/>
                <a:ext cx="349348" cy="523220"/>
              </a:xfrm>
              <a:prstGeom prst="rect">
                <a:avLst/>
              </a:prstGeom>
              <a:noFill/>
            </p:spPr>
            <p:txBody>
              <a:bodyPr wrap="square" rtlCol="0">
                <a:spAutoFit/>
              </a:bodyPr>
              <a:lstStyle/>
              <a:p>
                <a:pPr algn="ctr"/>
                <a:r>
                  <a:rPr lang="en-US" altLang="ja-JP" sz="2800" dirty="0"/>
                  <a:t>2</a:t>
                </a:r>
                <a:endParaRPr kumimoji="1" lang="ja-JP" altLang="en-US" sz="2800" dirty="0" smtClean="0"/>
              </a:p>
            </p:txBody>
          </p:sp>
          <p:sp>
            <p:nvSpPr>
              <p:cNvPr id="51" name="テキスト ボックス 50"/>
              <p:cNvSpPr txBox="1"/>
              <p:nvPr/>
            </p:nvSpPr>
            <p:spPr>
              <a:xfrm>
                <a:off x="6352197" y="6258580"/>
                <a:ext cx="349348" cy="523220"/>
              </a:xfrm>
              <a:prstGeom prst="rect">
                <a:avLst/>
              </a:prstGeom>
              <a:noFill/>
            </p:spPr>
            <p:txBody>
              <a:bodyPr wrap="square" rtlCol="0">
                <a:spAutoFit/>
              </a:bodyPr>
              <a:lstStyle/>
              <a:p>
                <a:pPr algn="ctr"/>
                <a:r>
                  <a:rPr lang="en-US" altLang="ja-JP" sz="2800" dirty="0"/>
                  <a:t>3</a:t>
                </a:r>
                <a:endParaRPr kumimoji="1" lang="ja-JP" altLang="en-US" sz="2800" dirty="0" smtClean="0"/>
              </a:p>
            </p:txBody>
          </p:sp>
          <p:sp>
            <p:nvSpPr>
              <p:cNvPr id="62" name="テキスト ボックス 61"/>
              <p:cNvSpPr txBox="1"/>
              <p:nvPr/>
            </p:nvSpPr>
            <p:spPr>
              <a:xfrm>
                <a:off x="6916077" y="6258580"/>
                <a:ext cx="349348" cy="523220"/>
              </a:xfrm>
              <a:prstGeom prst="rect">
                <a:avLst/>
              </a:prstGeom>
              <a:noFill/>
            </p:spPr>
            <p:txBody>
              <a:bodyPr wrap="square" rtlCol="0">
                <a:spAutoFit/>
              </a:bodyPr>
              <a:lstStyle/>
              <a:p>
                <a:pPr algn="ctr"/>
                <a:r>
                  <a:rPr lang="en-US" altLang="ja-JP" sz="2800" dirty="0"/>
                  <a:t>4</a:t>
                </a:r>
                <a:endParaRPr kumimoji="1" lang="ja-JP" altLang="en-US" sz="2800" dirty="0" smtClean="0"/>
              </a:p>
            </p:txBody>
          </p:sp>
          <p:sp>
            <p:nvSpPr>
              <p:cNvPr id="65" name="テキスト ボックス 64"/>
              <p:cNvSpPr txBox="1"/>
              <p:nvPr/>
            </p:nvSpPr>
            <p:spPr>
              <a:xfrm>
                <a:off x="7460908" y="6258580"/>
                <a:ext cx="349348" cy="523220"/>
              </a:xfrm>
              <a:prstGeom prst="rect">
                <a:avLst/>
              </a:prstGeom>
              <a:noFill/>
            </p:spPr>
            <p:txBody>
              <a:bodyPr wrap="square" rtlCol="0">
                <a:spAutoFit/>
              </a:bodyPr>
              <a:lstStyle/>
              <a:p>
                <a:pPr algn="ctr"/>
                <a:r>
                  <a:rPr lang="en-US" altLang="ja-JP" sz="2800" dirty="0" smtClean="0"/>
                  <a:t>5</a:t>
                </a:r>
                <a:endParaRPr kumimoji="1" lang="ja-JP" altLang="en-US" sz="2800" dirty="0" smtClean="0"/>
              </a:p>
            </p:txBody>
          </p:sp>
        </p:grpSp>
      </p:grpSp>
      <p:sp>
        <p:nvSpPr>
          <p:cNvPr id="35" name="正方形/長方形 34"/>
          <p:cNvSpPr/>
          <p:nvPr/>
        </p:nvSpPr>
        <p:spPr>
          <a:xfrm>
            <a:off x="1239065" y="3742720"/>
            <a:ext cx="839206" cy="281048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379590032"/>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smtClean="0"/>
              <a:t>Exclusive</a:t>
            </a:r>
            <a:r>
              <a:rPr kumimoji="1" lang="ja-JP" altLang="en-US" dirty="0" smtClean="0"/>
              <a:t> </a:t>
            </a:r>
            <a:r>
              <a:rPr kumimoji="1" lang="en-US" altLang="ja-JP" dirty="0" smtClean="0"/>
              <a:t>Feature</a:t>
            </a:r>
            <a:r>
              <a:rPr kumimoji="1" lang="ja-JP" altLang="en-US" dirty="0" smtClean="0"/>
              <a:t> </a:t>
            </a:r>
            <a:r>
              <a:rPr kumimoji="1" lang="en-US" altLang="ja-JP" dirty="0" smtClean="0"/>
              <a:t>Bundling</a:t>
            </a:r>
            <a:endParaRPr kumimoji="1" lang="ja-JP" altLang="en-US" dirty="0"/>
          </a:p>
        </p:txBody>
      </p:sp>
      <p:sp>
        <p:nvSpPr>
          <p:cNvPr id="3" name="コンテンツ プレースホルダー 2"/>
          <p:cNvSpPr>
            <a:spLocks noGrp="1"/>
          </p:cNvSpPr>
          <p:nvPr>
            <p:ph idx="1"/>
          </p:nvPr>
        </p:nvSpPr>
        <p:spPr/>
        <p:txBody>
          <a:bodyPr/>
          <a:lstStyle/>
          <a:p>
            <a:r>
              <a:rPr lang="en-US" altLang="ja-JP" dirty="0" smtClean="0"/>
              <a:t>One-hot</a:t>
            </a:r>
            <a:r>
              <a:rPr lang="ja-JP" altLang="en-US" dirty="0" smtClean="0"/>
              <a:t>ラベルなどの</a:t>
            </a:r>
            <a:r>
              <a:rPr kumimoji="1" lang="ja-JP" altLang="en-US" dirty="0" smtClean="0"/>
              <a:t>データに対し，最適な分岐を全探索で求めると，非常に効率が悪い．</a:t>
            </a:r>
            <a:endParaRPr kumimoji="1" lang="en-US" altLang="ja-JP" dirty="0" smtClean="0"/>
          </a:p>
          <a:p>
            <a:r>
              <a:rPr lang="ja-JP" altLang="en-US" dirty="0" smtClean="0"/>
              <a:t>この問題へ対処する手法の</a:t>
            </a:r>
            <a:r>
              <a:rPr lang="en-US" altLang="ja-JP" dirty="0" smtClean="0"/>
              <a:t>1</a:t>
            </a:r>
            <a:r>
              <a:rPr lang="ja-JP" altLang="en-US" dirty="0" smtClean="0"/>
              <a:t>つに，</a:t>
            </a:r>
            <a:r>
              <a:rPr lang="en-US" altLang="ja-JP" dirty="0" smtClean="0"/>
              <a:t>Histogram-based Algorithm</a:t>
            </a:r>
            <a:r>
              <a:rPr lang="ja-JP" altLang="en-US" dirty="0" smtClean="0"/>
              <a:t>が提案されている．</a:t>
            </a:r>
            <a:endParaRPr kumimoji="1" lang="en-US" altLang="ja-JP" dirty="0" smtClean="0"/>
          </a:p>
          <a:p>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12</a:t>
            </a:fld>
            <a:endParaRPr kumimoji="1" lang="ja-JP" altLang="en-US" dirty="0"/>
          </a:p>
        </p:txBody>
      </p:sp>
      <p:grpSp>
        <p:nvGrpSpPr>
          <p:cNvPr id="40" name="グループ化 39"/>
          <p:cNvGrpSpPr/>
          <p:nvPr/>
        </p:nvGrpSpPr>
        <p:grpSpPr>
          <a:xfrm>
            <a:off x="634999" y="3818290"/>
            <a:ext cx="2047337" cy="2658710"/>
            <a:chOff x="1651000" y="2880380"/>
            <a:chExt cx="1371600" cy="2658710"/>
          </a:xfrm>
        </p:grpSpPr>
        <p:grpSp>
          <p:nvGrpSpPr>
            <p:cNvPr id="41" name="グループ化 40"/>
            <p:cNvGrpSpPr/>
            <p:nvPr/>
          </p:nvGrpSpPr>
          <p:grpSpPr>
            <a:xfrm>
              <a:off x="1651000" y="2880380"/>
              <a:ext cx="1371600" cy="523220"/>
              <a:chOff x="1498600" y="3416300"/>
              <a:chExt cx="1371600" cy="523220"/>
            </a:xfrm>
          </p:grpSpPr>
          <p:sp>
            <p:nvSpPr>
              <p:cNvPr id="58" name="テキスト ボックス 57"/>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1.3</a:t>
                </a:r>
                <a:endParaRPr kumimoji="1" lang="ja-JP" altLang="en-US" sz="2800" dirty="0" smtClean="0"/>
              </a:p>
            </p:txBody>
          </p:sp>
          <p:sp>
            <p:nvSpPr>
              <p:cNvPr id="59" name="テキスト ボックス 58"/>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2.9</a:t>
                </a:r>
                <a:endParaRPr kumimoji="1" lang="ja-JP" altLang="en-US" sz="2800" dirty="0" smtClean="0"/>
              </a:p>
            </p:txBody>
          </p:sp>
          <p:sp>
            <p:nvSpPr>
              <p:cNvPr id="60" name="テキスト ボックス 59"/>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4.3</a:t>
                </a:r>
                <a:endParaRPr kumimoji="1" lang="ja-JP" altLang="en-US" sz="2800" dirty="0" smtClean="0"/>
              </a:p>
            </p:txBody>
          </p:sp>
        </p:grpSp>
        <p:grpSp>
          <p:nvGrpSpPr>
            <p:cNvPr id="42" name="グループ化 41"/>
            <p:cNvGrpSpPr/>
            <p:nvPr/>
          </p:nvGrpSpPr>
          <p:grpSpPr>
            <a:xfrm>
              <a:off x="1651000" y="3592210"/>
              <a:ext cx="1371600" cy="523220"/>
              <a:chOff x="1498600" y="3416300"/>
              <a:chExt cx="1371600" cy="523220"/>
            </a:xfrm>
          </p:grpSpPr>
          <p:sp>
            <p:nvSpPr>
              <p:cNvPr id="55" name="テキスト ボックス 54"/>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0.5</a:t>
                </a:r>
              </a:p>
            </p:txBody>
          </p:sp>
          <p:sp>
            <p:nvSpPr>
              <p:cNvPr id="56" name="テキスト ボックス 55"/>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1.0</a:t>
                </a:r>
                <a:endParaRPr kumimoji="1" lang="ja-JP" altLang="en-US" sz="2800" dirty="0" smtClean="0"/>
              </a:p>
            </p:txBody>
          </p:sp>
          <p:sp>
            <p:nvSpPr>
              <p:cNvPr id="57" name="テキスト ボックス 56"/>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dirty="0" smtClean="0"/>
                  <a:t>0.2</a:t>
                </a:r>
                <a:endParaRPr kumimoji="1" lang="ja-JP" altLang="en-US" sz="2800" dirty="0" smtClean="0"/>
              </a:p>
            </p:txBody>
          </p:sp>
        </p:grpSp>
        <p:grpSp>
          <p:nvGrpSpPr>
            <p:cNvPr id="43" name="グループ化 42"/>
            <p:cNvGrpSpPr/>
            <p:nvPr/>
          </p:nvGrpSpPr>
          <p:grpSpPr>
            <a:xfrm>
              <a:off x="1651000" y="5015870"/>
              <a:ext cx="1371600" cy="523220"/>
              <a:chOff x="1498600" y="3416300"/>
              <a:chExt cx="1371600" cy="523220"/>
            </a:xfrm>
          </p:grpSpPr>
          <p:sp>
            <p:nvSpPr>
              <p:cNvPr id="52" name="テキスト ボックス 51"/>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2.0</a:t>
                </a:r>
                <a:endParaRPr kumimoji="1" lang="ja-JP" altLang="en-US" sz="2800" dirty="0" smtClean="0"/>
              </a:p>
            </p:txBody>
          </p:sp>
          <p:sp>
            <p:nvSpPr>
              <p:cNvPr id="53" name="テキスト ボックス 52"/>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1.1</a:t>
                </a:r>
                <a:endParaRPr kumimoji="1" lang="ja-JP" altLang="en-US" sz="2800" dirty="0" smtClean="0"/>
              </a:p>
            </p:txBody>
          </p:sp>
          <p:sp>
            <p:nvSpPr>
              <p:cNvPr id="54" name="テキスト ボックス 53"/>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dirty="0" smtClean="0"/>
                  <a:t>0.2</a:t>
                </a:r>
                <a:endParaRPr kumimoji="1" lang="ja-JP" altLang="en-US" sz="2800" dirty="0" smtClean="0"/>
              </a:p>
            </p:txBody>
          </p:sp>
        </p:grpSp>
        <p:grpSp>
          <p:nvGrpSpPr>
            <p:cNvPr id="45" name="グループ化 44"/>
            <p:cNvGrpSpPr/>
            <p:nvPr/>
          </p:nvGrpSpPr>
          <p:grpSpPr>
            <a:xfrm>
              <a:off x="1651000" y="4304040"/>
              <a:ext cx="1371600" cy="523220"/>
              <a:chOff x="1498600" y="3416300"/>
              <a:chExt cx="1371600" cy="523220"/>
            </a:xfrm>
          </p:grpSpPr>
          <p:sp>
            <p:nvSpPr>
              <p:cNvPr id="46" name="テキスト ボックス 45"/>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2.0</a:t>
                </a:r>
                <a:endParaRPr kumimoji="1" lang="ja-JP" altLang="en-US" sz="2800" dirty="0" smtClean="0"/>
              </a:p>
            </p:txBody>
          </p:sp>
          <p:sp>
            <p:nvSpPr>
              <p:cNvPr id="47" name="テキスト ボックス 46"/>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1.0</a:t>
                </a:r>
                <a:endParaRPr kumimoji="1" lang="ja-JP" altLang="en-US" sz="2800" dirty="0" smtClean="0"/>
              </a:p>
            </p:txBody>
          </p:sp>
          <p:sp>
            <p:nvSpPr>
              <p:cNvPr id="48" name="テキスト ボックス 47"/>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3.3</a:t>
                </a:r>
                <a:endParaRPr kumimoji="1" lang="ja-JP" altLang="en-US" sz="2800" dirty="0" smtClean="0"/>
              </a:p>
            </p:txBody>
          </p:sp>
        </p:grpSp>
      </p:grpSp>
      <p:grpSp>
        <p:nvGrpSpPr>
          <p:cNvPr id="76" name="グループ化 75"/>
          <p:cNvGrpSpPr/>
          <p:nvPr/>
        </p:nvGrpSpPr>
        <p:grpSpPr>
          <a:xfrm>
            <a:off x="3322320" y="3826580"/>
            <a:ext cx="4526280" cy="2955220"/>
            <a:chOff x="3937000" y="3826580"/>
            <a:chExt cx="4526280" cy="2955220"/>
          </a:xfrm>
        </p:grpSpPr>
        <p:sp>
          <p:nvSpPr>
            <p:cNvPr id="18" name="テキスト ボックス 17"/>
            <p:cNvSpPr txBox="1"/>
            <p:nvPr/>
          </p:nvSpPr>
          <p:spPr>
            <a:xfrm>
              <a:off x="3937000" y="3826580"/>
              <a:ext cx="1600200" cy="523220"/>
            </a:xfrm>
            <a:prstGeom prst="rect">
              <a:avLst/>
            </a:prstGeom>
            <a:noFill/>
            <a:ln w="38100">
              <a:solidFill>
                <a:schemeClr val="accent2"/>
              </a:solidFill>
            </a:ln>
          </p:spPr>
          <p:txBody>
            <a:bodyPr wrap="square" rtlCol="0">
              <a:spAutoFit/>
            </a:bodyPr>
            <a:lstStyle/>
            <a:p>
              <a:pPr algn="ctr"/>
              <a:r>
                <a:rPr kumimoji="1" lang="en-US" altLang="ja-JP" sz="2800" dirty="0" smtClean="0"/>
                <a:t>feature3</a:t>
              </a:r>
              <a:endParaRPr kumimoji="1" lang="ja-JP" altLang="en-US" sz="2800" dirty="0" smtClean="0"/>
            </a:p>
          </p:txBody>
        </p:sp>
        <p:grpSp>
          <p:nvGrpSpPr>
            <p:cNvPr id="69" name="グループ化 68"/>
            <p:cNvGrpSpPr/>
            <p:nvPr/>
          </p:nvGrpSpPr>
          <p:grpSpPr>
            <a:xfrm>
              <a:off x="4211319" y="4981574"/>
              <a:ext cx="4251961" cy="1315106"/>
              <a:chOff x="2910839" y="5057774"/>
              <a:chExt cx="4251961" cy="1315106"/>
            </a:xfrm>
          </p:grpSpPr>
          <p:sp>
            <p:nvSpPr>
              <p:cNvPr id="61" name="正方形/長方形 60"/>
              <p:cNvSpPr/>
              <p:nvPr/>
            </p:nvSpPr>
            <p:spPr>
              <a:xfrm>
                <a:off x="5226391" y="5677226"/>
                <a:ext cx="563880" cy="619453"/>
              </a:xfrm>
              <a:prstGeom prst="rect">
                <a:avLst/>
              </a:prstGeom>
              <a:solidFill>
                <a:schemeClr val="accent2"/>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正方形/長方形 62"/>
              <p:cNvSpPr/>
              <p:nvPr/>
            </p:nvSpPr>
            <p:spPr>
              <a:xfrm>
                <a:off x="5790271" y="5677226"/>
                <a:ext cx="563880" cy="619453"/>
              </a:xfrm>
              <a:prstGeom prst="rect">
                <a:avLst/>
              </a:prstGeom>
              <a:solidFill>
                <a:schemeClr val="accent2"/>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p:cNvSpPr/>
              <p:nvPr/>
            </p:nvSpPr>
            <p:spPr>
              <a:xfrm>
                <a:off x="3547110" y="5057774"/>
                <a:ext cx="563880" cy="1238905"/>
              </a:xfrm>
              <a:prstGeom prst="rect">
                <a:avLst/>
              </a:prstGeom>
              <a:solidFill>
                <a:schemeClr val="accent2"/>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右矢印 20"/>
              <p:cNvSpPr/>
              <p:nvPr/>
            </p:nvSpPr>
            <p:spPr>
              <a:xfrm>
                <a:off x="2910839" y="6215390"/>
                <a:ext cx="4251961" cy="157490"/>
              </a:xfrm>
              <a:prstGeom prst="rightArrow">
                <a:avLst>
                  <a:gd name="adj1" fmla="val 33696"/>
                  <a:gd name="adj2" fmla="val 70607"/>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5" name="グループ化 74"/>
            <p:cNvGrpSpPr/>
            <p:nvPr/>
          </p:nvGrpSpPr>
          <p:grpSpPr>
            <a:xfrm>
              <a:off x="4672916" y="6258580"/>
              <a:ext cx="3137340" cy="523220"/>
              <a:chOff x="4672916" y="6258580"/>
              <a:chExt cx="3137340" cy="523220"/>
            </a:xfrm>
          </p:grpSpPr>
          <p:sp>
            <p:nvSpPr>
              <p:cNvPr id="66" name="テキスト ボックス 65"/>
              <p:cNvSpPr txBox="1"/>
              <p:nvPr/>
            </p:nvSpPr>
            <p:spPr>
              <a:xfrm>
                <a:off x="4672916" y="6258580"/>
                <a:ext cx="349348" cy="523220"/>
              </a:xfrm>
              <a:prstGeom prst="rect">
                <a:avLst/>
              </a:prstGeom>
              <a:noFill/>
            </p:spPr>
            <p:txBody>
              <a:bodyPr wrap="square" rtlCol="0">
                <a:spAutoFit/>
              </a:bodyPr>
              <a:lstStyle/>
              <a:p>
                <a:pPr algn="ctr"/>
                <a:r>
                  <a:rPr kumimoji="1" lang="en-US" altLang="ja-JP" sz="2800" dirty="0" smtClean="0"/>
                  <a:t>0</a:t>
                </a:r>
                <a:endParaRPr kumimoji="1" lang="ja-JP" altLang="en-US" sz="2800" dirty="0" smtClean="0"/>
              </a:p>
            </p:txBody>
          </p:sp>
          <p:sp>
            <p:nvSpPr>
              <p:cNvPr id="67" name="テキスト ボックス 66"/>
              <p:cNvSpPr txBox="1"/>
              <p:nvPr/>
            </p:nvSpPr>
            <p:spPr>
              <a:xfrm>
                <a:off x="5236796" y="6258580"/>
                <a:ext cx="349348" cy="523220"/>
              </a:xfrm>
              <a:prstGeom prst="rect">
                <a:avLst/>
              </a:prstGeom>
              <a:noFill/>
            </p:spPr>
            <p:txBody>
              <a:bodyPr wrap="square" rtlCol="0">
                <a:spAutoFit/>
              </a:bodyPr>
              <a:lstStyle/>
              <a:p>
                <a:pPr algn="ctr"/>
                <a:r>
                  <a:rPr kumimoji="1" lang="en-US" altLang="ja-JP" sz="2800" dirty="0" smtClean="0"/>
                  <a:t>1</a:t>
                </a:r>
                <a:endParaRPr kumimoji="1" lang="ja-JP" altLang="en-US" sz="2800" dirty="0" smtClean="0"/>
              </a:p>
            </p:txBody>
          </p:sp>
          <p:sp>
            <p:nvSpPr>
              <p:cNvPr id="68" name="テキスト ボックス 67"/>
              <p:cNvSpPr txBox="1"/>
              <p:nvPr/>
            </p:nvSpPr>
            <p:spPr>
              <a:xfrm>
                <a:off x="5781627" y="6258580"/>
                <a:ext cx="349348" cy="523220"/>
              </a:xfrm>
              <a:prstGeom prst="rect">
                <a:avLst/>
              </a:prstGeom>
              <a:noFill/>
            </p:spPr>
            <p:txBody>
              <a:bodyPr wrap="square" rtlCol="0">
                <a:spAutoFit/>
              </a:bodyPr>
              <a:lstStyle/>
              <a:p>
                <a:pPr algn="ctr"/>
                <a:r>
                  <a:rPr lang="en-US" altLang="ja-JP" sz="2800" dirty="0"/>
                  <a:t>2</a:t>
                </a:r>
                <a:endParaRPr kumimoji="1" lang="ja-JP" altLang="en-US" sz="2800" dirty="0" smtClean="0"/>
              </a:p>
            </p:txBody>
          </p:sp>
          <p:sp>
            <p:nvSpPr>
              <p:cNvPr id="72" name="テキスト ボックス 71"/>
              <p:cNvSpPr txBox="1"/>
              <p:nvPr/>
            </p:nvSpPr>
            <p:spPr>
              <a:xfrm>
                <a:off x="6352197" y="6258580"/>
                <a:ext cx="349348" cy="523220"/>
              </a:xfrm>
              <a:prstGeom prst="rect">
                <a:avLst/>
              </a:prstGeom>
              <a:noFill/>
            </p:spPr>
            <p:txBody>
              <a:bodyPr wrap="square" rtlCol="0">
                <a:spAutoFit/>
              </a:bodyPr>
              <a:lstStyle/>
              <a:p>
                <a:pPr algn="ctr"/>
                <a:r>
                  <a:rPr lang="en-US" altLang="ja-JP" sz="2800" dirty="0"/>
                  <a:t>3</a:t>
                </a:r>
                <a:endParaRPr kumimoji="1" lang="ja-JP" altLang="en-US" sz="2800" dirty="0" smtClean="0"/>
              </a:p>
            </p:txBody>
          </p:sp>
          <p:sp>
            <p:nvSpPr>
              <p:cNvPr id="73" name="テキスト ボックス 72"/>
              <p:cNvSpPr txBox="1"/>
              <p:nvPr/>
            </p:nvSpPr>
            <p:spPr>
              <a:xfrm>
                <a:off x="6916077" y="6258580"/>
                <a:ext cx="349348" cy="523220"/>
              </a:xfrm>
              <a:prstGeom prst="rect">
                <a:avLst/>
              </a:prstGeom>
              <a:noFill/>
            </p:spPr>
            <p:txBody>
              <a:bodyPr wrap="square" rtlCol="0">
                <a:spAutoFit/>
              </a:bodyPr>
              <a:lstStyle/>
              <a:p>
                <a:pPr algn="ctr"/>
                <a:r>
                  <a:rPr lang="en-US" altLang="ja-JP" sz="2800" dirty="0"/>
                  <a:t>4</a:t>
                </a:r>
                <a:endParaRPr kumimoji="1" lang="ja-JP" altLang="en-US" sz="2800" dirty="0" smtClean="0"/>
              </a:p>
            </p:txBody>
          </p:sp>
          <p:sp>
            <p:nvSpPr>
              <p:cNvPr id="74" name="テキスト ボックス 73"/>
              <p:cNvSpPr txBox="1"/>
              <p:nvPr/>
            </p:nvSpPr>
            <p:spPr>
              <a:xfrm>
                <a:off x="7460908" y="6258580"/>
                <a:ext cx="349348" cy="523220"/>
              </a:xfrm>
              <a:prstGeom prst="rect">
                <a:avLst/>
              </a:prstGeom>
              <a:noFill/>
            </p:spPr>
            <p:txBody>
              <a:bodyPr wrap="square" rtlCol="0">
                <a:spAutoFit/>
              </a:bodyPr>
              <a:lstStyle/>
              <a:p>
                <a:pPr algn="ctr"/>
                <a:r>
                  <a:rPr lang="en-US" altLang="ja-JP" sz="2800" dirty="0" smtClean="0"/>
                  <a:t>5</a:t>
                </a:r>
                <a:endParaRPr kumimoji="1" lang="ja-JP" altLang="en-US" sz="2800" dirty="0" smtClean="0"/>
              </a:p>
            </p:txBody>
          </p:sp>
        </p:grpSp>
      </p:grpSp>
      <p:sp>
        <p:nvSpPr>
          <p:cNvPr id="5" name="テキスト ボックス 4"/>
          <p:cNvSpPr txBox="1"/>
          <p:nvPr/>
        </p:nvSpPr>
        <p:spPr>
          <a:xfrm>
            <a:off x="5738494" y="4245456"/>
            <a:ext cx="2236159" cy="954107"/>
          </a:xfrm>
          <a:prstGeom prst="rect">
            <a:avLst/>
          </a:prstGeom>
          <a:noFill/>
        </p:spPr>
        <p:txBody>
          <a:bodyPr wrap="square" rtlCol="0">
            <a:spAutoFit/>
          </a:bodyPr>
          <a:lstStyle/>
          <a:p>
            <a:r>
              <a:rPr kumimoji="1" lang="ja-JP" altLang="en-US" sz="2800" dirty="0" smtClean="0"/>
              <a:t>各ビンの値が分岐候補</a:t>
            </a:r>
          </a:p>
        </p:txBody>
      </p:sp>
      <p:sp>
        <p:nvSpPr>
          <p:cNvPr id="37" name="正方形/長方形 36"/>
          <p:cNvSpPr/>
          <p:nvPr/>
        </p:nvSpPr>
        <p:spPr>
          <a:xfrm>
            <a:off x="1921510" y="3742720"/>
            <a:ext cx="839206" cy="281048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51739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smtClean="0"/>
              <a:t>Exclusive</a:t>
            </a:r>
            <a:r>
              <a:rPr kumimoji="1" lang="ja-JP" altLang="en-US" dirty="0" smtClean="0"/>
              <a:t> </a:t>
            </a:r>
            <a:r>
              <a:rPr kumimoji="1" lang="en-US" altLang="ja-JP" dirty="0" smtClean="0"/>
              <a:t>Feature</a:t>
            </a:r>
            <a:r>
              <a:rPr kumimoji="1" lang="ja-JP" altLang="en-US" dirty="0" smtClean="0"/>
              <a:t> </a:t>
            </a:r>
            <a:r>
              <a:rPr kumimoji="1" lang="en-US" altLang="ja-JP" dirty="0" smtClean="0"/>
              <a:t>Bundling</a:t>
            </a:r>
            <a:endParaRPr kumimoji="1" lang="ja-JP" altLang="en-US" dirty="0"/>
          </a:p>
        </p:txBody>
      </p:sp>
      <p:sp>
        <p:nvSpPr>
          <p:cNvPr id="3" name="コンテンツ プレースホルダー 2"/>
          <p:cNvSpPr>
            <a:spLocks noGrp="1"/>
          </p:cNvSpPr>
          <p:nvPr>
            <p:ph idx="1"/>
          </p:nvPr>
        </p:nvSpPr>
        <p:spPr/>
        <p:txBody>
          <a:bodyPr/>
          <a:lstStyle/>
          <a:p>
            <a:r>
              <a:rPr lang="en-US" altLang="ja-JP" dirty="0" smtClean="0"/>
              <a:t>One-hot</a:t>
            </a:r>
            <a:r>
              <a:rPr lang="ja-JP" altLang="en-US" dirty="0" smtClean="0"/>
              <a:t>ラベルなどの</a:t>
            </a:r>
            <a:r>
              <a:rPr kumimoji="1" lang="ja-JP" altLang="en-US" dirty="0" smtClean="0"/>
              <a:t>データに対し，最適な分岐を全探索で求めると，非常に効率が悪い．</a:t>
            </a:r>
            <a:endParaRPr kumimoji="1" lang="en-US" altLang="ja-JP" dirty="0" smtClean="0"/>
          </a:p>
          <a:p>
            <a:r>
              <a:rPr lang="ja-JP" altLang="en-US" dirty="0" smtClean="0"/>
              <a:t>この問題へ対処する手法の</a:t>
            </a:r>
            <a:r>
              <a:rPr lang="en-US" altLang="ja-JP" dirty="0" smtClean="0"/>
              <a:t>1</a:t>
            </a:r>
            <a:r>
              <a:rPr lang="ja-JP" altLang="en-US" dirty="0" smtClean="0"/>
              <a:t>つに，</a:t>
            </a:r>
            <a:r>
              <a:rPr lang="en-US" altLang="ja-JP" dirty="0" smtClean="0"/>
              <a:t>Histogram-based Algorithm</a:t>
            </a:r>
            <a:r>
              <a:rPr lang="ja-JP" altLang="en-US" dirty="0" smtClean="0"/>
              <a:t>が提案されている．</a:t>
            </a:r>
            <a:endParaRPr lang="en-US" altLang="ja-JP" dirty="0" smtClean="0"/>
          </a:p>
          <a:p>
            <a:r>
              <a:rPr kumimoji="1" lang="en-US" altLang="ja-JP" dirty="0" smtClean="0"/>
              <a:t>EFB</a:t>
            </a:r>
            <a:r>
              <a:rPr kumimoji="1" lang="ja-JP" altLang="en-US" dirty="0" smtClean="0"/>
              <a:t>では，上記</a:t>
            </a:r>
            <a:r>
              <a:rPr kumimoji="1" lang="ja-JP" altLang="en-US" dirty="0" smtClean="0"/>
              <a:t>の手法に加え，独立した複数</a:t>
            </a:r>
            <a:r>
              <a:rPr kumimoji="1" lang="ja-JP" altLang="en-US" dirty="0" smtClean="0"/>
              <a:t>の</a:t>
            </a:r>
            <a:r>
              <a:rPr kumimoji="1" lang="en-US" altLang="ja-JP" dirty="0" smtClean="0"/>
              <a:t/>
            </a:r>
            <a:br>
              <a:rPr kumimoji="1" lang="en-US" altLang="ja-JP" dirty="0" smtClean="0"/>
            </a:br>
            <a:r>
              <a:rPr kumimoji="1" lang="ja-JP" altLang="en-US" dirty="0" smtClean="0"/>
              <a:t>特徴</a:t>
            </a:r>
            <a:r>
              <a:rPr kumimoji="1" lang="ja-JP" altLang="en-US" dirty="0" smtClean="0"/>
              <a:t>を</a:t>
            </a:r>
            <a:r>
              <a:rPr kumimoji="1" lang="ja-JP" altLang="en-US" dirty="0" smtClean="0"/>
              <a:t>，</a:t>
            </a:r>
            <a:r>
              <a:rPr kumimoji="1" lang="en-US" altLang="ja-JP" dirty="0" smtClean="0">
                <a:solidFill>
                  <a:srgbClr val="FF0000"/>
                </a:solidFill>
              </a:rPr>
              <a:t>1</a:t>
            </a:r>
            <a:r>
              <a:rPr kumimoji="1" lang="ja-JP" altLang="en-US" dirty="0" err="1" smtClean="0">
                <a:solidFill>
                  <a:srgbClr val="FF0000"/>
                </a:solidFill>
              </a:rPr>
              <a:t>つの</a:t>
            </a:r>
            <a:r>
              <a:rPr kumimoji="1" lang="ja-JP" altLang="en-US" dirty="0" smtClean="0">
                <a:solidFill>
                  <a:srgbClr val="FF0000"/>
                </a:solidFill>
              </a:rPr>
              <a:t>バンドルとして扱う</a:t>
            </a:r>
            <a:r>
              <a:rPr kumimoji="1" lang="ja-JP" altLang="en-US" dirty="0" smtClean="0"/>
              <a:t>ようにする．</a:t>
            </a:r>
            <a:endParaRPr kumimoji="1" lang="en-US" altLang="ja-JP" dirty="0" smtClean="0"/>
          </a:p>
          <a:p>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13</a:t>
            </a:fld>
            <a:endParaRPr kumimoji="1" lang="ja-JP" altLang="en-US" dirty="0"/>
          </a:p>
        </p:txBody>
      </p:sp>
    </p:spTree>
    <p:extLst>
      <p:ext uri="{BB962C8B-B14F-4D97-AF65-F5344CB8AC3E}">
        <p14:creationId xmlns:p14="http://schemas.microsoft.com/office/powerpoint/2010/main" val="1355067706"/>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Exclusive</a:t>
            </a:r>
            <a:r>
              <a:rPr lang="ja-JP" altLang="en-US" dirty="0"/>
              <a:t> </a:t>
            </a:r>
            <a:r>
              <a:rPr lang="en-US" altLang="ja-JP" dirty="0"/>
              <a:t>Feature</a:t>
            </a:r>
            <a:r>
              <a:rPr lang="ja-JP" altLang="en-US" dirty="0"/>
              <a:t> </a:t>
            </a:r>
            <a:r>
              <a:rPr lang="en-US" altLang="ja-JP" dirty="0"/>
              <a:t>Bundling</a:t>
            </a:r>
            <a:endParaRPr kumimoji="1" lang="ja-JP" altLang="en-US" dirty="0"/>
          </a:p>
        </p:txBody>
      </p:sp>
      <p:sp>
        <p:nvSpPr>
          <p:cNvPr id="3" name="コンテンツ プレースホルダー 2"/>
          <p:cNvSpPr>
            <a:spLocks noGrp="1"/>
          </p:cNvSpPr>
          <p:nvPr>
            <p:ph idx="1"/>
          </p:nvPr>
        </p:nvSpPr>
        <p:spPr>
          <a:ln w="19050"/>
        </p:spPr>
        <p:txBody>
          <a:bodyPr/>
          <a:lstStyle/>
          <a:p>
            <a:r>
              <a:rPr kumimoji="1" lang="ja-JP" altLang="en-US" dirty="0" smtClean="0"/>
              <a:t>独立した特徴･･･すべてのデータにおいて，</a:t>
            </a:r>
            <a:r>
              <a:rPr lang="en-US" altLang="ja-JP" dirty="0" smtClean="0"/>
              <a:t>1</a:t>
            </a:r>
            <a:r>
              <a:rPr lang="ja-JP" altLang="en-US" dirty="0" err="1" smtClean="0"/>
              <a:t>つの</a:t>
            </a:r>
            <a:r>
              <a:rPr kumimoji="1" lang="ja-JP" altLang="en-US" dirty="0" smtClean="0"/>
              <a:t>特徴のみが</a:t>
            </a:r>
            <a:r>
              <a:rPr kumimoji="1" lang="en-US" altLang="ja-JP" dirty="0" smtClean="0"/>
              <a:t>0</a:t>
            </a:r>
            <a:r>
              <a:rPr kumimoji="1" lang="ja-JP" altLang="en-US" dirty="0" smtClean="0"/>
              <a:t>以外の値をとる．</a:t>
            </a:r>
            <a:endParaRPr kumimoji="1" lang="en-US" altLang="ja-JP" dirty="0" smtClean="0"/>
          </a:p>
          <a:p>
            <a:endParaRPr lang="en-US" altLang="ja-JP" dirty="0"/>
          </a:p>
          <a:p>
            <a:r>
              <a:rPr lang="ja-JP" altLang="en-US" dirty="0"/>
              <a:t>最適</a:t>
            </a:r>
            <a:r>
              <a:rPr lang="ja-JP" altLang="en-US" dirty="0" smtClean="0"/>
              <a:t>なバンドルを求める問題は</a:t>
            </a:r>
            <a:r>
              <a:rPr lang="en-US" altLang="ja-JP" u="sng" dirty="0" smtClean="0"/>
              <a:t>NP-hard</a:t>
            </a:r>
            <a:r>
              <a:rPr lang="ja-JP" altLang="en-US" dirty="0" smtClean="0"/>
              <a:t>である．</a:t>
            </a:r>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14</a:t>
            </a:fld>
            <a:endParaRPr kumimoji="1" lang="ja-JP" altLang="en-US" dirty="0"/>
          </a:p>
        </p:txBody>
      </p:sp>
      <p:grpSp>
        <p:nvGrpSpPr>
          <p:cNvPr id="12" name="グループ化 11"/>
          <p:cNvGrpSpPr/>
          <p:nvPr/>
        </p:nvGrpSpPr>
        <p:grpSpPr>
          <a:xfrm>
            <a:off x="2425700" y="3530600"/>
            <a:ext cx="5930900" cy="1551007"/>
            <a:chOff x="2425700" y="3530600"/>
            <a:chExt cx="5930900" cy="1551007"/>
          </a:xfrm>
        </p:grpSpPr>
        <p:sp>
          <p:nvSpPr>
            <p:cNvPr id="5" name="テキスト ボックス 4"/>
            <p:cNvSpPr txBox="1"/>
            <p:nvPr/>
          </p:nvSpPr>
          <p:spPr>
            <a:xfrm>
              <a:off x="2425700" y="4127500"/>
              <a:ext cx="5930900" cy="954107"/>
            </a:xfrm>
            <a:prstGeom prst="rect">
              <a:avLst/>
            </a:prstGeom>
            <a:noFill/>
            <a:ln w="19050">
              <a:solidFill>
                <a:schemeClr val="tx1"/>
              </a:solidFill>
            </a:ln>
          </p:spPr>
          <p:txBody>
            <a:bodyPr wrap="square" rtlCol="0">
              <a:spAutoFit/>
            </a:bodyPr>
            <a:lstStyle/>
            <a:p>
              <a:pPr algn="ctr"/>
              <a:r>
                <a:rPr kumimoji="1" lang="ja-JP" altLang="en-US" sz="2800" dirty="0" smtClean="0"/>
                <a:t>ある候補解が与えられたとき，それが正しいかを多項式時間で計算できない</a:t>
              </a:r>
            </a:p>
          </p:txBody>
        </p:sp>
        <p:cxnSp>
          <p:nvCxnSpPr>
            <p:cNvPr id="11" name="直線矢印コネクタ 10"/>
            <p:cNvCxnSpPr/>
            <p:nvPr/>
          </p:nvCxnSpPr>
          <p:spPr>
            <a:xfrm flipV="1">
              <a:off x="6451600" y="3530600"/>
              <a:ext cx="0" cy="60960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326661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Exclusive</a:t>
            </a:r>
            <a:r>
              <a:rPr lang="ja-JP" altLang="en-US" dirty="0"/>
              <a:t> </a:t>
            </a:r>
            <a:r>
              <a:rPr lang="en-US" altLang="ja-JP" dirty="0"/>
              <a:t>Feature</a:t>
            </a:r>
            <a:r>
              <a:rPr lang="ja-JP" altLang="en-US" dirty="0"/>
              <a:t> </a:t>
            </a:r>
            <a:r>
              <a:rPr lang="en-US" altLang="ja-JP" dirty="0"/>
              <a:t>Bundling</a:t>
            </a:r>
            <a:endParaRPr kumimoji="1" lang="ja-JP" altLang="en-US" dirty="0"/>
          </a:p>
        </p:txBody>
      </p:sp>
      <p:sp>
        <p:nvSpPr>
          <p:cNvPr id="3" name="コンテンツ プレースホルダー 2"/>
          <p:cNvSpPr>
            <a:spLocks noGrp="1"/>
          </p:cNvSpPr>
          <p:nvPr>
            <p:ph idx="1"/>
          </p:nvPr>
        </p:nvSpPr>
        <p:spPr>
          <a:ln w="19050"/>
        </p:spPr>
        <p:txBody>
          <a:bodyPr/>
          <a:lstStyle/>
          <a:p>
            <a:r>
              <a:rPr kumimoji="1" lang="ja-JP" altLang="en-US" dirty="0" smtClean="0"/>
              <a:t>独立した特徴･･･すべてのデータにおいて，</a:t>
            </a:r>
            <a:r>
              <a:rPr lang="en-US" altLang="ja-JP" dirty="0" smtClean="0"/>
              <a:t>1</a:t>
            </a:r>
            <a:r>
              <a:rPr lang="ja-JP" altLang="en-US" dirty="0" err="1" smtClean="0"/>
              <a:t>つの</a:t>
            </a:r>
            <a:r>
              <a:rPr kumimoji="1" lang="ja-JP" altLang="en-US" dirty="0" smtClean="0"/>
              <a:t>特徴のみが</a:t>
            </a:r>
            <a:r>
              <a:rPr kumimoji="1" lang="en-US" altLang="ja-JP" dirty="0" smtClean="0"/>
              <a:t>0</a:t>
            </a:r>
            <a:r>
              <a:rPr kumimoji="1" lang="ja-JP" altLang="en-US" dirty="0" smtClean="0"/>
              <a:t>以外の値をとる．</a:t>
            </a:r>
            <a:endParaRPr kumimoji="1" lang="en-US" altLang="ja-JP" dirty="0" smtClean="0"/>
          </a:p>
          <a:p>
            <a:endParaRPr lang="en-US" altLang="ja-JP" dirty="0"/>
          </a:p>
          <a:p>
            <a:r>
              <a:rPr lang="ja-JP" altLang="en-US" dirty="0"/>
              <a:t>最適</a:t>
            </a:r>
            <a:r>
              <a:rPr lang="ja-JP" altLang="en-US" dirty="0" smtClean="0"/>
              <a:t>なバンドルを求める問題は</a:t>
            </a:r>
            <a:r>
              <a:rPr lang="en-US" altLang="ja-JP" dirty="0" smtClean="0"/>
              <a:t>NP-hard</a:t>
            </a:r>
            <a:r>
              <a:rPr lang="ja-JP" altLang="en-US" dirty="0" smtClean="0"/>
              <a:t>である．</a:t>
            </a:r>
            <a:endParaRPr lang="en-US" altLang="ja-JP" dirty="0" smtClean="0"/>
          </a:p>
          <a:p>
            <a:r>
              <a:rPr lang="ja-JP" altLang="en-US" dirty="0" smtClean="0"/>
              <a:t>貪欲法により近似的なバンドルを求める．</a:t>
            </a:r>
            <a:endParaRPr lang="en-US" altLang="ja-JP" dirty="0" smtClean="0"/>
          </a:p>
          <a:p>
            <a:r>
              <a:rPr lang="en-US" altLang="ja-JP" dirty="0"/>
              <a:t>2</a:t>
            </a:r>
            <a:r>
              <a:rPr lang="ja-JP" altLang="en-US" dirty="0" err="1" smtClean="0"/>
              <a:t>つ</a:t>
            </a:r>
            <a:r>
              <a:rPr lang="ja-JP" altLang="en-US" dirty="0" err="1"/>
              <a:t>の</a:t>
            </a:r>
            <a:r>
              <a:rPr kumimoji="1" lang="ja-JP" altLang="en-US" dirty="0" smtClean="0"/>
              <a:t>特徴を</a:t>
            </a:r>
            <a:r>
              <a:rPr kumimoji="1" lang="ja-JP" altLang="en-US" dirty="0" smtClean="0"/>
              <a:t>まとめる際，片方の特徴をシフト</a:t>
            </a:r>
            <a:r>
              <a:rPr kumimoji="1" lang="en-US" altLang="ja-JP" dirty="0" smtClean="0"/>
              <a:t/>
            </a:r>
            <a:br>
              <a:rPr kumimoji="1" lang="en-US" altLang="ja-JP" dirty="0" smtClean="0"/>
            </a:br>
            <a:r>
              <a:rPr kumimoji="1" lang="ja-JP" altLang="en-US" dirty="0" smtClean="0"/>
              <a:t>することにより，復元可能なバンドルを構成する．</a:t>
            </a:r>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15</a:t>
            </a:fld>
            <a:endParaRPr kumimoji="1" lang="ja-JP" altLang="en-US" dirty="0"/>
          </a:p>
        </p:txBody>
      </p:sp>
    </p:spTree>
    <p:extLst>
      <p:ext uri="{BB962C8B-B14F-4D97-AF65-F5344CB8AC3E}">
        <p14:creationId xmlns:p14="http://schemas.microsoft.com/office/powerpoint/2010/main" val="213197807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Exclusive</a:t>
            </a:r>
            <a:r>
              <a:rPr lang="ja-JP" altLang="en-US" dirty="0"/>
              <a:t> </a:t>
            </a:r>
            <a:r>
              <a:rPr lang="en-US" altLang="ja-JP" dirty="0"/>
              <a:t>Feature</a:t>
            </a:r>
            <a:r>
              <a:rPr lang="ja-JP" altLang="en-US" dirty="0"/>
              <a:t> </a:t>
            </a:r>
            <a:r>
              <a:rPr lang="en-US" altLang="ja-JP" dirty="0"/>
              <a:t>Bundling</a:t>
            </a:r>
            <a:endParaRPr kumimoji="1" lang="ja-JP" altLang="en-US" b="0" dirty="0"/>
          </a:p>
        </p:txBody>
      </p:sp>
      <p:sp>
        <p:nvSpPr>
          <p:cNvPr id="3" name="コンテンツ プレースホルダー 2"/>
          <p:cNvSpPr>
            <a:spLocks noGrp="1"/>
          </p:cNvSpPr>
          <p:nvPr>
            <p:ph idx="1"/>
          </p:nvPr>
        </p:nvSpPr>
        <p:spPr/>
        <p:txBody>
          <a:bodyPr/>
          <a:lstStyle/>
          <a:p>
            <a:endParaRPr lang="en-US" altLang="ja-JP" dirty="0" smtClean="0"/>
          </a:p>
          <a:p>
            <a:pPr algn="l"/>
            <a:r>
              <a:rPr lang="en-US" altLang="ja-JP" dirty="0" smtClean="0"/>
              <a:t>bundles </a:t>
            </a:r>
            <a:r>
              <a:rPr lang="ja-JP" altLang="en-US" dirty="0" smtClean="0"/>
              <a:t>←｛｝</a:t>
            </a:r>
            <a:r>
              <a:rPr lang="en-US" altLang="ja-JP" dirty="0"/>
              <a:t/>
            </a:r>
            <a:br>
              <a:rPr lang="en-US" altLang="ja-JP" dirty="0"/>
            </a:br>
            <a:r>
              <a:rPr lang="en-US" altLang="ja-JP" sz="3000" dirty="0" smtClean="0"/>
              <a:t>order each feature by the count of nonzero values</a:t>
            </a:r>
          </a:p>
          <a:p>
            <a:pPr algn="l"/>
            <a:r>
              <a:rPr lang="en-US" altLang="ja-JP" b="1" dirty="0" smtClean="0"/>
              <a:t>for</a:t>
            </a:r>
            <a:r>
              <a:rPr lang="en-US" altLang="ja-JP" dirty="0" smtClean="0"/>
              <a:t>  </a:t>
            </a:r>
            <a:r>
              <a:rPr lang="en-US" altLang="ja-JP" i="1" dirty="0" smtClean="0">
                <a:latin typeface="Times New Roman" panose="02020603050405020304" pitchFamily="18" charset="0"/>
                <a:cs typeface="Times New Roman" panose="02020603050405020304" pitchFamily="18" charset="0"/>
              </a:rPr>
              <a:t>f </a:t>
            </a:r>
            <a:r>
              <a:rPr lang="en-US" altLang="ja-JP" dirty="0" smtClean="0"/>
              <a:t> in ordered feature  </a:t>
            </a:r>
            <a:r>
              <a:rPr lang="en-US" altLang="ja-JP" b="1" dirty="0" smtClean="0"/>
              <a:t>do</a:t>
            </a:r>
          </a:p>
          <a:p>
            <a:pPr algn="l"/>
            <a:r>
              <a:rPr lang="en-US" altLang="ja-JP" b="1" dirty="0" smtClean="0"/>
              <a:t>      </a:t>
            </a:r>
            <a:r>
              <a:rPr lang="en-US" altLang="ja-JP" b="1" dirty="0" smtClean="0"/>
              <a:t>for</a:t>
            </a:r>
            <a:r>
              <a:rPr lang="en-US" altLang="ja-JP" dirty="0" smtClean="0"/>
              <a:t> </a:t>
            </a:r>
            <a:r>
              <a:rPr lang="en-US" altLang="ja-JP" i="1" dirty="0" err="1" smtClean="0">
                <a:latin typeface="Times New Roman" panose="02020603050405020304" pitchFamily="18" charset="0"/>
                <a:cs typeface="Times New Roman" panose="02020603050405020304" pitchFamily="18" charset="0"/>
              </a:rPr>
              <a:t>i</a:t>
            </a:r>
            <a:r>
              <a:rPr lang="en-US" altLang="ja-JP" dirty="0" smtClean="0"/>
              <a:t> = 1 </a:t>
            </a:r>
            <a:r>
              <a:rPr lang="en-US" altLang="ja-JP" b="1" dirty="0" smtClean="0"/>
              <a:t>to</a:t>
            </a:r>
            <a:r>
              <a:rPr lang="en-US" altLang="ja-JP" dirty="0" smtClean="0"/>
              <a:t> </a:t>
            </a:r>
            <a:r>
              <a:rPr lang="en-US" altLang="ja-JP" dirty="0" err="1" smtClean="0"/>
              <a:t>len</a:t>
            </a:r>
            <a:r>
              <a:rPr lang="en-US" altLang="ja-JP" dirty="0" smtClean="0"/>
              <a:t>(bundles) </a:t>
            </a:r>
            <a:r>
              <a:rPr lang="en-US" altLang="ja-JP" b="1" dirty="0" smtClean="0"/>
              <a:t>do</a:t>
            </a:r>
            <a:br>
              <a:rPr lang="en-US" altLang="ja-JP" b="1" dirty="0" smtClean="0"/>
            </a:br>
            <a:r>
              <a:rPr lang="en-US" altLang="ja-JP" b="1" dirty="0" smtClean="0"/>
              <a:t>           if </a:t>
            </a:r>
            <a:r>
              <a:rPr lang="en-US" altLang="ja-JP" i="1" dirty="0" smtClean="0">
                <a:latin typeface="Times New Roman" panose="02020603050405020304" pitchFamily="18" charset="0"/>
                <a:cs typeface="Times New Roman" panose="02020603050405020304" pitchFamily="18" charset="0"/>
              </a:rPr>
              <a:t>conflict rate </a:t>
            </a:r>
            <a:r>
              <a:rPr lang="ja-JP" altLang="en-US" dirty="0" smtClean="0"/>
              <a:t>≦ </a:t>
            </a:r>
            <a:r>
              <a:rPr lang="en-US" altLang="ja-JP" i="1" dirty="0" smtClean="0">
                <a:latin typeface="Symbol" panose="05050102010706020507" pitchFamily="18" charset="2"/>
                <a:cs typeface="Times New Roman" panose="02020603050405020304" pitchFamily="18" charset="0"/>
              </a:rPr>
              <a:t>g</a:t>
            </a:r>
            <a:r>
              <a:rPr lang="en-US" altLang="ja-JP" dirty="0" smtClean="0"/>
              <a:t>  </a:t>
            </a:r>
            <a:r>
              <a:rPr lang="en-US" altLang="ja-JP" b="1" dirty="0" smtClean="0"/>
              <a:t>then</a:t>
            </a:r>
            <a:br>
              <a:rPr lang="en-US" altLang="ja-JP" b="1" dirty="0" smtClean="0"/>
            </a:br>
            <a:r>
              <a:rPr lang="en-US" altLang="ja-JP" b="1" dirty="0" smtClean="0"/>
              <a:t>              </a:t>
            </a:r>
            <a:r>
              <a:rPr lang="en-US" altLang="ja-JP" dirty="0" smtClean="0"/>
              <a:t>add(bundles[ </a:t>
            </a:r>
            <a:r>
              <a:rPr lang="en-US" altLang="ja-JP" i="1" dirty="0" err="1" smtClean="0">
                <a:latin typeface="Times New Roman" panose="02020603050405020304" pitchFamily="18" charset="0"/>
                <a:cs typeface="Times New Roman" panose="02020603050405020304" pitchFamily="18" charset="0"/>
              </a:rPr>
              <a:t>i</a:t>
            </a:r>
            <a:r>
              <a:rPr lang="en-US" altLang="ja-JP" i="1" dirty="0" smtClean="0">
                <a:latin typeface="Times New Roman" panose="02020603050405020304" pitchFamily="18" charset="0"/>
                <a:cs typeface="Times New Roman" panose="02020603050405020304" pitchFamily="18" charset="0"/>
              </a:rPr>
              <a:t> </a:t>
            </a:r>
            <a:r>
              <a:rPr lang="en-US" altLang="ja-JP" dirty="0" smtClean="0"/>
              <a:t>],  </a:t>
            </a:r>
            <a:r>
              <a:rPr lang="en-US" altLang="ja-JP" i="1" dirty="0" smtClean="0">
                <a:latin typeface="Times New Roman" panose="02020603050405020304" pitchFamily="18" charset="0"/>
                <a:cs typeface="Times New Roman" panose="02020603050405020304" pitchFamily="18" charset="0"/>
              </a:rPr>
              <a:t>f </a:t>
            </a:r>
            <a:r>
              <a:rPr lang="en-US" altLang="ja-JP" dirty="0" smtClean="0"/>
              <a:t>)</a:t>
            </a:r>
            <a:endParaRPr lang="en-US" altLang="ja-JP" b="1" dirty="0" smtClean="0"/>
          </a:p>
          <a:p>
            <a:pPr algn="l"/>
            <a:r>
              <a:rPr lang="en-US" altLang="ja-JP" b="1" dirty="0" smtClean="0"/>
              <a:t>      if  </a:t>
            </a:r>
            <a:r>
              <a:rPr lang="en-US" altLang="ja-JP" i="1" dirty="0" smtClean="0">
                <a:latin typeface="Times New Roman" panose="02020603050405020304" pitchFamily="18" charset="0"/>
                <a:cs typeface="Times New Roman" panose="02020603050405020304" pitchFamily="18" charset="0"/>
              </a:rPr>
              <a:t>f </a:t>
            </a:r>
            <a:r>
              <a:rPr lang="en-US" altLang="ja-JP" dirty="0" smtClean="0"/>
              <a:t> was not bundled  </a:t>
            </a:r>
            <a:r>
              <a:rPr lang="en-US" altLang="ja-JP" b="1" dirty="0" smtClean="0"/>
              <a:t>then</a:t>
            </a:r>
            <a:br>
              <a:rPr lang="en-US" altLang="ja-JP" b="1" dirty="0" smtClean="0"/>
            </a:br>
            <a:r>
              <a:rPr lang="en-US" altLang="ja-JP" b="1" dirty="0" smtClean="0"/>
              <a:t>         </a:t>
            </a:r>
            <a:r>
              <a:rPr lang="en-US" altLang="ja-JP" dirty="0" smtClean="0"/>
              <a:t>bundles</a:t>
            </a:r>
            <a:r>
              <a:rPr lang="ja-JP" altLang="en-US" dirty="0" smtClean="0"/>
              <a:t> </a:t>
            </a:r>
            <a:r>
              <a:rPr lang="ja-JP" altLang="en-US" dirty="0" smtClean="0"/>
              <a:t>← </a:t>
            </a:r>
            <a:r>
              <a:rPr lang="en-US" altLang="ja-JP" dirty="0" smtClean="0"/>
              <a:t>{</a:t>
            </a:r>
            <a:r>
              <a:rPr lang="en-US" altLang="ja-JP" dirty="0" smtClean="0"/>
              <a:t>bundles,  </a:t>
            </a:r>
            <a:r>
              <a:rPr lang="en-US" altLang="ja-JP" i="1" dirty="0" smtClean="0">
                <a:latin typeface="Times New Roman" panose="02020603050405020304" pitchFamily="18" charset="0"/>
                <a:cs typeface="Times New Roman" panose="02020603050405020304" pitchFamily="18" charset="0"/>
              </a:rPr>
              <a:t>f </a:t>
            </a:r>
            <a:r>
              <a:rPr lang="en-US" altLang="ja-JP" dirty="0" smtClean="0"/>
              <a:t>}</a:t>
            </a:r>
          </a:p>
          <a:p>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16</a:t>
            </a:fld>
            <a:endParaRPr kumimoji="1" lang="ja-JP" altLang="en-US" dirty="0"/>
          </a:p>
        </p:txBody>
      </p:sp>
      <p:sp>
        <p:nvSpPr>
          <p:cNvPr id="32" name="フリーフォーム 31"/>
          <p:cNvSpPr/>
          <p:nvPr/>
        </p:nvSpPr>
        <p:spPr>
          <a:xfrm>
            <a:off x="1681480" y="4709160"/>
            <a:ext cx="201930" cy="408940"/>
          </a:xfrm>
          <a:custGeom>
            <a:avLst/>
            <a:gdLst>
              <a:gd name="connsiteX0" fmla="*/ 0 w 251460"/>
              <a:gd name="connsiteY0" fmla="*/ 0 h 480060"/>
              <a:gd name="connsiteX1" fmla="*/ 0 w 251460"/>
              <a:gd name="connsiteY1" fmla="*/ 480060 h 480060"/>
              <a:gd name="connsiteX2" fmla="*/ 251460 w 251460"/>
              <a:gd name="connsiteY2" fmla="*/ 480060 h 480060"/>
            </a:gdLst>
            <a:ahLst/>
            <a:cxnLst>
              <a:cxn ang="0">
                <a:pos x="connsiteX0" y="connsiteY0"/>
              </a:cxn>
              <a:cxn ang="0">
                <a:pos x="connsiteX1" y="connsiteY1"/>
              </a:cxn>
              <a:cxn ang="0">
                <a:pos x="connsiteX2" y="connsiteY2"/>
              </a:cxn>
            </a:cxnLst>
            <a:rect l="l" t="t" r="r" b="b"/>
            <a:pathLst>
              <a:path w="251460" h="480060">
                <a:moveTo>
                  <a:pt x="0" y="0"/>
                </a:moveTo>
                <a:lnTo>
                  <a:pt x="0" y="480060"/>
                </a:lnTo>
                <a:lnTo>
                  <a:pt x="251460" y="48006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フリーフォーム 32"/>
          <p:cNvSpPr/>
          <p:nvPr/>
        </p:nvSpPr>
        <p:spPr>
          <a:xfrm>
            <a:off x="1127760" y="5783580"/>
            <a:ext cx="205740" cy="480060"/>
          </a:xfrm>
          <a:custGeom>
            <a:avLst/>
            <a:gdLst>
              <a:gd name="connsiteX0" fmla="*/ 0 w 251460"/>
              <a:gd name="connsiteY0" fmla="*/ 0 h 480060"/>
              <a:gd name="connsiteX1" fmla="*/ 0 w 251460"/>
              <a:gd name="connsiteY1" fmla="*/ 480060 h 480060"/>
              <a:gd name="connsiteX2" fmla="*/ 251460 w 251460"/>
              <a:gd name="connsiteY2" fmla="*/ 480060 h 480060"/>
            </a:gdLst>
            <a:ahLst/>
            <a:cxnLst>
              <a:cxn ang="0">
                <a:pos x="connsiteX0" y="connsiteY0"/>
              </a:cxn>
              <a:cxn ang="0">
                <a:pos x="connsiteX1" y="connsiteY1"/>
              </a:cxn>
              <a:cxn ang="0">
                <a:pos x="connsiteX2" y="connsiteY2"/>
              </a:cxn>
            </a:cxnLst>
            <a:rect l="l" t="t" r="r" b="b"/>
            <a:pathLst>
              <a:path w="251460" h="480060">
                <a:moveTo>
                  <a:pt x="0" y="0"/>
                </a:moveTo>
                <a:lnTo>
                  <a:pt x="0" y="480060"/>
                </a:lnTo>
                <a:lnTo>
                  <a:pt x="251460" y="48006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フリーフォーム 33"/>
          <p:cNvSpPr/>
          <p:nvPr/>
        </p:nvSpPr>
        <p:spPr>
          <a:xfrm>
            <a:off x="1135380" y="4133851"/>
            <a:ext cx="396240" cy="1060449"/>
          </a:xfrm>
          <a:custGeom>
            <a:avLst/>
            <a:gdLst>
              <a:gd name="connsiteX0" fmla="*/ 0 w 251460"/>
              <a:gd name="connsiteY0" fmla="*/ 0 h 480060"/>
              <a:gd name="connsiteX1" fmla="*/ 0 w 251460"/>
              <a:gd name="connsiteY1" fmla="*/ 480060 h 480060"/>
              <a:gd name="connsiteX2" fmla="*/ 251460 w 251460"/>
              <a:gd name="connsiteY2" fmla="*/ 480060 h 480060"/>
            </a:gdLst>
            <a:ahLst/>
            <a:cxnLst>
              <a:cxn ang="0">
                <a:pos x="connsiteX0" y="connsiteY0"/>
              </a:cxn>
              <a:cxn ang="0">
                <a:pos x="connsiteX1" y="connsiteY1"/>
              </a:cxn>
              <a:cxn ang="0">
                <a:pos x="connsiteX2" y="connsiteY2"/>
              </a:cxn>
            </a:cxnLst>
            <a:rect l="l" t="t" r="r" b="b"/>
            <a:pathLst>
              <a:path w="251460" h="480060">
                <a:moveTo>
                  <a:pt x="0" y="0"/>
                </a:moveTo>
                <a:lnTo>
                  <a:pt x="0" y="480060"/>
                </a:lnTo>
                <a:lnTo>
                  <a:pt x="251460" y="48006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フリーフォーム 34"/>
          <p:cNvSpPr/>
          <p:nvPr/>
        </p:nvSpPr>
        <p:spPr>
          <a:xfrm>
            <a:off x="483870" y="3572510"/>
            <a:ext cx="396240" cy="2885440"/>
          </a:xfrm>
          <a:custGeom>
            <a:avLst/>
            <a:gdLst>
              <a:gd name="connsiteX0" fmla="*/ 0 w 251460"/>
              <a:gd name="connsiteY0" fmla="*/ 0 h 480060"/>
              <a:gd name="connsiteX1" fmla="*/ 0 w 251460"/>
              <a:gd name="connsiteY1" fmla="*/ 480060 h 480060"/>
              <a:gd name="connsiteX2" fmla="*/ 251460 w 251460"/>
              <a:gd name="connsiteY2" fmla="*/ 480060 h 480060"/>
            </a:gdLst>
            <a:ahLst/>
            <a:cxnLst>
              <a:cxn ang="0">
                <a:pos x="connsiteX0" y="connsiteY0"/>
              </a:cxn>
              <a:cxn ang="0">
                <a:pos x="connsiteX1" y="connsiteY1"/>
              </a:cxn>
              <a:cxn ang="0">
                <a:pos x="connsiteX2" y="connsiteY2"/>
              </a:cxn>
            </a:cxnLst>
            <a:rect l="l" t="t" r="r" b="b"/>
            <a:pathLst>
              <a:path w="251460" h="480060">
                <a:moveTo>
                  <a:pt x="0" y="0"/>
                </a:moveTo>
                <a:lnTo>
                  <a:pt x="0" y="480060"/>
                </a:lnTo>
                <a:lnTo>
                  <a:pt x="251460" y="48006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p:cNvSpPr txBox="1"/>
          <p:nvPr/>
        </p:nvSpPr>
        <p:spPr>
          <a:xfrm>
            <a:off x="335280" y="1371600"/>
            <a:ext cx="1790700" cy="523220"/>
          </a:xfrm>
          <a:prstGeom prst="rect">
            <a:avLst/>
          </a:prstGeom>
          <a:noFill/>
          <a:ln w="38100">
            <a:solidFill>
              <a:schemeClr val="accent2"/>
            </a:solidFill>
          </a:ln>
        </p:spPr>
        <p:txBody>
          <a:bodyPr wrap="square" rtlCol="0">
            <a:spAutoFit/>
          </a:bodyPr>
          <a:lstStyle/>
          <a:p>
            <a:r>
              <a:rPr lang="ja-JP" altLang="en-US" sz="2800" dirty="0"/>
              <a:t>疑似コード</a:t>
            </a:r>
            <a:endParaRPr lang="en-US" altLang="ja-JP" sz="2800" dirty="0"/>
          </a:p>
        </p:txBody>
      </p:sp>
    </p:spTree>
    <p:extLst>
      <p:ext uri="{BB962C8B-B14F-4D97-AF65-F5344CB8AC3E}">
        <p14:creationId xmlns:p14="http://schemas.microsoft.com/office/powerpoint/2010/main" val="1834779293"/>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Exclusive</a:t>
            </a:r>
            <a:r>
              <a:rPr lang="ja-JP" altLang="en-US" dirty="0"/>
              <a:t> </a:t>
            </a:r>
            <a:r>
              <a:rPr lang="en-US" altLang="ja-JP" dirty="0"/>
              <a:t>Feature</a:t>
            </a:r>
            <a:r>
              <a:rPr lang="ja-JP" altLang="en-US" dirty="0"/>
              <a:t> </a:t>
            </a:r>
            <a:r>
              <a:rPr lang="en-US" altLang="ja-JP" dirty="0"/>
              <a:t>Bundling</a:t>
            </a:r>
            <a:endParaRPr kumimoji="1" lang="ja-JP" altLang="en-US" b="0"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17</a:t>
            </a:fld>
            <a:endParaRPr kumimoji="1" lang="ja-JP" altLang="en-US" dirty="0"/>
          </a:p>
        </p:txBody>
      </p:sp>
      <p:sp>
        <p:nvSpPr>
          <p:cNvPr id="6" name="テキスト ボックス 5"/>
          <p:cNvSpPr txBox="1"/>
          <p:nvPr/>
        </p:nvSpPr>
        <p:spPr>
          <a:xfrm>
            <a:off x="570567" y="5521096"/>
            <a:ext cx="2413000" cy="954107"/>
          </a:xfrm>
          <a:prstGeom prst="rect">
            <a:avLst/>
          </a:prstGeom>
          <a:noFill/>
          <a:ln w="19050">
            <a:solidFill>
              <a:schemeClr val="tx1"/>
            </a:solidFill>
          </a:ln>
        </p:spPr>
        <p:txBody>
          <a:bodyPr wrap="square" rtlCol="0">
            <a:spAutoFit/>
          </a:bodyPr>
          <a:lstStyle/>
          <a:p>
            <a:pPr algn="ctr"/>
            <a:r>
              <a:rPr lang="ja-JP" altLang="en-US" sz="2800" dirty="0" smtClean="0"/>
              <a:t>非</a:t>
            </a:r>
            <a:r>
              <a:rPr lang="en-US" altLang="ja-JP" sz="2800" dirty="0" smtClean="0"/>
              <a:t>0</a:t>
            </a:r>
            <a:r>
              <a:rPr lang="ja-JP" altLang="en-US" sz="2800" dirty="0" smtClean="0"/>
              <a:t>のデータ数で</a:t>
            </a:r>
            <a:r>
              <a:rPr lang="ja-JP" altLang="en-US" sz="2800" dirty="0"/>
              <a:t>ソート</a:t>
            </a:r>
            <a:endParaRPr kumimoji="1" lang="ja-JP" altLang="en-US" sz="2800" dirty="0" smtClean="0"/>
          </a:p>
        </p:txBody>
      </p:sp>
      <p:grpSp>
        <p:nvGrpSpPr>
          <p:cNvPr id="3" name="グループ化 2"/>
          <p:cNvGrpSpPr/>
          <p:nvPr/>
        </p:nvGrpSpPr>
        <p:grpSpPr>
          <a:xfrm>
            <a:off x="982241" y="2086334"/>
            <a:ext cx="1589650" cy="3340465"/>
            <a:chOff x="1236241" y="2086334"/>
            <a:chExt cx="1589650" cy="3340465"/>
          </a:xfrm>
        </p:grpSpPr>
        <p:sp>
          <p:nvSpPr>
            <p:cNvPr id="31" name="テキスト ボックス 30"/>
            <p:cNvSpPr txBox="1"/>
            <p:nvPr/>
          </p:nvSpPr>
          <p:spPr>
            <a:xfrm>
              <a:off x="1236242" y="2086334"/>
              <a:ext cx="1589649" cy="523220"/>
            </a:xfrm>
            <a:prstGeom prst="rect">
              <a:avLst/>
            </a:prstGeom>
            <a:noFill/>
          </p:spPr>
          <p:txBody>
            <a:bodyPr wrap="square" rtlCol="0">
              <a:spAutoFit/>
            </a:bodyPr>
            <a:lstStyle/>
            <a:p>
              <a:pPr algn="ctr"/>
              <a:r>
                <a:rPr kumimoji="1" lang="en-US" altLang="ja-JP" sz="2800" dirty="0" smtClean="0"/>
                <a:t>feature 1</a:t>
              </a:r>
              <a:endParaRPr kumimoji="1" lang="ja-JP" altLang="en-US" sz="2800" dirty="0" smtClean="0"/>
            </a:p>
          </p:txBody>
        </p:sp>
        <p:sp>
          <p:nvSpPr>
            <p:cNvPr id="16" name="テキスト ボックス 15"/>
            <p:cNvSpPr txBox="1"/>
            <p:nvPr/>
          </p:nvSpPr>
          <p:spPr>
            <a:xfrm>
              <a:off x="1236242" y="2755466"/>
              <a:ext cx="1589649" cy="523220"/>
            </a:xfrm>
            <a:prstGeom prst="rect">
              <a:avLst/>
            </a:prstGeom>
            <a:noFill/>
          </p:spPr>
          <p:txBody>
            <a:bodyPr wrap="square" rtlCol="0">
              <a:spAutoFit/>
            </a:bodyPr>
            <a:lstStyle/>
            <a:p>
              <a:pPr algn="ctr"/>
              <a:r>
                <a:rPr kumimoji="1" lang="en-US" altLang="ja-JP" sz="2800" dirty="0" smtClean="0"/>
                <a:t>feature 2</a:t>
              </a:r>
              <a:endParaRPr kumimoji="1" lang="ja-JP" altLang="en-US" sz="2800" dirty="0" smtClean="0"/>
            </a:p>
          </p:txBody>
        </p:sp>
        <p:sp>
          <p:nvSpPr>
            <p:cNvPr id="17" name="テキスト ボックス 16"/>
            <p:cNvSpPr txBox="1"/>
            <p:nvPr/>
          </p:nvSpPr>
          <p:spPr>
            <a:xfrm>
              <a:off x="1236242" y="4903579"/>
              <a:ext cx="1589649" cy="523220"/>
            </a:xfrm>
            <a:prstGeom prst="rect">
              <a:avLst/>
            </a:prstGeom>
            <a:noFill/>
          </p:spPr>
          <p:txBody>
            <a:bodyPr wrap="square" rtlCol="0">
              <a:spAutoFit/>
            </a:bodyPr>
            <a:lstStyle/>
            <a:p>
              <a:pPr algn="ctr"/>
              <a:r>
                <a:rPr kumimoji="1" lang="en-US" altLang="ja-JP" sz="2800" dirty="0" smtClean="0"/>
                <a:t>feature </a:t>
              </a:r>
              <a:r>
                <a:rPr kumimoji="1" lang="en-US" altLang="ja-JP" sz="2800" i="1" dirty="0" smtClean="0">
                  <a:latin typeface="Times New Roman" panose="02020603050405020304" pitchFamily="18" charset="0"/>
                  <a:cs typeface="Times New Roman" panose="02020603050405020304" pitchFamily="18" charset="0"/>
                </a:rPr>
                <a:t>n</a:t>
              </a:r>
              <a:endParaRPr kumimoji="1" lang="ja-JP" altLang="en-US" sz="2800" i="1" dirty="0" smtClean="0">
                <a:latin typeface="Times New Roman" panose="02020603050405020304" pitchFamily="18" charset="0"/>
                <a:cs typeface="Times New Roman" panose="02020603050405020304" pitchFamily="18" charset="0"/>
              </a:endParaRPr>
            </a:p>
          </p:txBody>
        </p:sp>
        <p:sp>
          <p:nvSpPr>
            <p:cNvPr id="21" name="テキスト ボックス 20"/>
            <p:cNvSpPr txBox="1"/>
            <p:nvPr/>
          </p:nvSpPr>
          <p:spPr>
            <a:xfrm>
              <a:off x="1723290" y="4093730"/>
              <a:ext cx="615553" cy="663936"/>
            </a:xfrm>
            <a:prstGeom prst="rect">
              <a:avLst/>
            </a:prstGeom>
            <a:noFill/>
          </p:spPr>
          <p:txBody>
            <a:bodyPr vert="eaVert" wrap="square" rtlCol="0">
              <a:spAutoFit/>
            </a:bodyPr>
            <a:lstStyle/>
            <a:p>
              <a:pPr algn="ctr"/>
              <a:r>
                <a:rPr lang="ja-JP" altLang="en-US" sz="2800" dirty="0"/>
                <a:t>･･･</a:t>
              </a:r>
              <a:endParaRPr kumimoji="1" lang="ja-JP" altLang="en-US" sz="2800" dirty="0" smtClean="0"/>
            </a:p>
          </p:txBody>
        </p:sp>
        <p:sp>
          <p:nvSpPr>
            <p:cNvPr id="22" name="テキスト ボックス 21"/>
            <p:cNvSpPr txBox="1"/>
            <p:nvPr/>
          </p:nvSpPr>
          <p:spPr>
            <a:xfrm>
              <a:off x="1236241" y="3424598"/>
              <a:ext cx="1589649" cy="523220"/>
            </a:xfrm>
            <a:prstGeom prst="rect">
              <a:avLst/>
            </a:prstGeom>
            <a:noFill/>
          </p:spPr>
          <p:txBody>
            <a:bodyPr wrap="square" rtlCol="0">
              <a:spAutoFit/>
            </a:bodyPr>
            <a:lstStyle/>
            <a:p>
              <a:pPr algn="ctr"/>
              <a:r>
                <a:rPr kumimoji="1" lang="en-US" altLang="ja-JP" sz="2800" dirty="0" smtClean="0"/>
                <a:t>feature 3</a:t>
              </a:r>
              <a:endParaRPr kumimoji="1" lang="ja-JP" altLang="en-US" sz="2800" dirty="0" smtClean="0"/>
            </a:p>
          </p:txBody>
        </p:sp>
      </p:grpSp>
      <p:sp>
        <p:nvSpPr>
          <p:cNvPr id="11" name="角丸四角形 10"/>
          <p:cNvSpPr/>
          <p:nvPr/>
        </p:nvSpPr>
        <p:spPr>
          <a:xfrm>
            <a:off x="5200650" y="1663700"/>
            <a:ext cx="3797300" cy="4910301"/>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p:cNvSpPr txBox="1"/>
          <p:nvPr/>
        </p:nvSpPr>
        <p:spPr>
          <a:xfrm>
            <a:off x="6264913" y="1417965"/>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a:t>
            </a:r>
            <a:endParaRPr kumimoji="1" lang="ja-JP" altLang="en-US" sz="2800" i="1" dirty="0" smtClean="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5978236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角丸四角形 27"/>
          <p:cNvSpPr/>
          <p:nvPr/>
        </p:nvSpPr>
        <p:spPr>
          <a:xfrm>
            <a:off x="5200650" y="1663700"/>
            <a:ext cx="3797300" cy="4910301"/>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p:nvPr>
        </p:nvSpPr>
        <p:spPr/>
        <p:txBody>
          <a:bodyPr/>
          <a:lstStyle/>
          <a:p>
            <a:r>
              <a:rPr lang="en-US" altLang="ja-JP" dirty="0"/>
              <a:t>Exclusive</a:t>
            </a:r>
            <a:r>
              <a:rPr lang="ja-JP" altLang="en-US" dirty="0"/>
              <a:t> </a:t>
            </a:r>
            <a:r>
              <a:rPr lang="en-US" altLang="ja-JP" dirty="0"/>
              <a:t>Feature</a:t>
            </a:r>
            <a:r>
              <a:rPr lang="ja-JP" altLang="en-US" dirty="0"/>
              <a:t> </a:t>
            </a:r>
            <a:r>
              <a:rPr lang="en-US" altLang="ja-JP" dirty="0"/>
              <a:t>Bundling</a:t>
            </a:r>
            <a:endParaRPr kumimoji="1" lang="ja-JP" altLang="en-US" b="0"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18</a:t>
            </a:fld>
            <a:endParaRPr kumimoji="1" lang="ja-JP" altLang="en-US" dirty="0"/>
          </a:p>
        </p:txBody>
      </p:sp>
      <p:grpSp>
        <p:nvGrpSpPr>
          <p:cNvPr id="25" name="グループ化 24"/>
          <p:cNvGrpSpPr/>
          <p:nvPr/>
        </p:nvGrpSpPr>
        <p:grpSpPr>
          <a:xfrm>
            <a:off x="5924648" y="2189291"/>
            <a:ext cx="2349304" cy="1362185"/>
            <a:chOff x="250288" y="3110411"/>
            <a:chExt cx="2349304" cy="1362185"/>
          </a:xfrm>
        </p:grpSpPr>
        <p:sp>
          <p:nvSpPr>
            <p:cNvPr id="23" name="角丸四角形 22"/>
            <p:cNvSpPr/>
            <p:nvPr/>
          </p:nvSpPr>
          <p:spPr>
            <a:xfrm>
              <a:off x="250288" y="3372021"/>
              <a:ext cx="2349304" cy="1100575"/>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p:cNvSpPr txBox="1"/>
            <p:nvPr/>
          </p:nvSpPr>
          <p:spPr>
            <a:xfrm>
              <a:off x="590553" y="3110411"/>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1</a:t>
              </a:r>
              <a:endParaRPr kumimoji="1" lang="ja-JP" altLang="en-US" sz="2800" i="1" dirty="0" smtClean="0">
                <a:latin typeface="Times New Roman" panose="02020603050405020304" pitchFamily="18" charset="0"/>
                <a:cs typeface="Times New Roman" panose="02020603050405020304" pitchFamily="18" charset="0"/>
              </a:endParaRPr>
            </a:p>
          </p:txBody>
        </p:sp>
      </p:grpSp>
      <p:cxnSp>
        <p:nvCxnSpPr>
          <p:cNvPr id="9" name="直線矢印コネクタ 8"/>
          <p:cNvCxnSpPr>
            <a:stCxn id="38" idx="3"/>
            <a:endCxn id="23" idx="1"/>
          </p:cNvCxnSpPr>
          <p:nvPr/>
        </p:nvCxnSpPr>
        <p:spPr>
          <a:xfrm>
            <a:off x="2571891" y="2347944"/>
            <a:ext cx="3352757" cy="653245"/>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p:cNvSpPr txBox="1"/>
          <p:nvPr/>
        </p:nvSpPr>
        <p:spPr>
          <a:xfrm>
            <a:off x="6264913" y="1417965"/>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a:t>
            </a:r>
            <a:endParaRPr kumimoji="1" lang="ja-JP" altLang="en-US" sz="2800" i="1" dirty="0" smtClean="0">
              <a:latin typeface="Times New Roman" panose="02020603050405020304" pitchFamily="18" charset="0"/>
              <a:cs typeface="Times New Roman" panose="02020603050405020304" pitchFamily="18" charset="0"/>
            </a:endParaRPr>
          </a:p>
        </p:txBody>
      </p:sp>
      <p:sp>
        <p:nvSpPr>
          <p:cNvPr id="29" name="テキスト ボックス 28"/>
          <p:cNvSpPr txBox="1"/>
          <p:nvPr/>
        </p:nvSpPr>
        <p:spPr>
          <a:xfrm>
            <a:off x="6304475" y="2783294"/>
            <a:ext cx="1589649" cy="523220"/>
          </a:xfrm>
          <a:prstGeom prst="rect">
            <a:avLst/>
          </a:prstGeom>
          <a:noFill/>
        </p:spPr>
        <p:txBody>
          <a:bodyPr wrap="square" rtlCol="0">
            <a:spAutoFit/>
          </a:bodyPr>
          <a:lstStyle/>
          <a:p>
            <a:pPr algn="ctr"/>
            <a:r>
              <a:rPr kumimoji="1" lang="en-US" altLang="ja-JP" sz="2800" dirty="0" smtClean="0"/>
              <a:t>feature 1</a:t>
            </a:r>
            <a:endParaRPr kumimoji="1" lang="ja-JP" altLang="en-US" sz="2800" dirty="0" smtClean="0"/>
          </a:p>
        </p:txBody>
      </p:sp>
      <p:grpSp>
        <p:nvGrpSpPr>
          <p:cNvPr id="37" name="グループ化 36"/>
          <p:cNvGrpSpPr/>
          <p:nvPr/>
        </p:nvGrpSpPr>
        <p:grpSpPr>
          <a:xfrm>
            <a:off x="982241" y="2086334"/>
            <a:ext cx="1589650" cy="3340465"/>
            <a:chOff x="1236241" y="2086334"/>
            <a:chExt cx="1589650" cy="3340465"/>
          </a:xfrm>
        </p:grpSpPr>
        <p:sp>
          <p:nvSpPr>
            <p:cNvPr id="38" name="テキスト ボックス 37"/>
            <p:cNvSpPr txBox="1"/>
            <p:nvPr/>
          </p:nvSpPr>
          <p:spPr>
            <a:xfrm>
              <a:off x="1236242" y="2086334"/>
              <a:ext cx="1589649" cy="523220"/>
            </a:xfrm>
            <a:prstGeom prst="rect">
              <a:avLst/>
            </a:prstGeom>
            <a:noFill/>
          </p:spPr>
          <p:txBody>
            <a:bodyPr wrap="square" rtlCol="0">
              <a:spAutoFit/>
            </a:bodyPr>
            <a:lstStyle/>
            <a:p>
              <a:pPr algn="ctr"/>
              <a:r>
                <a:rPr kumimoji="1" lang="en-US" altLang="ja-JP" sz="2800" dirty="0" smtClean="0"/>
                <a:t>feature 1</a:t>
              </a:r>
              <a:endParaRPr kumimoji="1" lang="ja-JP" altLang="en-US" sz="2800" dirty="0" smtClean="0"/>
            </a:p>
          </p:txBody>
        </p:sp>
        <p:sp>
          <p:nvSpPr>
            <p:cNvPr id="39" name="テキスト ボックス 38"/>
            <p:cNvSpPr txBox="1"/>
            <p:nvPr/>
          </p:nvSpPr>
          <p:spPr>
            <a:xfrm>
              <a:off x="1236242" y="2755466"/>
              <a:ext cx="1589649" cy="523220"/>
            </a:xfrm>
            <a:prstGeom prst="rect">
              <a:avLst/>
            </a:prstGeom>
            <a:noFill/>
          </p:spPr>
          <p:txBody>
            <a:bodyPr wrap="square" rtlCol="0">
              <a:spAutoFit/>
            </a:bodyPr>
            <a:lstStyle/>
            <a:p>
              <a:pPr algn="ctr"/>
              <a:r>
                <a:rPr kumimoji="1" lang="en-US" altLang="ja-JP" sz="2800" dirty="0" smtClean="0"/>
                <a:t>feature 2</a:t>
              </a:r>
              <a:endParaRPr kumimoji="1" lang="ja-JP" altLang="en-US" sz="2800" dirty="0" smtClean="0"/>
            </a:p>
          </p:txBody>
        </p:sp>
        <p:sp>
          <p:nvSpPr>
            <p:cNvPr id="40" name="テキスト ボックス 39"/>
            <p:cNvSpPr txBox="1"/>
            <p:nvPr/>
          </p:nvSpPr>
          <p:spPr>
            <a:xfrm>
              <a:off x="1236242" y="4903579"/>
              <a:ext cx="1589649" cy="523220"/>
            </a:xfrm>
            <a:prstGeom prst="rect">
              <a:avLst/>
            </a:prstGeom>
            <a:noFill/>
          </p:spPr>
          <p:txBody>
            <a:bodyPr wrap="square" rtlCol="0">
              <a:spAutoFit/>
            </a:bodyPr>
            <a:lstStyle/>
            <a:p>
              <a:pPr algn="ctr"/>
              <a:r>
                <a:rPr kumimoji="1" lang="en-US" altLang="ja-JP" sz="2800" dirty="0" smtClean="0"/>
                <a:t>feature </a:t>
              </a:r>
              <a:r>
                <a:rPr kumimoji="1" lang="en-US" altLang="ja-JP" sz="2800" i="1" dirty="0" smtClean="0">
                  <a:latin typeface="Times New Roman" panose="02020603050405020304" pitchFamily="18" charset="0"/>
                  <a:cs typeface="Times New Roman" panose="02020603050405020304" pitchFamily="18" charset="0"/>
                </a:rPr>
                <a:t>n</a:t>
              </a:r>
              <a:endParaRPr kumimoji="1" lang="ja-JP" altLang="en-US" sz="2800" i="1" dirty="0" smtClean="0">
                <a:latin typeface="Times New Roman" panose="02020603050405020304" pitchFamily="18" charset="0"/>
                <a:cs typeface="Times New Roman" panose="02020603050405020304" pitchFamily="18" charset="0"/>
              </a:endParaRPr>
            </a:p>
          </p:txBody>
        </p:sp>
        <p:sp>
          <p:nvSpPr>
            <p:cNvPr id="41" name="テキスト ボックス 40"/>
            <p:cNvSpPr txBox="1"/>
            <p:nvPr/>
          </p:nvSpPr>
          <p:spPr>
            <a:xfrm>
              <a:off x="1723290" y="4093730"/>
              <a:ext cx="615553" cy="663936"/>
            </a:xfrm>
            <a:prstGeom prst="rect">
              <a:avLst/>
            </a:prstGeom>
            <a:noFill/>
          </p:spPr>
          <p:txBody>
            <a:bodyPr vert="eaVert" wrap="square" rtlCol="0">
              <a:spAutoFit/>
            </a:bodyPr>
            <a:lstStyle/>
            <a:p>
              <a:pPr algn="ctr"/>
              <a:r>
                <a:rPr lang="ja-JP" altLang="en-US" sz="2800" dirty="0"/>
                <a:t>･･･</a:t>
              </a:r>
              <a:endParaRPr kumimoji="1" lang="ja-JP" altLang="en-US" sz="2800" dirty="0" smtClean="0"/>
            </a:p>
          </p:txBody>
        </p:sp>
        <p:sp>
          <p:nvSpPr>
            <p:cNvPr id="42" name="テキスト ボックス 41"/>
            <p:cNvSpPr txBox="1"/>
            <p:nvPr/>
          </p:nvSpPr>
          <p:spPr>
            <a:xfrm>
              <a:off x="1236241" y="3424598"/>
              <a:ext cx="1589649" cy="523220"/>
            </a:xfrm>
            <a:prstGeom prst="rect">
              <a:avLst/>
            </a:prstGeom>
            <a:noFill/>
          </p:spPr>
          <p:txBody>
            <a:bodyPr wrap="square" rtlCol="0">
              <a:spAutoFit/>
            </a:bodyPr>
            <a:lstStyle/>
            <a:p>
              <a:pPr algn="ctr"/>
              <a:r>
                <a:rPr kumimoji="1" lang="en-US" altLang="ja-JP" sz="2800" dirty="0" smtClean="0"/>
                <a:t>feature 3</a:t>
              </a:r>
              <a:endParaRPr kumimoji="1" lang="ja-JP" altLang="en-US" sz="2800" dirty="0" smtClean="0"/>
            </a:p>
          </p:txBody>
        </p:sp>
      </p:grpSp>
    </p:spTree>
    <p:extLst>
      <p:ext uri="{BB962C8B-B14F-4D97-AF65-F5344CB8AC3E}">
        <p14:creationId xmlns:p14="http://schemas.microsoft.com/office/powerpoint/2010/main" val="97992652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角丸四角形 27"/>
          <p:cNvSpPr/>
          <p:nvPr/>
        </p:nvSpPr>
        <p:spPr>
          <a:xfrm>
            <a:off x="5200650" y="1663700"/>
            <a:ext cx="3797300" cy="4910301"/>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p:nvPr>
        </p:nvSpPr>
        <p:spPr/>
        <p:txBody>
          <a:bodyPr/>
          <a:lstStyle/>
          <a:p>
            <a:r>
              <a:rPr lang="en-US" altLang="ja-JP" dirty="0"/>
              <a:t>Exclusive</a:t>
            </a:r>
            <a:r>
              <a:rPr lang="ja-JP" altLang="en-US" dirty="0"/>
              <a:t> </a:t>
            </a:r>
            <a:r>
              <a:rPr lang="en-US" altLang="ja-JP" dirty="0"/>
              <a:t>Feature</a:t>
            </a:r>
            <a:r>
              <a:rPr lang="ja-JP" altLang="en-US" dirty="0"/>
              <a:t> </a:t>
            </a:r>
            <a:r>
              <a:rPr lang="en-US" altLang="ja-JP" dirty="0"/>
              <a:t>Bundling</a:t>
            </a:r>
            <a:endParaRPr kumimoji="1" lang="ja-JP" altLang="en-US" b="0"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19</a:t>
            </a:fld>
            <a:endParaRPr kumimoji="1" lang="ja-JP" altLang="en-US" dirty="0"/>
          </a:p>
        </p:txBody>
      </p:sp>
      <p:grpSp>
        <p:nvGrpSpPr>
          <p:cNvPr id="25" name="グループ化 24"/>
          <p:cNvGrpSpPr/>
          <p:nvPr/>
        </p:nvGrpSpPr>
        <p:grpSpPr>
          <a:xfrm>
            <a:off x="5924648" y="2189291"/>
            <a:ext cx="2349304" cy="1362185"/>
            <a:chOff x="250288" y="3110411"/>
            <a:chExt cx="2349304" cy="1362185"/>
          </a:xfrm>
        </p:grpSpPr>
        <p:sp>
          <p:nvSpPr>
            <p:cNvPr id="23" name="角丸四角形 22"/>
            <p:cNvSpPr/>
            <p:nvPr/>
          </p:nvSpPr>
          <p:spPr>
            <a:xfrm>
              <a:off x="250288" y="3372021"/>
              <a:ext cx="2349304" cy="1100575"/>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p:cNvSpPr txBox="1"/>
            <p:nvPr/>
          </p:nvSpPr>
          <p:spPr>
            <a:xfrm>
              <a:off x="590553" y="3110411"/>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1</a:t>
              </a:r>
              <a:endParaRPr kumimoji="1" lang="ja-JP" altLang="en-US" sz="2800" i="1" dirty="0" smtClean="0">
                <a:latin typeface="Times New Roman" panose="02020603050405020304" pitchFamily="18" charset="0"/>
                <a:cs typeface="Times New Roman" panose="02020603050405020304" pitchFamily="18" charset="0"/>
              </a:endParaRPr>
            </a:p>
          </p:txBody>
        </p:sp>
      </p:grpSp>
      <p:cxnSp>
        <p:nvCxnSpPr>
          <p:cNvPr id="9" name="直線矢印コネクタ 8"/>
          <p:cNvCxnSpPr>
            <a:stCxn id="35" idx="3"/>
            <a:endCxn id="23" idx="1"/>
          </p:cNvCxnSpPr>
          <p:nvPr/>
        </p:nvCxnSpPr>
        <p:spPr>
          <a:xfrm flipV="1">
            <a:off x="2571891" y="3001189"/>
            <a:ext cx="3352757" cy="15887"/>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p:cNvSpPr txBox="1"/>
          <p:nvPr/>
        </p:nvSpPr>
        <p:spPr>
          <a:xfrm>
            <a:off x="6264913" y="1417965"/>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a:t>
            </a:r>
            <a:endParaRPr kumimoji="1" lang="ja-JP" altLang="en-US" sz="2800" i="1" dirty="0" smtClean="0">
              <a:latin typeface="Times New Roman" panose="02020603050405020304" pitchFamily="18" charset="0"/>
              <a:cs typeface="Times New Roman" panose="02020603050405020304" pitchFamily="18" charset="0"/>
            </a:endParaRPr>
          </a:p>
        </p:txBody>
      </p:sp>
      <p:sp>
        <p:nvSpPr>
          <p:cNvPr id="29" name="テキスト ボックス 28"/>
          <p:cNvSpPr txBox="1"/>
          <p:nvPr/>
        </p:nvSpPr>
        <p:spPr>
          <a:xfrm>
            <a:off x="6304475" y="2783294"/>
            <a:ext cx="1589649" cy="523220"/>
          </a:xfrm>
          <a:prstGeom prst="rect">
            <a:avLst/>
          </a:prstGeom>
          <a:noFill/>
        </p:spPr>
        <p:txBody>
          <a:bodyPr wrap="square" rtlCol="0">
            <a:spAutoFit/>
          </a:bodyPr>
          <a:lstStyle/>
          <a:p>
            <a:pPr algn="ctr"/>
            <a:r>
              <a:rPr kumimoji="1" lang="en-US" altLang="ja-JP" sz="2800" dirty="0" smtClean="0"/>
              <a:t>feature 1</a:t>
            </a:r>
            <a:endParaRPr kumimoji="1" lang="ja-JP" altLang="en-US" sz="2800" dirty="0" smtClean="0"/>
          </a:p>
        </p:txBody>
      </p:sp>
      <p:sp>
        <p:nvSpPr>
          <p:cNvPr id="32" name="テキスト ボックス 31"/>
          <p:cNvSpPr txBox="1"/>
          <p:nvPr/>
        </p:nvSpPr>
        <p:spPr>
          <a:xfrm>
            <a:off x="2571890" y="1789986"/>
            <a:ext cx="2458627" cy="954107"/>
          </a:xfrm>
          <a:prstGeom prst="rect">
            <a:avLst/>
          </a:prstGeom>
          <a:noFill/>
          <a:ln w="19050">
            <a:solidFill>
              <a:schemeClr val="tx1"/>
            </a:solidFill>
          </a:ln>
        </p:spPr>
        <p:txBody>
          <a:bodyPr wrap="square" rtlCol="0">
            <a:spAutoFit/>
          </a:bodyPr>
          <a:lstStyle/>
          <a:p>
            <a:pPr algn="ctr"/>
            <a:r>
              <a:rPr lang="ja-JP" altLang="en-US" sz="2800" dirty="0" smtClean="0"/>
              <a:t>非</a:t>
            </a:r>
            <a:r>
              <a:rPr lang="en-US" altLang="ja-JP" sz="2800" dirty="0" smtClean="0"/>
              <a:t>0</a:t>
            </a:r>
            <a:r>
              <a:rPr lang="ja-JP" altLang="en-US" sz="2800" dirty="0" smtClean="0"/>
              <a:t>のデータの</a:t>
            </a:r>
            <a:r>
              <a:rPr lang="ja-JP" altLang="en-US" sz="2800" dirty="0" smtClean="0"/>
              <a:t>重複</a:t>
            </a:r>
            <a:r>
              <a:rPr lang="ja-JP" altLang="en-US" sz="2800" dirty="0"/>
              <a:t>率</a:t>
            </a:r>
            <a:r>
              <a:rPr lang="ja-JP" altLang="en-US" sz="2800" dirty="0" smtClean="0"/>
              <a:t>を</a:t>
            </a:r>
            <a:r>
              <a:rPr lang="ja-JP" altLang="en-US" sz="2800" dirty="0" smtClean="0"/>
              <a:t>計算</a:t>
            </a:r>
            <a:endParaRPr kumimoji="1" lang="ja-JP" altLang="en-US" sz="2800" dirty="0" smtClean="0"/>
          </a:p>
        </p:txBody>
      </p:sp>
      <p:grpSp>
        <p:nvGrpSpPr>
          <p:cNvPr id="33" name="グループ化 32"/>
          <p:cNvGrpSpPr/>
          <p:nvPr/>
        </p:nvGrpSpPr>
        <p:grpSpPr>
          <a:xfrm>
            <a:off x="982241" y="2755466"/>
            <a:ext cx="1589650" cy="2671333"/>
            <a:chOff x="1236241" y="2755466"/>
            <a:chExt cx="1589650" cy="2671333"/>
          </a:xfrm>
        </p:grpSpPr>
        <p:sp>
          <p:nvSpPr>
            <p:cNvPr id="35" name="テキスト ボックス 34"/>
            <p:cNvSpPr txBox="1"/>
            <p:nvPr/>
          </p:nvSpPr>
          <p:spPr>
            <a:xfrm>
              <a:off x="1236242" y="2755466"/>
              <a:ext cx="1589649" cy="523220"/>
            </a:xfrm>
            <a:prstGeom prst="rect">
              <a:avLst/>
            </a:prstGeom>
            <a:noFill/>
          </p:spPr>
          <p:txBody>
            <a:bodyPr wrap="square" rtlCol="0">
              <a:spAutoFit/>
            </a:bodyPr>
            <a:lstStyle/>
            <a:p>
              <a:pPr algn="ctr"/>
              <a:r>
                <a:rPr kumimoji="1" lang="en-US" altLang="ja-JP" sz="2800" dirty="0" smtClean="0"/>
                <a:t>feature 2</a:t>
              </a:r>
              <a:endParaRPr kumimoji="1" lang="ja-JP" altLang="en-US" sz="2800" dirty="0" smtClean="0"/>
            </a:p>
          </p:txBody>
        </p:sp>
        <p:sp>
          <p:nvSpPr>
            <p:cNvPr id="36" name="テキスト ボックス 35"/>
            <p:cNvSpPr txBox="1"/>
            <p:nvPr/>
          </p:nvSpPr>
          <p:spPr>
            <a:xfrm>
              <a:off x="1236242" y="4903579"/>
              <a:ext cx="1589649" cy="523220"/>
            </a:xfrm>
            <a:prstGeom prst="rect">
              <a:avLst/>
            </a:prstGeom>
            <a:noFill/>
          </p:spPr>
          <p:txBody>
            <a:bodyPr wrap="square" rtlCol="0">
              <a:spAutoFit/>
            </a:bodyPr>
            <a:lstStyle/>
            <a:p>
              <a:pPr algn="ctr"/>
              <a:r>
                <a:rPr kumimoji="1" lang="en-US" altLang="ja-JP" sz="2800" dirty="0" smtClean="0"/>
                <a:t>feature </a:t>
              </a:r>
              <a:r>
                <a:rPr kumimoji="1" lang="en-US" altLang="ja-JP" sz="2800" i="1" dirty="0" smtClean="0">
                  <a:latin typeface="Times New Roman" panose="02020603050405020304" pitchFamily="18" charset="0"/>
                  <a:cs typeface="Times New Roman" panose="02020603050405020304" pitchFamily="18" charset="0"/>
                </a:rPr>
                <a:t>n</a:t>
              </a:r>
              <a:endParaRPr kumimoji="1" lang="ja-JP" altLang="en-US" sz="2800" i="1" dirty="0" smtClean="0">
                <a:latin typeface="Times New Roman" panose="02020603050405020304" pitchFamily="18" charset="0"/>
                <a:cs typeface="Times New Roman" panose="02020603050405020304" pitchFamily="18" charset="0"/>
              </a:endParaRPr>
            </a:p>
          </p:txBody>
        </p:sp>
        <p:sp>
          <p:nvSpPr>
            <p:cNvPr id="37" name="テキスト ボックス 36"/>
            <p:cNvSpPr txBox="1"/>
            <p:nvPr/>
          </p:nvSpPr>
          <p:spPr>
            <a:xfrm>
              <a:off x="1723290" y="4093730"/>
              <a:ext cx="615553" cy="663936"/>
            </a:xfrm>
            <a:prstGeom prst="rect">
              <a:avLst/>
            </a:prstGeom>
            <a:noFill/>
          </p:spPr>
          <p:txBody>
            <a:bodyPr vert="eaVert" wrap="square" rtlCol="0">
              <a:spAutoFit/>
            </a:bodyPr>
            <a:lstStyle/>
            <a:p>
              <a:pPr algn="ctr"/>
              <a:r>
                <a:rPr lang="ja-JP" altLang="en-US" sz="2800" dirty="0"/>
                <a:t>･･･</a:t>
              </a:r>
              <a:endParaRPr kumimoji="1" lang="ja-JP" altLang="en-US" sz="2800" dirty="0" smtClean="0"/>
            </a:p>
          </p:txBody>
        </p:sp>
        <p:sp>
          <p:nvSpPr>
            <p:cNvPr id="38" name="テキスト ボックス 37"/>
            <p:cNvSpPr txBox="1"/>
            <p:nvPr/>
          </p:nvSpPr>
          <p:spPr>
            <a:xfrm>
              <a:off x="1236241" y="3424598"/>
              <a:ext cx="1589649" cy="523220"/>
            </a:xfrm>
            <a:prstGeom prst="rect">
              <a:avLst/>
            </a:prstGeom>
            <a:noFill/>
          </p:spPr>
          <p:txBody>
            <a:bodyPr wrap="square" rtlCol="0">
              <a:spAutoFit/>
            </a:bodyPr>
            <a:lstStyle/>
            <a:p>
              <a:pPr algn="ctr"/>
              <a:r>
                <a:rPr kumimoji="1" lang="en-US" altLang="ja-JP" sz="2800" dirty="0" smtClean="0"/>
                <a:t>feature 3</a:t>
              </a:r>
              <a:endParaRPr kumimoji="1" lang="ja-JP" altLang="en-US" sz="2800" dirty="0" smtClean="0"/>
            </a:p>
          </p:txBody>
        </p:sp>
      </p:grpSp>
    </p:spTree>
    <p:extLst>
      <p:ext uri="{BB962C8B-B14F-4D97-AF65-F5344CB8AC3E}">
        <p14:creationId xmlns:p14="http://schemas.microsoft.com/office/powerpoint/2010/main" val="1060213083"/>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角丸四角形 27"/>
          <p:cNvSpPr/>
          <p:nvPr/>
        </p:nvSpPr>
        <p:spPr>
          <a:xfrm>
            <a:off x="5200650" y="1663700"/>
            <a:ext cx="3797300" cy="4910301"/>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p:nvPr>
        </p:nvSpPr>
        <p:spPr/>
        <p:txBody>
          <a:bodyPr/>
          <a:lstStyle/>
          <a:p>
            <a:r>
              <a:rPr lang="en-US" altLang="ja-JP" dirty="0"/>
              <a:t>Exclusive</a:t>
            </a:r>
            <a:r>
              <a:rPr lang="ja-JP" altLang="en-US" dirty="0"/>
              <a:t> </a:t>
            </a:r>
            <a:r>
              <a:rPr lang="en-US" altLang="ja-JP" dirty="0"/>
              <a:t>Feature</a:t>
            </a:r>
            <a:r>
              <a:rPr lang="ja-JP" altLang="en-US" dirty="0"/>
              <a:t> </a:t>
            </a:r>
            <a:r>
              <a:rPr lang="en-US" altLang="ja-JP" dirty="0"/>
              <a:t>Bundling</a:t>
            </a:r>
            <a:endParaRPr kumimoji="1" lang="ja-JP" altLang="en-US" b="0"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20</a:t>
            </a:fld>
            <a:endParaRPr kumimoji="1" lang="ja-JP" altLang="en-US" dirty="0"/>
          </a:p>
        </p:txBody>
      </p:sp>
      <p:grpSp>
        <p:nvGrpSpPr>
          <p:cNvPr id="25" name="グループ化 24"/>
          <p:cNvGrpSpPr/>
          <p:nvPr/>
        </p:nvGrpSpPr>
        <p:grpSpPr>
          <a:xfrm>
            <a:off x="5924648" y="2189291"/>
            <a:ext cx="2349304" cy="1362185"/>
            <a:chOff x="250288" y="3110411"/>
            <a:chExt cx="2349304" cy="1362185"/>
          </a:xfrm>
        </p:grpSpPr>
        <p:sp>
          <p:nvSpPr>
            <p:cNvPr id="23" name="角丸四角形 22"/>
            <p:cNvSpPr/>
            <p:nvPr/>
          </p:nvSpPr>
          <p:spPr>
            <a:xfrm>
              <a:off x="250288" y="3372021"/>
              <a:ext cx="2349304" cy="1100575"/>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p:cNvSpPr txBox="1"/>
            <p:nvPr/>
          </p:nvSpPr>
          <p:spPr>
            <a:xfrm>
              <a:off x="590553" y="3110411"/>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1</a:t>
              </a:r>
              <a:endParaRPr kumimoji="1" lang="ja-JP" altLang="en-US" sz="2800" i="1" dirty="0" smtClean="0">
                <a:latin typeface="Times New Roman" panose="02020603050405020304" pitchFamily="18" charset="0"/>
                <a:cs typeface="Times New Roman" panose="02020603050405020304" pitchFamily="18" charset="0"/>
              </a:endParaRPr>
            </a:p>
          </p:txBody>
        </p:sp>
      </p:grpSp>
      <p:cxnSp>
        <p:nvCxnSpPr>
          <p:cNvPr id="9" name="直線矢印コネクタ 8"/>
          <p:cNvCxnSpPr>
            <a:stCxn id="35" idx="3"/>
            <a:endCxn id="18" idx="1"/>
          </p:cNvCxnSpPr>
          <p:nvPr/>
        </p:nvCxnSpPr>
        <p:spPr>
          <a:xfrm>
            <a:off x="2571891" y="3017076"/>
            <a:ext cx="3352757" cy="1495375"/>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p:cNvSpPr txBox="1"/>
          <p:nvPr/>
        </p:nvSpPr>
        <p:spPr>
          <a:xfrm>
            <a:off x="6264913" y="1417965"/>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a:t>
            </a:r>
            <a:endParaRPr kumimoji="1" lang="ja-JP" altLang="en-US" sz="2800" i="1" dirty="0" smtClean="0">
              <a:latin typeface="Times New Roman" panose="02020603050405020304" pitchFamily="18" charset="0"/>
              <a:cs typeface="Times New Roman" panose="02020603050405020304" pitchFamily="18" charset="0"/>
            </a:endParaRPr>
          </a:p>
        </p:txBody>
      </p:sp>
      <p:sp>
        <p:nvSpPr>
          <p:cNvPr id="29" name="テキスト ボックス 28"/>
          <p:cNvSpPr txBox="1"/>
          <p:nvPr/>
        </p:nvSpPr>
        <p:spPr>
          <a:xfrm>
            <a:off x="6304475" y="2783294"/>
            <a:ext cx="1589649" cy="523220"/>
          </a:xfrm>
          <a:prstGeom prst="rect">
            <a:avLst/>
          </a:prstGeom>
          <a:noFill/>
        </p:spPr>
        <p:txBody>
          <a:bodyPr wrap="square" rtlCol="0">
            <a:spAutoFit/>
          </a:bodyPr>
          <a:lstStyle/>
          <a:p>
            <a:pPr algn="ctr"/>
            <a:r>
              <a:rPr kumimoji="1" lang="en-US" altLang="ja-JP" sz="2800" dirty="0" smtClean="0"/>
              <a:t>feature 1</a:t>
            </a:r>
            <a:endParaRPr kumimoji="1" lang="ja-JP" altLang="en-US" sz="2800" dirty="0" smtClean="0"/>
          </a:p>
        </p:txBody>
      </p:sp>
      <p:grpSp>
        <p:nvGrpSpPr>
          <p:cNvPr id="33" name="グループ化 32"/>
          <p:cNvGrpSpPr/>
          <p:nvPr/>
        </p:nvGrpSpPr>
        <p:grpSpPr>
          <a:xfrm>
            <a:off x="982241" y="2755466"/>
            <a:ext cx="1589650" cy="2671333"/>
            <a:chOff x="1236241" y="2755466"/>
            <a:chExt cx="1589650" cy="2671333"/>
          </a:xfrm>
        </p:grpSpPr>
        <p:sp>
          <p:nvSpPr>
            <p:cNvPr id="35" name="テキスト ボックス 34"/>
            <p:cNvSpPr txBox="1"/>
            <p:nvPr/>
          </p:nvSpPr>
          <p:spPr>
            <a:xfrm>
              <a:off x="1236242" y="2755466"/>
              <a:ext cx="1589649" cy="523220"/>
            </a:xfrm>
            <a:prstGeom prst="rect">
              <a:avLst/>
            </a:prstGeom>
            <a:noFill/>
          </p:spPr>
          <p:txBody>
            <a:bodyPr wrap="square" rtlCol="0">
              <a:spAutoFit/>
            </a:bodyPr>
            <a:lstStyle/>
            <a:p>
              <a:pPr algn="ctr"/>
              <a:r>
                <a:rPr kumimoji="1" lang="en-US" altLang="ja-JP" sz="2800" dirty="0" smtClean="0"/>
                <a:t>feature 2</a:t>
              </a:r>
              <a:endParaRPr kumimoji="1" lang="ja-JP" altLang="en-US" sz="2800" dirty="0" smtClean="0"/>
            </a:p>
          </p:txBody>
        </p:sp>
        <p:sp>
          <p:nvSpPr>
            <p:cNvPr id="36" name="テキスト ボックス 35"/>
            <p:cNvSpPr txBox="1"/>
            <p:nvPr/>
          </p:nvSpPr>
          <p:spPr>
            <a:xfrm>
              <a:off x="1236242" y="4903579"/>
              <a:ext cx="1589649" cy="523220"/>
            </a:xfrm>
            <a:prstGeom prst="rect">
              <a:avLst/>
            </a:prstGeom>
            <a:noFill/>
          </p:spPr>
          <p:txBody>
            <a:bodyPr wrap="square" rtlCol="0">
              <a:spAutoFit/>
            </a:bodyPr>
            <a:lstStyle/>
            <a:p>
              <a:pPr algn="ctr"/>
              <a:r>
                <a:rPr kumimoji="1" lang="en-US" altLang="ja-JP" sz="2800" dirty="0" smtClean="0"/>
                <a:t>feature </a:t>
              </a:r>
              <a:r>
                <a:rPr kumimoji="1" lang="en-US" altLang="ja-JP" sz="2800" i="1" dirty="0" smtClean="0">
                  <a:latin typeface="Times New Roman" panose="02020603050405020304" pitchFamily="18" charset="0"/>
                  <a:cs typeface="Times New Roman" panose="02020603050405020304" pitchFamily="18" charset="0"/>
                </a:rPr>
                <a:t>n</a:t>
              </a:r>
              <a:endParaRPr kumimoji="1" lang="ja-JP" altLang="en-US" sz="2800" i="1" dirty="0" smtClean="0">
                <a:latin typeface="Times New Roman" panose="02020603050405020304" pitchFamily="18" charset="0"/>
                <a:cs typeface="Times New Roman" panose="02020603050405020304" pitchFamily="18" charset="0"/>
              </a:endParaRPr>
            </a:p>
          </p:txBody>
        </p:sp>
        <p:sp>
          <p:nvSpPr>
            <p:cNvPr id="37" name="テキスト ボックス 36"/>
            <p:cNvSpPr txBox="1"/>
            <p:nvPr/>
          </p:nvSpPr>
          <p:spPr>
            <a:xfrm>
              <a:off x="1723290" y="4093730"/>
              <a:ext cx="615553" cy="663936"/>
            </a:xfrm>
            <a:prstGeom prst="rect">
              <a:avLst/>
            </a:prstGeom>
            <a:noFill/>
          </p:spPr>
          <p:txBody>
            <a:bodyPr vert="eaVert" wrap="square" rtlCol="0">
              <a:spAutoFit/>
            </a:bodyPr>
            <a:lstStyle/>
            <a:p>
              <a:pPr algn="ctr"/>
              <a:r>
                <a:rPr lang="ja-JP" altLang="en-US" sz="2800" dirty="0"/>
                <a:t>･･･</a:t>
              </a:r>
              <a:endParaRPr kumimoji="1" lang="ja-JP" altLang="en-US" sz="2800" dirty="0" smtClean="0"/>
            </a:p>
          </p:txBody>
        </p:sp>
        <p:sp>
          <p:nvSpPr>
            <p:cNvPr id="38" name="テキスト ボックス 37"/>
            <p:cNvSpPr txBox="1"/>
            <p:nvPr/>
          </p:nvSpPr>
          <p:spPr>
            <a:xfrm>
              <a:off x="1236241" y="3424598"/>
              <a:ext cx="1589649" cy="523220"/>
            </a:xfrm>
            <a:prstGeom prst="rect">
              <a:avLst/>
            </a:prstGeom>
            <a:noFill/>
          </p:spPr>
          <p:txBody>
            <a:bodyPr wrap="square" rtlCol="0">
              <a:spAutoFit/>
            </a:bodyPr>
            <a:lstStyle/>
            <a:p>
              <a:pPr algn="ctr"/>
              <a:r>
                <a:rPr kumimoji="1" lang="en-US" altLang="ja-JP" sz="2800" dirty="0" smtClean="0"/>
                <a:t>feature 3</a:t>
              </a:r>
              <a:endParaRPr kumimoji="1" lang="ja-JP" altLang="en-US" sz="2800" dirty="0" smtClean="0"/>
            </a:p>
          </p:txBody>
        </p:sp>
      </p:grpSp>
      <p:grpSp>
        <p:nvGrpSpPr>
          <p:cNvPr id="17" name="グループ化 16"/>
          <p:cNvGrpSpPr/>
          <p:nvPr/>
        </p:nvGrpSpPr>
        <p:grpSpPr>
          <a:xfrm>
            <a:off x="5924648" y="3700553"/>
            <a:ext cx="2349304" cy="1362185"/>
            <a:chOff x="250288" y="3110411"/>
            <a:chExt cx="2349304" cy="1362185"/>
          </a:xfrm>
        </p:grpSpPr>
        <p:sp>
          <p:nvSpPr>
            <p:cNvPr id="18" name="角丸四角形 17"/>
            <p:cNvSpPr/>
            <p:nvPr/>
          </p:nvSpPr>
          <p:spPr>
            <a:xfrm>
              <a:off x="250288" y="3372021"/>
              <a:ext cx="2349304" cy="1100575"/>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p:cNvSpPr txBox="1"/>
            <p:nvPr/>
          </p:nvSpPr>
          <p:spPr>
            <a:xfrm>
              <a:off x="590553" y="3110411"/>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2</a:t>
              </a:r>
              <a:endParaRPr kumimoji="1" lang="ja-JP" altLang="en-US" sz="2800" i="1" dirty="0" smtClean="0">
                <a:latin typeface="Times New Roman" panose="02020603050405020304" pitchFamily="18" charset="0"/>
                <a:cs typeface="Times New Roman" panose="02020603050405020304" pitchFamily="18" charset="0"/>
              </a:endParaRPr>
            </a:p>
          </p:txBody>
        </p:sp>
      </p:grpSp>
      <p:sp>
        <p:nvSpPr>
          <p:cNvPr id="21" name="テキスト ボックス 20"/>
          <p:cNvSpPr txBox="1"/>
          <p:nvPr/>
        </p:nvSpPr>
        <p:spPr>
          <a:xfrm>
            <a:off x="6304474" y="4307950"/>
            <a:ext cx="1589649" cy="523220"/>
          </a:xfrm>
          <a:prstGeom prst="rect">
            <a:avLst/>
          </a:prstGeom>
          <a:noFill/>
        </p:spPr>
        <p:txBody>
          <a:bodyPr wrap="square" rtlCol="0">
            <a:spAutoFit/>
          </a:bodyPr>
          <a:lstStyle/>
          <a:p>
            <a:pPr algn="ctr"/>
            <a:r>
              <a:rPr kumimoji="1" lang="en-US" altLang="ja-JP" sz="2800" dirty="0" smtClean="0"/>
              <a:t>feature 2</a:t>
            </a:r>
            <a:endParaRPr kumimoji="1" lang="ja-JP" altLang="en-US" sz="2800" dirty="0" smtClean="0"/>
          </a:p>
        </p:txBody>
      </p:sp>
    </p:spTree>
    <p:extLst>
      <p:ext uri="{BB962C8B-B14F-4D97-AF65-F5344CB8AC3E}">
        <p14:creationId xmlns:p14="http://schemas.microsoft.com/office/powerpoint/2010/main" val="876678003"/>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角丸四角形 27"/>
          <p:cNvSpPr/>
          <p:nvPr/>
        </p:nvSpPr>
        <p:spPr>
          <a:xfrm>
            <a:off x="5200650" y="1663700"/>
            <a:ext cx="3797300" cy="4910301"/>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p:nvPr>
        </p:nvSpPr>
        <p:spPr/>
        <p:txBody>
          <a:bodyPr/>
          <a:lstStyle/>
          <a:p>
            <a:r>
              <a:rPr lang="en-US" altLang="ja-JP" dirty="0"/>
              <a:t>Exclusive</a:t>
            </a:r>
            <a:r>
              <a:rPr lang="ja-JP" altLang="en-US" dirty="0"/>
              <a:t> </a:t>
            </a:r>
            <a:r>
              <a:rPr lang="en-US" altLang="ja-JP" dirty="0"/>
              <a:t>Feature</a:t>
            </a:r>
            <a:r>
              <a:rPr lang="ja-JP" altLang="en-US" dirty="0"/>
              <a:t> </a:t>
            </a:r>
            <a:r>
              <a:rPr lang="en-US" altLang="ja-JP" dirty="0"/>
              <a:t>Bundling</a:t>
            </a:r>
            <a:endParaRPr kumimoji="1" lang="ja-JP" altLang="en-US" b="0"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21</a:t>
            </a:fld>
            <a:endParaRPr kumimoji="1" lang="ja-JP" altLang="en-US" dirty="0"/>
          </a:p>
        </p:txBody>
      </p:sp>
      <p:grpSp>
        <p:nvGrpSpPr>
          <p:cNvPr id="25" name="グループ化 24"/>
          <p:cNvGrpSpPr/>
          <p:nvPr/>
        </p:nvGrpSpPr>
        <p:grpSpPr>
          <a:xfrm>
            <a:off x="5924648" y="2189291"/>
            <a:ext cx="2349304" cy="1362185"/>
            <a:chOff x="250288" y="3110411"/>
            <a:chExt cx="2349304" cy="1362185"/>
          </a:xfrm>
        </p:grpSpPr>
        <p:sp>
          <p:nvSpPr>
            <p:cNvPr id="23" name="角丸四角形 22"/>
            <p:cNvSpPr/>
            <p:nvPr/>
          </p:nvSpPr>
          <p:spPr>
            <a:xfrm>
              <a:off x="250288" y="3372021"/>
              <a:ext cx="2349304" cy="1100575"/>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p:cNvSpPr txBox="1"/>
            <p:nvPr/>
          </p:nvSpPr>
          <p:spPr>
            <a:xfrm>
              <a:off x="590553" y="3110411"/>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1</a:t>
              </a:r>
              <a:endParaRPr kumimoji="1" lang="ja-JP" altLang="en-US" sz="2800" i="1" dirty="0" smtClean="0">
                <a:latin typeface="Times New Roman" panose="02020603050405020304" pitchFamily="18" charset="0"/>
                <a:cs typeface="Times New Roman" panose="02020603050405020304" pitchFamily="18" charset="0"/>
              </a:endParaRPr>
            </a:p>
          </p:txBody>
        </p:sp>
      </p:grpSp>
      <p:cxnSp>
        <p:nvCxnSpPr>
          <p:cNvPr id="9" name="直線矢印コネクタ 8"/>
          <p:cNvCxnSpPr>
            <a:stCxn id="38" idx="3"/>
            <a:endCxn id="18" idx="1"/>
          </p:cNvCxnSpPr>
          <p:nvPr/>
        </p:nvCxnSpPr>
        <p:spPr>
          <a:xfrm>
            <a:off x="2571890" y="3686208"/>
            <a:ext cx="3352758" cy="826243"/>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p:cNvSpPr txBox="1"/>
          <p:nvPr/>
        </p:nvSpPr>
        <p:spPr>
          <a:xfrm>
            <a:off x="6264913" y="1417965"/>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a:t>
            </a:r>
            <a:endParaRPr kumimoji="1" lang="ja-JP" altLang="en-US" sz="2800" i="1" dirty="0" smtClean="0">
              <a:latin typeface="Times New Roman" panose="02020603050405020304" pitchFamily="18" charset="0"/>
              <a:cs typeface="Times New Roman" panose="02020603050405020304" pitchFamily="18" charset="0"/>
            </a:endParaRPr>
          </a:p>
        </p:txBody>
      </p:sp>
      <p:sp>
        <p:nvSpPr>
          <p:cNvPr id="29" name="テキスト ボックス 28"/>
          <p:cNvSpPr txBox="1"/>
          <p:nvPr/>
        </p:nvSpPr>
        <p:spPr>
          <a:xfrm>
            <a:off x="6304475" y="2783294"/>
            <a:ext cx="1589649" cy="523220"/>
          </a:xfrm>
          <a:prstGeom prst="rect">
            <a:avLst/>
          </a:prstGeom>
          <a:noFill/>
        </p:spPr>
        <p:txBody>
          <a:bodyPr wrap="square" rtlCol="0">
            <a:spAutoFit/>
          </a:bodyPr>
          <a:lstStyle/>
          <a:p>
            <a:pPr algn="ctr"/>
            <a:r>
              <a:rPr kumimoji="1" lang="en-US" altLang="ja-JP" sz="2800" dirty="0" smtClean="0"/>
              <a:t>feature 1</a:t>
            </a:r>
            <a:endParaRPr kumimoji="1" lang="ja-JP" altLang="en-US" sz="2800" dirty="0" smtClean="0"/>
          </a:p>
        </p:txBody>
      </p:sp>
      <p:grpSp>
        <p:nvGrpSpPr>
          <p:cNvPr id="33" name="グループ化 32"/>
          <p:cNvGrpSpPr/>
          <p:nvPr/>
        </p:nvGrpSpPr>
        <p:grpSpPr>
          <a:xfrm>
            <a:off x="982241" y="3424598"/>
            <a:ext cx="1589650" cy="2002201"/>
            <a:chOff x="1236241" y="3424598"/>
            <a:chExt cx="1589650" cy="2002201"/>
          </a:xfrm>
        </p:grpSpPr>
        <p:sp>
          <p:nvSpPr>
            <p:cNvPr id="36" name="テキスト ボックス 35"/>
            <p:cNvSpPr txBox="1"/>
            <p:nvPr/>
          </p:nvSpPr>
          <p:spPr>
            <a:xfrm>
              <a:off x="1236242" y="4903579"/>
              <a:ext cx="1589649" cy="523220"/>
            </a:xfrm>
            <a:prstGeom prst="rect">
              <a:avLst/>
            </a:prstGeom>
            <a:noFill/>
          </p:spPr>
          <p:txBody>
            <a:bodyPr wrap="square" rtlCol="0">
              <a:spAutoFit/>
            </a:bodyPr>
            <a:lstStyle/>
            <a:p>
              <a:pPr algn="ctr"/>
              <a:r>
                <a:rPr kumimoji="1" lang="en-US" altLang="ja-JP" sz="2800" dirty="0" smtClean="0"/>
                <a:t>feature </a:t>
              </a:r>
              <a:r>
                <a:rPr kumimoji="1" lang="en-US" altLang="ja-JP" sz="2800" i="1" dirty="0" smtClean="0">
                  <a:latin typeface="Times New Roman" panose="02020603050405020304" pitchFamily="18" charset="0"/>
                  <a:cs typeface="Times New Roman" panose="02020603050405020304" pitchFamily="18" charset="0"/>
                </a:rPr>
                <a:t>n</a:t>
              </a:r>
              <a:endParaRPr kumimoji="1" lang="ja-JP" altLang="en-US" sz="2800" i="1" dirty="0" smtClean="0">
                <a:latin typeface="Times New Roman" panose="02020603050405020304" pitchFamily="18" charset="0"/>
                <a:cs typeface="Times New Roman" panose="02020603050405020304" pitchFamily="18" charset="0"/>
              </a:endParaRPr>
            </a:p>
          </p:txBody>
        </p:sp>
        <p:sp>
          <p:nvSpPr>
            <p:cNvPr id="37" name="テキスト ボックス 36"/>
            <p:cNvSpPr txBox="1"/>
            <p:nvPr/>
          </p:nvSpPr>
          <p:spPr>
            <a:xfrm>
              <a:off x="1723290" y="4093730"/>
              <a:ext cx="615553" cy="663936"/>
            </a:xfrm>
            <a:prstGeom prst="rect">
              <a:avLst/>
            </a:prstGeom>
            <a:noFill/>
          </p:spPr>
          <p:txBody>
            <a:bodyPr vert="eaVert" wrap="square" rtlCol="0">
              <a:spAutoFit/>
            </a:bodyPr>
            <a:lstStyle/>
            <a:p>
              <a:pPr algn="ctr"/>
              <a:r>
                <a:rPr lang="ja-JP" altLang="en-US" sz="2800" dirty="0"/>
                <a:t>･･･</a:t>
              </a:r>
              <a:endParaRPr kumimoji="1" lang="ja-JP" altLang="en-US" sz="2800" dirty="0" smtClean="0"/>
            </a:p>
          </p:txBody>
        </p:sp>
        <p:sp>
          <p:nvSpPr>
            <p:cNvPr id="38" name="テキスト ボックス 37"/>
            <p:cNvSpPr txBox="1"/>
            <p:nvPr/>
          </p:nvSpPr>
          <p:spPr>
            <a:xfrm>
              <a:off x="1236241" y="3424598"/>
              <a:ext cx="1589649" cy="523220"/>
            </a:xfrm>
            <a:prstGeom prst="rect">
              <a:avLst/>
            </a:prstGeom>
            <a:noFill/>
          </p:spPr>
          <p:txBody>
            <a:bodyPr wrap="square" rtlCol="0">
              <a:spAutoFit/>
            </a:bodyPr>
            <a:lstStyle/>
            <a:p>
              <a:pPr algn="ctr"/>
              <a:r>
                <a:rPr kumimoji="1" lang="en-US" altLang="ja-JP" sz="2800" dirty="0" smtClean="0"/>
                <a:t>feature 3</a:t>
              </a:r>
              <a:endParaRPr kumimoji="1" lang="ja-JP" altLang="en-US" sz="2800" dirty="0" smtClean="0"/>
            </a:p>
          </p:txBody>
        </p:sp>
      </p:grpSp>
      <p:grpSp>
        <p:nvGrpSpPr>
          <p:cNvPr id="17" name="グループ化 16"/>
          <p:cNvGrpSpPr/>
          <p:nvPr/>
        </p:nvGrpSpPr>
        <p:grpSpPr>
          <a:xfrm>
            <a:off x="5924648" y="3700553"/>
            <a:ext cx="2349304" cy="1362185"/>
            <a:chOff x="250288" y="3110411"/>
            <a:chExt cx="2349304" cy="1362185"/>
          </a:xfrm>
        </p:grpSpPr>
        <p:sp>
          <p:nvSpPr>
            <p:cNvPr id="18" name="角丸四角形 17"/>
            <p:cNvSpPr/>
            <p:nvPr/>
          </p:nvSpPr>
          <p:spPr>
            <a:xfrm>
              <a:off x="250288" y="3372021"/>
              <a:ext cx="2349304" cy="1100575"/>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p:cNvSpPr txBox="1"/>
            <p:nvPr/>
          </p:nvSpPr>
          <p:spPr>
            <a:xfrm>
              <a:off x="590553" y="3110411"/>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2</a:t>
              </a:r>
              <a:endParaRPr kumimoji="1" lang="ja-JP" altLang="en-US" sz="2800" i="1" dirty="0" smtClean="0">
                <a:latin typeface="Times New Roman" panose="02020603050405020304" pitchFamily="18" charset="0"/>
                <a:cs typeface="Times New Roman" panose="02020603050405020304" pitchFamily="18" charset="0"/>
              </a:endParaRPr>
            </a:p>
          </p:txBody>
        </p:sp>
      </p:grpSp>
      <p:sp>
        <p:nvSpPr>
          <p:cNvPr id="21" name="テキスト ボックス 20"/>
          <p:cNvSpPr txBox="1"/>
          <p:nvPr/>
        </p:nvSpPr>
        <p:spPr>
          <a:xfrm>
            <a:off x="6304474" y="4307950"/>
            <a:ext cx="1589649" cy="523220"/>
          </a:xfrm>
          <a:prstGeom prst="rect">
            <a:avLst/>
          </a:prstGeom>
          <a:noFill/>
        </p:spPr>
        <p:txBody>
          <a:bodyPr wrap="square" rtlCol="0">
            <a:spAutoFit/>
          </a:bodyPr>
          <a:lstStyle/>
          <a:p>
            <a:pPr algn="ctr"/>
            <a:r>
              <a:rPr kumimoji="1" lang="en-US" altLang="ja-JP" sz="2800" dirty="0" smtClean="0"/>
              <a:t>feature 2</a:t>
            </a:r>
            <a:endParaRPr kumimoji="1" lang="ja-JP" altLang="en-US" sz="2800" dirty="0" smtClean="0"/>
          </a:p>
        </p:txBody>
      </p:sp>
      <p:cxnSp>
        <p:nvCxnSpPr>
          <p:cNvPr id="22" name="直線矢印コネクタ 21"/>
          <p:cNvCxnSpPr>
            <a:stCxn id="38" idx="3"/>
            <a:endCxn id="23" idx="1"/>
          </p:cNvCxnSpPr>
          <p:nvPr/>
        </p:nvCxnSpPr>
        <p:spPr>
          <a:xfrm flipV="1">
            <a:off x="2571890" y="3001189"/>
            <a:ext cx="3352758" cy="685019"/>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p:cNvSpPr txBox="1"/>
          <p:nvPr/>
        </p:nvSpPr>
        <p:spPr>
          <a:xfrm>
            <a:off x="2571890" y="1789986"/>
            <a:ext cx="2458627" cy="954107"/>
          </a:xfrm>
          <a:prstGeom prst="rect">
            <a:avLst/>
          </a:prstGeom>
          <a:noFill/>
          <a:ln w="19050">
            <a:solidFill>
              <a:schemeClr val="tx1"/>
            </a:solidFill>
          </a:ln>
        </p:spPr>
        <p:txBody>
          <a:bodyPr wrap="square" rtlCol="0">
            <a:spAutoFit/>
          </a:bodyPr>
          <a:lstStyle/>
          <a:p>
            <a:pPr algn="ctr"/>
            <a:r>
              <a:rPr lang="ja-JP" altLang="en-US" sz="2800" dirty="0" smtClean="0"/>
              <a:t>非</a:t>
            </a:r>
            <a:r>
              <a:rPr lang="en-US" altLang="ja-JP" sz="2800" dirty="0" smtClean="0"/>
              <a:t>0</a:t>
            </a:r>
            <a:r>
              <a:rPr lang="ja-JP" altLang="en-US" sz="2800" dirty="0" smtClean="0"/>
              <a:t>のデータの</a:t>
            </a:r>
            <a:r>
              <a:rPr lang="ja-JP" altLang="en-US" sz="2800" dirty="0" smtClean="0"/>
              <a:t>重複率を</a:t>
            </a:r>
            <a:r>
              <a:rPr lang="ja-JP" altLang="en-US" sz="2800" dirty="0" smtClean="0"/>
              <a:t>計算</a:t>
            </a:r>
            <a:endParaRPr kumimoji="1" lang="ja-JP" altLang="en-US" sz="2800" dirty="0" smtClean="0"/>
          </a:p>
        </p:txBody>
      </p:sp>
    </p:spTree>
    <p:extLst>
      <p:ext uri="{BB962C8B-B14F-4D97-AF65-F5344CB8AC3E}">
        <p14:creationId xmlns:p14="http://schemas.microsoft.com/office/powerpoint/2010/main" val="94721990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角丸四角形 27"/>
          <p:cNvSpPr/>
          <p:nvPr/>
        </p:nvSpPr>
        <p:spPr>
          <a:xfrm>
            <a:off x="5200650" y="1663700"/>
            <a:ext cx="3797300" cy="4910301"/>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p:nvPr>
        </p:nvSpPr>
        <p:spPr/>
        <p:txBody>
          <a:bodyPr/>
          <a:lstStyle/>
          <a:p>
            <a:r>
              <a:rPr lang="en-US" altLang="ja-JP" dirty="0"/>
              <a:t>Exclusive</a:t>
            </a:r>
            <a:r>
              <a:rPr lang="ja-JP" altLang="en-US" dirty="0"/>
              <a:t> </a:t>
            </a:r>
            <a:r>
              <a:rPr lang="en-US" altLang="ja-JP" dirty="0"/>
              <a:t>Feature</a:t>
            </a:r>
            <a:r>
              <a:rPr lang="ja-JP" altLang="en-US" dirty="0"/>
              <a:t> </a:t>
            </a:r>
            <a:r>
              <a:rPr lang="en-US" altLang="ja-JP" dirty="0"/>
              <a:t>Bundling</a:t>
            </a:r>
            <a:endParaRPr kumimoji="1" lang="ja-JP" altLang="en-US" b="0"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22</a:t>
            </a:fld>
            <a:endParaRPr kumimoji="1" lang="ja-JP" altLang="en-US" dirty="0"/>
          </a:p>
        </p:txBody>
      </p:sp>
      <p:grpSp>
        <p:nvGrpSpPr>
          <p:cNvPr id="25" name="グループ化 24"/>
          <p:cNvGrpSpPr/>
          <p:nvPr/>
        </p:nvGrpSpPr>
        <p:grpSpPr>
          <a:xfrm>
            <a:off x="5924648" y="2189291"/>
            <a:ext cx="2349304" cy="1362185"/>
            <a:chOff x="250288" y="3110411"/>
            <a:chExt cx="2349304" cy="1362185"/>
          </a:xfrm>
        </p:grpSpPr>
        <p:sp>
          <p:nvSpPr>
            <p:cNvPr id="23" name="角丸四角形 22"/>
            <p:cNvSpPr/>
            <p:nvPr/>
          </p:nvSpPr>
          <p:spPr>
            <a:xfrm>
              <a:off x="250288" y="3372021"/>
              <a:ext cx="2349304" cy="1100575"/>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p:cNvSpPr txBox="1"/>
            <p:nvPr/>
          </p:nvSpPr>
          <p:spPr>
            <a:xfrm>
              <a:off x="590553" y="3110411"/>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1</a:t>
              </a:r>
              <a:endParaRPr kumimoji="1" lang="ja-JP" altLang="en-US" sz="2800" i="1" dirty="0" smtClean="0">
                <a:latin typeface="Times New Roman" panose="02020603050405020304" pitchFamily="18" charset="0"/>
                <a:cs typeface="Times New Roman" panose="02020603050405020304" pitchFamily="18" charset="0"/>
              </a:endParaRPr>
            </a:p>
          </p:txBody>
        </p:sp>
      </p:grpSp>
      <p:cxnSp>
        <p:nvCxnSpPr>
          <p:cNvPr id="9" name="直線矢印コネクタ 8"/>
          <p:cNvCxnSpPr>
            <a:stCxn id="38" idx="3"/>
            <a:endCxn id="18" idx="1"/>
          </p:cNvCxnSpPr>
          <p:nvPr/>
        </p:nvCxnSpPr>
        <p:spPr>
          <a:xfrm>
            <a:off x="2571890" y="3686208"/>
            <a:ext cx="3352758" cy="1146024"/>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p:cNvSpPr txBox="1"/>
          <p:nvPr/>
        </p:nvSpPr>
        <p:spPr>
          <a:xfrm>
            <a:off x="6264913" y="1417965"/>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a:t>
            </a:r>
            <a:endParaRPr kumimoji="1" lang="ja-JP" altLang="en-US" sz="2800" i="1" dirty="0" smtClean="0">
              <a:latin typeface="Times New Roman" panose="02020603050405020304" pitchFamily="18" charset="0"/>
              <a:cs typeface="Times New Roman" panose="02020603050405020304" pitchFamily="18" charset="0"/>
            </a:endParaRPr>
          </a:p>
        </p:txBody>
      </p:sp>
      <p:sp>
        <p:nvSpPr>
          <p:cNvPr id="29" name="テキスト ボックス 28"/>
          <p:cNvSpPr txBox="1"/>
          <p:nvPr/>
        </p:nvSpPr>
        <p:spPr>
          <a:xfrm>
            <a:off x="6304475" y="2783294"/>
            <a:ext cx="1589649" cy="523220"/>
          </a:xfrm>
          <a:prstGeom prst="rect">
            <a:avLst/>
          </a:prstGeom>
          <a:noFill/>
        </p:spPr>
        <p:txBody>
          <a:bodyPr wrap="square" rtlCol="0">
            <a:spAutoFit/>
          </a:bodyPr>
          <a:lstStyle/>
          <a:p>
            <a:pPr algn="ctr"/>
            <a:r>
              <a:rPr kumimoji="1" lang="en-US" altLang="ja-JP" sz="2800" dirty="0" smtClean="0"/>
              <a:t>feature 1</a:t>
            </a:r>
            <a:endParaRPr kumimoji="1" lang="ja-JP" altLang="en-US" sz="2800" dirty="0" smtClean="0"/>
          </a:p>
        </p:txBody>
      </p:sp>
      <p:grpSp>
        <p:nvGrpSpPr>
          <p:cNvPr id="33" name="グループ化 32"/>
          <p:cNvGrpSpPr/>
          <p:nvPr/>
        </p:nvGrpSpPr>
        <p:grpSpPr>
          <a:xfrm>
            <a:off x="982241" y="3424598"/>
            <a:ext cx="1589650" cy="2002201"/>
            <a:chOff x="1236241" y="3424598"/>
            <a:chExt cx="1589650" cy="2002201"/>
          </a:xfrm>
        </p:grpSpPr>
        <p:sp>
          <p:nvSpPr>
            <p:cNvPr id="36" name="テキスト ボックス 35"/>
            <p:cNvSpPr txBox="1"/>
            <p:nvPr/>
          </p:nvSpPr>
          <p:spPr>
            <a:xfrm>
              <a:off x="1236242" y="4903579"/>
              <a:ext cx="1589649" cy="523220"/>
            </a:xfrm>
            <a:prstGeom prst="rect">
              <a:avLst/>
            </a:prstGeom>
            <a:noFill/>
          </p:spPr>
          <p:txBody>
            <a:bodyPr wrap="square" rtlCol="0">
              <a:spAutoFit/>
            </a:bodyPr>
            <a:lstStyle/>
            <a:p>
              <a:pPr algn="ctr"/>
              <a:r>
                <a:rPr kumimoji="1" lang="en-US" altLang="ja-JP" sz="2800" dirty="0" smtClean="0"/>
                <a:t>feature </a:t>
              </a:r>
              <a:r>
                <a:rPr kumimoji="1" lang="en-US" altLang="ja-JP" sz="2800" i="1" dirty="0" smtClean="0">
                  <a:latin typeface="Times New Roman" panose="02020603050405020304" pitchFamily="18" charset="0"/>
                  <a:cs typeface="Times New Roman" panose="02020603050405020304" pitchFamily="18" charset="0"/>
                </a:rPr>
                <a:t>n</a:t>
              </a:r>
              <a:endParaRPr kumimoji="1" lang="ja-JP" altLang="en-US" sz="2800" i="1" dirty="0" smtClean="0">
                <a:latin typeface="Times New Roman" panose="02020603050405020304" pitchFamily="18" charset="0"/>
                <a:cs typeface="Times New Roman" panose="02020603050405020304" pitchFamily="18" charset="0"/>
              </a:endParaRPr>
            </a:p>
          </p:txBody>
        </p:sp>
        <p:sp>
          <p:nvSpPr>
            <p:cNvPr id="37" name="テキスト ボックス 36"/>
            <p:cNvSpPr txBox="1"/>
            <p:nvPr/>
          </p:nvSpPr>
          <p:spPr>
            <a:xfrm>
              <a:off x="1723290" y="4093730"/>
              <a:ext cx="615553" cy="663936"/>
            </a:xfrm>
            <a:prstGeom prst="rect">
              <a:avLst/>
            </a:prstGeom>
            <a:noFill/>
          </p:spPr>
          <p:txBody>
            <a:bodyPr vert="eaVert" wrap="square" rtlCol="0">
              <a:spAutoFit/>
            </a:bodyPr>
            <a:lstStyle/>
            <a:p>
              <a:pPr algn="ctr"/>
              <a:r>
                <a:rPr lang="ja-JP" altLang="en-US" sz="2800" dirty="0"/>
                <a:t>･･･</a:t>
              </a:r>
              <a:endParaRPr kumimoji="1" lang="ja-JP" altLang="en-US" sz="2800" dirty="0" smtClean="0"/>
            </a:p>
          </p:txBody>
        </p:sp>
        <p:sp>
          <p:nvSpPr>
            <p:cNvPr id="38" name="テキスト ボックス 37"/>
            <p:cNvSpPr txBox="1"/>
            <p:nvPr/>
          </p:nvSpPr>
          <p:spPr>
            <a:xfrm>
              <a:off x="1236241" y="3424598"/>
              <a:ext cx="1589649" cy="523220"/>
            </a:xfrm>
            <a:prstGeom prst="rect">
              <a:avLst/>
            </a:prstGeom>
            <a:noFill/>
          </p:spPr>
          <p:txBody>
            <a:bodyPr wrap="square" rtlCol="0">
              <a:spAutoFit/>
            </a:bodyPr>
            <a:lstStyle/>
            <a:p>
              <a:pPr algn="ctr"/>
              <a:r>
                <a:rPr kumimoji="1" lang="en-US" altLang="ja-JP" sz="2800" dirty="0" smtClean="0"/>
                <a:t>feature 3</a:t>
              </a:r>
              <a:endParaRPr kumimoji="1" lang="ja-JP" altLang="en-US" sz="2800" dirty="0" smtClean="0"/>
            </a:p>
          </p:txBody>
        </p:sp>
      </p:grpSp>
      <p:grpSp>
        <p:nvGrpSpPr>
          <p:cNvPr id="17" name="グループ化 16"/>
          <p:cNvGrpSpPr/>
          <p:nvPr/>
        </p:nvGrpSpPr>
        <p:grpSpPr>
          <a:xfrm>
            <a:off x="5924648" y="3700553"/>
            <a:ext cx="2349304" cy="2001747"/>
            <a:chOff x="250288" y="3110411"/>
            <a:chExt cx="2349304" cy="2001747"/>
          </a:xfrm>
        </p:grpSpPr>
        <p:sp>
          <p:nvSpPr>
            <p:cNvPr id="18" name="角丸四角形 17"/>
            <p:cNvSpPr/>
            <p:nvPr/>
          </p:nvSpPr>
          <p:spPr>
            <a:xfrm>
              <a:off x="250288" y="3372021"/>
              <a:ext cx="2349304" cy="1740137"/>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p:cNvSpPr txBox="1"/>
            <p:nvPr/>
          </p:nvSpPr>
          <p:spPr>
            <a:xfrm>
              <a:off x="590553" y="3110411"/>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2</a:t>
              </a:r>
              <a:endParaRPr kumimoji="1" lang="ja-JP" altLang="en-US" sz="2800" i="1" dirty="0" smtClean="0">
                <a:latin typeface="Times New Roman" panose="02020603050405020304" pitchFamily="18" charset="0"/>
                <a:cs typeface="Times New Roman" panose="02020603050405020304" pitchFamily="18" charset="0"/>
              </a:endParaRPr>
            </a:p>
          </p:txBody>
        </p:sp>
      </p:grpSp>
      <p:sp>
        <p:nvSpPr>
          <p:cNvPr id="21" name="テキスト ボックス 20"/>
          <p:cNvSpPr txBox="1"/>
          <p:nvPr/>
        </p:nvSpPr>
        <p:spPr>
          <a:xfrm>
            <a:off x="6304474" y="4307950"/>
            <a:ext cx="1589649" cy="523220"/>
          </a:xfrm>
          <a:prstGeom prst="rect">
            <a:avLst/>
          </a:prstGeom>
          <a:noFill/>
        </p:spPr>
        <p:txBody>
          <a:bodyPr wrap="square" rtlCol="0">
            <a:spAutoFit/>
          </a:bodyPr>
          <a:lstStyle/>
          <a:p>
            <a:pPr algn="ctr"/>
            <a:r>
              <a:rPr kumimoji="1" lang="en-US" altLang="ja-JP" sz="2800" dirty="0" smtClean="0"/>
              <a:t>feature 2</a:t>
            </a:r>
            <a:endParaRPr kumimoji="1" lang="ja-JP" altLang="en-US" sz="2800" dirty="0" smtClean="0"/>
          </a:p>
        </p:txBody>
      </p:sp>
      <p:sp>
        <p:nvSpPr>
          <p:cNvPr id="30" name="テキスト ボックス 29"/>
          <p:cNvSpPr txBox="1"/>
          <p:nvPr/>
        </p:nvSpPr>
        <p:spPr>
          <a:xfrm>
            <a:off x="6304473" y="4911755"/>
            <a:ext cx="1589649" cy="523220"/>
          </a:xfrm>
          <a:prstGeom prst="rect">
            <a:avLst/>
          </a:prstGeom>
          <a:noFill/>
        </p:spPr>
        <p:txBody>
          <a:bodyPr wrap="square" rtlCol="0">
            <a:spAutoFit/>
          </a:bodyPr>
          <a:lstStyle/>
          <a:p>
            <a:pPr algn="ctr"/>
            <a:r>
              <a:rPr kumimoji="1" lang="en-US" altLang="ja-JP" sz="2800" dirty="0" smtClean="0"/>
              <a:t>feature 3</a:t>
            </a:r>
            <a:endParaRPr kumimoji="1" lang="ja-JP" altLang="en-US" sz="2800" dirty="0" smtClean="0"/>
          </a:p>
        </p:txBody>
      </p:sp>
    </p:spTree>
    <p:extLst>
      <p:ext uri="{BB962C8B-B14F-4D97-AF65-F5344CB8AC3E}">
        <p14:creationId xmlns:p14="http://schemas.microsoft.com/office/powerpoint/2010/main" val="793710950"/>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smtClean="0"/>
              <a:t>数値実験</a:t>
            </a:r>
            <a:endParaRPr kumimoji="1" lang="ja-JP" altLang="en-US" dirty="0"/>
          </a:p>
        </p:txBody>
      </p:sp>
      <p:sp>
        <p:nvSpPr>
          <p:cNvPr id="4" name="コンテンツ プレースホルダー 3"/>
          <p:cNvSpPr>
            <a:spLocks noGrp="1"/>
          </p:cNvSpPr>
          <p:nvPr>
            <p:ph idx="1"/>
          </p:nvPr>
        </p:nvSpPr>
        <p:spPr/>
        <p:txBody>
          <a:bodyPr/>
          <a:lstStyle/>
          <a:p>
            <a:r>
              <a:rPr kumimoji="1" lang="ja-JP" altLang="en-US" dirty="0" smtClean="0"/>
              <a:t>比較モデルには以下のモデルを使用</a:t>
            </a:r>
            <a:endParaRPr kumimoji="1" lang="en-US" altLang="ja-JP" dirty="0" smtClean="0"/>
          </a:p>
          <a:p>
            <a:pPr marL="457200" indent="-457200">
              <a:buFont typeface="Arial" panose="020B0604020202020204" pitchFamily="34" charset="0"/>
              <a:buChar char="•"/>
            </a:pPr>
            <a:r>
              <a:rPr kumimoji="1" lang="en-US" altLang="ja-JP" dirty="0" err="1" smtClean="0"/>
              <a:t>XGBoost</a:t>
            </a:r>
            <a:endParaRPr kumimoji="1" lang="en-US" altLang="ja-JP" dirty="0" smtClean="0"/>
          </a:p>
          <a:p>
            <a:pPr marL="800100" lvl="1" indent="-457200">
              <a:buFont typeface="Arial" panose="020B0604020202020204" pitchFamily="34" charset="0"/>
              <a:buChar char="•"/>
            </a:pPr>
            <a:r>
              <a:rPr lang="en-US" altLang="ja-JP" dirty="0"/>
              <a:t>pre-</a:t>
            </a:r>
            <a:r>
              <a:rPr lang="en-US" altLang="ja-JP" dirty="0" err="1"/>
              <a:t>soated</a:t>
            </a:r>
            <a:r>
              <a:rPr lang="en-US" altLang="ja-JP" dirty="0"/>
              <a:t> algorithm</a:t>
            </a:r>
            <a:r>
              <a:rPr lang="ja-JP" altLang="en-US" dirty="0" smtClean="0"/>
              <a:t>を使用</a:t>
            </a:r>
            <a:r>
              <a:rPr lang="en-US" altLang="ja-JP" dirty="0" smtClean="0"/>
              <a:t>(</a:t>
            </a:r>
            <a:r>
              <a:rPr lang="en-US" altLang="ja-JP" dirty="0" err="1" smtClean="0"/>
              <a:t>xgb_exa</a:t>
            </a:r>
            <a:r>
              <a:rPr lang="en-US" altLang="ja-JP" dirty="0" smtClean="0"/>
              <a:t>)</a:t>
            </a:r>
          </a:p>
          <a:p>
            <a:pPr marL="800100" lvl="1" indent="-457200">
              <a:buFont typeface="Arial" panose="020B0604020202020204" pitchFamily="34" charset="0"/>
              <a:buChar char="•"/>
            </a:pPr>
            <a:r>
              <a:rPr lang="en-US" altLang="ja-JP" dirty="0"/>
              <a:t>histogram-based </a:t>
            </a:r>
            <a:r>
              <a:rPr lang="en-US" altLang="ja-JP" dirty="0" smtClean="0"/>
              <a:t>algorithm</a:t>
            </a:r>
            <a:r>
              <a:rPr lang="ja-JP" altLang="en-US" dirty="0" smtClean="0"/>
              <a:t>を使用</a:t>
            </a:r>
            <a:r>
              <a:rPr lang="en-US" altLang="ja-JP" dirty="0" smtClean="0"/>
              <a:t>(</a:t>
            </a:r>
            <a:r>
              <a:rPr lang="en-US" altLang="ja-JP" dirty="0" err="1" smtClean="0"/>
              <a:t>xgb_his</a:t>
            </a:r>
            <a:r>
              <a:rPr lang="en-US" altLang="ja-JP" dirty="0" smtClean="0"/>
              <a:t>)</a:t>
            </a:r>
          </a:p>
          <a:p>
            <a:pPr marL="457200" indent="-457200">
              <a:buFont typeface="Arial" panose="020B0604020202020204" pitchFamily="34" charset="0"/>
              <a:buChar char="•"/>
            </a:pPr>
            <a:r>
              <a:rPr kumimoji="1" lang="en-US" altLang="ja-JP" dirty="0" err="1" smtClean="0"/>
              <a:t>LightGBM</a:t>
            </a:r>
            <a:endParaRPr kumimoji="1" lang="en-US" altLang="ja-JP" dirty="0" smtClean="0"/>
          </a:p>
          <a:p>
            <a:pPr marL="800100" lvl="1" indent="-457200">
              <a:buFont typeface="Arial" panose="020B0604020202020204" pitchFamily="34" charset="0"/>
              <a:buChar char="•"/>
            </a:pPr>
            <a:r>
              <a:rPr lang="en-US" altLang="ja-JP" dirty="0" smtClean="0"/>
              <a:t>GOSS</a:t>
            </a:r>
            <a:r>
              <a:rPr lang="ja-JP" altLang="en-US" dirty="0" err="1" smtClean="0"/>
              <a:t>，</a:t>
            </a:r>
            <a:r>
              <a:rPr lang="en-US" altLang="ja-JP" dirty="0" smtClean="0"/>
              <a:t>EFB</a:t>
            </a:r>
            <a:r>
              <a:rPr lang="ja-JP" altLang="en-US" dirty="0" smtClean="0"/>
              <a:t>を使用しない</a:t>
            </a:r>
            <a:r>
              <a:rPr lang="en-US" altLang="ja-JP" dirty="0" smtClean="0"/>
              <a:t>(</a:t>
            </a:r>
            <a:r>
              <a:rPr lang="en-US" altLang="ja-JP" dirty="0" err="1" smtClean="0"/>
              <a:t>lgb_baseline</a:t>
            </a:r>
            <a:r>
              <a:rPr lang="en-US" altLang="ja-JP" dirty="0" smtClean="0"/>
              <a:t>)</a:t>
            </a:r>
          </a:p>
          <a:p>
            <a:pPr marL="800100" lvl="1" indent="-457200">
              <a:buFont typeface="Arial" panose="020B0604020202020204" pitchFamily="34" charset="0"/>
              <a:buChar char="•"/>
            </a:pPr>
            <a:r>
              <a:rPr kumimoji="1" lang="en-US" altLang="ja-JP" dirty="0" smtClean="0"/>
              <a:t>EFB</a:t>
            </a:r>
            <a:r>
              <a:rPr kumimoji="1" lang="ja-JP" altLang="en-US" dirty="0" smtClean="0"/>
              <a:t>のみ使用</a:t>
            </a:r>
            <a:r>
              <a:rPr kumimoji="1" lang="en-US" altLang="ja-JP" dirty="0" smtClean="0"/>
              <a:t>(</a:t>
            </a:r>
            <a:r>
              <a:rPr kumimoji="1" lang="en-US" altLang="ja-JP" dirty="0" err="1" smtClean="0"/>
              <a:t>EFB_only</a:t>
            </a:r>
            <a:r>
              <a:rPr kumimoji="1" lang="en-US" altLang="ja-JP" dirty="0" smtClean="0"/>
              <a:t>)</a:t>
            </a:r>
          </a:p>
          <a:p>
            <a:pPr marL="800100" lvl="1" indent="-457200">
              <a:buFont typeface="Arial" panose="020B0604020202020204" pitchFamily="34" charset="0"/>
              <a:buChar char="•"/>
            </a:pPr>
            <a:r>
              <a:rPr lang="en-US" altLang="ja-JP" dirty="0" smtClean="0"/>
              <a:t>GOSS</a:t>
            </a:r>
            <a:r>
              <a:rPr lang="ja-JP" altLang="en-US" dirty="0" err="1" smtClean="0"/>
              <a:t>，</a:t>
            </a:r>
            <a:r>
              <a:rPr lang="en-US" altLang="ja-JP" dirty="0" smtClean="0"/>
              <a:t>EFB</a:t>
            </a:r>
            <a:r>
              <a:rPr lang="ja-JP" altLang="en-US" dirty="0" smtClean="0"/>
              <a:t>を使用</a:t>
            </a:r>
            <a:r>
              <a:rPr lang="en-US" altLang="ja-JP" dirty="0" smtClean="0"/>
              <a:t>(</a:t>
            </a:r>
            <a:r>
              <a:rPr lang="en-US" altLang="ja-JP" dirty="0" err="1" smtClean="0"/>
              <a:t>LightGBM</a:t>
            </a:r>
            <a:r>
              <a:rPr lang="en-US" altLang="ja-JP" dirty="0" smtClean="0"/>
              <a:t>)</a:t>
            </a:r>
            <a:endParaRPr lang="en-US" altLang="ja-JP" dirty="0" smtClean="0"/>
          </a:p>
          <a:p>
            <a:r>
              <a:rPr lang="en-US" altLang="ja-JP" dirty="0"/>
              <a:t/>
            </a:r>
            <a:br>
              <a:rPr lang="en-US" altLang="ja-JP" dirty="0"/>
            </a:br>
            <a:r>
              <a:rPr lang="en-US" altLang="ja-JP" dirty="0" smtClean="0"/>
              <a:t>GOSS</a:t>
            </a:r>
            <a:r>
              <a:rPr lang="ja-JP" altLang="en-US" dirty="0" smtClean="0"/>
              <a:t>の性能を評価するため</a:t>
            </a:r>
            <a:r>
              <a:rPr lang="en-US" altLang="ja-JP" dirty="0" smtClean="0"/>
              <a:t>SGB</a:t>
            </a:r>
            <a:r>
              <a:rPr lang="ja-JP" altLang="en-US" dirty="0" smtClean="0"/>
              <a:t>とも比較</a:t>
            </a:r>
            <a:r>
              <a:rPr lang="ja-JP" altLang="en-US" dirty="0" smtClean="0"/>
              <a:t>する</a:t>
            </a:r>
            <a:endParaRPr lang="en-US" altLang="ja-JP" dirty="0" smtClean="0"/>
          </a:p>
        </p:txBody>
      </p:sp>
      <p:sp>
        <p:nvSpPr>
          <p:cNvPr id="3" name="スライド番号プレースホルダー 2"/>
          <p:cNvSpPr>
            <a:spLocks noGrp="1"/>
          </p:cNvSpPr>
          <p:nvPr>
            <p:ph type="sldNum" sz="quarter" idx="12"/>
          </p:nvPr>
        </p:nvSpPr>
        <p:spPr/>
        <p:txBody>
          <a:bodyPr/>
          <a:lstStyle/>
          <a:p>
            <a:fld id="{B5C67937-D10B-4F1B-BCB2-26B69D4AE1E2}" type="slidenum">
              <a:rPr kumimoji="1" lang="ja-JP" altLang="en-US" smtClean="0"/>
              <a:pPr/>
              <a:t>23</a:t>
            </a:fld>
            <a:endParaRPr kumimoji="1" lang="ja-JP" altLang="en-US" dirty="0"/>
          </a:p>
        </p:txBody>
      </p:sp>
    </p:spTree>
    <p:extLst>
      <p:ext uri="{BB962C8B-B14F-4D97-AF65-F5344CB8AC3E}">
        <p14:creationId xmlns:p14="http://schemas.microsoft.com/office/powerpoint/2010/main" val="168350023"/>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smtClean="0"/>
              <a:t>数値実験</a:t>
            </a:r>
            <a:endParaRPr kumimoji="1" lang="ja-JP" altLang="en-US" dirty="0"/>
          </a:p>
        </p:txBody>
      </p:sp>
      <p:sp>
        <p:nvSpPr>
          <p:cNvPr id="3" name="コンテンツ プレースホルダー 2"/>
          <p:cNvSpPr>
            <a:spLocks noGrp="1"/>
          </p:cNvSpPr>
          <p:nvPr>
            <p:ph idx="1"/>
          </p:nvPr>
        </p:nvSpPr>
        <p:spPr/>
        <p:txBody>
          <a:bodyPr/>
          <a:lstStyle/>
          <a:p>
            <a:r>
              <a:rPr kumimoji="1" lang="ja-JP" altLang="en-US" dirty="0" smtClean="0"/>
              <a:t>使用するデータセット</a:t>
            </a:r>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24</a:t>
            </a:fld>
            <a:endParaRPr kumimoji="1" lang="ja-JP" altLang="en-US" dirty="0"/>
          </a:p>
        </p:txBody>
      </p:sp>
      <p:graphicFrame>
        <p:nvGraphicFramePr>
          <p:cNvPr id="6" name="表 5"/>
          <p:cNvGraphicFramePr>
            <a:graphicFrameLocks noGrp="1"/>
          </p:cNvGraphicFramePr>
          <p:nvPr>
            <p:extLst>
              <p:ext uri="{D42A27DB-BD31-4B8C-83A1-F6EECF244321}">
                <p14:modId xmlns:p14="http://schemas.microsoft.com/office/powerpoint/2010/main" val="4138034376"/>
              </p:ext>
            </p:extLst>
          </p:nvPr>
        </p:nvGraphicFramePr>
        <p:xfrm>
          <a:off x="14068" y="2042160"/>
          <a:ext cx="9096184" cy="3840480"/>
        </p:xfrm>
        <a:graphic>
          <a:graphicData uri="http://schemas.openxmlformats.org/drawingml/2006/table">
            <a:tbl>
              <a:tblPr firstRow="1" bandRow="1">
                <a:tableStyleId>{5C22544A-7EE6-4342-B048-85BDC9FD1C3A}</a:tableStyleId>
              </a:tblPr>
              <a:tblGrid>
                <a:gridCol w="1878330"/>
                <a:gridCol w="1102043"/>
                <a:gridCol w="1461897"/>
                <a:gridCol w="1794192"/>
                <a:gridCol w="1694180"/>
                <a:gridCol w="1165542"/>
              </a:tblGrid>
              <a:tr h="370840">
                <a:tc>
                  <a:txBody>
                    <a:bodyPr/>
                    <a:lstStyle/>
                    <a:p>
                      <a:pPr algn="ctr"/>
                      <a:r>
                        <a:rPr kumimoji="1" lang="en-US" altLang="ja-JP" sz="2800" b="0" dirty="0" smtClean="0">
                          <a:solidFill>
                            <a:sysClr val="windowText" lastClr="000000"/>
                          </a:solidFill>
                        </a:rPr>
                        <a:t>Name</a:t>
                      </a:r>
                      <a:endParaRPr kumimoji="1" lang="ja-JP" altLang="en-US" sz="28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a:t>
                      </a:r>
                      <a:r>
                        <a:rPr kumimoji="1" lang="en-US" altLang="ja-JP" sz="2800" b="0" i="1" dirty="0" smtClean="0">
                          <a:solidFill>
                            <a:sysClr val="windowText" lastClr="000000"/>
                          </a:solidFill>
                          <a:latin typeface="Times New Roman" panose="02020603050405020304" pitchFamily="18" charset="0"/>
                          <a:cs typeface="Times New Roman" panose="02020603050405020304" pitchFamily="18" charset="0"/>
                        </a:rPr>
                        <a:t>data</a:t>
                      </a:r>
                      <a:endParaRPr kumimoji="1" lang="ja-JP" altLang="en-US" sz="2800" b="0" i="1" dirty="0">
                        <a:solidFill>
                          <a:sysClr val="windowText" lastClr="000000"/>
                        </a:solidFill>
                        <a:latin typeface="Times New Roman" panose="02020603050405020304" pitchFamily="18" charset="0"/>
                        <a:cs typeface="Times New Roman" panose="02020603050405020304" pitchFamily="18" charset="0"/>
                      </a:endParaRPr>
                    </a:p>
                  </a:txBody>
                  <a:tcPr anchor="ctr">
                    <a:lnL w="285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a:t>
                      </a:r>
                      <a:r>
                        <a:rPr kumimoji="1" lang="en-US" altLang="ja-JP" sz="2800" b="0" i="1" dirty="0" smtClean="0">
                          <a:solidFill>
                            <a:sysClr val="windowText" lastClr="000000"/>
                          </a:solidFill>
                          <a:latin typeface="Times New Roman" panose="02020603050405020304" pitchFamily="18" charset="0"/>
                          <a:cs typeface="Times New Roman" panose="02020603050405020304" pitchFamily="18" charset="0"/>
                        </a:rPr>
                        <a:t>feature</a:t>
                      </a:r>
                      <a:endParaRPr kumimoji="1" lang="ja-JP" altLang="en-US" sz="2800" b="0" i="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400" b="0" kern="1200" dirty="0" smtClean="0">
                          <a:solidFill>
                            <a:schemeClr val="tx1"/>
                          </a:solidFill>
                          <a:effectLst/>
                          <a:latin typeface="+mn-lt"/>
                          <a:ea typeface="+mn-ea"/>
                          <a:cs typeface="+mn-cs"/>
                        </a:rPr>
                        <a:t>Description</a:t>
                      </a:r>
                      <a:endParaRPr kumimoji="1" lang="ja-JP" altLang="en-US" sz="2400" b="0" dirty="0">
                        <a:solidFill>
                          <a:schemeClr val="tx1"/>
                        </a:solidFill>
                      </a:endParaRPr>
                    </a:p>
                  </a:txBody>
                  <a:tcPr anchor="ctr">
                    <a:lnL w="285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Task</a:t>
                      </a:r>
                      <a:endParaRPr kumimoji="1" lang="ja-JP" altLang="en-US" sz="2800" b="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Metric</a:t>
                      </a:r>
                      <a:endParaRPr kumimoji="1" lang="ja-JP" altLang="en-US" sz="2400" b="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r>
              <a:tr h="370840">
                <a:tc>
                  <a:txBody>
                    <a:bodyPr/>
                    <a:lstStyle/>
                    <a:p>
                      <a:pPr algn="ctr"/>
                      <a:r>
                        <a:rPr kumimoji="1" lang="en-US" altLang="ja-JP" sz="2800" b="0" dirty="0" err="1" smtClean="0">
                          <a:solidFill>
                            <a:sysClr val="windowText" lastClr="000000"/>
                          </a:solidFill>
                        </a:rPr>
                        <a:t>Allsate</a:t>
                      </a:r>
                      <a:endParaRPr kumimoji="1" lang="ja-JP" altLang="en-US" sz="28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12</a:t>
                      </a:r>
                      <a:r>
                        <a:rPr kumimoji="1" lang="en-US" altLang="ja-JP" sz="2800" b="0" baseline="0" dirty="0" smtClean="0">
                          <a:solidFill>
                            <a:sysClr val="windowText" lastClr="000000"/>
                          </a:solidFill>
                        </a:rPr>
                        <a:t> M</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4228</a:t>
                      </a:r>
                      <a:endParaRPr kumimoji="1" lang="ja-JP" altLang="en-US" sz="28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Sparse</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000" b="0" dirty="0" smtClean="0">
                          <a:solidFill>
                            <a:sysClr val="windowText" lastClr="000000"/>
                          </a:solidFill>
                        </a:rPr>
                        <a:t>Binary</a:t>
                      </a:r>
                      <a:br>
                        <a:rPr kumimoji="1" lang="en-US" altLang="ja-JP" sz="2000" b="0" dirty="0" smtClean="0">
                          <a:solidFill>
                            <a:sysClr val="windowText" lastClr="000000"/>
                          </a:solidFill>
                        </a:rPr>
                      </a:br>
                      <a:r>
                        <a:rPr kumimoji="1" lang="en-US" altLang="ja-JP" sz="2000" b="0" dirty="0" smtClean="0">
                          <a:solidFill>
                            <a:sysClr val="windowText" lastClr="000000"/>
                          </a:solidFill>
                        </a:rPr>
                        <a:t>classification</a:t>
                      </a:r>
                      <a:endParaRPr kumimoji="1" lang="ja-JP" altLang="en-US" sz="2000" b="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AUC</a:t>
                      </a:r>
                      <a:endParaRPr kumimoji="1" lang="ja-JP" altLang="en-US" sz="2400" b="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r>
              <a:tr h="370840">
                <a:tc>
                  <a:txBody>
                    <a:bodyPr/>
                    <a:lstStyle/>
                    <a:p>
                      <a:pPr algn="ctr"/>
                      <a:r>
                        <a:rPr kumimoji="1" lang="en-US" altLang="ja-JP" sz="2400" b="0" dirty="0" smtClean="0">
                          <a:solidFill>
                            <a:sysClr val="windowText" lastClr="000000"/>
                          </a:solidFill>
                        </a:rPr>
                        <a:t>Flight Delay</a:t>
                      </a:r>
                      <a:endParaRPr kumimoji="1" lang="ja-JP" altLang="en-US" sz="24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10 M</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700</a:t>
                      </a:r>
                      <a:endParaRPr kumimoji="1" lang="ja-JP" altLang="en-US" sz="28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Sparse</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000" b="0" dirty="0" smtClean="0">
                          <a:solidFill>
                            <a:sysClr val="windowText" lastClr="000000"/>
                          </a:solidFill>
                        </a:rPr>
                        <a:t>Binary</a:t>
                      </a:r>
                      <a:br>
                        <a:rPr kumimoji="1" lang="en-US" altLang="ja-JP" sz="2000" b="0" dirty="0" smtClean="0">
                          <a:solidFill>
                            <a:sysClr val="windowText" lastClr="000000"/>
                          </a:solidFill>
                        </a:rPr>
                      </a:br>
                      <a:r>
                        <a:rPr kumimoji="1" lang="en-US" altLang="ja-JP" sz="2000" b="0" dirty="0" smtClean="0">
                          <a:solidFill>
                            <a:sysClr val="windowText" lastClr="000000"/>
                          </a:solidFill>
                        </a:rPr>
                        <a:t>classification</a:t>
                      </a:r>
                      <a:endParaRPr kumimoji="1" lang="ja-JP" altLang="en-US" sz="2000" b="0" dirty="0" smtClean="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AUC</a:t>
                      </a:r>
                      <a:endParaRPr kumimoji="1" lang="ja-JP" altLang="en-US" sz="2400" b="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r>
              <a:tr h="370840">
                <a:tc>
                  <a:txBody>
                    <a:bodyPr/>
                    <a:lstStyle/>
                    <a:p>
                      <a:pPr algn="ctr"/>
                      <a:r>
                        <a:rPr kumimoji="1" lang="en-US" altLang="ja-JP" sz="2800" b="0" dirty="0" smtClean="0">
                          <a:solidFill>
                            <a:sysClr val="windowText" lastClr="000000"/>
                          </a:solidFill>
                        </a:rPr>
                        <a:t>LETOR</a:t>
                      </a:r>
                      <a:endParaRPr kumimoji="1" lang="ja-JP" altLang="en-US" sz="28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2 M</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136</a:t>
                      </a:r>
                      <a:endParaRPr kumimoji="1" lang="ja-JP" altLang="en-US" sz="28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Dense</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800" b="0" dirty="0" smtClean="0">
                          <a:solidFill>
                            <a:sysClr val="windowText" lastClr="000000"/>
                          </a:solidFill>
                        </a:rPr>
                        <a:t>Ranking</a:t>
                      </a:r>
                      <a:endParaRPr kumimoji="1" lang="ja-JP" altLang="en-US" sz="2800" b="0" dirty="0" smtClean="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NDCG</a:t>
                      </a:r>
                      <a:endParaRPr kumimoji="1" lang="ja-JP" altLang="en-US" sz="2400" b="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r>
              <a:tr h="370840">
                <a:tc>
                  <a:txBody>
                    <a:bodyPr/>
                    <a:lstStyle/>
                    <a:p>
                      <a:pPr algn="ctr"/>
                      <a:r>
                        <a:rPr kumimoji="1" lang="en-US" altLang="ja-JP" sz="2800" b="0" dirty="0" smtClean="0">
                          <a:solidFill>
                            <a:sysClr val="windowText" lastClr="000000"/>
                          </a:solidFill>
                        </a:rPr>
                        <a:t>KDD10</a:t>
                      </a: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19 M</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29 M</a:t>
                      </a:r>
                      <a:endParaRPr kumimoji="1" lang="ja-JP" altLang="en-US" sz="28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Sparse</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000" b="0" dirty="0" smtClean="0">
                          <a:solidFill>
                            <a:sysClr val="windowText" lastClr="000000"/>
                          </a:solidFill>
                        </a:rPr>
                        <a:t>Binary</a:t>
                      </a:r>
                      <a:br>
                        <a:rPr kumimoji="1" lang="en-US" altLang="ja-JP" sz="2000" b="0" dirty="0" smtClean="0">
                          <a:solidFill>
                            <a:sysClr val="windowText" lastClr="000000"/>
                          </a:solidFill>
                        </a:rPr>
                      </a:br>
                      <a:r>
                        <a:rPr kumimoji="1" lang="en-US" altLang="ja-JP" sz="2000" b="0" dirty="0" smtClean="0">
                          <a:solidFill>
                            <a:sysClr val="windowText" lastClr="000000"/>
                          </a:solidFill>
                        </a:rPr>
                        <a:t>classification</a:t>
                      </a:r>
                      <a:endParaRPr kumimoji="1" lang="ja-JP" altLang="en-US" sz="2000" b="0" dirty="0" smtClean="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AUC</a:t>
                      </a:r>
                      <a:endParaRPr kumimoji="1" lang="ja-JP" altLang="en-US" sz="2400" b="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r>
              <a:tr h="370840">
                <a:tc>
                  <a:txBody>
                    <a:bodyPr/>
                    <a:lstStyle/>
                    <a:p>
                      <a:pPr algn="ctr"/>
                      <a:r>
                        <a:rPr kumimoji="1" lang="en-US" altLang="ja-JP" sz="2800" b="0" dirty="0" smtClean="0">
                          <a:solidFill>
                            <a:sysClr val="windowText" lastClr="000000"/>
                          </a:solidFill>
                        </a:rPr>
                        <a:t>KDD12</a:t>
                      </a:r>
                      <a:endParaRPr kumimoji="1" lang="ja-JP" altLang="en-US" sz="28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119 M</a:t>
                      </a:r>
                      <a:endParaRPr kumimoji="1" lang="ja-JP" altLang="en-US" sz="24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54 M</a:t>
                      </a:r>
                      <a:endParaRPr kumimoji="1" lang="ja-JP" altLang="en-US" sz="28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Sparse</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000" b="0" dirty="0" smtClean="0">
                          <a:solidFill>
                            <a:sysClr val="windowText" lastClr="000000"/>
                          </a:solidFill>
                        </a:rPr>
                        <a:t>Binary</a:t>
                      </a:r>
                      <a:br>
                        <a:rPr kumimoji="1" lang="en-US" altLang="ja-JP" sz="2000" b="0" dirty="0" smtClean="0">
                          <a:solidFill>
                            <a:sysClr val="windowText" lastClr="000000"/>
                          </a:solidFill>
                        </a:rPr>
                      </a:br>
                      <a:r>
                        <a:rPr kumimoji="1" lang="en-US" altLang="ja-JP" sz="2000" b="0" dirty="0" smtClean="0">
                          <a:solidFill>
                            <a:sysClr val="windowText" lastClr="000000"/>
                          </a:solidFill>
                        </a:rPr>
                        <a:t>classification</a:t>
                      </a:r>
                      <a:endParaRPr kumimoji="1" lang="ja-JP" altLang="en-US" sz="2000" b="0" dirty="0" smtClean="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AUC</a:t>
                      </a:r>
                      <a:endParaRPr kumimoji="1" lang="ja-JP" altLang="en-US" sz="2400" b="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r>
            </a:tbl>
          </a:graphicData>
        </a:graphic>
      </p:graphicFrame>
    </p:spTree>
    <p:extLst>
      <p:ext uri="{BB962C8B-B14F-4D97-AF65-F5344CB8AC3E}">
        <p14:creationId xmlns:p14="http://schemas.microsoft.com/office/powerpoint/2010/main" val="1363464746"/>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smtClean="0"/>
              <a:t>実験結果</a:t>
            </a:r>
            <a:endParaRPr kumimoji="1" lang="ja-JP" altLang="en-US" dirty="0"/>
          </a:p>
        </p:txBody>
      </p:sp>
      <p:sp>
        <p:nvSpPr>
          <p:cNvPr id="3" name="コンテンツ プレースホルダー 2"/>
          <p:cNvSpPr>
            <a:spLocks noGrp="1"/>
          </p:cNvSpPr>
          <p:nvPr>
            <p:ph idx="1"/>
          </p:nvPr>
        </p:nvSpPr>
        <p:spPr/>
        <p:txBody>
          <a:bodyPr/>
          <a:lstStyle/>
          <a:p>
            <a:r>
              <a:rPr kumimoji="1" lang="en-US" altLang="ja-JP" dirty="0" smtClean="0"/>
              <a:t>1</a:t>
            </a:r>
            <a:r>
              <a:rPr lang="ja-JP" altLang="en-US" dirty="0" smtClean="0"/>
              <a:t>イテレーションごとの</a:t>
            </a:r>
            <a:r>
              <a:rPr kumimoji="1" lang="ja-JP" altLang="en-US" dirty="0" smtClean="0"/>
              <a:t>実行時間</a:t>
            </a:r>
            <a:r>
              <a:rPr kumimoji="1" lang="en-US" altLang="ja-JP" dirty="0" smtClean="0"/>
              <a:t>[sec]</a:t>
            </a:r>
          </a:p>
          <a:p>
            <a:endParaRPr lang="en-US" altLang="ja-JP" dirty="0"/>
          </a:p>
          <a:p>
            <a:endParaRPr kumimoji="1" lang="en-US" altLang="ja-JP" dirty="0" smtClean="0"/>
          </a:p>
          <a:p>
            <a:endParaRPr lang="en-US" altLang="ja-JP" dirty="0"/>
          </a:p>
          <a:p>
            <a:endParaRPr kumimoji="1" lang="en-US" altLang="ja-JP" dirty="0" smtClean="0"/>
          </a:p>
          <a:p>
            <a:endParaRPr lang="en-US" altLang="ja-JP" dirty="0"/>
          </a:p>
          <a:p>
            <a:endParaRPr kumimoji="1" lang="en-US" altLang="ja-JP" dirty="0" smtClean="0"/>
          </a:p>
          <a:p>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25</a:t>
            </a:fld>
            <a:endParaRPr kumimoji="1" lang="ja-JP" altLang="en-US" dirty="0"/>
          </a:p>
        </p:txBody>
      </p:sp>
      <p:graphicFrame>
        <p:nvGraphicFramePr>
          <p:cNvPr id="5" name="表 4"/>
          <p:cNvGraphicFramePr>
            <a:graphicFrameLocks noGrp="1"/>
          </p:cNvGraphicFramePr>
          <p:nvPr>
            <p:extLst>
              <p:ext uri="{D42A27DB-BD31-4B8C-83A1-F6EECF244321}">
                <p14:modId xmlns:p14="http://schemas.microsoft.com/office/powerpoint/2010/main" val="3107542344"/>
              </p:ext>
            </p:extLst>
          </p:nvPr>
        </p:nvGraphicFramePr>
        <p:xfrm>
          <a:off x="32911" y="2073600"/>
          <a:ext cx="9078179" cy="3108960"/>
        </p:xfrm>
        <a:graphic>
          <a:graphicData uri="http://schemas.openxmlformats.org/drawingml/2006/table">
            <a:tbl>
              <a:tblPr firstRow="1" bandRow="1">
                <a:tableStyleId>{5C22544A-7EE6-4342-B048-85BDC9FD1C3A}</a:tableStyleId>
              </a:tblPr>
              <a:tblGrid>
                <a:gridCol w="1595755"/>
                <a:gridCol w="1374677"/>
                <a:gridCol w="1247775"/>
                <a:gridCol w="1647825"/>
                <a:gridCol w="1589405"/>
                <a:gridCol w="1622742"/>
              </a:tblGrid>
              <a:tr h="370840">
                <a:tc>
                  <a:txBody>
                    <a:bodyPr/>
                    <a:lstStyle/>
                    <a:p>
                      <a:pPr algn="ctr"/>
                      <a:endParaRPr kumimoji="1" lang="ja-JP" altLang="en-US" sz="28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400" b="0" i="0" dirty="0" err="1" smtClean="0">
                          <a:solidFill>
                            <a:sysClr val="windowText" lastClr="000000"/>
                          </a:solidFill>
                          <a:latin typeface="+mn-lt"/>
                          <a:cs typeface="Times New Roman" panose="02020603050405020304" pitchFamily="18" charset="0"/>
                        </a:rPr>
                        <a:t>xgb_exa</a:t>
                      </a:r>
                      <a:endParaRPr kumimoji="1" lang="ja-JP" altLang="en-US" sz="2400" b="0" i="0" dirty="0">
                        <a:solidFill>
                          <a:sysClr val="windowText" lastClr="000000"/>
                        </a:solidFill>
                        <a:latin typeface="+mn-lt"/>
                        <a:cs typeface="Times New Roman" panose="02020603050405020304" pitchFamily="18" charset="0"/>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400" b="0" i="0" dirty="0" err="1" smtClean="0">
                          <a:solidFill>
                            <a:sysClr val="windowText" lastClr="000000"/>
                          </a:solidFill>
                          <a:latin typeface="+mn-lt"/>
                          <a:cs typeface="Times New Roman" panose="02020603050405020304" pitchFamily="18" charset="0"/>
                        </a:rPr>
                        <a:t>xgb_his</a:t>
                      </a:r>
                      <a:endParaRPr kumimoji="1" lang="ja-JP" altLang="en-US" sz="2400" b="0" i="0" dirty="0">
                        <a:solidFill>
                          <a:sysClr val="windowText" lastClr="000000"/>
                        </a:solidFill>
                        <a:latin typeface="+mn-lt"/>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000" b="0" dirty="0" err="1" smtClean="0">
                          <a:solidFill>
                            <a:schemeClr val="tx1"/>
                          </a:solidFill>
                        </a:rPr>
                        <a:t>lgb_baseline</a:t>
                      </a:r>
                      <a:endParaRPr kumimoji="1" lang="ja-JP" altLang="en-US" sz="20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400" b="0" dirty="0" err="1" smtClean="0">
                          <a:solidFill>
                            <a:sysClr val="windowText" lastClr="000000"/>
                          </a:solidFill>
                        </a:rPr>
                        <a:t>EFB_only</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400" b="0" dirty="0" err="1" smtClean="0">
                          <a:solidFill>
                            <a:sysClr val="windowText" lastClr="000000"/>
                          </a:solidFill>
                        </a:rPr>
                        <a:t>LightGBM</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r>
              <a:tr h="370840">
                <a:tc>
                  <a:txBody>
                    <a:bodyPr/>
                    <a:lstStyle/>
                    <a:p>
                      <a:pPr algn="ctr"/>
                      <a:r>
                        <a:rPr kumimoji="1" lang="en-US" altLang="ja-JP" sz="2400" b="0" dirty="0" err="1" smtClean="0">
                          <a:solidFill>
                            <a:sysClr val="windowText" lastClr="000000"/>
                          </a:solidFill>
                        </a:rPr>
                        <a:t>Allsate</a:t>
                      </a:r>
                      <a:endParaRPr kumimoji="1" lang="ja-JP" altLang="en-US" sz="24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10.85</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2.63</a:t>
                      </a:r>
                      <a:endParaRPr kumimoji="1" lang="ja-JP" altLang="en-US" sz="2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6.07</a:t>
                      </a:r>
                      <a:endParaRPr kumimoji="1" lang="ja-JP" altLang="en-US" sz="2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0.71</a:t>
                      </a:r>
                      <a:endParaRPr kumimoji="1" lang="ja-JP" altLang="en-US" sz="2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1" dirty="0" smtClean="0">
                          <a:solidFill>
                            <a:sysClr val="windowText" lastClr="000000"/>
                          </a:solidFill>
                        </a:rPr>
                        <a:t>0.28</a:t>
                      </a:r>
                      <a:endParaRPr kumimoji="1" lang="ja-JP" altLang="en-US" sz="2800" b="1"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r>
              <a:tr h="370840">
                <a:tc>
                  <a:txBody>
                    <a:bodyPr/>
                    <a:lstStyle/>
                    <a:p>
                      <a:pPr algn="ctr"/>
                      <a:r>
                        <a:rPr kumimoji="1" lang="en-US" altLang="ja-JP" sz="2000" b="0" dirty="0" smtClean="0">
                          <a:solidFill>
                            <a:sysClr val="windowText" lastClr="000000"/>
                          </a:solidFill>
                        </a:rPr>
                        <a:t>Flight Delay</a:t>
                      </a:r>
                      <a:endParaRPr kumimoji="1" lang="ja-JP" altLang="en-US" sz="20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5.94</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1.05</a:t>
                      </a:r>
                      <a:endParaRPr kumimoji="1" lang="ja-JP" altLang="en-US" sz="2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1.39</a:t>
                      </a:r>
                      <a:endParaRPr kumimoji="1" lang="ja-JP" altLang="en-US" sz="2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800" b="0" dirty="0" smtClean="0">
                          <a:solidFill>
                            <a:sysClr val="windowText" lastClr="000000"/>
                          </a:solidFill>
                        </a:rPr>
                        <a:t>0.27</a:t>
                      </a:r>
                      <a:endParaRPr kumimoji="1" lang="ja-JP" altLang="en-US" sz="2800" b="0" dirty="0" smtClean="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1" dirty="0" smtClean="0">
                          <a:solidFill>
                            <a:sysClr val="windowText" lastClr="000000"/>
                          </a:solidFill>
                        </a:rPr>
                        <a:t>0.22</a:t>
                      </a:r>
                      <a:endParaRPr kumimoji="1" lang="ja-JP" altLang="en-US" sz="2800" b="1"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r>
              <a:tr h="370840">
                <a:tc>
                  <a:txBody>
                    <a:bodyPr/>
                    <a:lstStyle/>
                    <a:p>
                      <a:pPr algn="ctr"/>
                      <a:r>
                        <a:rPr kumimoji="1" lang="en-US" altLang="ja-JP" sz="2400" b="0" dirty="0" smtClean="0">
                          <a:solidFill>
                            <a:sysClr val="windowText" lastClr="000000"/>
                          </a:solidFill>
                        </a:rPr>
                        <a:t>LETOR</a:t>
                      </a:r>
                      <a:endParaRPr kumimoji="1" lang="ja-JP" altLang="en-US" sz="24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5.55</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0.63</a:t>
                      </a:r>
                      <a:endParaRPr kumimoji="1" lang="ja-JP" altLang="en-US" sz="2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0.49</a:t>
                      </a:r>
                      <a:endParaRPr kumimoji="1" lang="ja-JP" altLang="en-US" sz="2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800" b="0" dirty="0" smtClean="0">
                          <a:solidFill>
                            <a:sysClr val="windowText" lastClr="000000"/>
                          </a:solidFill>
                        </a:rPr>
                        <a:t>0.46</a:t>
                      </a:r>
                      <a:endParaRPr kumimoji="1" lang="ja-JP" altLang="en-US" sz="2800" b="0" dirty="0" smtClean="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1" dirty="0" smtClean="0">
                          <a:solidFill>
                            <a:sysClr val="windowText" lastClr="000000"/>
                          </a:solidFill>
                        </a:rPr>
                        <a:t>0.31</a:t>
                      </a:r>
                      <a:endParaRPr kumimoji="1" lang="ja-JP" altLang="en-US" sz="2800" b="1"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r>
              <a:tr h="370840">
                <a:tc>
                  <a:txBody>
                    <a:bodyPr/>
                    <a:lstStyle/>
                    <a:p>
                      <a:pPr algn="ctr"/>
                      <a:r>
                        <a:rPr kumimoji="1" lang="en-US" altLang="ja-JP" sz="2400" b="0" dirty="0" smtClean="0">
                          <a:solidFill>
                            <a:sysClr val="windowText" lastClr="000000"/>
                          </a:solidFill>
                        </a:rPr>
                        <a:t>KDD10</a:t>
                      </a: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108.27</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OOM</a:t>
                      </a:r>
                      <a:endParaRPr kumimoji="1" lang="ja-JP" altLang="en-US" sz="2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39.85</a:t>
                      </a:r>
                      <a:endParaRPr kumimoji="1" lang="ja-JP" altLang="en-US" sz="2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800" b="0" dirty="0" smtClean="0">
                          <a:solidFill>
                            <a:sysClr val="windowText" lastClr="000000"/>
                          </a:solidFill>
                        </a:rPr>
                        <a:t>6.33</a:t>
                      </a:r>
                      <a:endParaRPr kumimoji="1" lang="ja-JP" altLang="en-US" sz="2800" b="0" dirty="0" smtClean="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1" dirty="0" smtClean="0">
                          <a:solidFill>
                            <a:sysClr val="windowText" lastClr="000000"/>
                          </a:solidFill>
                        </a:rPr>
                        <a:t>2.85</a:t>
                      </a:r>
                      <a:endParaRPr kumimoji="1" lang="ja-JP" altLang="en-US" sz="2800" b="1"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r>
              <a:tr h="370840">
                <a:tc>
                  <a:txBody>
                    <a:bodyPr/>
                    <a:lstStyle/>
                    <a:p>
                      <a:pPr algn="ctr"/>
                      <a:r>
                        <a:rPr kumimoji="1" lang="en-US" altLang="ja-JP" sz="2400" b="0" dirty="0" smtClean="0">
                          <a:solidFill>
                            <a:sysClr val="windowText" lastClr="000000"/>
                          </a:solidFill>
                        </a:rPr>
                        <a:t>KDD12</a:t>
                      </a:r>
                      <a:endParaRPr kumimoji="1" lang="ja-JP" altLang="en-US" sz="24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191.99</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OOM</a:t>
                      </a:r>
                      <a:endParaRPr kumimoji="1" lang="ja-JP" altLang="en-US" sz="2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168.26</a:t>
                      </a:r>
                      <a:endParaRPr kumimoji="1" lang="ja-JP" altLang="en-US" sz="2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800" b="0" dirty="0" smtClean="0">
                          <a:solidFill>
                            <a:sysClr val="windowText" lastClr="000000"/>
                          </a:solidFill>
                        </a:rPr>
                        <a:t>20.23</a:t>
                      </a:r>
                      <a:endParaRPr kumimoji="1" lang="ja-JP" altLang="en-US" sz="2800" b="0" dirty="0" smtClean="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1" dirty="0" smtClean="0">
                          <a:solidFill>
                            <a:sysClr val="windowText" lastClr="000000"/>
                          </a:solidFill>
                        </a:rPr>
                        <a:t>12.67</a:t>
                      </a:r>
                      <a:endParaRPr kumimoji="1" lang="ja-JP" altLang="en-US" sz="2800" b="1"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r>
            </a:tbl>
          </a:graphicData>
        </a:graphic>
      </p:graphicFrame>
    </p:spTree>
    <p:extLst>
      <p:ext uri="{BB962C8B-B14F-4D97-AF65-F5344CB8AC3E}">
        <p14:creationId xmlns:p14="http://schemas.microsoft.com/office/powerpoint/2010/main" val="3522707607"/>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smtClean="0"/>
              <a:t>実験結果</a:t>
            </a:r>
            <a:endParaRPr kumimoji="1" lang="ja-JP" altLang="en-US" dirty="0"/>
          </a:p>
        </p:txBody>
      </p:sp>
      <p:sp>
        <p:nvSpPr>
          <p:cNvPr id="3" name="コンテンツ プレースホルダー 2"/>
          <p:cNvSpPr>
            <a:spLocks noGrp="1"/>
          </p:cNvSpPr>
          <p:nvPr>
            <p:ph idx="1"/>
          </p:nvPr>
        </p:nvSpPr>
        <p:spPr/>
        <p:txBody>
          <a:bodyPr/>
          <a:lstStyle/>
          <a:p>
            <a:r>
              <a:rPr kumimoji="1" lang="ja-JP" altLang="en-US" dirty="0" smtClean="0"/>
              <a:t>精度の比較</a:t>
            </a:r>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26</a:t>
            </a:fld>
            <a:endParaRPr kumimoji="1" lang="ja-JP" altLang="en-US" dirty="0"/>
          </a:p>
        </p:txBody>
      </p:sp>
      <p:graphicFrame>
        <p:nvGraphicFramePr>
          <p:cNvPr id="5" name="表 4"/>
          <p:cNvGraphicFramePr>
            <a:graphicFrameLocks noGrp="1"/>
          </p:cNvGraphicFramePr>
          <p:nvPr>
            <p:extLst>
              <p:ext uri="{D42A27DB-BD31-4B8C-83A1-F6EECF244321}">
                <p14:modId xmlns:p14="http://schemas.microsoft.com/office/powerpoint/2010/main" val="3970303099"/>
              </p:ext>
            </p:extLst>
          </p:nvPr>
        </p:nvGraphicFramePr>
        <p:xfrm>
          <a:off x="32911" y="2074985"/>
          <a:ext cx="9078179" cy="4632960"/>
        </p:xfrm>
        <a:graphic>
          <a:graphicData uri="http://schemas.openxmlformats.org/drawingml/2006/table">
            <a:tbl>
              <a:tblPr firstRow="1" bandRow="1">
                <a:tableStyleId>{5C22544A-7EE6-4342-B048-85BDC9FD1C3A}</a:tableStyleId>
              </a:tblPr>
              <a:tblGrid>
                <a:gridCol w="1595755"/>
                <a:gridCol w="1374677"/>
                <a:gridCol w="1247775"/>
                <a:gridCol w="1647825"/>
                <a:gridCol w="1589405"/>
                <a:gridCol w="1622742"/>
              </a:tblGrid>
              <a:tr h="370840">
                <a:tc>
                  <a:txBody>
                    <a:bodyPr/>
                    <a:lstStyle/>
                    <a:p>
                      <a:pPr algn="ctr"/>
                      <a:endParaRPr kumimoji="1" lang="ja-JP" altLang="en-US" sz="28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400" b="0" i="0" dirty="0" err="1" smtClean="0">
                          <a:solidFill>
                            <a:sysClr val="windowText" lastClr="000000"/>
                          </a:solidFill>
                          <a:latin typeface="+mn-lt"/>
                          <a:cs typeface="Times New Roman" panose="02020603050405020304" pitchFamily="18" charset="0"/>
                        </a:rPr>
                        <a:t>xgb_exa</a:t>
                      </a:r>
                      <a:endParaRPr kumimoji="1" lang="ja-JP" altLang="en-US" sz="2400" b="0" i="0" dirty="0">
                        <a:solidFill>
                          <a:sysClr val="windowText" lastClr="000000"/>
                        </a:solidFill>
                        <a:latin typeface="+mn-lt"/>
                        <a:cs typeface="Times New Roman" panose="02020603050405020304" pitchFamily="18" charset="0"/>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400" b="0" i="0" dirty="0" err="1" smtClean="0">
                          <a:solidFill>
                            <a:sysClr val="windowText" lastClr="000000"/>
                          </a:solidFill>
                          <a:latin typeface="+mn-lt"/>
                          <a:cs typeface="Times New Roman" panose="02020603050405020304" pitchFamily="18" charset="0"/>
                        </a:rPr>
                        <a:t>xgb_his</a:t>
                      </a:r>
                      <a:endParaRPr kumimoji="1" lang="ja-JP" altLang="en-US" sz="2400" b="0" i="0" dirty="0">
                        <a:solidFill>
                          <a:sysClr val="windowText" lastClr="000000"/>
                        </a:solidFill>
                        <a:latin typeface="+mn-lt"/>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000" b="0" dirty="0" err="1" smtClean="0">
                          <a:solidFill>
                            <a:schemeClr val="tx1"/>
                          </a:solidFill>
                        </a:rPr>
                        <a:t>lgb_baseline</a:t>
                      </a:r>
                      <a:endParaRPr kumimoji="1" lang="ja-JP" altLang="en-US" sz="20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SGB</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400" b="0" dirty="0" err="1" smtClean="0">
                          <a:solidFill>
                            <a:sysClr val="windowText" lastClr="000000"/>
                          </a:solidFill>
                        </a:rPr>
                        <a:t>LightGBM</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r>
              <a:tr h="370840">
                <a:tc>
                  <a:txBody>
                    <a:bodyPr/>
                    <a:lstStyle/>
                    <a:p>
                      <a:pPr algn="ctr"/>
                      <a:r>
                        <a:rPr kumimoji="1" lang="en-US" altLang="ja-JP" sz="2400" b="0" dirty="0" err="1" smtClean="0">
                          <a:solidFill>
                            <a:sysClr val="windowText" lastClr="000000"/>
                          </a:solidFill>
                        </a:rPr>
                        <a:t>Allsate</a:t>
                      </a:r>
                      <a:endParaRPr kumimoji="1" lang="ja-JP" altLang="en-US" sz="24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0.6070</a:t>
                      </a:r>
                      <a:endParaRPr kumimoji="1" lang="ja-JP" altLang="en-US" sz="24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0.6089</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0.6093</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kern="1200" dirty="0" smtClean="0">
                          <a:solidFill>
                            <a:schemeClr val="dk1"/>
                          </a:solidFill>
                          <a:effectLst/>
                          <a:latin typeface="+mn-lt"/>
                          <a:ea typeface="+mn-ea"/>
                          <a:cs typeface="+mn-cs"/>
                        </a:rPr>
                        <a:t>0.6064</a:t>
                      </a:r>
                      <a:br>
                        <a:rPr kumimoji="1" lang="en-US" altLang="ja-JP" sz="2400" kern="1200" dirty="0" smtClean="0">
                          <a:solidFill>
                            <a:schemeClr val="dk1"/>
                          </a:solidFill>
                          <a:effectLst/>
                          <a:latin typeface="+mn-lt"/>
                          <a:ea typeface="+mn-ea"/>
                          <a:cs typeface="+mn-cs"/>
                        </a:rPr>
                      </a:br>
                      <a:r>
                        <a:rPr kumimoji="1" lang="en-US" altLang="ja-JP" sz="2400" kern="1200" dirty="0" smtClean="0">
                          <a:solidFill>
                            <a:schemeClr val="dk1"/>
                          </a:solidFill>
                          <a:effectLst/>
                          <a:latin typeface="+mn-lt"/>
                          <a:ea typeface="+mn-ea"/>
                          <a:cs typeface="+mn-cs"/>
                        </a:rPr>
                        <a:t>±7e-4</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1" kern="1200" dirty="0" smtClean="0">
                          <a:solidFill>
                            <a:schemeClr val="dk1"/>
                          </a:solidFill>
                          <a:effectLst/>
                          <a:latin typeface="+mn-lt"/>
                          <a:ea typeface="+mn-ea"/>
                          <a:cs typeface="+mn-cs"/>
                        </a:rPr>
                        <a:t>0.6093</a:t>
                      </a:r>
                      <a:br>
                        <a:rPr kumimoji="1" lang="en-US" altLang="ja-JP" sz="2400" b="1" kern="1200" dirty="0" smtClean="0">
                          <a:solidFill>
                            <a:schemeClr val="dk1"/>
                          </a:solidFill>
                          <a:effectLst/>
                          <a:latin typeface="+mn-lt"/>
                          <a:ea typeface="+mn-ea"/>
                          <a:cs typeface="+mn-cs"/>
                        </a:rPr>
                      </a:br>
                      <a:r>
                        <a:rPr kumimoji="1" lang="en-US" altLang="ja-JP" sz="2400" b="1" kern="1200" dirty="0" smtClean="0">
                          <a:solidFill>
                            <a:schemeClr val="dk1"/>
                          </a:solidFill>
                          <a:effectLst/>
                          <a:latin typeface="+mn-lt"/>
                          <a:ea typeface="+mn-ea"/>
                          <a:cs typeface="+mn-cs"/>
                        </a:rPr>
                        <a:t>±9e-5</a:t>
                      </a:r>
                      <a:endParaRPr kumimoji="1" lang="ja-JP" altLang="en-US" sz="2400" b="1"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r>
              <a:tr h="370840">
                <a:tc>
                  <a:txBody>
                    <a:bodyPr/>
                    <a:lstStyle/>
                    <a:p>
                      <a:pPr algn="ctr"/>
                      <a:r>
                        <a:rPr kumimoji="1" lang="en-US" altLang="ja-JP" sz="2000" b="0" dirty="0" smtClean="0">
                          <a:solidFill>
                            <a:sysClr val="windowText" lastClr="000000"/>
                          </a:solidFill>
                        </a:rPr>
                        <a:t>Flight Delay</a:t>
                      </a:r>
                      <a:endParaRPr kumimoji="1" lang="ja-JP" altLang="en-US" sz="20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0.7601</a:t>
                      </a:r>
                      <a:endParaRPr kumimoji="1" lang="ja-JP" altLang="en-US" sz="24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0.7840</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0.7847</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400" kern="1200" dirty="0" smtClean="0">
                          <a:solidFill>
                            <a:schemeClr val="dk1"/>
                          </a:solidFill>
                          <a:effectLst/>
                          <a:latin typeface="+mn-lt"/>
                          <a:ea typeface="+mn-ea"/>
                          <a:cs typeface="+mn-cs"/>
                        </a:rPr>
                        <a:t>0.7780</a:t>
                      </a:r>
                      <a:br>
                        <a:rPr kumimoji="1" lang="en-US" altLang="ja-JP" sz="2400" kern="1200" dirty="0" smtClean="0">
                          <a:solidFill>
                            <a:schemeClr val="dk1"/>
                          </a:solidFill>
                          <a:effectLst/>
                          <a:latin typeface="+mn-lt"/>
                          <a:ea typeface="+mn-ea"/>
                          <a:cs typeface="+mn-cs"/>
                        </a:rPr>
                      </a:br>
                      <a:r>
                        <a:rPr kumimoji="1" lang="en-US" altLang="ja-JP" sz="2400" kern="1200" dirty="0" smtClean="0">
                          <a:solidFill>
                            <a:schemeClr val="dk1"/>
                          </a:solidFill>
                          <a:effectLst/>
                          <a:latin typeface="+mn-lt"/>
                          <a:ea typeface="+mn-ea"/>
                          <a:cs typeface="+mn-cs"/>
                        </a:rPr>
                        <a:t>±8e-4</a:t>
                      </a:r>
                      <a:endParaRPr kumimoji="1" lang="ja-JP" altLang="en-US" sz="2400" b="0" dirty="0" smtClean="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1" kern="1200" dirty="0" smtClean="0">
                          <a:solidFill>
                            <a:schemeClr val="dk1"/>
                          </a:solidFill>
                          <a:effectLst/>
                          <a:latin typeface="+mn-lt"/>
                          <a:ea typeface="+mn-ea"/>
                          <a:cs typeface="+mn-cs"/>
                        </a:rPr>
                        <a:t>0.7846</a:t>
                      </a:r>
                      <a:br>
                        <a:rPr kumimoji="1" lang="en-US" altLang="ja-JP" sz="2400" b="1" kern="1200" dirty="0" smtClean="0">
                          <a:solidFill>
                            <a:schemeClr val="dk1"/>
                          </a:solidFill>
                          <a:effectLst/>
                          <a:latin typeface="+mn-lt"/>
                          <a:ea typeface="+mn-ea"/>
                          <a:cs typeface="+mn-cs"/>
                        </a:rPr>
                      </a:br>
                      <a:r>
                        <a:rPr kumimoji="1" lang="en-US" altLang="ja-JP" sz="2400" b="1" kern="1200" dirty="0" smtClean="0">
                          <a:solidFill>
                            <a:schemeClr val="dk1"/>
                          </a:solidFill>
                          <a:effectLst/>
                          <a:latin typeface="+mn-lt"/>
                          <a:ea typeface="+mn-ea"/>
                          <a:cs typeface="+mn-cs"/>
                        </a:rPr>
                        <a:t>±4e-5</a:t>
                      </a:r>
                      <a:endParaRPr kumimoji="1" lang="ja-JP" altLang="en-US" sz="2400" b="1"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r>
              <a:tr h="370840">
                <a:tc>
                  <a:txBody>
                    <a:bodyPr/>
                    <a:lstStyle/>
                    <a:p>
                      <a:pPr algn="ctr"/>
                      <a:r>
                        <a:rPr kumimoji="1" lang="en-US" altLang="ja-JP" sz="2400" b="0" dirty="0" smtClean="0">
                          <a:solidFill>
                            <a:sysClr val="windowText" lastClr="000000"/>
                          </a:solidFill>
                        </a:rPr>
                        <a:t>LETOR</a:t>
                      </a:r>
                      <a:endParaRPr kumimoji="1" lang="ja-JP" altLang="en-US" sz="24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0.4977</a:t>
                      </a:r>
                      <a:endParaRPr kumimoji="1" lang="ja-JP" altLang="en-US" sz="24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0.4982</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0.5277</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altLang="ja-JP" sz="2400" dirty="0" smtClean="0">
                          <a:effectLst/>
                          <a:latin typeface="Arial" panose="020B0604020202020204" pitchFamily="34" charset="0"/>
                        </a:rPr>
                        <a:t>0.5239</a:t>
                      </a:r>
                      <a:br>
                        <a:rPr lang="en-US" altLang="ja-JP" sz="2400" dirty="0" smtClean="0">
                          <a:effectLst/>
                          <a:latin typeface="Arial" panose="020B0604020202020204" pitchFamily="34" charset="0"/>
                        </a:rPr>
                      </a:br>
                      <a:r>
                        <a:rPr lang="en-US" altLang="ja-JP" sz="2400" dirty="0" smtClean="0">
                          <a:effectLst/>
                          <a:latin typeface="Arial" panose="020B0604020202020204" pitchFamily="34" charset="0"/>
                        </a:rPr>
                        <a:t>±6e-4</a:t>
                      </a:r>
                      <a:endParaRPr kumimoji="1" lang="ja-JP" altLang="en-US" sz="2400" b="0" dirty="0" smtClean="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lang="en-US" altLang="ja-JP" sz="2400" b="1" dirty="0" smtClean="0">
                          <a:effectLst/>
                          <a:latin typeface="Arial" panose="020B0604020202020204" pitchFamily="34" charset="0"/>
                        </a:rPr>
                        <a:t>0.5275</a:t>
                      </a:r>
                      <a:br>
                        <a:rPr lang="en-US" altLang="ja-JP" sz="2400" b="1" dirty="0" smtClean="0">
                          <a:effectLst/>
                          <a:latin typeface="Arial" panose="020B0604020202020204" pitchFamily="34" charset="0"/>
                        </a:rPr>
                      </a:br>
                      <a:r>
                        <a:rPr lang="en-US" altLang="ja-JP" sz="2400" b="1" dirty="0" smtClean="0">
                          <a:effectLst/>
                          <a:latin typeface="Arial" panose="020B0604020202020204" pitchFamily="34" charset="0"/>
                        </a:rPr>
                        <a:t>±5e-4</a:t>
                      </a:r>
                      <a:endParaRPr kumimoji="1" lang="ja-JP" altLang="en-US" sz="2400" b="1"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r>
              <a:tr h="370840">
                <a:tc>
                  <a:txBody>
                    <a:bodyPr/>
                    <a:lstStyle/>
                    <a:p>
                      <a:pPr algn="ctr"/>
                      <a:r>
                        <a:rPr kumimoji="1" lang="en-US" altLang="ja-JP" sz="2400" b="0" dirty="0" smtClean="0">
                          <a:solidFill>
                            <a:sysClr val="windowText" lastClr="000000"/>
                          </a:solidFill>
                        </a:rPr>
                        <a:t>KDD10</a:t>
                      </a: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0.7796</a:t>
                      </a:r>
                      <a:endParaRPr kumimoji="1" lang="ja-JP" altLang="en-US" sz="24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OOM</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0.7874</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altLang="ja-JP" sz="2400" dirty="0" smtClean="0">
                          <a:effectLst/>
                          <a:latin typeface="Arial" panose="020B0604020202020204" pitchFamily="34" charset="0"/>
                        </a:rPr>
                        <a:t>0.7759</a:t>
                      </a:r>
                      <a:br>
                        <a:rPr lang="en-US" altLang="ja-JP" sz="2400" dirty="0" smtClean="0">
                          <a:effectLst/>
                          <a:latin typeface="Arial" panose="020B0604020202020204" pitchFamily="34" charset="0"/>
                        </a:rPr>
                      </a:br>
                      <a:r>
                        <a:rPr lang="en-US" altLang="ja-JP" sz="2400" dirty="0" smtClean="0">
                          <a:effectLst/>
                          <a:latin typeface="Arial" panose="020B0604020202020204" pitchFamily="34" charset="0"/>
                        </a:rPr>
                        <a:t>±3e-4</a:t>
                      </a:r>
                      <a:endParaRPr kumimoji="1" lang="ja-JP" altLang="en-US" sz="2400" b="0" dirty="0" smtClean="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lang="en-US" altLang="ja-JP" sz="2400" b="1" dirty="0" smtClean="0">
                          <a:effectLst/>
                          <a:latin typeface="Arial" panose="020B0604020202020204" pitchFamily="34" charset="0"/>
                        </a:rPr>
                        <a:t>0.7873</a:t>
                      </a:r>
                      <a:br>
                        <a:rPr lang="en-US" altLang="ja-JP" sz="2400" b="1" dirty="0" smtClean="0">
                          <a:effectLst/>
                          <a:latin typeface="Arial" panose="020B0604020202020204" pitchFamily="34" charset="0"/>
                        </a:rPr>
                      </a:br>
                      <a:r>
                        <a:rPr lang="en-US" altLang="ja-JP" sz="2400" b="1" dirty="0" smtClean="0">
                          <a:effectLst/>
                          <a:latin typeface="Arial" panose="020B0604020202020204" pitchFamily="34" charset="0"/>
                        </a:rPr>
                        <a:t>±1e-4</a:t>
                      </a:r>
                      <a:endParaRPr kumimoji="1" lang="ja-JP" altLang="en-US" sz="2400" b="1"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r>
              <a:tr h="370840">
                <a:tc>
                  <a:txBody>
                    <a:bodyPr/>
                    <a:lstStyle/>
                    <a:p>
                      <a:pPr algn="ctr"/>
                      <a:r>
                        <a:rPr kumimoji="1" lang="en-US" altLang="ja-JP" sz="2400" b="0" dirty="0" smtClean="0">
                          <a:solidFill>
                            <a:sysClr val="windowText" lastClr="000000"/>
                          </a:solidFill>
                        </a:rPr>
                        <a:t>KDD12</a:t>
                      </a:r>
                      <a:endParaRPr kumimoji="1" lang="ja-JP" altLang="en-US" sz="24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0.7029</a:t>
                      </a:r>
                      <a:endParaRPr kumimoji="1" lang="ja-JP" altLang="en-US" sz="24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OOM</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0.7049</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altLang="ja-JP" sz="2400" dirty="0" smtClean="0">
                          <a:effectLst/>
                          <a:latin typeface="Arial" panose="020B0604020202020204" pitchFamily="34" charset="0"/>
                        </a:rPr>
                        <a:t>0.6989</a:t>
                      </a:r>
                      <a:br>
                        <a:rPr lang="en-US" altLang="ja-JP" sz="2400" dirty="0" smtClean="0">
                          <a:effectLst/>
                          <a:latin typeface="Arial" panose="020B0604020202020204" pitchFamily="34" charset="0"/>
                        </a:rPr>
                      </a:br>
                      <a:r>
                        <a:rPr lang="en-US" altLang="ja-JP" sz="2400" dirty="0" smtClean="0">
                          <a:effectLst/>
                          <a:latin typeface="Arial" panose="020B0604020202020204" pitchFamily="34" charset="0"/>
                        </a:rPr>
                        <a:t>±8e-4</a:t>
                      </a:r>
                      <a:endParaRPr kumimoji="1" lang="ja-JP" altLang="en-US" sz="2400" b="0" dirty="0" smtClean="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lang="en-US" altLang="ja-JP" sz="2400" b="1" dirty="0" smtClean="0">
                          <a:effectLst/>
                          <a:latin typeface="Arial" panose="020B0604020202020204" pitchFamily="34" charset="0"/>
                        </a:rPr>
                        <a:t>0.7051</a:t>
                      </a:r>
                      <a:br>
                        <a:rPr lang="en-US" altLang="ja-JP" sz="2400" b="1" dirty="0" smtClean="0">
                          <a:effectLst/>
                          <a:latin typeface="Arial" panose="020B0604020202020204" pitchFamily="34" charset="0"/>
                        </a:rPr>
                      </a:br>
                      <a:r>
                        <a:rPr lang="en-US" altLang="ja-JP" sz="2400" b="1" dirty="0" smtClean="0">
                          <a:effectLst/>
                          <a:latin typeface="Arial" panose="020B0604020202020204" pitchFamily="34" charset="0"/>
                        </a:rPr>
                        <a:t>±5e-5</a:t>
                      </a:r>
                      <a:endParaRPr kumimoji="1" lang="ja-JP" altLang="en-US" sz="2400" b="1"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r>
            </a:tbl>
          </a:graphicData>
        </a:graphic>
      </p:graphicFrame>
    </p:spTree>
    <p:extLst>
      <p:ext uri="{BB962C8B-B14F-4D97-AF65-F5344CB8AC3E}">
        <p14:creationId xmlns:p14="http://schemas.microsoft.com/office/powerpoint/2010/main" val="3812690968"/>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smtClean="0"/>
              <a:t>実験結果</a:t>
            </a:r>
            <a:endParaRPr kumimoji="1" lang="ja-JP" altLang="en-US" dirty="0"/>
          </a:p>
        </p:txBody>
      </p:sp>
      <p:sp>
        <p:nvSpPr>
          <p:cNvPr id="3" name="コンテンツ プレースホルダー 2"/>
          <p:cNvSpPr>
            <a:spLocks noGrp="1"/>
          </p:cNvSpPr>
          <p:nvPr>
            <p:ph idx="1"/>
          </p:nvPr>
        </p:nvSpPr>
        <p:spPr/>
        <p:txBody>
          <a:bodyPr/>
          <a:lstStyle/>
          <a:p>
            <a:r>
              <a:rPr kumimoji="1" lang="en-US" altLang="ja-JP" dirty="0" smtClean="0"/>
              <a:t>training curve</a:t>
            </a:r>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27</a:t>
            </a:fld>
            <a:endParaRPr kumimoji="1" lang="ja-JP" altLang="en-US" dirty="0"/>
          </a:p>
        </p:txBody>
      </p:sp>
      <p:pic>
        <p:nvPicPr>
          <p:cNvPr id="10" name="図 9"/>
          <p:cNvPicPr>
            <a:picLocks noChangeAspect="1"/>
          </p:cNvPicPr>
          <p:nvPr/>
        </p:nvPicPr>
        <p:blipFill>
          <a:blip r:embed="rId2">
            <a:clrChange>
              <a:clrFrom>
                <a:srgbClr val="FFFFFF"/>
              </a:clrFrom>
              <a:clrTo>
                <a:srgbClr val="FFFFFF">
                  <a:alpha val="0"/>
                </a:srgbClr>
              </a:clrTo>
            </a:clrChange>
          </a:blip>
          <a:stretch>
            <a:fillRect/>
          </a:stretch>
        </p:blipFill>
        <p:spPr>
          <a:xfrm>
            <a:off x="0" y="2009616"/>
            <a:ext cx="9144000" cy="3499168"/>
          </a:xfrm>
          <a:prstGeom prst="rect">
            <a:avLst/>
          </a:prstGeom>
        </p:spPr>
      </p:pic>
      <p:sp>
        <p:nvSpPr>
          <p:cNvPr id="11" name="テキスト ボックス 10"/>
          <p:cNvSpPr txBox="1"/>
          <p:nvPr/>
        </p:nvSpPr>
        <p:spPr>
          <a:xfrm>
            <a:off x="228600" y="5508784"/>
            <a:ext cx="4546600" cy="461665"/>
          </a:xfrm>
          <a:prstGeom prst="rect">
            <a:avLst/>
          </a:prstGeom>
          <a:noFill/>
          <a:ln w="19050">
            <a:noFill/>
          </a:ln>
        </p:spPr>
        <p:txBody>
          <a:bodyPr wrap="square" rtlCol="0">
            <a:spAutoFit/>
          </a:bodyPr>
          <a:lstStyle/>
          <a:p>
            <a:pPr algn="ctr"/>
            <a:r>
              <a:rPr lang="en-US" altLang="ja-JP" sz="2400" dirty="0" smtClean="0"/>
              <a:t>Time-AUC curve on Flight Delay</a:t>
            </a:r>
            <a:endParaRPr kumimoji="1" lang="ja-JP" altLang="en-US" sz="2400" dirty="0" smtClean="0"/>
          </a:p>
        </p:txBody>
      </p:sp>
      <p:sp>
        <p:nvSpPr>
          <p:cNvPr id="12" name="テキスト ボックス 11"/>
          <p:cNvSpPr txBox="1"/>
          <p:nvPr/>
        </p:nvSpPr>
        <p:spPr>
          <a:xfrm>
            <a:off x="4775200" y="5508784"/>
            <a:ext cx="4546600" cy="461665"/>
          </a:xfrm>
          <a:prstGeom prst="rect">
            <a:avLst/>
          </a:prstGeom>
          <a:noFill/>
          <a:ln w="19050">
            <a:noFill/>
          </a:ln>
        </p:spPr>
        <p:txBody>
          <a:bodyPr wrap="square" rtlCol="0">
            <a:spAutoFit/>
          </a:bodyPr>
          <a:lstStyle/>
          <a:p>
            <a:pPr algn="ctr"/>
            <a:r>
              <a:rPr lang="en-US" altLang="ja-JP" sz="2400" dirty="0" smtClean="0"/>
              <a:t>Time-AUC curve on LETOR</a:t>
            </a:r>
            <a:endParaRPr kumimoji="1" lang="ja-JP" altLang="en-US" sz="2400" dirty="0" smtClean="0"/>
          </a:p>
        </p:txBody>
      </p:sp>
    </p:spTree>
    <p:extLst>
      <p:ext uri="{BB962C8B-B14F-4D97-AF65-F5344CB8AC3E}">
        <p14:creationId xmlns:p14="http://schemas.microsoft.com/office/powerpoint/2010/main" val="2901288077"/>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考察</a:t>
            </a:r>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28</a:t>
            </a:fld>
            <a:endParaRPr kumimoji="1" lang="ja-JP" altLang="en-US" dirty="0"/>
          </a:p>
        </p:txBody>
      </p:sp>
      <p:sp>
        <p:nvSpPr>
          <p:cNvPr id="6" name="テキスト プレースホルダー 5"/>
          <p:cNvSpPr>
            <a:spLocks noGrp="1"/>
          </p:cNvSpPr>
          <p:nvPr>
            <p:ph type="body" sz="quarter" idx="13"/>
          </p:nvPr>
        </p:nvSpPr>
        <p:spPr/>
        <p:txBody>
          <a:bodyPr/>
          <a:lstStyle/>
          <a:p>
            <a:r>
              <a:rPr kumimoji="1" lang="en-US" altLang="ja-JP" dirty="0" smtClean="0"/>
              <a:t>Effect</a:t>
            </a:r>
            <a:r>
              <a:rPr kumimoji="1" lang="ja-JP" altLang="en-US" dirty="0" smtClean="0"/>
              <a:t> </a:t>
            </a:r>
            <a:r>
              <a:rPr kumimoji="1" lang="en-US" altLang="ja-JP" dirty="0" smtClean="0"/>
              <a:t>of</a:t>
            </a:r>
            <a:r>
              <a:rPr kumimoji="1" lang="ja-JP" altLang="en-US" dirty="0" smtClean="0"/>
              <a:t> </a:t>
            </a:r>
            <a:r>
              <a:rPr kumimoji="1" lang="en-US" altLang="ja-JP" dirty="0" smtClean="0"/>
              <a:t>GOSS</a:t>
            </a:r>
            <a:endParaRPr kumimoji="1" lang="ja-JP" altLang="en-US" dirty="0"/>
          </a:p>
        </p:txBody>
      </p:sp>
      <p:sp>
        <p:nvSpPr>
          <p:cNvPr id="10" name="コンテンツ プレースホルダー 9"/>
          <p:cNvSpPr>
            <a:spLocks noGrp="1"/>
          </p:cNvSpPr>
          <p:nvPr>
            <p:ph idx="1"/>
          </p:nvPr>
        </p:nvSpPr>
        <p:spPr/>
        <p:txBody>
          <a:bodyPr/>
          <a:lstStyle/>
          <a:p>
            <a:r>
              <a:rPr lang="ja-JP" altLang="en-US" dirty="0" smtClean="0"/>
              <a:t>実行時間への影響</a:t>
            </a:r>
            <a:endParaRPr lang="en-US" altLang="ja-JP" dirty="0" smtClean="0"/>
          </a:p>
          <a:p>
            <a:r>
              <a:rPr lang="en-US" altLang="ja-JP" dirty="0" smtClean="0"/>
              <a:t/>
            </a:r>
            <a:br>
              <a:rPr lang="en-US" altLang="ja-JP" dirty="0" smtClean="0"/>
            </a:br>
            <a:r>
              <a:rPr lang="en-US" altLang="ja-JP" dirty="0" smtClean="0"/>
              <a:t/>
            </a:r>
            <a:br>
              <a:rPr lang="en-US" altLang="ja-JP" dirty="0" smtClean="0"/>
            </a:br>
            <a:endParaRPr lang="en-US" altLang="ja-JP" dirty="0"/>
          </a:p>
          <a:p>
            <a:endParaRPr lang="en-US" altLang="ja-JP" dirty="0" smtClean="0"/>
          </a:p>
          <a:p>
            <a:r>
              <a:rPr lang="en-US" altLang="ja-JP" dirty="0"/>
              <a:t/>
            </a:r>
            <a:br>
              <a:rPr lang="en-US" altLang="ja-JP" dirty="0"/>
            </a:br>
            <a:r>
              <a:rPr lang="en-US" altLang="ja-JP" dirty="0" smtClean="0"/>
              <a:t>GOSS</a:t>
            </a:r>
            <a:r>
              <a:rPr lang="ja-JP" altLang="en-US" dirty="0" smtClean="0"/>
              <a:t>により</a:t>
            </a:r>
            <a:r>
              <a:rPr lang="en-US" altLang="ja-JP" dirty="0" smtClean="0"/>
              <a:t>80</a:t>
            </a:r>
            <a:r>
              <a:rPr lang="ja-JP" altLang="en-US" dirty="0" smtClean="0"/>
              <a:t>～</a:t>
            </a:r>
            <a:r>
              <a:rPr lang="en-US" altLang="ja-JP" dirty="0" smtClean="0"/>
              <a:t>90</a:t>
            </a:r>
            <a:r>
              <a:rPr lang="ja-JP" altLang="en-US" dirty="0" smtClean="0"/>
              <a:t>％のデータを削減しているが，</a:t>
            </a:r>
            <a:r>
              <a:rPr lang="en-US" altLang="ja-JP" dirty="0" smtClean="0"/>
              <a:t>2</a:t>
            </a:r>
            <a:r>
              <a:rPr lang="ja-JP" altLang="en-US" dirty="0" smtClean="0"/>
              <a:t>倍前後の時間短縮にしかなっていない．</a:t>
            </a:r>
            <a:endParaRPr lang="en-US" altLang="ja-JP" dirty="0" smtClean="0"/>
          </a:p>
          <a:p>
            <a:r>
              <a:rPr kumimoji="1" lang="ja-JP" altLang="en-US" dirty="0" smtClean="0"/>
              <a:t>これは，勾配の計算などにはすべてのデータを使っているためと考えられる．</a:t>
            </a:r>
            <a:endParaRPr kumimoji="1" lang="ja-JP" altLang="en-US" dirty="0"/>
          </a:p>
        </p:txBody>
      </p:sp>
      <p:graphicFrame>
        <p:nvGraphicFramePr>
          <p:cNvPr id="12" name="コンテンツ プレースホルダー 8"/>
          <p:cNvGraphicFramePr>
            <a:graphicFrameLocks/>
          </p:cNvGraphicFramePr>
          <p:nvPr>
            <p:extLst>
              <p:ext uri="{D42A27DB-BD31-4B8C-83A1-F6EECF244321}">
                <p14:modId xmlns:p14="http://schemas.microsoft.com/office/powerpoint/2010/main" val="18435002"/>
              </p:ext>
            </p:extLst>
          </p:nvPr>
        </p:nvGraphicFramePr>
        <p:xfrm>
          <a:off x="2168049" y="1876572"/>
          <a:ext cx="4807902" cy="2651760"/>
        </p:xfrm>
        <a:graphic>
          <a:graphicData uri="http://schemas.openxmlformats.org/drawingml/2006/table">
            <a:tbl>
              <a:tblPr firstRow="1" bandRow="1">
                <a:tableStyleId>{5C22544A-7EE6-4342-B048-85BDC9FD1C3A}</a:tableStyleId>
              </a:tblPr>
              <a:tblGrid>
                <a:gridCol w="1595755"/>
                <a:gridCol w="1589405"/>
                <a:gridCol w="1622742"/>
              </a:tblGrid>
              <a:tr h="370840">
                <a:tc>
                  <a:txBody>
                    <a:bodyPr/>
                    <a:lstStyle/>
                    <a:p>
                      <a:pPr algn="ctr"/>
                      <a:endParaRPr kumimoji="1" lang="ja-JP" altLang="en-US" sz="28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400" b="0" dirty="0" err="1" smtClean="0">
                          <a:solidFill>
                            <a:sysClr val="windowText" lastClr="000000"/>
                          </a:solidFill>
                        </a:rPr>
                        <a:t>EFB_only</a:t>
                      </a:r>
                      <a:endParaRPr kumimoji="1" lang="ja-JP" altLang="en-US" sz="24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400" b="0" dirty="0" err="1" smtClean="0">
                          <a:solidFill>
                            <a:sysClr val="windowText" lastClr="000000"/>
                          </a:solidFill>
                        </a:rPr>
                        <a:t>LightGBM</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r>
              <a:tr h="370840">
                <a:tc>
                  <a:txBody>
                    <a:bodyPr/>
                    <a:lstStyle/>
                    <a:p>
                      <a:pPr algn="ctr"/>
                      <a:r>
                        <a:rPr kumimoji="1" lang="en-US" altLang="ja-JP" sz="2400" b="0" dirty="0" err="1" smtClean="0">
                          <a:solidFill>
                            <a:sysClr val="windowText" lastClr="000000"/>
                          </a:solidFill>
                        </a:rPr>
                        <a:t>Allsate</a:t>
                      </a:r>
                      <a:endParaRPr kumimoji="1" lang="ja-JP" altLang="en-US" sz="2400" b="0" dirty="0">
                        <a:solidFill>
                          <a:sysClr val="windowText" lastClr="000000"/>
                        </a:solidFill>
                      </a:endParaRPr>
                    </a:p>
                  </a:txBody>
                  <a:tcPr marL="0" marR="0" marT="0" marB="0"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0.71</a:t>
                      </a:r>
                      <a:endParaRPr kumimoji="1" lang="ja-JP" altLang="en-US" sz="2800" b="0" dirty="0">
                        <a:solidFill>
                          <a:sysClr val="windowText" lastClr="000000"/>
                        </a:solidFill>
                      </a:endParaRPr>
                    </a:p>
                  </a:txBody>
                  <a:tcPr marL="0" marR="0" marT="0"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1" dirty="0" smtClean="0">
                          <a:solidFill>
                            <a:sysClr val="windowText" lastClr="000000"/>
                          </a:solidFill>
                        </a:rPr>
                        <a:t>0.28</a:t>
                      </a:r>
                      <a:endParaRPr kumimoji="1" lang="ja-JP" altLang="en-US" sz="2800" b="1" dirty="0">
                        <a:solidFill>
                          <a:sysClr val="windowText" lastClr="000000"/>
                        </a:solidFill>
                      </a:endParaRPr>
                    </a:p>
                  </a:txBody>
                  <a:tcPr marL="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r>
              <a:tr h="370840">
                <a:tc>
                  <a:txBody>
                    <a:bodyPr/>
                    <a:lstStyle/>
                    <a:p>
                      <a:pPr algn="ctr"/>
                      <a:r>
                        <a:rPr kumimoji="1" lang="en-US" altLang="ja-JP" sz="2000" b="0" dirty="0" smtClean="0">
                          <a:solidFill>
                            <a:sysClr val="windowText" lastClr="000000"/>
                          </a:solidFill>
                        </a:rPr>
                        <a:t>Flight Delay</a:t>
                      </a:r>
                      <a:endParaRPr kumimoji="1" lang="ja-JP" altLang="en-US" sz="2000" b="0" dirty="0">
                        <a:solidFill>
                          <a:sysClr val="windowText" lastClr="000000"/>
                        </a:solidFill>
                      </a:endParaRPr>
                    </a:p>
                  </a:txBody>
                  <a:tcPr marL="0" marR="0" marT="0" marB="0"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800" b="0" dirty="0" smtClean="0">
                          <a:solidFill>
                            <a:sysClr val="windowText" lastClr="000000"/>
                          </a:solidFill>
                        </a:rPr>
                        <a:t>0.27</a:t>
                      </a:r>
                      <a:endParaRPr kumimoji="1" lang="ja-JP" altLang="en-US" sz="2800" b="0" dirty="0" smtClean="0">
                        <a:solidFill>
                          <a:sysClr val="windowText" lastClr="000000"/>
                        </a:solidFill>
                      </a:endParaRPr>
                    </a:p>
                  </a:txBody>
                  <a:tcPr marL="0" marR="0" marT="0"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1" dirty="0" smtClean="0">
                          <a:solidFill>
                            <a:sysClr val="windowText" lastClr="000000"/>
                          </a:solidFill>
                        </a:rPr>
                        <a:t>0.22</a:t>
                      </a:r>
                      <a:endParaRPr kumimoji="1" lang="ja-JP" altLang="en-US" sz="2800" b="1" dirty="0">
                        <a:solidFill>
                          <a:sysClr val="windowText" lastClr="000000"/>
                        </a:solidFill>
                      </a:endParaRPr>
                    </a:p>
                  </a:txBody>
                  <a:tcPr marL="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r>
              <a:tr h="370840">
                <a:tc>
                  <a:txBody>
                    <a:bodyPr/>
                    <a:lstStyle/>
                    <a:p>
                      <a:pPr algn="ctr"/>
                      <a:r>
                        <a:rPr kumimoji="1" lang="en-US" altLang="ja-JP" sz="2400" b="0" dirty="0" smtClean="0">
                          <a:solidFill>
                            <a:sysClr val="windowText" lastClr="000000"/>
                          </a:solidFill>
                        </a:rPr>
                        <a:t>LETOR</a:t>
                      </a:r>
                      <a:endParaRPr kumimoji="1" lang="ja-JP" altLang="en-US" sz="2400" b="0" dirty="0">
                        <a:solidFill>
                          <a:sysClr val="windowText" lastClr="000000"/>
                        </a:solidFill>
                      </a:endParaRPr>
                    </a:p>
                  </a:txBody>
                  <a:tcPr marL="0" marR="0" marT="0" marB="0"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800" b="0" dirty="0" smtClean="0">
                          <a:solidFill>
                            <a:sysClr val="windowText" lastClr="000000"/>
                          </a:solidFill>
                        </a:rPr>
                        <a:t>0.46</a:t>
                      </a:r>
                      <a:endParaRPr kumimoji="1" lang="ja-JP" altLang="en-US" sz="2800" b="0" dirty="0" smtClean="0">
                        <a:solidFill>
                          <a:sysClr val="windowText" lastClr="000000"/>
                        </a:solidFill>
                      </a:endParaRPr>
                    </a:p>
                  </a:txBody>
                  <a:tcPr marL="0" marR="0" marT="0"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1" dirty="0" smtClean="0">
                          <a:solidFill>
                            <a:sysClr val="windowText" lastClr="000000"/>
                          </a:solidFill>
                        </a:rPr>
                        <a:t>0.31</a:t>
                      </a:r>
                      <a:endParaRPr kumimoji="1" lang="ja-JP" altLang="en-US" sz="2800" b="1" dirty="0">
                        <a:solidFill>
                          <a:sysClr val="windowText" lastClr="000000"/>
                        </a:solidFill>
                      </a:endParaRPr>
                    </a:p>
                  </a:txBody>
                  <a:tcPr marL="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r>
              <a:tr h="370840">
                <a:tc>
                  <a:txBody>
                    <a:bodyPr/>
                    <a:lstStyle/>
                    <a:p>
                      <a:pPr algn="ctr"/>
                      <a:r>
                        <a:rPr kumimoji="1" lang="en-US" altLang="ja-JP" sz="2400" b="0" dirty="0" smtClean="0">
                          <a:solidFill>
                            <a:sysClr val="windowText" lastClr="000000"/>
                          </a:solidFill>
                        </a:rPr>
                        <a:t>KDD10</a:t>
                      </a:r>
                    </a:p>
                  </a:txBody>
                  <a:tcPr marL="0" marR="0" marT="0" marB="0"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800" b="0" dirty="0" smtClean="0">
                          <a:solidFill>
                            <a:sysClr val="windowText" lastClr="000000"/>
                          </a:solidFill>
                        </a:rPr>
                        <a:t>6.33</a:t>
                      </a:r>
                      <a:endParaRPr kumimoji="1" lang="ja-JP" altLang="en-US" sz="2800" b="0" dirty="0" smtClean="0">
                        <a:solidFill>
                          <a:sysClr val="windowText" lastClr="000000"/>
                        </a:solidFill>
                      </a:endParaRPr>
                    </a:p>
                  </a:txBody>
                  <a:tcPr marL="0" marR="0" marT="0"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1" dirty="0" smtClean="0">
                          <a:solidFill>
                            <a:sysClr val="windowText" lastClr="000000"/>
                          </a:solidFill>
                        </a:rPr>
                        <a:t>2.85</a:t>
                      </a:r>
                      <a:endParaRPr kumimoji="1" lang="ja-JP" altLang="en-US" sz="2800" b="1" dirty="0">
                        <a:solidFill>
                          <a:sysClr val="windowText" lastClr="000000"/>
                        </a:solidFill>
                      </a:endParaRPr>
                    </a:p>
                  </a:txBody>
                  <a:tcPr marL="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r>
              <a:tr h="370840">
                <a:tc>
                  <a:txBody>
                    <a:bodyPr/>
                    <a:lstStyle/>
                    <a:p>
                      <a:pPr algn="ctr"/>
                      <a:r>
                        <a:rPr kumimoji="1" lang="en-US" altLang="ja-JP" sz="2400" b="0" dirty="0" smtClean="0">
                          <a:solidFill>
                            <a:sysClr val="windowText" lastClr="000000"/>
                          </a:solidFill>
                        </a:rPr>
                        <a:t>KDD12</a:t>
                      </a:r>
                      <a:endParaRPr kumimoji="1" lang="ja-JP" altLang="en-US" sz="2400" b="0" dirty="0">
                        <a:solidFill>
                          <a:sysClr val="windowText" lastClr="000000"/>
                        </a:solidFill>
                      </a:endParaRPr>
                    </a:p>
                  </a:txBody>
                  <a:tcPr marL="0" marR="0" marT="0" marB="0"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800" b="0" dirty="0" smtClean="0">
                          <a:solidFill>
                            <a:sysClr val="windowText" lastClr="000000"/>
                          </a:solidFill>
                        </a:rPr>
                        <a:t>20.23</a:t>
                      </a:r>
                      <a:endParaRPr kumimoji="1" lang="ja-JP" altLang="en-US" sz="2800" b="0" dirty="0" smtClean="0">
                        <a:solidFill>
                          <a:sysClr val="windowText" lastClr="000000"/>
                        </a:solidFill>
                      </a:endParaRPr>
                    </a:p>
                  </a:txBody>
                  <a:tcPr marL="0" marR="0" marT="0"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1" dirty="0" smtClean="0">
                          <a:solidFill>
                            <a:sysClr val="windowText" lastClr="000000"/>
                          </a:solidFill>
                        </a:rPr>
                        <a:t>12.67</a:t>
                      </a:r>
                      <a:endParaRPr kumimoji="1" lang="ja-JP" altLang="en-US" sz="2800" b="1" dirty="0">
                        <a:solidFill>
                          <a:sysClr val="windowText" lastClr="000000"/>
                        </a:solidFill>
                      </a:endParaRPr>
                    </a:p>
                  </a:txBody>
                  <a:tcPr marL="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r>
            </a:tbl>
          </a:graphicData>
        </a:graphic>
      </p:graphicFrame>
    </p:spTree>
    <p:extLst>
      <p:ext uri="{BB962C8B-B14F-4D97-AF65-F5344CB8AC3E}">
        <p14:creationId xmlns:p14="http://schemas.microsoft.com/office/powerpoint/2010/main" val="1197325436"/>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考察</a:t>
            </a:r>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29</a:t>
            </a:fld>
            <a:endParaRPr kumimoji="1" lang="ja-JP" altLang="en-US" dirty="0"/>
          </a:p>
        </p:txBody>
      </p:sp>
      <p:sp>
        <p:nvSpPr>
          <p:cNvPr id="6" name="テキスト プレースホルダー 5"/>
          <p:cNvSpPr>
            <a:spLocks noGrp="1"/>
          </p:cNvSpPr>
          <p:nvPr>
            <p:ph type="body" sz="quarter" idx="13"/>
          </p:nvPr>
        </p:nvSpPr>
        <p:spPr/>
        <p:txBody>
          <a:bodyPr/>
          <a:lstStyle/>
          <a:p>
            <a:r>
              <a:rPr kumimoji="1" lang="en-US" altLang="ja-JP" dirty="0" smtClean="0"/>
              <a:t>Effect</a:t>
            </a:r>
            <a:r>
              <a:rPr kumimoji="1" lang="ja-JP" altLang="en-US" dirty="0" smtClean="0"/>
              <a:t> </a:t>
            </a:r>
            <a:r>
              <a:rPr kumimoji="1" lang="en-US" altLang="ja-JP" dirty="0" smtClean="0"/>
              <a:t>of</a:t>
            </a:r>
            <a:r>
              <a:rPr kumimoji="1" lang="ja-JP" altLang="en-US" dirty="0" smtClean="0"/>
              <a:t> </a:t>
            </a:r>
            <a:r>
              <a:rPr kumimoji="1" lang="en-US" altLang="ja-JP" dirty="0" smtClean="0"/>
              <a:t>GOSS</a:t>
            </a:r>
            <a:endParaRPr kumimoji="1" lang="ja-JP" altLang="en-US" dirty="0"/>
          </a:p>
        </p:txBody>
      </p:sp>
      <p:sp>
        <p:nvSpPr>
          <p:cNvPr id="10" name="コンテンツ プレースホルダー 9"/>
          <p:cNvSpPr>
            <a:spLocks noGrp="1"/>
          </p:cNvSpPr>
          <p:nvPr>
            <p:ph idx="1"/>
          </p:nvPr>
        </p:nvSpPr>
        <p:spPr/>
        <p:txBody>
          <a:bodyPr/>
          <a:lstStyle/>
          <a:p>
            <a:r>
              <a:rPr lang="ja-JP" altLang="en-US" dirty="0" smtClean="0"/>
              <a:t>精度への影響 </a:t>
            </a:r>
            <a:r>
              <a:rPr lang="en-US" altLang="ja-JP" dirty="0" smtClean="0"/>
              <a:t>(LETOR</a:t>
            </a:r>
            <a:r>
              <a:rPr lang="ja-JP" altLang="en-US" dirty="0" smtClean="0"/>
              <a:t>のみ</a:t>
            </a:r>
            <a:r>
              <a:rPr lang="en-US" altLang="ja-JP" dirty="0" smtClean="0"/>
              <a:t>)</a:t>
            </a:r>
          </a:p>
          <a:p>
            <a:endParaRPr lang="en-US" altLang="ja-JP" dirty="0" smtClean="0"/>
          </a:p>
          <a:p>
            <a:endParaRPr lang="en-US" altLang="ja-JP" dirty="0" smtClean="0"/>
          </a:p>
          <a:p>
            <a:endParaRPr lang="en-US" altLang="ja-JP" dirty="0"/>
          </a:p>
          <a:p>
            <a:endParaRPr lang="en-US" altLang="ja-JP" dirty="0" smtClean="0"/>
          </a:p>
          <a:p>
            <a:r>
              <a:rPr lang="ja-JP" altLang="en-US" dirty="0" smtClean="0"/>
              <a:t>ランダムサンプリングの</a:t>
            </a:r>
            <a:r>
              <a:rPr lang="en-US" altLang="ja-JP" dirty="0" smtClean="0"/>
              <a:t>SGB</a:t>
            </a:r>
            <a:r>
              <a:rPr lang="ja-JP" altLang="en-US" dirty="0" smtClean="0"/>
              <a:t>と比較し，</a:t>
            </a:r>
            <a:r>
              <a:rPr lang="en-US" altLang="ja-JP" dirty="0" smtClean="0"/>
              <a:t>GOSS</a:t>
            </a:r>
            <a:r>
              <a:rPr lang="ja-JP" altLang="en-US" dirty="0" smtClean="0"/>
              <a:t>の方が優れた精度でデータ削減に成功している．</a:t>
            </a:r>
            <a:endParaRPr kumimoji="1" lang="ja-JP" altLang="en-US" dirty="0"/>
          </a:p>
        </p:txBody>
      </p:sp>
      <p:graphicFrame>
        <p:nvGraphicFramePr>
          <p:cNvPr id="3" name="表 2"/>
          <p:cNvGraphicFramePr>
            <a:graphicFrameLocks noGrp="1"/>
          </p:cNvGraphicFramePr>
          <p:nvPr>
            <p:extLst>
              <p:ext uri="{D42A27DB-BD31-4B8C-83A1-F6EECF244321}">
                <p14:modId xmlns:p14="http://schemas.microsoft.com/office/powerpoint/2010/main" val="2369510552"/>
              </p:ext>
            </p:extLst>
          </p:nvPr>
        </p:nvGraphicFramePr>
        <p:xfrm>
          <a:off x="107315" y="2197100"/>
          <a:ext cx="8929370" cy="1859280"/>
        </p:xfrm>
        <a:graphic>
          <a:graphicData uri="http://schemas.openxmlformats.org/drawingml/2006/table">
            <a:tbl>
              <a:tblPr firstRow="1" bandRow="1">
                <a:tableStyleId>{2D5ABB26-0587-4C30-8999-92F81FD0307C}</a:tableStyleId>
              </a:tblPr>
              <a:tblGrid>
                <a:gridCol w="1493520"/>
                <a:gridCol w="1073150"/>
                <a:gridCol w="1054100"/>
                <a:gridCol w="1073150"/>
                <a:gridCol w="1054100"/>
                <a:gridCol w="1054100"/>
                <a:gridCol w="1041400"/>
                <a:gridCol w="1085850"/>
              </a:tblGrid>
              <a:tr h="370840">
                <a:tc>
                  <a:txBody>
                    <a:bodyPr/>
                    <a:lstStyle/>
                    <a:p>
                      <a:pPr algn="ctr"/>
                      <a:r>
                        <a:rPr kumimoji="1" lang="en-US" altLang="ja-JP" sz="2400" b="0" dirty="0" smtClean="0"/>
                        <a:t>Sampling</a:t>
                      </a:r>
                      <a:r>
                        <a:rPr kumimoji="1" lang="ja-JP" altLang="en-US" sz="2400" b="0" dirty="0" smtClean="0"/>
                        <a:t> </a:t>
                      </a:r>
                      <a:endParaRPr kumimoji="1" lang="en-US" altLang="ja-JP" sz="2400" b="0" dirty="0" smtClean="0"/>
                    </a:p>
                    <a:p>
                      <a:pPr algn="ctr"/>
                      <a:r>
                        <a:rPr kumimoji="1" lang="en-US" altLang="ja-JP" sz="2400" b="0" dirty="0" smtClean="0"/>
                        <a:t>ratio</a:t>
                      </a:r>
                      <a:endParaRPr kumimoji="1" lang="ja-JP" altLang="en-US" sz="2400" b="0" dirty="0"/>
                    </a:p>
                  </a:txBody>
                  <a:tcPr anchor="ctr">
                    <a:lnR w="28575" cap="flat" cmpd="sng" algn="ctr">
                      <a:solidFill>
                        <a:schemeClr val="tx1"/>
                      </a:solidFill>
                      <a:prstDash val="solid"/>
                      <a:round/>
                      <a:headEnd type="none" w="med" len="med"/>
                      <a:tailEnd type="none" w="med" len="med"/>
                    </a:lnR>
                    <a:lnB w="28575" cap="flat" cmpd="sng" algn="ctr">
                      <a:solidFill>
                        <a:schemeClr val="tx1"/>
                      </a:solidFill>
                      <a:prstDash val="solid"/>
                      <a:round/>
                      <a:headEnd type="none" w="med" len="med"/>
                      <a:tailEnd type="none" w="med" len="med"/>
                    </a:lnB>
                  </a:tcPr>
                </a:tc>
                <a:tc>
                  <a:txBody>
                    <a:bodyPr/>
                    <a:lstStyle/>
                    <a:p>
                      <a:pPr algn="ctr"/>
                      <a:r>
                        <a:rPr kumimoji="1" lang="en-US" altLang="ja-JP" sz="2800" b="0" dirty="0" smtClean="0"/>
                        <a:t>0.1</a:t>
                      </a:r>
                      <a:endParaRPr kumimoji="1" lang="ja-JP" altLang="en-US" sz="2800" b="0" dirty="0"/>
                    </a:p>
                  </a:txBody>
                  <a:tcPr anchor="ctr">
                    <a:lnL w="28575" cap="flat" cmpd="sng" algn="ctr">
                      <a:solidFill>
                        <a:schemeClr val="tx1"/>
                      </a:solidFill>
                      <a:prstDash val="solid"/>
                      <a:round/>
                      <a:headEnd type="none" w="med" len="med"/>
                      <a:tailEnd type="none" w="med" len="med"/>
                    </a:lnL>
                    <a:lnB w="28575" cap="flat" cmpd="sng" algn="ctr">
                      <a:solidFill>
                        <a:schemeClr val="tx1"/>
                      </a:solidFill>
                      <a:prstDash val="solid"/>
                      <a:round/>
                      <a:headEnd type="none" w="med" len="med"/>
                      <a:tailEnd type="none" w="med" len="med"/>
                    </a:lnB>
                  </a:tcPr>
                </a:tc>
                <a:tc>
                  <a:txBody>
                    <a:bodyPr/>
                    <a:lstStyle/>
                    <a:p>
                      <a:pPr algn="ctr"/>
                      <a:r>
                        <a:rPr kumimoji="1" lang="en-US" altLang="ja-JP" sz="2800" b="0" dirty="0" smtClean="0"/>
                        <a:t>0.15</a:t>
                      </a:r>
                      <a:endParaRPr kumimoji="1" lang="ja-JP" altLang="en-US" sz="2800" b="0" dirty="0"/>
                    </a:p>
                  </a:txBody>
                  <a:tcPr anchor="ctr">
                    <a:lnB w="28575" cap="flat" cmpd="sng" algn="ctr">
                      <a:solidFill>
                        <a:schemeClr val="tx1"/>
                      </a:solidFill>
                      <a:prstDash val="solid"/>
                      <a:round/>
                      <a:headEnd type="none" w="med" len="med"/>
                      <a:tailEnd type="none" w="med" len="med"/>
                    </a:lnB>
                  </a:tcPr>
                </a:tc>
                <a:tc>
                  <a:txBody>
                    <a:bodyPr/>
                    <a:lstStyle/>
                    <a:p>
                      <a:pPr algn="ctr"/>
                      <a:r>
                        <a:rPr kumimoji="1" lang="en-US" altLang="ja-JP" sz="2800" b="0" dirty="0" smtClean="0"/>
                        <a:t>0.2</a:t>
                      </a:r>
                      <a:endParaRPr kumimoji="1" lang="ja-JP" altLang="en-US" sz="2800" b="0" dirty="0"/>
                    </a:p>
                  </a:txBody>
                  <a:tcPr anchor="ctr">
                    <a:lnB w="28575" cap="flat" cmpd="sng" algn="ctr">
                      <a:solidFill>
                        <a:schemeClr val="tx1"/>
                      </a:solidFill>
                      <a:prstDash val="solid"/>
                      <a:round/>
                      <a:headEnd type="none" w="med" len="med"/>
                      <a:tailEnd type="none" w="med" len="med"/>
                    </a:lnB>
                  </a:tcPr>
                </a:tc>
                <a:tc>
                  <a:txBody>
                    <a:bodyPr/>
                    <a:lstStyle/>
                    <a:p>
                      <a:pPr algn="ctr"/>
                      <a:r>
                        <a:rPr kumimoji="1" lang="en-US" altLang="ja-JP" sz="2800" b="0" dirty="0" smtClean="0"/>
                        <a:t>0.25</a:t>
                      </a:r>
                      <a:endParaRPr kumimoji="1" lang="ja-JP" altLang="en-US" sz="2800" b="0" dirty="0"/>
                    </a:p>
                  </a:txBody>
                  <a:tcPr anchor="ctr">
                    <a:lnB w="28575" cap="flat" cmpd="sng" algn="ctr">
                      <a:solidFill>
                        <a:schemeClr val="tx1"/>
                      </a:solidFill>
                      <a:prstDash val="solid"/>
                      <a:round/>
                      <a:headEnd type="none" w="med" len="med"/>
                      <a:tailEnd type="none" w="med" len="med"/>
                    </a:lnB>
                  </a:tcPr>
                </a:tc>
                <a:tc>
                  <a:txBody>
                    <a:bodyPr/>
                    <a:lstStyle/>
                    <a:p>
                      <a:pPr algn="ctr"/>
                      <a:r>
                        <a:rPr kumimoji="1" lang="en-US" altLang="ja-JP" sz="2800" b="0" dirty="0" smtClean="0"/>
                        <a:t>0.3</a:t>
                      </a:r>
                      <a:endParaRPr kumimoji="1" lang="ja-JP" altLang="en-US" sz="2800" b="0" dirty="0"/>
                    </a:p>
                  </a:txBody>
                  <a:tcPr anchor="ctr">
                    <a:lnB w="28575" cap="flat" cmpd="sng" algn="ctr">
                      <a:solidFill>
                        <a:schemeClr val="tx1"/>
                      </a:solidFill>
                      <a:prstDash val="solid"/>
                      <a:round/>
                      <a:headEnd type="none" w="med" len="med"/>
                      <a:tailEnd type="none" w="med" len="med"/>
                    </a:lnB>
                  </a:tcPr>
                </a:tc>
                <a:tc>
                  <a:txBody>
                    <a:bodyPr/>
                    <a:lstStyle/>
                    <a:p>
                      <a:pPr algn="ctr"/>
                      <a:r>
                        <a:rPr kumimoji="1" lang="en-US" altLang="ja-JP" sz="2800" b="0" dirty="0" smtClean="0"/>
                        <a:t>0.35</a:t>
                      </a:r>
                      <a:endParaRPr kumimoji="1" lang="ja-JP" altLang="en-US" sz="2800" b="0" dirty="0"/>
                    </a:p>
                  </a:txBody>
                  <a:tcPr anchor="ctr">
                    <a:lnB w="28575" cap="flat" cmpd="sng" algn="ctr">
                      <a:solidFill>
                        <a:schemeClr val="tx1"/>
                      </a:solidFill>
                      <a:prstDash val="solid"/>
                      <a:round/>
                      <a:headEnd type="none" w="med" len="med"/>
                      <a:tailEnd type="none" w="med" len="med"/>
                    </a:lnB>
                  </a:tcPr>
                </a:tc>
                <a:tc>
                  <a:txBody>
                    <a:bodyPr/>
                    <a:lstStyle/>
                    <a:p>
                      <a:pPr algn="ctr"/>
                      <a:r>
                        <a:rPr kumimoji="1" lang="en-US" altLang="ja-JP" sz="2800" b="0" dirty="0" smtClean="0"/>
                        <a:t>0.4</a:t>
                      </a:r>
                      <a:endParaRPr kumimoji="1" lang="ja-JP" altLang="en-US" sz="2800" b="0" dirty="0"/>
                    </a:p>
                  </a:txBody>
                  <a:tcPr anchor="ctr">
                    <a:lnB w="28575" cap="flat" cmpd="sng" algn="ctr">
                      <a:solidFill>
                        <a:schemeClr val="tx1"/>
                      </a:solidFill>
                      <a:prstDash val="solid"/>
                      <a:round/>
                      <a:headEnd type="none" w="med" len="med"/>
                      <a:tailEnd type="none" w="med" len="med"/>
                    </a:lnB>
                  </a:tcPr>
                </a:tc>
              </a:tr>
              <a:tr h="370840">
                <a:tc>
                  <a:txBody>
                    <a:bodyPr/>
                    <a:lstStyle/>
                    <a:p>
                      <a:pPr algn="ctr"/>
                      <a:r>
                        <a:rPr kumimoji="1" lang="en-US" altLang="ja-JP" sz="2800" b="0" dirty="0" smtClean="0"/>
                        <a:t>SGB</a:t>
                      </a:r>
                      <a:endParaRPr kumimoji="1" lang="ja-JP" altLang="en-US" sz="2800" b="0" dirty="0"/>
                    </a:p>
                  </a:txBody>
                  <a:tcPr anchor="ctr">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tcPr>
                </a:tc>
                <a:tc>
                  <a:txBody>
                    <a:bodyPr/>
                    <a:lstStyle/>
                    <a:p>
                      <a:pPr algn="ctr"/>
                      <a:r>
                        <a:rPr kumimoji="1" lang="en-US" altLang="ja-JP" sz="2200" b="0" dirty="0" smtClean="0"/>
                        <a:t>0.5182</a:t>
                      </a:r>
                      <a:endParaRPr kumimoji="1" lang="ja-JP" altLang="en-US" sz="2200" b="0" dirty="0"/>
                    </a:p>
                  </a:txBody>
                  <a:tcPr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tcPr>
                </a:tc>
                <a:tc>
                  <a:txBody>
                    <a:bodyPr/>
                    <a:lstStyle/>
                    <a:p>
                      <a:pPr algn="ctr"/>
                      <a:r>
                        <a:rPr kumimoji="1" lang="en-US" altLang="ja-JP" sz="2200" b="0" dirty="0" smtClean="0"/>
                        <a:t>0.5216</a:t>
                      </a:r>
                      <a:endParaRPr kumimoji="1" lang="ja-JP" altLang="en-US" sz="2200" b="0" dirty="0"/>
                    </a:p>
                  </a:txBody>
                  <a:tcPr anchor="ctr">
                    <a:lnT w="28575" cap="flat" cmpd="sng" algn="ctr">
                      <a:solidFill>
                        <a:schemeClr val="tx1"/>
                      </a:solidFill>
                      <a:prstDash val="solid"/>
                      <a:round/>
                      <a:headEnd type="none" w="med" len="med"/>
                      <a:tailEnd type="none" w="med" len="med"/>
                    </a:lnT>
                  </a:tcPr>
                </a:tc>
                <a:tc>
                  <a:txBody>
                    <a:bodyPr/>
                    <a:lstStyle/>
                    <a:p>
                      <a:pPr algn="ctr"/>
                      <a:r>
                        <a:rPr kumimoji="1" lang="en-US" altLang="ja-JP" sz="2200" b="0" dirty="0" smtClean="0"/>
                        <a:t>0.5239</a:t>
                      </a:r>
                      <a:endParaRPr kumimoji="1" lang="ja-JP" altLang="en-US" sz="2200" b="0" dirty="0"/>
                    </a:p>
                  </a:txBody>
                  <a:tcPr anchor="ctr">
                    <a:lnT w="28575" cap="flat" cmpd="sng" algn="ctr">
                      <a:solidFill>
                        <a:schemeClr val="tx1"/>
                      </a:solidFill>
                      <a:prstDash val="solid"/>
                      <a:round/>
                      <a:headEnd type="none" w="med" len="med"/>
                      <a:tailEnd type="none" w="med" len="med"/>
                    </a:lnT>
                  </a:tcPr>
                </a:tc>
                <a:tc>
                  <a:txBody>
                    <a:bodyPr/>
                    <a:lstStyle/>
                    <a:p>
                      <a:pPr algn="ctr"/>
                      <a:r>
                        <a:rPr kumimoji="1" lang="en-US" altLang="ja-JP" sz="2200" b="0" dirty="0" smtClean="0"/>
                        <a:t>0.5249</a:t>
                      </a:r>
                      <a:endParaRPr kumimoji="1" lang="ja-JP" altLang="en-US" sz="2200" b="0" dirty="0"/>
                    </a:p>
                  </a:txBody>
                  <a:tcPr anchor="ctr">
                    <a:lnT w="28575" cap="flat" cmpd="sng" algn="ctr">
                      <a:solidFill>
                        <a:schemeClr val="tx1"/>
                      </a:solidFill>
                      <a:prstDash val="solid"/>
                      <a:round/>
                      <a:headEnd type="none" w="med" len="med"/>
                      <a:tailEnd type="none" w="med" len="med"/>
                    </a:lnT>
                  </a:tcPr>
                </a:tc>
                <a:tc>
                  <a:txBody>
                    <a:bodyPr/>
                    <a:lstStyle/>
                    <a:p>
                      <a:pPr algn="ctr"/>
                      <a:r>
                        <a:rPr kumimoji="1" lang="en-US" altLang="ja-JP" sz="2200" b="0" dirty="0" smtClean="0"/>
                        <a:t>0.5252</a:t>
                      </a:r>
                      <a:endParaRPr kumimoji="1" lang="ja-JP" altLang="en-US" sz="2200" b="0" dirty="0"/>
                    </a:p>
                  </a:txBody>
                  <a:tcPr anchor="ctr">
                    <a:lnT w="28575" cap="flat" cmpd="sng" algn="ctr">
                      <a:solidFill>
                        <a:schemeClr val="tx1"/>
                      </a:solidFill>
                      <a:prstDash val="solid"/>
                      <a:round/>
                      <a:headEnd type="none" w="med" len="med"/>
                      <a:tailEnd type="none" w="med" len="med"/>
                    </a:lnT>
                  </a:tcPr>
                </a:tc>
                <a:tc>
                  <a:txBody>
                    <a:bodyPr/>
                    <a:lstStyle/>
                    <a:p>
                      <a:pPr algn="ctr"/>
                      <a:r>
                        <a:rPr kumimoji="1" lang="en-US" altLang="ja-JP" sz="2200" b="0" dirty="0" smtClean="0"/>
                        <a:t>0.5263</a:t>
                      </a:r>
                      <a:endParaRPr kumimoji="1" lang="ja-JP" altLang="en-US" sz="2200" b="0" dirty="0"/>
                    </a:p>
                  </a:txBody>
                  <a:tcPr anchor="ctr">
                    <a:lnT w="28575" cap="flat" cmpd="sng" algn="ctr">
                      <a:solidFill>
                        <a:schemeClr val="tx1"/>
                      </a:solidFill>
                      <a:prstDash val="solid"/>
                      <a:round/>
                      <a:headEnd type="none" w="med" len="med"/>
                      <a:tailEnd type="none" w="med" len="med"/>
                    </a:lnT>
                  </a:tcPr>
                </a:tc>
                <a:tc>
                  <a:txBody>
                    <a:bodyPr/>
                    <a:lstStyle/>
                    <a:p>
                      <a:pPr algn="ctr"/>
                      <a:r>
                        <a:rPr kumimoji="1" lang="en-US" altLang="ja-JP" sz="2200" b="0" dirty="0" smtClean="0"/>
                        <a:t>0.5267</a:t>
                      </a:r>
                      <a:endParaRPr kumimoji="1" lang="ja-JP" altLang="en-US" sz="2200" b="0" dirty="0"/>
                    </a:p>
                  </a:txBody>
                  <a:tcPr anchor="ctr">
                    <a:lnT w="28575" cap="flat" cmpd="sng" algn="ctr">
                      <a:solidFill>
                        <a:schemeClr val="tx1"/>
                      </a:solidFill>
                      <a:prstDash val="solid"/>
                      <a:round/>
                      <a:headEnd type="none" w="med" len="med"/>
                      <a:tailEnd type="none" w="med" len="med"/>
                    </a:lnT>
                  </a:tcPr>
                </a:tc>
              </a:tr>
              <a:tr h="370840">
                <a:tc>
                  <a:txBody>
                    <a:bodyPr/>
                    <a:lstStyle/>
                    <a:p>
                      <a:pPr algn="ctr"/>
                      <a:r>
                        <a:rPr kumimoji="1" lang="en-US" altLang="ja-JP" sz="2800" b="0" dirty="0" smtClean="0"/>
                        <a:t>GOSS</a:t>
                      </a:r>
                      <a:endParaRPr kumimoji="1" lang="ja-JP" altLang="en-US" sz="2800" b="0" dirty="0"/>
                    </a:p>
                  </a:txBody>
                  <a:tcPr anchor="ctr">
                    <a:lnR w="28575" cap="flat" cmpd="sng" algn="ctr">
                      <a:solidFill>
                        <a:schemeClr val="tx1"/>
                      </a:solidFill>
                      <a:prstDash val="solid"/>
                      <a:round/>
                      <a:headEnd type="none" w="med" len="med"/>
                      <a:tailEnd type="none" w="med" len="med"/>
                    </a:lnR>
                  </a:tcPr>
                </a:tc>
                <a:tc>
                  <a:txBody>
                    <a:bodyPr/>
                    <a:lstStyle/>
                    <a:p>
                      <a:pPr algn="ctr"/>
                      <a:r>
                        <a:rPr kumimoji="1" lang="en-US" altLang="ja-JP" sz="2200" b="0" dirty="0" smtClean="0"/>
                        <a:t>0.5224</a:t>
                      </a:r>
                      <a:endParaRPr kumimoji="1" lang="ja-JP" altLang="en-US" sz="2200" b="0" dirty="0"/>
                    </a:p>
                  </a:txBody>
                  <a:tcPr anchor="ctr">
                    <a:lnL w="28575" cap="flat" cmpd="sng" algn="ctr">
                      <a:solidFill>
                        <a:schemeClr val="tx1"/>
                      </a:solidFill>
                      <a:prstDash val="solid"/>
                      <a:round/>
                      <a:headEnd type="none" w="med" len="med"/>
                      <a:tailEnd type="none" w="med" len="med"/>
                    </a:lnL>
                  </a:tcPr>
                </a:tc>
                <a:tc>
                  <a:txBody>
                    <a:bodyPr/>
                    <a:lstStyle/>
                    <a:p>
                      <a:pPr algn="ctr"/>
                      <a:r>
                        <a:rPr kumimoji="1" lang="en-US" altLang="ja-JP" sz="2200" b="0" dirty="0" smtClean="0"/>
                        <a:t>0.5256</a:t>
                      </a:r>
                      <a:endParaRPr kumimoji="1" lang="ja-JP" altLang="en-US" sz="2200" b="0" dirty="0"/>
                    </a:p>
                  </a:txBody>
                  <a:tcPr anchor="ctr"/>
                </a:tc>
                <a:tc>
                  <a:txBody>
                    <a:bodyPr/>
                    <a:lstStyle/>
                    <a:p>
                      <a:pPr algn="ctr"/>
                      <a:r>
                        <a:rPr kumimoji="1" lang="en-US" altLang="ja-JP" sz="2200" b="0" dirty="0" smtClean="0"/>
                        <a:t>0.5275</a:t>
                      </a:r>
                      <a:endParaRPr kumimoji="1" lang="ja-JP" altLang="en-US" sz="2200" b="0" dirty="0"/>
                    </a:p>
                  </a:txBody>
                  <a:tcPr anchor="ctr"/>
                </a:tc>
                <a:tc>
                  <a:txBody>
                    <a:bodyPr/>
                    <a:lstStyle/>
                    <a:p>
                      <a:pPr algn="ctr"/>
                      <a:r>
                        <a:rPr kumimoji="1" lang="en-US" altLang="ja-JP" sz="2200" b="0" dirty="0" smtClean="0"/>
                        <a:t>0.5284</a:t>
                      </a:r>
                      <a:endParaRPr kumimoji="1" lang="ja-JP" altLang="en-US" sz="2200" b="0" dirty="0"/>
                    </a:p>
                  </a:txBody>
                  <a:tcPr anchor="ctr"/>
                </a:tc>
                <a:tc>
                  <a:txBody>
                    <a:bodyPr/>
                    <a:lstStyle/>
                    <a:p>
                      <a:pPr algn="ctr"/>
                      <a:r>
                        <a:rPr kumimoji="1" lang="en-US" altLang="ja-JP" sz="2200" b="0" dirty="0" smtClean="0"/>
                        <a:t>0.5289</a:t>
                      </a:r>
                      <a:endParaRPr kumimoji="1" lang="ja-JP" altLang="en-US" sz="2200" b="0" dirty="0"/>
                    </a:p>
                  </a:txBody>
                  <a:tcPr anchor="ctr"/>
                </a:tc>
                <a:tc>
                  <a:txBody>
                    <a:bodyPr/>
                    <a:lstStyle/>
                    <a:p>
                      <a:pPr algn="ctr"/>
                      <a:r>
                        <a:rPr kumimoji="1" lang="en-US" altLang="ja-JP" sz="2200" b="0" dirty="0" smtClean="0"/>
                        <a:t>0.5293</a:t>
                      </a:r>
                      <a:endParaRPr kumimoji="1" lang="ja-JP" altLang="en-US" sz="2200" b="0" dirty="0"/>
                    </a:p>
                  </a:txBody>
                  <a:tcPr anchor="ctr"/>
                </a:tc>
                <a:tc>
                  <a:txBody>
                    <a:bodyPr/>
                    <a:lstStyle/>
                    <a:p>
                      <a:pPr algn="ctr"/>
                      <a:r>
                        <a:rPr kumimoji="1" lang="en-US" altLang="ja-JP" sz="2200" b="0" dirty="0" smtClean="0"/>
                        <a:t>0.5296</a:t>
                      </a:r>
                      <a:endParaRPr kumimoji="1" lang="ja-JP" altLang="en-US" sz="2200" b="0" dirty="0"/>
                    </a:p>
                  </a:txBody>
                  <a:tcPr anchor="ctr"/>
                </a:tc>
              </a:tr>
            </a:tbl>
          </a:graphicData>
        </a:graphic>
      </p:graphicFrame>
    </p:spTree>
    <p:extLst>
      <p:ext uri="{BB962C8B-B14F-4D97-AF65-F5344CB8AC3E}">
        <p14:creationId xmlns:p14="http://schemas.microsoft.com/office/powerpoint/2010/main" val="518797165"/>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考察</a:t>
            </a:r>
            <a:endParaRPr kumimoji="1" lang="ja-JP" altLang="en-US" dirty="0"/>
          </a:p>
        </p:txBody>
      </p:sp>
      <p:sp>
        <p:nvSpPr>
          <p:cNvPr id="5" name="コンテンツ プレースホルダー 4"/>
          <p:cNvSpPr>
            <a:spLocks noGrp="1"/>
          </p:cNvSpPr>
          <p:nvPr>
            <p:ph idx="1"/>
          </p:nvPr>
        </p:nvSpPr>
        <p:spPr/>
        <p:txBody>
          <a:bodyPr/>
          <a:lstStyle/>
          <a:p>
            <a:r>
              <a:rPr kumimoji="1" lang="ja-JP" altLang="en-US" dirty="0" smtClean="0"/>
              <a:t>実行時間への影響</a:t>
            </a:r>
            <a:endParaRPr kumimoji="1" lang="en-US" altLang="ja-JP" dirty="0" smtClean="0"/>
          </a:p>
          <a:p>
            <a:endParaRPr lang="en-US" altLang="ja-JP" dirty="0"/>
          </a:p>
          <a:p>
            <a:endParaRPr kumimoji="1" lang="en-US" altLang="ja-JP" dirty="0" smtClean="0"/>
          </a:p>
          <a:p>
            <a:r>
              <a:rPr lang="en-US" altLang="ja-JP" dirty="0" smtClean="0"/>
              <a:t/>
            </a:r>
            <a:br>
              <a:rPr lang="en-US" altLang="ja-JP" dirty="0" smtClean="0"/>
            </a:br>
            <a:r>
              <a:rPr lang="en-US" altLang="ja-JP" dirty="0"/>
              <a:t/>
            </a:r>
            <a:br>
              <a:rPr lang="en-US" altLang="ja-JP" dirty="0"/>
            </a:br>
            <a:r>
              <a:rPr lang="en-US" altLang="ja-JP" dirty="0"/>
              <a:t/>
            </a:r>
            <a:br>
              <a:rPr lang="en-US" altLang="ja-JP" dirty="0"/>
            </a:br>
            <a:r>
              <a:rPr lang="en-US" altLang="ja-JP" dirty="0" smtClean="0"/>
              <a:t>EFB</a:t>
            </a:r>
            <a:r>
              <a:rPr lang="ja-JP" altLang="en-US" dirty="0" smtClean="0"/>
              <a:t>の追加により，大幅な実行時間の短縮に</a:t>
            </a:r>
            <a:r>
              <a:rPr lang="en-US" altLang="ja-JP" dirty="0" smtClean="0"/>
              <a:t/>
            </a:r>
            <a:br>
              <a:rPr lang="en-US" altLang="ja-JP" dirty="0" smtClean="0"/>
            </a:br>
            <a:r>
              <a:rPr lang="ja-JP" altLang="en-US" dirty="0" smtClean="0"/>
              <a:t>成功している．これは，特徴数の削減に加え，データの空間的局所性を利用しキャッシュヒット率を上げているためと考えられる．</a:t>
            </a:r>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30</a:t>
            </a:fld>
            <a:endParaRPr kumimoji="1" lang="ja-JP" altLang="en-US" dirty="0"/>
          </a:p>
        </p:txBody>
      </p:sp>
      <p:sp>
        <p:nvSpPr>
          <p:cNvPr id="6" name="テキスト プレースホルダー 5"/>
          <p:cNvSpPr>
            <a:spLocks noGrp="1"/>
          </p:cNvSpPr>
          <p:nvPr>
            <p:ph type="body" sz="quarter" idx="13"/>
          </p:nvPr>
        </p:nvSpPr>
        <p:spPr/>
        <p:txBody>
          <a:bodyPr/>
          <a:lstStyle/>
          <a:p>
            <a:r>
              <a:rPr kumimoji="1" lang="en-US" altLang="ja-JP" dirty="0" smtClean="0"/>
              <a:t>Effect</a:t>
            </a:r>
            <a:r>
              <a:rPr kumimoji="1" lang="ja-JP" altLang="en-US" dirty="0" smtClean="0"/>
              <a:t> </a:t>
            </a:r>
            <a:r>
              <a:rPr kumimoji="1" lang="en-US" altLang="ja-JP" dirty="0" smtClean="0"/>
              <a:t>of</a:t>
            </a:r>
            <a:r>
              <a:rPr kumimoji="1" lang="ja-JP" altLang="en-US" dirty="0" smtClean="0"/>
              <a:t> </a:t>
            </a:r>
            <a:r>
              <a:rPr lang="en-US" altLang="ja-JP" dirty="0" smtClean="0"/>
              <a:t>EF</a:t>
            </a:r>
            <a:r>
              <a:rPr lang="en-US" altLang="ja-JP" dirty="0"/>
              <a:t>B</a:t>
            </a:r>
            <a:endParaRPr kumimoji="1" lang="ja-JP" altLang="en-US" dirty="0"/>
          </a:p>
        </p:txBody>
      </p:sp>
      <p:graphicFrame>
        <p:nvGraphicFramePr>
          <p:cNvPr id="3" name="表 2"/>
          <p:cNvGraphicFramePr>
            <a:graphicFrameLocks noGrp="1"/>
          </p:cNvGraphicFramePr>
          <p:nvPr>
            <p:extLst>
              <p:ext uri="{D42A27DB-BD31-4B8C-83A1-F6EECF244321}">
                <p14:modId xmlns:p14="http://schemas.microsoft.com/office/powerpoint/2010/main" val="3302054935"/>
              </p:ext>
            </p:extLst>
          </p:nvPr>
        </p:nvGraphicFramePr>
        <p:xfrm>
          <a:off x="2155508" y="2057400"/>
          <a:ext cx="4832985" cy="2560320"/>
        </p:xfrm>
        <a:graphic>
          <a:graphicData uri="http://schemas.openxmlformats.org/drawingml/2006/table">
            <a:tbl>
              <a:tblPr firstRow="1" bandRow="1">
                <a:tableStyleId>{5C22544A-7EE6-4342-B048-85BDC9FD1C3A}</a:tableStyleId>
              </a:tblPr>
              <a:tblGrid>
                <a:gridCol w="1595755"/>
                <a:gridCol w="1647825"/>
                <a:gridCol w="1589405"/>
              </a:tblGrid>
              <a:tr h="370840">
                <a:tc>
                  <a:txBody>
                    <a:bodyPr/>
                    <a:lstStyle/>
                    <a:p>
                      <a:pPr algn="ctr"/>
                      <a:endParaRPr kumimoji="1" lang="ja-JP" altLang="en-US" sz="2800" b="0" dirty="0">
                        <a:solidFill>
                          <a:sysClr val="windowText" lastClr="000000"/>
                        </a:solidFill>
                      </a:endParaRPr>
                    </a:p>
                  </a:txBody>
                  <a:tcPr marL="0" marR="0" marT="0" marB="0"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000" b="0" dirty="0" err="1" smtClean="0">
                          <a:solidFill>
                            <a:schemeClr val="tx1"/>
                          </a:solidFill>
                        </a:rPr>
                        <a:t>lgb_baseline</a:t>
                      </a:r>
                      <a:endParaRPr kumimoji="1" lang="ja-JP" altLang="en-US" sz="2000" b="0" dirty="0">
                        <a:solidFill>
                          <a:schemeClr val="tx1"/>
                        </a:solidFill>
                      </a:endParaRPr>
                    </a:p>
                  </a:txBody>
                  <a:tcPr marL="0" marR="0" marT="0"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400" b="0" dirty="0" err="1" smtClean="0">
                          <a:solidFill>
                            <a:sysClr val="windowText" lastClr="000000"/>
                          </a:solidFill>
                        </a:rPr>
                        <a:t>EFB_only</a:t>
                      </a:r>
                      <a:endParaRPr kumimoji="1" lang="ja-JP" altLang="en-US" sz="2400" b="0" dirty="0">
                        <a:solidFill>
                          <a:sysClr val="windowText" lastClr="000000"/>
                        </a:solidFill>
                      </a:endParaRPr>
                    </a:p>
                  </a:txBody>
                  <a:tcPr marL="0" marR="0" marT="0" marB="0" anchor="ctr">
                    <a:lnL w="12700" cap="flat" cmpd="sng" algn="ctr">
                      <a:solidFill>
                        <a:schemeClr val="tx1"/>
                      </a:solidFill>
                      <a:prstDash val="solid"/>
                      <a:round/>
                      <a:headEnd type="none" w="med" len="med"/>
                      <a:tailEnd type="none" w="med" len="med"/>
                    </a:lnL>
                    <a:lnR w="28575" cap="flat" cmpd="sng" algn="ctr">
                      <a:no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r>
              <a:tr h="370840">
                <a:tc>
                  <a:txBody>
                    <a:bodyPr/>
                    <a:lstStyle/>
                    <a:p>
                      <a:pPr algn="ctr"/>
                      <a:r>
                        <a:rPr kumimoji="1" lang="en-US" altLang="ja-JP" sz="2400" b="0" dirty="0" err="1" smtClean="0">
                          <a:solidFill>
                            <a:sysClr val="windowText" lastClr="000000"/>
                          </a:solidFill>
                        </a:rPr>
                        <a:t>Allsate</a:t>
                      </a:r>
                      <a:endParaRPr kumimoji="1" lang="ja-JP" altLang="en-US" sz="2400" b="0" dirty="0">
                        <a:solidFill>
                          <a:sysClr val="windowText" lastClr="000000"/>
                        </a:solidFill>
                      </a:endParaRPr>
                    </a:p>
                  </a:txBody>
                  <a:tcPr marL="0" marR="0" marT="0" marB="0"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6.07</a:t>
                      </a:r>
                      <a:endParaRPr kumimoji="1" lang="ja-JP" altLang="en-US" sz="2800" b="0" dirty="0">
                        <a:solidFill>
                          <a:sysClr val="windowText" lastClr="000000"/>
                        </a:solidFill>
                      </a:endParaRPr>
                    </a:p>
                  </a:txBody>
                  <a:tcPr marL="0" marR="0" marT="0"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0.71</a:t>
                      </a:r>
                      <a:endParaRPr kumimoji="1" lang="ja-JP" altLang="en-US" sz="2800" b="0" dirty="0">
                        <a:solidFill>
                          <a:sysClr val="windowText" lastClr="000000"/>
                        </a:solidFill>
                      </a:endParaRPr>
                    </a:p>
                  </a:txBody>
                  <a:tcPr marL="0" marR="0" marT="0" marB="0" anchor="ctr">
                    <a:lnL w="12700" cap="flat" cmpd="sng" algn="ctr">
                      <a:solidFill>
                        <a:schemeClr val="tx1"/>
                      </a:solid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r>
              <a:tr h="370840">
                <a:tc>
                  <a:txBody>
                    <a:bodyPr/>
                    <a:lstStyle/>
                    <a:p>
                      <a:pPr algn="ctr"/>
                      <a:r>
                        <a:rPr kumimoji="1" lang="en-US" altLang="ja-JP" sz="2000" b="0" dirty="0" smtClean="0">
                          <a:solidFill>
                            <a:sysClr val="windowText" lastClr="000000"/>
                          </a:solidFill>
                        </a:rPr>
                        <a:t>Flight Delay</a:t>
                      </a:r>
                      <a:endParaRPr kumimoji="1" lang="ja-JP" altLang="en-US" sz="2000" b="0" dirty="0">
                        <a:solidFill>
                          <a:sysClr val="windowText" lastClr="000000"/>
                        </a:solidFill>
                      </a:endParaRPr>
                    </a:p>
                  </a:txBody>
                  <a:tcPr marL="0" marR="0" marT="0" marB="0"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1.39</a:t>
                      </a:r>
                      <a:endParaRPr kumimoji="1" lang="ja-JP" altLang="en-US" sz="2800" b="0" dirty="0">
                        <a:solidFill>
                          <a:sysClr val="windowText" lastClr="000000"/>
                        </a:solidFill>
                      </a:endParaRPr>
                    </a:p>
                  </a:txBody>
                  <a:tcPr marL="0" marR="0" marT="0"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800" b="0" dirty="0" smtClean="0">
                          <a:solidFill>
                            <a:sysClr val="windowText" lastClr="000000"/>
                          </a:solidFill>
                        </a:rPr>
                        <a:t>0.27</a:t>
                      </a:r>
                      <a:endParaRPr kumimoji="1" lang="ja-JP" altLang="en-US" sz="2800" b="0" dirty="0" smtClean="0">
                        <a:solidFill>
                          <a:sysClr val="windowText" lastClr="000000"/>
                        </a:solidFill>
                      </a:endParaRPr>
                    </a:p>
                  </a:txBody>
                  <a:tcPr marL="0" marR="0" marT="0" marB="0" anchor="ctr">
                    <a:lnL w="12700" cap="flat" cmpd="sng" algn="ctr">
                      <a:solidFill>
                        <a:schemeClr val="tx1"/>
                      </a:solidFill>
                      <a:prstDash val="solid"/>
                      <a:round/>
                      <a:headEnd type="none" w="med" len="med"/>
                      <a:tailEnd type="none" w="med" len="med"/>
                    </a:lnL>
                    <a:lnR w="285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r>
              <a:tr h="370840">
                <a:tc>
                  <a:txBody>
                    <a:bodyPr/>
                    <a:lstStyle/>
                    <a:p>
                      <a:pPr algn="ctr"/>
                      <a:r>
                        <a:rPr kumimoji="1" lang="en-US" altLang="ja-JP" sz="2400" b="0" dirty="0" smtClean="0">
                          <a:solidFill>
                            <a:sysClr val="windowText" lastClr="000000"/>
                          </a:solidFill>
                        </a:rPr>
                        <a:t>LETOR</a:t>
                      </a:r>
                      <a:endParaRPr kumimoji="1" lang="ja-JP" altLang="en-US" sz="2400" b="0" dirty="0">
                        <a:solidFill>
                          <a:sysClr val="windowText" lastClr="000000"/>
                        </a:solidFill>
                      </a:endParaRPr>
                    </a:p>
                  </a:txBody>
                  <a:tcPr marL="0" marR="0" marT="0" marB="0"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0.49</a:t>
                      </a:r>
                      <a:endParaRPr kumimoji="1" lang="ja-JP" altLang="en-US" sz="2800" b="0" dirty="0">
                        <a:solidFill>
                          <a:sysClr val="windowText" lastClr="000000"/>
                        </a:solidFill>
                      </a:endParaRPr>
                    </a:p>
                  </a:txBody>
                  <a:tcPr marL="0" marR="0" marT="0"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800" b="0" dirty="0" smtClean="0">
                          <a:solidFill>
                            <a:sysClr val="windowText" lastClr="000000"/>
                          </a:solidFill>
                        </a:rPr>
                        <a:t>0.46</a:t>
                      </a:r>
                      <a:endParaRPr kumimoji="1" lang="ja-JP" altLang="en-US" sz="2800" b="0" dirty="0" smtClean="0">
                        <a:solidFill>
                          <a:sysClr val="windowText" lastClr="000000"/>
                        </a:solidFill>
                      </a:endParaRPr>
                    </a:p>
                  </a:txBody>
                  <a:tcPr marL="0" marR="0" marT="0" marB="0" anchor="ctr">
                    <a:lnL w="12700" cap="flat" cmpd="sng" algn="ctr">
                      <a:solidFill>
                        <a:schemeClr val="tx1"/>
                      </a:solidFill>
                      <a:prstDash val="solid"/>
                      <a:round/>
                      <a:headEnd type="none" w="med" len="med"/>
                      <a:tailEnd type="none" w="med" len="med"/>
                    </a:lnL>
                    <a:lnR w="285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r>
              <a:tr h="370840">
                <a:tc>
                  <a:txBody>
                    <a:bodyPr/>
                    <a:lstStyle/>
                    <a:p>
                      <a:pPr algn="ctr"/>
                      <a:r>
                        <a:rPr kumimoji="1" lang="en-US" altLang="ja-JP" sz="2400" b="0" dirty="0" smtClean="0">
                          <a:solidFill>
                            <a:sysClr val="windowText" lastClr="000000"/>
                          </a:solidFill>
                        </a:rPr>
                        <a:t>KDD10</a:t>
                      </a:r>
                    </a:p>
                  </a:txBody>
                  <a:tcPr marL="0" marR="0" marT="0" marB="0"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39.85</a:t>
                      </a:r>
                      <a:endParaRPr kumimoji="1" lang="ja-JP" altLang="en-US" sz="2800" b="0" dirty="0">
                        <a:solidFill>
                          <a:sysClr val="windowText" lastClr="000000"/>
                        </a:solidFill>
                      </a:endParaRPr>
                    </a:p>
                  </a:txBody>
                  <a:tcPr marL="0" marR="0" marT="0"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800" b="0" dirty="0" smtClean="0">
                          <a:solidFill>
                            <a:sysClr val="windowText" lastClr="000000"/>
                          </a:solidFill>
                        </a:rPr>
                        <a:t>6.33</a:t>
                      </a:r>
                      <a:endParaRPr kumimoji="1" lang="ja-JP" altLang="en-US" sz="2800" b="0" dirty="0" smtClean="0">
                        <a:solidFill>
                          <a:sysClr val="windowText" lastClr="000000"/>
                        </a:solidFill>
                      </a:endParaRPr>
                    </a:p>
                  </a:txBody>
                  <a:tcPr marL="0" marR="0" marT="0" marB="0" anchor="ctr">
                    <a:lnL w="12700" cap="flat" cmpd="sng" algn="ctr">
                      <a:solidFill>
                        <a:schemeClr val="tx1"/>
                      </a:solidFill>
                      <a:prstDash val="solid"/>
                      <a:round/>
                      <a:headEnd type="none" w="med" len="med"/>
                      <a:tailEnd type="none" w="med" len="med"/>
                    </a:lnL>
                    <a:lnR w="285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r>
              <a:tr h="370840">
                <a:tc>
                  <a:txBody>
                    <a:bodyPr/>
                    <a:lstStyle/>
                    <a:p>
                      <a:pPr algn="ctr"/>
                      <a:r>
                        <a:rPr kumimoji="1" lang="en-US" altLang="ja-JP" sz="2400" b="0" dirty="0" smtClean="0">
                          <a:solidFill>
                            <a:sysClr val="windowText" lastClr="000000"/>
                          </a:solidFill>
                        </a:rPr>
                        <a:t>KDD12</a:t>
                      </a:r>
                      <a:endParaRPr kumimoji="1" lang="ja-JP" altLang="en-US" sz="2400" b="0" dirty="0">
                        <a:solidFill>
                          <a:sysClr val="windowText" lastClr="000000"/>
                        </a:solidFill>
                      </a:endParaRPr>
                    </a:p>
                  </a:txBody>
                  <a:tcPr marL="0" marR="0" marT="0" marB="0"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168.26</a:t>
                      </a:r>
                      <a:endParaRPr kumimoji="1" lang="ja-JP" altLang="en-US" sz="2800" b="0" dirty="0">
                        <a:solidFill>
                          <a:sysClr val="windowText" lastClr="000000"/>
                        </a:solidFill>
                      </a:endParaRPr>
                    </a:p>
                  </a:txBody>
                  <a:tcPr marL="0" marR="0" marT="0"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800" b="0" dirty="0" smtClean="0">
                          <a:solidFill>
                            <a:sysClr val="windowText" lastClr="000000"/>
                          </a:solidFill>
                        </a:rPr>
                        <a:t>20.23</a:t>
                      </a:r>
                      <a:endParaRPr kumimoji="1" lang="ja-JP" altLang="en-US" sz="2800" b="0" dirty="0" smtClean="0">
                        <a:solidFill>
                          <a:sysClr val="windowText" lastClr="000000"/>
                        </a:solidFill>
                      </a:endParaRPr>
                    </a:p>
                  </a:txBody>
                  <a:tcPr marL="0" marR="0" marT="0" marB="0" anchor="ctr">
                    <a:lnL w="12700" cap="flat" cmpd="sng" algn="ctr">
                      <a:solidFill>
                        <a:schemeClr val="tx1"/>
                      </a:solidFill>
                      <a:prstDash val="solid"/>
                      <a:round/>
                      <a:headEnd type="none" w="med" len="med"/>
                      <a:tailEnd type="none" w="med" len="med"/>
                    </a:lnL>
                    <a:lnR w="285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r>
            </a:tbl>
          </a:graphicData>
        </a:graphic>
      </p:graphicFrame>
    </p:spTree>
    <p:extLst>
      <p:ext uri="{BB962C8B-B14F-4D97-AF65-F5344CB8AC3E}">
        <p14:creationId xmlns:p14="http://schemas.microsoft.com/office/powerpoint/2010/main" val="2223181423"/>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p:cNvSpPr>
            <a:spLocks noGrp="1"/>
          </p:cNvSpPr>
          <p:nvPr>
            <p:ph type="title"/>
          </p:nvPr>
        </p:nvSpPr>
        <p:spPr/>
        <p:txBody>
          <a:bodyPr/>
          <a:lstStyle/>
          <a:p>
            <a:r>
              <a:rPr lang="ja-JP" altLang="en-US" dirty="0"/>
              <a:t>結論</a:t>
            </a:r>
            <a:endParaRPr kumimoji="1" lang="ja-JP" altLang="en-US" dirty="0"/>
          </a:p>
        </p:txBody>
      </p:sp>
      <p:sp>
        <p:nvSpPr>
          <p:cNvPr id="7" name="コンテンツ プレースホルダー 6"/>
          <p:cNvSpPr>
            <a:spLocks noGrp="1"/>
          </p:cNvSpPr>
          <p:nvPr>
            <p:ph idx="1"/>
          </p:nvPr>
        </p:nvSpPr>
        <p:spPr/>
        <p:txBody>
          <a:bodyPr/>
          <a:lstStyle/>
          <a:p>
            <a:r>
              <a:rPr kumimoji="1" lang="en-US" altLang="ja-JP" dirty="0" smtClean="0"/>
              <a:t>GBDT</a:t>
            </a:r>
            <a:r>
              <a:rPr kumimoji="1" lang="ja-JP" altLang="en-US" dirty="0" smtClean="0"/>
              <a:t>に対し，データ数削減のための</a:t>
            </a:r>
            <a:r>
              <a:rPr kumimoji="1" lang="en-US" altLang="ja-JP" dirty="0" smtClean="0"/>
              <a:t>GOSS</a:t>
            </a:r>
            <a:r>
              <a:rPr kumimoji="1" lang="ja-JP" altLang="en-US" dirty="0" err="1" smtClean="0"/>
              <a:t>，</a:t>
            </a:r>
            <a:r>
              <a:rPr kumimoji="1" lang="en-US" altLang="ja-JP" dirty="0" smtClean="0"/>
              <a:t/>
            </a:r>
            <a:br>
              <a:rPr kumimoji="1" lang="en-US" altLang="ja-JP" dirty="0" smtClean="0"/>
            </a:br>
            <a:r>
              <a:rPr kumimoji="1" lang="ja-JP" altLang="en-US" dirty="0" smtClean="0"/>
              <a:t>特徴数削減のための</a:t>
            </a:r>
            <a:r>
              <a:rPr kumimoji="1" lang="en-US" altLang="ja-JP" dirty="0" smtClean="0"/>
              <a:t>EFB</a:t>
            </a:r>
            <a:r>
              <a:rPr kumimoji="1" lang="ja-JP" altLang="en-US" dirty="0" smtClean="0"/>
              <a:t>を組み込んだ高速な</a:t>
            </a:r>
            <a:r>
              <a:rPr kumimoji="1" lang="en-US" altLang="ja-JP" dirty="0" smtClean="0"/>
              <a:t/>
            </a:r>
            <a:br>
              <a:rPr kumimoji="1" lang="en-US" altLang="ja-JP" dirty="0" smtClean="0"/>
            </a:br>
            <a:r>
              <a:rPr kumimoji="1" lang="ja-JP" altLang="en-US" dirty="0" smtClean="0"/>
              <a:t>アルゴリズムである</a:t>
            </a:r>
            <a:r>
              <a:rPr kumimoji="1" lang="en-US" altLang="ja-JP" dirty="0" err="1" smtClean="0"/>
              <a:t>LightGBM</a:t>
            </a:r>
            <a:r>
              <a:rPr kumimoji="1" lang="ja-JP" altLang="en-US" dirty="0" smtClean="0"/>
              <a:t>を提案した．</a:t>
            </a:r>
            <a:endParaRPr kumimoji="1" lang="en-US" altLang="ja-JP" dirty="0" smtClean="0"/>
          </a:p>
          <a:p>
            <a:r>
              <a:rPr lang="ja-JP" altLang="en-US" dirty="0" smtClean="0"/>
              <a:t>実験</a:t>
            </a:r>
            <a:r>
              <a:rPr lang="ja-JP" altLang="en-US" dirty="0"/>
              <a:t>結果</a:t>
            </a:r>
            <a:r>
              <a:rPr lang="ja-JP" altLang="en-US" dirty="0" smtClean="0"/>
              <a:t>より，</a:t>
            </a:r>
            <a:r>
              <a:rPr lang="en-US" altLang="ja-JP" dirty="0" err="1" smtClean="0"/>
              <a:t>XGBoost</a:t>
            </a:r>
            <a:r>
              <a:rPr lang="ja-JP" altLang="en-US" dirty="0" smtClean="0"/>
              <a:t>や</a:t>
            </a:r>
            <a:r>
              <a:rPr lang="en-US" altLang="ja-JP" dirty="0" smtClean="0"/>
              <a:t>SGD</a:t>
            </a:r>
            <a:r>
              <a:rPr lang="ja-JP" altLang="en-US" dirty="0" smtClean="0"/>
              <a:t>より優れた性能を発揮することを示した．</a:t>
            </a:r>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31</a:t>
            </a:fld>
            <a:endParaRPr kumimoji="1" lang="ja-JP" altLang="en-US" dirty="0"/>
          </a:p>
        </p:txBody>
      </p:sp>
    </p:spTree>
    <p:extLst>
      <p:ext uri="{BB962C8B-B14F-4D97-AF65-F5344CB8AC3E}">
        <p14:creationId xmlns:p14="http://schemas.microsoft.com/office/powerpoint/2010/main" val="1776519123"/>
      </p:ext>
    </p:extLst>
  </p:cSld>
  <p:clrMapOvr>
    <a:masterClrMapping/>
  </p:clrMapOvr>
  <p:timing>
    <p:tnLst>
      <p:par>
        <p:cTn id="1" dur="indefinite" restart="never" nodeType="tmRoot"/>
      </p:par>
    </p:tnLst>
  </p:timing>
</p:sld>
</file>

<file path=ppt/theme/theme1.xml><?xml version="1.0" encoding="utf-8"?>
<a:theme xmlns:a="http://schemas.openxmlformats.org/drawingml/2006/main" name="Theme_Lab">
  <a:themeElements>
    <a:clrScheme name="ユーザー定義 1">
      <a:dk1>
        <a:srgbClr val="000000"/>
      </a:dk1>
      <a:lt1>
        <a:srgbClr val="FFFAF5"/>
      </a:lt1>
      <a:dk2>
        <a:srgbClr val="000000"/>
      </a:dk2>
      <a:lt2>
        <a:srgbClr val="808080"/>
      </a:lt2>
      <a:accent1>
        <a:srgbClr val="FF1D38"/>
      </a:accent1>
      <a:accent2>
        <a:srgbClr val="333399"/>
      </a:accent2>
      <a:accent3>
        <a:srgbClr val="34ADFD"/>
      </a:accent3>
      <a:accent4>
        <a:srgbClr val="FFFF00"/>
      </a:accent4>
      <a:accent5>
        <a:srgbClr val="00B050"/>
      </a:accent5>
      <a:accent6>
        <a:srgbClr val="F93DD5"/>
      </a:accent6>
      <a:hlink>
        <a:srgbClr val="009999"/>
      </a:hlink>
      <a:folHlink>
        <a:srgbClr val="99CC00"/>
      </a:folHlink>
    </a:clrScheme>
    <a:fontScheme name="ユーザー定義 1">
      <a:majorFont>
        <a:latin typeface="Arial"/>
        <a:ea typeface="ＭＳ Ｐゴシック"/>
        <a:cs typeface=""/>
      </a:majorFont>
      <a:minorFont>
        <a:latin typeface="Arial"/>
        <a:ea typeface="ＭＳ P ゴシック"/>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lnDef>
      <a:spPr>
        <a:ln w="76200">
          <a:solidFill>
            <a:schemeClr val="tx1"/>
          </a:solidFill>
          <a:tailEnd type="triangle"/>
        </a:ln>
      </a:spPr>
      <a:bodyPr/>
      <a:lstStyle/>
      <a:style>
        <a:lnRef idx="1">
          <a:schemeClr val="accent1"/>
        </a:lnRef>
        <a:fillRef idx="0">
          <a:schemeClr val="accent1"/>
        </a:fillRef>
        <a:effectRef idx="0">
          <a:schemeClr val="accent1"/>
        </a:effectRef>
        <a:fontRef idx="minor">
          <a:schemeClr val="tx1"/>
        </a:fontRef>
      </a:style>
    </a:lnDef>
    <a:txDef>
      <a:spPr>
        <a:noFill/>
        <a:ln w="19050">
          <a:solidFill>
            <a:schemeClr val="tx1"/>
          </a:solidFill>
        </a:ln>
      </a:spPr>
      <a:bodyPr wrap="square" rtlCol="0">
        <a:spAutoFit/>
      </a:bodyPr>
      <a:lstStyle>
        <a:defPPr algn="ctr">
          <a:defRPr sz="2800" dirty="0" smtClean="0"/>
        </a:defPPr>
      </a:lstStyle>
    </a:txDef>
  </a:objectDefaults>
  <a:extraClrSchemeLst>
    <a:extraClrScheme>
      <a:clrScheme name="標準デザイン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標準デザイン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標準デザイン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標準デザイン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標準デザイン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標準デザイン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標準デザイン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標準デザイン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標準デザイン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標準デザイン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標準デザイン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標準デザイン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Theme_Lab" id="{240EDE69-6004-490A-8851-241177012245}" vid="{3655978B-9A6C-48D2-A3CA-A8F52A96FD45}"/>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6">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83DD86A-5E61-4FA7-9BBC-C5C853AF8C1C}">
  <we:reference id="wa104380121" version="2.0.0.0" store="ja-JP" storeType="OMEX"/>
  <we:alternateReferences>
    <we:reference id="WA104380121" version="2.0.0.0" store="WA104380121"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Theme_lab</Template>
  <TotalTime>453</TotalTime>
  <Words>1207</Words>
  <Application>Microsoft Office PowerPoint</Application>
  <PresentationFormat>画面に合わせる (4:3)</PresentationFormat>
  <Paragraphs>478</Paragraphs>
  <Slides>31</Slides>
  <Notes>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31</vt:i4>
      </vt:variant>
    </vt:vector>
  </HeadingPairs>
  <TitlesOfParts>
    <vt:vector size="39" baseType="lpstr">
      <vt:lpstr>ＭＳ P ゴシック</vt:lpstr>
      <vt:lpstr>ＭＳ Ｐゴシック</vt:lpstr>
      <vt:lpstr>Arial</vt:lpstr>
      <vt:lpstr>Calibri</vt:lpstr>
      <vt:lpstr>Cambria Math</vt:lpstr>
      <vt:lpstr>Symbol</vt:lpstr>
      <vt:lpstr>Times New Roman</vt:lpstr>
      <vt:lpstr>Theme_Lab</vt:lpstr>
      <vt:lpstr>PowerPoint プレゼンテーション</vt:lpstr>
      <vt:lpstr>概要</vt:lpstr>
      <vt:lpstr>勾配ブースティング</vt:lpstr>
      <vt:lpstr>勾配ブースティング</vt:lpstr>
      <vt:lpstr>勾配ブースティング</vt:lpstr>
      <vt:lpstr>勾配ブースティング決定木</vt:lpstr>
      <vt:lpstr>決定木の計算コスト</vt:lpstr>
      <vt:lpstr>Exclusive Feature Bundling</vt:lpstr>
      <vt:lpstr>Exclusive Feature Bundling</vt:lpstr>
      <vt:lpstr>Exclusive Feature Bundling</vt:lpstr>
      <vt:lpstr>Exclusive Feature Bundling</vt:lpstr>
      <vt:lpstr>Exclusive Feature Bundling</vt:lpstr>
      <vt:lpstr>Exclusive Feature Bundling</vt:lpstr>
      <vt:lpstr>Exclusive Feature Bundling</vt:lpstr>
      <vt:lpstr>Exclusive Feature Bundling</vt:lpstr>
      <vt:lpstr>Exclusive Feature Bundling</vt:lpstr>
      <vt:lpstr>Exclusive Feature Bundling</vt:lpstr>
      <vt:lpstr>Exclusive Feature Bundling</vt:lpstr>
      <vt:lpstr>Exclusive Feature Bundling</vt:lpstr>
      <vt:lpstr>Exclusive Feature Bundling</vt:lpstr>
      <vt:lpstr>Exclusive Feature Bundling</vt:lpstr>
      <vt:lpstr>Exclusive Feature Bundling</vt:lpstr>
      <vt:lpstr>数値実験</vt:lpstr>
      <vt:lpstr>数値実験</vt:lpstr>
      <vt:lpstr>実験結果</vt:lpstr>
      <vt:lpstr>実験結果</vt:lpstr>
      <vt:lpstr>実験結果</vt:lpstr>
      <vt:lpstr>考察</vt:lpstr>
      <vt:lpstr>考察</vt:lpstr>
      <vt:lpstr>考察</vt:lpstr>
      <vt:lpstr>結論</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瓜田 俊貴</dc:creator>
  <cp:lastModifiedBy>瓜田 俊貴</cp:lastModifiedBy>
  <cp:revision>52</cp:revision>
  <dcterms:created xsi:type="dcterms:W3CDTF">2019-09-02T15:16:24Z</dcterms:created>
  <dcterms:modified xsi:type="dcterms:W3CDTF">2019-09-03T14:10:07Z</dcterms:modified>
</cp:coreProperties>
</file>