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20"/>
  </p:notesMasterIdLst>
  <p:sldIdLst>
    <p:sldId id="256" r:id="rId8"/>
    <p:sldId id="261" r:id="rId9"/>
    <p:sldId id="286" r:id="rId10"/>
    <p:sldId id="278" r:id="rId11"/>
    <p:sldId id="289" r:id="rId12"/>
    <p:sldId id="288" r:id="rId13"/>
    <p:sldId id="290" r:id="rId14"/>
    <p:sldId id="291" r:id="rId15"/>
    <p:sldId id="294" r:id="rId16"/>
    <p:sldId id="295" r:id="rId17"/>
    <p:sldId id="285" r:id="rId18"/>
    <p:sldId id="259" r:id="rId1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2019/7/22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検証用データの識別精度と，テストデータの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識別精度の間に相関がみられなかった．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調査した内容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弱識別器を学習する際のデータ数の変更</a:t>
            </a:r>
            <a:endParaRPr lang="en-US" altLang="ja-JP" dirty="0"/>
          </a:p>
          <a:p>
            <a:r>
              <a:rPr lang="ja-JP" altLang="en-US" dirty="0" smtClean="0"/>
              <a:t>＝ </a:t>
            </a:r>
            <a:r>
              <a:rPr lang="en-US" altLang="ja-JP" dirty="0" smtClean="0"/>
              <a:t>OOB</a:t>
            </a:r>
            <a:r>
              <a:rPr lang="ja-JP" altLang="en-US" dirty="0"/>
              <a:t>データの割合の</a:t>
            </a:r>
            <a:r>
              <a:rPr lang="ja-JP" altLang="en-US" dirty="0" smtClean="0"/>
              <a:t>変更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任意</a:t>
            </a:r>
            <a:r>
              <a:rPr lang="ja-JP" altLang="en-US" dirty="0" smtClean="0"/>
              <a:t>の抽出</a:t>
            </a:r>
            <a:r>
              <a:rPr lang="ja-JP" altLang="en-US" dirty="0"/>
              <a:t>回数</a:t>
            </a:r>
            <a:r>
              <a:rPr lang="ja-JP" altLang="en-US" dirty="0" smtClean="0"/>
              <a:t>における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期待値，および任意の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データの数の期待値となる抽出回数は計算可能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</a:t>
            </a:r>
            <a:r>
              <a:rPr kumimoji="1" lang="ja-JP" altLang="en-US" dirty="0" smtClean="0"/>
              <a:t>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</a:t>
            </a:r>
            <a:r>
              <a:rPr lang="ja-JP" altLang="en-US" dirty="0" smtClean="0"/>
              <a:t>サイズ ： </a:t>
            </a:r>
            <a:r>
              <a:rPr lang="en-US" altLang="ja-JP" dirty="0" smtClean="0"/>
              <a:t>50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子</a:t>
            </a:r>
            <a:r>
              <a:rPr lang="ja-JP" altLang="en-US" dirty="0" smtClean="0"/>
              <a:t>個体数 ： </a:t>
            </a:r>
            <a:r>
              <a:rPr lang="en-US" altLang="ja-JP" dirty="0" smtClean="0"/>
              <a:t>50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世</a:t>
            </a:r>
            <a:r>
              <a:rPr kumimoji="1" lang="ja-JP" altLang="en-US" dirty="0" smtClean="0"/>
              <a:t>代数 ： </a:t>
            </a:r>
            <a:r>
              <a:rPr kumimoji="1" lang="en-US" altLang="ja-JP" dirty="0" smtClean="0"/>
              <a:t>1000</a:t>
            </a:r>
            <a:endParaRPr kumimoji="1" lang="en-US" altLang="ja-JP" dirty="0" smtClean="0"/>
          </a:p>
          <a:p>
            <a:pPr algn="l"/>
            <a:r>
              <a:rPr lang="ja-JP" altLang="en-US" dirty="0" smtClean="0"/>
              <a:t>交叉</a:t>
            </a:r>
            <a:r>
              <a:rPr lang="ja-JP" altLang="en-US" dirty="0" smtClean="0"/>
              <a:t>方法 ： 一様</a:t>
            </a:r>
            <a:r>
              <a:rPr lang="ja-JP" altLang="en-US" dirty="0" smtClean="0"/>
              <a:t>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</a:t>
            </a:r>
            <a:r>
              <a:rPr kumimoji="1" lang="ja-JP" altLang="en-US" dirty="0" smtClean="0"/>
              <a:t>確率 ： </a:t>
            </a:r>
            <a:r>
              <a:rPr lang="en-US" altLang="ja-JP" dirty="0" smtClean="0"/>
              <a:t>2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抽出割合 ： </a:t>
            </a:r>
            <a:r>
              <a:rPr lang="en-US" altLang="ja-JP" dirty="0" smtClean="0"/>
              <a:t>0.1 </a:t>
            </a:r>
            <a:r>
              <a:rPr lang="ja-JP" altLang="en-US" dirty="0" smtClean="0"/>
              <a:t>～ </a:t>
            </a:r>
            <a:r>
              <a:rPr lang="en-US" altLang="ja-JP" dirty="0" smtClean="0"/>
              <a:t>0.6</a:t>
            </a:r>
            <a:br>
              <a:rPr lang="en-US" altLang="ja-JP" dirty="0" smtClean="0"/>
            </a:br>
            <a:r>
              <a:rPr lang="en-US" altLang="ja-JP" sz="2800" dirty="0" smtClean="0"/>
              <a:t>(0.7</a:t>
            </a:r>
            <a:r>
              <a:rPr lang="ja-JP" altLang="en-US" sz="2800" dirty="0" smtClean="0"/>
              <a:t>以上の場合，</a:t>
            </a:r>
            <a:r>
              <a:rPr lang="en-US" altLang="ja-JP" sz="2800" dirty="0" smtClean="0"/>
              <a:t>OOB</a:t>
            </a:r>
            <a:r>
              <a:rPr lang="ja-JP" altLang="en-US" sz="2800" dirty="0" smtClean="0"/>
              <a:t>の期待値が</a:t>
            </a:r>
            <a:r>
              <a:rPr lang="en-US" altLang="ja-JP" sz="2800" dirty="0" smtClean="0"/>
              <a:t>0.5</a:t>
            </a:r>
            <a:r>
              <a:rPr lang="ja-JP" altLang="en-US" sz="2800" dirty="0" smtClean="0"/>
              <a:t>より大きいため</a:t>
            </a:r>
            <a:r>
              <a:rPr lang="en-US" altLang="ja-JP" sz="2800" dirty="0" smtClean="0"/>
              <a:t>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70253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選択</a:t>
            </a:r>
            <a:r>
              <a:rPr lang="ja-JP" altLang="en-US" dirty="0"/>
              <a:t>割合</a:t>
            </a:r>
            <a:r>
              <a:rPr lang="ja-JP" altLang="en-US" dirty="0" smtClean="0"/>
              <a:t>と精度の関係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Glas</a:t>
            </a:r>
            <a:r>
              <a:rPr lang="en-US" altLang="ja-JP" dirty="0"/>
              <a:t>s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512" y="1771866"/>
            <a:ext cx="5238975" cy="331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H</a:t>
            </a:r>
            <a:r>
              <a:rPr lang="en-US" altLang="ja-JP" dirty="0"/>
              <a:t>eart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3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kumimoji="1" lang="en-US" altLang="ja-JP" dirty="0" smtClean="0"/>
              <a:t>Pima</a:t>
            </a:r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5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Vehicle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err="1" smtClean="0"/>
              <a:t>Satimag</a:t>
            </a:r>
            <a:r>
              <a:rPr lang="en-US" altLang="ja-JP" dirty="0" err="1"/>
              <a:t>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と精度の相関係数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17633"/>
              </p:ext>
            </p:extLst>
          </p:nvPr>
        </p:nvGraphicFramePr>
        <p:xfrm>
          <a:off x="38226" y="1659227"/>
          <a:ext cx="9067548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905">
                  <a:extLst>
                    <a:ext uri="{9D8B030D-6E8A-4147-A177-3AD203B41FA5}">
                      <a16:colId xmlns:a16="http://schemas.microsoft.com/office/drawing/2014/main" val="1659427244"/>
                    </a:ext>
                  </a:extLst>
                </a:gridCol>
                <a:gridCol w="1190943">
                  <a:extLst>
                    <a:ext uri="{9D8B030D-6E8A-4147-A177-3AD203B41FA5}">
                      <a16:colId xmlns:a16="http://schemas.microsoft.com/office/drawing/2014/main" val="3442036743"/>
                    </a:ext>
                  </a:extLst>
                </a:gridCol>
                <a:gridCol w="1152843">
                  <a:extLst>
                    <a:ext uri="{9D8B030D-6E8A-4147-A177-3AD203B41FA5}">
                      <a16:colId xmlns:a16="http://schemas.microsoft.com/office/drawing/2014/main" val="3667052779"/>
                    </a:ext>
                  </a:extLst>
                </a:gridCol>
                <a:gridCol w="1092518">
                  <a:extLst>
                    <a:ext uri="{9D8B030D-6E8A-4147-A177-3AD203B41FA5}">
                      <a16:colId xmlns:a16="http://schemas.microsoft.com/office/drawing/2014/main" val="4171073454"/>
                    </a:ext>
                  </a:extLst>
                </a:gridCol>
                <a:gridCol w="1430084">
                  <a:extLst>
                    <a:ext uri="{9D8B030D-6E8A-4147-A177-3AD203B41FA5}">
                      <a16:colId xmlns:a16="http://schemas.microsoft.com/office/drawing/2014/main" val="1336325630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3310563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決定木の本数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相関係数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72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en-US" altLang="ja-JP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0.217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0.079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0.058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0.303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72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0.217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0.078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0.057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0.293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0.228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0.059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0.064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0.164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4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0.207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0.043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0.103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9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0.197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-0.001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0.036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0.097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0.054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428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26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875</TotalTime>
  <Words>228</Words>
  <Application>Microsoft Office PowerPoint</Application>
  <PresentationFormat>画面に合わせる (4:3)</PresentationFormat>
  <Paragraphs>100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12</vt:i4>
      </vt:variant>
    </vt:vector>
  </HeadingPairs>
  <TitlesOfParts>
    <vt:vector size="24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調査した内容</vt:lpstr>
      <vt:lpstr>実験パラメータ設定</vt:lpstr>
      <vt:lpstr>実験パラメータ設定</vt:lpstr>
      <vt:lpstr>実験結果</vt:lpstr>
      <vt:lpstr>実験結果</vt:lpstr>
      <vt:lpstr>実験結果</vt:lpstr>
      <vt:lpstr>実験結果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59</cp:revision>
  <dcterms:created xsi:type="dcterms:W3CDTF">2019-03-03T13:45:30Z</dcterms:created>
  <dcterms:modified xsi:type="dcterms:W3CDTF">2019-07-22T09:07:09Z</dcterms:modified>
</cp:coreProperties>
</file>