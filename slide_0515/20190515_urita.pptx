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6" r:id="rId1"/>
  </p:sldMasterIdLst>
  <p:notesMasterIdLst>
    <p:notesMasterId r:id="rId12"/>
  </p:notesMasterIdLst>
  <p:sldIdLst>
    <p:sldId id="258" r:id="rId2"/>
    <p:sldId id="259" r:id="rId3"/>
    <p:sldId id="264" r:id="rId4"/>
    <p:sldId id="260" r:id="rId5"/>
    <p:sldId id="261" r:id="rId6"/>
    <p:sldId id="262" r:id="rId7"/>
    <p:sldId id="265" r:id="rId8"/>
    <p:sldId id="268" r:id="rId9"/>
    <p:sldId id="257" r:id="rId10"/>
    <p:sldId id="269" r:id="rId11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50" autoAdjust="0"/>
    <p:restoredTop sz="94660"/>
  </p:normalViewPr>
  <p:slideViewPr>
    <p:cSldViewPr snapToGrid="0">
      <p:cViewPr>
        <p:scale>
          <a:sx n="75" d="100"/>
          <a:sy n="75" d="100"/>
        </p:scale>
        <p:origin x="1230" y="-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BE2AF2-F71F-41C6-9FF4-B571EAB0E31F}" type="datetimeFigureOut">
              <a:rPr kumimoji="1" lang="ja-JP" altLang="en-US" smtClean="0"/>
              <a:t>2019/5/15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C47F22-CBA8-43C3-8082-ABD2D12DF5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1398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8953AC-7D74-400F-BB06-95EAE7026D67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70588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0" y="0"/>
            <a:ext cx="9144000" cy="41148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31"/>
            <a:ext cx="7772400" cy="1470025"/>
          </a:xfrm>
        </p:spPr>
        <p:txBody>
          <a:bodyPr/>
          <a:lstStyle>
            <a:lvl1pPr algn="ctr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267200"/>
            <a:ext cx="6400800" cy="1371600"/>
          </a:xfrm>
        </p:spPr>
        <p:txBody>
          <a:bodyPr anchor="ctr"/>
          <a:lstStyle>
            <a:lvl1pPr marL="0" indent="0" algn="ctr">
              <a:buFontTx/>
              <a:buNone/>
              <a:defRPr sz="3200"/>
            </a:lvl1pPr>
          </a:lstStyle>
          <a:p>
            <a:r>
              <a:rPr lang="ja-JP" altLang="en-US" smtClean="0"/>
              <a:t>マスター サブタイトルの書式設定</a:t>
            </a:r>
            <a:endParaRPr lang="ja-JP" alt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1631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7669418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43070"/>
            <a:ext cx="9067800" cy="573087"/>
          </a:xfrm>
        </p:spPr>
        <p:txBody>
          <a:bodyPr/>
          <a:lstStyle>
            <a:lvl1pPr marL="0" indent="0">
              <a:buNone/>
              <a:defRPr sz="3600" b="1">
                <a:solidFill>
                  <a:schemeClr val="accent4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80426907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43070"/>
            <a:ext cx="9067800" cy="573087"/>
          </a:xfrm>
        </p:spPr>
        <p:txBody>
          <a:bodyPr/>
          <a:lstStyle>
            <a:lvl1pPr marL="0" indent="0">
              <a:buNone/>
              <a:defRPr sz="3600" b="1">
                <a:solidFill>
                  <a:schemeClr val="accent4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55071551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50252942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作図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587737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終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spect="1" noChangeArrowheads="1"/>
          </p:cNvSpPr>
          <p:nvPr/>
        </p:nvSpPr>
        <p:spPr bwMode="auto">
          <a:xfrm>
            <a:off x="-19431" y="-102870"/>
            <a:ext cx="9182862" cy="7063740"/>
          </a:xfrm>
          <a:prstGeom prst="rect">
            <a:avLst/>
          </a:prstGeom>
          <a:solidFill>
            <a:schemeClr val="tx1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</p:spTree>
    <p:extLst>
      <p:ext uri="{BB962C8B-B14F-4D97-AF65-F5344CB8AC3E}">
        <p14:creationId xmlns:p14="http://schemas.microsoft.com/office/powerpoint/2010/main" val="193299197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"/>
          <p:cNvSpPr>
            <a:spLocks noChangeArrowheads="1"/>
          </p:cNvSpPr>
          <p:nvPr/>
        </p:nvSpPr>
        <p:spPr bwMode="auto">
          <a:xfrm>
            <a:off x="0" y="0"/>
            <a:ext cx="9144000" cy="11430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200" y="0"/>
            <a:ext cx="9067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371600"/>
            <a:ext cx="86868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689500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3" r:id="rId4"/>
    <p:sldLayoutId id="2147483670" r:id="rId5"/>
    <p:sldLayoutId id="2147483671" r:id="rId6"/>
    <p:sldLayoutId id="2147483672" r:id="rId7"/>
  </p:sldLayoutIdLst>
  <p:timing>
    <p:tnLst>
      <p:par>
        <p:cTn id="1" dur="indefinite" restart="never" nodeType="tmRoot"/>
      </p:par>
    </p:tnLst>
  </p:timing>
  <p:hf hdr="0" ftr="0" dt="0"/>
  <p:txStyles>
    <p:titleStyle>
      <a:lvl1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+mj-lt"/>
          <a:ea typeface="+mj-ea"/>
          <a:cs typeface="+mj-cs"/>
        </a:defRPr>
      </a:lvl1pPr>
      <a:lvl2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2pPr>
      <a:lvl3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3pPr>
      <a:lvl4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4pPr>
      <a:lvl5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5pPr>
      <a:lvl6pPr marL="3429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6pPr>
      <a:lvl7pPr marL="6858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7pPr>
      <a:lvl8pPr marL="10287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8pPr>
      <a:lvl9pPr marL="13716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har char="–"/>
        <a:defRPr kumimoji="1" sz="2100">
          <a:solidFill>
            <a:schemeClr val="tx1"/>
          </a:solidFill>
          <a:latin typeface="+mn-lt"/>
          <a:ea typeface="+mn-ea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85800" y="1867782"/>
            <a:ext cx="7772400" cy="1470025"/>
          </a:xfrm>
        </p:spPr>
        <p:txBody>
          <a:bodyPr/>
          <a:lstStyle/>
          <a:p>
            <a:pPr algn="ctr"/>
            <a:r>
              <a:rPr kumimoji="1" lang="en-US" altLang="ja-JP" dirty="0" smtClean="0"/>
              <a:t>GA</a:t>
            </a:r>
            <a:r>
              <a:rPr kumimoji="1" lang="ja-JP" altLang="en-US" dirty="0" smtClean="0"/>
              <a:t>を用いたランダムフォレストにおける</a:t>
            </a:r>
            <a:r>
              <a:rPr lang="ja-JP" altLang="en-US" dirty="0" smtClean="0"/>
              <a:t>弱識別器の選択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371600" y="4948136"/>
            <a:ext cx="6400800" cy="1371600"/>
          </a:xfrm>
        </p:spPr>
        <p:txBody>
          <a:bodyPr/>
          <a:lstStyle/>
          <a:p>
            <a:r>
              <a:rPr kumimoji="1" lang="ja-JP" altLang="en-US" dirty="0" smtClean="0"/>
              <a:t>瓜田　俊貴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001041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これまでの実験概要</a:t>
            </a:r>
            <a:endParaRPr kumimoji="1" lang="ja-JP" altLang="en-US" dirty="0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ja-JP" altLang="en-US" dirty="0" smtClean="0"/>
              <a:t>ランダムフォレスト</a:t>
            </a:r>
            <a:r>
              <a:rPr kumimoji="1" lang="ja-JP" altLang="en-US" dirty="0" smtClean="0"/>
              <a:t>の</a:t>
            </a:r>
            <a:r>
              <a:rPr lang="ja-JP" altLang="en-US" dirty="0" smtClean="0"/>
              <a:t>決定</a:t>
            </a:r>
            <a:r>
              <a:rPr lang="ja-JP" altLang="en-US" dirty="0"/>
              <a:t>木</a:t>
            </a:r>
            <a:r>
              <a:rPr kumimoji="1" lang="ja-JP" altLang="en-US" dirty="0" smtClean="0"/>
              <a:t>を</a:t>
            </a:r>
            <a:r>
              <a:rPr kumimoji="1" lang="ja-JP" altLang="en-US" dirty="0" smtClean="0"/>
              <a:t>抽出し，より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dirty="0" smtClean="0"/>
              <a:t>良いアンサンブル識別器を獲得する．</a:t>
            </a:r>
            <a:endParaRPr kumimoji="1" lang="en-US" altLang="ja-JP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ja-JP" altLang="en-US" dirty="0" smtClean="0"/>
              <a:t>個体</a:t>
            </a:r>
            <a:r>
              <a:rPr kumimoji="1" lang="ja-JP" altLang="en-US" dirty="0" smtClean="0"/>
              <a:t>評価</a:t>
            </a:r>
            <a:r>
              <a:rPr kumimoji="1" lang="ja-JP" altLang="en-US" dirty="0" smtClean="0"/>
              <a:t>に，</a:t>
            </a:r>
            <a:r>
              <a:rPr kumimoji="1" lang="en-US" altLang="ja-JP" dirty="0" smtClean="0"/>
              <a:t>OOB</a:t>
            </a:r>
            <a:r>
              <a:rPr kumimoji="1" lang="ja-JP" altLang="en-US" dirty="0" smtClean="0"/>
              <a:t>データ・検証用データを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dirty="0" smtClean="0"/>
              <a:t>用いた</a:t>
            </a:r>
            <a:r>
              <a:rPr kumimoji="1" lang="en-US" altLang="ja-JP" dirty="0" smtClean="0"/>
              <a:t>GA</a:t>
            </a:r>
            <a:r>
              <a:rPr kumimoji="1" lang="ja-JP" altLang="en-US" dirty="0" smtClean="0"/>
              <a:t>で探索</a:t>
            </a:r>
            <a:r>
              <a:rPr kumimoji="1" lang="ja-JP" altLang="en-US" dirty="0" smtClean="0"/>
              <a:t>を</a:t>
            </a:r>
            <a:r>
              <a:rPr kumimoji="1" lang="ja-JP" altLang="en-US" dirty="0" smtClean="0"/>
              <a:t>行っていたが，いずれも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dirty="0" smtClean="0"/>
              <a:t>うまくいっていない．</a:t>
            </a:r>
            <a:endParaRPr kumimoji="1" lang="en-US" altLang="ja-JP" dirty="0" smtClean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2321015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これまでの実験概要</a:t>
            </a:r>
            <a:endParaRPr kumimoji="1" lang="ja-JP" altLang="en-US" dirty="0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ja-JP" altLang="en-US" dirty="0" smtClean="0"/>
              <a:t>ランダムフォレスト</a:t>
            </a:r>
            <a:r>
              <a:rPr kumimoji="1" lang="ja-JP" altLang="en-US" dirty="0" smtClean="0"/>
              <a:t>の</a:t>
            </a:r>
            <a:r>
              <a:rPr lang="ja-JP" altLang="en-US" dirty="0" smtClean="0"/>
              <a:t>決定</a:t>
            </a:r>
            <a:r>
              <a:rPr lang="ja-JP" altLang="en-US" dirty="0"/>
              <a:t>木</a:t>
            </a:r>
            <a:r>
              <a:rPr kumimoji="1" lang="ja-JP" altLang="en-US" dirty="0" smtClean="0"/>
              <a:t>を</a:t>
            </a:r>
            <a:r>
              <a:rPr kumimoji="1" lang="ja-JP" altLang="en-US" dirty="0" smtClean="0"/>
              <a:t>抽出し，より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dirty="0" smtClean="0"/>
              <a:t>良いアンサンブル識別器を獲得する．</a:t>
            </a:r>
            <a:endParaRPr kumimoji="1" lang="en-US" altLang="ja-JP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ja-JP" altLang="en-US" dirty="0" smtClean="0"/>
              <a:t>個体</a:t>
            </a:r>
            <a:r>
              <a:rPr kumimoji="1" lang="ja-JP" altLang="en-US" dirty="0" smtClean="0"/>
              <a:t>評価</a:t>
            </a:r>
            <a:r>
              <a:rPr kumimoji="1" lang="ja-JP" altLang="en-US" dirty="0" smtClean="0"/>
              <a:t>に，</a:t>
            </a:r>
            <a:r>
              <a:rPr kumimoji="1" lang="en-US" altLang="ja-JP" dirty="0" smtClean="0"/>
              <a:t>OOB</a:t>
            </a:r>
            <a:r>
              <a:rPr kumimoji="1" lang="ja-JP" altLang="en-US" dirty="0" smtClean="0"/>
              <a:t>データ・検証用データを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dirty="0" smtClean="0"/>
              <a:t>用いた</a:t>
            </a:r>
            <a:r>
              <a:rPr kumimoji="1" lang="en-US" altLang="ja-JP" dirty="0" smtClean="0"/>
              <a:t>GA</a:t>
            </a:r>
            <a:r>
              <a:rPr kumimoji="1" lang="ja-JP" altLang="en-US" dirty="0" smtClean="0"/>
              <a:t>で探索</a:t>
            </a:r>
            <a:r>
              <a:rPr kumimoji="1" lang="ja-JP" altLang="en-US" dirty="0" smtClean="0"/>
              <a:t>を</a:t>
            </a:r>
            <a:r>
              <a:rPr kumimoji="1" lang="ja-JP" altLang="en-US" dirty="0" smtClean="0"/>
              <a:t>行っていたが，いずれも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dirty="0" smtClean="0"/>
              <a:t>うまくいっていない．</a:t>
            </a:r>
            <a:endParaRPr kumimoji="1" lang="en-US" altLang="ja-JP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ja-JP" dirty="0"/>
          </a:p>
          <a:p>
            <a:r>
              <a:rPr kumimoji="1" lang="en-US" altLang="ja-JP" dirty="0" smtClean="0"/>
              <a:t>GA</a:t>
            </a:r>
            <a:r>
              <a:rPr kumimoji="1" lang="ja-JP" altLang="en-US" dirty="0" smtClean="0"/>
              <a:t>に関しては，元の決定木の本数を増やして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dirty="0" smtClean="0"/>
              <a:t>再度実験中．</a:t>
            </a:r>
            <a:endParaRPr kumimoji="1" lang="en-US" altLang="ja-JP" dirty="0" smtClean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3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3972570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これまでの実験概要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/>
              <a:t>3</a:t>
            </a:r>
            <a:r>
              <a:rPr kumimoji="1" lang="ja-JP" altLang="en-US" dirty="0" smtClean="0"/>
              <a:t>回生実験での結果</a:t>
            </a:r>
            <a:endParaRPr kumimoji="1" lang="en-US" altLang="ja-JP" dirty="0" smtClean="0"/>
          </a:p>
          <a:p>
            <a:r>
              <a:rPr lang="en-US" altLang="ja-JP" dirty="0" smtClean="0"/>
              <a:t>OO</a:t>
            </a:r>
            <a:r>
              <a:rPr lang="en-US" altLang="ja-JP" dirty="0"/>
              <a:t>B</a:t>
            </a:r>
            <a:r>
              <a:rPr lang="ja-JP" altLang="en-US" dirty="0" smtClean="0"/>
              <a:t>データへの予測</a:t>
            </a:r>
            <a:r>
              <a:rPr lang="ja-JP" altLang="en-US" dirty="0"/>
              <a:t>精度で着色</a:t>
            </a:r>
            <a:endParaRPr lang="en-US" altLang="ja-JP" dirty="0"/>
          </a:p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4</a:t>
            </a:fld>
            <a:endParaRPr kumimoji="1" lang="ja-JP" altLang="en-US" dirty="0"/>
          </a:p>
        </p:txBody>
      </p:sp>
      <p:sp>
        <p:nvSpPr>
          <p:cNvPr id="21" name="テキスト プレースホルダー 20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/>
              <a:t>t-SNE</a:t>
            </a:r>
            <a:r>
              <a:rPr lang="ja-JP" altLang="en-US" dirty="0"/>
              <a:t>に</a:t>
            </a:r>
            <a:r>
              <a:rPr lang="ja-JP" altLang="en-US" dirty="0" smtClean="0"/>
              <a:t>よる決定</a:t>
            </a:r>
            <a:r>
              <a:rPr lang="ja-JP" altLang="en-US" dirty="0"/>
              <a:t>木</a:t>
            </a:r>
            <a:r>
              <a:rPr lang="ja-JP" altLang="en-US" dirty="0" smtClean="0"/>
              <a:t>の</a:t>
            </a:r>
            <a:r>
              <a:rPr lang="ja-JP" altLang="en-US" dirty="0"/>
              <a:t>可視化</a:t>
            </a:r>
            <a:endParaRPr kumimoji="1" lang="ja-JP" altLang="en-US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1110865" y="5246189"/>
            <a:ext cx="11685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 smtClean="0"/>
              <a:t>Iris</a:t>
            </a:r>
            <a:endParaRPr kumimoji="1" lang="ja-JP" altLang="en-US" sz="3200" dirty="0" smtClean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4025826" y="5246189"/>
            <a:ext cx="11685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 smtClean="0"/>
              <a:t>Wine</a:t>
            </a:r>
            <a:endParaRPr kumimoji="1" lang="ja-JP" altLang="en-US" sz="3200" dirty="0" smtClean="0"/>
          </a:p>
        </p:txBody>
      </p:sp>
      <p:sp>
        <p:nvSpPr>
          <p:cNvPr id="7" name="テキスト ボックス 6"/>
          <p:cNvSpPr txBox="1"/>
          <p:nvPr/>
        </p:nvSpPr>
        <p:spPr>
          <a:xfrm>
            <a:off x="6642504" y="5246188"/>
            <a:ext cx="17838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 smtClean="0"/>
              <a:t>Vehicle</a:t>
            </a:r>
            <a:endParaRPr kumimoji="1" lang="ja-JP" altLang="en-US" sz="3200" dirty="0" smtClean="0"/>
          </a:p>
        </p:txBody>
      </p:sp>
      <p:pic>
        <p:nvPicPr>
          <p:cNvPr id="8" name="図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" y="2970757"/>
            <a:ext cx="3128967" cy="2353938"/>
          </a:xfrm>
          <a:prstGeom prst="rect">
            <a:avLst/>
          </a:prstGeom>
        </p:spPr>
      </p:pic>
      <p:pic>
        <p:nvPicPr>
          <p:cNvPr id="9" name="図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061" y="2970757"/>
            <a:ext cx="3128967" cy="2353938"/>
          </a:xfrm>
          <a:prstGeom prst="rect">
            <a:avLst/>
          </a:prstGeom>
        </p:spPr>
      </p:pic>
      <p:pic>
        <p:nvPicPr>
          <p:cNvPr id="10" name="図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5498" y="2931504"/>
            <a:ext cx="3128966" cy="2353937"/>
          </a:xfrm>
          <a:prstGeom prst="rect">
            <a:avLst/>
          </a:prstGeom>
        </p:spPr>
      </p:pic>
      <p:sp>
        <p:nvSpPr>
          <p:cNvPr id="11" name="テキスト ボックス 10"/>
          <p:cNvSpPr txBox="1"/>
          <p:nvPr/>
        </p:nvSpPr>
        <p:spPr>
          <a:xfrm>
            <a:off x="796560" y="5896405"/>
            <a:ext cx="75508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精度の</a:t>
            </a:r>
            <a:r>
              <a:rPr kumimoji="1" lang="ja-JP" altLang="en-US" sz="2800" dirty="0" smtClean="0"/>
              <a:t>良い</a:t>
            </a:r>
            <a:r>
              <a:rPr lang="ja-JP" altLang="en-US" sz="2800" dirty="0" smtClean="0"/>
              <a:t>決定</a:t>
            </a:r>
            <a:r>
              <a:rPr lang="ja-JP" altLang="en-US" sz="2800" dirty="0"/>
              <a:t>木</a:t>
            </a:r>
            <a:r>
              <a:rPr kumimoji="1" lang="ja-JP" altLang="en-US" sz="2800" dirty="0" smtClean="0"/>
              <a:t>が</a:t>
            </a:r>
            <a:r>
              <a:rPr kumimoji="1" lang="ja-JP" altLang="en-US" sz="2800" u="sng" dirty="0" smtClean="0"/>
              <a:t>中央に多く存在</a:t>
            </a:r>
          </a:p>
        </p:txBody>
      </p:sp>
      <p:pic>
        <p:nvPicPr>
          <p:cNvPr id="16" name="コンテンツ プレースホルダー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176" t="5556" r="15087" b="9730"/>
          <a:stretch/>
        </p:blipFill>
        <p:spPr bwMode="auto">
          <a:xfrm rot="5400000">
            <a:off x="7292933" y="1145569"/>
            <a:ext cx="691921" cy="29600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7" name="コンテンツ プレースホルダー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316" t="5556" r="17078" b="9730"/>
          <a:stretch/>
        </p:blipFill>
        <p:spPr bwMode="auto">
          <a:xfrm rot="5400000">
            <a:off x="7484330" y="1318444"/>
            <a:ext cx="309127" cy="29600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8" name="グループ化 17"/>
          <p:cNvGrpSpPr/>
          <p:nvPr/>
        </p:nvGrpSpPr>
        <p:grpSpPr>
          <a:xfrm>
            <a:off x="5888636" y="1762009"/>
            <a:ext cx="3265917" cy="523220"/>
            <a:chOff x="5308676" y="1924468"/>
            <a:chExt cx="3561341" cy="523220"/>
          </a:xfrm>
        </p:grpSpPr>
        <p:sp>
          <p:nvSpPr>
            <p:cNvPr id="19" name="テキスト ボックス 18"/>
            <p:cNvSpPr txBox="1"/>
            <p:nvPr/>
          </p:nvSpPr>
          <p:spPr>
            <a:xfrm>
              <a:off x="5308676" y="1924468"/>
              <a:ext cx="138557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800" dirty="0" smtClean="0"/>
                <a:t>精度悪</a:t>
              </a:r>
            </a:p>
          </p:txBody>
        </p:sp>
        <p:sp>
          <p:nvSpPr>
            <p:cNvPr id="20" name="テキスト ボックス 19"/>
            <p:cNvSpPr txBox="1"/>
            <p:nvPr/>
          </p:nvSpPr>
          <p:spPr>
            <a:xfrm>
              <a:off x="7477891" y="1924468"/>
              <a:ext cx="139212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800" dirty="0" smtClean="0"/>
                <a:t>精度良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02084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1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調査内容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ja-JP" altLang="en-US" dirty="0" smtClean="0"/>
              <a:t>分布の形状は，未知データ</a:t>
            </a:r>
            <a:r>
              <a:rPr lang="en-US" altLang="ja-JP" dirty="0" smtClean="0"/>
              <a:t>(</a:t>
            </a:r>
            <a:r>
              <a:rPr lang="ja-JP" altLang="en-US" dirty="0" smtClean="0"/>
              <a:t>≠</a:t>
            </a:r>
            <a:r>
              <a:rPr lang="en-US" altLang="ja-JP" dirty="0" smtClean="0"/>
              <a:t>OOB</a:t>
            </a:r>
            <a:r>
              <a:rPr lang="ja-JP" altLang="en-US" dirty="0" smtClean="0"/>
              <a:t>データ</a:t>
            </a:r>
            <a:r>
              <a:rPr lang="en-US" altLang="ja-JP" dirty="0" smtClean="0"/>
              <a:t>)</a:t>
            </a:r>
            <a:r>
              <a:rPr lang="ja-JP" altLang="en-US" dirty="0" smtClean="0"/>
              <a:t>でも同じなのか．</a:t>
            </a:r>
            <a:endParaRPr lang="en-US" altLang="ja-JP" dirty="0" smtClean="0"/>
          </a:p>
          <a:p>
            <a:pPr marL="514350" indent="-514350">
              <a:buFont typeface="+mj-lt"/>
              <a:buAutoNum type="arabicPeriod"/>
            </a:pPr>
            <a:r>
              <a:rPr lang="ja-JP" altLang="en-US" dirty="0"/>
              <a:t>識別精度の良い木は複雑な木なのか．</a:t>
            </a:r>
            <a:endParaRPr lang="en-US" altLang="ja-JP" dirty="0"/>
          </a:p>
          <a:p>
            <a:pPr marL="514350" indent="-514350">
              <a:buFont typeface="+mj-lt"/>
              <a:buAutoNum type="arabicPeriod"/>
            </a:pPr>
            <a:endParaRPr lang="en-US" altLang="ja-JP" dirty="0" smtClean="0"/>
          </a:p>
          <a:p>
            <a:endParaRPr kumimoji="1" lang="en-US" altLang="ja-JP" dirty="0" smtClean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5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08881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分布形状の</a:t>
            </a:r>
            <a:r>
              <a:rPr lang="en-US" altLang="ja-JP" dirty="0" smtClean="0"/>
              <a:t>OOB</a:t>
            </a:r>
            <a:r>
              <a:rPr lang="ja-JP" altLang="en-US" dirty="0" smtClean="0"/>
              <a:t>データへの依存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検証用データ</a:t>
            </a:r>
            <a:r>
              <a:rPr kumimoji="1" lang="en-US" altLang="ja-JP" dirty="0" smtClean="0"/>
              <a:t>(</a:t>
            </a:r>
            <a:r>
              <a:rPr kumimoji="1" lang="ja-JP" altLang="en-US" dirty="0" smtClean="0"/>
              <a:t>元データの</a:t>
            </a:r>
            <a:r>
              <a:rPr kumimoji="1" lang="en-US" altLang="ja-JP" dirty="0" smtClean="0"/>
              <a:t>1/3)</a:t>
            </a:r>
            <a:r>
              <a:rPr lang="ja-JP" altLang="en-US" dirty="0" err="1" smtClean="0"/>
              <a:t>への</a:t>
            </a:r>
            <a:r>
              <a:rPr kumimoji="1" lang="ja-JP" altLang="en-US" dirty="0" smtClean="0"/>
              <a:t>識別精度で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dirty="0" smtClean="0"/>
              <a:t>着色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6</a:t>
            </a:fld>
            <a:endParaRPr kumimoji="1" lang="ja-JP" altLang="en-US" dirty="0"/>
          </a:p>
        </p:txBody>
      </p:sp>
      <p:sp>
        <p:nvSpPr>
          <p:cNvPr id="11" name="テキスト プレースホルダー 10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検証用データによる着色</a:t>
            </a:r>
            <a:endParaRPr kumimoji="1" lang="ja-JP" altLang="en-US" dirty="0"/>
          </a:p>
        </p:txBody>
      </p:sp>
      <p:pic>
        <p:nvPicPr>
          <p:cNvPr id="5" name="図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424" t="4051" r="10004" b="7919"/>
          <a:stretch/>
        </p:blipFill>
        <p:spPr>
          <a:xfrm>
            <a:off x="228600" y="2814190"/>
            <a:ext cx="2781303" cy="2405509"/>
          </a:xfrm>
          <a:prstGeom prst="rect">
            <a:avLst/>
          </a:prstGeom>
        </p:spPr>
      </p:pic>
      <p:pic>
        <p:nvPicPr>
          <p:cNvPr id="6" name="図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617" t="5907" r="2859" b="8058"/>
          <a:stretch/>
        </p:blipFill>
        <p:spPr>
          <a:xfrm>
            <a:off x="5848377" y="2814190"/>
            <a:ext cx="3067023" cy="2405509"/>
          </a:xfrm>
          <a:prstGeom prst="rect">
            <a:avLst/>
          </a:prstGeom>
        </p:spPr>
      </p:pic>
      <p:pic>
        <p:nvPicPr>
          <p:cNvPr id="7" name="図 6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810" t="5894" r="10486" b="9760"/>
          <a:stretch/>
        </p:blipFill>
        <p:spPr>
          <a:xfrm>
            <a:off x="3013112" y="2814191"/>
            <a:ext cx="2832055" cy="2405509"/>
          </a:xfrm>
          <a:prstGeom prst="rect">
            <a:avLst/>
          </a:prstGeom>
        </p:spPr>
      </p:pic>
      <p:sp>
        <p:nvSpPr>
          <p:cNvPr id="8" name="テキスト ボックス 7"/>
          <p:cNvSpPr txBox="1"/>
          <p:nvPr/>
        </p:nvSpPr>
        <p:spPr>
          <a:xfrm>
            <a:off x="466724" y="5363229"/>
            <a:ext cx="18288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err="1" smtClean="0"/>
              <a:t>Satimage</a:t>
            </a:r>
            <a:endParaRPr kumimoji="1" lang="ja-JP" altLang="en-US" sz="2800" dirty="0" smtClean="0"/>
          </a:p>
        </p:txBody>
      </p:sp>
      <p:sp>
        <p:nvSpPr>
          <p:cNvPr id="9" name="テキスト ボックス 8"/>
          <p:cNvSpPr txBox="1"/>
          <p:nvPr/>
        </p:nvSpPr>
        <p:spPr>
          <a:xfrm>
            <a:off x="3362324" y="5363229"/>
            <a:ext cx="18288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/>
              <a:t>Vehicle</a:t>
            </a:r>
            <a:endParaRPr kumimoji="1" lang="ja-JP" altLang="en-US" sz="2800" dirty="0" smtClean="0"/>
          </a:p>
        </p:txBody>
      </p:sp>
      <p:sp>
        <p:nvSpPr>
          <p:cNvPr id="10" name="テキスト ボックス 9"/>
          <p:cNvSpPr txBox="1"/>
          <p:nvPr/>
        </p:nvSpPr>
        <p:spPr>
          <a:xfrm>
            <a:off x="6205537" y="5363229"/>
            <a:ext cx="18288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/>
              <a:t>Vowel</a:t>
            </a:r>
            <a:endParaRPr kumimoji="1" lang="ja-JP" altLang="en-US" sz="2800" dirty="0" smtClean="0"/>
          </a:p>
        </p:txBody>
      </p:sp>
    </p:spTree>
    <p:extLst>
      <p:ext uri="{BB962C8B-B14F-4D97-AF65-F5344CB8AC3E}">
        <p14:creationId xmlns:p14="http://schemas.microsoft.com/office/powerpoint/2010/main" val="3034055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分布形状の</a:t>
            </a:r>
            <a:r>
              <a:rPr lang="en-US" altLang="ja-JP" dirty="0"/>
              <a:t>OOB</a:t>
            </a:r>
            <a:r>
              <a:rPr lang="ja-JP" altLang="en-US" dirty="0"/>
              <a:t>データへの依存</a:t>
            </a:r>
            <a:endParaRPr kumimoji="1" lang="ja-JP" altLang="en-US" dirty="0"/>
          </a:p>
        </p:txBody>
      </p:sp>
      <p:sp>
        <p:nvSpPr>
          <p:cNvPr id="5" name="コンテンツ プレースホルダー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各決定木の</a:t>
            </a:r>
            <a:r>
              <a:rPr kumimoji="1" lang="en-US" altLang="ja-JP" dirty="0" smtClean="0"/>
              <a:t>OOB</a:t>
            </a:r>
            <a:r>
              <a:rPr kumimoji="1" lang="ja-JP" altLang="en-US" dirty="0" smtClean="0"/>
              <a:t>データの距離関係を可視化</a:t>
            </a:r>
            <a:endParaRPr kumimoji="1" lang="en-US" altLang="ja-JP" dirty="0" smtClean="0"/>
          </a:p>
          <a:p>
            <a:r>
              <a:rPr lang="ja-JP" altLang="en-US" dirty="0" smtClean="0"/>
              <a:t>検証用</a:t>
            </a:r>
            <a:r>
              <a:rPr lang="ja-JP" altLang="en-US" dirty="0"/>
              <a:t>データ</a:t>
            </a:r>
            <a:r>
              <a:rPr lang="en-US" altLang="ja-JP" dirty="0"/>
              <a:t>(</a:t>
            </a:r>
            <a:r>
              <a:rPr lang="ja-JP" altLang="en-US" dirty="0"/>
              <a:t>元データの</a:t>
            </a:r>
            <a:r>
              <a:rPr lang="en-US" altLang="ja-JP" dirty="0"/>
              <a:t>1/3)</a:t>
            </a:r>
            <a:r>
              <a:rPr lang="ja-JP" altLang="en-US" dirty="0" err="1"/>
              <a:t>への</a:t>
            </a:r>
            <a:r>
              <a:rPr lang="ja-JP" altLang="en-US" dirty="0"/>
              <a:t>識別精度で</a:t>
            </a:r>
            <a:r>
              <a:rPr lang="en-US" altLang="ja-JP" dirty="0"/>
              <a:t/>
            </a:r>
            <a:br>
              <a:rPr lang="en-US" altLang="ja-JP" dirty="0"/>
            </a:br>
            <a:r>
              <a:rPr lang="ja-JP" altLang="en-US" dirty="0"/>
              <a:t>着色</a:t>
            </a:r>
          </a:p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7</a:t>
            </a:fld>
            <a:endParaRPr kumimoji="1" lang="ja-JP" altLang="en-US" dirty="0"/>
          </a:p>
        </p:txBody>
      </p:sp>
      <p:sp>
        <p:nvSpPr>
          <p:cNvPr id="6" name="テキスト プレースホルダー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各決定木間の</a:t>
            </a:r>
            <a:r>
              <a:rPr kumimoji="1" lang="en-US" altLang="ja-JP" dirty="0" smtClean="0"/>
              <a:t>OOB</a:t>
            </a:r>
            <a:r>
              <a:rPr kumimoji="1" lang="ja-JP" altLang="en-US" dirty="0" smtClean="0"/>
              <a:t>データの類似性</a:t>
            </a:r>
            <a:endParaRPr kumimoji="1" lang="ja-JP" altLang="en-US" dirty="0"/>
          </a:p>
        </p:txBody>
      </p:sp>
      <p:pic>
        <p:nvPicPr>
          <p:cNvPr id="14" name="図 1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143" y="3071082"/>
            <a:ext cx="3967438" cy="2984723"/>
          </a:xfrm>
          <a:prstGeom prst="rect">
            <a:avLst/>
          </a:prstGeom>
        </p:spPr>
      </p:pic>
      <p:pic>
        <p:nvPicPr>
          <p:cNvPr id="15" name="図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0419" y="3071082"/>
            <a:ext cx="3967438" cy="2984723"/>
          </a:xfrm>
          <a:prstGeom prst="rect">
            <a:avLst/>
          </a:prstGeom>
        </p:spPr>
      </p:pic>
      <p:sp>
        <p:nvSpPr>
          <p:cNvPr id="17" name="テキスト ボックス 16"/>
          <p:cNvSpPr txBox="1"/>
          <p:nvPr/>
        </p:nvSpPr>
        <p:spPr>
          <a:xfrm>
            <a:off x="1388265" y="6001852"/>
            <a:ext cx="18288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err="1" smtClean="0"/>
              <a:t>Satimage</a:t>
            </a:r>
            <a:endParaRPr kumimoji="1" lang="ja-JP" altLang="en-US" sz="2800" dirty="0" smtClean="0"/>
          </a:p>
        </p:txBody>
      </p:sp>
      <p:sp>
        <p:nvSpPr>
          <p:cNvPr id="18" name="テキスト ボックス 17"/>
          <p:cNvSpPr txBox="1"/>
          <p:nvPr/>
        </p:nvSpPr>
        <p:spPr>
          <a:xfrm>
            <a:off x="5653246" y="6001852"/>
            <a:ext cx="18288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/>
              <a:t>Vowel</a:t>
            </a:r>
            <a:endParaRPr kumimoji="1" lang="ja-JP" altLang="en-US" sz="2800" dirty="0" smtClean="0"/>
          </a:p>
        </p:txBody>
      </p:sp>
    </p:spTree>
    <p:extLst>
      <p:ext uri="{BB962C8B-B14F-4D97-AF65-F5344CB8AC3E}">
        <p14:creationId xmlns:p14="http://schemas.microsoft.com/office/powerpoint/2010/main" val="1703664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分布形状の</a:t>
            </a:r>
            <a:r>
              <a:rPr lang="en-US" altLang="ja-JP" dirty="0"/>
              <a:t>OOB</a:t>
            </a:r>
            <a:r>
              <a:rPr lang="ja-JP" altLang="en-US" dirty="0"/>
              <a:t>データへの依存</a:t>
            </a:r>
            <a:endParaRPr kumimoji="1" lang="ja-JP" altLang="en-US" dirty="0"/>
          </a:p>
        </p:txBody>
      </p:sp>
      <p:sp>
        <p:nvSpPr>
          <p:cNvPr id="5" name="コンテンツ プレースホルダー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各決定木の</a:t>
            </a:r>
            <a:r>
              <a:rPr kumimoji="1" lang="en-US" altLang="ja-JP" dirty="0" smtClean="0"/>
              <a:t>OOB</a:t>
            </a:r>
            <a:r>
              <a:rPr kumimoji="1" lang="ja-JP" altLang="en-US" dirty="0" smtClean="0"/>
              <a:t>データの距離関係を可視化</a:t>
            </a:r>
            <a:endParaRPr kumimoji="1" lang="en-US" altLang="ja-JP" dirty="0" smtClean="0"/>
          </a:p>
          <a:p>
            <a:r>
              <a:rPr lang="ja-JP" altLang="en-US" dirty="0"/>
              <a:t>識別精度が上位</a:t>
            </a:r>
            <a:r>
              <a:rPr lang="en-US" altLang="ja-JP" dirty="0"/>
              <a:t>10</a:t>
            </a:r>
            <a:r>
              <a:rPr lang="ja-JP" altLang="en-US" dirty="0"/>
              <a:t>％のものを抽出</a:t>
            </a:r>
          </a:p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8</a:t>
            </a:fld>
            <a:endParaRPr kumimoji="1" lang="ja-JP" altLang="en-US" dirty="0"/>
          </a:p>
        </p:txBody>
      </p:sp>
      <p:sp>
        <p:nvSpPr>
          <p:cNvPr id="6" name="テキスト プレースホルダー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各決定木間の</a:t>
            </a:r>
            <a:r>
              <a:rPr kumimoji="1" lang="en-US" altLang="ja-JP" dirty="0" smtClean="0"/>
              <a:t>OOB</a:t>
            </a:r>
            <a:r>
              <a:rPr kumimoji="1" lang="ja-JP" altLang="en-US" dirty="0" smtClean="0"/>
              <a:t>データの類似性</a:t>
            </a:r>
            <a:endParaRPr kumimoji="1" lang="ja-JP" altLang="en-US" dirty="0"/>
          </a:p>
        </p:txBody>
      </p:sp>
      <p:pic>
        <p:nvPicPr>
          <p:cNvPr id="14" name="図 1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433" y="3071082"/>
            <a:ext cx="3967437" cy="2984723"/>
          </a:xfrm>
          <a:prstGeom prst="rect">
            <a:avLst/>
          </a:prstGeom>
        </p:spPr>
      </p:pic>
      <p:pic>
        <p:nvPicPr>
          <p:cNvPr id="15" name="図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2709" y="3071082"/>
            <a:ext cx="3967437" cy="2984723"/>
          </a:xfrm>
          <a:prstGeom prst="rect">
            <a:avLst/>
          </a:prstGeom>
        </p:spPr>
      </p:pic>
      <p:sp>
        <p:nvSpPr>
          <p:cNvPr id="17" name="テキスト ボックス 16"/>
          <p:cNvSpPr txBox="1"/>
          <p:nvPr/>
        </p:nvSpPr>
        <p:spPr>
          <a:xfrm>
            <a:off x="1388265" y="6001852"/>
            <a:ext cx="18288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err="1" smtClean="0"/>
              <a:t>Satimage</a:t>
            </a:r>
            <a:endParaRPr kumimoji="1" lang="ja-JP" altLang="en-US" sz="2800" dirty="0" smtClean="0"/>
          </a:p>
        </p:txBody>
      </p:sp>
      <p:sp>
        <p:nvSpPr>
          <p:cNvPr id="18" name="テキスト ボックス 17"/>
          <p:cNvSpPr txBox="1"/>
          <p:nvPr/>
        </p:nvSpPr>
        <p:spPr>
          <a:xfrm>
            <a:off x="5653246" y="6001852"/>
            <a:ext cx="18288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/>
              <a:t>Vowel</a:t>
            </a:r>
            <a:endParaRPr kumimoji="1" lang="ja-JP" altLang="en-US" sz="2800" dirty="0" smtClean="0"/>
          </a:p>
        </p:txBody>
      </p:sp>
    </p:spTree>
    <p:extLst>
      <p:ext uri="{BB962C8B-B14F-4D97-AF65-F5344CB8AC3E}">
        <p14:creationId xmlns:p14="http://schemas.microsoft.com/office/powerpoint/2010/main" val="15686964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タイトル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決定木の複雑さと精度の関係</a:t>
            </a:r>
            <a:endParaRPr kumimoji="1" lang="ja-JP" altLang="en-US" dirty="0"/>
          </a:p>
        </p:txBody>
      </p:sp>
      <p:sp>
        <p:nvSpPr>
          <p:cNvPr id="14" name="コンテンツ プレースホルダー 1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/>
              <a:t>t</a:t>
            </a:r>
            <a:r>
              <a:rPr kumimoji="1" lang="ja-JP" altLang="en-US" dirty="0" err="1" smtClean="0"/>
              <a:t>ｰ</a:t>
            </a:r>
            <a:r>
              <a:rPr kumimoji="1" lang="en-US" altLang="ja-JP" dirty="0" smtClean="0"/>
              <a:t>SNE</a:t>
            </a:r>
            <a:r>
              <a:rPr kumimoji="1" lang="ja-JP" altLang="en-US" dirty="0" smtClean="0"/>
              <a:t>の可視化に</a:t>
            </a:r>
            <a:r>
              <a:rPr kumimoji="1" lang="en-US" altLang="ja-JP" dirty="0" smtClean="0"/>
              <a:t>z</a:t>
            </a:r>
            <a:r>
              <a:rPr kumimoji="1" lang="ja-JP" altLang="en-US" dirty="0" smtClean="0"/>
              <a:t>軸を追加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9</a:t>
            </a:fld>
            <a:endParaRPr kumimoji="1" lang="ja-JP" altLang="en-US" dirty="0"/>
          </a:p>
        </p:txBody>
      </p:sp>
      <p:sp>
        <p:nvSpPr>
          <p:cNvPr id="9" name="テキスト プレースホルダー 8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各決定木の深さの軸を追加</a:t>
            </a:r>
            <a:endParaRPr kumimoji="1" lang="ja-JP" altLang="en-US" dirty="0"/>
          </a:p>
        </p:txBody>
      </p:sp>
      <p:pic>
        <p:nvPicPr>
          <p:cNvPr id="10" name="図 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05"/>
          <a:stretch/>
        </p:blipFill>
        <p:spPr>
          <a:xfrm>
            <a:off x="800100" y="2780794"/>
            <a:ext cx="3693480" cy="2984723"/>
          </a:xfrm>
          <a:prstGeom prst="rect">
            <a:avLst/>
          </a:prstGeom>
        </p:spPr>
      </p:pic>
      <p:pic>
        <p:nvPicPr>
          <p:cNvPr id="11" name="図 10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66"/>
          <a:stretch/>
        </p:blipFill>
        <p:spPr>
          <a:xfrm>
            <a:off x="4914900" y="2780794"/>
            <a:ext cx="3702956" cy="2984723"/>
          </a:xfrm>
          <a:prstGeom prst="rect">
            <a:avLst/>
          </a:prstGeom>
        </p:spPr>
      </p:pic>
      <p:sp>
        <p:nvSpPr>
          <p:cNvPr id="12" name="テキスト ボックス 11"/>
          <p:cNvSpPr txBox="1"/>
          <p:nvPr/>
        </p:nvSpPr>
        <p:spPr>
          <a:xfrm>
            <a:off x="1388265" y="5711564"/>
            <a:ext cx="18288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err="1" smtClean="0"/>
              <a:t>Satimage</a:t>
            </a:r>
            <a:endParaRPr kumimoji="1" lang="ja-JP" altLang="en-US" sz="2800" dirty="0" smtClean="0"/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5653246" y="5711564"/>
            <a:ext cx="18288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/>
              <a:t>Vowel</a:t>
            </a:r>
            <a:endParaRPr kumimoji="1" lang="ja-JP" altLang="en-US" sz="2800" dirty="0" smtClean="0"/>
          </a:p>
        </p:txBody>
      </p:sp>
      <p:sp>
        <p:nvSpPr>
          <p:cNvPr id="15" name="テキスト ボックス 14"/>
          <p:cNvSpPr txBox="1"/>
          <p:nvPr/>
        </p:nvSpPr>
        <p:spPr>
          <a:xfrm rot="16200000">
            <a:off x="-107960" y="3878580"/>
            <a:ext cx="11963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/>
              <a:t>Depth</a:t>
            </a:r>
            <a:endParaRPr kumimoji="1" lang="ja-JP" altLang="en-US" sz="2800" dirty="0" smtClean="0"/>
          </a:p>
        </p:txBody>
      </p:sp>
    </p:spTree>
    <p:extLst>
      <p:ext uri="{BB962C8B-B14F-4D97-AF65-F5344CB8AC3E}">
        <p14:creationId xmlns:p14="http://schemas.microsoft.com/office/powerpoint/2010/main" val="34850892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タイトル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決定木の複雑さと精度の関係</a:t>
            </a:r>
            <a:endParaRPr kumimoji="1" lang="ja-JP" altLang="en-US" dirty="0"/>
          </a:p>
        </p:txBody>
      </p:sp>
      <p:sp>
        <p:nvSpPr>
          <p:cNvPr id="14" name="コンテンツ プレースホルダー 1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/>
              <a:t>t</a:t>
            </a:r>
            <a:r>
              <a:rPr kumimoji="1" lang="ja-JP" altLang="en-US" dirty="0" err="1" smtClean="0"/>
              <a:t>ｰ</a:t>
            </a:r>
            <a:r>
              <a:rPr kumimoji="1" lang="en-US" altLang="ja-JP" dirty="0" smtClean="0"/>
              <a:t>SNE</a:t>
            </a:r>
            <a:r>
              <a:rPr kumimoji="1" lang="ja-JP" altLang="en-US" dirty="0" smtClean="0"/>
              <a:t>の可視化に</a:t>
            </a:r>
            <a:r>
              <a:rPr kumimoji="1" lang="en-US" altLang="ja-JP" dirty="0" smtClean="0"/>
              <a:t>z</a:t>
            </a:r>
            <a:r>
              <a:rPr kumimoji="1" lang="ja-JP" altLang="en-US" dirty="0" smtClean="0"/>
              <a:t>軸を追加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10</a:t>
            </a:fld>
            <a:endParaRPr kumimoji="1" lang="ja-JP" altLang="en-US" dirty="0"/>
          </a:p>
        </p:txBody>
      </p:sp>
      <p:sp>
        <p:nvSpPr>
          <p:cNvPr id="9" name="テキスト プレースホルダー 8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各決定木のノード数の軸を追加</a:t>
            </a:r>
            <a:endParaRPr kumimoji="1" lang="ja-JP" altLang="en-US" dirty="0"/>
          </a:p>
        </p:txBody>
      </p:sp>
      <p:pic>
        <p:nvPicPr>
          <p:cNvPr id="10" name="図 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05"/>
          <a:stretch/>
        </p:blipFill>
        <p:spPr>
          <a:xfrm>
            <a:off x="768350" y="2780794"/>
            <a:ext cx="3725230" cy="2984722"/>
          </a:xfrm>
          <a:prstGeom prst="rect">
            <a:avLst/>
          </a:prstGeom>
        </p:spPr>
      </p:pic>
      <p:pic>
        <p:nvPicPr>
          <p:cNvPr id="11" name="図 10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26"/>
          <a:stretch/>
        </p:blipFill>
        <p:spPr>
          <a:xfrm>
            <a:off x="4889500" y="2780794"/>
            <a:ext cx="3728356" cy="2984722"/>
          </a:xfrm>
          <a:prstGeom prst="rect">
            <a:avLst/>
          </a:prstGeom>
        </p:spPr>
      </p:pic>
      <p:sp>
        <p:nvSpPr>
          <p:cNvPr id="12" name="テキスト ボックス 11"/>
          <p:cNvSpPr txBox="1"/>
          <p:nvPr/>
        </p:nvSpPr>
        <p:spPr>
          <a:xfrm>
            <a:off x="1388265" y="5711564"/>
            <a:ext cx="18288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err="1" smtClean="0"/>
              <a:t>Satimage</a:t>
            </a:r>
            <a:endParaRPr kumimoji="1" lang="ja-JP" altLang="en-US" sz="2800" dirty="0" smtClean="0"/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5653246" y="5711564"/>
            <a:ext cx="18288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/>
              <a:t>Vowel</a:t>
            </a:r>
            <a:endParaRPr kumimoji="1" lang="ja-JP" altLang="en-US" sz="2800" dirty="0" smtClean="0"/>
          </a:p>
        </p:txBody>
      </p:sp>
      <p:sp>
        <p:nvSpPr>
          <p:cNvPr id="15" name="テキスト ボックス 14"/>
          <p:cNvSpPr txBox="1"/>
          <p:nvPr/>
        </p:nvSpPr>
        <p:spPr>
          <a:xfrm rot="16200000">
            <a:off x="-259719" y="3700790"/>
            <a:ext cx="14998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dirty="0" smtClean="0"/>
              <a:t>Nodes</a:t>
            </a:r>
            <a:endParaRPr kumimoji="1" lang="ja-JP" altLang="en-US" sz="2800" dirty="0" smtClean="0"/>
          </a:p>
        </p:txBody>
      </p:sp>
    </p:spTree>
    <p:extLst>
      <p:ext uri="{BB962C8B-B14F-4D97-AF65-F5344CB8AC3E}">
        <p14:creationId xmlns:p14="http://schemas.microsoft.com/office/powerpoint/2010/main" val="30439593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eme_Lab">
  <a:themeElements>
    <a:clrScheme name="ユーザー定義 2">
      <a:dk1>
        <a:srgbClr val="000000"/>
      </a:dk1>
      <a:lt1>
        <a:srgbClr val="FFFAF5"/>
      </a:lt1>
      <a:dk2>
        <a:srgbClr val="000000"/>
      </a:dk2>
      <a:lt2>
        <a:srgbClr val="808080"/>
      </a:lt2>
      <a:accent1>
        <a:srgbClr val="FF1D38"/>
      </a:accent1>
      <a:accent2>
        <a:srgbClr val="333399"/>
      </a:accent2>
      <a:accent3>
        <a:srgbClr val="34ADFD"/>
      </a:accent3>
      <a:accent4>
        <a:srgbClr val="FFFF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ユーザー定義 4">
      <a:majorFont>
        <a:latin typeface="Arial"/>
        <a:ea typeface="ＭＳ Ｐゴシック"/>
        <a:cs typeface=""/>
      </a:majorFont>
      <a:minorFont>
        <a:latin typeface="Arial"/>
        <a:ea typeface="ＭＳ P 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016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ctr">
          <a:defRPr kumimoji="1" sz="2800" dirty="0" smtClean="0"/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_Lab" id="{C405CB98-E9EC-480B-BAC0-9B6A0B9BE441}" vid="{80D153D3-64A8-4419-B988-8E4507248DD7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Theme_lab</Template>
  <TotalTime>81</TotalTime>
  <Words>285</Words>
  <Application>Microsoft Office PowerPoint</Application>
  <PresentationFormat>画面に合わせる (4:3)</PresentationFormat>
  <Paragraphs>63</Paragraphs>
  <Slides>10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6" baseType="lpstr">
      <vt:lpstr>ＭＳ P ゴシック</vt:lpstr>
      <vt:lpstr>ＭＳ Ｐゴシック</vt:lpstr>
      <vt:lpstr>Arial</vt:lpstr>
      <vt:lpstr>Calibri</vt:lpstr>
      <vt:lpstr>Times New Roman</vt:lpstr>
      <vt:lpstr>Theme_Lab</vt:lpstr>
      <vt:lpstr>GAを用いたランダムフォレストにおける弱識別器の選択</vt:lpstr>
      <vt:lpstr>これまでの実験概要</vt:lpstr>
      <vt:lpstr>これまでの実験概要</vt:lpstr>
      <vt:lpstr>これまでの実験概要</vt:lpstr>
      <vt:lpstr>調査内容</vt:lpstr>
      <vt:lpstr>分布形状のOOBデータへの依存</vt:lpstr>
      <vt:lpstr>分布形状のOOBデータへの依存</vt:lpstr>
      <vt:lpstr>分布形状のOOBデータへの依存</vt:lpstr>
      <vt:lpstr>決定木の複雑さと精度の関係</vt:lpstr>
      <vt:lpstr>決定木の複雑さと精度の関係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GAを用いたランダムフォレストにおける弱識別器の選択</dc:title>
  <dc:creator>瓜田 俊貴</dc:creator>
  <cp:lastModifiedBy>瓜田 俊貴</cp:lastModifiedBy>
  <cp:revision>8</cp:revision>
  <dcterms:created xsi:type="dcterms:W3CDTF">2019-05-14T15:25:01Z</dcterms:created>
  <dcterms:modified xsi:type="dcterms:W3CDTF">2019-05-14T16:46:22Z</dcterms:modified>
</cp:coreProperties>
</file>