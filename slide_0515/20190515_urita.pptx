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2"/>
  </p:notesMasterIdLst>
  <p:sldIdLst>
    <p:sldId id="258" r:id="rId2"/>
    <p:sldId id="259" r:id="rId3"/>
    <p:sldId id="264" r:id="rId4"/>
    <p:sldId id="260" r:id="rId5"/>
    <p:sldId id="261" r:id="rId6"/>
    <p:sldId id="265" r:id="rId7"/>
    <p:sldId id="268" r:id="rId8"/>
    <p:sldId id="262" r:id="rId9"/>
    <p:sldId id="257" r:id="rId10"/>
    <p:sldId id="269" r:id="rId1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5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8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E2AF2-F71F-41C6-9FF4-B571EAB0E31F}" type="datetimeFigureOut">
              <a:rPr kumimoji="1" lang="ja-JP" altLang="en-US" smtClean="0"/>
              <a:t>2019/5/15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C47F22-CBA8-43C3-8082-ABD2D12DF5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39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953AC-7D74-400F-BB06-95EAE7026D6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705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3" r:id="rId4"/>
    <p:sldLayoutId id="2147483670" r:id="rId5"/>
    <p:sldLayoutId id="2147483671" r:id="rId6"/>
    <p:sldLayoutId id="2147483672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67782"/>
            <a:ext cx="7772400" cy="1470025"/>
          </a:xfrm>
        </p:spPr>
        <p:txBody>
          <a:bodyPr/>
          <a:lstStyle/>
          <a:p>
            <a:pPr algn="ctr"/>
            <a:r>
              <a:rPr kumimoji="1" lang="en-US" altLang="ja-JP" dirty="0" smtClean="0"/>
              <a:t>GA</a:t>
            </a:r>
            <a:r>
              <a:rPr kumimoji="1" lang="ja-JP" altLang="en-US" dirty="0" smtClean="0"/>
              <a:t>を用いたランダムフォレストにおける</a:t>
            </a:r>
            <a:r>
              <a:rPr lang="ja-JP" altLang="en-US" dirty="0" smtClean="0"/>
              <a:t>弱識別器の選択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948136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0010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これまでの実験概要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ランダムフォレストの</a:t>
            </a:r>
            <a:r>
              <a:rPr lang="ja-JP" altLang="en-US" dirty="0" smtClean="0"/>
              <a:t>決定</a:t>
            </a:r>
            <a:r>
              <a:rPr lang="ja-JP" altLang="en-US" dirty="0"/>
              <a:t>木</a:t>
            </a:r>
            <a:r>
              <a:rPr kumimoji="1" lang="ja-JP" altLang="en-US" dirty="0" smtClean="0"/>
              <a:t>を抽出し，より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良いアンサンブル識別器を獲得する．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個体評価に，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データ・検証用データを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用いた</a:t>
            </a:r>
            <a:r>
              <a:rPr kumimoji="1" lang="en-US" altLang="ja-JP" dirty="0" smtClean="0"/>
              <a:t>GA</a:t>
            </a:r>
            <a:r>
              <a:rPr kumimoji="1" lang="ja-JP" altLang="en-US" dirty="0" smtClean="0"/>
              <a:t>で探索を行っていたが，いずれも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うまくいっていない．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3210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これまでの実験概要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ランダムフォレストの</a:t>
            </a:r>
            <a:r>
              <a:rPr lang="ja-JP" altLang="en-US" dirty="0" smtClean="0"/>
              <a:t>決定</a:t>
            </a:r>
            <a:r>
              <a:rPr lang="ja-JP" altLang="en-US" dirty="0"/>
              <a:t>木</a:t>
            </a:r>
            <a:r>
              <a:rPr kumimoji="1" lang="ja-JP" altLang="en-US" dirty="0" smtClean="0"/>
              <a:t>を抽出し，より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良いアンサンブル識別器を獲得する．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個体評価に，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データ・検証用データを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用いた</a:t>
            </a:r>
            <a:r>
              <a:rPr kumimoji="1" lang="en-US" altLang="ja-JP" dirty="0" smtClean="0"/>
              <a:t>GA</a:t>
            </a:r>
            <a:r>
              <a:rPr kumimoji="1" lang="ja-JP" altLang="en-US" dirty="0" smtClean="0"/>
              <a:t>で探索を行っていたが，いずれも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うまくいっていない．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ja-JP" dirty="0"/>
          </a:p>
          <a:p>
            <a:r>
              <a:rPr kumimoji="1" lang="en-US" altLang="ja-JP" dirty="0" smtClean="0"/>
              <a:t>GA</a:t>
            </a:r>
            <a:r>
              <a:rPr kumimoji="1" lang="ja-JP" altLang="en-US" dirty="0" smtClean="0"/>
              <a:t>に関しては，元の決定木の本数を増やして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再度実験中．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97257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これまでの実験概要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3</a:t>
            </a:r>
            <a:r>
              <a:rPr kumimoji="1" lang="ja-JP" altLang="en-US" dirty="0" smtClean="0"/>
              <a:t>回生実験での結果</a:t>
            </a:r>
            <a:endParaRPr kumimoji="1" lang="en-US" altLang="ja-JP" dirty="0" smtClean="0"/>
          </a:p>
          <a:p>
            <a:r>
              <a:rPr lang="en-US" altLang="ja-JP" dirty="0" smtClean="0"/>
              <a:t>OO</a:t>
            </a:r>
            <a:r>
              <a:rPr lang="en-US" altLang="ja-JP" dirty="0"/>
              <a:t>B</a:t>
            </a:r>
            <a:r>
              <a:rPr lang="ja-JP" altLang="en-US" dirty="0" smtClean="0"/>
              <a:t>データへの予測</a:t>
            </a:r>
            <a:r>
              <a:rPr lang="ja-JP" altLang="en-US" dirty="0"/>
              <a:t>精度で着色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21" name="テキスト プレースホルダー 2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t-SNE</a:t>
            </a:r>
            <a:r>
              <a:rPr lang="ja-JP" altLang="en-US" dirty="0"/>
              <a:t>に</a:t>
            </a:r>
            <a:r>
              <a:rPr lang="ja-JP" altLang="en-US" dirty="0" smtClean="0"/>
              <a:t>よる決定</a:t>
            </a:r>
            <a:r>
              <a:rPr lang="ja-JP" altLang="en-US" dirty="0"/>
              <a:t>木</a:t>
            </a:r>
            <a:r>
              <a:rPr lang="ja-JP" altLang="en-US" dirty="0" smtClean="0"/>
              <a:t>の</a:t>
            </a:r>
            <a:r>
              <a:rPr lang="ja-JP" altLang="en-US" dirty="0"/>
              <a:t>可視化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10865" y="5246189"/>
            <a:ext cx="1168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 smtClean="0"/>
              <a:t>Iris</a:t>
            </a:r>
            <a:endParaRPr kumimoji="1" lang="ja-JP" altLang="en-US" sz="32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25826" y="5246189"/>
            <a:ext cx="1168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 smtClean="0"/>
              <a:t>Wine</a:t>
            </a:r>
            <a:endParaRPr kumimoji="1" lang="ja-JP" altLang="en-US" sz="32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642504" y="5246188"/>
            <a:ext cx="1783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 smtClean="0"/>
              <a:t>Vehicle</a:t>
            </a:r>
            <a:endParaRPr kumimoji="1" lang="ja-JP" altLang="en-US" sz="3200" dirty="0" smtClean="0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970757"/>
            <a:ext cx="3128967" cy="2353938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061" y="2970757"/>
            <a:ext cx="3128967" cy="2353938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498" y="2931504"/>
            <a:ext cx="3128966" cy="2353937"/>
          </a:xfrm>
          <a:prstGeom prst="rect">
            <a:avLst/>
          </a:prstGeom>
        </p:spPr>
      </p:pic>
      <p:sp>
        <p:nvSpPr>
          <p:cNvPr id="11" name="テキスト ボックス 10"/>
          <p:cNvSpPr txBox="1"/>
          <p:nvPr/>
        </p:nvSpPr>
        <p:spPr>
          <a:xfrm>
            <a:off x="796560" y="5896405"/>
            <a:ext cx="755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精度の良い</a:t>
            </a:r>
            <a:r>
              <a:rPr lang="ja-JP" altLang="en-US" sz="2800" dirty="0" smtClean="0"/>
              <a:t>決定</a:t>
            </a:r>
            <a:r>
              <a:rPr lang="ja-JP" altLang="en-US" sz="2800" dirty="0"/>
              <a:t>木</a:t>
            </a:r>
            <a:r>
              <a:rPr kumimoji="1" lang="ja-JP" altLang="en-US" sz="2800" dirty="0" smtClean="0"/>
              <a:t>が</a:t>
            </a:r>
            <a:r>
              <a:rPr kumimoji="1" lang="ja-JP" altLang="en-US" sz="2800" u="sng" dirty="0" smtClean="0"/>
              <a:t>中央に多く存在</a:t>
            </a:r>
          </a:p>
        </p:txBody>
      </p:sp>
      <p:pic>
        <p:nvPicPr>
          <p:cNvPr id="16" name="コンテンツ プレースホルダー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76" t="5556" r="15087" b="9730"/>
          <a:stretch/>
        </p:blipFill>
        <p:spPr bwMode="auto">
          <a:xfrm rot="5400000">
            <a:off x="7292933" y="1145569"/>
            <a:ext cx="691921" cy="2960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コンテンツ プレースホルダー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16" t="5556" r="17078" b="9730"/>
          <a:stretch/>
        </p:blipFill>
        <p:spPr bwMode="auto">
          <a:xfrm rot="5400000">
            <a:off x="7484330" y="1318444"/>
            <a:ext cx="309127" cy="2960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グループ化 17"/>
          <p:cNvGrpSpPr/>
          <p:nvPr/>
        </p:nvGrpSpPr>
        <p:grpSpPr>
          <a:xfrm>
            <a:off x="5888636" y="1762009"/>
            <a:ext cx="3265917" cy="523220"/>
            <a:chOff x="5308676" y="1924468"/>
            <a:chExt cx="3561341" cy="523220"/>
          </a:xfrm>
        </p:grpSpPr>
        <p:sp>
          <p:nvSpPr>
            <p:cNvPr id="19" name="テキスト ボックス 18"/>
            <p:cNvSpPr txBox="1"/>
            <p:nvPr/>
          </p:nvSpPr>
          <p:spPr>
            <a:xfrm>
              <a:off x="5308676" y="1924468"/>
              <a:ext cx="13855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精度悪</a:t>
              </a: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7477891" y="1924468"/>
              <a:ext cx="13921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精度良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208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ja-JP" altLang="en-US" dirty="0" smtClean="0"/>
              <a:t>分布の形状は，未知データ</a:t>
            </a:r>
            <a:r>
              <a:rPr lang="en-US" altLang="ja-JP" dirty="0" smtClean="0"/>
              <a:t>(</a:t>
            </a:r>
            <a:r>
              <a:rPr lang="ja-JP" altLang="en-US" dirty="0" smtClean="0"/>
              <a:t>≠</a:t>
            </a:r>
            <a:r>
              <a:rPr lang="en-US" altLang="ja-JP" dirty="0" smtClean="0"/>
              <a:t>OOB</a:t>
            </a:r>
            <a:r>
              <a:rPr lang="ja-JP" altLang="en-US" dirty="0" smtClean="0"/>
              <a:t>データ</a:t>
            </a:r>
            <a:r>
              <a:rPr lang="en-US" altLang="ja-JP" dirty="0" smtClean="0"/>
              <a:t>)</a:t>
            </a:r>
            <a:r>
              <a:rPr lang="ja-JP" altLang="en-US" dirty="0" smtClean="0"/>
              <a:t>でも同じなのか．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識別精度の良い木は複雑な木なのか．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lang="en-US" altLang="ja-JP" dirty="0" smtClean="0"/>
          </a:p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888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分布形状の</a:t>
            </a:r>
            <a:r>
              <a:rPr lang="en-US" altLang="ja-JP" dirty="0"/>
              <a:t>OOB</a:t>
            </a:r>
            <a:r>
              <a:rPr lang="ja-JP" altLang="en-US" dirty="0"/>
              <a:t>データへの依存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各決定木の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データの距離関係を可視化</a:t>
            </a:r>
            <a:endParaRPr kumimoji="1" lang="en-US" altLang="ja-JP" dirty="0" smtClean="0"/>
          </a:p>
          <a:p>
            <a:r>
              <a:rPr lang="ja-JP" altLang="en-US" dirty="0" smtClean="0"/>
              <a:t>検証用</a:t>
            </a:r>
            <a:r>
              <a:rPr lang="ja-JP" altLang="en-US" dirty="0"/>
              <a:t>データ</a:t>
            </a:r>
            <a:r>
              <a:rPr lang="en-US" altLang="ja-JP" dirty="0"/>
              <a:t>(</a:t>
            </a:r>
            <a:r>
              <a:rPr lang="ja-JP" altLang="en-US" dirty="0"/>
              <a:t>元データの</a:t>
            </a:r>
            <a:r>
              <a:rPr lang="en-US" altLang="ja-JP" dirty="0"/>
              <a:t>1/3)</a:t>
            </a:r>
            <a:r>
              <a:rPr lang="ja-JP" altLang="en-US" dirty="0" err="1"/>
              <a:t>への</a:t>
            </a:r>
            <a:r>
              <a:rPr lang="ja-JP" altLang="en-US" dirty="0"/>
              <a:t>識別精度で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着色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各決定木間の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データの類似性</a:t>
            </a:r>
            <a:endParaRPr kumimoji="1" lang="ja-JP" altLang="en-US" dirty="0"/>
          </a:p>
        </p:txBody>
      </p:sp>
      <p:pic>
        <p:nvPicPr>
          <p:cNvPr id="14" name="図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43" y="3071082"/>
            <a:ext cx="3967438" cy="2984723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419" y="3071082"/>
            <a:ext cx="3967438" cy="2984723"/>
          </a:xfrm>
          <a:prstGeom prst="rect">
            <a:avLst/>
          </a:prstGeom>
        </p:spPr>
      </p:pic>
      <p:sp>
        <p:nvSpPr>
          <p:cNvPr id="17" name="テキスト ボックス 16"/>
          <p:cNvSpPr txBox="1"/>
          <p:nvPr/>
        </p:nvSpPr>
        <p:spPr>
          <a:xfrm>
            <a:off x="1388265" y="6001852"/>
            <a:ext cx="1828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err="1" smtClean="0"/>
              <a:t>Satimage</a:t>
            </a:r>
            <a:endParaRPr kumimoji="1" lang="ja-JP" altLang="en-US" sz="2800" dirty="0" smtClean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5653246" y="6001852"/>
            <a:ext cx="1828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Vowel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7036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分布形状の</a:t>
            </a:r>
            <a:r>
              <a:rPr lang="en-US" altLang="ja-JP" dirty="0"/>
              <a:t>OOB</a:t>
            </a:r>
            <a:r>
              <a:rPr lang="ja-JP" altLang="en-US" dirty="0"/>
              <a:t>データへの依存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各決定木の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データの距離関係を可視化</a:t>
            </a:r>
            <a:endParaRPr kumimoji="1" lang="en-US" altLang="ja-JP" dirty="0" smtClean="0"/>
          </a:p>
          <a:p>
            <a:r>
              <a:rPr lang="ja-JP" altLang="en-US" dirty="0"/>
              <a:t>識別精度が上位</a:t>
            </a:r>
            <a:r>
              <a:rPr lang="en-US" altLang="ja-JP" dirty="0"/>
              <a:t>10</a:t>
            </a:r>
            <a:r>
              <a:rPr lang="ja-JP" altLang="en-US" dirty="0"/>
              <a:t>％のものを抽出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各決定木間の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データの類似性</a:t>
            </a:r>
            <a:endParaRPr kumimoji="1" lang="ja-JP" altLang="en-US" dirty="0"/>
          </a:p>
        </p:txBody>
      </p:sp>
      <p:pic>
        <p:nvPicPr>
          <p:cNvPr id="14" name="図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33" y="3071082"/>
            <a:ext cx="3967437" cy="2984723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709" y="3071082"/>
            <a:ext cx="3967437" cy="2984723"/>
          </a:xfrm>
          <a:prstGeom prst="rect">
            <a:avLst/>
          </a:prstGeom>
        </p:spPr>
      </p:pic>
      <p:sp>
        <p:nvSpPr>
          <p:cNvPr id="17" name="テキスト ボックス 16"/>
          <p:cNvSpPr txBox="1"/>
          <p:nvPr/>
        </p:nvSpPr>
        <p:spPr>
          <a:xfrm>
            <a:off x="1388265" y="6001852"/>
            <a:ext cx="1828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err="1" smtClean="0"/>
              <a:t>Satimage</a:t>
            </a:r>
            <a:endParaRPr kumimoji="1" lang="ja-JP" altLang="en-US" sz="2800" dirty="0" smtClean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5653246" y="6001852"/>
            <a:ext cx="1828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Vowel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56869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分布形状の</a:t>
            </a:r>
            <a:r>
              <a:rPr lang="en-US" altLang="ja-JP" dirty="0" smtClean="0"/>
              <a:t>OOB</a:t>
            </a:r>
            <a:r>
              <a:rPr lang="ja-JP" altLang="en-US" dirty="0" smtClean="0"/>
              <a:t>データへの依存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検証用データ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元データの</a:t>
            </a:r>
            <a:r>
              <a:rPr kumimoji="1" lang="en-US" altLang="ja-JP" dirty="0" smtClean="0"/>
              <a:t>1/3)</a:t>
            </a:r>
            <a:r>
              <a:rPr lang="ja-JP" altLang="en-US" dirty="0" err="1" smtClean="0"/>
              <a:t>への</a:t>
            </a:r>
            <a:r>
              <a:rPr kumimoji="1" lang="ja-JP" altLang="en-US" dirty="0" smtClean="0"/>
              <a:t>識別精度で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着色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検証用データによる着色</a:t>
            </a:r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4" t="4051" r="10004" b="7919"/>
          <a:stretch/>
        </p:blipFill>
        <p:spPr>
          <a:xfrm>
            <a:off x="228600" y="2814190"/>
            <a:ext cx="2781303" cy="2405509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7" t="5907" r="2859" b="8058"/>
          <a:stretch/>
        </p:blipFill>
        <p:spPr>
          <a:xfrm>
            <a:off x="5848377" y="2814190"/>
            <a:ext cx="3067023" cy="2405509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0" t="5894" r="10486" b="9760"/>
          <a:stretch/>
        </p:blipFill>
        <p:spPr>
          <a:xfrm>
            <a:off x="3013112" y="2814191"/>
            <a:ext cx="2832055" cy="2405509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466724" y="5363229"/>
            <a:ext cx="1828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err="1" smtClean="0"/>
              <a:t>Satimage</a:t>
            </a:r>
            <a:endParaRPr kumimoji="1" lang="ja-JP" altLang="en-US" sz="2800" dirty="0" smtClean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362324" y="5363229"/>
            <a:ext cx="1828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Vehicle</a:t>
            </a:r>
            <a:endParaRPr kumimoji="1" lang="ja-JP" altLang="en-US" sz="2800" dirty="0" smtClean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6205537" y="5363229"/>
            <a:ext cx="1828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Vowel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0340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決定木の複雑さと精度の関係</a:t>
            </a:r>
            <a:endParaRPr kumimoji="1" lang="ja-JP" altLang="en-US" dirty="0"/>
          </a:p>
        </p:txBody>
      </p:sp>
      <p:sp>
        <p:nvSpPr>
          <p:cNvPr id="14" name="コンテンツ プレースホルダー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kumimoji="1" lang="ja-JP" altLang="en-US" dirty="0" err="1" smtClean="0"/>
              <a:t>ｰ</a:t>
            </a:r>
            <a:r>
              <a:rPr kumimoji="1" lang="en-US" altLang="ja-JP" dirty="0" smtClean="0"/>
              <a:t>SNE</a:t>
            </a:r>
            <a:r>
              <a:rPr kumimoji="1" lang="ja-JP" altLang="en-US" dirty="0" smtClean="0"/>
              <a:t>の可視化に</a:t>
            </a:r>
            <a:r>
              <a:rPr kumimoji="1" lang="en-US" altLang="ja-JP" dirty="0" smtClean="0"/>
              <a:t>z</a:t>
            </a:r>
            <a:r>
              <a:rPr kumimoji="1" lang="ja-JP" altLang="en-US" dirty="0" smtClean="0"/>
              <a:t>軸を追加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各決定木の深さの軸を追加</a:t>
            </a:r>
            <a:endParaRPr kumimoji="1" lang="ja-JP" altLang="en-US" dirty="0"/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5"/>
          <a:stretch/>
        </p:blipFill>
        <p:spPr>
          <a:xfrm>
            <a:off x="800100" y="2780794"/>
            <a:ext cx="3693480" cy="2984723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/>
          <a:stretch/>
        </p:blipFill>
        <p:spPr>
          <a:xfrm>
            <a:off x="4914900" y="2780794"/>
            <a:ext cx="3702956" cy="2984723"/>
          </a:xfrm>
          <a:prstGeom prst="rect">
            <a:avLst/>
          </a:prstGeom>
        </p:spPr>
      </p:pic>
      <p:sp>
        <p:nvSpPr>
          <p:cNvPr id="12" name="テキスト ボックス 11"/>
          <p:cNvSpPr txBox="1"/>
          <p:nvPr/>
        </p:nvSpPr>
        <p:spPr>
          <a:xfrm>
            <a:off x="1388265" y="5711564"/>
            <a:ext cx="1828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err="1" smtClean="0"/>
              <a:t>Satimage</a:t>
            </a:r>
            <a:endParaRPr kumimoji="1" lang="ja-JP" altLang="en-US" sz="2800" dirty="0" smtClean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5653246" y="5711564"/>
            <a:ext cx="1828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Vowel</a:t>
            </a:r>
            <a:endParaRPr kumimoji="1" lang="ja-JP" altLang="en-US" sz="2800" dirty="0" smtClean="0"/>
          </a:p>
        </p:txBody>
      </p:sp>
      <p:sp>
        <p:nvSpPr>
          <p:cNvPr id="15" name="テキスト ボックス 14"/>
          <p:cNvSpPr txBox="1"/>
          <p:nvPr/>
        </p:nvSpPr>
        <p:spPr>
          <a:xfrm rot="16200000">
            <a:off x="-107960" y="3878580"/>
            <a:ext cx="1196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Depth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485089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決定木の複雑さと精度の関係</a:t>
            </a:r>
            <a:endParaRPr kumimoji="1" lang="ja-JP" altLang="en-US" dirty="0"/>
          </a:p>
        </p:txBody>
      </p:sp>
      <p:sp>
        <p:nvSpPr>
          <p:cNvPr id="14" name="コンテンツ プレースホルダー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kumimoji="1" lang="ja-JP" altLang="en-US" dirty="0" err="1" smtClean="0"/>
              <a:t>ｰ</a:t>
            </a:r>
            <a:r>
              <a:rPr kumimoji="1" lang="en-US" altLang="ja-JP" dirty="0" smtClean="0"/>
              <a:t>SNE</a:t>
            </a:r>
            <a:r>
              <a:rPr kumimoji="1" lang="ja-JP" altLang="en-US" dirty="0" smtClean="0"/>
              <a:t>の可視化に</a:t>
            </a:r>
            <a:r>
              <a:rPr kumimoji="1" lang="en-US" altLang="ja-JP" dirty="0" smtClean="0"/>
              <a:t>z</a:t>
            </a:r>
            <a:r>
              <a:rPr kumimoji="1" lang="ja-JP" altLang="en-US" dirty="0" smtClean="0"/>
              <a:t>軸を追加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各決定木のノード数の軸を追加</a:t>
            </a:r>
            <a:endParaRPr kumimoji="1" lang="ja-JP" altLang="en-US" dirty="0"/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5"/>
          <a:stretch/>
        </p:blipFill>
        <p:spPr>
          <a:xfrm>
            <a:off x="768350" y="2780794"/>
            <a:ext cx="3725230" cy="2984722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6"/>
          <a:stretch/>
        </p:blipFill>
        <p:spPr>
          <a:xfrm>
            <a:off x="4889500" y="2780794"/>
            <a:ext cx="3728356" cy="2984722"/>
          </a:xfrm>
          <a:prstGeom prst="rect">
            <a:avLst/>
          </a:prstGeom>
        </p:spPr>
      </p:pic>
      <p:sp>
        <p:nvSpPr>
          <p:cNvPr id="12" name="テキスト ボックス 11"/>
          <p:cNvSpPr txBox="1"/>
          <p:nvPr/>
        </p:nvSpPr>
        <p:spPr>
          <a:xfrm>
            <a:off x="1388265" y="5711564"/>
            <a:ext cx="1828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err="1" smtClean="0"/>
              <a:t>Satimage</a:t>
            </a:r>
            <a:endParaRPr kumimoji="1" lang="ja-JP" altLang="en-US" sz="2800" dirty="0" smtClean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5653246" y="5711564"/>
            <a:ext cx="1828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Vowel</a:t>
            </a:r>
            <a:endParaRPr kumimoji="1" lang="ja-JP" altLang="en-US" sz="2800" dirty="0" smtClean="0"/>
          </a:p>
        </p:txBody>
      </p:sp>
      <p:sp>
        <p:nvSpPr>
          <p:cNvPr id="15" name="テキスト ボックス 14"/>
          <p:cNvSpPr txBox="1"/>
          <p:nvPr/>
        </p:nvSpPr>
        <p:spPr>
          <a:xfrm rot="16200000">
            <a:off x="-259719" y="3700790"/>
            <a:ext cx="1499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 smtClean="0"/>
              <a:t>Nodes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04395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C405CB98-E9EC-480B-BAC0-9B6A0B9BE441}" vid="{80D153D3-64A8-4419-B988-8E4507248DD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81</TotalTime>
  <Words>285</Words>
  <Application>Microsoft Office PowerPoint</Application>
  <PresentationFormat>画面に合わせる (4:3)</PresentationFormat>
  <Paragraphs>63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6" baseType="lpstr">
      <vt:lpstr>ＭＳ P ゴシック</vt:lpstr>
      <vt:lpstr>ＭＳ Ｐゴシック</vt:lpstr>
      <vt:lpstr>Arial</vt:lpstr>
      <vt:lpstr>Calibri</vt:lpstr>
      <vt:lpstr>Times New Roman</vt:lpstr>
      <vt:lpstr>Theme_Lab</vt:lpstr>
      <vt:lpstr>GAを用いたランダムフォレストにおける弱識別器の選択</vt:lpstr>
      <vt:lpstr>これまでの実験概要</vt:lpstr>
      <vt:lpstr>これまでの実験概要</vt:lpstr>
      <vt:lpstr>これまでの実験概要</vt:lpstr>
      <vt:lpstr>調査内容</vt:lpstr>
      <vt:lpstr>分布形状のOOBデータへの依存</vt:lpstr>
      <vt:lpstr>分布形状のOOBデータへの依存</vt:lpstr>
      <vt:lpstr>分布形状のOOBデータへの依存</vt:lpstr>
      <vt:lpstr>決定木の複雑さと精度の関係</vt:lpstr>
      <vt:lpstr>決定木の複雑さと精度の関係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GAを用いたランダムフォレストにおける弱識別器の選択</dc:title>
  <dc:creator>瓜田 俊貴</dc:creator>
  <cp:lastModifiedBy>俊貴 瓜田</cp:lastModifiedBy>
  <cp:revision>9</cp:revision>
  <dcterms:created xsi:type="dcterms:W3CDTF">2019-05-14T15:25:01Z</dcterms:created>
  <dcterms:modified xsi:type="dcterms:W3CDTF">2019-05-15T05:12:11Z</dcterms:modified>
</cp:coreProperties>
</file>