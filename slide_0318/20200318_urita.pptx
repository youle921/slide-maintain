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57" r:id="rId3"/>
    <p:sldId id="258" r:id="rId4"/>
    <p:sldId id="260" r:id="rId5"/>
    <p:sldId id="259" r:id="rId6"/>
    <p:sldId id="263" r:id="rId7"/>
    <p:sldId id="265" r:id="rId8"/>
    <p:sldId id="266" r:id="rId9"/>
    <p:sldId id="264" r:id="rId1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888" y="-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77637"/>
            <a:ext cx="7772400" cy="242282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7432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dirty="0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多目的マルチタスク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ナップサック問題の提案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瓜田　俊貴</a:t>
            </a:r>
          </a:p>
          <a:p>
            <a:r>
              <a:rPr kumimoji="1" lang="ja-JP" altLang="en-US" dirty="0" smtClean="0"/>
              <a:t>計算知能工学研究室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545004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研究概要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下記の</a:t>
            </a:r>
            <a:r>
              <a:rPr lang="ja-JP" altLang="en-US" dirty="0" smtClean="0"/>
              <a:t>パラメータ</a:t>
            </a:r>
            <a:r>
              <a:rPr lang="ja-JP" altLang="en-US" dirty="0"/>
              <a:t>で</a:t>
            </a:r>
            <a:r>
              <a:rPr lang="ja-JP" altLang="en-US" dirty="0" smtClean="0"/>
              <a:t>タスク</a:t>
            </a:r>
            <a:r>
              <a:rPr lang="en-US" altLang="ja-JP" dirty="0"/>
              <a:t>A</a:t>
            </a:r>
            <a:r>
              <a:rPr lang="ja-JP" altLang="en-US" dirty="0" smtClean="0"/>
              <a:t>のナップサック</a:t>
            </a:r>
            <a:r>
              <a:rPr lang="ja-JP" altLang="en-US" dirty="0"/>
              <a:t>問題を</a:t>
            </a:r>
            <a:r>
              <a:rPr lang="ja-JP" altLang="en-US" dirty="0" smtClean="0"/>
              <a:t>作成</a:t>
            </a:r>
            <a:endParaRPr lang="en-US" altLang="ja-JP" dirty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タスク</a:t>
            </a:r>
            <a:r>
              <a:rPr lang="en-US" altLang="ja-JP" dirty="0" smtClean="0"/>
              <a:t>B</a:t>
            </a:r>
            <a:r>
              <a:rPr lang="ja-JP" altLang="en-US" dirty="0" smtClean="0"/>
              <a:t>を，タスク</a:t>
            </a:r>
            <a:r>
              <a:rPr lang="en-US" altLang="ja-JP" dirty="0"/>
              <a:t>A</a:t>
            </a:r>
            <a:r>
              <a:rPr lang="ja-JP" altLang="en-US" dirty="0"/>
              <a:t>に変更を</a:t>
            </a:r>
            <a:r>
              <a:rPr lang="ja-JP" altLang="en-US" dirty="0" smtClean="0"/>
              <a:t>加えることで作成</a:t>
            </a:r>
            <a:endParaRPr lang="en-US" altLang="ja-JP" dirty="0"/>
          </a:p>
          <a:p>
            <a:pPr marL="444500" indent="-444500">
              <a:buFont typeface="+mj-lt"/>
              <a:buAutoNum type="arabicPeriod"/>
            </a:pPr>
            <a:r>
              <a:rPr lang="en-US" altLang="ja-JP" b="1" dirty="0" smtClean="0"/>
              <a:t>Capacity</a:t>
            </a:r>
            <a:r>
              <a:rPr lang="ja-JP" altLang="en-US" b="1" dirty="0" smtClean="0"/>
              <a:t> </a:t>
            </a:r>
            <a:r>
              <a:rPr lang="en-US" altLang="ja-JP" b="1" dirty="0" smtClean="0"/>
              <a:t>Scaling </a:t>
            </a:r>
            <a:r>
              <a:rPr lang="ja-JP" altLang="en-US" b="1" dirty="0"/>
              <a:t>問題</a:t>
            </a:r>
            <a:endParaRPr lang="en-US" altLang="ja-JP" b="1" dirty="0"/>
          </a:p>
          <a:p>
            <a:pPr lvl="1"/>
            <a:r>
              <a:rPr lang="ja-JP" altLang="en-US" dirty="0"/>
              <a:t>タスク</a:t>
            </a:r>
            <a:r>
              <a:rPr lang="en-US" altLang="ja-JP" dirty="0"/>
              <a:t>A</a:t>
            </a:r>
            <a:r>
              <a:rPr lang="ja-JP" altLang="en-US" dirty="0"/>
              <a:t>のナップサックの</a:t>
            </a:r>
            <a:r>
              <a:rPr lang="ja-JP" altLang="en-US" b="1" u="sng" dirty="0"/>
              <a:t>容量</a:t>
            </a:r>
            <a:r>
              <a:rPr lang="ja-JP" altLang="en-US" b="1" u="sng" dirty="0" smtClean="0"/>
              <a:t>を</a:t>
            </a:r>
            <a:r>
              <a:rPr lang="en-US" altLang="ja-JP" b="1" i="1" u="sng" dirty="0" smtClean="0">
                <a:latin typeface="Symbol" panose="05050102010706020507" pitchFamily="18" charset="2"/>
              </a:rPr>
              <a:t>a</a:t>
            </a:r>
            <a:r>
              <a:rPr lang="ja-JP" altLang="en-US" b="1" u="sng" dirty="0"/>
              <a:t>倍</a:t>
            </a:r>
            <a:r>
              <a:rPr lang="ja-JP" altLang="en-US" dirty="0" smtClean="0"/>
              <a:t>して</a:t>
            </a:r>
            <a:r>
              <a:rPr lang="ja-JP" altLang="en-US" dirty="0"/>
              <a:t>タスク</a:t>
            </a:r>
            <a:r>
              <a:rPr lang="en-US" altLang="ja-JP" dirty="0"/>
              <a:t>B</a:t>
            </a:r>
            <a:r>
              <a:rPr lang="ja-JP" altLang="en-US" dirty="0"/>
              <a:t>を作成</a:t>
            </a:r>
            <a:endParaRPr lang="en-US" altLang="ja-JP" dirty="0"/>
          </a:p>
          <a:p>
            <a:pPr marL="444500" indent="-444500">
              <a:buFont typeface="+mj-lt"/>
              <a:buAutoNum type="arabicPeriod"/>
            </a:pPr>
            <a:r>
              <a:rPr lang="en-US" altLang="ja-JP" b="1" dirty="0" smtClean="0"/>
              <a:t>Profit</a:t>
            </a:r>
            <a:r>
              <a:rPr lang="ja-JP" altLang="en-US" b="1" dirty="0" smtClean="0"/>
              <a:t> </a:t>
            </a:r>
            <a:r>
              <a:rPr lang="en-US" altLang="ja-JP" b="1" dirty="0" smtClean="0"/>
              <a:t>Inversion </a:t>
            </a:r>
            <a:r>
              <a:rPr lang="ja-JP" altLang="en-US" b="1" dirty="0" smtClean="0"/>
              <a:t>問題</a:t>
            </a:r>
            <a:endParaRPr lang="en-US" altLang="ja-JP" b="1" dirty="0"/>
          </a:p>
          <a:p>
            <a:pPr lvl="1"/>
            <a:r>
              <a:rPr lang="ja-JP" altLang="en-US" dirty="0"/>
              <a:t>タスク</a:t>
            </a:r>
            <a:r>
              <a:rPr lang="en-US" altLang="ja-JP" dirty="0"/>
              <a:t>A</a:t>
            </a:r>
            <a:r>
              <a:rPr lang="ja-JP" altLang="en-US" dirty="0" smtClean="0"/>
              <a:t>の</a:t>
            </a:r>
            <a:r>
              <a:rPr lang="en-US" altLang="ja-JP" i="1" dirty="0" smtClean="0">
                <a:latin typeface="Symbol" panose="05050102010706020507" pitchFamily="18" charset="2"/>
              </a:rPr>
              <a:t>b</a:t>
            </a:r>
            <a:r>
              <a:rPr lang="ja-JP" altLang="en-US" i="1" dirty="0" smtClean="0">
                <a:latin typeface="Symbol" panose="05050102010706020507" pitchFamily="18" charset="2"/>
              </a:rPr>
              <a:t> </a:t>
            </a:r>
            <a:r>
              <a:rPr lang="en-US" altLang="ja-JP" dirty="0" smtClean="0"/>
              <a:t>%</a:t>
            </a:r>
            <a:r>
              <a:rPr lang="ja-JP" altLang="en-US" dirty="0" smtClean="0"/>
              <a:t>アイテム</a:t>
            </a:r>
            <a:r>
              <a:rPr lang="ja-JP" altLang="en-US" dirty="0"/>
              <a:t>の</a:t>
            </a:r>
            <a:r>
              <a:rPr lang="ja-JP" altLang="en-US" b="1" u="sng" dirty="0"/>
              <a:t>価値を変更</a:t>
            </a:r>
            <a:r>
              <a:rPr lang="ja-JP" altLang="en-US" dirty="0"/>
              <a:t>してタスク</a:t>
            </a:r>
            <a:r>
              <a:rPr lang="en-US" altLang="ja-JP" dirty="0"/>
              <a:t>B</a:t>
            </a:r>
            <a:r>
              <a:rPr lang="ja-JP" altLang="en-US" dirty="0"/>
              <a:t>を作成</a:t>
            </a:r>
            <a:endParaRPr lang="en-US" altLang="ja-JP" dirty="0"/>
          </a:p>
          <a:p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  <p:sp>
        <p:nvSpPr>
          <p:cNvPr id="8" name="テキスト ボックス 1"/>
          <p:cNvSpPr txBox="1">
            <a:spLocks noChangeArrowheads="1"/>
          </p:cNvSpPr>
          <p:nvPr/>
        </p:nvSpPr>
        <p:spPr bwMode="auto">
          <a:xfrm>
            <a:off x="553914" y="2514919"/>
            <a:ext cx="710438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800" dirty="0" smtClean="0"/>
              <a:t>重さ </a:t>
            </a:r>
            <a:r>
              <a:rPr lang="en-US" altLang="ja-JP" sz="2800" dirty="0" smtClean="0"/>
              <a:t>: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 smtClean="0"/>
              <a:t>価値 </a:t>
            </a:r>
            <a:r>
              <a:rPr lang="en-US" altLang="ja-JP" sz="2800" dirty="0" smtClean="0"/>
              <a:t>: 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/>
              <a:t>ナップサック許容量</a:t>
            </a:r>
            <a:r>
              <a:rPr lang="en-US" altLang="ja-JP" sz="2800" dirty="0">
                <a:sym typeface="Wingdings" panose="05000000000000000000" pitchFamily="2" charset="2"/>
              </a:rPr>
              <a:t>: (</a:t>
            </a:r>
            <a:r>
              <a:rPr lang="ja-JP" altLang="en-US" sz="2800" dirty="0">
                <a:sym typeface="Wingdings" panose="05000000000000000000" pitchFamily="2" charset="2"/>
              </a:rPr>
              <a:t>アイテムの総重量</a:t>
            </a:r>
            <a:r>
              <a:rPr lang="en-US" altLang="ja-JP" sz="2800" dirty="0">
                <a:sym typeface="Wingdings" panose="05000000000000000000" pitchFamily="2" charset="2"/>
              </a:rPr>
              <a:t>)/2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604335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研究概要</a:t>
            </a:r>
            <a:endParaRPr kumimoji="1" lang="ja-JP" altLang="en-US" dirty="0"/>
          </a:p>
        </p:txBody>
      </p:sp>
      <p:graphicFrame>
        <p:nvGraphicFramePr>
          <p:cNvPr id="7" name="コンテンツ プレースホルダー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9522186"/>
              </p:ext>
            </p:extLst>
          </p:nvPr>
        </p:nvGraphicFramePr>
        <p:xfrm>
          <a:off x="575151" y="2444070"/>
          <a:ext cx="7993698" cy="1751040"/>
        </p:xfrm>
        <a:graphic>
          <a:graphicData uri="http://schemas.openxmlformats.org/drawingml/2006/table">
            <a:tbl>
              <a:tblPr firstRow="1" firstCol="1" bandRow="1"/>
              <a:tblGrid>
                <a:gridCol w="2196148"/>
                <a:gridCol w="1159510"/>
                <a:gridCol w="1159510"/>
                <a:gridCol w="1159510"/>
                <a:gridCol w="1159510"/>
                <a:gridCol w="1159510"/>
              </a:tblGrid>
              <a:tr h="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ja-JP" sz="24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アルゴリズム名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1.05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1.10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1.15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1.20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1.25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NSGA-II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3.75E+8</a:t>
                      </a:r>
                      <a:endParaRPr kumimoji="1" lang="ja-JP" sz="2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3.75E+8</a:t>
                      </a:r>
                      <a:endParaRPr kumimoji="1" lang="ja-JP" sz="2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3.75E+8</a:t>
                      </a:r>
                      <a:endParaRPr kumimoji="1" lang="ja-JP" sz="2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3.75E+8</a:t>
                      </a:r>
                      <a:endParaRPr kumimoji="1" lang="ja-JP" sz="20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3.75E+8</a:t>
                      </a:r>
                      <a:endParaRPr kumimoji="1" lang="ja-JP" sz="2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MO-MFEA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3.75E+8</a:t>
                      </a:r>
                      <a:endParaRPr kumimoji="1" lang="ja-JP" sz="2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3.72E+8</a:t>
                      </a:r>
                      <a:endParaRPr kumimoji="1" lang="ja-JP" sz="20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3.71E+8</a:t>
                      </a:r>
                      <a:endParaRPr kumimoji="1" lang="ja-JP" sz="20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3.70E+8</a:t>
                      </a:r>
                      <a:endParaRPr kumimoji="1" lang="ja-JP" sz="20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3.70E+8</a:t>
                      </a:r>
                      <a:endParaRPr kumimoji="1" lang="ja-JP" sz="20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ja-JP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島モデル</a:t>
                      </a: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3.71E+8</a:t>
                      </a:r>
                      <a:endParaRPr kumimoji="1" lang="ja-JP" sz="20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3.71E+8</a:t>
                      </a:r>
                      <a:endParaRPr kumimoji="1" lang="ja-JP" sz="20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3.71E+8</a:t>
                      </a:r>
                      <a:endParaRPr kumimoji="1" lang="ja-JP" sz="20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3.71E+8</a:t>
                      </a:r>
                      <a:endParaRPr kumimoji="1" lang="ja-JP" sz="20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3.71E+8</a:t>
                      </a:r>
                      <a:endParaRPr kumimoji="1" lang="ja-JP" sz="20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graphicFrame>
        <p:nvGraphicFramePr>
          <p:cNvPr id="10" name="コンテンツ プレースホルダー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9113575"/>
              </p:ext>
            </p:extLst>
          </p:nvPr>
        </p:nvGraphicFramePr>
        <p:xfrm>
          <a:off x="575151" y="4953014"/>
          <a:ext cx="7993698" cy="1751040"/>
        </p:xfrm>
        <a:graphic>
          <a:graphicData uri="http://schemas.openxmlformats.org/drawingml/2006/table">
            <a:tbl>
              <a:tblPr firstRow="1" firstCol="1" bandRow="1"/>
              <a:tblGrid>
                <a:gridCol w="2196148"/>
                <a:gridCol w="1159510"/>
                <a:gridCol w="1159510"/>
                <a:gridCol w="1159510"/>
                <a:gridCol w="1159510"/>
                <a:gridCol w="1159510"/>
              </a:tblGrid>
              <a:tr h="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ja-JP" sz="24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アルゴリズム名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 smtClean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 smtClean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 smtClean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altLang="ja-JP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.0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 smtClean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 smtClean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10.0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 smtClean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 smtClean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15.0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 smtClean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 smtClean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20.0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 smtClean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 smtClean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25.0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NSGA-II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3.75E+8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3.75E+8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3.75E+8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3.75E+8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3.75E+8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MO-MFEA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3.76E+8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3.81E+8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3.83E+8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3.80E+8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3.78E+8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ja-JP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島モデル</a:t>
                      </a: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3.73E+8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3.77E+8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3.79E+8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3.75E+8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3.74E+8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テキスト ボックス 11"/>
          <p:cNvSpPr txBox="1"/>
          <p:nvPr/>
        </p:nvSpPr>
        <p:spPr>
          <a:xfrm>
            <a:off x="228599" y="1371600"/>
            <a:ext cx="5686425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＜数値実験＞</a:t>
            </a:r>
            <a:endParaRPr kumimoji="1" lang="en-US" altLang="ja-JP" sz="2800" dirty="0" smtClean="0"/>
          </a:p>
          <a:p>
            <a:r>
              <a:rPr kumimoji="1" lang="en-US" altLang="ja-JP" sz="2800" dirty="0" smtClean="0"/>
              <a:t>Capacity Scaling</a:t>
            </a:r>
            <a:r>
              <a:rPr kumimoji="1" lang="ja-JP" altLang="en-US" sz="2800" dirty="0" smtClean="0"/>
              <a:t> 問題 </a:t>
            </a:r>
            <a:r>
              <a:rPr kumimoji="1" lang="en-US" altLang="ja-JP" sz="2800" dirty="0" smtClean="0"/>
              <a:t>(Task</a:t>
            </a:r>
            <a:r>
              <a:rPr kumimoji="1" lang="ja-JP" altLang="en-US" sz="2800" dirty="0" smtClean="0"/>
              <a:t> </a:t>
            </a:r>
            <a:r>
              <a:rPr kumimoji="1" lang="en-US" altLang="ja-JP" sz="2800" dirty="0" smtClean="0"/>
              <a:t>1)</a:t>
            </a:r>
            <a:endParaRPr kumimoji="1" lang="ja-JP" altLang="en-US" sz="2800" dirty="0" smtClean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228598" y="4312452"/>
            <a:ext cx="5686425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Profit</a:t>
            </a:r>
            <a:r>
              <a:rPr kumimoji="1" lang="ja-JP" altLang="en-US" sz="2800" dirty="0" smtClean="0"/>
              <a:t> </a:t>
            </a:r>
            <a:r>
              <a:rPr kumimoji="1" lang="en-US" altLang="ja-JP" sz="2800" dirty="0" smtClean="0"/>
              <a:t>Inversion</a:t>
            </a:r>
            <a:r>
              <a:rPr kumimoji="1" lang="ja-JP" altLang="en-US" sz="2800" dirty="0" smtClean="0"/>
              <a:t> 問題 </a:t>
            </a:r>
            <a:r>
              <a:rPr kumimoji="1" lang="en-US" altLang="ja-JP" sz="2800" dirty="0" smtClean="0"/>
              <a:t>(Task</a:t>
            </a:r>
            <a:r>
              <a:rPr kumimoji="1" lang="ja-JP" altLang="en-US" sz="2800" dirty="0" smtClean="0"/>
              <a:t> </a:t>
            </a:r>
            <a:r>
              <a:rPr lang="en-US" altLang="ja-JP" sz="2800" dirty="0" smtClean="0"/>
              <a:t>1</a:t>
            </a:r>
            <a:r>
              <a:rPr kumimoji="1" lang="en-US" altLang="ja-JP" sz="2800" dirty="0" smtClean="0"/>
              <a:t>)</a:t>
            </a:r>
            <a:endParaRPr kumimoji="1" lang="ja-JP" altLang="en-US" sz="2800" dirty="0" smtClean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524501" y="1454839"/>
            <a:ext cx="3390899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 smtClean="0">
                <a:solidFill>
                  <a:schemeClr val="accent1"/>
                </a:solidFill>
              </a:rPr>
              <a:t>赤字</a:t>
            </a:r>
            <a:r>
              <a:rPr kumimoji="1" lang="ja-JP" altLang="en-US" dirty="0" smtClean="0"/>
              <a:t>：有意差有で</a:t>
            </a:r>
            <a:r>
              <a:rPr kumimoji="1" lang="en-US" altLang="ja-JP" dirty="0" smtClean="0"/>
              <a:t>NSGA-II</a:t>
            </a:r>
            <a:r>
              <a:rPr kumimoji="1" lang="ja-JP" altLang="en-US" dirty="0" smtClean="0"/>
              <a:t>に優る</a:t>
            </a:r>
            <a:endParaRPr kumimoji="1" lang="en-US" altLang="ja-JP" dirty="0" smtClean="0"/>
          </a:p>
          <a:p>
            <a:pPr algn="ctr"/>
            <a:r>
              <a:rPr lang="ja-JP" altLang="en-US" dirty="0">
                <a:solidFill>
                  <a:schemeClr val="accent3"/>
                </a:solidFill>
              </a:rPr>
              <a:t>青</a:t>
            </a:r>
            <a:r>
              <a:rPr lang="ja-JP" altLang="en-US" dirty="0" smtClean="0">
                <a:solidFill>
                  <a:schemeClr val="accent3"/>
                </a:solidFill>
              </a:rPr>
              <a:t>字</a:t>
            </a:r>
            <a:r>
              <a:rPr lang="ja-JP" altLang="en-US" dirty="0" smtClean="0"/>
              <a:t>：有意差有で</a:t>
            </a:r>
            <a:r>
              <a:rPr lang="en-US" altLang="ja-JP" dirty="0" smtClean="0"/>
              <a:t>NSGA-II</a:t>
            </a:r>
            <a:r>
              <a:rPr lang="ja-JP" altLang="en-US" dirty="0" smtClean="0"/>
              <a:t>に劣る</a:t>
            </a:r>
            <a:endParaRPr kumimoji="1" lang="ja-JP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0544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研究概要</a:t>
            </a:r>
            <a:endParaRPr kumimoji="1" lang="ja-JP" altLang="en-US" dirty="0"/>
          </a:p>
        </p:txBody>
      </p:sp>
      <p:graphicFrame>
        <p:nvGraphicFramePr>
          <p:cNvPr id="7" name="コンテンツ プレースホルダー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4779552"/>
              </p:ext>
            </p:extLst>
          </p:nvPr>
        </p:nvGraphicFramePr>
        <p:xfrm>
          <a:off x="575151" y="2444070"/>
          <a:ext cx="7993698" cy="1751040"/>
        </p:xfrm>
        <a:graphic>
          <a:graphicData uri="http://schemas.openxmlformats.org/drawingml/2006/table">
            <a:tbl>
              <a:tblPr firstRow="1" firstCol="1" bandRow="1"/>
              <a:tblGrid>
                <a:gridCol w="2196148"/>
                <a:gridCol w="1159510"/>
                <a:gridCol w="1159510"/>
                <a:gridCol w="1159510"/>
                <a:gridCol w="1159510"/>
                <a:gridCol w="1159510"/>
              </a:tblGrid>
              <a:tr h="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ja-JP" sz="24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アルゴリズム名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1.05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1.10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1.15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1.20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1.25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NSGA-II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3.98E+8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4.22E+8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4.45E+8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4.70E+8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4.93E+8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MO-MFEA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3.97E+8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4.17E+8</a:t>
                      </a:r>
                      <a:endParaRPr lang="ja-JP" sz="2000" kern="100" dirty="0">
                        <a:solidFill>
                          <a:schemeClr val="accent3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4.40E+8</a:t>
                      </a:r>
                      <a:endParaRPr lang="ja-JP" sz="2000" kern="100" dirty="0">
                        <a:solidFill>
                          <a:schemeClr val="accent3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4.17E+8</a:t>
                      </a:r>
                      <a:endParaRPr lang="ja-JP" sz="2000" kern="100" dirty="0">
                        <a:solidFill>
                          <a:schemeClr val="accent3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4.87E+8</a:t>
                      </a:r>
                      <a:endParaRPr lang="ja-JP" sz="2000" kern="100" dirty="0">
                        <a:solidFill>
                          <a:schemeClr val="accent3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ja-JP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島モデル</a:t>
                      </a: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3.88E+8</a:t>
                      </a:r>
                      <a:endParaRPr lang="ja-JP" sz="2000" kern="100" dirty="0">
                        <a:solidFill>
                          <a:schemeClr val="accent3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4.10E+8</a:t>
                      </a:r>
                      <a:endParaRPr lang="ja-JP" sz="2000" kern="100" dirty="0">
                        <a:solidFill>
                          <a:schemeClr val="accent3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4.34E+8</a:t>
                      </a:r>
                      <a:endParaRPr lang="ja-JP" sz="2000" kern="100" dirty="0">
                        <a:solidFill>
                          <a:schemeClr val="accent3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4.10E+8</a:t>
                      </a:r>
                      <a:endParaRPr lang="ja-JP" sz="2000" kern="100" dirty="0">
                        <a:solidFill>
                          <a:schemeClr val="accent3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4.82E+8</a:t>
                      </a:r>
                      <a:endParaRPr lang="ja-JP" sz="2000" kern="100" dirty="0">
                        <a:solidFill>
                          <a:schemeClr val="accent3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graphicFrame>
        <p:nvGraphicFramePr>
          <p:cNvPr id="10" name="コンテンツ プレースホルダー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1072419"/>
              </p:ext>
            </p:extLst>
          </p:nvPr>
        </p:nvGraphicFramePr>
        <p:xfrm>
          <a:off x="575151" y="4953014"/>
          <a:ext cx="7993698" cy="1751040"/>
        </p:xfrm>
        <a:graphic>
          <a:graphicData uri="http://schemas.openxmlformats.org/drawingml/2006/table">
            <a:tbl>
              <a:tblPr firstRow="1" firstCol="1" bandRow="1"/>
              <a:tblGrid>
                <a:gridCol w="2196148"/>
                <a:gridCol w="1159510"/>
                <a:gridCol w="1159510"/>
                <a:gridCol w="1159510"/>
                <a:gridCol w="1159510"/>
                <a:gridCol w="1159510"/>
              </a:tblGrid>
              <a:tr h="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ja-JP" sz="24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アルゴリズム名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 smtClean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 smtClean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 smtClean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altLang="ja-JP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.0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 smtClean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 smtClean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10.0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 smtClean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 smtClean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15.0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 smtClean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 smtClean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20.0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 smtClean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 smtClean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25.0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NSGA-II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3.73E+8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3.77E+8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3.79E+8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3.76E+8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3.75E+8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MO-MFEA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3.77E+8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3.82E+8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3.84E+8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3.81E+8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3.79E+8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ja-JP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島モデル</a:t>
                      </a: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3.73E+8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3.78E+8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3.80E+8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3.78E+8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3.76E+8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テキスト ボックス 11"/>
          <p:cNvSpPr txBox="1"/>
          <p:nvPr/>
        </p:nvSpPr>
        <p:spPr>
          <a:xfrm>
            <a:off x="228599" y="1371600"/>
            <a:ext cx="5686425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＜数値実験＞</a:t>
            </a:r>
            <a:endParaRPr kumimoji="1" lang="en-US" altLang="ja-JP" sz="2800" dirty="0" smtClean="0"/>
          </a:p>
          <a:p>
            <a:r>
              <a:rPr kumimoji="1" lang="en-US" altLang="ja-JP" sz="2800" dirty="0" smtClean="0"/>
              <a:t>Capacity Scaling</a:t>
            </a:r>
            <a:r>
              <a:rPr kumimoji="1" lang="ja-JP" altLang="en-US" sz="2800" dirty="0" smtClean="0"/>
              <a:t> 問題 </a:t>
            </a:r>
            <a:r>
              <a:rPr kumimoji="1" lang="en-US" altLang="ja-JP" sz="2800" dirty="0" smtClean="0"/>
              <a:t>(Task</a:t>
            </a:r>
            <a:r>
              <a:rPr kumimoji="1" lang="ja-JP" altLang="en-US" sz="2800" dirty="0" smtClean="0"/>
              <a:t> </a:t>
            </a:r>
            <a:r>
              <a:rPr lang="en-US" altLang="ja-JP" sz="2800" dirty="0" smtClean="0"/>
              <a:t>2</a:t>
            </a:r>
            <a:r>
              <a:rPr kumimoji="1" lang="en-US" altLang="ja-JP" sz="2800" dirty="0" smtClean="0"/>
              <a:t>)</a:t>
            </a:r>
            <a:endParaRPr kumimoji="1" lang="ja-JP" altLang="en-US" sz="2800" dirty="0" smtClean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228598" y="4312452"/>
            <a:ext cx="5686425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Profit</a:t>
            </a:r>
            <a:r>
              <a:rPr kumimoji="1" lang="ja-JP" altLang="en-US" sz="2800" dirty="0" smtClean="0"/>
              <a:t> </a:t>
            </a:r>
            <a:r>
              <a:rPr kumimoji="1" lang="en-US" altLang="ja-JP" sz="2800" dirty="0" smtClean="0"/>
              <a:t>Inversion</a:t>
            </a:r>
            <a:r>
              <a:rPr kumimoji="1" lang="ja-JP" altLang="en-US" sz="2800" dirty="0" smtClean="0"/>
              <a:t> 問題 </a:t>
            </a:r>
            <a:r>
              <a:rPr kumimoji="1" lang="en-US" altLang="ja-JP" sz="2800" dirty="0" smtClean="0"/>
              <a:t>(Task</a:t>
            </a:r>
            <a:r>
              <a:rPr kumimoji="1" lang="ja-JP" altLang="en-US" sz="2800" dirty="0" smtClean="0"/>
              <a:t> </a:t>
            </a:r>
            <a:r>
              <a:rPr lang="en-US" altLang="ja-JP" sz="2800" dirty="0" smtClean="0"/>
              <a:t>2</a:t>
            </a:r>
            <a:r>
              <a:rPr kumimoji="1" lang="en-US" altLang="ja-JP" sz="2800" dirty="0" smtClean="0"/>
              <a:t>)</a:t>
            </a:r>
            <a:endParaRPr kumimoji="1" lang="ja-JP" altLang="en-US" sz="2800" dirty="0" smtClean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524501" y="1454839"/>
            <a:ext cx="3390899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 smtClean="0">
                <a:solidFill>
                  <a:schemeClr val="accent1"/>
                </a:solidFill>
              </a:rPr>
              <a:t>赤字</a:t>
            </a:r>
            <a:r>
              <a:rPr kumimoji="1" lang="ja-JP" altLang="en-US" dirty="0" smtClean="0"/>
              <a:t>：有意差有で</a:t>
            </a:r>
            <a:r>
              <a:rPr kumimoji="1" lang="en-US" altLang="ja-JP" dirty="0" smtClean="0"/>
              <a:t>NSGA-II</a:t>
            </a:r>
            <a:r>
              <a:rPr kumimoji="1" lang="ja-JP" altLang="en-US" dirty="0" smtClean="0"/>
              <a:t>に優る</a:t>
            </a:r>
            <a:endParaRPr kumimoji="1" lang="en-US" altLang="ja-JP" dirty="0" smtClean="0"/>
          </a:p>
          <a:p>
            <a:pPr algn="ctr"/>
            <a:r>
              <a:rPr lang="ja-JP" altLang="en-US" dirty="0">
                <a:solidFill>
                  <a:schemeClr val="accent3"/>
                </a:solidFill>
              </a:rPr>
              <a:t>青</a:t>
            </a:r>
            <a:r>
              <a:rPr lang="ja-JP" altLang="en-US" dirty="0" smtClean="0">
                <a:solidFill>
                  <a:schemeClr val="accent3"/>
                </a:solidFill>
              </a:rPr>
              <a:t>字</a:t>
            </a:r>
            <a:r>
              <a:rPr lang="ja-JP" altLang="en-US" dirty="0" smtClean="0"/>
              <a:t>：有意差有で</a:t>
            </a:r>
            <a:r>
              <a:rPr lang="en-US" altLang="ja-JP" dirty="0" smtClean="0"/>
              <a:t>NSGA-II</a:t>
            </a:r>
            <a:r>
              <a:rPr lang="ja-JP" altLang="en-US" dirty="0" smtClean="0"/>
              <a:t>に劣る</a:t>
            </a:r>
            <a:endParaRPr kumimoji="1" lang="ja-JP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229770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調査</a:t>
            </a:r>
            <a:r>
              <a:rPr lang="ja-JP" altLang="en-US" dirty="0"/>
              <a:t>内容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Capacity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Scaling</a:t>
            </a:r>
            <a:r>
              <a:rPr kumimoji="1" lang="ja-JP" altLang="en-US" dirty="0" smtClean="0"/>
              <a:t> 問題では，マルチタスク手法の性能が悪化した．</a:t>
            </a:r>
            <a:r>
              <a:rPr lang="ja-JP" altLang="en-US" dirty="0" smtClean="0"/>
              <a:t>しか</a:t>
            </a:r>
            <a:r>
              <a:rPr lang="ja-JP" altLang="en-US" dirty="0"/>
              <a:t>し</a:t>
            </a:r>
            <a:r>
              <a:rPr lang="ja-JP" altLang="en-US" dirty="0" smtClean="0"/>
              <a:t>，</a:t>
            </a:r>
            <a:r>
              <a:rPr lang="en-US" altLang="ja-JP" i="1" dirty="0" smtClean="0">
                <a:latin typeface="Symbol" panose="05050102010706020507" pitchFamily="18" charset="2"/>
              </a:rPr>
              <a:t>a</a:t>
            </a:r>
            <a:r>
              <a:rPr lang="ja-JP" altLang="en-US" i="1" dirty="0" smtClean="0">
                <a:latin typeface="Symbol" panose="05050102010706020507" pitchFamily="18" charset="2"/>
              </a:rPr>
              <a:t> </a:t>
            </a:r>
            <a:r>
              <a:rPr lang="en-US" altLang="ja-JP" dirty="0" smtClean="0"/>
              <a:t>=</a:t>
            </a:r>
            <a:r>
              <a:rPr lang="ja-JP" altLang="en-US" dirty="0" smtClean="0"/>
              <a:t> </a:t>
            </a:r>
            <a:r>
              <a:rPr lang="en-US" altLang="ja-JP" dirty="0" smtClean="0"/>
              <a:t>1.05</a:t>
            </a:r>
            <a:r>
              <a:rPr lang="ja-JP" altLang="en-US" dirty="0" smtClean="0"/>
              <a:t>は大きすぎるのではないか</a:t>
            </a:r>
            <a:r>
              <a:rPr lang="en-US" altLang="ja-JP" dirty="0" smtClean="0"/>
              <a:t>?</a:t>
            </a:r>
            <a:endParaRPr kumimoji="1" lang="en-US" altLang="ja-JP" dirty="0"/>
          </a:p>
          <a:p>
            <a:r>
              <a:rPr lang="ja-JP" altLang="en-US" dirty="0" smtClean="0"/>
              <a:t>→</a:t>
            </a:r>
            <a:r>
              <a:rPr lang="en-US" altLang="ja-JP" i="1" dirty="0">
                <a:latin typeface="Symbol" panose="05050102010706020507" pitchFamily="18" charset="2"/>
              </a:rPr>
              <a:t> a</a:t>
            </a:r>
            <a:r>
              <a:rPr lang="ja-JP" altLang="en-US" dirty="0" smtClean="0"/>
              <a:t>の値が小さい場合</a:t>
            </a:r>
            <a:r>
              <a:rPr lang="en-US" altLang="ja-JP" dirty="0" smtClean="0"/>
              <a:t>(1.01~1.05)</a:t>
            </a:r>
            <a:r>
              <a:rPr lang="ja-JP" altLang="en-US" dirty="0" smtClean="0"/>
              <a:t>の性能を調査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5691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実験</a:t>
            </a:r>
            <a:r>
              <a:rPr lang="ja-JP" altLang="en-US" dirty="0"/>
              <a:t>結果</a:t>
            </a:r>
            <a:endParaRPr kumimoji="1" lang="ja-JP" altLang="en-US" dirty="0"/>
          </a:p>
        </p:txBody>
      </p:sp>
      <p:graphicFrame>
        <p:nvGraphicFramePr>
          <p:cNvPr id="7" name="コンテンツ プレースホルダー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7672806"/>
              </p:ext>
            </p:extLst>
          </p:nvPr>
        </p:nvGraphicFramePr>
        <p:xfrm>
          <a:off x="575151" y="2444070"/>
          <a:ext cx="7993698" cy="1751040"/>
        </p:xfrm>
        <a:graphic>
          <a:graphicData uri="http://schemas.openxmlformats.org/drawingml/2006/table">
            <a:tbl>
              <a:tblPr firstRow="1" firstCol="1" bandRow="1"/>
              <a:tblGrid>
                <a:gridCol w="2196148"/>
                <a:gridCol w="1159510"/>
                <a:gridCol w="1159510"/>
                <a:gridCol w="1159510"/>
                <a:gridCol w="1159510"/>
                <a:gridCol w="1159510"/>
              </a:tblGrid>
              <a:tr h="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ja-JP" sz="24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アルゴリズム名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</a:t>
                      </a:r>
                      <a:r>
                        <a:rPr lang="en-US" altLang="ja-JP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en-US" altLang="ja-JP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02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1.03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1.04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1.05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NSGA-II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3.75E+8</a:t>
                      </a:r>
                      <a:endParaRPr kumimoji="1" lang="ja-JP" sz="2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3.75E+8</a:t>
                      </a:r>
                      <a:endParaRPr kumimoji="1" lang="ja-JP" sz="2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3.75E+8</a:t>
                      </a:r>
                      <a:endParaRPr kumimoji="1" lang="ja-JP" sz="2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3.75E+8</a:t>
                      </a:r>
                      <a:endParaRPr kumimoji="1" lang="ja-JP" sz="2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3.75E+8</a:t>
                      </a:r>
                      <a:endParaRPr kumimoji="1" lang="ja-JP" sz="2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MO-MFEA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3.79E+8</a:t>
                      </a:r>
                      <a:endParaRPr kumimoji="1" lang="ja-JP" sz="20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3.77E+8</a:t>
                      </a:r>
                      <a:endParaRPr kumimoji="1" lang="ja-JP" sz="20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3.77E+8</a:t>
                      </a:r>
                      <a:endParaRPr kumimoji="1" lang="ja-JP" sz="20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3.75E+8</a:t>
                      </a:r>
                      <a:endParaRPr kumimoji="1" lang="ja-JP" sz="20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3.75E+8</a:t>
                      </a:r>
                      <a:endParaRPr kumimoji="1" lang="ja-JP" sz="2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ja-JP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島モデル</a:t>
                      </a: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3.73E+8</a:t>
                      </a:r>
                      <a:endParaRPr kumimoji="1" lang="ja-JP" sz="20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3.72E+8</a:t>
                      </a:r>
                      <a:endParaRPr kumimoji="1" lang="ja-JP" sz="20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3.72E+8</a:t>
                      </a:r>
                      <a:endParaRPr kumimoji="1" lang="ja-JP" sz="20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3.71E+8</a:t>
                      </a:r>
                      <a:endParaRPr kumimoji="1" lang="ja-JP" sz="20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0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3.71E+8</a:t>
                      </a:r>
                      <a:endParaRPr kumimoji="1" lang="ja-JP" sz="20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graphicFrame>
        <p:nvGraphicFramePr>
          <p:cNvPr id="10" name="コンテンツ プレースホルダー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7912288"/>
              </p:ext>
            </p:extLst>
          </p:nvPr>
        </p:nvGraphicFramePr>
        <p:xfrm>
          <a:off x="575151" y="4953014"/>
          <a:ext cx="7993698" cy="1751040"/>
        </p:xfrm>
        <a:graphic>
          <a:graphicData uri="http://schemas.openxmlformats.org/drawingml/2006/table">
            <a:tbl>
              <a:tblPr firstRow="1" firstCol="1" bandRow="1"/>
              <a:tblGrid>
                <a:gridCol w="2196148"/>
                <a:gridCol w="1159510"/>
                <a:gridCol w="1159510"/>
                <a:gridCol w="1159510"/>
                <a:gridCol w="1159510"/>
                <a:gridCol w="1159510"/>
              </a:tblGrid>
              <a:tr h="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ja-JP" sz="24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アルゴリズム名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</a:t>
                      </a:r>
                      <a:r>
                        <a:rPr lang="en-US" altLang="ja-JP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en-US" altLang="ja-JP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02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1.03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1.04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i="1" kern="100" dirty="0">
                          <a:effectLst/>
                          <a:latin typeface="Symbol" panose="05050102010706020507" pitchFamily="18" charset="2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000" kern="100" dirty="0">
                          <a:effectLst/>
                          <a:latin typeface="Times" panose="020206030504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1.05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NSGA-II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</a:t>
                      </a:r>
                      <a:r>
                        <a:rPr lang="en-US" altLang="ja-JP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3.84E+8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3.89E+8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3.93E+8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3.98E+8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en-US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MO-MFEA</a:t>
                      </a:r>
                      <a:endParaRPr kumimoji="1" lang="ja-JP" sz="2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en-US" altLang="ja-JP" sz="2000" kern="100" dirty="0" smtClean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83</a:t>
                      </a:r>
                      <a:r>
                        <a:rPr lang="en-US" sz="2000" kern="100" dirty="0" smtClean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3.8</a:t>
                      </a:r>
                      <a:r>
                        <a:rPr lang="en-US" altLang="ja-JP" sz="2000" kern="100" dirty="0" smtClean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sz="2000" kern="100" dirty="0" smtClean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en-US" altLang="ja-JP" sz="2000" kern="100" dirty="0" smtClean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91</a:t>
                      </a:r>
                      <a:r>
                        <a:rPr lang="en-US" sz="2000" kern="100" dirty="0" smtClean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E+8</a:t>
                      </a:r>
                      <a:endParaRPr lang="ja-JP" sz="2000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3.94E+8</a:t>
                      </a:r>
                      <a:endParaRPr lang="ja-JP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3.97E+8</a:t>
                      </a:r>
                      <a:endParaRPr lang="ja-JP" sz="20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 marL="0" indent="0" algn="ctr" rtl="0" eaLnBrk="1" fontAlgn="base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kumimoji="1" lang="ja-JP" sz="2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島モデル</a:t>
                      </a:r>
                    </a:p>
                  </a:txBody>
                  <a:tcPr marL="68580" marR="68580" marT="36000" marB="3600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</a:t>
                      </a:r>
                      <a:r>
                        <a:rPr lang="en-US" altLang="ja-JP" sz="2000" kern="1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sz="2000" kern="1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E+8</a:t>
                      </a:r>
                      <a:endParaRPr lang="ja-JP" sz="2000" kern="100" dirty="0"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3.7</a:t>
                      </a:r>
                      <a:r>
                        <a:rPr lang="en-US" altLang="ja-JP" sz="2000" kern="100" dirty="0" smtClean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sz="2000" kern="100" dirty="0" smtClean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E+8</a:t>
                      </a:r>
                      <a:endParaRPr lang="ja-JP" sz="2000" kern="100" dirty="0">
                        <a:solidFill>
                          <a:schemeClr val="accent3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en-US" altLang="ja-JP" sz="2000" kern="100" dirty="0" smtClean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82</a:t>
                      </a:r>
                      <a:r>
                        <a:rPr lang="en-US" sz="2000" kern="100" dirty="0" smtClean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E+8</a:t>
                      </a:r>
                      <a:endParaRPr lang="ja-JP" sz="2000" kern="100" dirty="0">
                        <a:solidFill>
                          <a:schemeClr val="accent3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en-US" altLang="ja-JP" sz="2000" kern="100" dirty="0" smtClean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84</a:t>
                      </a:r>
                      <a:r>
                        <a:rPr lang="en-US" sz="2000" kern="100" dirty="0" smtClean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E+8</a:t>
                      </a:r>
                      <a:endParaRPr lang="ja-JP" sz="2000" kern="100" dirty="0">
                        <a:solidFill>
                          <a:schemeClr val="accent3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smtClean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en-US" altLang="ja-JP" sz="2000" kern="100" dirty="0" smtClean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88</a:t>
                      </a:r>
                      <a:r>
                        <a:rPr lang="en-US" sz="2000" kern="100" dirty="0" smtClean="0">
                          <a:solidFill>
                            <a:schemeClr val="accent3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E+8</a:t>
                      </a:r>
                      <a:endParaRPr lang="ja-JP" sz="2000" kern="100" dirty="0">
                        <a:solidFill>
                          <a:schemeClr val="accent3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テキスト ボックス 11"/>
          <p:cNvSpPr txBox="1"/>
          <p:nvPr/>
        </p:nvSpPr>
        <p:spPr>
          <a:xfrm>
            <a:off x="228599" y="1371600"/>
            <a:ext cx="5686425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HV</a:t>
            </a:r>
            <a:r>
              <a:rPr lang="ja-JP" altLang="en-US" sz="2800" dirty="0" smtClean="0"/>
              <a:t>の中央値</a:t>
            </a:r>
            <a:endParaRPr kumimoji="1" lang="en-US" altLang="ja-JP" sz="2800" dirty="0" smtClean="0"/>
          </a:p>
          <a:p>
            <a:r>
              <a:rPr kumimoji="1" lang="en-US" altLang="ja-JP" sz="2800" dirty="0" smtClean="0"/>
              <a:t>Task</a:t>
            </a:r>
            <a:r>
              <a:rPr kumimoji="1" lang="ja-JP" altLang="en-US" sz="2800" dirty="0" smtClean="0"/>
              <a:t> </a:t>
            </a:r>
            <a:r>
              <a:rPr kumimoji="1" lang="en-US" altLang="ja-JP" sz="2800" dirty="0" smtClean="0"/>
              <a:t>1</a:t>
            </a:r>
            <a:endParaRPr kumimoji="1" lang="ja-JP" altLang="en-US" sz="2800" dirty="0" smtClean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228598" y="4312452"/>
            <a:ext cx="5686425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Task</a:t>
            </a:r>
            <a:r>
              <a:rPr kumimoji="1" lang="ja-JP" altLang="en-US" sz="2800" dirty="0" smtClean="0"/>
              <a:t> </a:t>
            </a:r>
            <a:r>
              <a:rPr lang="en-US" altLang="ja-JP" sz="2800" dirty="0"/>
              <a:t>2</a:t>
            </a:r>
            <a:endParaRPr kumimoji="1" lang="ja-JP" altLang="en-US" sz="2800" dirty="0" smtClean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524501" y="1454839"/>
            <a:ext cx="3390899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 smtClean="0">
                <a:solidFill>
                  <a:schemeClr val="accent1"/>
                </a:solidFill>
              </a:rPr>
              <a:t>赤字</a:t>
            </a:r>
            <a:r>
              <a:rPr kumimoji="1" lang="ja-JP" altLang="en-US" dirty="0" smtClean="0"/>
              <a:t>：有意差有で</a:t>
            </a:r>
            <a:r>
              <a:rPr kumimoji="1" lang="en-US" altLang="ja-JP" dirty="0" smtClean="0"/>
              <a:t>NSGA-II</a:t>
            </a:r>
            <a:r>
              <a:rPr kumimoji="1" lang="ja-JP" altLang="en-US" dirty="0" smtClean="0"/>
              <a:t>に優る</a:t>
            </a:r>
            <a:endParaRPr kumimoji="1" lang="en-US" altLang="ja-JP" dirty="0" smtClean="0"/>
          </a:p>
          <a:p>
            <a:pPr algn="ctr"/>
            <a:r>
              <a:rPr lang="ja-JP" altLang="en-US" dirty="0">
                <a:solidFill>
                  <a:schemeClr val="accent3"/>
                </a:solidFill>
              </a:rPr>
              <a:t>青</a:t>
            </a:r>
            <a:r>
              <a:rPr lang="ja-JP" altLang="en-US" dirty="0" smtClean="0">
                <a:solidFill>
                  <a:schemeClr val="accent3"/>
                </a:solidFill>
              </a:rPr>
              <a:t>字</a:t>
            </a:r>
            <a:r>
              <a:rPr lang="ja-JP" altLang="en-US" dirty="0" smtClean="0"/>
              <a:t>：有意差有で</a:t>
            </a:r>
            <a:r>
              <a:rPr lang="en-US" altLang="ja-JP" dirty="0" smtClean="0"/>
              <a:t>NSGA-II</a:t>
            </a:r>
            <a:r>
              <a:rPr lang="ja-JP" altLang="en-US" dirty="0" smtClean="0"/>
              <a:t>に劣る</a:t>
            </a:r>
            <a:endParaRPr kumimoji="1" lang="ja-JP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5746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13326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</a:t>
            </a:r>
            <a:r>
              <a:rPr lang="ja-JP" altLang="en-US" dirty="0" smtClean="0"/>
              <a:t>する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アイテム集合には</a:t>
            </a:r>
            <a:r>
              <a:rPr lang="ja-JP" altLang="en-US" dirty="0"/>
              <a:t>変化</a:t>
            </a:r>
            <a:r>
              <a:rPr lang="ja-JP" altLang="en-US" dirty="0" smtClean="0"/>
              <a:t>を加えず，制約のみを変化させたタスクを作成する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/>
              <p:cNvSpPr txBox="1"/>
              <p:nvPr/>
            </p:nvSpPr>
            <p:spPr>
              <a:xfrm>
                <a:off x="3259118" y="2560320"/>
                <a:ext cx="2129301" cy="125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800" i="1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 sz="2800" i="1" baseline="-2500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ja-JP" sz="2800" b="0" i="1" smtClean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8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m:rPr>
                              <m:nor/>
                            </m:rPr>
                            <a:rPr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テキスト ボックス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118" y="2560320"/>
                <a:ext cx="2129301" cy="12547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/>
              <p:cNvSpPr txBox="1"/>
              <p:nvPr/>
            </p:nvSpPr>
            <p:spPr>
              <a:xfrm>
                <a:off x="3084387" y="4719930"/>
                <a:ext cx="2478755" cy="125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800" i="1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 sz="2800" i="1" baseline="-2500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altLang="ja-JP" sz="2800" b="0" i="1" smtClean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&lt;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solidFill>
                                <a:srgbClr val="FF0000"/>
                              </a:solidFill>
                              <a:latin typeface="Symbol" panose="05050102010706020507" pitchFamily="18" charset="2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a:rPr kumimoji="1" lang="en-US" altLang="ja-JP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テキスト ボックス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387" y="4719930"/>
                <a:ext cx="2478755" cy="12547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/>
          <p:cNvGrpSpPr/>
          <p:nvPr/>
        </p:nvGrpSpPr>
        <p:grpSpPr>
          <a:xfrm>
            <a:off x="5896540" y="4408155"/>
            <a:ext cx="3131401" cy="2126740"/>
            <a:chOff x="6752494" y="5188013"/>
            <a:chExt cx="3131401" cy="1154036"/>
          </a:xfrm>
        </p:grpSpPr>
        <p:sp>
          <p:nvSpPr>
            <p:cNvPr id="3" name="テキスト ボックス 2"/>
            <p:cNvSpPr txBox="1"/>
            <p:nvPr/>
          </p:nvSpPr>
          <p:spPr>
            <a:xfrm>
              <a:off x="6752494" y="5188013"/>
              <a:ext cx="2990724" cy="4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kumimoji="1"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ij</a:t>
              </a:r>
              <a:r>
                <a:rPr lang="ja-JP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タスク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ja-JP" altLang="en-US" sz="2400" dirty="0" smtClean="0"/>
                <a:t>における</a:t>
              </a:r>
              <a:endParaRPr lang="en-US" altLang="ja-JP" sz="2400" dirty="0"/>
            </a:p>
            <a:p>
              <a:pPr indent="536575"/>
              <a:r>
                <a:rPr kumimoji="1" lang="ja-JP" altLang="en-US" sz="2400" dirty="0" smtClean="0"/>
                <a:t>アイテム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の重み</a:t>
              </a:r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6752494" y="5639774"/>
              <a:ext cx="3131401" cy="450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kumimoji="1"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ja-JP" altLang="en-US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タスク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ja-JP" alt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における</a:t>
              </a:r>
              <a:endPara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indent="450850"/>
              <a:r>
                <a:rPr kumimoji="1" lang="ja-JP" altLang="en-US" sz="2400" dirty="0" smtClean="0"/>
                <a:t>ナップサックの容量</a:t>
              </a:r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6752494" y="6091535"/>
              <a:ext cx="2990724" cy="250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a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2400" dirty="0" smtClean="0"/>
                <a:t>: </a:t>
              </a:r>
              <a:r>
                <a:rPr lang="ja-JP" altLang="en-US" sz="2400" dirty="0" smtClean="0"/>
                <a:t>拡張</a:t>
              </a:r>
              <a:r>
                <a:rPr lang="ja-JP" altLang="en-US" sz="2400" dirty="0"/>
                <a:t>率</a:t>
              </a:r>
              <a:r>
                <a:rPr kumimoji="1" lang="en-US" altLang="ja-JP" sz="2400" dirty="0" smtClean="0"/>
                <a:t>(</a:t>
              </a:r>
              <a:r>
                <a:rPr kumimoji="1" lang="en-US" altLang="ja-JP" sz="2400" dirty="0" smtClean="0"/>
                <a:t>0.0, 2.0)</a:t>
              </a:r>
              <a:endParaRPr kumimoji="1" lang="ja-JP" altLang="en-US" sz="2400" dirty="0" smtClean="0"/>
            </a:p>
          </p:txBody>
        </p:sp>
      </p:grpSp>
      <p:sp>
        <p:nvSpPr>
          <p:cNvPr id="4" name="下矢印 3"/>
          <p:cNvSpPr/>
          <p:nvPr/>
        </p:nvSpPr>
        <p:spPr>
          <a:xfrm>
            <a:off x="4112749" y="4046332"/>
            <a:ext cx="422031" cy="69551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302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下記のパラメータを</a:t>
            </a:r>
            <a:r>
              <a:rPr lang="ja-JP" altLang="en-US" dirty="0" smtClean="0"/>
              <a:t>用いてナップサック</a:t>
            </a:r>
            <a:r>
              <a:rPr lang="ja-JP" altLang="en-US" dirty="0"/>
              <a:t>問題</a:t>
            </a:r>
            <a:r>
              <a:rPr lang="ja-JP" altLang="en-US" dirty="0" smtClean="0"/>
              <a:t>を作成</a:t>
            </a:r>
            <a:endParaRPr lang="en-US" altLang="ja-JP" dirty="0"/>
          </a:p>
          <a:p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kumimoji="1" lang="en-US" altLang="ja-JP" dirty="0" smtClean="0"/>
          </a:p>
          <a:p>
            <a:r>
              <a:rPr kumimoji="1" lang="ja-JP" altLang="en-US" dirty="0" smtClean="0"/>
              <a:t>目的関数 </a:t>
            </a: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ja-JP" baseline="-25000" dirty="0" smtClean="0"/>
              <a:t>2</a:t>
            </a:r>
            <a:r>
              <a:rPr kumimoji="1" lang="ja-JP" altLang="en-US" dirty="0" smtClean="0"/>
              <a:t>を以下のように変更</a:t>
            </a:r>
            <a:endParaRPr kumimoji="1" lang="ja-JP" altLang="en-US" dirty="0"/>
          </a:p>
        </p:txBody>
      </p:sp>
      <p:grpSp>
        <p:nvGrpSpPr>
          <p:cNvPr id="4" name="グループ化 3"/>
          <p:cNvGrpSpPr/>
          <p:nvPr/>
        </p:nvGrpSpPr>
        <p:grpSpPr>
          <a:xfrm>
            <a:off x="5994126" y="5654569"/>
            <a:ext cx="2990724" cy="923330"/>
            <a:chOff x="-120569" y="5677715"/>
            <a:chExt cx="2990724" cy="923330"/>
          </a:xfrm>
        </p:grpSpPr>
        <p:sp>
          <p:nvSpPr>
            <p:cNvPr id="10" name="テキスト ボックス 9"/>
            <p:cNvSpPr txBox="1"/>
            <p:nvPr/>
          </p:nvSpPr>
          <p:spPr>
            <a:xfrm>
              <a:off x="-120569" y="5677715"/>
              <a:ext cx="29907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24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ja-JP" sz="2400" dirty="0" smtClean="0"/>
                <a:t>: </a:t>
              </a:r>
              <a:r>
                <a:rPr kumimoji="1" lang="ja-JP" altLang="en-US" sz="2400" dirty="0" smtClean="0"/>
                <a:t>アイテム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の</a:t>
              </a:r>
              <a:r>
                <a:rPr lang="ja-JP" altLang="en-US" sz="2400" dirty="0"/>
                <a:t>価値</a:t>
              </a:r>
              <a:endParaRPr kumimoji="1" lang="ja-JP" altLang="en-US" sz="2400" dirty="0" smtClean="0"/>
            </a:p>
          </p:txBody>
        </p:sp>
        <p:sp>
          <p:nvSpPr>
            <p:cNvPr id="13" name="テキスト ボックス 12"/>
            <p:cNvSpPr txBox="1"/>
            <p:nvPr/>
          </p:nvSpPr>
          <p:spPr>
            <a:xfrm>
              <a:off x="-120569" y="6139380"/>
              <a:ext cx="29907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2400" dirty="0"/>
                <a:t>: </a:t>
              </a:r>
              <a:r>
                <a:rPr lang="ja-JP" altLang="en-US" sz="2400" dirty="0"/>
                <a:t>変更率</a:t>
              </a:r>
              <a:r>
                <a:rPr lang="en-US" altLang="ja-JP" sz="2400" dirty="0"/>
                <a:t>[0.0, 1.0</a:t>
              </a:r>
              <a:r>
                <a:rPr lang="en-US" altLang="ja-JP" sz="2400" dirty="0" smtClean="0"/>
                <a:t>]</a:t>
              </a:r>
              <a:endParaRPr lang="ja-JP" altLang="en-US" sz="2400" dirty="0"/>
            </a:p>
          </p:txBody>
        </p:sp>
      </p:grpSp>
      <p:sp>
        <p:nvSpPr>
          <p:cNvPr id="6146" name="タイトル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提案する問題</a:t>
            </a:r>
            <a:endParaRPr lang="ja-JP" altLang="en-US" dirty="0" smtClean="0"/>
          </a:p>
        </p:txBody>
      </p:sp>
      <p:sp>
        <p:nvSpPr>
          <p:cNvPr id="614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fld id="{B3E09C8F-164A-4527-82A3-08940CF398CC}" type="slidenum">
              <a:rPr kumimoji="0" lang="en-US" altLang="ja-JP" smtClean="0">
                <a:solidFill>
                  <a:srgbClr val="FFFF00"/>
                </a:solidFill>
              </a:rPr>
              <a:pPr/>
              <a:t>9</a:t>
            </a:fld>
            <a:endParaRPr kumimoji="0" lang="en-US" altLang="ja-JP" smtClean="0">
              <a:solidFill>
                <a:srgbClr val="FFFF00"/>
              </a:solidFill>
            </a:endParaRP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アイテムの価値の反転</a:t>
            </a:r>
            <a:endParaRPr kumimoji="1" lang="ja-JP" altLang="en-US" dirty="0"/>
          </a:p>
        </p:txBody>
      </p:sp>
      <p:sp>
        <p:nvSpPr>
          <p:cNvPr id="6149" name="テキスト ボックス 1"/>
          <p:cNvSpPr txBox="1">
            <a:spLocks noChangeArrowheads="1"/>
          </p:cNvSpPr>
          <p:nvPr/>
        </p:nvSpPr>
        <p:spPr bwMode="auto">
          <a:xfrm>
            <a:off x="342900" y="2036616"/>
            <a:ext cx="827580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sz="2800" dirty="0" smtClean="0"/>
              <a:t>重さ </a:t>
            </a:r>
            <a:r>
              <a:rPr lang="en-US" altLang="ja-JP" sz="2800" dirty="0" smtClean="0"/>
              <a:t>: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 smtClean="0"/>
              <a:t>価値 </a:t>
            </a:r>
            <a:r>
              <a:rPr lang="en-US" altLang="ja-JP" sz="2800" dirty="0" smtClean="0"/>
              <a:t>:  </a:t>
            </a:r>
            <a:r>
              <a:rPr lang="en-US" altLang="ja-JP" sz="2800" dirty="0"/>
              <a:t>[10, 100]</a:t>
            </a:r>
            <a:r>
              <a:rPr lang="ja-JP" altLang="en-US" sz="2800" dirty="0" err="1"/>
              <a:t>の整</a:t>
            </a:r>
            <a:r>
              <a:rPr lang="ja-JP" altLang="en-US" sz="2800" dirty="0"/>
              <a:t>数値</a:t>
            </a:r>
            <a:endParaRPr lang="en-US" altLang="ja-JP" sz="2800" dirty="0"/>
          </a:p>
          <a:p>
            <a:r>
              <a:rPr lang="ja-JP" altLang="en-US" sz="2800" dirty="0"/>
              <a:t>ナップサック許容量</a:t>
            </a:r>
            <a:r>
              <a:rPr lang="en-US" altLang="ja-JP" sz="2800" dirty="0">
                <a:sym typeface="Wingdings" panose="05000000000000000000" pitchFamily="2" charset="2"/>
              </a:rPr>
              <a:t>: (</a:t>
            </a:r>
            <a:r>
              <a:rPr lang="ja-JP" altLang="en-US" sz="2800" dirty="0">
                <a:sym typeface="Wingdings" panose="05000000000000000000" pitchFamily="2" charset="2"/>
              </a:rPr>
              <a:t>アイテムの総重量</a:t>
            </a:r>
            <a:r>
              <a:rPr lang="en-US" altLang="ja-JP" sz="2800" dirty="0">
                <a:sym typeface="Wingdings" panose="05000000000000000000" pitchFamily="2" charset="2"/>
              </a:rPr>
              <a:t>)/</a:t>
            </a:r>
            <a:r>
              <a:rPr lang="en-US" altLang="ja-JP" sz="2800" dirty="0" smtClean="0">
                <a:sym typeface="Wingdings" panose="05000000000000000000" pitchFamily="2" charset="2"/>
              </a:rPr>
              <a:t>2 </a:t>
            </a:r>
            <a:endParaRPr lang="en-US" altLang="ja-JP" sz="2800" i="1" dirty="0">
              <a:solidFill>
                <a:srgbClr val="FF0000"/>
              </a:solidFill>
              <a:latin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テキスト ボックス 7"/>
              <p:cNvSpPr txBox="1"/>
              <p:nvPr/>
            </p:nvSpPr>
            <p:spPr>
              <a:xfrm>
                <a:off x="1040046" y="4202726"/>
                <a:ext cx="7063921" cy="14593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ja-JP" sz="280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kumimoji="1" lang="en-US" altLang="ja-JP" sz="2800" b="0" i="0" baseline="-25000" smtClean="0">
                          <a:cs typeface="Times New Roman" panose="020206030504050203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kumimoji="1"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begChr m:val="⌊"/>
                              <m:endChr m:val="⌋"/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Symbol" panose="05050102010706020507" pitchFamily="18" charset="2"/>
                                  <a:cs typeface="Times New Roman" panose="02020603050405020304" pitchFamily="18" charset="0"/>
                                </a:rPr>
                                <m:t>b</m:t>
                              </m:r>
                            </m:e>
                          </m:d>
                        </m:sup>
                        <m:e>
                          <m:r>
                            <m:rPr>
                              <m:nor/>
                            </m:rPr>
                            <a:rPr kumimoji="1" lang="en-US" altLang="ja-JP" sz="2800" b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 </m:t>
                          </m:r>
                          <m:r>
                            <m:rPr>
                              <m:nor/>
                            </m:rPr>
                            <a:rPr kumimoji="1" lang="en-US" altLang="ja-JP" sz="2800" b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baseline="-2500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baseline="-25000" smtClean="0"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800" i="1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altLang="ja-JP" sz="2800" i="1" baseline="-2500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1"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 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en-US" altLang="ja-JP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ja-JP" sz="2800" i="1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n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ja-JP" sz="2800" i="1">
                                      <a:latin typeface="Symbol" panose="05050102010706020507" pitchFamily="18" charset="2"/>
                                      <a:cs typeface="Times New Roman" panose="02020603050405020304" pitchFamily="18" charset="0"/>
                                    </a:rPr>
                                    <m:t>b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ja-JP" sz="28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0" smtClean="0"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altLang="ja-JP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 baseline="-2500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0" baseline="-25000" smtClean="0"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b="0" i="1" baseline="-2500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 baseline="-25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ja-JP" sz="2800" i="1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kumimoji="1" lang="ja-JP" altLang="en-US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テキスト ボックス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046" y="4202726"/>
                <a:ext cx="7063921" cy="1459374"/>
              </a:xfrm>
              <a:prstGeom prst="rect">
                <a:avLst/>
              </a:prstGeom>
              <a:blipFill rotWithShape="0">
                <a:blip r:embed="rId2"/>
                <a:stretch>
                  <a:fillRect l="-4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550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1BF3D9E7-0E3F-405E-A7C2-9287BF6F8045}" vid="{44580BCE-2164-458F-848B-E0E027AD84C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61</TotalTime>
  <Words>518</Words>
  <Application>Microsoft Office PowerPoint</Application>
  <PresentationFormat>画面に合わせる (4:3)</PresentationFormat>
  <Paragraphs>205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9" baseType="lpstr">
      <vt:lpstr>ＭＳ P ゴシック</vt:lpstr>
      <vt:lpstr>ＭＳ Ｐゴシック</vt:lpstr>
      <vt:lpstr>ＭＳ 明朝</vt:lpstr>
      <vt:lpstr>Arial</vt:lpstr>
      <vt:lpstr>Cambria Math</vt:lpstr>
      <vt:lpstr>Symbol</vt:lpstr>
      <vt:lpstr>Times</vt:lpstr>
      <vt:lpstr>Times New Roman</vt:lpstr>
      <vt:lpstr>Wingdings</vt:lpstr>
      <vt:lpstr>Theme_Lab</vt:lpstr>
      <vt:lpstr>多目的マルチタスク ナップサック問題の提案</vt:lpstr>
      <vt:lpstr>研究概要</vt:lpstr>
      <vt:lpstr>研究概要</vt:lpstr>
      <vt:lpstr>研究概要</vt:lpstr>
      <vt:lpstr>調査内容</vt:lpstr>
      <vt:lpstr>実験結果</vt:lpstr>
      <vt:lpstr>PowerPoint プレゼンテーション</vt:lpstr>
      <vt:lpstr>提案する問題</vt:lpstr>
      <vt:lpstr>提案する問題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多目的マルチタスク ナップサック問題の提案</dc:title>
  <dc:creator>瓜田 俊貴</dc:creator>
  <cp:lastModifiedBy>瓜田 俊貴</cp:lastModifiedBy>
  <cp:revision>9</cp:revision>
  <dcterms:created xsi:type="dcterms:W3CDTF">2020-03-17T16:16:41Z</dcterms:created>
  <dcterms:modified xsi:type="dcterms:W3CDTF">2020-03-17T17:18:03Z</dcterms:modified>
</cp:coreProperties>
</file>