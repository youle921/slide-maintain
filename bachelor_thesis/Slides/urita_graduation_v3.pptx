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6" r:id="rId1"/>
  </p:sldMasterIdLst>
  <p:notesMasterIdLst>
    <p:notesMasterId r:id="rId34"/>
  </p:notesMasterIdLst>
  <p:sldIdLst>
    <p:sldId id="256" r:id="rId2"/>
    <p:sldId id="257" r:id="rId3"/>
    <p:sldId id="284" r:id="rId4"/>
    <p:sldId id="314" r:id="rId5"/>
    <p:sldId id="306" r:id="rId6"/>
    <p:sldId id="307" r:id="rId7"/>
    <p:sldId id="315" r:id="rId8"/>
    <p:sldId id="260" r:id="rId9"/>
    <p:sldId id="276" r:id="rId10"/>
    <p:sldId id="288" r:id="rId11"/>
    <p:sldId id="277" r:id="rId12"/>
    <p:sldId id="269" r:id="rId13"/>
    <p:sldId id="270" r:id="rId14"/>
    <p:sldId id="292" r:id="rId15"/>
    <p:sldId id="308" r:id="rId16"/>
    <p:sldId id="310" r:id="rId17"/>
    <p:sldId id="309" r:id="rId18"/>
    <p:sldId id="312" r:id="rId19"/>
    <p:sldId id="313" r:id="rId20"/>
    <p:sldId id="291" r:id="rId21"/>
    <p:sldId id="294" r:id="rId22"/>
    <p:sldId id="311" r:id="rId23"/>
    <p:sldId id="299" r:id="rId24"/>
    <p:sldId id="265" r:id="rId25"/>
    <p:sldId id="317" r:id="rId26"/>
    <p:sldId id="318" r:id="rId27"/>
    <p:sldId id="319" r:id="rId28"/>
    <p:sldId id="320" r:id="rId29"/>
    <p:sldId id="316" r:id="rId30"/>
    <p:sldId id="274" r:id="rId31"/>
    <p:sldId id="262" r:id="rId32"/>
    <p:sldId id="283" r:id="rId3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瓜田 俊貴" initials="瓜田" lastIdx="0" clrIdx="0">
    <p:extLst>
      <p:ext uri="{19B8F6BF-5375-455C-9EA6-DF929625EA0E}">
        <p15:presenceInfo xmlns:p15="http://schemas.microsoft.com/office/powerpoint/2012/main" userId="6da0c281fe3edd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A3E0"/>
    <a:srgbClr val="FFFAF5"/>
    <a:srgbClr val="FF1D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42" autoAdjust="0"/>
    <p:restoredTop sz="94660"/>
  </p:normalViewPr>
  <p:slideViewPr>
    <p:cSldViewPr snapToGrid="0">
      <p:cViewPr>
        <p:scale>
          <a:sx n="100" d="100"/>
          <a:sy n="100" d="100"/>
        </p:scale>
        <p:origin x="115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7171E-D003-4928-A895-08BB84F8FF99}" type="datetimeFigureOut">
              <a:rPr kumimoji="1" lang="ja-JP" altLang="en-US" smtClean="0"/>
              <a:t>2020/2/19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448EF-D49C-48B3-BF1D-D5E1470A8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34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-1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0720"/>
            <a:ext cx="7772400" cy="3434079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799"/>
            <a:ext cx="6400800" cy="2743201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 baseline="0">
                <a:latin typeface="+mn-lt"/>
                <a:ea typeface="+mn-ea"/>
              </a:defRPr>
            </a:lvl1pPr>
            <a:lvl2pPr marL="342900" indent="0" algn="just">
              <a:buNone/>
              <a:defRPr sz="2400" baseline="0">
                <a:latin typeface="+mn-lt"/>
                <a:ea typeface="+mn-ea"/>
              </a:defRPr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ja-JP" dirty="0" smtClean="0"/>
              <a:t>多目的マルチタスク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ja-JP" dirty="0" smtClean="0"/>
              <a:t>ナップサック</a:t>
            </a:r>
            <a:r>
              <a:rPr lang="ja-JP" altLang="ja-JP" dirty="0"/>
              <a:t>問題の</a:t>
            </a:r>
            <a:r>
              <a:rPr lang="ja-JP" altLang="ja-JP" dirty="0" smtClean="0"/>
              <a:t>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685491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en-US" altLang="ja-JP" dirty="0" smtClean="0"/>
          </a:p>
          <a:p>
            <a:r>
              <a:rPr lang="ja-JP" altLang="en-US" dirty="0" smtClean="0"/>
              <a:t>計算知能</a:t>
            </a:r>
            <a:r>
              <a:rPr lang="ja-JP" altLang="en-US" dirty="0"/>
              <a:t>工</a:t>
            </a:r>
            <a:r>
              <a:rPr lang="ja-JP" altLang="en-US" dirty="0" smtClean="0"/>
              <a:t>学</a:t>
            </a:r>
            <a:r>
              <a:rPr lang="ja-JP" altLang="en-US" dirty="0"/>
              <a:t>研究室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587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マルチタスク最適化</a:t>
            </a:r>
            <a:r>
              <a:rPr lang="ja-JP" altLang="en-US" dirty="0" smtClean="0"/>
              <a:t>につい</a:t>
            </a:r>
            <a:r>
              <a:rPr lang="ja-JP" altLang="en-US" dirty="0"/>
              <a:t>て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マルチタスク最適化とは，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ja-JP" altLang="en-US" b="1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2474511"/>
            <a:ext cx="115589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例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24986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A</a:t>
            </a:r>
            <a:endParaRPr kumimoji="1" lang="ja-JP" altLang="en-US" sz="3200" dirty="0" smtClean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325747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B</a:t>
            </a:r>
            <a:endParaRPr kumimoji="1" lang="ja-JP" altLang="en-US" sz="3200" dirty="0" smtClean="0"/>
          </a:p>
        </p:txBody>
      </p:sp>
      <p:grpSp>
        <p:nvGrpSpPr>
          <p:cNvPr id="8" name="グループ化 7"/>
          <p:cNvGrpSpPr/>
          <p:nvPr/>
        </p:nvGrpSpPr>
        <p:grpSpPr>
          <a:xfrm>
            <a:off x="1176399" y="3751889"/>
            <a:ext cx="2551813" cy="2698187"/>
            <a:chOff x="1176399" y="3704389"/>
            <a:chExt cx="2551813" cy="2698187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858"/>
            <a:stretch/>
          </p:blipFill>
          <p:spPr>
            <a:xfrm rot="10800000" flipV="1">
              <a:off x="1250939" y="4706121"/>
              <a:ext cx="2402734" cy="1696455"/>
            </a:xfrm>
            <a:prstGeom prst="rect">
              <a:avLst/>
            </a:prstGeom>
          </p:spPr>
        </p:pic>
        <p:sp>
          <p:nvSpPr>
            <p:cNvPr id="10" name="テキスト ボックス 9"/>
            <p:cNvSpPr txBox="1"/>
            <p:nvPr/>
          </p:nvSpPr>
          <p:spPr>
            <a:xfrm>
              <a:off x="1176399" y="3704389"/>
              <a:ext cx="255181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乗用車</a:t>
              </a:r>
              <a:r>
                <a:rPr lang="en-US" altLang="ja-JP" sz="2800" dirty="0" smtClean="0"/>
                <a:t>A</a:t>
              </a:r>
              <a:r>
                <a:rPr kumimoji="1" lang="ja-JP" altLang="en-US" sz="2800" dirty="0" smtClean="0"/>
                <a:t>の</a:t>
              </a:r>
              <a:r>
                <a:rPr kumimoji="1" lang="en-US" altLang="ja-JP" sz="2800" dirty="0" smtClean="0"/>
                <a:t/>
              </a:r>
              <a:br>
                <a:rPr kumimoji="1" lang="en-US" altLang="ja-JP" sz="2800" dirty="0" smtClean="0"/>
              </a:br>
              <a:r>
                <a:rPr kumimoji="1" lang="ja-JP" altLang="en-US" sz="2800" dirty="0" smtClean="0"/>
                <a:t>構造最適化</a:t>
              </a:r>
            </a:p>
          </p:txBody>
        </p:sp>
      </p:grpSp>
      <p:sp>
        <p:nvSpPr>
          <p:cNvPr id="3" name="テキスト ボックス 2"/>
          <p:cNvSpPr txBox="1"/>
          <p:nvPr/>
        </p:nvSpPr>
        <p:spPr>
          <a:xfrm>
            <a:off x="5804172" y="3683258"/>
            <a:ext cx="2551813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乗用車</a:t>
            </a:r>
            <a:r>
              <a:rPr kumimoji="1" lang="en-US" altLang="ja-JP" sz="2800" dirty="0" smtClean="0"/>
              <a:t>B</a:t>
            </a:r>
            <a:r>
              <a:rPr kumimoji="1" lang="ja-JP" altLang="en-US" sz="2800" dirty="0" smtClean="0"/>
              <a:t>の</a:t>
            </a:r>
            <a:r>
              <a:rPr kumimoji="1" lang="en-US" altLang="ja-JP" sz="2800" dirty="0" smtClean="0"/>
              <a:t/>
            </a:r>
            <a:br>
              <a:rPr kumimoji="1" lang="en-US" altLang="ja-JP" sz="2800" dirty="0" smtClean="0"/>
            </a:br>
            <a:r>
              <a:rPr kumimoji="1" lang="ja-JP" altLang="en-US" sz="2800" dirty="0" smtClean="0"/>
              <a:t>構造最適化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9" b="34042"/>
          <a:stretch/>
        </p:blipFill>
        <p:spPr>
          <a:xfrm>
            <a:off x="5737661" y="4751471"/>
            <a:ext cx="2684834" cy="17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3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4" grpId="0" animBg="1"/>
      <p:bldP spid="36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/>
              <a:t>Case 1: </a:t>
            </a:r>
            <a:r>
              <a:rPr lang="ja-JP" altLang="en-US" sz="3200" dirty="0"/>
              <a:t>独立</a:t>
            </a:r>
            <a:r>
              <a:rPr lang="ja-JP" altLang="en-US" sz="3200" dirty="0" smtClean="0"/>
              <a:t>関係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/>
              <a:t>Case 2: </a:t>
            </a:r>
            <a:r>
              <a:rPr lang="ja-JP" altLang="en-US" sz="3200" dirty="0" smtClean="0"/>
              <a:t>部分共有関係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/>
              <a:t>Case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3: </a:t>
            </a:r>
            <a:r>
              <a:rPr lang="ja-JP" altLang="en-US" sz="3200" dirty="0" smtClean="0"/>
              <a:t>包含関係</a:t>
            </a:r>
            <a:endParaRPr lang="en-US" altLang="ja-JP" sz="32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512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Case </a:t>
            </a:r>
            <a:r>
              <a:rPr lang="en-US" altLang="ja-JP" sz="3200" dirty="0" smtClean="0"/>
              <a:t>1: </a:t>
            </a:r>
            <a:r>
              <a:rPr lang="ja-JP" altLang="en-US" sz="3200" dirty="0"/>
              <a:t>独立</a:t>
            </a:r>
            <a:r>
              <a:rPr lang="ja-JP" altLang="en-US" sz="3200" dirty="0" smtClean="0"/>
              <a:t>関係</a:t>
            </a:r>
            <a:endParaRPr lang="en-US" altLang="ja-JP" sz="3200" dirty="0"/>
          </a:p>
          <a:p>
            <a:pPr marL="342900" lvl="2"/>
            <a:r>
              <a:rPr lang="ja-JP" altLang="en-US" sz="2600" dirty="0" smtClean="0"/>
              <a:t>タスク間に全く関係性がない</a:t>
            </a:r>
            <a:endParaRPr lang="en-US" altLang="ja-JP" sz="26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 </a:t>
            </a:r>
            <a:r>
              <a:rPr lang="en-US" altLang="ja-JP" sz="3200" dirty="0" smtClean="0">
                <a:solidFill>
                  <a:schemeClr val="bg2"/>
                </a:solidFill>
              </a:rPr>
              <a:t>2: </a:t>
            </a:r>
            <a:r>
              <a:rPr lang="ja-JP" altLang="en-US" sz="3200" dirty="0">
                <a:solidFill>
                  <a:schemeClr val="bg2"/>
                </a:solidFill>
              </a:rPr>
              <a:t>部分共有関係</a:t>
            </a:r>
            <a:endParaRPr lang="en-US" altLang="ja-JP" sz="3200" dirty="0">
              <a:solidFill>
                <a:schemeClr val="bg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</a:t>
            </a:r>
            <a:r>
              <a:rPr lang="ja-JP" altLang="en-US" sz="3200" dirty="0">
                <a:solidFill>
                  <a:schemeClr val="bg2"/>
                </a:solidFill>
              </a:rPr>
              <a:t> </a:t>
            </a:r>
            <a:r>
              <a:rPr lang="en-US" altLang="ja-JP" sz="3200" dirty="0" smtClean="0">
                <a:solidFill>
                  <a:schemeClr val="bg2"/>
                </a:solidFill>
              </a:rPr>
              <a:t>3: </a:t>
            </a:r>
            <a:r>
              <a:rPr lang="ja-JP" altLang="en-US" sz="3200" dirty="0">
                <a:solidFill>
                  <a:schemeClr val="bg2"/>
                </a:solidFill>
              </a:rPr>
              <a:t>包含関係</a:t>
            </a:r>
            <a:endParaRPr lang="en-US" altLang="ja-JP" sz="3200" dirty="0">
              <a:solidFill>
                <a:schemeClr val="bg2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grpSp>
        <p:nvGrpSpPr>
          <p:cNvPr id="17" name="グループ化 16"/>
          <p:cNvGrpSpPr/>
          <p:nvPr/>
        </p:nvGrpSpPr>
        <p:grpSpPr>
          <a:xfrm>
            <a:off x="1403747" y="3143322"/>
            <a:ext cx="6336506" cy="2085976"/>
            <a:chOff x="1533525" y="3240602"/>
            <a:chExt cx="6336506" cy="2085976"/>
          </a:xfrm>
        </p:grpSpPr>
        <p:grpSp>
          <p:nvGrpSpPr>
            <p:cNvPr id="7" name="グループ化 6"/>
            <p:cNvGrpSpPr/>
            <p:nvPr/>
          </p:nvGrpSpPr>
          <p:grpSpPr>
            <a:xfrm>
              <a:off x="1533525" y="3240603"/>
              <a:ext cx="2800350" cy="2085975"/>
              <a:chOff x="1533525" y="3133725"/>
              <a:chExt cx="2800350" cy="208597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5" name="円/楕円 4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A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14" name="グループ化 13"/>
            <p:cNvGrpSpPr/>
            <p:nvPr/>
          </p:nvGrpSpPr>
          <p:grpSpPr>
            <a:xfrm>
              <a:off x="5069681" y="3240602"/>
              <a:ext cx="2800350" cy="2085975"/>
              <a:chOff x="1533525" y="3133725"/>
              <a:chExt cx="2800350" cy="2085975"/>
            </a:xfrm>
            <a:noFill/>
          </p:grpSpPr>
          <p:sp>
            <p:nvSpPr>
              <p:cNvPr id="15" name="円/楕円 14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テキスト ボックス 15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B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6876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 </a:t>
            </a:r>
            <a:r>
              <a:rPr lang="en-US" altLang="ja-JP" sz="3200" dirty="0" smtClean="0">
                <a:solidFill>
                  <a:schemeClr val="bg2"/>
                </a:solidFill>
              </a:rPr>
              <a:t>1: </a:t>
            </a:r>
            <a:r>
              <a:rPr lang="ja-JP" altLang="en-US" sz="3200" dirty="0" smtClean="0">
                <a:solidFill>
                  <a:schemeClr val="bg2"/>
                </a:solidFill>
              </a:rPr>
              <a:t>独立関係</a:t>
            </a:r>
            <a:endParaRPr lang="en-US" altLang="ja-JP" sz="3200" dirty="0">
              <a:solidFill>
                <a:schemeClr val="bg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Case </a:t>
            </a:r>
            <a:r>
              <a:rPr lang="en-US" altLang="ja-JP" sz="3200" dirty="0" smtClean="0"/>
              <a:t>2: </a:t>
            </a:r>
            <a:r>
              <a:rPr lang="ja-JP" altLang="en-US" sz="3200" dirty="0"/>
              <a:t>部分共有関係</a:t>
            </a:r>
            <a:endParaRPr lang="en-US" altLang="ja-JP" sz="3200" dirty="0"/>
          </a:p>
          <a:p>
            <a:pPr marL="342900" lvl="2"/>
            <a:r>
              <a:rPr lang="ja-JP" altLang="en-US" sz="2600" dirty="0" smtClean="0"/>
              <a:t>タスクの一部で関係性がある</a:t>
            </a:r>
            <a:endParaRPr lang="en-US" altLang="ja-JP" sz="26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0" lvl="1"/>
            <a:endParaRPr lang="en-US" altLang="ja-JP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</a:t>
            </a:r>
            <a:r>
              <a:rPr lang="ja-JP" altLang="en-US" sz="3200" dirty="0">
                <a:solidFill>
                  <a:schemeClr val="bg2"/>
                </a:solidFill>
              </a:rPr>
              <a:t> </a:t>
            </a:r>
            <a:r>
              <a:rPr lang="en-US" altLang="ja-JP" sz="3200" dirty="0" smtClean="0">
                <a:solidFill>
                  <a:schemeClr val="bg2"/>
                </a:solidFill>
              </a:rPr>
              <a:t>3: </a:t>
            </a:r>
            <a:r>
              <a:rPr lang="ja-JP" altLang="en-US" sz="3200" dirty="0">
                <a:solidFill>
                  <a:schemeClr val="bg2"/>
                </a:solidFill>
              </a:rPr>
              <a:t>包含関係</a:t>
            </a:r>
            <a:endParaRPr lang="en-US" altLang="ja-JP" sz="3200" dirty="0">
              <a:solidFill>
                <a:schemeClr val="bg2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2116247" y="3786867"/>
            <a:ext cx="4911506" cy="2085976"/>
            <a:chOff x="2246025" y="3786867"/>
            <a:chExt cx="4911506" cy="2085976"/>
          </a:xfrm>
        </p:grpSpPr>
        <p:grpSp>
          <p:nvGrpSpPr>
            <p:cNvPr id="7" name="グループ化 6"/>
            <p:cNvGrpSpPr/>
            <p:nvPr/>
          </p:nvGrpSpPr>
          <p:grpSpPr>
            <a:xfrm>
              <a:off x="2246025" y="3786868"/>
              <a:ext cx="2800350" cy="2085975"/>
              <a:chOff x="1533525" y="3133725"/>
              <a:chExt cx="2800350" cy="2085975"/>
            </a:xfrm>
            <a:noFill/>
          </p:grpSpPr>
          <p:sp>
            <p:nvSpPr>
              <p:cNvPr id="5" name="円/楕円 4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A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4357181" y="3786867"/>
              <a:ext cx="2800350" cy="2085975"/>
              <a:chOff x="1533525" y="3133725"/>
              <a:chExt cx="2800350" cy="2085975"/>
            </a:xfrm>
            <a:noFill/>
          </p:grpSpPr>
          <p:sp>
            <p:nvSpPr>
              <p:cNvPr id="9" name="円/楕円 8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B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05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>
                <a:solidFill>
                  <a:schemeClr val="bg2"/>
                </a:solidFill>
              </a:rPr>
              <a:t>Case 1: </a:t>
            </a:r>
            <a:r>
              <a:rPr lang="ja-JP" altLang="en-US" sz="3200" dirty="0" smtClean="0">
                <a:solidFill>
                  <a:schemeClr val="bg2"/>
                </a:solidFill>
              </a:rPr>
              <a:t>独立関係</a:t>
            </a:r>
            <a:endParaRPr lang="en-US" altLang="ja-JP" sz="3200" dirty="0" smtClean="0">
              <a:solidFill>
                <a:schemeClr val="bg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 </a:t>
            </a:r>
            <a:r>
              <a:rPr lang="en-US" altLang="ja-JP" sz="3200" dirty="0" smtClean="0">
                <a:solidFill>
                  <a:schemeClr val="bg2"/>
                </a:solidFill>
              </a:rPr>
              <a:t>2: </a:t>
            </a:r>
            <a:r>
              <a:rPr lang="ja-JP" altLang="en-US" sz="3200" dirty="0">
                <a:solidFill>
                  <a:schemeClr val="bg2"/>
                </a:solidFill>
              </a:rPr>
              <a:t>部分共有関係</a:t>
            </a:r>
            <a:endParaRPr lang="en-US" altLang="ja-JP" sz="3200" dirty="0">
              <a:solidFill>
                <a:schemeClr val="bg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Case</a:t>
            </a:r>
            <a:r>
              <a:rPr lang="ja-JP" altLang="en-US" sz="3200" dirty="0"/>
              <a:t> </a:t>
            </a:r>
            <a:r>
              <a:rPr lang="en-US" altLang="ja-JP" sz="3200" dirty="0" smtClean="0"/>
              <a:t>3: </a:t>
            </a:r>
            <a:r>
              <a:rPr lang="ja-JP" altLang="en-US" sz="3200" dirty="0"/>
              <a:t>包含関係</a:t>
            </a:r>
            <a:endParaRPr lang="en-US" altLang="ja-JP" sz="3200" dirty="0"/>
          </a:p>
          <a:p>
            <a:pPr marL="342900" lvl="2"/>
            <a:r>
              <a:rPr lang="ja-JP" altLang="en-US" sz="2600" dirty="0" smtClean="0"/>
              <a:t>一方のタスクが他のタスクを包含する</a:t>
            </a:r>
            <a:endParaRPr lang="en-US" altLang="ja-JP" sz="26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pSp>
        <p:nvGrpSpPr>
          <p:cNvPr id="7" name="グループ化 6"/>
          <p:cNvGrpSpPr/>
          <p:nvPr/>
        </p:nvGrpSpPr>
        <p:grpSpPr>
          <a:xfrm>
            <a:off x="3171825" y="4363316"/>
            <a:ext cx="2800350" cy="2085975"/>
            <a:chOff x="1533525" y="3133725"/>
            <a:chExt cx="2800350" cy="208597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" name="円/楕円 4"/>
            <p:cNvSpPr/>
            <p:nvPr/>
          </p:nvSpPr>
          <p:spPr>
            <a:xfrm>
              <a:off x="1533525" y="3133725"/>
              <a:ext cx="2800350" cy="20859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2243138" y="3333750"/>
              <a:ext cx="1381125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タスク</a:t>
              </a:r>
              <a:r>
                <a:rPr kumimoji="1" lang="en-US" altLang="ja-JP" sz="2800" dirty="0" smtClean="0"/>
                <a:t>A</a:t>
              </a:r>
              <a:endParaRPr kumimoji="1" lang="ja-JP" altLang="en-US" sz="2800" dirty="0" smtClean="0"/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3702602" y="5086561"/>
            <a:ext cx="1738797" cy="1087459"/>
            <a:chOff x="2064302" y="3133725"/>
            <a:chExt cx="1738797" cy="1087459"/>
          </a:xfrm>
        </p:grpSpPr>
        <p:sp>
          <p:nvSpPr>
            <p:cNvPr id="9" name="円/楕円 8"/>
            <p:cNvSpPr/>
            <p:nvPr/>
          </p:nvSpPr>
          <p:spPr>
            <a:xfrm>
              <a:off x="2064302" y="3133725"/>
              <a:ext cx="1738797" cy="108745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2243138" y="3415844"/>
              <a:ext cx="1381125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タスク</a:t>
              </a:r>
              <a:r>
                <a:rPr kumimoji="1" lang="en-US" altLang="ja-JP" sz="2800" dirty="0" smtClean="0"/>
                <a:t>B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2496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既存のベンチマーク問題</a:t>
            </a:r>
            <a:r>
              <a:rPr lang="en-US" altLang="ja-JP" sz="2400" dirty="0" smtClean="0"/>
              <a:t>[</a:t>
            </a:r>
            <a:r>
              <a:rPr lang="en-US" altLang="ja-JP" sz="2400" dirty="0"/>
              <a:t>Yuan et al., 2017]</a:t>
            </a:r>
            <a:r>
              <a:rPr lang="ja-JP" altLang="en-US" dirty="0"/>
              <a:t>では</a:t>
            </a:r>
            <a:r>
              <a:rPr lang="ja-JP" altLang="en-US" dirty="0" smtClean="0"/>
              <a:t>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各タスクは複雑</a:t>
            </a:r>
            <a:r>
              <a:rPr lang="ja-JP" altLang="en-US" dirty="0"/>
              <a:t>な高次方程式</a:t>
            </a:r>
            <a:r>
              <a:rPr lang="ja-JP" altLang="en-US" dirty="0" smtClean="0"/>
              <a:t>で</a:t>
            </a:r>
            <a:r>
              <a:rPr lang="ja-JP" altLang="en-US" dirty="0"/>
              <a:t>構成</a:t>
            </a:r>
            <a:r>
              <a:rPr lang="ja-JP" altLang="en-US" dirty="0" smtClean="0"/>
              <a:t>される．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その</a:t>
            </a:r>
            <a:r>
              <a:rPr lang="ja-JP" altLang="en-US" dirty="0"/>
              <a:t>ため</a:t>
            </a:r>
            <a:r>
              <a:rPr lang="ja-JP" altLang="en-US" dirty="0" smtClean="0"/>
              <a:t>，タスク間</a:t>
            </a:r>
            <a:r>
              <a:rPr lang="ja-JP" altLang="en-US" dirty="0"/>
              <a:t>の</a:t>
            </a:r>
            <a:r>
              <a:rPr lang="ja-JP" altLang="en-US" b="1" dirty="0">
                <a:solidFill>
                  <a:schemeClr val="accent2"/>
                </a:solidFill>
              </a:rPr>
              <a:t>関係性</a:t>
            </a:r>
            <a:r>
              <a:rPr lang="ja-JP" altLang="en-US" b="1" dirty="0" smtClean="0">
                <a:solidFill>
                  <a:schemeClr val="accent2"/>
                </a:solidFill>
              </a:rPr>
              <a:t>が不明瞭</a:t>
            </a:r>
            <a:r>
              <a:rPr lang="ja-JP" altLang="en-US" dirty="0" smtClean="0"/>
              <a:t>である．</a:t>
            </a:r>
            <a:endParaRPr lang="en-US" altLang="ja-JP" dirty="0"/>
          </a:p>
          <a:p>
            <a:endParaRPr lang="en-US" altLang="ja-JP" dirty="0" smtClean="0"/>
          </a:p>
          <a:p>
            <a:r>
              <a:rPr lang="ja-JP" altLang="en-US" dirty="0" smtClean="0"/>
              <a:t>本研究では，各タスクが単純な問題で構成され，タスク間の</a:t>
            </a:r>
            <a:r>
              <a:rPr lang="ja-JP" altLang="en-US" b="1" dirty="0" smtClean="0">
                <a:solidFill>
                  <a:schemeClr val="accent1"/>
                </a:solidFill>
              </a:rPr>
              <a:t>関係性が明瞭</a:t>
            </a:r>
            <a:r>
              <a:rPr lang="ja-JP" altLang="en-US" dirty="0" smtClean="0"/>
              <a:t>な，新たなベンチマーク問題を提案する．</a:t>
            </a:r>
            <a:endParaRPr lang="en-US" altLang="ja-JP" dirty="0" smtClean="0"/>
          </a:p>
          <a:p>
            <a:r>
              <a:rPr kumimoji="1" lang="ja-JP" altLang="en-US" dirty="0" smtClean="0"/>
              <a:t>また，提案問題では，パラメータによりタスク間の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関係性を調整可能</a:t>
            </a:r>
            <a:r>
              <a:rPr kumimoji="1" lang="ja-JP" altLang="en-US" dirty="0" smtClean="0"/>
              <a:t>な問題にする．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6" name="下矢印 5"/>
          <p:cNvSpPr/>
          <p:nvPr/>
        </p:nvSpPr>
        <p:spPr>
          <a:xfrm>
            <a:off x="4331907" y="2977774"/>
            <a:ext cx="480186" cy="55002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99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目的</a:t>
            </a:r>
            <a:r>
              <a:rPr kumimoji="1" lang="en-US" altLang="ja-JP" b="1" dirty="0" smtClean="0"/>
              <a:t>&gt;</a:t>
            </a:r>
          </a:p>
          <a:p>
            <a:r>
              <a:rPr lang="ja-JP" altLang="en-US" dirty="0" smtClean="0"/>
              <a:t>タスク間の</a:t>
            </a:r>
            <a:r>
              <a:rPr lang="ja-JP" altLang="en-US" b="1" dirty="0" smtClean="0">
                <a:solidFill>
                  <a:schemeClr val="accent1"/>
                </a:solidFill>
              </a:rPr>
              <a:t>関係性が明瞭</a:t>
            </a:r>
            <a:r>
              <a:rPr lang="ja-JP" altLang="en-US" dirty="0" smtClean="0"/>
              <a:t>であり，関係性が</a:t>
            </a:r>
            <a:r>
              <a:rPr lang="ja-JP" altLang="en-US" b="1" dirty="0" smtClean="0">
                <a:solidFill>
                  <a:schemeClr val="accent1"/>
                </a:solidFill>
              </a:rPr>
              <a:t>調整</a:t>
            </a:r>
            <a:r>
              <a:rPr lang="en-US" altLang="ja-JP" b="1" dirty="0" smtClean="0">
                <a:solidFill>
                  <a:schemeClr val="accent1"/>
                </a:solidFill>
              </a:rPr>
              <a:t/>
            </a:r>
            <a:br>
              <a:rPr lang="en-US" altLang="ja-JP" b="1" dirty="0" smtClean="0">
                <a:solidFill>
                  <a:schemeClr val="accent1"/>
                </a:solidFill>
              </a:rPr>
            </a:br>
            <a:r>
              <a:rPr lang="ja-JP" altLang="en-US" b="1" dirty="0" smtClean="0">
                <a:solidFill>
                  <a:schemeClr val="accent1"/>
                </a:solidFill>
              </a:rPr>
              <a:t>可能</a:t>
            </a:r>
            <a:r>
              <a:rPr lang="ja-JP" altLang="en-US" dirty="0" smtClean="0"/>
              <a:t>な新たなマルチタスクベンチマーク問題を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提案する．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b="1" dirty="0" smtClean="0"/>
              <a:t>&lt;</a:t>
            </a:r>
            <a:r>
              <a:rPr lang="ja-JP" altLang="en-US" b="1" dirty="0" smtClean="0"/>
              <a:t>アプローチ</a:t>
            </a:r>
            <a:r>
              <a:rPr lang="en-US" altLang="ja-JP" b="1" dirty="0" smtClean="0"/>
              <a:t>&gt;</a:t>
            </a:r>
          </a:p>
          <a:p>
            <a:r>
              <a:rPr kumimoji="1" lang="ja-JP" altLang="en-US" dirty="0" smtClean="0"/>
              <a:t>各タスクに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多目的ナップサック問題</a:t>
            </a:r>
            <a:r>
              <a:rPr lang="ja-JP" altLang="en-US" dirty="0" smtClean="0"/>
              <a:t>を利用して，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ベンチマーク問題</a:t>
            </a:r>
            <a:r>
              <a:rPr lang="ja-JP" altLang="en-US" dirty="0" smtClean="0"/>
              <a:t>を</a:t>
            </a:r>
            <a:r>
              <a:rPr lang="ja-JP" altLang="en-US" dirty="0"/>
              <a:t>作成</a:t>
            </a:r>
            <a:r>
              <a:rPr lang="ja-JP" altLang="en-US" dirty="0" smtClean="0"/>
              <a:t>する．</a:t>
            </a:r>
            <a:endParaRPr lang="en-US" altLang="ja-JP" dirty="0" smtClean="0"/>
          </a:p>
          <a:p>
            <a:r>
              <a:rPr lang="ja-JP" altLang="en-US" dirty="0" smtClean="0"/>
              <a:t>タスク</a:t>
            </a:r>
            <a:r>
              <a:rPr lang="en-US" altLang="ja-JP" dirty="0" smtClean="0"/>
              <a:t>A</a:t>
            </a:r>
            <a:r>
              <a:rPr lang="ja-JP" altLang="en-US" dirty="0" smtClean="0"/>
              <a:t>に</a:t>
            </a:r>
            <a:r>
              <a:rPr lang="ja-JP" altLang="en-US" dirty="0" smtClean="0"/>
              <a:t>変更を加えた問題</a:t>
            </a:r>
            <a:r>
              <a:rPr lang="ja-JP" altLang="en-US" dirty="0" smtClean="0"/>
              <a:t>をタスク</a:t>
            </a:r>
            <a:r>
              <a:rPr lang="en-US" altLang="ja-JP" dirty="0" smtClean="0"/>
              <a:t>B</a:t>
            </a:r>
            <a:r>
              <a:rPr lang="ja-JP" altLang="en-US" dirty="0" smtClean="0"/>
              <a:t>に</a:t>
            </a:r>
            <a:r>
              <a:rPr lang="ja-JP" altLang="en-US" dirty="0" smtClean="0"/>
              <a:t>設定する．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022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多目的ナップサック問題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(</a:t>
            </a:r>
            <a:r>
              <a:rPr lang="ja-JP" altLang="en-US" dirty="0"/>
              <a:t>単</a:t>
            </a:r>
            <a:r>
              <a:rPr lang="ja-JP" altLang="en-US" dirty="0" smtClean="0"/>
              <a:t>目的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ナップサック問題を多目的化した問題</a:t>
            </a:r>
            <a:endParaRPr kumimoji="1" lang="en-US" altLang="ja-JP" dirty="0" smtClean="0"/>
          </a:p>
          <a:p>
            <a:pPr algn="r"/>
            <a:r>
              <a:rPr lang="ja-JP" altLang="en-US" sz="2800" dirty="0" smtClean="0"/>
              <a:t>ナップサック問題： ナップサック内にアイテムを詰め込み，アイテムの価値の総和を最大化する．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pSp>
        <p:nvGrpSpPr>
          <p:cNvPr id="15" name="グループ化 14"/>
          <p:cNvGrpSpPr/>
          <p:nvPr/>
        </p:nvGrpSpPr>
        <p:grpSpPr>
          <a:xfrm>
            <a:off x="1837217" y="3412792"/>
            <a:ext cx="6677507" cy="1432412"/>
            <a:chOff x="1837217" y="3412792"/>
            <a:chExt cx="6677507" cy="1432412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837217" y="3653863"/>
              <a:ext cx="899281" cy="1191341"/>
            </a:xfrm>
            <a:prstGeom prst="rect">
              <a:avLst/>
            </a:prstGeom>
          </p:spPr>
        </p:pic>
        <p:grpSp>
          <p:nvGrpSpPr>
            <p:cNvPr id="6" name="グループ化 5"/>
            <p:cNvGrpSpPr/>
            <p:nvPr/>
          </p:nvGrpSpPr>
          <p:grpSpPr>
            <a:xfrm>
              <a:off x="4476124" y="3412792"/>
              <a:ext cx="4038600" cy="1432412"/>
              <a:chOff x="2400301" y="1802131"/>
              <a:chExt cx="4038600" cy="1432412"/>
            </a:xfrm>
          </p:grpSpPr>
          <p:grpSp>
            <p:nvGrpSpPr>
              <p:cNvPr id="7" name="グループ化 6"/>
              <p:cNvGrpSpPr/>
              <p:nvPr/>
            </p:nvGrpSpPr>
            <p:grpSpPr>
              <a:xfrm>
                <a:off x="2400301" y="1802131"/>
                <a:ext cx="4038600" cy="1432412"/>
                <a:chOff x="2400301" y="1802131"/>
                <a:chExt cx="4038600" cy="1432412"/>
              </a:xfrm>
            </p:grpSpPr>
            <p:sp>
              <p:nvSpPr>
                <p:cNvPr id="12" name="テキスト ボックス 11"/>
                <p:cNvSpPr txBox="1"/>
                <p:nvPr/>
              </p:nvSpPr>
              <p:spPr>
                <a:xfrm>
                  <a:off x="2400301" y="2156607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13" name="テキスト ボックス 12"/>
                <p:cNvSpPr txBox="1"/>
                <p:nvPr/>
              </p:nvSpPr>
              <p:spPr>
                <a:xfrm>
                  <a:off x="2666595" y="1802131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kumimoji="1" lang="en-US" altLang="ja-JP" sz="2800" dirty="0" smtClean="0"/>
                    <a:t>1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8" name="グループ化 7"/>
              <p:cNvGrpSpPr/>
              <p:nvPr/>
            </p:nvGrpSpPr>
            <p:grpSpPr>
              <a:xfrm>
                <a:off x="2663704" y="2290762"/>
                <a:ext cx="2929018" cy="809626"/>
                <a:chOff x="2663704" y="2290762"/>
                <a:chExt cx="2929018" cy="809626"/>
              </a:xfrm>
            </p:grpSpPr>
            <p:pic>
              <p:nvPicPr>
                <p:cNvPr id="9" name="図 8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965" t="3726" r="14240" b="24760"/>
                <a:stretch/>
              </p:blipFill>
              <p:spPr>
                <a:xfrm>
                  <a:off x="3713075" y="2290762"/>
                  <a:ext cx="663350" cy="809626"/>
                </a:xfrm>
                <a:prstGeom prst="rect">
                  <a:avLst/>
                </a:prstGeom>
              </p:spPr>
            </p:pic>
            <p:pic>
              <p:nvPicPr>
                <p:cNvPr id="10" name="図 9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063" r="4202" b="23007"/>
                <a:stretch/>
              </p:blipFill>
              <p:spPr>
                <a:xfrm>
                  <a:off x="2663704" y="2290762"/>
                  <a:ext cx="827773" cy="809626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/>
                <p:cNvSpPr txBox="1"/>
                <p:nvPr/>
              </p:nvSpPr>
              <p:spPr>
                <a:xfrm>
                  <a:off x="4332475" y="2433965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14" name="円弧 13"/>
            <p:cNvSpPr/>
            <p:nvPr/>
          </p:nvSpPr>
          <p:spPr>
            <a:xfrm flipH="1">
              <a:off x="2637687" y="3499379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1837217" y="5236258"/>
            <a:ext cx="6677507" cy="1432412"/>
            <a:chOff x="1837217" y="5236258"/>
            <a:chExt cx="6677507" cy="1432412"/>
          </a:xfrm>
        </p:grpSpPr>
        <p:pic>
          <p:nvPicPr>
            <p:cNvPr id="18" name="図 1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837217" y="5432066"/>
              <a:ext cx="899281" cy="1191341"/>
            </a:xfrm>
            <a:prstGeom prst="rect">
              <a:avLst/>
            </a:prstGeom>
          </p:spPr>
        </p:pic>
        <p:grpSp>
          <p:nvGrpSpPr>
            <p:cNvPr id="26" name="グループ化 25"/>
            <p:cNvGrpSpPr/>
            <p:nvPr/>
          </p:nvGrpSpPr>
          <p:grpSpPr>
            <a:xfrm>
              <a:off x="4476124" y="5236258"/>
              <a:ext cx="4038600" cy="1432412"/>
              <a:chOff x="4211280" y="5010628"/>
              <a:chExt cx="4038600" cy="1432412"/>
            </a:xfrm>
          </p:grpSpPr>
          <p:grpSp>
            <p:nvGrpSpPr>
              <p:cNvPr id="25" name="グループ化 24"/>
              <p:cNvGrpSpPr/>
              <p:nvPr/>
            </p:nvGrpSpPr>
            <p:grpSpPr>
              <a:xfrm>
                <a:off x="4211280" y="5010628"/>
                <a:ext cx="4038600" cy="1432412"/>
                <a:chOff x="4211280" y="5010628"/>
                <a:chExt cx="4038600" cy="1432412"/>
              </a:xfrm>
            </p:grpSpPr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4211280" y="5365104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4477574" y="5010628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lang="en-US" altLang="ja-JP" sz="2800" dirty="0"/>
                    <a:t>2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24" name="グループ化 23"/>
              <p:cNvGrpSpPr/>
              <p:nvPr/>
            </p:nvGrpSpPr>
            <p:grpSpPr>
              <a:xfrm>
                <a:off x="4435313" y="5530209"/>
                <a:ext cx="2968389" cy="747727"/>
                <a:chOff x="4435313" y="5530209"/>
                <a:chExt cx="2968389" cy="747727"/>
              </a:xfrm>
            </p:grpSpPr>
            <p:pic>
              <p:nvPicPr>
                <p:cNvPr id="17" name="コンテンツ プレースホルダー 6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16245"/>
                <a:stretch/>
              </p:blipFill>
              <p:spPr bwMode="auto">
                <a:xfrm>
                  <a:off x="5371916" y="5740508"/>
                  <a:ext cx="1019359" cy="499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9" name="図 18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98" t="6421" r="2853" b="25476"/>
                <a:stretch/>
              </p:blipFill>
              <p:spPr>
                <a:xfrm>
                  <a:off x="4435313" y="5530209"/>
                  <a:ext cx="855833" cy="747727"/>
                </a:xfrm>
                <a:prstGeom prst="rect">
                  <a:avLst/>
                </a:prstGeom>
              </p:spPr>
            </p:pic>
            <p:sp>
              <p:nvSpPr>
                <p:cNvPr id="22" name="テキスト ボックス 21"/>
                <p:cNvSpPr txBox="1"/>
                <p:nvPr/>
              </p:nvSpPr>
              <p:spPr>
                <a:xfrm>
                  <a:off x="6143455" y="5642462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28" name="円弧 27"/>
            <p:cNvSpPr/>
            <p:nvPr/>
          </p:nvSpPr>
          <p:spPr>
            <a:xfrm flipH="1">
              <a:off x="2637687" y="5299434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29" name="テキスト ボックス 28"/>
          <p:cNvSpPr txBox="1"/>
          <p:nvPr/>
        </p:nvSpPr>
        <p:spPr>
          <a:xfrm>
            <a:off x="228600" y="3050983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目的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28600" y="4936679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目的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pic>
        <p:nvPicPr>
          <p:cNvPr id="23" name="図 2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20"/>
          <a:stretch/>
        </p:blipFill>
        <p:spPr>
          <a:xfrm>
            <a:off x="7446128" y="5625426"/>
            <a:ext cx="972286" cy="1002653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5"/>
          <a:stretch/>
        </p:blipFill>
        <p:spPr>
          <a:xfrm>
            <a:off x="7529943" y="3936012"/>
            <a:ext cx="804657" cy="85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提案するベンチマーク問題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異なる多目的ナップサック問題を各タスクとした，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ベンチマーク問題を作成する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352507" y="2789373"/>
            <a:ext cx="3878862" cy="3834034"/>
            <a:chOff x="352507" y="2789373"/>
            <a:chExt cx="3878862" cy="3834034"/>
          </a:xfrm>
        </p:grpSpPr>
        <p:grpSp>
          <p:nvGrpSpPr>
            <p:cNvPr id="11" name="グループ化 10"/>
            <p:cNvGrpSpPr/>
            <p:nvPr/>
          </p:nvGrpSpPr>
          <p:grpSpPr>
            <a:xfrm>
              <a:off x="715623" y="3495383"/>
              <a:ext cx="2733530" cy="2990568"/>
              <a:chOff x="786742" y="3546987"/>
              <a:chExt cx="2733530" cy="2990568"/>
            </a:xfrm>
          </p:grpSpPr>
          <p:pic>
            <p:nvPicPr>
              <p:cNvPr id="5" name="図 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r="332" b="26611"/>
              <a:stretch/>
            </p:blipFill>
            <p:spPr>
              <a:xfrm>
                <a:off x="2620991" y="3635887"/>
                <a:ext cx="899281" cy="1191341"/>
              </a:xfrm>
              <a:prstGeom prst="rect">
                <a:avLst/>
              </a:prstGeom>
            </p:spPr>
          </p:pic>
          <p:pic>
            <p:nvPicPr>
              <p:cNvPr id="6" name="図 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r="332" b="26611"/>
              <a:stretch/>
            </p:blipFill>
            <p:spPr>
              <a:xfrm>
                <a:off x="2620991" y="5346214"/>
                <a:ext cx="899281" cy="1191341"/>
              </a:xfrm>
              <a:prstGeom prst="rect">
                <a:avLst/>
              </a:prstGeom>
            </p:spPr>
          </p:pic>
          <p:sp>
            <p:nvSpPr>
              <p:cNvPr id="7" name="テキスト ボックス 6"/>
              <p:cNvSpPr txBox="1"/>
              <p:nvPr/>
            </p:nvSpPr>
            <p:spPr>
              <a:xfrm>
                <a:off x="786742" y="3546987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/>
                  <a:t>目的</a:t>
                </a:r>
                <a:r>
                  <a:rPr kumimoji="1" lang="en-US" altLang="ja-JP" sz="3200" dirty="0" smtClean="0"/>
                  <a:t>1</a:t>
                </a:r>
                <a:endParaRPr kumimoji="1" lang="ja-JP" altLang="en-US" sz="3200" dirty="0" smtClean="0"/>
              </a:p>
            </p:txBody>
          </p:sp>
          <p:sp>
            <p:nvSpPr>
              <p:cNvPr id="8" name="テキスト ボックス 7"/>
              <p:cNvSpPr txBox="1"/>
              <p:nvPr/>
            </p:nvSpPr>
            <p:spPr>
              <a:xfrm>
                <a:off x="786742" y="5257314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 smtClean="0"/>
                  <a:t>目的</a:t>
                </a:r>
                <a:r>
                  <a:rPr lang="en-US" altLang="ja-JP" sz="3200" dirty="0"/>
                  <a:t>2</a:t>
                </a:r>
                <a:endParaRPr kumimoji="1" lang="ja-JP" altLang="en-US" sz="3200" dirty="0" smtClean="0"/>
              </a:p>
            </p:txBody>
          </p:sp>
        </p:grpSp>
        <p:sp>
          <p:nvSpPr>
            <p:cNvPr id="9" name="角丸四角形 8"/>
            <p:cNvSpPr/>
            <p:nvPr/>
          </p:nvSpPr>
          <p:spPr>
            <a:xfrm>
              <a:off x="352507" y="3031528"/>
              <a:ext cx="3878862" cy="3591879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kumimoji="1" lang="en-US" altLang="ja-JP" sz="2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1162879" y="2789373"/>
              <a:ext cx="2258119" cy="523220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タスク</a:t>
              </a:r>
              <a:r>
                <a:rPr lang="en-US" altLang="ja-JP" sz="2800" dirty="0" smtClean="0"/>
                <a:t>A</a:t>
              </a:r>
              <a:endParaRPr kumimoji="1" lang="ja-JP" altLang="en-US" sz="2800" dirty="0" smtClean="0"/>
            </a:p>
          </p:txBody>
        </p:sp>
      </p:grpSp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 t="1746" r="19123" b="26198"/>
          <a:stretch/>
        </p:blipFill>
        <p:spPr>
          <a:xfrm>
            <a:off x="7206900" y="3495383"/>
            <a:ext cx="958488" cy="1191600"/>
          </a:xfrm>
          <a:prstGeom prst="rect">
            <a:avLst/>
          </a:prstGeom>
        </p:spPr>
      </p:pic>
      <p:grpSp>
        <p:nvGrpSpPr>
          <p:cNvPr id="14" name="グループ化 13"/>
          <p:cNvGrpSpPr/>
          <p:nvPr/>
        </p:nvGrpSpPr>
        <p:grpSpPr>
          <a:xfrm>
            <a:off x="5039139" y="2789373"/>
            <a:ext cx="3878862" cy="3834034"/>
            <a:chOff x="352507" y="2789373"/>
            <a:chExt cx="3878862" cy="3834034"/>
          </a:xfrm>
        </p:grpSpPr>
        <p:grpSp>
          <p:nvGrpSpPr>
            <p:cNvPr id="15" name="グループ化 14"/>
            <p:cNvGrpSpPr/>
            <p:nvPr/>
          </p:nvGrpSpPr>
          <p:grpSpPr>
            <a:xfrm>
              <a:off x="715623" y="3495383"/>
              <a:ext cx="1305695" cy="2295102"/>
              <a:chOff x="786742" y="3546987"/>
              <a:chExt cx="1305695" cy="2295102"/>
            </a:xfrm>
          </p:grpSpPr>
          <p:sp>
            <p:nvSpPr>
              <p:cNvPr id="20" name="テキスト ボックス 19"/>
              <p:cNvSpPr txBox="1"/>
              <p:nvPr/>
            </p:nvSpPr>
            <p:spPr>
              <a:xfrm>
                <a:off x="786742" y="3546987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/>
                  <a:t>目的</a:t>
                </a:r>
                <a:r>
                  <a:rPr kumimoji="1" lang="en-US" altLang="ja-JP" sz="3200" dirty="0" smtClean="0"/>
                  <a:t>1</a:t>
                </a:r>
                <a:endParaRPr kumimoji="1" lang="ja-JP" altLang="en-US" sz="3200" dirty="0" smtClean="0"/>
              </a:p>
            </p:txBody>
          </p:sp>
          <p:sp>
            <p:nvSpPr>
              <p:cNvPr id="21" name="テキスト ボックス 20"/>
              <p:cNvSpPr txBox="1"/>
              <p:nvPr/>
            </p:nvSpPr>
            <p:spPr>
              <a:xfrm>
                <a:off x="786742" y="5257314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 smtClean="0"/>
                  <a:t>目的</a:t>
                </a:r>
                <a:r>
                  <a:rPr lang="en-US" altLang="ja-JP" sz="3200" dirty="0"/>
                  <a:t>2</a:t>
                </a:r>
                <a:endParaRPr kumimoji="1" lang="ja-JP" altLang="en-US" sz="3200" dirty="0" smtClean="0"/>
              </a:p>
            </p:txBody>
          </p:sp>
        </p:grpSp>
        <p:sp>
          <p:nvSpPr>
            <p:cNvPr id="16" name="角丸四角形 15"/>
            <p:cNvSpPr/>
            <p:nvPr/>
          </p:nvSpPr>
          <p:spPr>
            <a:xfrm>
              <a:off x="352507" y="3031528"/>
              <a:ext cx="3878862" cy="3591879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kumimoji="1" lang="en-US" altLang="ja-JP" sz="2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162879" y="2789373"/>
              <a:ext cx="2258119" cy="523220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タスク</a:t>
              </a:r>
              <a:r>
                <a:rPr lang="en-US" altLang="ja-JP" sz="2800" dirty="0" smtClean="0"/>
                <a:t>B</a:t>
              </a:r>
              <a:endParaRPr kumimoji="1" lang="ja-JP" altLang="en-US" sz="2800" dirty="0" smtClean="0"/>
            </a:p>
          </p:txBody>
        </p:sp>
      </p:grpSp>
      <p:pic>
        <p:nvPicPr>
          <p:cNvPr id="22" name="図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 t="1746" r="19123" b="26198"/>
          <a:stretch/>
        </p:blipFill>
        <p:spPr>
          <a:xfrm>
            <a:off x="7206900" y="5205580"/>
            <a:ext cx="958488" cy="11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4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提案するベンチマーク問題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異なる多目的ナップサック問題を各タスクと</a:t>
            </a:r>
            <a:r>
              <a:rPr lang="ja-JP" altLang="en-US" dirty="0" smtClean="0"/>
              <a:t>した，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ベンチマーク問題を</a:t>
            </a:r>
            <a:r>
              <a:rPr lang="ja-JP" altLang="en-US" dirty="0"/>
              <a:t>作成する．</a:t>
            </a:r>
            <a:endParaRPr lang="en-US" altLang="ja-JP" dirty="0"/>
          </a:p>
          <a:p>
            <a:r>
              <a:rPr lang="ja-JP" altLang="en-US" b="1" dirty="0" smtClean="0">
                <a:solidFill>
                  <a:schemeClr val="accent1"/>
                </a:solidFill>
              </a:rPr>
              <a:t>タスク</a:t>
            </a:r>
            <a:r>
              <a:rPr lang="en-US" altLang="ja-JP" b="1" dirty="0" smtClean="0">
                <a:solidFill>
                  <a:schemeClr val="accent1"/>
                </a:solidFill>
              </a:rPr>
              <a:t>B</a:t>
            </a:r>
            <a:r>
              <a:rPr lang="ja-JP" altLang="en-US" b="1" dirty="0" smtClean="0">
                <a:solidFill>
                  <a:schemeClr val="accent1"/>
                </a:solidFill>
              </a:rPr>
              <a:t>の</a:t>
            </a:r>
            <a:r>
              <a:rPr lang="ja-JP" altLang="en-US" b="1" dirty="0">
                <a:solidFill>
                  <a:schemeClr val="accent1"/>
                </a:solidFill>
              </a:rPr>
              <a:t>作成方法が異なる</a:t>
            </a:r>
            <a:r>
              <a:rPr lang="ja-JP" altLang="en-US" dirty="0"/>
              <a:t>，以下の</a:t>
            </a:r>
            <a:r>
              <a:rPr lang="en-US" altLang="ja-JP" dirty="0"/>
              <a:t>2</a:t>
            </a:r>
            <a:r>
              <a:rPr lang="ja-JP" altLang="en-US" dirty="0" err="1"/>
              <a:t>つの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ベンチマーク問題を</a:t>
            </a:r>
            <a:r>
              <a:rPr lang="ja-JP" altLang="en-US" dirty="0"/>
              <a:t>提案する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pPr marL="444500" indent="-444500">
              <a:buFont typeface="+mj-lt"/>
              <a:buAutoNum type="arabicPeriod"/>
            </a:pPr>
            <a:r>
              <a:rPr lang="en-US" altLang="ja-JP" b="1" dirty="0" smtClean="0"/>
              <a:t>Scaling</a:t>
            </a:r>
            <a:r>
              <a:rPr lang="ja-JP" altLang="en-US" b="1" dirty="0"/>
              <a:t> </a:t>
            </a:r>
            <a:r>
              <a:rPr lang="en-US" altLang="ja-JP" b="1" dirty="0"/>
              <a:t>Knapsack </a:t>
            </a:r>
            <a:r>
              <a:rPr lang="ja-JP" altLang="en-US" b="1" dirty="0" smtClean="0"/>
              <a:t>問題</a:t>
            </a:r>
            <a:endParaRPr lang="en-US" altLang="ja-JP" b="1" dirty="0" smtClean="0"/>
          </a:p>
          <a:p>
            <a:pPr lvl="1"/>
            <a:r>
              <a:rPr lang="ja-JP" altLang="en-US" dirty="0" smtClean="0"/>
              <a:t>タスク</a:t>
            </a:r>
            <a:r>
              <a:rPr lang="en-US" altLang="ja-JP" dirty="0" smtClean="0"/>
              <a:t>A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ナップサックの</a:t>
            </a:r>
            <a:r>
              <a:rPr lang="ja-JP" altLang="en-US" b="1" u="sng" dirty="0" smtClean="0"/>
              <a:t>容量を変更</a:t>
            </a:r>
            <a:r>
              <a:rPr lang="ja-JP" altLang="en-US" dirty="0" smtClean="0"/>
              <a:t>してタスク</a:t>
            </a:r>
            <a:r>
              <a:rPr lang="en-US" altLang="ja-JP" dirty="0" smtClean="0"/>
              <a:t>B</a:t>
            </a:r>
            <a:r>
              <a:rPr lang="ja-JP" altLang="en-US" dirty="0" smtClean="0"/>
              <a:t>を</a:t>
            </a:r>
            <a:r>
              <a:rPr lang="ja-JP" altLang="en-US" dirty="0" smtClean="0"/>
              <a:t>作成</a:t>
            </a:r>
            <a:endParaRPr lang="en-US" altLang="ja-JP" dirty="0" smtClean="0"/>
          </a:p>
          <a:p>
            <a:pPr marL="444500" indent="-444500">
              <a:buFont typeface="+mj-lt"/>
              <a:buAutoNum type="arabicPeriod"/>
            </a:pPr>
            <a:r>
              <a:rPr lang="en-US" altLang="ja-JP" b="1" dirty="0" smtClean="0"/>
              <a:t>Inversion Profit </a:t>
            </a:r>
            <a:r>
              <a:rPr lang="ja-JP" altLang="en-US" b="1" dirty="0" smtClean="0"/>
              <a:t>問題</a:t>
            </a:r>
            <a:endParaRPr lang="en-US" altLang="ja-JP" b="1" dirty="0" smtClean="0"/>
          </a:p>
          <a:p>
            <a:pPr lvl="1"/>
            <a:r>
              <a:rPr lang="ja-JP" altLang="en-US" dirty="0" smtClean="0"/>
              <a:t>タスク</a:t>
            </a:r>
            <a:r>
              <a:rPr lang="en-US" altLang="ja-JP" dirty="0" smtClean="0"/>
              <a:t>A</a:t>
            </a:r>
            <a:r>
              <a:rPr lang="ja-JP" altLang="en-US" dirty="0" smtClean="0"/>
              <a:t>の</a:t>
            </a:r>
            <a:r>
              <a:rPr lang="ja-JP" altLang="en-US" dirty="0" smtClean="0"/>
              <a:t>一部のアイテムの</a:t>
            </a:r>
            <a:r>
              <a:rPr lang="ja-JP" altLang="en-US" b="1" u="sng" dirty="0" smtClean="0"/>
              <a:t>価値を変更</a:t>
            </a:r>
            <a:r>
              <a:rPr lang="ja-JP" altLang="en-US" dirty="0" smtClean="0"/>
              <a:t>してタスク</a:t>
            </a:r>
            <a:r>
              <a:rPr lang="en-US" altLang="ja-JP" dirty="0" smtClean="0"/>
              <a:t>B</a:t>
            </a:r>
            <a:r>
              <a:rPr lang="ja-JP" altLang="en-US" dirty="0" smtClean="0"/>
              <a:t>を</a:t>
            </a:r>
            <a:r>
              <a:rPr lang="ja-JP" altLang="en-US" dirty="0" smtClean="0"/>
              <a:t>作成</a:t>
            </a:r>
            <a:endParaRPr lang="en-US" altLang="ja-JP" dirty="0" smtClean="0"/>
          </a:p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134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提案するベンチマーク問題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A</a:t>
            </a:r>
            <a:r>
              <a:rPr kumimoji="1" lang="ja-JP" altLang="en-US" dirty="0" smtClean="0"/>
              <a:t>の</a:t>
            </a:r>
            <a:r>
              <a:rPr kumimoji="1" lang="ja-JP" altLang="en-US" dirty="0" smtClean="0"/>
              <a:t>ナップサックの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容量を</a:t>
            </a:r>
            <a:r>
              <a:rPr kumimoji="1" lang="en-US" altLang="ja-JP" b="1" i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a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倍に拡張</a:t>
            </a:r>
            <a:r>
              <a:rPr lang="ja-JP" altLang="en-US" dirty="0" smtClean="0"/>
              <a:t>して，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タスク</a:t>
            </a:r>
            <a:r>
              <a:rPr lang="en-US" altLang="ja-JP" dirty="0" smtClean="0"/>
              <a:t>B</a:t>
            </a:r>
            <a:r>
              <a:rPr lang="ja-JP" altLang="en-US" dirty="0" smtClean="0"/>
              <a:t>を</a:t>
            </a:r>
            <a:r>
              <a:rPr lang="ja-JP" altLang="en-US" dirty="0" smtClean="0"/>
              <a:t>作成する</a:t>
            </a:r>
            <a:r>
              <a:rPr kumimoji="1" lang="ja-JP" altLang="en-US" dirty="0" smtClean="0"/>
              <a:t>．</a:t>
            </a:r>
            <a:endParaRPr kumimoji="1" lang="en-US" altLang="ja-JP" dirty="0" smtClean="0"/>
          </a:p>
          <a:p>
            <a:r>
              <a:rPr lang="ja-JP" altLang="en-US" dirty="0" smtClean="0"/>
              <a:t>タスク</a:t>
            </a:r>
            <a:r>
              <a:rPr lang="en-US" altLang="ja-JP" dirty="0" smtClean="0"/>
              <a:t>B</a:t>
            </a:r>
            <a:r>
              <a:rPr lang="ja-JP" altLang="en-US" dirty="0" smtClean="0"/>
              <a:t>がタスク</a:t>
            </a:r>
            <a:r>
              <a:rPr lang="en-US" altLang="ja-JP" dirty="0" smtClean="0"/>
              <a:t>A</a:t>
            </a:r>
            <a:r>
              <a:rPr lang="ja-JP" altLang="en-US" dirty="0" smtClean="0"/>
              <a:t>を</a:t>
            </a:r>
            <a:r>
              <a:rPr lang="ja-JP" altLang="en-US" b="1" dirty="0">
                <a:solidFill>
                  <a:schemeClr val="accent1"/>
                </a:solidFill>
              </a:rPr>
              <a:t>包含する</a:t>
            </a:r>
            <a:r>
              <a:rPr lang="ja-JP" altLang="en-US" dirty="0"/>
              <a:t>ことが予想される．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1. 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82977" y="322850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A</a:t>
            </a:r>
            <a:endParaRPr kumimoji="1" lang="ja-JP" altLang="en-US" sz="32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33274" y="322850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B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6067279" y="4030981"/>
            <a:ext cx="857778" cy="2604177"/>
            <a:chOff x="5431324" y="3645726"/>
            <a:chExt cx="857778" cy="2604177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431324" y="3645726"/>
              <a:ext cx="857778" cy="1136358"/>
            </a:xfrm>
            <a:prstGeom prst="rect">
              <a:avLst/>
            </a:prstGeom>
          </p:spPr>
        </p:pic>
        <p:pic>
          <p:nvPicPr>
            <p:cNvPr id="15" name="図 1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431324" y="5113545"/>
              <a:ext cx="857778" cy="1136358"/>
            </a:xfrm>
            <a:prstGeom prst="rect">
              <a:avLst/>
            </a:prstGeom>
          </p:spPr>
        </p:pic>
      </p:grpSp>
      <p:grpSp>
        <p:nvGrpSpPr>
          <p:cNvPr id="11" name="グループ化 10"/>
          <p:cNvGrpSpPr/>
          <p:nvPr/>
        </p:nvGrpSpPr>
        <p:grpSpPr>
          <a:xfrm>
            <a:off x="1287530" y="4301722"/>
            <a:ext cx="573571" cy="2288208"/>
            <a:chOff x="1287530" y="4385542"/>
            <a:chExt cx="573571" cy="2288208"/>
          </a:xfrm>
        </p:grpSpPr>
        <p:pic>
          <p:nvPicPr>
            <p:cNvPr id="16" name="図 1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287530" y="4385542"/>
              <a:ext cx="573571" cy="759847"/>
            </a:xfrm>
            <a:prstGeom prst="rect">
              <a:avLst/>
            </a:prstGeom>
          </p:spPr>
        </p:pic>
        <p:pic>
          <p:nvPicPr>
            <p:cNvPr id="17" name="図 1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287530" y="5913903"/>
              <a:ext cx="573571" cy="759847"/>
            </a:xfrm>
            <a:prstGeom prst="rect">
              <a:avLst/>
            </a:prstGeom>
          </p:spPr>
        </p:pic>
      </p:grpSp>
      <p:grpSp>
        <p:nvGrpSpPr>
          <p:cNvPr id="20" name="グループ化 19"/>
          <p:cNvGrpSpPr/>
          <p:nvPr/>
        </p:nvGrpSpPr>
        <p:grpSpPr>
          <a:xfrm>
            <a:off x="2795106" y="4022399"/>
            <a:ext cx="2338168" cy="2601858"/>
            <a:chOff x="2784609" y="4106219"/>
            <a:chExt cx="2338168" cy="2601858"/>
          </a:xfrm>
        </p:grpSpPr>
        <p:grpSp>
          <p:nvGrpSpPr>
            <p:cNvPr id="12" name="グループ化 11"/>
            <p:cNvGrpSpPr/>
            <p:nvPr/>
          </p:nvGrpSpPr>
          <p:grpSpPr>
            <a:xfrm>
              <a:off x="2784609" y="4106219"/>
              <a:ext cx="2338168" cy="1152810"/>
              <a:chOff x="2830329" y="3530464"/>
              <a:chExt cx="2338168" cy="1152810"/>
            </a:xfrm>
          </p:grpSpPr>
          <p:sp>
            <p:nvSpPr>
              <p:cNvPr id="13" name="右矢印 12"/>
              <p:cNvSpPr/>
              <p:nvPr/>
            </p:nvSpPr>
            <p:spPr>
              <a:xfrm>
                <a:off x="2830329" y="4045614"/>
                <a:ext cx="2338168" cy="637660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" name="テキスト ボックス 2"/>
              <p:cNvSpPr txBox="1"/>
              <p:nvPr/>
            </p:nvSpPr>
            <p:spPr>
              <a:xfrm>
                <a:off x="3197829" y="3530464"/>
                <a:ext cx="1603169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>
                    <a:latin typeface="Symbol" panose="05050102010706020507" pitchFamily="18" charset="2"/>
                  </a:rPr>
                  <a:t>a</a:t>
                </a:r>
                <a:r>
                  <a:rPr lang="ja-JP" altLang="en-US" sz="2800" dirty="0" smtClean="0"/>
                  <a:t>倍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10" name="グループ化 9"/>
            <p:cNvGrpSpPr/>
            <p:nvPr/>
          </p:nvGrpSpPr>
          <p:grpSpPr>
            <a:xfrm>
              <a:off x="2784609" y="5555267"/>
              <a:ext cx="2338168" cy="1152810"/>
              <a:chOff x="2830329" y="5799107"/>
              <a:chExt cx="2338168" cy="1152810"/>
            </a:xfrm>
          </p:grpSpPr>
          <p:sp>
            <p:nvSpPr>
              <p:cNvPr id="18" name="右矢印 17"/>
              <p:cNvSpPr/>
              <p:nvPr/>
            </p:nvSpPr>
            <p:spPr>
              <a:xfrm>
                <a:off x="2830329" y="6314257"/>
                <a:ext cx="2338168" cy="637660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テキスト ボックス 18"/>
              <p:cNvSpPr txBox="1"/>
              <p:nvPr/>
            </p:nvSpPr>
            <p:spPr>
              <a:xfrm>
                <a:off x="3197829" y="5799107"/>
                <a:ext cx="1603169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>
                    <a:latin typeface="Symbol" panose="05050102010706020507" pitchFamily="18" charset="2"/>
                  </a:rPr>
                  <a:t>a</a:t>
                </a:r>
                <a:r>
                  <a:rPr lang="ja-JP" altLang="en-US" sz="2800" dirty="0" smtClean="0"/>
                  <a:t>倍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7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提案するベンチマーク問題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A</a:t>
            </a:r>
            <a:r>
              <a:rPr kumimoji="1" lang="ja-JP" altLang="en-US" dirty="0" smtClean="0"/>
              <a:t>の</a:t>
            </a:r>
            <a:r>
              <a:rPr kumimoji="1" lang="ja-JP" altLang="en-US" dirty="0" smtClean="0"/>
              <a:t>アイテム集合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の，</a:t>
            </a:r>
            <a:r>
              <a:rPr lang="en-US" altLang="ja-JP" b="1" i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b </a:t>
            </a:r>
            <a:r>
              <a:rPr lang="en-US" altLang="ja-JP" b="1" dirty="0" smtClean="0">
                <a:solidFill>
                  <a:schemeClr val="accent1"/>
                </a:solidFill>
              </a:rPr>
              <a:t>%</a:t>
            </a:r>
            <a:r>
              <a:rPr lang="ja-JP" altLang="en-US" b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のアイテム</a:t>
            </a:r>
            <a:r>
              <a:rPr lang="ja-JP" altLang="en-US" b="1" dirty="0">
                <a:solidFill>
                  <a:schemeClr val="accent1"/>
                </a:solidFill>
                <a:latin typeface="Symbol" panose="05050102010706020507" pitchFamily="18" charset="2"/>
              </a:rPr>
              <a:t>の</a:t>
            </a:r>
            <a:r>
              <a:rPr lang="en-US" altLang="ja-JP" b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/>
            </a:r>
            <a:br>
              <a:rPr lang="en-US" altLang="ja-JP" b="1" dirty="0" smtClean="0">
                <a:solidFill>
                  <a:schemeClr val="accent1"/>
                </a:solidFill>
                <a:latin typeface="Symbol" panose="05050102010706020507" pitchFamily="18" charset="2"/>
              </a:rPr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価値を</a:t>
            </a:r>
            <a:r>
              <a:rPr lang="ja-JP" altLang="en-US" b="1" dirty="0" smtClean="0">
                <a:solidFill>
                  <a:schemeClr val="accent1"/>
                </a:solidFill>
              </a:rPr>
              <a:t>反転</a:t>
            </a:r>
            <a:r>
              <a:rPr lang="ja-JP" altLang="en-US" dirty="0" smtClean="0"/>
              <a:t>して</a:t>
            </a:r>
            <a:r>
              <a:rPr lang="ja-JP" altLang="en-US" dirty="0" smtClean="0"/>
              <a:t>，タスク</a:t>
            </a:r>
            <a:r>
              <a:rPr lang="en-US" altLang="ja-JP" dirty="0" smtClean="0"/>
              <a:t>B</a:t>
            </a:r>
            <a:r>
              <a:rPr lang="ja-JP" altLang="en-US" dirty="0" smtClean="0"/>
              <a:t>を</a:t>
            </a:r>
            <a:r>
              <a:rPr lang="ja-JP" altLang="en-US" dirty="0" smtClean="0"/>
              <a:t>作成する．</a:t>
            </a:r>
            <a:endParaRPr lang="en-US" altLang="ja-JP" dirty="0" smtClean="0"/>
          </a:p>
          <a:p>
            <a:r>
              <a:rPr lang="ja-JP" altLang="en-US" dirty="0"/>
              <a:t>タスク間</a:t>
            </a:r>
            <a:r>
              <a:rPr lang="ja-JP" altLang="en-US" dirty="0" smtClean="0"/>
              <a:t>で</a:t>
            </a:r>
            <a:r>
              <a:rPr lang="ja-JP" altLang="en-US" b="1" dirty="0" smtClean="0">
                <a:solidFill>
                  <a:schemeClr val="accent1"/>
                </a:solidFill>
              </a:rPr>
              <a:t>共有する部分</a:t>
            </a:r>
            <a:r>
              <a:rPr lang="ja-JP" altLang="en-US" dirty="0"/>
              <a:t>があると予想される．</a:t>
            </a:r>
          </a:p>
          <a:p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 smtClean="0"/>
              <a:t>. 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550780"/>
              </p:ext>
            </p:extLst>
          </p:nvPr>
        </p:nvGraphicFramePr>
        <p:xfrm>
          <a:off x="819900" y="43446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815697"/>
              </p:ext>
            </p:extLst>
          </p:nvPr>
        </p:nvGraphicFramePr>
        <p:xfrm>
          <a:off x="819900" y="5594570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06873"/>
              </p:ext>
            </p:extLst>
          </p:nvPr>
        </p:nvGraphicFramePr>
        <p:xfrm>
          <a:off x="5453117" y="43446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744534"/>
              </p:ext>
            </p:extLst>
          </p:nvPr>
        </p:nvGraphicFramePr>
        <p:xfrm>
          <a:off x="5453117" y="5594570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pSp>
        <p:nvGrpSpPr>
          <p:cNvPr id="2" name="グループ化 1"/>
          <p:cNvGrpSpPr/>
          <p:nvPr/>
        </p:nvGrpSpPr>
        <p:grpSpPr>
          <a:xfrm>
            <a:off x="3775104" y="3843153"/>
            <a:ext cx="1603169" cy="947526"/>
            <a:chOff x="3909318" y="3180445"/>
            <a:chExt cx="1603169" cy="947526"/>
          </a:xfrm>
        </p:grpSpPr>
        <p:sp>
          <p:nvSpPr>
            <p:cNvPr id="14" name="右矢印 13"/>
            <p:cNvSpPr/>
            <p:nvPr/>
          </p:nvSpPr>
          <p:spPr>
            <a:xfrm>
              <a:off x="4286677" y="37540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3909318" y="3180445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>
                  <a:latin typeface="Symbol" panose="05050102010706020507" pitchFamily="18" charset="2"/>
                </a:rPr>
                <a:t>反転なし</a:t>
              </a:r>
              <a:endParaRPr kumimoji="1" lang="ja-JP" altLang="en-US" sz="2800" dirty="0" smtClean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3760888" y="5080447"/>
            <a:ext cx="1631601" cy="947526"/>
            <a:chOff x="3880886" y="3180445"/>
            <a:chExt cx="1631601" cy="947526"/>
          </a:xfrm>
        </p:grpSpPr>
        <p:sp>
          <p:nvSpPr>
            <p:cNvPr id="17" name="右矢印 16"/>
            <p:cNvSpPr/>
            <p:nvPr/>
          </p:nvSpPr>
          <p:spPr>
            <a:xfrm>
              <a:off x="4272461" y="37540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3880886" y="3180445"/>
              <a:ext cx="163160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6</a:t>
              </a:r>
              <a:r>
                <a:rPr lang="en-US" altLang="ja-JP" sz="2800" dirty="0"/>
                <a:t>0</a:t>
              </a:r>
              <a:r>
                <a:rPr lang="en-US" altLang="ja-JP" sz="2800" dirty="0" smtClean="0"/>
                <a:t>%</a:t>
              </a:r>
              <a:r>
                <a:rPr lang="ja-JP" altLang="en-US" sz="2800" dirty="0" smtClean="0">
                  <a:latin typeface="Symbol" panose="05050102010706020507" pitchFamily="18" charset="2"/>
                </a:rPr>
                <a:t>反転</a:t>
              </a:r>
              <a:endParaRPr kumimoji="1" lang="ja-JP" altLang="en-US" sz="2800" dirty="0" smtClean="0"/>
            </a:p>
          </p:txBody>
        </p:sp>
      </p:grpSp>
      <p:sp>
        <p:nvSpPr>
          <p:cNvPr id="22" name="テキスト ボックス 21"/>
          <p:cNvSpPr txBox="1"/>
          <p:nvPr/>
        </p:nvSpPr>
        <p:spPr>
          <a:xfrm>
            <a:off x="314893" y="384413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14893" y="5074455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/>
              <a:t>2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82977" y="322850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A</a:t>
            </a:r>
            <a:endParaRPr kumimoji="1" lang="ja-JP" altLang="en-US" sz="3200" dirty="0" smtClean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133274" y="322850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B</a:t>
            </a:r>
            <a:endParaRPr kumimoji="1" lang="ja-JP" altLang="en-US" sz="3200" dirty="0" smtClean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029516" y="6233961"/>
            <a:ext cx="2885884" cy="46166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価値</a:t>
            </a:r>
            <a:r>
              <a:rPr lang="ja-JP" altLang="en-US" sz="2400" dirty="0"/>
              <a:t>が</a:t>
            </a:r>
            <a:r>
              <a:rPr lang="en-US" altLang="ja-JP" sz="2400" dirty="0" smtClean="0"/>
              <a:t>[1</a:t>
            </a:r>
            <a:r>
              <a:rPr lang="ja-JP" altLang="en-US" sz="2400" dirty="0" smtClean="0"/>
              <a:t>～</a:t>
            </a:r>
            <a:r>
              <a:rPr lang="en-US" altLang="ja-JP" sz="2400" dirty="0" smtClean="0"/>
              <a:t>5]</a:t>
            </a:r>
            <a:r>
              <a:rPr lang="ja-JP" altLang="en-US" sz="2400" dirty="0" smtClean="0"/>
              <a:t>の場合</a:t>
            </a:r>
            <a:endParaRPr lang="en-US" altLang="ja-JP" sz="2400" dirty="0" smtClean="0"/>
          </a:p>
        </p:txBody>
      </p:sp>
    </p:spTree>
    <p:extLst>
      <p:ext uri="{BB962C8B-B14F-4D97-AF65-F5344CB8AC3E}">
        <p14:creationId xmlns:p14="http://schemas.microsoft.com/office/powerpoint/2010/main" val="251722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タスク間の</a:t>
            </a:r>
            <a:r>
              <a:rPr lang="ja-JP" altLang="en-US" dirty="0"/>
              <a:t>関係性</a:t>
            </a:r>
            <a:r>
              <a:rPr lang="ja-JP" altLang="en-US" dirty="0" smtClean="0"/>
              <a:t>の調査</a:t>
            </a:r>
            <a:endParaRPr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タスク間の関係性を調べるため，各タスクの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近似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最適解の比較を行う．</a:t>
            </a:r>
            <a:endParaRPr kumimoji="1" lang="en-US" altLang="ja-JP" dirty="0" smtClean="0"/>
          </a:p>
          <a:p>
            <a:endParaRPr lang="en-US" altLang="ja-JP" b="1" dirty="0"/>
          </a:p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実験方法</a:t>
            </a:r>
            <a:r>
              <a:rPr kumimoji="1" lang="en-US" altLang="ja-JP" b="1" dirty="0" smtClean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各タスクで独立探索を行い，最適解集合を</a:t>
            </a:r>
            <a:r>
              <a:rPr lang="ja-JP" altLang="en-US" sz="2800" dirty="0"/>
              <a:t>獲得</a:t>
            </a:r>
            <a:r>
              <a:rPr kumimoji="1" lang="ja-JP" altLang="en-US" sz="2800" dirty="0" smtClean="0"/>
              <a:t>する．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得られた最適解集合の間で，選択されるアイテム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集合がどのように異なるか比較する．</a:t>
            </a:r>
            <a:endParaRPr lang="en-US" altLang="ja-JP" sz="2800" dirty="0" smtClean="0"/>
          </a:p>
          <a:p>
            <a:endParaRPr kumimoji="1" lang="en-US" altLang="ja-JP" sz="2800" dirty="0"/>
          </a:p>
          <a:p>
            <a:r>
              <a:rPr lang="ja-JP" altLang="en-US" dirty="0" smtClean="0"/>
              <a:t>本実験では</a:t>
            </a:r>
            <a:r>
              <a:rPr lang="ja-JP" altLang="en-US" dirty="0" smtClean="0"/>
              <a:t>，タスク</a:t>
            </a:r>
            <a:r>
              <a:rPr lang="en-US" altLang="ja-JP" dirty="0" smtClean="0"/>
              <a:t>B</a:t>
            </a:r>
            <a:r>
              <a:rPr lang="ja-JP" altLang="en-US" dirty="0" smtClean="0"/>
              <a:t>の</a:t>
            </a:r>
            <a:r>
              <a:rPr lang="ja-JP" altLang="en-US" dirty="0" smtClean="0"/>
              <a:t>各解について，最も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類似</a:t>
            </a:r>
            <a:r>
              <a:rPr lang="ja-JP" altLang="en-US" dirty="0" smtClean="0"/>
              <a:t>するタスク</a:t>
            </a:r>
            <a:r>
              <a:rPr lang="en-US" altLang="ja-JP" dirty="0" smtClean="0"/>
              <a:t>A</a:t>
            </a:r>
            <a:r>
              <a:rPr lang="ja-JP" altLang="en-US" dirty="0" smtClean="0"/>
              <a:t>の</a:t>
            </a:r>
            <a:r>
              <a:rPr lang="ja-JP" altLang="en-US" dirty="0" smtClean="0"/>
              <a:t>解との差異を調査する．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605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&lt;</a:t>
            </a:r>
            <a:r>
              <a:rPr lang="ja-JP" altLang="en-US" b="1" dirty="0"/>
              <a:t>解の類似性の比較方法</a:t>
            </a:r>
            <a:r>
              <a:rPr lang="en-US" altLang="ja-JP" b="1" dirty="0"/>
              <a:t>&gt;</a:t>
            </a:r>
            <a:endParaRPr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689797"/>
              </p:ext>
            </p:extLst>
          </p:nvPr>
        </p:nvGraphicFramePr>
        <p:xfrm>
          <a:off x="1330539" y="355541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381082" y="2104014"/>
            <a:ext cx="311114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B</a:t>
            </a:r>
            <a:r>
              <a:rPr kumimoji="1" lang="ja-JP" altLang="en-US" sz="3200" dirty="0" smtClean="0"/>
              <a:t>の</a:t>
            </a:r>
            <a:r>
              <a:rPr kumimoji="1" lang="ja-JP" altLang="en-US" sz="3200" dirty="0" smtClean="0"/>
              <a:t>最適解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15057" y="2104014"/>
            <a:ext cx="316045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A</a:t>
            </a:r>
            <a:r>
              <a:rPr kumimoji="1" lang="ja-JP" altLang="en-US" sz="3200" dirty="0" smtClean="0"/>
              <a:t>の</a:t>
            </a:r>
            <a:r>
              <a:rPr kumimoji="1" lang="ja-JP" altLang="en-US" sz="3200" dirty="0" smtClean="0"/>
              <a:t>最適解</a:t>
            </a:r>
          </a:p>
        </p:txBody>
      </p:sp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585609"/>
              </p:ext>
            </p:extLst>
          </p:nvPr>
        </p:nvGraphicFramePr>
        <p:xfrm>
          <a:off x="1330539" y="468112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5" name="表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471153"/>
              </p:ext>
            </p:extLst>
          </p:nvPr>
        </p:nvGraphicFramePr>
        <p:xfrm>
          <a:off x="6133013" y="468365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382977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2977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21295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21295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graphicFrame>
        <p:nvGraphicFramePr>
          <p:cNvPr id="25" name="表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364074"/>
              </p:ext>
            </p:extLst>
          </p:nvPr>
        </p:nvGraphicFramePr>
        <p:xfrm>
          <a:off x="6133013" y="355035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4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解の類似性の比較方法</a:t>
            </a:r>
            <a:r>
              <a:rPr lang="en-US" altLang="ja-JP" b="1" dirty="0"/>
              <a:t>&gt;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136823"/>
              </p:ext>
            </p:extLst>
          </p:nvPr>
        </p:nvGraphicFramePr>
        <p:xfrm>
          <a:off x="1330539" y="355541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3" name="表 12"/>
          <p:cNvGraphicFramePr>
            <a:graphicFrameLocks noGrp="1"/>
          </p:cNvGraphicFramePr>
          <p:nvPr>
            <p:extLst/>
          </p:nvPr>
        </p:nvGraphicFramePr>
        <p:xfrm>
          <a:off x="1330539" y="468112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5" name="表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439709"/>
              </p:ext>
            </p:extLst>
          </p:nvPr>
        </p:nvGraphicFramePr>
        <p:xfrm>
          <a:off x="6133013" y="468365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382977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kumimoji="1" lang="en-US" altLang="ja-JP" sz="2800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2977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21295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21295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lang="en-US" altLang="ja-JP" sz="2800" b="1" dirty="0">
                <a:solidFill>
                  <a:schemeClr val="accent1"/>
                </a:solidFill>
              </a:rPr>
              <a:t>2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4049586" y="3865697"/>
            <a:ext cx="1057809" cy="107451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 24"/>
          <p:cNvGraphicFramePr>
            <a:graphicFrameLocks noGrp="1"/>
          </p:cNvGraphicFramePr>
          <p:nvPr>
            <p:extLst/>
          </p:nvPr>
        </p:nvGraphicFramePr>
        <p:xfrm>
          <a:off x="6133013" y="355035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28" name="テキスト ボックス 27"/>
          <p:cNvSpPr txBox="1"/>
          <p:nvPr/>
        </p:nvSpPr>
        <p:spPr>
          <a:xfrm>
            <a:off x="3941923" y="3159593"/>
            <a:ext cx="127313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比較</a:t>
            </a: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704884" y="5524680"/>
            <a:ext cx="5734232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kumimoji="1" lang="en-US" altLang="ja-JP" sz="2800" dirty="0" smtClean="0"/>
              <a:t>B</a:t>
            </a:r>
            <a:r>
              <a:rPr lang="ja-JP" altLang="en-US" sz="2800" dirty="0" smtClean="0"/>
              <a:t>に</a:t>
            </a:r>
            <a:r>
              <a:rPr lang="ja-JP" altLang="en-US" sz="2800" dirty="0" smtClean="0"/>
              <a:t>のみ含まれるアイテム数：</a:t>
            </a:r>
            <a:r>
              <a:rPr lang="en-US" altLang="ja-JP" sz="2800" b="1" dirty="0" smtClean="0">
                <a:solidFill>
                  <a:schemeClr val="accent2"/>
                </a:solidFill>
              </a:rPr>
              <a:t>2</a:t>
            </a:r>
          </a:p>
          <a:p>
            <a:pPr algn="ctr"/>
            <a:r>
              <a:rPr lang="ja-JP" altLang="en-US" sz="2800" dirty="0" smtClean="0"/>
              <a:t>タスク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に</a:t>
            </a:r>
            <a:r>
              <a:rPr lang="ja-JP" altLang="en-US" sz="2800" dirty="0"/>
              <a:t>のみ含まれるアイテム数：</a:t>
            </a:r>
            <a:r>
              <a:rPr lang="en-US" altLang="ja-JP" sz="2800" b="1" dirty="0" smtClean="0">
                <a:solidFill>
                  <a:schemeClr val="accent1"/>
                </a:solidFill>
              </a:rPr>
              <a:t>1</a:t>
            </a:r>
            <a:endParaRPr lang="en-US" altLang="ja-JP" sz="2800" b="1" dirty="0">
              <a:solidFill>
                <a:schemeClr val="accent1"/>
              </a:solidFill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81082" y="2104014"/>
            <a:ext cx="311114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B</a:t>
            </a:r>
            <a:r>
              <a:rPr kumimoji="1" lang="ja-JP" altLang="en-US" sz="3200" dirty="0" smtClean="0"/>
              <a:t>の</a:t>
            </a:r>
            <a:r>
              <a:rPr kumimoji="1" lang="ja-JP" altLang="en-US" sz="3200" dirty="0" smtClean="0"/>
              <a:t>最適解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215057" y="2104014"/>
            <a:ext cx="316045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A</a:t>
            </a:r>
            <a:r>
              <a:rPr kumimoji="1" lang="ja-JP" altLang="en-US" sz="3200" dirty="0" smtClean="0"/>
              <a:t>の</a:t>
            </a:r>
            <a:r>
              <a:rPr kumimoji="1" lang="ja-JP" altLang="en-US" sz="3200" dirty="0" smtClean="0"/>
              <a:t>最適解</a:t>
            </a:r>
          </a:p>
        </p:txBody>
      </p:sp>
    </p:spTree>
    <p:extLst>
      <p:ext uri="{BB962C8B-B14F-4D97-AF65-F5344CB8AC3E}">
        <p14:creationId xmlns:p14="http://schemas.microsoft.com/office/powerpoint/2010/main" val="207863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&lt;</a:t>
            </a:r>
            <a:r>
              <a:rPr lang="ja-JP" altLang="en-US" b="1" dirty="0"/>
              <a:t>解の類似性の比較方法</a:t>
            </a:r>
            <a:r>
              <a:rPr lang="en-US" altLang="ja-JP" b="1" dirty="0"/>
              <a:t>&gt;</a:t>
            </a:r>
            <a:endParaRPr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/>
          </p:nvPr>
        </p:nvGraphicFramePr>
        <p:xfrm>
          <a:off x="1330539" y="355541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547588"/>
              </p:ext>
            </p:extLst>
          </p:nvPr>
        </p:nvGraphicFramePr>
        <p:xfrm>
          <a:off x="1330539" y="468112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5" name="表 14"/>
          <p:cNvGraphicFramePr>
            <a:graphicFrameLocks noGrp="1"/>
          </p:cNvGraphicFramePr>
          <p:nvPr>
            <p:extLst/>
          </p:nvPr>
        </p:nvGraphicFramePr>
        <p:xfrm>
          <a:off x="6133013" y="468365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382977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2977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lang="en-US" altLang="ja-JP" sz="2800" b="1" dirty="0">
                <a:solidFill>
                  <a:schemeClr val="accent1"/>
                </a:solidFill>
              </a:rPr>
              <a:t>2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21295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kumimoji="1" lang="en-US" altLang="ja-JP" sz="2800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21295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cxnSp>
        <p:nvCxnSpPr>
          <p:cNvPr id="24" name="直線矢印コネクタ 23"/>
          <p:cNvCxnSpPr/>
          <p:nvPr/>
        </p:nvCxnSpPr>
        <p:spPr>
          <a:xfrm rot="27000000">
            <a:off x="4049586" y="3865697"/>
            <a:ext cx="1057809" cy="107451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22779"/>
              </p:ext>
            </p:extLst>
          </p:nvPr>
        </p:nvGraphicFramePr>
        <p:xfrm>
          <a:off x="6133013" y="355035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28" name="テキスト ボックス 27"/>
          <p:cNvSpPr txBox="1"/>
          <p:nvPr/>
        </p:nvSpPr>
        <p:spPr>
          <a:xfrm>
            <a:off x="3941923" y="3159593"/>
            <a:ext cx="127313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比較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704884" y="5524680"/>
            <a:ext cx="5734232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kumimoji="1" lang="en-US" altLang="ja-JP" sz="2800" dirty="0" smtClean="0"/>
              <a:t>B</a:t>
            </a:r>
            <a:r>
              <a:rPr lang="ja-JP" altLang="en-US" sz="2800" dirty="0" smtClean="0"/>
              <a:t>に</a:t>
            </a:r>
            <a:r>
              <a:rPr lang="ja-JP" altLang="en-US" sz="2800" dirty="0" smtClean="0"/>
              <a:t>のみ含まれるアイテム数：</a:t>
            </a:r>
            <a:r>
              <a:rPr lang="en-US" altLang="ja-JP" sz="2800" b="1" dirty="0">
                <a:solidFill>
                  <a:schemeClr val="accent2"/>
                </a:solidFill>
              </a:rPr>
              <a:t>1</a:t>
            </a:r>
            <a:endParaRPr lang="en-US" altLang="ja-JP" sz="2800" b="1" dirty="0" smtClean="0">
              <a:solidFill>
                <a:schemeClr val="accent2"/>
              </a:solidFill>
            </a:endParaRPr>
          </a:p>
          <a:p>
            <a:pPr algn="ctr"/>
            <a:r>
              <a:rPr lang="ja-JP" altLang="en-US" sz="2800" dirty="0" smtClean="0"/>
              <a:t>タスク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に</a:t>
            </a:r>
            <a:r>
              <a:rPr lang="ja-JP" altLang="en-US" sz="2800" dirty="0"/>
              <a:t>のみ含まれるアイテム数</a:t>
            </a:r>
            <a:r>
              <a:rPr lang="ja-JP" altLang="en-US" sz="2800" dirty="0" smtClean="0"/>
              <a:t>：</a:t>
            </a:r>
            <a:r>
              <a:rPr lang="en-US" altLang="ja-JP" sz="2800" dirty="0" smtClean="0"/>
              <a:t>0</a:t>
            </a:r>
            <a:endParaRPr lang="en-US" altLang="ja-JP" sz="2800" b="1" dirty="0">
              <a:solidFill>
                <a:schemeClr val="accent1"/>
              </a:solidFill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81082" y="2104014"/>
            <a:ext cx="311114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B</a:t>
            </a:r>
            <a:r>
              <a:rPr kumimoji="1" lang="ja-JP" altLang="en-US" sz="3200" dirty="0" smtClean="0"/>
              <a:t>の</a:t>
            </a:r>
            <a:r>
              <a:rPr kumimoji="1" lang="ja-JP" altLang="en-US" sz="3200" dirty="0" smtClean="0"/>
              <a:t>最適解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215057" y="2104014"/>
            <a:ext cx="316045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A</a:t>
            </a:r>
            <a:r>
              <a:rPr kumimoji="1" lang="ja-JP" altLang="en-US" sz="3200" dirty="0" smtClean="0"/>
              <a:t>の</a:t>
            </a:r>
            <a:r>
              <a:rPr kumimoji="1" lang="ja-JP" altLang="en-US" sz="3200" dirty="0" smtClean="0"/>
              <a:t>最適解</a:t>
            </a:r>
          </a:p>
        </p:txBody>
      </p:sp>
    </p:spTree>
    <p:extLst>
      <p:ext uri="{BB962C8B-B14F-4D97-AF65-F5344CB8AC3E}">
        <p14:creationId xmlns:p14="http://schemas.microsoft.com/office/powerpoint/2010/main" val="15362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b="1" dirty="0" smtClean="0"/>
              <a:t>&lt;</a:t>
            </a:r>
            <a:r>
              <a:rPr lang="ja-JP" altLang="en-US" b="1" dirty="0" smtClean="0"/>
              <a:t>ベンチマーク問題設定</a:t>
            </a:r>
            <a:r>
              <a:rPr lang="en-US" altLang="ja-JP" b="1" dirty="0" smtClean="0"/>
              <a:t>&gt;</a:t>
            </a:r>
          </a:p>
          <a:p>
            <a:pPr algn="l"/>
            <a:endParaRPr lang="en-US" altLang="ja-JP" b="1" dirty="0">
              <a:solidFill>
                <a:schemeClr val="accent2"/>
              </a:solidFill>
            </a:endParaRPr>
          </a:p>
          <a:p>
            <a:pPr algn="l"/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設定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/>
        </p:nvGrpSpPr>
        <p:grpSpPr>
          <a:xfrm>
            <a:off x="228600" y="1946103"/>
            <a:ext cx="9156699" cy="2246769"/>
            <a:chOff x="-12700" y="1536970"/>
            <a:chExt cx="9156699" cy="2277582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-12700" y="1536970"/>
              <a:ext cx="2799675" cy="2277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目的数：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容量倍率</a:t>
              </a:r>
              <a:r>
                <a:rPr lang="en-US" altLang="ja-JP" sz="2800" b="1" i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価値変更割合</a:t>
              </a:r>
              <a:r>
                <a:rPr lang="en-US" altLang="ja-JP" sz="2800" b="1" i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2611872" y="1536970"/>
              <a:ext cx="6532127" cy="22151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2</a:t>
              </a:r>
            </a:p>
            <a:p>
              <a:r>
                <a:rPr lang="en-US" altLang="ja-JP" sz="2800" dirty="0" smtClean="0"/>
                <a:t>500</a:t>
              </a:r>
            </a:p>
            <a:p>
              <a:r>
                <a:rPr lang="ja-JP" altLang="en-US" sz="2800" dirty="0"/>
                <a:t>｛</a:t>
              </a:r>
              <a:r>
                <a:rPr lang="en-US" altLang="ja-JP" sz="2800" dirty="0"/>
                <a:t>1.05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1.1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1.15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1.2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1.25</a:t>
              </a:r>
              <a:r>
                <a:rPr lang="ja-JP" altLang="en-US" sz="2800" dirty="0"/>
                <a:t>｝</a:t>
              </a:r>
              <a:r>
                <a:rPr lang="ja-JP" altLang="en-US" sz="2800" dirty="0" smtClean="0"/>
                <a:t>倍</a:t>
              </a:r>
              <a:endParaRPr lang="en-US" altLang="ja-JP" sz="2800" dirty="0" smtClean="0"/>
            </a:p>
            <a:p>
              <a:r>
                <a:rPr lang="ja-JP" altLang="en-US" sz="2800" dirty="0"/>
                <a:t>｛</a:t>
              </a:r>
              <a:r>
                <a:rPr lang="en-US" altLang="ja-JP" sz="2800" dirty="0"/>
                <a:t>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10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20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25</a:t>
              </a:r>
              <a:r>
                <a:rPr lang="ja-JP" altLang="en-US" sz="2800" dirty="0"/>
                <a:t>｝</a:t>
              </a:r>
              <a:r>
                <a:rPr lang="en-US" altLang="ja-JP" sz="2800" dirty="0"/>
                <a:t>%</a:t>
              </a:r>
            </a:p>
            <a:p>
              <a:endParaRPr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477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b="1" dirty="0" smtClean="0"/>
              <a:t>&lt;</a:t>
            </a:r>
            <a:r>
              <a:rPr lang="ja-JP" altLang="en-US" b="1" dirty="0" smtClean="0"/>
              <a:t>アルゴリズム設定</a:t>
            </a:r>
            <a:r>
              <a:rPr lang="en-US" altLang="ja-JP" b="1" dirty="0" smtClean="0"/>
              <a:t>&gt;</a:t>
            </a:r>
          </a:p>
          <a:p>
            <a:pPr algn="l"/>
            <a:endParaRPr lang="en-US" altLang="ja-JP" dirty="0"/>
          </a:p>
          <a:p>
            <a:pPr algn="l"/>
            <a:endParaRPr lang="en-US" altLang="ja-JP" b="1" dirty="0">
              <a:solidFill>
                <a:schemeClr val="accent2"/>
              </a:solidFill>
            </a:endParaRPr>
          </a:p>
          <a:p>
            <a:pPr algn="l"/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設定</a:t>
            </a:r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228600" y="1946103"/>
            <a:ext cx="9156699" cy="3477875"/>
            <a:chOff x="-12700" y="1536970"/>
            <a:chExt cx="9156699" cy="3525573"/>
          </a:xfrm>
        </p:grpSpPr>
        <p:sp>
          <p:nvSpPr>
            <p:cNvPr id="10" name="テキスト ボックス 9"/>
            <p:cNvSpPr txBox="1"/>
            <p:nvPr/>
          </p:nvSpPr>
          <p:spPr>
            <a:xfrm>
              <a:off x="-12700" y="1536970"/>
              <a:ext cx="2799675" cy="31511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800" b="1" dirty="0">
                  <a:solidFill>
                    <a:schemeClr val="accent2"/>
                  </a:solidFill>
                </a:rPr>
                <a:t>EMOA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 smtClean="0">
                  <a:solidFill>
                    <a:schemeClr val="accent2"/>
                  </a:solidFill>
                </a:rPr>
                <a:t>スカラー化関数： 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個体数： 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近傍サイズ： 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交叉操作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突然変異操作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評価回数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2611872" y="1536970"/>
              <a:ext cx="6532127" cy="35255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MOEA/D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en-US" altLang="ja-JP" sz="2800" dirty="0" err="1" smtClean="0"/>
                <a:t>Tchebycheff</a:t>
              </a:r>
              <a:r>
                <a:rPr lang="ja-JP" altLang="en-US" sz="2800" dirty="0"/>
                <a:t>関数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en-US" altLang="ja-JP" sz="2800" dirty="0" smtClean="0"/>
                <a:t>200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個体数</a:t>
              </a:r>
              <a:r>
                <a:rPr lang="en-US" altLang="ja-JP" sz="2800" dirty="0"/>
                <a:t>/10</a:t>
              </a:r>
              <a:br>
                <a:rPr lang="en-US" altLang="ja-JP" sz="2800" dirty="0"/>
              </a:br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/>
                <a:t>Crossover (</a:t>
              </a:r>
              <a:r>
                <a:rPr lang="ja-JP" altLang="en-US" sz="2800" dirty="0"/>
                <a:t>適用確率：</a:t>
              </a:r>
              <a:r>
                <a:rPr lang="en-US" altLang="ja-JP" sz="2800" dirty="0"/>
                <a:t>0.9)</a:t>
              </a:r>
              <a:br>
                <a:rPr lang="en-US" altLang="ja-JP" sz="2800" dirty="0"/>
              </a:br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/>
                <a:t>Mutation (</a:t>
              </a:r>
              <a:r>
                <a:rPr lang="ja-JP" altLang="en-US" sz="2800" dirty="0"/>
                <a:t>適用確率：</a:t>
              </a:r>
              <a:r>
                <a:rPr lang="en-US" altLang="ja-JP" sz="2800" dirty="0"/>
                <a:t>1/</a:t>
              </a:r>
              <a:r>
                <a:rPr lang="en-US" altLang="ja-JP" sz="2200" dirty="0"/>
                <a:t>(</a:t>
              </a:r>
              <a:r>
                <a:rPr lang="ja-JP" altLang="en-US" sz="2200" dirty="0"/>
                <a:t>アイテム数</a:t>
              </a:r>
              <a:r>
                <a:rPr lang="en-US" altLang="ja-JP" sz="2200" dirty="0"/>
                <a:t>)</a:t>
              </a:r>
              <a:r>
                <a:rPr lang="en-US" altLang="ja-JP" sz="2800" dirty="0"/>
                <a:t>)</a:t>
              </a:r>
              <a:br>
                <a:rPr lang="en-US" altLang="ja-JP" sz="2800" dirty="0"/>
              </a:br>
              <a:r>
                <a:rPr lang="en-US" altLang="ja-JP" sz="2800" dirty="0" smtClean="0"/>
                <a:t>100,000</a:t>
              </a:r>
              <a:r>
                <a:rPr lang="ja-JP" altLang="en-US" sz="2800" dirty="0"/>
                <a:t>回</a:t>
              </a:r>
              <a:endParaRPr lang="en-US" altLang="ja-JP" sz="2800" dirty="0"/>
            </a:p>
            <a:p>
              <a:endParaRPr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6253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図 39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00"/>
          <a:stretch/>
        </p:blipFill>
        <p:spPr>
          <a:xfrm>
            <a:off x="1841707" y="1811442"/>
            <a:ext cx="4216193" cy="366840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1.</a:t>
            </a:r>
            <a:r>
              <a:rPr lang="ja-JP" altLang="en-US" b="1" dirty="0"/>
              <a:t> </a:t>
            </a:r>
            <a:r>
              <a:rPr kumimoji="1" lang="en-US" altLang="ja-JP" b="1" dirty="0" smtClean="0"/>
              <a:t>Scaling</a:t>
            </a:r>
            <a:r>
              <a:rPr kumimoji="1" lang="ja-JP" altLang="en-US" b="1" dirty="0" smtClean="0"/>
              <a:t> </a:t>
            </a:r>
            <a:r>
              <a:rPr kumimoji="1" lang="en-US" altLang="ja-JP" b="1" dirty="0" smtClean="0"/>
              <a:t>Knapsack </a:t>
            </a:r>
            <a:r>
              <a:rPr kumimoji="1" lang="ja-JP" altLang="en-US" b="1" dirty="0" smtClean="0"/>
              <a:t>問題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数値実験結果</a:t>
            </a:r>
            <a:endParaRPr kumimoji="1" lang="ja-JP" altLang="en-US" dirty="0"/>
          </a:p>
        </p:txBody>
      </p:sp>
      <p:grpSp>
        <p:nvGrpSpPr>
          <p:cNvPr id="22" name="グループ化 21"/>
          <p:cNvGrpSpPr/>
          <p:nvPr/>
        </p:nvGrpSpPr>
        <p:grpSpPr>
          <a:xfrm>
            <a:off x="6229349" y="1706521"/>
            <a:ext cx="1899085" cy="4356389"/>
            <a:chOff x="6229349" y="2050905"/>
            <a:chExt cx="1899085" cy="4356389"/>
          </a:xfrm>
        </p:grpSpPr>
        <p:pic>
          <p:nvPicPr>
            <p:cNvPr id="23" name="図 22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79"/>
            <a:stretch/>
          </p:blipFill>
          <p:spPr>
            <a:xfrm>
              <a:off x="6229349" y="2050905"/>
              <a:ext cx="1674787" cy="4356389"/>
            </a:xfrm>
            <a:prstGeom prst="rect">
              <a:avLst/>
            </a:prstGeom>
          </p:spPr>
        </p:pic>
        <p:grpSp>
          <p:nvGrpSpPr>
            <p:cNvPr id="24" name="グループ化 23"/>
            <p:cNvGrpSpPr/>
            <p:nvPr/>
          </p:nvGrpSpPr>
          <p:grpSpPr>
            <a:xfrm>
              <a:off x="6551617" y="2402710"/>
              <a:ext cx="604298" cy="1489695"/>
              <a:chOff x="6363657" y="2225032"/>
              <a:chExt cx="604298" cy="1489695"/>
            </a:xfrm>
          </p:grpSpPr>
          <p:sp>
            <p:nvSpPr>
              <p:cNvPr id="31" name="テキスト ボックス 30"/>
              <p:cNvSpPr txBox="1"/>
              <p:nvPr/>
            </p:nvSpPr>
            <p:spPr>
              <a:xfrm>
                <a:off x="6363657" y="2225032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2" name="テキスト ボックス 31"/>
              <p:cNvSpPr txBox="1"/>
              <p:nvPr/>
            </p:nvSpPr>
            <p:spPr>
              <a:xfrm>
                <a:off x="6363657" y="2497428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3" name="テキスト ボックス 32"/>
              <p:cNvSpPr txBox="1"/>
              <p:nvPr/>
            </p:nvSpPr>
            <p:spPr>
              <a:xfrm>
                <a:off x="6363657" y="2769824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4" name="テキスト ボックス 33"/>
              <p:cNvSpPr txBox="1"/>
              <p:nvPr/>
            </p:nvSpPr>
            <p:spPr>
              <a:xfrm>
                <a:off x="6363657" y="3042220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5" name="テキスト ボックス 34"/>
              <p:cNvSpPr txBox="1"/>
              <p:nvPr/>
            </p:nvSpPr>
            <p:spPr>
              <a:xfrm>
                <a:off x="6363657" y="3314617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</p:grpSp>
        <p:grpSp>
          <p:nvGrpSpPr>
            <p:cNvPr id="25" name="グループ化 24"/>
            <p:cNvGrpSpPr/>
            <p:nvPr/>
          </p:nvGrpSpPr>
          <p:grpSpPr>
            <a:xfrm>
              <a:off x="7182585" y="2448430"/>
              <a:ext cx="945849" cy="1428139"/>
              <a:chOff x="6363657" y="2225032"/>
              <a:chExt cx="604298" cy="1428139"/>
            </a:xfrm>
          </p:grpSpPr>
          <p:sp>
            <p:nvSpPr>
              <p:cNvPr id="26" name="テキスト ボックス 25"/>
              <p:cNvSpPr txBox="1"/>
              <p:nvPr/>
            </p:nvSpPr>
            <p:spPr>
              <a:xfrm>
                <a:off x="6363657" y="2225032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 smtClean="0"/>
                  <a:t>1.05 </a:t>
                </a:r>
                <a:endParaRPr kumimoji="1" lang="ja-JP" altLang="en-US" sz="1600" dirty="0" smtClean="0"/>
              </a:p>
            </p:txBody>
          </p:sp>
          <p:sp>
            <p:nvSpPr>
              <p:cNvPr id="27" name="テキスト ボックス 26"/>
              <p:cNvSpPr txBox="1"/>
              <p:nvPr/>
            </p:nvSpPr>
            <p:spPr>
              <a:xfrm>
                <a:off x="6363657" y="2497428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 smtClean="0"/>
                  <a:t>1.1 </a:t>
                </a:r>
                <a:endParaRPr kumimoji="1" lang="ja-JP" altLang="en-US" sz="1600" dirty="0" smtClean="0"/>
              </a:p>
            </p:txBody>
          </p:sp>
          <p:sp>
            <p:nvSpPr>
              <p:cNvPr id="28" name="テキスト ボックス 27"/>
              <p:cNvSpPr txBox="1"/>
              <p:nvPr/>
            </p:nvSpPr>
            <p:spPr>
              <a:xfrm>
                <a:off x="6363657" y="2769824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1.15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  <p:sp>
            <p:nvSpPr>
              <p:cNvPr id="29" name="テキスト ボックス 28"/>
              <p:cNvSpPr txBox="1"/>
              <p:nvPr/>
            </p:nvSpPr>
            <p:spPr>
              <a:xfrm>
                <a:off x="6363657" y="3042220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</a:t>
                </a:r>
                <a:r>
                  <a:rPr lang="en-US" altLang="ja-JP" sz="1600" dirty="0">
                    <a:cs typeface="Times New Roman" panose="02020603050405020304" pitchFamily="18" charset="0"/>
                  </a:rPr>
                  <a:t>2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  <p:sp>
            <p:nvSpPr>
              <p:cNvPr id="30" name="テキスト ボックス 29"/>
              <p:cNvSpPr txBox="1"/>
              <p:nvPr/>
            </p:nvSpPr>
            <p:spPr>
              <a:xfrm>
                <a:off x="6363657" y="3314617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1.2</a:t>
                </a:r>
                <a:r>
                  <a:rPr lang="en-US" altLang="ja-JP" sz="1600" dirty="0">
                    <a:cs typeface="Times New Roman" panose="02020603050405020304" pitchFamily="18" charset="0"/>
                  </a:rPr>
                  <a:t>5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</p:grpSp>
      </p:grpSp>
      <p:sp>
        <p:nvSpPr>
          <p:cNvPr id="37" name="テキスト ボックス 36"/>
          <p:cNvSpPr txBox="1"/>
          <p:nvPr/>
        </p:nvSpPr>
        <p:spPr>
          <a:xfrm>
            <a:off x="1955678" y="5149129"/>
            <a:ext cx="5041615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A</a:t>
            </a:r>
            <a:r>
              <a:rPr lang="ja-JP" altLang="en-US" sz="2200" dirty="0" smtClean="0"/>
              <a:t>に</a:t>
            </a:r>
            <a:r>
              <a:rPr lang="ja-JP" altLang="en-US" sz="2200" dirty="0" smtClean="0"/>
              <a:t>のみ含まれるアイテム数</a:t>
            </a:r>
            <a:endParaRPr lang="en-US" altLang="ja-JP" sz="2200" dirty="0" smtClean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643795" y="3064018"/>
            <a:ext cx="2217760" cy="110799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B</a:t>
            </a:r>
            <a:r>
              <a:rPr lang="ja-JP" altLang="en-US" sz="2200" dirty="0" smtClean="0"/>
              <a:t>に</a:t>
            </a:r>
            <a:r>
              <a:rPr lang="ja-JP" altLang="en-US" sz="2200" dirty="0" smtClean="0"/>
              <a:t>のみ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含まれる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アイテム数</a:t>
            </a:r>
            <a:endParaRPr lang="en-US" altLang="ja-JP" sz="22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5598" y="5665283"/>
            <a:ext cx="7712805" cy="107721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B</a:t>
            </a:r>
            <a:r>
              <a:rPr lang="ja-JP" altLang="en-US" sz="3200" dirty="0" smtClean="0"/>
              <a:t>は</a:t>
            </a:r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A</a:t>
            </a:r>
            <a:r>
              <a:rPr lang="ja-JP" altLang="en-US" sz="3200" dirty="0" smtClean="0"/>
              <a:t>の</a:t>
            </a:r>
            <a:r>
              <a:rPr lang="ja-JP" altLang="en-US" sz="3200" dirty="0" smtClean="0"/>
              <a:t>アイテムを</a:t>
            </a:r>
            <a:r>
              <a:rPr kumimoji="1" lang="ja-JP" altLang="en-US" sz="3200" b="1" dirty="0" smtClean="0">
                <a:solidFill>
                  <a:schemeClr val="accent1"/>
                </a:solidFill>
              </a:rPr>
              <a:t>ほとんど</a:t>
            </a:r>
            <a:r>
              <a:rPr lang="ja-JP" altLang="en-US" sz="3200" b="1" dirty="0">
                <a:solidFill>
                  <a:schemeClr val="accent1"/>
                </a:solidFill>
              </a:rPr>
              <a:t>選択</a:t>
            </a:r>
            <a:endParaRPr kumimoji="1" lang="en-US" altLang="ja-JP" sz="3200" b="1" dirty="0" smtClean="0">
              <a:solidFill>
                <a:schemeClr val="accent1"/>
              </a:solidFill>
            </a:endParaRPr>
          </a:p>
          <a:p>
            <a:pPr algn="ctr"/>
            <a:r>
              <a:rPr lang="en-US" altLang="ja-JP" sz="3200" i="1" dirty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ja-JP" altLang="en-US" sz="3200" dirty="0" smtClean="0"/>
              <a:t>が大きくなると，異なるアイテム数が増加</a:t>
            </a:r>
            <a:endParaRPr kumimoji="1" lang="en-US" altLang="ja-JP" sz="3200" dirty="0" smtClean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3309469" y="2104790"/>
            <a:ext cx="1498600" cy="2590444"/>
            <a:chOff x="3185644" y="2104790"/>
            <a:chExt cx="1498600" cy="2590444"/>
          </a:xfrm>
        </p:grpSpPr>
        <p:cxnSp>
          <p:nvCxnSpPr>
            <p:cNvPr id="8" name="直線矢印コネクタ 7"/>
            <p:cNvCxnSpPr/>
            <p:nvPr/>
          </p:nvCxnSpPr>
          <p:spPr>
            <a:xfrm flipV="1">
              <a:off x="3934944" y="2635550"/>
              <a:ext cx="0" cy="1528925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/>
            <p:cNvSpPr txBox="1"/>
            <p:nvPr/>
          </p:nvSpPr>
          <p:spPr>
            <a:xfrm>
              <a:off x="3185644" y="4172014"/>
              <a:ext cx="14986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 smtClean="0">
                  <a:solidFill>
                    <a:schemeClr val="accent2"/>
                  </a:solidFill>
                </a:rPr>
                <a:t>小</a:t>
              </a:r>
              <a:endParaRPr kumimoji="1" lang="ja-JP" altLang="en-US" sz="2800" b="1" dirty="0" smtClean="0">
                <a:solidFill>
                  <a:schemeClr val="accent2"/>
                </a:solidFill>
              </a:endParaRPr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3185644" y="2104790"/>
              <a:ext cx="14986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b="1" dirty="0" smtClean="0">
                  <a:solidFill>
                    <a:schemeClr val="accent1"/>
                  </a:solidFill>
                </a:rPr>
                <a:t>大</a:t>
              </a:r>
            </a:p>
          </p:txBody>
        </p:sp>
        <p:sp>
          <p:nvSpPr>
            <p:cNvPr id="42" name="テキスト ボックス 41"/>
            <p:cNvSpPr txBox="1"/>
            <p:nvPr/>
          </p:nvSpPr>
          <p:spPr>
            <a:xfrm>
              <a:off x="3827019" y="3138402"/>
              <a:ext cx="74498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 </a:t>
              </a:r>
              <a:endParaRPr kumimoji="1" lang="ja-JP" altLang="en-US" sz="2800" b="1" dirty="0" smtClean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595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2. Inversion Profit </a:t>
            </a:r>
            <a:r>
              <a:rPr kumimoji="1" lang="ja-JP" altLang="en-US" b="1" dirty="0" smtClean="0"/>
              <a:t>問題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数値実験結果</a:t>
            </a:r>
            <a:endParaRPr kumimoji="1" lang="ja-JP" altLang="en-US" dirty="0"/>
          </a:p>
        </p:txBody>
      </p:sp>
      <p:pic>
        <p:nvPicPr>
          <p:cNvPr id="28" name="図 27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5425"/>
          <a:stretch/>
        </p:blipFill>
        <p:spPr>
          <a:xfrm>
            <a:off x="1748129" y="1744773"/>
            <a:ext cx="4271671" cy="3746495"/>
          </a:xfrm>
          <a:prstGeom prst="rect">
            <a:avLst/>
          </a:prstGeom>
        </p:spPr>
      </p:pic>
      <p:pic>
        <p:nvPicPr>
          <p:cNvPr id="29" name="図 28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57"/>
          <a:stretch/>
        </p:blipFill>
        <p:spPr>
          <a:xfrm>
            <a:off x="6267449" y="1706526"/>
            <a:ext cx="1636687" cy="4356389"/>
          </a:xfrm>
          <a:prstGeom prst="rect">
            <a:avLst/>
          </a:prstGeom>
        </p:spPr>
      </p:pic>
      <p:grpSp>
        <p:nvGrpSpPr>
          <p:cNvPr id="30" name="グループ化 29"/>
          <p:cNvGrpSpPr/>
          <p:nvPr/>
        </p:nvGrpSpPr>
        <p:grpSpPr>
          <a:xfrm>
            <a:off x="6551617" y="2058331"/>
            <a:ext cx="604298" cy="1489695"/>
            <a:chOff x="6363657" y="2225032"/>
            <a:chExt cx="604298" cy="1489695"/>
          </a:xfrm>
        </p:grpSpPr>
        <p:sp>
          <p:nvSpPr>
            <p:cNvPr id="31" name="テキスト ボックス 30"/>
            <p:cNvSpPr txBox="1"/>
            <p:nvPr/>
          </p:nvSpPr>
          <p:spPr>
            <a:xfrm>
              <a:off x="6363657" y="2225032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6363657" y="2497428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33" name="テキスト ボックス 32"/>
            <p:cNvSpPr txBox="1"/>
            <p:nvPr/>
          </p:nvSpPr>
          <p:spPr>
            <a:xfrm>
              <a:off x="6363657" y="2769824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6363657" y="3042220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endParaRPr kumimoji="1" lang="ja-JP" altLang="en-US" sz="2000" dirty="0" smtClean="0"/>
            </a:p>
          </p:txBody>
        </p:sp>
        <p:sp>
          <p:nvSpPr>
            <p:cNvPr id="35" name="テキスト ボックス 34"/>
            <p:cNvSpPr txBox="1"/>
            <p:nvPr/>
          </p:nvSpPr>
          <p:spPr>
            <a:xfrm>
              <a:off x="6363657" y="3314617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</p:grpSp>
      <p:grpSp>
        <p:nvGrpSpPr>
          <p:cNvPr id="36" name="グループ化 35"/>
          <p:cNvGrpSpPr/>
          <p:nvPr/>
        </p:nvGrpSpPr>
        <p:grpSpPr>
          <a:xfrm>
            <a:off x="7182585" y="2104051"/>
            <a:ext cx="945849" cy="1428139"/>
            <a:chOff x="6363657" y="2225032"/>
            <a:chExt cx="604298" cy="1428139"/>
          </a:xfrm>
        </p:grpSpPr>
        <p:sp>
          <p:nvSpPr>
            <p:cNvPr id="37" name="テキスト ボックス 36"/>
            <p:cNvSpPr txBox="1"/>
            <p:nvPr/>
          </p:nvSpPr>
          <p:spPr>
            <a:xfrm>
              <a:off x="6363657" y="2225032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/>
                <a:t>0</a:t>
              </a:r>
              <a:r>
                <a:rPr kumimoji="1" lang="en-US" altLang="ja-JP" sz="1600" dirty="0" smtClean="0"/>
                <a:t>.05 </a:t>
              </a:r>
              <a:endParaRPr kumimoji="1" lang="ja-JP" altLang="en-US" sz="1600" dirty="0" smtClean="0"/>
            </a:p>
          </p:txBody>
        </p:sp>
        <p:sp>
          <p:nvSpPr>
            <p:cNvPr id="38" name="テキスト ボックス 37"/>
            <p:cNvSpPr txBox="1"/>
            <p:nvPr/>
          </p:nvSpPr>
          <p:spPr>
            <a:xfrm>
              <a:off x="6363657" y="2497428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 smtClean="0"/>
                <a:t>0.1 </a:t>
              </a:r>
              <a:endParaRPr kumimoji="1" lang="ja-JP" altLang="en-US" sz="1600" dirty="0" smtClean="0"/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6363657" y="2769824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0.15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  <p:sp>
          <p:nvSpPr>
            <p:cNvPr id="40" name="テキスト ボックス 39"/>
            <p:cNvSpPr txBox="1"/>
            <p:nvPr/>
          </p:nvSpPr>
          <p:spPr>
            <a:xfrm>
              <a:off x="6363657" y="3042220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0.2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  <p:sp>
          <p:nvSpPr>
            <p:cNvPr id="41" name="テキスト ボックス 40"/>
            <p:cNvSpPr txBox="1"/>
            <p:nvPr/>
          </p:nvSpPr>
          <p:spPr>
            <a:xfrm>
              <a:off x="6363657" y="3314617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0.25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</p:grpSp>
      <p:sp>
        <p:nvSpPr>
          <p:cNvPr id="43" name="テキスト ボックス 42"/>
          <p:cNvSpPr txBox="1"/>
          <p:nvPr/>
        </p:nvSpPr>
        <p:spPr>
          <a:xfrm>
            <a:off x="643795" y="3064023"/>
            <a:ext cx="2217760" cy="110799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B</a:t>
            </a:r>
            <a:r>
              <a:rPr lang="ja-JP" altLang="en-US" sz="2200" dirty="0" smtClean="0"/>
              <a:t>に</a:t>
            </a:r>
            <a:r>
              <a:rPr lang="ja-JP" altLang="en-US" sz="2200" dirty="0" smtClean="0"/>
              <a:t>のみ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含まれる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アイテム数</a:t>
            </a:r>
            <a:endParaRPr lang="en-US" altLang="ja-JP" sz="2200" dirty="0" smtClean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955678" y="5149129"/>
            <a:ext cx="5041615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A</a:t>
            </a:r>
            <a:r>
              <a:rPr lang="ja-JP" altLang="en-US" sz="2200" dirty="0" smtClean="0"/>
              <a:t>に</a:t>
            </a:r>
            <a:r>
              <a:rPr lang="ja-JP" altLang="en-US" sz="2200" dirty="0" smtClean="0"/>
              <a:t>のみ含まれるアイテム数</a:t>
            </a:r>
            <a:endParaRPr lang="en-US" altLang="ja-JP" sz="2200" dirty="0" smtClean="0"/>
          </a:p>
        </p:txBody>
      </p:sp>
      <p:grpSp>
        <p:nvGrpSpPr>
          <p:cNvPr id="7" name="グループ化 6"/>
          <p:cNvGrpSpPr/>
          <p:nvPr/>
        </p:nvGrpSpPr>
        <p:grpSpPr>
          <a:xfrm>
            <a:off x="3289823" y="2776421"/>
            <a:ext cx="3071295" cy="2216014"/>
            <a:chOff x="3251723" y="2633546"/>
            <a:chExt cx="3071295" cy="2216014"/>
          </a:xfrm>
        </p:grpSpPr>
        <p:cxnSp>
          <p:nvCxnSpPr>
            <p:cNvPr id="26" name="直線矢印コネクタ 25"/>
            <p:cNvCxnSpPr/>
            <p:nvPr/>
          </p:nvCxnSpPr>
          <p:spPr>
            <a:xfrm flipV="1">
              <a:off x="4128311" y="3107257"/>
              <a:ext cx="1238133" cy="123813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/>
            <p:cNvSpPr txBox="1"/>
            <p:nvPr/>
          </p:nvSpPr>
          <p:spPr>
            <a:xfrm>
              <a:off x="3251723" y="4326340"/>
              <a:ext cx="14986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 smtClean="0">
                  <a:solidFill>
                    <a:schemeClr val="accent2"/>
                  </a:solidFill>
                </a:rPr>
                <a:t>小</a:t>
              </a:r>
              <a:endParaRPr kumimoji="1" lang="ja-JP" altLang="en-US" sz="2800" b="1" dirty="0" smtClean="0">
                <a:solidFill>
                  <a:schemeClr val="accent2"/>
                </a:solidFill>
              </a:endParaRPr>
            </a:p>
          </p:txBody>
        </p:sp>
        <p:sp>
          <p:nvSpPr>
            <p:cNvPr id="45" name="テキスト ボックス 44"/>
            <p:cNvSpPr txBox="1"/>
            <p:nvPr/>
          </p:nvSpPr>
          <p:spPr>
            <a:xfrm>
              <a:off x="4824418" y="2633546"/>
              <a:ext cx="14986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b="1" dirty="0" smtClean="0">
                  <a:solidFill>
                    <a:schemeClr val="accent1"/>
                  </a:solidFill>
                </a:rPr>
                <a:t>大</a:t>
              </a:r>
            </a:p>
          </p:txBody>
        </p:sp>
        <p:sp>
          <p:nvSpPr>
            <p:cNvPr id="46" name="テキスト ボックス 45"/>
            <p:cNvSpPr txBox="1"/>
            <p:nvPr/>
          </p:nvSpPr>
          <p:spPr>
            <a:xfrm>
              <a:off x="4199721" y="3570929"/>
              <a:ext cx="14986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lang="en-US" altLang="ja-JP" sz="28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 </a:t>
              </a:r>
              <a:endParaRPr kumimoji="1" lang="ja-JP" altLang="en-US" sz="2800" b="1" dirty="0" smtClean="0">
                <a:solidFill>
                  <a:schemeClr val="accent1"/>
                </a:solidFill>
              </a:endParaRPr>
            </a:p>
          </p:txBody>
        </p:sp>
      </p:grpSp>
      <p:sp>
        <p:nvSpPr>
          <p:cNvPr id="42" name="テキスト ボックス 41"/>
          <p:cNvSpPr txBox="1"/>
          <p:nvPr/>
        </p:nvSpPr>
        <p:spPr>
          <a:xfrm>
            <a:off x="715598" y="5665283"/>
            <a:ext cx="7712805" cy="107721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タスク</a:t>
            </a:r>
            <a:r>
              <a:rPr lang="en-US" altLang="ja-JP" sz="3200" dirty="0"/>
              <a:t>B</a:t>
            </a:r>
            <a:r>
              <a:rPr lang="ja-JP" altLang="en-US" sz="3200" dirty="0"/>
              <a:t>はタスク</a:t>
            </a:r>
            <a:r>
              <a:rPr lang="en-US" altLang="ja-JP" sz="3200" dirty="0"/>
              <a:t>A</a:t>
            </a:r>
            <a:r>
              <a:rPr lang="ja-JP" altLang="en-US" sz="3200" dirty="0"/>
              <a:t>のアイテムを</a:t>
            </a:r>
            <a:r>
              <a:rPr lang="ja-JP" altLang="en-US" sz="3200" b="1" dirty="0">
                <a:solidFill>
                  <a:schemeClr val="accent1"/>
                </a:solidFill>
              </a:rPr>
              <a:t>一部選択</a:t>
            </a:r>
            <a:endParaRPr lang="en-US" altLang="ja-JP" sz="3200" b="1" dirty="0">
              <a:solidFill>
                <a:schemeClr val="accent1"/>
              </a:solidFill>
            </a:endParaRPr>
          </a:p>
          <a:p>
            <a:pPr algn="ctr"/>
            <a:r>
              <a:rPr lang="en-US" altLang="ja-JP" sz="3200" i="1" dirty="0">
                <a:latin typeface="Symbol" panose="05050102010706020507" pitchFamily="18" charset="2"/>
                <a:cs typeface="Times New Roman" panose="02020603050405020304" pitchFamily="18" charset="0"/>
              </a:rPr>
              <a:t>b</a:t>
            </a:r>
            <a:r>
              <a:rPr lang="ja-JP" altLang="en-US" sz="3200" dirty="0"/>
              <a:t>が大きくなると，異なるアイテム数が増加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45385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考察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実験結果より，提案する</a:t>
            </a:r>
            <a:r>
              <a:rPr kumimoji="1" lang="en-US" altLang="ja-JP" dirty="0" smtClean="0"/>
              <a:t>2</a:t>
            </a:r>
            <a:r>
              <a:rPr kumimoji="1" lang="ja-JP" altLang="en-US" dirty="0" err="1" smtClean="0"/>
              <a:t>つのベンチ</a:t>
            </a:r>
            <a:r>
              <a:rPr kumimoji="1" lang="ja-JP" altLang="en-US" dirty="0" smtClean="0"/>
              <a:t>マーク問題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では，各タスクは以下のような関係性になっている．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grpSp>
        <p:nvGrpSpPr>
          <p:cNvPr id="37" name="グループ化 36"/>
          <p:cNvGrpSpPr/>
          <p:nvPr/>
        </p:nvGrpSpPr>
        <p:grpSpPr>
          <a:xfrm>
            <a:off x="5322620" y="3624449"/>
            <a:ext cx="3102223" cy="3032916"/>
            <a:chOff x="5322620" y="3624449"/>
            <a:chExt cx="3102223" cy="3032916"/>
          </a:xfrm>
        </p:grpSpPr>
        <p:sp>
          <p:nvSpPr>
            <p:cNvPr id="32" name="円/楕円 31"/>
            <p:cNvSpPr/>
            <p:nvPr/>
          </p:nvSpPr>
          <p:spPr>
            <a:xfrm>
              <a:off x="6741090" y="4564534"/>
              <a:ext cx="1614873" cy="1202917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円/楕円 34"/>
            <p:cNvSpPr/>
            <p:nvPr/>
          </p:nvSpPr>
          <p:spPr>
            <a:xfrm>
              <a:off x="5892702" y="4565254"/>
              <a:ext cx="1614873" cy="1202917"/>
            </a:xfrm>
            <a:prstGeom prst="ellipse">
              <a:avLst/>
            </a:prstGeom>
            <a:solidFill>
              <a:srgbClr val="FFFAF5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2" name="グループ化 21"/>
            <p:cNvGrpSpPr/>
            <p:nvPr/>
          </p:nvGrpSpPr>
          <p:grpSpPr>
            <a:xfrm>
              <a:off x="5322620" y="3624450"/>
              <a:ext cx="1614873" cy="2143003"/>
              <a:chOff x="2596152" y="2083396"/>
              <a:chExt cx="2363386" cy="3136304"/>
            </a:xfrm>
            <a:noFill/>
          </p:grpSpPr>
          <p:sp>
            <p:nvSpPr>
              <p:cNvPr id="26" name="円/楕円 25"/>
              <p:cNvSpPr/>
              <p:nvPr/>
            </p:nvSpPr>
            <p:spPr>
              <a:xfrm>
                <a:off x="2596152" y="3459219"/>
                <a:ext cx="2363386" cy="1760481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テキスト ボックス 26"/>
              <p:cNvSpPr txBox="1"/>
              <p:nvPr/>
            </p:nvSpPr>
            <p:spPr>
              <a:xfrm>
                <a:off x="2745313" y="2083396"/>
                <a:ext cx="2022108" cy="765737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A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24" name="円/楕円 23"/>
            <p:cNvSpPr/>
            <p:nvPr/>
          </p:nvSpPr>
          <p:spPr>
            <a:xfrm>
              <a:off x="5892702" y="4564535"/>
              <a:ext cx="1614874" cy="120291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6736441" y="3624449"/>
              <a:ext cx="1381682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タスク</a:t>
              </a:r>
              <a:r>
                <a:rPr kumimoji="1" lang="en-US" altLang="ja-JP" sz="2800" dirty="0" smtClean="0"/>
                <a:t>B</a:t>
              </a:r>
              <a:endParaRPr kumimoji="1" lang="ja-JP" altLang="en-US" sz="2800" dirty="0" smtClean="0"/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6725682" y="5759984"/>
              <a:ext cx="1699161" cy="897381"/>
              <a:chOff x="6725682" y="5759984"/>
              <a:chExt cx="1699161" cy="897381"/>
            </a:xfrm>
          </p:grpSpPr>
          <p:sp>
            <p:nvSpPr>
              <p:cNvPr id="29" name="下矢印 28"/>
              <p:cNvSpPr/>
              <p:nvPr/>
            </p:nvSpPr>
            <p:spPr>
              <a:xfrm rot="16200000">
                <a:off x="7345940" y="6091940"/>
                <a:ext cx="387397" cy="743453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テキスト ボックス 29"/>
              <p:cNvSpPr txBox="1"/>
              <p:nvPr/>
            </p:nvSpPr>
            <p:spPr>
              <a:xfrm>
                <a:off x="6725682" y="5759984"/>
                <a:ext cx="1699161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b </a:t>
                </a:r>
                <a:r>
                  <a:rPr lang="ja-JP" altLang="en-US" sz="2800" dirty="0" smtClean="0"/>
                  <a:t>：大</a:t>
                </a:r>
                <a:endParaRPr kumimoji="1" lang="ja-JP" altLang="en-US" sz="2800" dirty="0" smtClean="0"/>
              </a:p>
            </p:txBody>
          </p:sp>
        </p:grpSp>
      </p:grpSp>
      <p:sp>
        <p:nvSpPr>
          <p:cNvPr id="31" name="テキスト ボックス 30"/>
          <p:cNvSpPr txBox="1"/>
          <p:nvPr/>
        </p:nvSpPr>
        <p:spPr>
          <a:xfrm>
            <a:off x="4724400" y="2730268"/>
            <a:ext cx="410431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smtClean="0"/>
              <a:t>2. Inversion Profit </a:t>
            </a:r>
            <a:r>
              <a:rPr lang="ja-JP" altLang="en-US" sz="2800" b="1" dirty="0" smtClean="0"/>
              <a:t>問題</a:t>
            </a:r>
            <a:endParaRPr lang="ja-JP" altLang="en-US" sz="2800" b="1" dirty="0"/>
          </a:p>
        </p:txBody>
      </p:sp>
      <p:cxnSp>
        <p:nvCxnSpPr>
          <p:cNvPr id="14" name="直線コネクタ 13"/>
          <p:cNvCxnSpPr/>
          <p:nvPr/>
        </p:nvCxnSpPr>
        <p:spPr>
          <a:xfrm>
            <a:off x="4686300" y="2876937"/>
            <a:ext cx="0" cy="382406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76200" y="2730268"/>
            <a:ext cx="449580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smtClean="0"/>
              <a:t>1. Scaling</a:t>
            </a:r>
            <a:r>
              <a:rPr lang="ja-JP" altLang="en-US" sz="2800" b="1" dirty="0" smtClean="0"/>
              <a:t> </a:t>
            </a:r>
            <a:r>
              <a:rPr lang="en-US" altLang="ja-JP" sz="2800" b="1" dirty="0"/>
              <a:t>Knapsack </a:t>
            </a:r>
            <a:r>
              <a:rPr lang="ja-JP" altLang="en-US" sz="2800" b="1" dirty="0" smtClean="0"/>
              <a:t>問題</a:t>
            </a:r>
            <a:endParaRPr lang="ja-JP" altLang="en-US" sz="2800" b="1" dirty="0"/>
          </a:p>
        </p:txBody>
      </p:sp>
      <p:grpSp>
        <p:nvGrpSpPr>
          <p:cNvPr id="28" name="グループ化 27"/>
          <p:cNvGrpSpPr/>
          <p:nvPr/>
        </p:nvGrpSpPr>
        <p:grpSpPr>
          <a:xfrm>
            <a:off x="486833" y="3519136"/>
            <a:ext cx="3797481" cy="3155785"/>
            <a:chOff x="486833" y="3519136"/>
            <a:chExt cx="3797481" cy="3155785"/>
          </a:xfrm>
        </p:grpSpPr>
        <p:sp>
          <p:nvSpPr>
            <p:cNvPr id="11" name="円/楕円 10"/>
            <p:cNvSpPr/>
            <p:nvPr/>
          </p:nvSpPr>
          <p:spPr>
            <a:xfrm>
              <a:off x="486833" y="3519136"/>
              <a:ext cx="3797481" cy="3154964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" name="グループ化 4"/>
            <p:cNvGrpSpPr/>
            <p:nvPr/>
          </p:nvGrpSpPr>
          <p:grpSpPr>
            <a:xfrm>
              <a:off x="985398" y="4588946"/>
              <a:ext cx="2800350" cy="2085975"/>
              <a:chOff x="1533525" y="3133725"/>
              <a:chExt cx="2800350" cy="208597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6" name="円/楕円 5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テキスト ボックス 6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B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1516175" y="5312191"/>
              <a:ext cx="1738797" cy="1087459"/>
              <a:chOff x="2064302" y="3133725"/>
              <a:chExt cx="1738797" cy="1087459"/>
            </a:xfrm>
          </p:grpSpPr>
          <p:sp>
            <p:nvSpPr>
              <p:cNvPr id="9" name="円/楕円 8"/>
              <p:cNvSpPr/>
              <p:nvPr/>
            </p:nvSpPr>
            <p:spPr>
              <a:xfrm>
                <a:off x="2064302" y="3133725"/>
                <a:ext cx="1738797" cy="108745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/>
              <p:cNvSpPr txBox="1"/>
              <p:nvPr/>
            </p:nvSpPr>
            <p:spPr>
              <a:xfrm>
                <a:off x="2243138" y="3415844"/>
                <a:ext cx="1381125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A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23" name="グループ化 22"/>
            <p:cNvGrpSpPr/>
            <p:nvPr/>
          </p:nvGrpSpPr>
          <p:grpSpPr>
            <a:xfrm>
              <a:off x="1443586" y="3810620"/>
              <a:ext cx="1883973" cy="754489"/>
              <a:chOff x="1465269" y="3810620"/>
              <a:chExt cx="1883973" cy="754489"/>
            </a:xfrm>
          </p:grpSpPr>
          <p:sp>
            <p:nvSpPr>
              <p:cNvPr id="17" name="テキスト ボックス 16"/>
              <p:cNvSpPr txBox="1"/>
              <p:nvPr/>
            </p:nvSpPr>
            <p:spPr>
              <a:xfrm>
                <a:off x="1557675" y="3810620"/>
                <a:ext cx="1699161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 </a:t>
                </a:r>
                <a:r>
                  <a:rPr lang="ja-JP" altLang="en-US" sz="2800" dirty="0" smtClean="0"/>
                  <a:t>：大</a:t>
                </a:r>
                <a:endParaRPr kumimoji="1" lang="ja-JP" altLang="en-US" sz="2800" dirty="0" smtClean="0"/>
              </a:p>
            </p:txBody>
          </p:sp>
          <p:sp>
            <p:nvSpPr>
              <p:cNvPr id="41" name="下矢印 40"/>
              <p:cNvSpPr/>
              <p:nvPr/>
            </p:nvSpPr>
            <p:spPr>
              <a:xfrm rot="12600000">
                <a:off x="2961845" y="3821656"/>
                <a:ext cx="387397" cy="743453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2" name="下矢印 41"/>
              <p:cNvSpPr/>
              <p:nvPr/>
            </p:nvSpPr>
            <p:spPr>
              <a:xfrm rot="9000000" flipH="1">
                <a:off x="1465269" y="3821656"/>
                <a:ext cx="387397" cy="743453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34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まと</a:t>
            </a:r>
            <a:r>
              <a:rPr lang="ja-JP" altLang="en-US" dirty="0"/>
              <a:t>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関係性が明瞭</a:t>
            </a:r>
            <a:r>
              <a:rPr kumimoji="1" lang="ja-JP" altLang="en-US" dirty="0" smtClean="0"/>
              <a:t>な，新たなマルチタスクベンチマーク問題を提案した．</a:t>
            </a:r>
            <a:endParaRPr kumimoji="1" lang="en-US" altLang="ja-JP" dirty="0" smtClean="0"/>
          </a:p>
          <a:p>
            <a:r>
              <a:rPr kumimoji="1" lang="en-US" altLang="ja-JP" dirty="0" smtClean="0"/>
              <a:t>Scaling Knapsack </a:t>
            </a:r>
            <a:r>
              <a:rPr kumimoji="1" lang="ja-JP" altLang="en-US" dirty="0" smtClean="0"/>
              <a:t>問題は</a:t>
            </a:r>
            <a:r>
              <a:rPr kumimoji="1" lang="ja-JP" altLang="en-US" dirty="0" smtClean="0"/>
              <a:t>，タスク</a:t>
            </a:r>
            <a:r>
              <a:rPr kumimoji="1" lang="en-US" altLang="ja-JP" dirty="0" smtClean="0"/>
              <a:t>B</a:t>
            </a:r>
            <a:r>
              <a:rPr lang="ja-JP" altLang="en-US" dirty="0" smtClean="0"/>
              <a:t>がタスク</a:t>
            </a:r>
            <a:r>
              <a:rPr lang="en-US" altLang="ja-JP" dirty="0" smtClean="0"/>
              <a:t>A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完全に包含する</a:t>
            </a:r>
            <a:r>
              <a:rPr kumimoji="1" lang="ja-JP" altLang="en-US" dirty="0" smtClean="0"/>
              <a:t>，</a:t>
            </a:r>
            <a:r>
              <a:rPr kumimoji="1" lang="en-US" altLang="ja-JP" dirty="0" smtClean="0"/>
              <a:t>Inversion Profit </a:t>
            </a:r>
            <a:r>
              <a:rPr kumimoji="1" lang="ja-JP" altLang="en-US" dirty="0" smtClean="0"/>
              <a:t>問題</a:t>
            </a:r>
            <a:r>
              <a:rPr kumimoji="1" lang="ja-JP" altLang="en-US" dirty="0" smtClean="0"/>
              <a:t>はタスク</a:t>
            </a:r>
            <a:r>
              <a:rPr kumimoji="1" lang="en-US" altLang="ja-JP" dirty="0" smtClean="0"/>
              <a:t>B</a:t>
            </a:r>
            <a:r>
              <a:rPr kumimoji="1" lang="ja-JP" altLang="en-US" dirty="0" smtClean="0"/>
              <a:t>とタスク</a:t>
            </a:r>
            <a:r>
              <a:rPr kumimoji="1" lang="en-US" altLang="ja-JP" dirty="0" smtClean="0"/>
              <a:t>A</a:t>
            </a:r>
            <a:r>
              <a:rPr lang="ja-JP" altLang="en-US" dirty="0" smtClean="0"/>
              <a:t>に</a:t>
            </a:r>
            <a:r>
              <a:rPr lang="ja-JP" altLang="en-US" b="1" dirty="0" smtClean="0">
                <a:solidFill>
                  <a:schemeClr val="accent1"/>
                </a:solidFill>
              </a:rPr>
              <a:t>共通部分がある</a:t>
            </a:r>
            <a:r>
              <a:rPr kumimoji="1" lang="ja-JP" altLang="en-US" dirty="0" smtClean="0"/>
              <a:t>ことを示した．</a:t>
            </a:r>
            <a:endParaRPr kumimoji="1" lang="en-US" altLang="ja-JP" dirty="0" smtClean="0"/>
          </a:p>
          <a:p>
            <a:r>
              <a:rPr lang="ja-JP" altLang="en-US" dirty="0"/>
              <a:t>今後</a:t>
            </a:r>
            <a:r>
              <a:rPr lang="ja-JP" altLang="en-US" dirty="0" smtClean="0"/>
              <a:t>の課題として，提案問題の特性を利用して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問題を解くアルゴリズムの開発が挙げられる．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07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360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ナップサック問題の修復操作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 smtClean="0"/>
                  <a:t>本問題における実行不可能解は，</a:t>
                </a:r>
                <a:r>
                  <a:rPr kumimoji="1" lang="en-US" altLang="ja-JP" dirty="0" smtClean="0"/>
                  <a:t>Greedy</a:t>
                </a:r>
                <a:r>
                  <a:rPr kumimoji="1" lang="ja-JP" altLang="en-US" dirty="0" smtClean="0"/>
                  <a:t> </a:t>
                </a:r>
                <a:r>
                  <a:rPr kumimoji="1" lang="en-US" altLang="ja-JP" dirty="0" smtClean="0"/>
                  <a:t>Repair</a:t>
                </a:r>
                <a:r>
                  <a:rPr kumimoji="1" lang="ja-JP" altLang="en-US" dirty="0" smtClean="0"/>
                  <a:t>によって実行可能解に修復される．</a:t>
                </a:r>
                <a:endParaRPr kumimoji="1" lang="en-US" altLang="ja-JP" dirty="0" smtClean="0"/>
              </a:p>
              <a:p>
                <a:endParaRPr lang="en-US" altLang="ja-JP" dirty="0"/>
              </a:p>
              <a:p>
                <a:r>
                  <a:rPr kumimoji="1" lang="en-US" altLang="ja-JP" b="1" dirty="0" smtClean="0"/>
                  <a:t>&lt;Greedy Repair&gt; </a:t>
                </a:r>
              </a:p>
              <a:p>
                <a:r>
                  <a:rPr kumimoji="1" lang="ja-JP" altLang="en-US" sz="2800" dirty="0" smtClean="0"/>
                  <a:t>利得率の低いアイテムから順にナップサックから</a:t>
                </a:r>
                <a:r>
                  <a:rPr lang="ja-JP" altLang="en-US" sz="2800" dirty="0" smtClean="0"/>
                  <a:t>取り出す．</a:t>
                </a:r>
                <a:endParaRPr kumimoji="1" lang="en-US" altLang="ja-JP" sz="2800" dirty="0"/>
              </a:p>
              <a:p>
                <a:r>
                  <a:rPr lang="en-US" altLang="ja-JP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j</a:t>
                </a:r>
                <a:r>
                  <a:rPr lang="ja-JP" altLang="en-US" sz="2800" dirty="0" smtClean="0"/>
                  <a:t>番目のアイテムの利得率</a:t>
                </a:r>
                <a:r>
                  <a:rPr lang="en-US" altLang="ja-JP" sz="2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ja-JP" sz="2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endParaRPr lang="en-US" altLang="ja-JP" sz="28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sz="28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kumimoji="1" lang="en-US" altLang="ja-JP" sz="2800" b="0" i="1" baseline="-25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m:rPr>
                          <m:nor/>
                        </m:rPr>
                        <a:rPr kumimoji="1" lang="en-US" altLang="ja-JP" sz="28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</m:lim>
                      </m:limLow>
                      <m:r>
                        <m:rPr>
                          <m:nor/>
                        </m:rPr>
                        <a:rPr lang="en-US" altLang="ja-JP" sz="28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</m:den>
                      </m:f>
                    </m:oMath>
                  </m:oMathPara>
                </a14:m>
                <a:endParaRPr kumimoji="1" lang="ja-JP" alt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25" t="-1882" r="-4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29681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ナップサック問題の修復操作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本問題における実行不可能解は，</a:t>
            </a:r>
            <a:r>
              <a:rPr kumimoji="1" lang="en-US" altLang="ja-JP" dirty="0" smtClean="0"/>
              <a:t>Greedy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Repair</a:t>
            </a:r>
            <a:r>
              <a:rPr kumimoji="1" lang="ja-JP" altLang="en-US" dirty="0" smtClean="0"/>
              <a:t>によって実行可能解に修復される．</a:t>
            </a:r>
            <a:endParaRPr kumimoji="1" lang="en-US" altLang="ja-JP" dirty="0" smtClean="0"/>
          </a:p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931626"/>
              </p:ext>
            </p:extLst>
          </p:nvPr>
        </p:nvGraphicFramePr>
        <p:xfrm>
          <a:off x="1280007" y="3362134"/>
          <a:ext cx="242025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05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84590"/>
                  </a:ext>
                </a:extLst>
              </a:tr>
            </a:tbl>
          </a:graphicData>
        </a:graphic>
      </p:graphicFrame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328246"/>
              </p:ext>
            </p:extLst>
          </p:nvPr>
        </p:nvGraphicFramePr>
        <p:xfrm>
          <a:off x="1280006" y="5352668"/>
          <a:ext cx="241989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79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183379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13207"/>
              </p:ext>
            </p:extLst>
          </p:nvPr>
        </p:nvGraphicFramePr>
        <p:xfrm>
          <a:off x="5002465" y="3651694"/>
          <a:ext cx="3912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587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 smtClean="0">
                          <a:solidFill>
                            <a:srgbClr val="FF0000"/>
                          </a:solidFill>
                        </a:rPr>
                        <a:t>2.5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0.6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1" lang="en-US" altLang="ja-JP" sz="2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1" lang="ja-JP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1" lang="en-US" altLang="ja-JP" sz="2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1" lang="ja-JP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1" lang="en-US" altLang="ja-JP" sz="2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1.25</a:t>
                      </a:r>
                      <a:endParaRPr kumimoji="1" lang="ja-JP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0" name="テキスト ボックス 9"/>
          <p:cNvSpPr txBox="1"/>
          <p:nvPr/>
        </p:nvSpPr>
        <p:spPr>
          <a:xfrm>
            <a:off x="228600" y="2724614"/>
            <a:ext cx="3106386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アイテム集合</a:t>
            </a:r>
            <a:r>
              <a:rPr lang="en-US" altLang="ja-JP" sz="2800" dirty="0"/>
              <a:t>1</a:t>
            </a:r>
            <a:endParaRPr kumimoji="1" lang="ja-JP" altLang="en-US" sz="28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07566" y="4638907"/>
            <a:ext cx="3106386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アイテム集合</a:t>
            </a:r>
            <a:r>
              <a:rPr lang="en-US" altLang="ja-JP" sz="2800" dirty="0" smtClean="0"/>
              <a:t>2</a:t>
            </a:r>
            <a:endParaRPr kumimoji="1" lang="ja-JP" altLang="en-US" sz="2800" dirty="0" smtClean="0"/>
          </a:p>
        </p:txBody>
      </p:sp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698694"/>
              </p:ext>
            </p:extLst>
          </p:nvPr>
        </p:nvGraphicFramePr>
        <p:xfrm>
          <a:off x="5002465" y="5642228"/>
          <a:ext cx="3912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587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0.33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1" lang="en-US" altLang="ja-JP" sz="2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1" lang="ja-JP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3" name="テキスト ボックス 12"/>
          <p:cNvSpPr txBox="1"/>
          <p:nvPr/>
        </p:nvSpPr>
        <p:spPr>
          <a:xfrm>
            <a:off x="3459812" y="3643283"/>
            <a:ext cx="1906622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利得率</a:t>
            </a:r>
            <a:endParaRPr kumimoji="1" lang="ja-JP" altLang="en-US" sz="24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59812" y="5642228"/>
            <a:ext cx="1906622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利得率</a:t>
            </a:r>
            <a:endParaRPr kumimoji="1" lang="ja-JP" altLang="en-US" sz="24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54062" y="3365025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価値</a:t>
            </a:r>
            <a:endParaRPr kumimoji="1" lang="ja-JP" altLang="en-US" sz="2400" dirty="0" smtClean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54062" y="3824458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重</a:t>
            </a:r>
            <a:r>
              <a:rPr lang="ja-JP" altLang="en-US" sz="2400" dirty="0" smtClean="0"/>
              <a:t>み</a:t>
            </a:r>
            <a:endParaRPr kumimoji="1" lang="ja-JP" altLang="en-US" sz="2400" dirty="0" smtClean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54062" y="5341778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価値</a:t>
            </a:r>
            <a:endParaRPr kumimoji="1" lang="ja-JP" altLang="en-US" sz="2400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4062" y="5801211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重</a:t>
            </a:r>
            <a:r>
              <a:rPr lang="ja-JP" altLang="en-US" sz="2400" dirty="0" smtClean="0"/>
              <a:t>み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196602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ナップサック問題の修復操作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本問題における実行不可能解は，</a:t>
            </a:r>
            <a:r>
              <a:rPr kumimoji="1" lang="en-US" altLang="ja-JP" dirty="0" smtClean="0"/>
              <a:t>Greedy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Repair</a:t>
            </a:r>
            <a:r>
              <a:rPr kumimoji="1" lang="ja-JP" altLang="en-US" dirty="0" smtClean="0"/>
              <a:t>によって実行可能解に修復される．</a:t>
            </a:r>
            <a:endParaRPr kumimoji="1" lang="en-US" altLang="ja-JP" dirty="0" smtClean="0"/>
          </a:p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931626"/>
              </p:ext>
            </p:extLst>
          </p:nvPr>
        </p:nvGraphicFramePr>
        <p:xfrm>
          <a:off x="1280007" y="3362134"/>
          <a:ext cx="242025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05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84590"/>
                  </a:ext>
                </a:extLst>
              </a:tr>
            </a:tbl>
          </a:graphicData>
        </a:graphic>
      </p:graphicFrame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328246"/>
              </p:ext>
            </p:extLst>
          </p:nvPr>
        </p:nvGraphicFramePr>
        <p:xfrm>
          <a:off x="1280006" y="5352668"/>
          <a:ext cx="241989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79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183379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13207"/>
              </p:ext>
            </p:extLst>
          </p:nvPr>
        </p:nvGraphicFramePr>
        <p:xfrm>
          <a:off x="5002465" y="3651694"/>
          <a:ext cx="3912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587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 smtClean="0">
                          <a:solidFill>
                            <a:srgbClr val="FF0000"/>
                          </a:solidFill>
                        </a:rPr>
                        <a:t>2.5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0.6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1" lang="en-US" altLang="ja-JP" sz="2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1" lang="ja-JP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1" lang="en-US" altLang="ja-JP" sz="2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1" lang="ja-JP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1" lang="en-US" altLang="ja-JP" sz="2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1.25</a:t>
                      </a:r>
                      <a:endParaRPr kumimoji="1" lang="ja-JP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0" name="テキスト ボックス 9"/>
          <p:cNvSpPr txBox="1"/>
          <p:nvPr/>
        </p:nvSpPr>
        <p:spPr>
          <a:xfrm>
            <a:off x="228600" y="2724614"/>
            <a:ext cx="3106386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アイテム集合</a:t>
            </a:r>
            <a:r>
              <a:rPr lang="en-US" altLang="ja-JP" sz="2800" dirty="0"/>
              <a:t>1</a:t>
            </a:r>
            <a:endParaRPr kumimoji="1" lang="ja-JP" altLang="en-US" sz="28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07566" y="4638907"/>
            <a:ext cx="3106386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アイテム集合</a:t>
            </a:r>
            <a:r>
              <a:rPr lang="en-US" altLang="ja-JP" sz="2800" dirty="0" smtClean="0"/>
              <a:t>2</a:t>
            </a:r>
            <a:endParaRPr kumimoji="1" lang="ja-JP" altLang="en-US" sz="2800" dirty="0" smtClean="0"/>
          </a:p>
        </p:txBody>
      </p:sp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698694"/>
              </p:ext>
            </p:extLst>
          </p:nvPr>
        </p:nvGraphicFramePr>
        <p:xfrm>
          <a:off x="5002465" y="5642228"/>
          <a:ext cx="3912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587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0.33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kumimoji="1" lang="en-US" altLang="ja-JP" sz="2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1" lang="ja-JP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3" name="テキスト ボックス 12"/>
          <p:cNvSpPr txBox="1"/>
          <p:nvPr/>
        </p:nvSpPr>
        <p:spPr>
          <a:xfrm>
            <a:off x="3459812" y="3643283"/>
            <a:ext cx="1906622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利得率</a:t>
            </a:r>
            <a:endParaRPr kumimoji="1" lang="ja-JP" altLang="en-US" sz="24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59812" y="5642228"/>
            <a:ext cx="1906622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利得率</a:t>
            </a:r>
            <a:endParaRPr kumimoji="1" lang="ja-JP" altLang="en-US" sz="24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54062" y="3365025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価値</a:t>
            </a:r>
            <a:endParaRPr kumimoji="1" lang="ja-JP" altLang="en-US" sz="2400" dirty="0" smtClean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54062" y="3824458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重</a:t>
            </a:r>
            <a:r>
              <a:rPr lang="ja-JP" altLang="en-US" sz="2400" dirty="0" smtClean="0"/>
              <a:t>み</a:t>
            </a:r>
            <a:endParaRPr kumimoji="1" lang="ja-JP" altLang="en-US" sz="2400" dirty="0" smtClean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54062" y="5341778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価値</a:t>
            </a:r>
            <a:endParaRPr kumimoji="1" lang="ja-JP" altLang="en-US" sz="2400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4062" y="5801211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重</a:t>
            </a:r>
            <a:r>
              <a:rPr lang="ja-JP" altLang="en-US" sz="2400" dirty="0" smtClean="0"/>
              <a:t>み</a:t>
            </a:r>
            <a:endParaRPr kumimoji="1" lang="ja-JP" altLang="en-US" sz="2400" dirty="0" smtClean="0"/>
          </a:p>
        </p:txBody>
      </p:sp>
      <p:graphicFrame>
        <p:nvGraphicFramePr>
          <p:cNvPr id="19" name="表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950210"/>
              </p:ext>
            </p:extLst>
          </p:nvPr>
        </p:nvGraphicFramePr>
        <p:xfrm>
          <a:off x="5002465" y="4638907"/>
          <a:ext cx="3912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587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2.5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1.25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cxnSp>
        <p:nvCxnSpPr>
          <p:cNvPr id="21" name="直線矢印コネクタ 20"/>
          <p:cNvCxnSpPr/>
          <p:nvPr/>
        </p:nvCxnSpPr>
        <p:spPr>
          <a:xfrm>
            <a:off x="5385890" y="4104948"/>
            <a:ext cx="0" cy="5351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>
            <a:off x="6958932" y="4104948"/>
            <a:ext cx="0" cy="5351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751275" y="4104948"/>
            <a:ext cx="0" cy="5351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>
            <a:off x="8543618" y="4104948"/>
            <a:ext cx="0" cy="5351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 flipV="1">
            <a:off x="6172274" y="5096107"/>
            <a:ext cx="0" cy="5351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350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ナップサック問題の修復操作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本問題における実行不可能解は，</a:t>
            </a:r>
            <a:r>
              <a:rPr kumimoji="1" lang="en-US" altLang="ja-JP" dirty="0" smtClean="0"/>
              <a:t>Greedy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Repair</a:t>
            </a:r>
            <a:r>
              <a:rPr kumimoji="1" lang="ja-JP" altLang="en-US" dirty="0" smtClean="0"/>
              <a:t>によって実行可能解に修復される．</a:t>
            </a:r>
            <a:endParaRPr kumimoji="1" lang="en-US" altLang="ja-JP" dirty="0" smtClean="0"/>
          </a:p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/>
          </p:nvPr>
        </p:nvGraphicFramePr>
        <p:xfrm>
          <a:off x="1280007" y="3362134"/>
          <a:ext cx="242025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05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8405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84590"/>
                  </a:ext>
                </a:extLst>
              </a:tr>
            </a:tbl>
          </a:graphicData>
        </a:graphic>
      </p:graphicFrame>
      <p:graphicFrame>
        <p:nvGraphicFramePr>
          <p:cNvPr id="6" name="表 5"/>
          <p:cNvGraphicFramePr>
            <a:graphicFrameLocks noGrp="1"/>
          </p:cNvGraphicFramePr>
          <p:nvPr>
            <p:extLst/>
          </p:nvPr>
        </p:nvGraphicFramePr>
        <p:xfrm>
          <a:off x="1280006" y="5352668"/>
          <a:ext cx="241989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79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83979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183379"/>
                  </a:ext>
                </a:extLst>
              </a:tr>
            </a:tbl>
          </a:graphicData>
        </a:graphic>
      </p:graphicFrame>
      <p:sp>
        <p:nvSpPr>
          <p:cNvPr id="10" name="テキスト ボックス 9"/>
          <p:cNvSpPr txBox="1"/>
          <p:nvPr/>
        </p:nvSpPr>
        <p:spPr>
          <a:xfrm>
            <a:off x="228600" y="2724614"/>
            <a:ext cx="3106386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アイテム集合</a:t>
            </a:r>
            <a:r>
              <a:rPr lang="en-US" altLang="ja-JP" sz="2800" dirty="0"/>
              <a:t>1</a:t>
            </a:r>
            <a:endParaRPr kumimoji="1" lang="ja-JP" altLang="en-US" sz="28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07566" y="4638907"/>
            <a:ext cx="3106386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アイテム集合</a:t>
            </a:r>
            <a:r>
              <a:rPr lang="en-US" altLang="ja-JP" sz="2800" dirty="0" smtClean="0"/>
              <a:t>2</a:t>
            </a:r>
            <a:endParaRPr kumimoji="1" lang="ja-JP" altLang="en-US" sz="28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54062" y="3365025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価値</a:t>
            </a:r>
            <a:endParaRPr kumimoji="1" lang="ja-JP" altLang="en-US" sz="2400" dirty="0" smtClean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54062" y="3824458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重</a:t>
            </a:r>
            <a:r>
              <a:rPr lang="ja-JP" altLang="en-US" sz="2400" dirty="0" smtClean="0"/>
              <a:t>み</a:t>
            </a:r>
            <a:endParaRPr kumimoji="1" lang="ja-JP" altLang="en-US" sz="2400" dirty="0" smtClean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54062" y="5341778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価値</a:t>
            </a:r>
            <a:endParaRPr kumimoji="1" lang="ja-JP" altLang="en-US" sz="2400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4062" y="5801211"/>
            <a:ext cx="114786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重</a:t>
            </a:r>
            <a:r>
              <a:rPr lang="ja-JP" altLang="en-US" sz="2400" dirty="0" smtClean="0"/>
              <a:t>み</a:t>
            </a:r>
            <a:endParaRPr kumimoji="1" lang="ja-JP" altLang="en-US" sz="2400" dirty="0" smtClean="0"/>
          </a:p>
        </p:txBody>
      </p:sp>
      <p:graphicFrame>
        <p:nvGraphicFramePr>
          <p:cNvPr id="27" name="表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717935"/>
              </p:ext>
            </p:extLst>
          </p:nvPr>
        </p:nvGraphicFramePr>
        <p:xfrm>
          <a:off x="5002465" y="4183940"/>
          <a:ext cx="391293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587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782587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4th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5th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3rd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1st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2nd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12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2.5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1.25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805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既存のベンチマーク問題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A</a:t>
            </a:r>
            <a:endParaRPr kumimoji="1" lang="en-US" altLang="ja-JP" dirty="0" smtClean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endParaRPr kumimoji="1" lang="en-US" altLang="ja-JP" dirty="0" smtClean="0"/>
          </a:p>
          <a:p>
            <a:r>
              <a:rPr lang="ja-JP" altLang="en-US" dirty="0" smtClean="0"/>
              <a:t>タスク</a:t>
            </a:r>
            <a:r>
              <a:rPr lang="en-US" altLang="ja-JP" dirty="0" smtClean="0"/>
              <a:t>B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graphicFrame>
        <p:nvGraphicFramePr>
          <p:cNvPr id="6" name="オブジェクト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330658"/>
              </p:ext>
            </p:extLst>
          </p:nvPr>
        </p:nvGraphicFramePr>
        <p:xfrm>
          <a:off x="2238161" y="1802629"/>
          <a:ext cx="4667678" cy="2070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3" imgW="1803240" imgH="799920" progId="Equation.DSMT4">
                  <p:embed/>
                </p:oleObj>
              </mc:Choice>
              <mc:Fallback>
                <p:oleObj name="Equation" r:id="rId3" imgW="180324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8161" y="1802629"/>
                        <a:ext cx="4667678" cy="2070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オブジェクト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598884"/>
              </p:ext>
            </p:extLst>
          </p:nvPr>
        </p:nvGraphicFramePr>
        <p:xfrm>
          <a:off x="2251075" y="4286250"/>
          <a:ext cx="4208463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5" imgW="1625400" imgH="876240" progId="Equation.DSMT4">
                  <p:embed/>
                </p:oleObj>
              </mc:Choice>
              <mc:Fallback>
                <p:oleObj name="Equation" r:id="rId5" imgW="162540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51075" y="4286250"/>
                        <a:ext cx="4208463" cy="226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2794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 smtClean="0"/>
          </a:p>
          <a:p>
            <a:r>
              <a:rPr lang="ja-JP" altLang="en-US" dirty="0" smtClean="0"/>
              <a:t>アルゴリズムの性能は，</a:t>
            </a:r>
            <a:r>
              <a:rPr lang="en-US" altLang="ja-JP" dirty="0" smtClean="0"/>
              <a:t>(0.0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0.0)</a:t>
            </a:r>
            <a:r>
              <a:rPr lang="ja-JP" altLang="en-US" dirty="0" smtClean="0"/>
              <a:t>を参照点とする</a:t>
            </a:r>
            <a:r>
              <a:rPr lang="en-US" altLang="ja-JP" dirty="0" err="1" smtClean="0"/>
              <a:t>Hypervolume</a:t>
            </a:r>
            <a:r>
              <a:rPr lang="ja-JP" altLang="en-US" dirty="0" smtClean="0"/>
              <a:t>で評価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実験条件設定</a:t>
            </a:r>
            <a:endParaRPr kumimoji="1" lang="ja-JP" altLang="en-US" dirty="0"/>
          </a:p>
        </p:txBody>
      </p:sp>
      <p:grpSp>
        <p:nvGrpSpPr>
          <p:cNvPr id="8" name="グループ化 7"/>
          <p:cNvGrpSpPr/>
          <p:nvPr/>
        </p:nvGrpSpPr>
        <p:grpSpPr>
          <a:xfrm>
            <a:off x="228600" y="2073074"/>
            <a:ext cx="8915399" cy="3970318"/>
            <a:chOff x="228600" y="1536970"/>
            <a:chExt cx="8915399" cy="4024768"/>
          </a:xfrm>
        </p:grpSpPr>
        <p:sp>
          <p:nvSpPr>
            <p:cNvPr id="6" name="テキスト ボックス 5"/>
            <p:cNvSpPr txBox="1"/>
            <p:nvPr/>
          </p:nvSpPr>
          <p:spPr>
            <a:xfrm>
              <a:off x="228600" y="1536970"/>
              <a:ext cx="2558375" cy="402476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交叉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突然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変異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操作：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個体群サイズ：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評価回数：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試行回数：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2611872" y="1536970"/>
              <a:ext cx="6532127" cy="358797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500</a:t>
              </a:r>
            </a:p>
            <a:p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Crossover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0.9</a:t>
              </a:r>
              <a:r>
                <a:rPr lang="en-US" altLang="ja-JP" sz="2800" dirty="0"/>
                <a:t>)</a:t>
              </a:r>
            </a:p>
            <a:p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Mutation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1/(</a:t>
              </a:r>
              <a:r>
                <a:rPr lang="ja-JP" altLang="en-US" sz="2400" dirty="0" smtClean="0"/>
                <a:t>アイテム数</a:t>
              </a:r>
              <a:r>
                <a:rPr lang="en-US" altLang="ja-JP" sz="2800" dirty="0" smtClean="0"/>
                <a:t>))</a:t>
              </a:r>
              <a:endParaRPr lang="en-US" altLang="ja-JP" sz="2800" dirty="0"/>
            </a:p>
            <a:p>
              <a:r>
                <a:rPr lang="en-US" altLang="ja-JP" sz="2800" dirty="0" smtClean="0"/>
                <a:t>100 (</a:t>
              </a:r>
              <a:r>
                <a:rPr lang="ja-JP" altLang="en-US" sz="2800" dirty="0" smtClean="0"/>
                <a:t>各タスク</a:t>
              </a:r>
              <a:r>
                <a:rPr lang="en-US" altLang="ja-JP" sz="2800" dirty="0" smtClean="0"/>
                <a:t>)</a:t>
              </a:r>
            </a:p>
            <a:p>
              <a:r>
                <a:rPr lang="en-US" altLang="ja-JP" sz="2800" dirty="0" smtClean="0"/>
                <a:t>100,000</a:t>
              </a:r>
              <a:r>
                <a:rPr kumimoji="1"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31</a:t>
              </a:r>
              <a:r>
                <a:rPr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1.1</a:t>
              </a:r>
              <a:r>
                <a:rPr lang="ja-JP" altLang="en-US" sz="2400" dirty="0" smtClean="0"/>
                <a:t>倍</a:t>
              </a:r>
              <a:endParaRPr lang="en-US" altLang="ja-JP" sz="2400" dirty="0" smtClean="0"/>
            </a:p>
            <a:p>
              <a:r>
                <a:rPr lang="en-US" altLang="ja-JP" sz="2800" dirty="0" smtClean="0"/>
                <a:t>10 </a:t>
              </a:r>
              <a:r>
                <a:rPr lang="en-US" altLang="ja-JP" sz="2400" dirty="0" smtClean="0"/>
                <a:t>%</a:t>
              </a:r>
              <a:endParaRPr lang="en-US" altLang="ja-JP" sz="2400" dirty="0"/>
            </a:p>
          </p:txBody>
        </p:sp>
      </p:grpSp>
      <p:sp>
        <p:nvSpPr>
          <p:cNvPr id="9" name="テキスト ボックス 8"/>
          <p:cNvSpPr txBox="1"/>
          <p:nvPr/>
        </p:nvSpPr>
        <p:spPr>
          <a:xfrm>
            <a:off x="228600" y="1371600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共通実験設定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61062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独立探索</a:t>
            </a:r>
            <a:r>
              <a:rPr lang="ja-JP" altLang="en-US" b="1" dirty="0">
                <a:solidFill>
                  <a:schemeClr val="accent1"/>
                </a:solidFill>
              </a:rPr>
              <a:t>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30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 Knapsack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59" name="グループ化 58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5" cy="3895542"/>
              <a:chOff x="470051" y="1971906"/>
              <a:chExt cx="4636325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5" cy="3517744"/>
                <a:chOff x="246344" y="2133819"/>
                <a:chExt cx="4636325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5" cy="3469840"/>
                  <a:chOff x="246344" y="2133819"/>
                  <a:chExt cx="4636325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5" cy="3469840"/>
                    <a:chOff x="246344" y="2133819"/>
                    <a:chExt cx="4636325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5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A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Hypervolume</a:t>
              </a:r>
              <a:r>
                <a:rPr kumimoji="1" lang="ja-JP" altLang="en-US" sz="2400" dirty="0" smtClean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B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204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lang="ja-JP" altLang="en-US" b="1" dirty="0" smtClean="0">
                <a:solidFill>
                  <a:schemeClr val="accent1"/>
                </a:solidFill>
              </a:rPr>
              <a:t>マルチタスク手法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31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Inversion</a:t>
            </a:r>
            <a:r>
              <a:rPr lang="ja-JP" altLang="en-US" dirty="0"/>
              <a:t> </a:t>
            </a:r>
            <a:r>
              <a:rPr lang="en-US" altLang="ja-JP" dirty="0" smtClean="0"/>
              <a:t>Profi</a:t>
            </a:r>
            <a:r>
              <a:rPr lang="en-US" altLang="ja-JP" dirty="0"/>
              <a:t>t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A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 err="1"/>
                <a:t>Hypervolume</a:t>
              </a:r>
              <a:r>
                <a:rPr lang="ja-JP" altLang="en-US" sz="2400" dirty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39"/>
                  <a:chOff x="246344" y="2133819"/>
                  <a:chExt cx="4636324" cy="3469839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39"/>
                    <a:chOff x="246344" y="2133819"/>
                    <a:chExt cx="4636324" cy="3469839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3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B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263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3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1BF3D9E7-0E3F-405E-A7C2-9287BF6F8045}" vid="{44580BCE-2164-458F-848B-E0E027AD84C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F53A37-5EBE-431E-ABB7-703102CA6FAC}">
  <we:reference id="wa104381063" version="1.0.0.1" store="ja-JP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2137</TotalTime>
  <Words>1357</Words>
  <Application>Microsoft Office PowerPoint</Application>
  <PresentationFormat>画面に合わせる (4:3)</PresentationFormat>
  <Paragraphs>523</Paragraphs>
  <Slides>32</Slides>
  <Notes>0</Notes>
  <HiddenSlides>9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32</vt:i4>
      </vt:variant>
    </vt:vector>
  </HeadingPairs>
  <TitlesOfParts>
    <vt:vector size="40" baseType="lpstr">
      <vt:lpstr>ＭＳ Ｐゴシック</vt:lpstr>
      <vt:lpstr>游ゴシック</vt:lpstr>
      <vt:lpstr>Arial</vt:lpstr>
      <vt:lpstr>Cambria Math</vt:lpstr>
      <vt:lpstr>Symbol</vt:lpstr>
      <vt:lpstr>Times New Roman</vt:lpstr>
      <vt:lpstr>Theme_Lab</vt:lpstr>
      <vt:lpstr>Equation</vt:lpstr>
      <vt:lpstr>多目的マルチタスク ナップサック問題の提案</vt:lpstr>
      <vt:lpstr>マルチタスク最適化について</vt:lpstr>
      <vt:lpstr>タスク間の関係性の分類</vt:lpstr>
      <vt:lpstr>タスク間の関係性の分類</vt:lpstr>
      <vt:lpstr>タスク間の関係性の分類</vt:lpstr>
      <vt:lpstr>タスク間の関係性の分類</vt:lpstr>
      <vt:lpstr>本研究の目的</vt:lpstr>
      <vt:lpstr>本研究の目的</vt:lpstr>
      <vt:lpstr>多目的ナップサック問題</vt:lpstr>
      <vt:lpstr>提案するベンチマーク問題</vt:lpstr>
      <vt:lpstr>提案するベンチマーク問題</vt:lpstr>
      <vt:lpstr>提案するベンチマーク問題</vt:lpstr>
      <vt:lpstr>提案するベンチマーク問題</vt:lpstr>
      <vt:lpstr>タスク間の関係性の調査</vt:lpstr>
      <vt:lpstr>最適解の類似性調査</vt:lpstr>
      <vt:lpstr>最適解の類似性調査</vt:lpstr>
      <vt:lpstr>最適解の類似性調査</vt:lpstr>
      <vt:lpstr>最適解の類似性調査</vt:lpstr>
      <vt:lpstr>最適解の類似性調査</vt:lpstr>
      <vt:lpstr>最適解の類似性調査</vt:lpstr>
      <vt:lpstr>最適解の類似性調査</vt:lpstr>
      <vt:lpstr>考察</vt:lpstr>
      <vt:lpstr>まとめ</vt:lpstr>
      <vt:lpstr>PowerPoint プレゼンテーション</vt:lpstr>
      <vt:lpstr>ナップサック問題の修復操作</vt:lpstr>
      <vt:lpstr>ナップサック問題の修復操作</vt:lpstr>
      <vt:lpstr>ナップサック問題の修復操作</vt:lpstr>
      <vt:lpstr>ナップサック問題の修復操作</vt:lpstr>
      <vt:lpstr>既存のベンチマーク問題</vt:lpstr>
      <vt:lpstr>数値実験</vt:lpstr>
      <vt:lpstr>実験結果</vt:lpstr>
      <vt:lpstr>実験結果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155</cp:revision>
  <dcterms:created xsi:type="dcterms:W3CDTF">2020-02-09T12:48:10Z</dcterms:created>
  <dcterms:modified xsi:type="dcterms:W3CDTF">2020-02-19T03:31:41Z</dcterms:modified>
</cp:coreProperties>
</file>