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6" r:id="rId1"/>
  </p:sldMasterIdLst>
  <p:notesMasterIdLst>
    <p:notesMasterId r:id="rId24"/>
  </p:notesMasterIdLst>
  <p:sldIdLst>
    <p:sldId id="256" r:id="rId2"/>
    <p:sldId id="258" r:id="rId3"/>
    <p:sldId id="257" r:id="rId4"/>
    <p:sldId id="285" r:id="rId5"/>
    <p:sldId id="266" r:id="rId6"/>
    <p:sldId id="284" r:id="rId7"/>
    <p:sldId id="260" r:id="rId8"/>
    <p:sldId id="277" r:id="rId9"/>
    <p:sldId id="276" r:id="rId10"/>
    <p:sldId id="287" r:id="rId11"/>
    <p:sldId id="269" r:id="rId12"/>
    <p:sldId id="272" r:id="rId13"/>
    <p:sldId id="270" r:id="rId14"/>
    <p:sldId id="279" r:id="rId15"/>
    <p:sldId id="280" r:id="rId16"/>
    <p:sldId id="261" r:id="rId17"/>
    <p:sldId id="286" r:id="rId18"/>
    <p:sldId id="274" r:id="rId19"/>
    <p:sldId id="262" r:id="rId20"/>
    <p:sldId id="283" r:id="rId21"/>
    <p:sldId id="263" r:id="rId22"/>
    <p:sldId id="265" r:id="rId23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瓜田 俊貴" initials="瓜田" lastIdx="0" clrIdx="0">
    <p:extLst>
      <p:ext uri="{19B8F6BF-5375-455C-9EA6-DF929625EA0E}">
        <p15:presenceInfo xmlns:p15="http://schemas.microsoft.com/office/powerpoint/2012/main" userId="6da0c281fe3edd2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9" autoAdjust="0"/>
    <p:restoredTop sz="94660"/>
  </p:normalViewPr>
  <p:slideViewPr>
    <p:cSldViewPr snapToGrid="0">
      <p:cViewPr varScale="1">
        <p:scale>
          <a:sx n="79" d="100"/>
          <a:sy n="79" d="100"/>
        </p:scale>
        <p:origin x="15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7171E-D003-4928-A895-08BB84F8FF99}" type="datetimeFigureOut">
              <a:rPr kumimoji="1" lang="ja-JP" altLang="en-US" smtClean="0"/>
              <a:t>2020/2/12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E448EF-D49C-48B3-BF1D-D5E1470A87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7344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-1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0720"/>
            <a:ext cx="7772400" cy="3434079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dirty="0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799"/>
            <a:ext cx="6400800" cy="2743201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163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228600" y="1365254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68795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78798" y="191542"/>
            <a:ext cx="34913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4181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669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 baseline="0">
                <a:latin typeface="+mn-lt"/>
                <a:ea typeface="+mn-ea"/>
              </a:defRPr>
            </a:lvl1pPr>
            <a:lvl2pPr marL="342900" indent="0" algn="just">
              <a:buNone/>
              <a:defRPr sz="2400" baseline="0">
                <a:latin typeface="+mn-lt"/>
                <a:ea typeface="+mn-ea"/>
              </a:defRPr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804269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5507155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02529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7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932991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8950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4" r:id="rId2"/>
    <p:sldLayoutId id="2147483668" r:id="rId3"/>
    <p:sldLayoutId id="2147483669" r:id="rId4"/>
    <p:sldLayoutId id="2147483673" r:id="rId5"/>
    <p:sldLayoutId id="2147483670" r:id="rId6"/>
    <p:sldLayoutId id="2147483671" r:id="rId7"/>
    <p:sldLayoutId id="2147483672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ja-JP" dirty="0" smtClean="0"/>
              <a:t>多目的マルチタスク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ja-JP" dirty="0" smtClean="0"/>
              <a:t>ナップサック</a:t>
            </a:r>
            <a:r>
              <a:rPr lang="ja-JP" altLang="ja-JP" dirty="0"/>
              <a:t>問題の</a:t>
            </a:r>
            <a:r>
              <a:rPr lang="ja-JP" altLang="ja-JP" dirty="0" smtClean="0"/>
              <a:t>提案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4685491"/>
            <a:ext cx="6400800" cy="1371600"/>
          </a:xfrm>
        </p:spPr>
        <p:txBody>
          <a:bodyPr/>
          <a:lstStyle/>
          <a:p>
            <a:r>
              <a:rPr kumimoji="1" lang="ja-JP" altLang="en-US" dirty="0" smtClean="0"/>
              <a:t>瓜田　俊貴</a:t>
            </a:r>
            <a:endParaRPr kumimoji="1" lang="en-US" altLang="ja-JP" dirty="0" smtClean="0"/>
          </a:p>
          <a:p>
            <a:r>
              <a:rPr lang="ja-JP" altLang="en-US" dirty="0" smtClean="0"/>
              <a:t>計算知能</a:t>
            </a:r>
            <a:r>
              <a:rPr lang="ja-JP" altLang="en-US" dirty="0"/>
              <a:t>工</a:t>
            </a:r>
            <a:r>
              <a:rPr lang="ja-JP" altLang="en-US" dirty="0" smtClean="0"/>
              <a:t>学</a:t>
            </a:r>
            <a:r>
              <a:rPr lang="ja-JP" altLang="en-US" dirty="0"/>
              <a:t>研究室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85873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マルチタスクとは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一般的には</a:t>
            </a:r>
            <a:r>
              <a:rPr kumimoji="1" lang="en-US" altLang="ja-JP" dirty="0" smtClean="0"/>
              <a:t>…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</a:t>
            </a:fld>
            <a:endParaRPr kumimoji="1" lang="ja-JP" altLang="en-US" dirty="0"/>
          </a:p>
        </p:txBody>
      </p:sp>
      <p:grpSp>
        <p:nvGrpSpPr>
          <p:cNvPr id="2" name="グループ化 1"/>
          <p:cNvGrpSpPr/>
          <p:nvPr/>
        </p:nvGrpSpPr>
        <p:grpSpPr>
          <a:xfrm>
            <a:off x="1145311" y="2959064"/>
            <a:ext cx="2330190" cy="1925477"/>
            <a:chOff x="775822" y="2780712"/>
            <a:chExt cx="2330190" cy="1925477"/>
          </a:xfrm>
        </p:grpSpPr>
        <p:sp>
          <p:nvSpPr>
            <p:cNvPr id="8" name="Freeform 634"/>
            <p:cNvSpPr>
              <a:spLocks noEditPoints="1"/>
            </p:cNvSpPr>
            <p:nvPr/>
          </p:nvSpPr>
          <p:spPr bwMode="auto">
            <a:xfrm>
              <a:off x="775822" y="2780712"/>
              <a:ext cx="2248732" cy="1925477"/>
            </a:xfrm>
            <a:custGeom>
              <a:avLst/>
              <a:gdLst>
                <a:gd name="T0" fmla="*/ 124 w 192"/>
                <a:gd name="T1" fmla="*/ 32 h 164"/>
                <a:gd name="T2" fmla="*/ 140 w 192"/>
                <a:gd name="T3" fmla="*/ 16 h 164"/>
                <a:gd name="T4" fmla="*/ 124 w 192"/>
                <a:gd name="T5" fmla="*/ 0 h 164"/>
                <a:gd name="T6" fmla="*/ 108 w 192"/>
                <a:gd name="T7" fmla="*/ 16 h 164"/>
                <a:gd name="T8" fmla="*/ 124 w 192"/>
                <a:gd name="T9" fmla="*/ 32 h 164"/>
                <a:gd name="T10" fmla="*/ 40 w 192"/>
                <a:gd name="T11" fmla="*/ 84 h 164"/>
                <a:gd name="T12" fmla="*/ 0 w 192"/>
                <a:gd name="T13" fmla="*/ 124 h 164"/>
                <a:gd name="T14" fmla="*/ 40 w 192"/>
                <a:gd name="T15" fmla="*/ 164 h 164"/>
                <a:gd name="T16" fmla="*/ 80 w 192"/>
                <a:gd name="T17" fmla="*/ 124 h 164"/>
                <a:gd name="T18" fmla="*/ 40 w 192"/>
                <a:gd name="T19" fmla="*/ 84 h 164"/>
                <a:gd name="T20" fmla="*/ 40 w 192"/>
                <a:gd name="T21" fmla="*/ 152 h 164"/>
                <a:gd name="T22" fmla="*/ 12 w 192"/>
                <a:gd name="T23" fmla="*/ 124 h 164"/>
                <a:gd name="T24" fmla="*/ 40 w 192"/>
                <a:gd name="T25" fmla="*/ 96 h 164"/>
                <a:gd name="T26" fmla="*/ 68 w 192"/>
                <a:gd name="T27" fmla="*/ 124 h 164"/>
                <a:gd name="T28" fmla="*/ 40 w 192"/>
                <a:gd name="T29" fmla="*/ 152 h 164"/>
                <a:gd name="T30" fmla="*/ 86 w 192"/>
                <a:gd name="T31" fmla="*/ 72 h 164"/>
                <a:gd name="T32" fmla="*/ 105 w 192"/>
                <a:gd name="T33" fmla="*/ 53 h 164"/>
                <a:gd name="T34" fmla="*/ 111 w 192"/>
                <a:gd name="T35" fmla="*/ 59 h 164"/>
                <a:gd name="T36" fmla="*/ 152 w 192"/>
                <a:gd name="T37" fmla="*/ 76 h 164"/>
                <a:gd name="T38" fmla="*/ 152 w 192"/>
                <a:gd name="T39" fmla="*/ 60 h 164"/>
                <a:gd name="T40" fmla="*/ 122 w 192"/>
                <a:gd name="T41" fmla="*/ 48 h 164"/>
                <a:gd name="T42" fmla="*/ 107 w 192"/>
                <a:gd name="T43" fmla="*/ 33 h 164"/>
                <a:gd name="T44" fmla="*/ 96 w 192"/>
                <a:gd name="T45" fmla="*/ 28 h 164"/>
                <a:gd name="T46" fmla="*/ 85 w 192"/>
                <a:gd name="T47" fmla="*/ 33 h 164"/>
                <a:gd name="T48" fmla="*/ 63 w 192"/>
                <a:gd name="T49" fmla="*/ 55 h 164"/>
                <a:gd name="T50" fmla="*/ 58 w 192"/>
                <a:gd name="T51" fmla="*/ 66 h 164"/>
                <a:gd name="T52" fmla="*/ 63 w 192"/>
                <a:gd name="T53" fmla="*/ 78 h 164"/>
                <a:gd name="T54" fmla="*/ 88 w 192"/>
                <a:gd name="T55" fmla="*/ 100 h 164"/>
                <a:gd name="T56" fmla="*/ 88 w 192"/>
                <a:gd name="T57" fmla="*/ 140 h 164"/>
                <a:gd name="T58" fmla="*/ 104 w 192"/>
                <a:gd name="T59" fmla="*/ 140 h 164"/>
                <a:gd name="T60" fmla="*/ 104 w 192"/>
                <a:gd name="T61" fmla="*/ 90 h 164"/>
                <a:gd name="T62" fmla="*/ 86 w 192"/>
                <a:gd name="T63" fmla="*/ 72 h 164"/>
                <a:gd name="T64" fmla="*/ 152 w 192"/>
                <a:gd name="T65" fmla="*/ 84 h 164"/>
                <a:gd name="T66" fmla="*/ 112 w 192"/>
                <a:gd name="T67" fmla="*/ 124 h 164"/>
                <a:gd name="T68" fmla="*/ 152 w 192"/>
                <a:gd name="T69" fmla="*/ 164 h 164"/>
                <a:gd name="T70" fmla="*/ 192 w 192"/>
                <a:gd name="T71" fmla="*/ 124 h 164"/>
                <a:gd name="T72" fmla="*/ 152 w 192"/>
                <a:gd name="T73" fmla="*/ 84 h 164"/>
                <a:gd name="T74" fmla="*/ 152 w 192"/>
                <a:gd name="T75" fmla="*/ 152 h 164"/>
                <a:gd name="T76" fmla="*/ 124 w 192"/>
                <a:gd name="T77" fmla="*/ 124 h 164"/>
                <a:gd name="T78" fmla="*/ 152 w 192"/>
                <a:gd name="T79" fmla="*/ 96 h 164"/>
                <a:gd name="T80" fmla="*/ 180 w 192"/>
                <a:gd name="T81" fmla="*/ 124 h 164"/>
                <a:gd name="T82" fmla="*/ 152 w 192"/>
                <a:gd name="T83" fmla="*/ 152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92" h="164">
                  <a:moveTo>
                    <a:pt x="124" y="32"/>
                  </a:moveTo>
                  <a:cubicBezTo>
                    <a:pt x="133" y="32"/>
                    <a:pt x="140" y="25"/>
                    <a:pt x="140" y="16"/>
                  </a:cubicBezTo>
                  <a:cubicBezTo>
                    <a:pt x="140" y="7"/>
                    <a:pt x="133" y="0"/>
                    <a:pt x="124" y="0"/>
                  </a:cubicBezTo>
                  <a:cubicBezTo>
                    <a:pt x="115" y="0"/>
                    <a:pt x="108" y="7"/>
                    <a:pt x="108" y="16"/>
                  </a:cubicBezTo>
                  <a:cubicBezTo>
                    <a:pt x="108" y="25"/>
                    <a:pt x="115" y="32"/>
                    <a:pt x="124" y="32"/>
                  </a:cubicBezTo>
                  <a:close/>
                  <a:moveTo>
                    <a:pt x="40" y="84"/>
                  </a:moveTo>
                  <a:cubicBezTo>
                    <a:pt x="18" y="84"/>
                    <a:pt x="0" y="102"/>
                    <a:pt x="0" y="124"/>
                  </a:cubicBezTo>
                  <a:cubicBezTo>
                    <a:pt x="0" y="146"/>
                    <a:pt x="18" y="164"/>
                    <a:pt x="40" y="164"/>
                  </a:cubicBezTo>
                  <a:cubicBezTo>
                    <a:pt x="62" y="164"/>
                    <a:pt x="80" y="146"/>
                    <a:pt x="80" y="124"/>
                  </a:cubicBezTo>
                  <a:cubicBezTo>
                    <a:pt x="80" y="102"/>
                    <a:pt x="62" y="84"/>
                    <a:pt x="40" y="84"/>
                  </a:cubicBezTo>
                  <a:close/>
                  <a:moveTo>
                    <a:pt x="40" y="152"/>
                  </a:moveTo>
                  <a:cubicBezTo>
                    <a:pt x="24" y="152"/>
                    <a:pt x="12" y="140"/>
                    <a:pt x="12" y="124"/>
                  </a:cubicBezTo>
                  <a:cubicBezTo>
                    <a:pt x="12" y="108"/>
                    <a:pt x="24" y="96"/>
                    <a:pt x="40" y="96"/>
                  </a:cubicBezTo>
                  <a:cubicBezTo>
                    <a:pt x="56" y="96"/>
                    <a:pt x="68" y="108"/>
                    <a:pt x="68" y="124"/>
                  </a:cubicBezTo>
                  <a:cubicBezTo>
                    <a:pt x="68" y="140"/>
                    <a:pt x="56" y="152"/>
                    <a:pt x="40" y="152"/>
                  </a:cubicBezTo>
                  <a:close/>
                  <a:moveTo>
                    <a:pt x="86" y="72"/>
                  </a:moveTo>
                  <a:cubicBezTo>
                    <a:pt x="105" y="53"/>
                    <a:pt x="105" y="53"/>
                    <a:pt x="105" y="53"/>
                  </a:cubicBezTo>
                  <a:cubicBezTo>
                    <a:pt x="111" y="59"/>
                    <a:pt x="111" y="59"/>
                    <a:pt x="111" y="59"/>
                  </a:cubicBezTo>
                  <a:cubicBezTo>
                    <a:pt x="121" y="70"/>
                    <a:pt x="135" y="76"/>
                    <a:pt x="152" y="76"/>
                  </a:cubicBezTo>
                  <a:cubicBezTo>
                    <a:pt x="152" y="60"/>
                    <a:pt x="152" y="60"/>
                    <a:pt x="152" y="60"/>
                  </a:cubicBezTo>
                  <a:cubicBezTo>
                    <a:pt x="140" y="60"/>
                    <a:pt x="130" y="55"/>
                    <a:pt x="122" y="48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4" y="30"/>
                    <a:pt x="100" y="28"/>
                    <a:pt x="96" y="28"/>
                  </a:cubicBezTo>
                  <a:cubicBezTo>
                    <a:pt x="92" y="28"/>
                    <a:pt x="88" y="30"/>
                    <a:pt x="85" y="33"/>
                  </a:cubicBezTo>
                  <a:cubicBezTo>
                    <a:pt x="63" y="55"/>
                    <a:pt x="63" y="55"/>
                    <a:pt x="63" y="55"/>
                  </a:cubicBezTo>
                  <a:cubicBezTo>
                    <a:pt x="60" y="58"/>
                    <a:pt x="58" y="62"/>
                    <a:pt x="58" y="66"/>
                  </a:cubicBezTo>
                  <a:cubicBezTo>
                    <a:pt x="58" y="70"/>
                    <a:pt x="60" y="74"/>
                    <a:pt x="63" y="78"/>
                  </a:cubicBezTo>
                  <a:cubicBezTo>
                    <a:pt x="88" y="100"/>
                    <a:pt x="88" y="100"/>
                    <a:pt x="88" y="100"/>
                  </a:cubicBezTo>
                  <a:cubicBezTo>
                    <a:pt x="88" y="140"/>
                    <a:pt x="88" y="140"/>
                    <a:pt x="88" y="140"/>
                  </a:cubicBezTo>
                  <a:cubicBezTo>
                    <a:pt x="104" y="140"/>
                    <a:pt x="104" y="140"/>
                    <a:pt x="104" y="140"/>
                  </a:cubicBezTo>
                  <a:cubicBezTo>
                    <a:pt x="104" y="90"/>
                    <a:pt x="104" y="90"/>
                    <a:pt x="104" y="90"/>
                  </a:cubicBezTo>
                  <a:lnTo>
                    <a:pt x="86" y="72"/>
                  </a:lnTo>
                  <a:close/>
                  <a:moveTo>
                    <a:pt x="152" y="84"/>
                  </a:moveTo>
                  <a:cubicBezTo>
                    <a:pt x="130" y="84"/>
                    <a:pt x="112" y="102"/>
                    <a:pt x="112" y="124"/>
                  </a:cubicBezTo>
                  <a:cubicBezTo>
                    <a:pt x="112" y="146"/>
                    <a:pt x="130" y="164"/>
                    <a:pt x="152" y="164"/>
                  </a:cubicBezTo>
                  <a:cubicBezTo>
                    <a:pt x="174" y="164"/>
                    <a:pt x="192" y="146"/>
                    <a:pt x="192" y="124"/>
                  </a:cubicBezTo>
                  <a:cubicBezTo>
                    <a:pt x="192" y="102"/>
                    <a:pt x="174" y="84"/>
                    <a:pt x="152" y="84"/>
                  </a:cubicBezTo>
                  <a:close/>
                  <a:moveTo>
                    <a:pt x="152" y="152"/>
                  </a:moveTo>
                  <a:cubicBezTo>
                    <a:pt x="136" y="152"/>
                    <a:pt x="124" y="140"/>
                    <a:pt x="124" y="124"/>
                  </a:cubicBezTo>
                  <a:cubicBezTo>
                    <a:pt x="124" y="108"/>
                    <a:pt x="136" y="96"/>
                    <a:pt x="152" y="96"/>
                  </a:cubicBezTo>
                  <a:cubicBezTo>
                    <a:pt x="168" y="96"/>
                    <a:pt x="180" y="108"/>
                    <a:pt x="180" y="124"/>
                  </a:cubicBezTo>
                  <a:cubicBezTo>
                    <a:pt x="180" y="140"/>
                    <a:pt x="168" y="152"/>
                    <a:pt x="152" y="15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dirty="0"/>
            </a:p>
          </p:txBody>
        </p:sp>
        <p:sp>
          <p:nvSpPr>
            <p:cNvPr id="10" name="Freeform 18"/>
            <p:cNvSpPr>
              <a:spLocks noEditPoints="1"/>
            </p:cNvSpPr>
            <p:nvPr/>
          </p:nvSpPr>
          <p:spPr bwMode="auto">
            <a:xfrm>
              <a:off x="2630660" y="2869808"/>
              <a:ext cx="475352" cy="789466"/>
            </a:xfrm>
            <a:custGeom>
              <a:avLst/>
              <a:gdLst>
                <a:gd name="T0" fmla="*/ 190 w 200"/>
                <a:gd name="T1" fmla="*/ 10 h 334"/>
                <a:gd name="T2" fmla="*/ 167 w 200"/>
                <a:gd name="T3" fmla="*/ 0 h 334"/>
                <a:gd name="T4" fmla="*/ 33 w 200"/>
                <a:gd name="T5" fmla="*/ 0 h 334"/>
                <a:gd name="T6" fmla="*/ 10 w 200"/>
                <a:gd name="T7" fmla="*/ 10 h 334"/>
                <a:gd name="T8" fmla="*/ 0 w 200"/>
                <a:gd name="T9" fmla="*/ 33 h 334"/>
                <a:gd name="T10" fmla="*/ 0 w 200"/>
                <a:gd name="T11" fmla="*/ 300 h 334"/>
                <a:gd name="T12" fmla="*/ 10 w 200"/>
                <a:gd name="T13" fmla="*/ 324 h 334"/>
                <a:gd name="T14" fmla="*/ 33 w 200"/>
                <a:gd name="T15" fmla="*/ 334 h 334"/>
                <a:gd name="T16" fmla="*/ 167 w 200"/>
                <a:gd name="T17" fmla="*/ 334 h 334"/>
                <a:gd name="T18" fmla="*/ 190 w 200"/>
                <a:gd name="T19" fmla="*/ 324 h 334"/>
                <a:gd name="T20" fmla="*/ 200 w 200"/>
                <a:gd name="T21" fmla="*/ 300 h 334"/>
                <a:gd name="T22" fmla="*/ 200 w 200"/>
                <a:gd name="T23" fmla="*/ 33 h 334"/>
                <a:gd name="T24" fmla="*/ 190 w 200"/>
                <a:gd name="T25" fmla="*/ 10 h 334"/>
                <a:gd name="T26" fmla="*/ 79 w 200"/>
                <a:gd name="T27" fmla="*/ 33 h 334"/>
                <a:gd name="T28" fmla="*/ 121 w 200"/>
                <a:gd name="T29" fmla="*/ 33 h 334"/>
                <a:gd name="T30" fmla="*/ 125 w 200"/>
                <a:gd name="T31" fmla="*/ 38 h 334"/>
                <a:gd name="T32" fmla="*/ 121 w 200"/>
                <a:gd name="T33" fmla="*/ 42 h 334"/>
                <a:gd name="T34" fmla="*/ 79 w 200"/>
                <a:gd name="T35" fmla="*/ 42 h 334"/>
                <a:gd name="T36" fmla="*/ 75 w 200"/>
                <a:gd name="T37" fmla="*/ 38 h 334"/>
                <a:gd name="T38" fmla="*/ 79 w 200"/>
                <a:gd name="T39" fmla="*/ 33 h 334"/>
                <a:gd name="T40" fmla="*/ 115 w 200"/>
                <a:gd name="T41" fmla="*/ 315 h 334"/>
                <a:gd name="T42" fmla="*/ 100 w 200"/>
                <a:gd name="T43" fmla="*/ 321 h 334"/>
                <a:gd name="T44" fmla="*/ 85 w 200"/>
                <a:gd name="T45" fmla="*/ 315 h 334"/>
                <a:gd name="T46" fmla="*/ 79 w 200"/>
                <a:gd name="T47" fmla="*/ 300 h 334"/>
                <a:gd name="T48" fmla="*/ 85 w 200"/>
                <a:gd name="T49" fmla="*/ 286 h 334"/>
                <a:gd name="T50" fmla="*/ 100 w 200"/>
                <a:gd name="T51" fmla="*/ 279 h 334"/>
                <a:gd name="T52" fmla="*/ 115 w 200"/>
                <a:gd name="T53" fmla="*/ 286 h 334"/>
                <a:gd name="T54" fmla="*/ 121 w 200"/>
                <a:gd name="T55" fmla="*/ 300 h 334"/>
                <a:gd name="T56" fmla="*/ 115 w 200"/>
                <a:gd name="T57" fmla="*/ 315 h 334"/>
                <a:gd name="T58" fmla="*/ 175 w 200"/>
                <a:gd name="T59" fmla="*/ 259 h 334"/>
                <a:gd name="T60" fmla="*/ 173 w 200"/>
                <a:gd name="T61" fmla="*/ 264 h 334"/>
                <a:gd name="T62" fmla="*/ 167 w 200"/>
                <a:gd name="T63" fmla="*/ 267 h 334"/>
                <a:gd name="T64" fmla="*/ 33 w 200"/>
                <a:gd name="T65" fmla="*/ 267 h 334"/>
                <a:gd name="T66" fmla="*/ 28 w 200"/>
                <a:gd name="T67" fmla="*/ 264 h 334"/>
                <a:gd name="T68" fmla="*/ 25 w 200"/>
                <a:gd name="T69" fmla="*/ 259 h 334"/>
                <a:gd name="T70" fmla="*/ 25 w 200"/>
                <a:gd name="T71" fmla="*/ 75 h 334"/>
                <a:gd name="T72" fmla="*/ 28 w 200"/>
                <a:gd name="T73" fmla="*/ 69 h 334"/>
                <a:gd name="T74" fmla="*/ 33 w 200"/>
                <a:gd name="T75" fmla="*/ 67 h 334"/>
                <a:gd name="T76" fmla="*/ 167 w 200"/>
                <a:gd name="T77" fmla="*/ 67 h 334"/>
                <a:gd name="T78" fmla="*/ 173 w 200"/>
                <a:gd name="T79" fmla="*/ 69 h 334"/>
                <a:gd name="T80" fmla="*/ 175 w 200"/>
                <a:gd name="T81" fmla="*/ 75 h 334"/>
                <a:gd name="T82" fmla="*/ 175 w 200"/>
                <a:gd name="T83" fmla="*/ 259 h 334"/>
                <a:gd name="T84" fmla="*/ 175 w 200"/>
                <a:gd name="T85" fmla="*/ 259 h 334"/>
                <a:gd name="T86" fmla="*/ 175 w 200"/>
                <a:gd name="T87" fmla="*/ 259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00" h="334">
                  <a:moveTo>
                    <a:pt x="190" y="10"/>
                  </a:moveTo>
                  <a:cubicBezTo>
                    <a:pt x="184" y="3"/>
                    <a:pt x="176" y="0"/>
                    <a:pt x="167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24" y="0"/>
                    <a:pt x="17" y="3"/>
                    <a:pt x="10" y="10"/>
                  </a:cubicBezTo>
                  <a:cubicBezTo>
                    <a:pt x="3" y="17"/>
                    <a:pt x="0" y="24"/>
                    <a:pt x="0" y="33"/>
                  </a:cubicBezTo>
                  <a:cubicBezTo>
                    <a:pt x="0" y="300"/>
                    <a:pt x="0" y="300"/>
                    <a:pt x="0" y="300"/>
                  </a:cubicBezTo>
                  <a:cubicBezTo>
                    <a:pt x="0" y="309"/>
                    <a:pt x="3" y="317"/>
                    <a:pt x="10" y="324"/>
                  </a:cubicBezTo>
                  <a:cubicBezTo>
                    <a:pt x="17" y="330"/>
                    <a:pt x="24" y="334"/>
                    <a:pt x="33" y="334"/>
                  </a:cubicBezTo>
                  <a:cubicBezTo>
                    <a:pt x="167" y="334"/>
                    <a:pt x="167" y="334"/>
                    <a:pt x="167" y="334"/>
                  </a:cubicBezTo>
                  <a:cubicBezTo>
                    <a:pt x="176" y="334"/>
                    <a:pt x="184" y="330"/>
                    <a:pt x="190" y="324"/>
                  </a:cubicBezTo>
                  <a:cubicBezTo>
                    <a:pt x="197" y="317"/>
                    <a:pt x="200" y="309"/>
                    <a:pt x="200" y="300"/>
                  </a:cubicBezTo>
                  <a:cubicBezTo>
                    <a:pt x="200" y="33"/>
                    <a:pt x="200" y="33"/>
                    <a:pt x="200" y="33"/>
                  </a:cubicBezTo>
                  <a:cubicBezTo>
                    <a:pt x="200" y="24"/>
                    <a:pt x="197" y="17"/>
                    <a:pt x="190" y="10"/>
                  </a:cubicBezTo>
                  <a:close/>
                  <a:moveTo>
                    <a:pt x="79" y="33"/>
                  </a:moveTo>
                  <a:cubicBezTo>
                    <a:pt x="121" y="33"/>
                    <a:pt x="121" y="33"/>
                    <a:pt x="121" y="33"/>
                  </a:cubicBezTo>
                  <a:cubicBezTo>
                    <a:pt x="124" y="33"/>
                    <a:pt x="125" y="35"/>
                    <a:pt x="125" y="38"/>
                  </a:cubicBezTo>
                  <a:cubicBezTo>
                    <a:pt x="125" y="40"/>
                    <a:pt x="124" y="42"/>
                    <a:pt x="121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6" y="42"/>
                    <a:pt x="75" y="40"/>
                    <a:pt x="75" y="38"/>
                  </a:cubicBezTo>
                  <a:cubicBezTo>
                    <a:pt x="75" y="35"/>
                    <a:pt x="76" y="33"/>
                    <a:pt x="79" y="33"/>
                  </a:cubicBezTo>
                  <a:close/>
                  <a:moveTo>
                    <a:pt x="115" y="315"/>
                  </a:moveTo>
                  <a:cubicBezTo>
                    <a:pt x="111" y="319"/>
                    <a:pt x="106" y="321"/>
                    <a:pt x="100" y="321"/>
                  </a:cubicBezTo>
                  <a:cubicBezTo>
                    <a:pt x="94" y="321"/>
                    <a:pt x="89" y="319"/>
                    <a:pt x="85" y="315"/>
                  </a:cubicBezTo>
                  <a:cubicBezTo>
                    <a:pt x="81" y="311"/>
                    <a:pt x="79" y="306"/>
                    <a:pt x="79" y="300"/>
                  </a:cubicBezTo>
                  <a:cubicBezTo>
                    <a:pt x="79" y="295"/>
                    <a:pt x="81" y="290"/>
                    <a:pt x="85" y="286"/>
                  </a:cubicBezTo>
                  <a:cubicBezTo>
                    <a:pt x="89" y="282"/>
                    <a:pt x="94" y="279"/>
                    <a:pt x="100" y="279"/>
                  </a:cubicBezTo>
                  <a:cubicBezTo>
                    <a:pt x="106" y="279"/>
                    <a:pt x="111" y="282"/>
                    <a:pt x="115" y="286"/>
                  </a:cubicBezTo>
                  <a:cubicBezTo>
                    <a:pt x="119" y="290"/>
                    <a:pt x="121" y="295"/>
                    <a:pt x="121" y="300"/>
                  </a:cubicBezTo>
                  <a:cubicBezTo>
                    <a:pt x="121" y="306"/>
                    <a:pt x="119" y="311"/>
                    <a:pt x="115" y="315"/>
                  </a:cubicBezTo>
                  <a:close/>
                  <a:moveTo>
                    <a:pt x="175" y="259"/>
                  </a:moveTo>
                  <a:cubicBezTo>
                    <a:pt x="175" y="261"/>
                    <a:pt x="174" y="263"/>
                    <a:pt x="173" y="264"/>
                  </a:cubicBezTo>
                  <a:cubicBezTo>
                    <a:pt x="171" y="266"/>
                    <a:pt x="169" y="267"/>
                    <a:pt x="167" y="267"/>
                  </a:cubicBezTo>
                  <a:cubicBezTo>
                    <a:pt x="33" y="267"/>
                    <a:pt x="33" y="267"/>
                    <a:pt x="33" y="267"/>
                  </a:cubicBezTo>
                  <a:cubicBezTo>
                    <a:pt x="31" y="267"/>
                    <a:pt x="29" y="266"/>
                    <a:pt x="28" y="264"/>
                  </a:cubicBezTo>
                  <a:cubicBezTo>
                    <a:pt x="26" y="263"/>
                    <a:pt x="25" y="261"/>
                    <a:pt x="25" y="259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3"/>
                    <a:pt x="26" y="71"/>
                    <a:pt x="28" y="69"/>
                  </a:cubicBezTo>
                  <a:cubicBezTo>
                    <a:pt x="29" y="68"/>
                    <a:pt x="31" y="67"/>
                    <a:pt x="33" y="67"/>
                  </a:cubicBezTo>
                  <a:cubicBezTo>
                    <a:pt x="167" y="67"/>
                    <a:pt x="167" y="67"/>
                    <a:pt x="167" y="67"/>
                  </a:cubicBezTo>
                  <a:cubicBezTo>
                    <a:pt x="169" y="67"/>
                    <a:pt x="171" y="68"/>
                    <a:pt x="173" y="69"/>
                  </a:cubicBezTo>
                  <a:cubicBezTo>
                    <a:pt x="174" y="71"/>
                    <a:pt x="175" y="73"/>
                    <a:pt x="175" y="75"/>
                  </a:cubicBezTo>
                  <a:lnTo>
                    <a:pt x="175" y="259"/>
                  </a:lnTo>
                  <a:close/>
                  <a:moveTo>
                    <a:pt x="175" y="259"/>
                  </a:moveTo>
                  <a:cubicBezTo>
                    <a:pt x="175" y="259"/>
                    <a:pt x="175" y="259"/>
                    <a:pt x="175" y="259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/>
          </p:spPr>
          <p:txBody>
            <a:bodyPr vert="horz" wrap="square" lIns="182852" tIns="91426" rIns="182852" bIns="91426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7199" dirty="0"/>
            </a:p>
          </p:txBody>
        </p:sp>
      </p:grpSp>
      <p:grpSp>
        <p:nvGrpSpPr>
          <p:cNvPr id="34" name="グループ化 33"/>
          <p:cNvGrpSpPr/>
          <p:nvPr/>
        </p:nvGrpSpPr>
        <p:grpSpPr>
          <a:xfrm>
            <a:off x="5430367" y="3264541"/>
            <a:ext cx="2568322" cy="1620000"/>
            <a:chOff x="5060878" y="3264541"/>
            <a:chExt cx="2568322" cy="1620000"/>
          </a:xfrm>
        </p:grpSpPr>
        <p:sp>
          <p:nvSpPr>
            <p:cNvPr id="14" name="Freeform 1958"/>
            <p:cNvSpPr>
              <a:spLocks/>
            </p:cNvSpPr>
            <p:nvPr/>
          </p:nvSpPr>
          <p:spPr bwMode="auto">
            <a:xfrm rot="2700000">
              <a:off x="5060878" y="3329787"/>
              <a:ext cx="557024" cy="557024"/>
            </a:xfrm>
            <a:custGeom>
              <a:avLst/>
              <a:gdLst>
                <a:gd name="T0" fmla="*/ 29 w 144"/>
                <a:gd name="T1" fmla="*/ 62 h 144"/>
                <a:gd name="T2" fmla="*/ 82 w 144"/>
                <a:gd name="T3" fmla="*/ 115 h 144"/>
                <a:gd name="T4" fmla="*/ 99 w 144"/>
                <a:gd name="T5" fmla="*/ 97 h 144"/>
                <a:gd name="T6" fmla="*/ 107 w 144"/>
                <a:gd name="T7" fmla="*/ 95 h 144"/>
                <a:gd name="T8" fmla="*/ 136 w 144"/>
                <a:gd name="T9" fmla="*/ 100 h 144"/>
                <a:gd name="T10" fmla="*/ 144 w 144"/>
                <a:gd name="T11" fmla="*/ 108 h 144"/>
                <a:gd name="T12" fmla="*/ 144 w 144"/>
                <a:gd name="T13" fmla="*/ 136 h 144"/>
                <a:gd name="T14" fmla="*/ 136 w 144"/>
                <a:gd name="T15" fmla="*/ 144 h 144"/>
                <a:gd name="T16" fmla="*/ 0 w 144"/>
                <a:gd name="T17" fmla="*/ 8 h 144"/>
                <a:gd name="T18" fmla="*/ 8 w 144"/>
                <a:gd name="T19" fmla="*/ 0 h 144"/>
                <a:gd name="T20" fmla="*/ 36 w 144"/>
                <a:gd name="T21" fmla="*/ 0 h 144"/>
                <a:gd name="T22" fmla="*/ 44 w 144"/>
                <a:gd name="T23" fmla="*/ 8 h 144"/>
                <a:gd name="T24" fmla="*/ 49 w 144"/>
                <a:gd name="T25" fmla="*/ 37 h 144"/>
                <a:gd name="T26" fmla="*/ 47 w 144"/>
                <a:gd name="T27" fmla="*/ 45 h 144"/>
                <a:gd name="T28" fmla="*/ 29 w 144"/>
                <a:gd name="T29" fmla="*/ 62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4" h="144">
                  <a:moveTo>
                    <a:pt x="29" y="62"/>
                  </a:moveTo>
                  <a:cubicBezTo>
                    <a:pt x="41" y="85"/>
                    <a:pt x="59" y="104"/>
                    <a:pt x="82" y="115"/>
                  </a:cubicBezTo>
                  <a:cubicBezTo>
                    <a:pt x="99" y="97"/>
                    <a:pt x="99" y="97"/>
                    <a:pt x="99" y="97"/>
                  </a:cubicBezTo>
                  <a:cubicBezTo>
                    <a:pt x="102" y="95"/>
                    <a:pt x="105" y="95"/>
                    <a:pt x="107" y="95"/>
                  </a:cubicBezTo>
                  <a:cubicBezTo>
                    <a:pt x="116" y="98"/>
                    <a:pt x="126" y="100"/>
                    <a:pt x="136" y="100"/>
                  </a:cubicBezTo>
                  <a:cubicBezTo>
                    <a:pt x="140" y="100"/>
                    <a:pt x="144" y="104"/>
                    <a:pt x="144" y="108"/>
                  </a:cubicBezTo>
                  <a:cubicBezTo>
                    <a:pt x="144" y="136"/>
                    <a:pt x="144" y="136"/>
                    <a:pt x="144" y="136"/>
                  </a:cubicBezTo>
                  <a:cubicBezTo>
                    <a:pt x="144" y="140"/>
                    <a:pt x="140" y="144"/>
                    <a:pt x="136" y="144"/>
                  </a:cubicBezTo>
                  <a:cubicBezTo>
                    <a:pt x="61" y="144"/>
                    <a:pt x="0" y="83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40" y="0"/>
                    <a:pt x="44" y="4"/>
                    <a:pt x="44" y="8"/>
                  </a:cubicBezTo>
                  <a:cubicBezTo>
                    <a:pt x="44" y="18"/>
                    <a:pt x="46" y="28"/>
                    <a:pt x="49" y="37"/>
                  </a:cubicBezTo>
                  <a:cubicBezTo>
                    <a:pt x="49" y="39"/>
                    <a:pt x="49" y="42"/>
                    <a:pt x="47" y="45"/>
                  </a:cubicBezTo>
                  <a:lnTo>
                    <a:pt x="29" y="6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dirty="0"/>
            </a:p>
          </p:txBody>
        </p:sp>
        <p:sp>
          <p:nvSpPr>
            <p:cNvPr id="32" name="Freeform 14"/>
            <p:cNvSpPr>
              <a:spLocks noChangeAspect="1" noEditPoints="1"/>
            </p:cNvSpPr>
            <p:nvPr/>
          </p:nvSpPr>
          <p:spPr bwMode="auto">
            <a:xfrm>
              <a:off x="6946947" y="4200932"/>
              <a:ext cx="682253" cy="683609"/>
            </a:xfrm>
            <a:custGeom>
              <a:avLst/>
              <a:gdLst>
                <a:gd name="T0" fmla="*/ 1158 w 1509"/>
                <a:gd name="T1" fmla="*/ 159 h 1511"/>
                <a:gd name="T2" fmla="*/ 708 w 1509"/>
                <a:gd name="T3" fmla="*/ 907 h 1511"/>
                <a:gd name="T4" fmla="*/ 1342 w 1509"/>
                <a:gd name="T5" fmla="*/ 512 h 1511"/>
                <a:gd name="T6" fmla="*/ 1306 w 1509"/>
                <a:gd name="T7" fmla="*/ 518 h 1511"/>
                <a:gd name="T8" fmla="*/ 1282 w 1509"/>
                <a:gd name="T9" fmla="*/ 533 h 1511"/>
                <a:gd name="T10" fmla="*/ 1265 w 1509"/>
                <a:gd name="T11" fmla="*/ 557 h 1511"/>
                <a:gd name="T12" fmla="*/ 1259 w 1509"/>
                <a:gd name="T13" fmla="*/ 1293 h 1511"/>
                <a:gd name="T14" fmla="*/ 1254 w 1509"/>
                <a:gd name="T15" fmla="*/ 1314 h 1511"/>
                <a:gd name="T16" fmla="*/ 1234 w 1509"/>
                <a:gd name="T17" fmla="*/ 1338 h 1511"/>
                <a:gd name="T18" fmla="*/ 1203 w 1509"/>
                <a:gd name="T19" fmla="*/ 1347 h 1511"/>
                <a:gd name="T20" fmla="*/ 208 w 1509"/>
                <a:gd name="T21" fmla="*/ 1346 h 1511"/>
                <a:gd name="T22" fmla="*/ 181 w 1509"/>
                <a:gd name="T23" fmla="*/ 1331 h 1511"/>
                <a:gd name="T24" fmla="*/ 165 w 1509"/>
                <a:gd name="T25" fmla="*/ 1303 h 1511"/>
                <a:gd name="T26" fmla="*/ 164 w 1509"/>
                <a:gd name="T27" fmla="*/ 308 h 1511"/>
                <a:gd name="T28" fmla="*/ 173 w 1509"/>
                <a:gd name="T29" fmla="*/ 277 h 1511"/>
                <a:gd name="T30" fmla="*/ 197 w 1509"/>
                <a:gd name="T31" fmla="*/ 257 h 1511"/>
                <a:gd name="T32" fmla="*/ 923 w 1509"/>
                <a:gd name="T33" fmla="*/ 252 h 1511"/>
                <a:gd name="T34" fmla="*/ 943 w 1509"/>
                <a:gd name="T35" fmla="*/ 242 h 1511"/>
                <a:gd name="T36" fmla="*/ 972 w 1509"/>
                <a:gd name="T37" fmla="*/ 214 h 1511"/>
                <a:gd name="T38" fmla="*/ 984 w 1509"/>
                <a:gd name="T39" fmla="*/ 191 h 1511"/>
                <a:gd name="T40" fmla="*/ 986 w 1509"/>
                <a:gd name="T41" fmla="*/ 172 h 1511"/>
                <a:gd name="T42" fmla="*/ 981 w 1509"/>
                <a:gd name="T43" fmla="*/ 131 h 1511"/>
                <a:gd name="T44" fmla="*/ 969 w 1509"/>
                <a:gd name="T45" fmla="*/ 108 h 1511"/>
                <a:gd name="T46" fmla="*/ 949 w 1509"/>
                <a:gd name="T47" fmla="*/ 92 h 1511"/>
                <a:gd name="T48" fmla="*/ 164 w 1509"/>
                <a:gd name="T49" fmla="*/ 88 h 1511"/>
                <a:gd name="T50" fmla="*/ 131 w 1509"/>
                <a:gd name="T51" fmla="*/ 92 h 1511"/>
                <a:gd name="T52" fmla="*/ 86 w 1509"/>
                <a:gd name="T53" fmla="*/ 108 h 1511"/>
                <a:gd name="T54" fmla="*/ 48 w 1509"/>
                <a:gd name="T55" fmla="*/ 137 h 1511"/>
                <a:gd name="T56" fmla="*/ 20 w 1509"/>
                <a:gd name="T57" fmla="*/ 174 h 1511"/>
                <a:gd name="T58" fmla="*/ 3 w 1509"/>
                <a:gd name="T59" fmla="*/ 219 h 1511"/>
                <a:gd name="T60" fmla="*/ 0 w 1509"/>
                <a:gd name="T61" fmla="*/ 1347 h 1511"/>
                <a:gd name="T62" fmla="*/ 3 w 1509"/>
                <a:gd name="T63" fmla="*/ 1380 h 1511"/>
                <a:gd name="T64" fmla="*/ 20 w 1509"/>
                <a:gd name="T65" fmla="*/ 1425 h 1511"/>
                <a:gd name="T66" fmla="*/ 48 w 1509"/>
                <a:gd name="T67" fmla="*/ 1463 h 1511"/>
                <a:gd name="T68" fmla="*/ 86 w 1509"/>
                <a:gd name="T69" fmla="*/ 1491 h 1511"/>
                <a:gd name="T70" fmla="*/ 131 w 1509"/>
                <a:gd name="T71" fmla="*/ 1508 h 1511"/>
                <a:gd name="T72" fmla="*/ 1259 w 1509"/>
                <a:gd name="T73" fmla="*/ 1511 h 1511"/>
                <a:gd name="T74" fmla="*/ 1292 w 1509"/>
                <a:gd name="T75" fmla="*/ 1508 h 1511"/>
                <a:gd name="T76" fmla="*/ 1337 w 1509"/>
                <a:gd name="T77" fmla="*/ 1491 h 1511"/>
                <a:gd name="T78" fmla="*/ 1374 w 1509"/>
                <a:gd name="T79" fmla="*/ 1463 h 1511"/>
                <a:gd name="T80" fmla="*/ 1403 w 1509"/>
                <a:gd name="T81" fmla="*/ 1425 h 1511"/>
                <a:gd name="T82" fmla="*/ 1419 w 1509"/>
                <a:gd name="T83" fmla="*/ 1380 h 1511"/>
                <a:gd name="T84" fmla="*/ 1423 w 1509"/>
                <a:gd name="T85" fmla="*/ 577 h 1511"/>
                <a:gd name="T86" fmla="*/ 1419 w 1509"/>
                <a:gd name="T87" fmla="*/ 559 h 1511"/>
                <a:gd name="T88" fmla="*/ 1404 w 1509"/>
                <a:gd name="T89" fmla="*/ 540 h 1511"/>
                <a:gd name="T90" fmla="*/ 1367 w 1509"/>
                <a:gd name="T91" fmla="*/ 520 h 1511"/>
                <a:gd name="T92" fmla="*/ 1342 w 1509"/>
                <a:gd name="T93" fmla="*/ 512 h 1511"/>
                <a:gd name="T94" fmla="*/ 1374 w 1509"/>
                <a:gd name="T95" fmla="*/ 23 h 1511"/>
                <a:gd name="T96" fmla="*/ 1352 w 1509"/>
                <a:gd name="T97" fmla="*/ 4 h 1511"/>
                <a:gd name="T98" fmla="*/ 1334 w 1509"/>
                <a:gd name="T99" fmla="*/ 0 h 1511"/>
                <a:gd name="T100" fmla="*/ 1314 w 1509"/>
                <a:gd name="T101" fmla="*/ 4 h 1511"/>
                <a:gd name="T102" fmla="*/ 1207 w 1509"/>
                <a:gd name="T103" fmla="*/ 113 h 1511"/>
                <a:gd name="T104" fmla="*/ 1492 w 1509"/>
                <a:gd name="T105" fmla="*/ 213 h 1511"/>
                <a:gd name="T106" fmla="*/ 1507 w 1509"/>
                <a:gd name="T107" fmla="*/ 193 h 1511"/>
                <a:gd name="T108" fmla="*/ 1509 w 1509"/>
                <a:gd name="T109" fmla="*/ 178 h 1511"/>
                <a:gd name="T110" fmla="*/ 1502 w 1509"/>
                <a:gd name="T111" fmla="*/ 159 h 1511"/>
                <a:gd name="T112" fmla="*/ 1491 w 1509"/>
                <a:gd name="T113" fmla="*/ 145 h 1511"/>
                <a:gd name="T114" fmla="*/ 577 w 1509"/>
                <a:gd name="T115" fmla="*/ 860 h 15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509" h="1511">
                  <a:moveTo>
                    <a:pt x="900" y="806"/>
                  </a:moveTo>
                  <a:lnTo>
                    <a:pt x="1365" y="355"/>
                  </a:lnTo>
                  <a:lnTo>
                    <a:pt x="1158" y="159"/>
                  </a:lnTo>
                  <a:lnTo>
                    <a:pt x="688" y="624"/>
                  </a:lnTo>
                  <a:lnTo>
                    <a:pt x="616" y="806"/>
                  </a:lnTo>
                  <a:lnTo>
                    <a:pt x="708" y="907"/>
                  </a:lnTo>
                  <a:lnTo>
                    <a:pt x="900" y="806"/>
                  </a:lnTo>
                  <a:close/>
                  <a:moveTo>
                    <a:pt x="1342" y="512"/>
                  </a:moveTo>
                  <a:lnTo>
                    <a:pt x="1342" y="512"/>
                  </a:lnTo>
                  <a:lnTo>
                    <a:pt x="1328" y="513"/>
                  </a:lnTo>
                  <a:lnTo>
                    <a:pt x="1317" y="516"/>
                  </a:lnTo>
                  <a:lnTo>
                    <a:pt x="1306" y="518"/>
                  </a:lnTo>
                  <a:lnTo>
                    <a:pt x="1298" y="523"/>
                  </a:lnTo>
                  <a:lnTo>
                    <a:pt x="1289" y="527"/>
                  </a:lnTo>
                  <a:lnTo>
                    <a:pt x="1282" y="533"/>
                  </a:lnTo>
                  <a:lnTo>
                    <a:pt x="1276" y="539"/>
                  </a:lnTo>
                  <a:lnTo>
                    <a:pt x="1272" y="545"/>
                  </a:lnTo>
                  <a:lnTo>
                    <a:pt x="1265" y="557"/>
                  </a:lnTo>
                  <a:lnTo>
                    <a:pt x="1261" y="566"/>
                  </a:lnTo>
                  <a:lnTo>
                    <a:pt x="1259" y="577"/>
                  </a:lnTo>
                  <a:lnTo>
                    <a:pt x="1259" y="1293"/>
                  </a:lnTo>
                  <a:lnTo>
                    <a:pt x="1259" y="1293"/>
                  </a:lnTo>
                  <a:lnTo>
                    <a:pt x="1257" y="1303"/>
                  </a:lnTo>
                  <a:lnTo>
                    <a:pt x="1254" y="1314"/>
                  </a:lnTo>
                  <a:lnTo>
                    <a:pt x="1249" y="1323"/>
                  </a:lnTo>
                  <a:lnTo>
                    <a:pt x="1242" y="1331"/>
                  </a:lnTo>
                  <a:lnTo>
                    <a:pt x="1234" y="1338"/>
                  </a:lnTo>
                  <a:lnTo>
                    <a:pt x="1224" y="1342"/>
                  </a:lnTo>
                  <a:lnTo>
                    <a:pt x="1215" y="1346"/>
                  </a:lnTo>
                  <a:lnTo>
                    <a:pt x="1203" y="1347"/>
                  </a:lnTo>
                  <a:lnTo>
                    <a:pt x="218" y="1347"/>
                  </a:lnTo>
                  <a:lnTo>
                    <a:pt x="218" y="1347"/>
                  </a:lnTo>
                  <a:lnTo>
                    <a:pt x="208" y="1346"/>
                  </a:lnTo>
                  <a:lnTo>
                    <a:pt x="197" y="1342"/>
                  </a:lnTo>
                  <a:lnTo>
                    <a:pt x="188" y="1338"/>
                  </a:lnTo>
                  <a:lnTo>
                    <a:pt x="181" y="1331"/>
                  </a:lnTo>
                  <a:lnTo>
                    <a:pt x="173" y="1323"/>
                  </a:lnTo>
                  <a:lnTo>
                    <a:pt x="169" y="1314"/>
                  </a:lnTo>
                  <a:lnTo>
                    <a:pt x="165" y="1303"/>
                  </a:lnTo>
                  <a:lnTo>
                    <a:pt x="164" y="1293"/>
                  </a:lnTo>
                  <a:lnTo>
                    <a:pt x="164" y="308"/>
                  </a:lnTo>
                  <a:lnTo>
                    <a:pt x="164" y="308"/>
                  </a:lnTo>
                  <a:lnTo>
                    <a:pt x="165" y="296"/>
                  </a:lnTo>
                  <a:lnTo>
                    <a:pt x="169" y="287"/>
                  </a:lnTo>
                  <a:lnTo>
                    <a:pt x="173" y="277"/>
                  </a:lnTo>
                  <a:lnTo>
                    <a:pt x="181" y="269"/>
                  </a:lnTo>
                  <a:lnTo>
                    <a:pt x="188" y="262"/>
                  </a:lnTo>
                  <a:lnTo>
                    <a:pt x="197" y="257"/>
                  </a:lnTo>
                  <a:lnTo>
                    <a:pt x="208" y="253"/>
                  </a:lnTo>
                  <a:lnTo>
                    <a:pt x="218" y="252"/>
                  </a:lnTo>
                  <a:lnTo>
                    <a:pt x="923" y="252"/>
                  </a:lnTo>
                  <a:lnTo>
                    <a:pt x="923" y="252"/>
                  </a:lnTo>
                  <a:lnTo>
                    <a:pt x="934" y="248"/>
                  </a:lnTo>
                  <a:lnTo>
                    <a:pt x="943" y="242"/>
                  </a:lnTo>
                  <a:lnTo>
                    <a:pt x="955" y="232"/>
                  </a:lnTo>
                  <a:lnTo>
                    <a:pt x="967" y="220"/>
                  </a:lnTo>
                  <a:lnTo>
                    <a:pt x="972" y="214"/>
                  </a:lnTo>
                  <a:lnTo>
                    <a:pt x="976" y="207"/>
                  </a:lnTo>
                  <a:lnTo>
                    <a:pt x="981" y="199"/>
                  </a:lnTo>
                  <a:lnTo>
                    <a:pt x="984" y="191"/>
                  </a:lnTo>
                  <a:lnTo>
                    <a:pt x="986" y="181"/>
                  </a:lnTo>
                  <a:lnTo>
                    <a:pt x="986" y="172"/>
                  </a:lnTo>
                  <a:lnTo>
                    <a:pt x="986" y="172"/>
                  </a:lnTo>
                  <a:lnTo>
                    <a:pt x="986" y="159"/>
                  </a:lnTo>
                  <a:lnTo>
                    <a:pt x="985" y="146"/>
                  </a:lnTo>
                  <a:lnTo>
                    <a:pt x="981" y="131"/>
                  </a:lnTo>
                  <a:lnTo>
                    <a:pt x="978" y="122"/>
                  </a:lnTo>
                  <a:lnTo>
                    <a:pt x="974" y="115"/>
                  </a:lnTo>
                  <a:lnTo>
                    <a:pt x="969" y="108"/>
                  </a:lnTo>
                  <a:lnTo>
                    <a:pt x="963" y="101"/>
                  </a:lnTo>
                  <a:lnTo>
                    <a:pt x="956" y="96"/>
                  </a:lnTo>
                  <a:lnTo>
                    <a:pt x="949" y="92"/>
                  </a:lnTo>
                  <a:lnTo>
                    <a:pt x="940" y="89"/>
                  </a:lnTo>
                  <a:lnTo>
                    <a:pt x="928" y="88"/>
                  </a:lnTo>
                  <a:lnTo>
                    <a:pt x="164" y="88"/>
                  </a:lnTo>
                  <a:lnTo>
                    <a:pt x="164" y="88"/>
                  </a:lnTo>
                  <a:lnTo>
                    <a:pt x="147" y="89"/>
                  </a:lnTo>
                  <a:lnTo>
                    <a:pt x="131" y="92"/>
                  </a:lnTo>
                  <a:lnTo>
                    <a:pt x="116" y="96"/>
                  </a:lnTo>
                  <a:lnTo>
                    <a:pt x="100" y="101"/>
                  </a:lnTo>
                  <a:lnTo>
                    <a:pt x="86" y="108"/>
                  </a:lnTo>
                  <a:lnTo>
                    <a:pt x="72" y="116"/>
                  </a:lnTo>
                  <a:lnTo>
                    <a:pt x="60" y="126"/>
                  </a:lnTo>
                  <a:lnTo>
                    <a:pt x="48" y="137"/>
                  </a:lnTo>
                  <a:lnTo>
                    <a:pt x="38" y="148"/>
                  </a:lnTo>
                  <a:lnTo>
                    <a:pt x="28" y="161"/>
                  </a:lnTo>
                  <a:lnTo>
                    <a:pt x="20" y="174"/>
                  </a:lnTo>
                  <a:lnTo>
                    <a:pt x="13" y="188"/>
                  </a:lnTo>
                  <a:lnTo>
                    <a:pt x="7" y="204"/>
                  </a:lnTo>
                  <a:lnTo>
                    <a:pt x="3" y="219"/>
                  </a:lnTo>
                  <a:lnTo>
                    <a:pt x="1" y="236"/>
                  </a:lnTo>
                  <a:lnTo>
                    <a:pt x="0" y="252"/>
                  </a:lnTo>
                  <a:lnTo>
                    <a:pt x="0" y="1347"/>
                  </a:lnTo>
                  <a:lnTo>
                    <a:pt x="0" y="1347"/>
                  </a:lnTo>
                  <a:lnTo>
                    <a:pt x="1" y="1364"/>
                  </a:lnTo>
                  <a:lnTo>
                    <a:pt x="3" y="1380"/>
                  </a:lnTo>
                  <a:lnTo>
                    <a:pt x="7" y="1395"/>
                  </a:lnTo>
                  <a:lnTo>
                    <a:pt x="13" y="1411"/>
                  </a:lnTo>
                  <a:lnTo>
                    <a:pt x="20" y="1425"/>
                  </a:lnTo>
                  <a:lnTo>
                    <a:pt x="28" y="1439"/>
                  </a:lnTo>
                  <a:lnTo>
                    <a:pt x="38" y="1451"/>
                  </a:lnTo>
                  <a:lnTo>
                    <a:pt x="48" y="1463"/>
                  </a:lnTo>
                  <a:lnTo>
                    <a:pt x="60" y="1473"/>
                  </a:lnTo>
                  <a:lnTo>
                    <a:pt x="72" y="1483"/>
                  </a:lnTo>
                  <a:lnTo>
                    <a:pt x="86" y="1491"/>
                  </a:lnTo>
                  <a:lnTo>
                    <a:pt x="100" y="1498"/>
                  </a:lnTo>
                  <a:lnTo>
                    <a:pt x="116" y="1504"/>
                  </a:lnTo>
                  <a:lnTo>
                    <a:pt x="131" y="1508"/>
                  </a:lnTo>
                  <a:lnTo>
                    <a:pt x="147" y="1510"/>
                  </a:lnTo>
                  <a:lnTo>
                    <a:pt x="164" y="1511"/>
                  </a:lnTo>
                  <a:lnTo>
                    <a:pt x="1259" y="1511"/>
                  </a:lnTo>
                  <a:lnTo>
                    <a:pt x="1259" y="1511"/>
                  </a:lnTo>
                  <a:lnTo>
                    <a:pt x="1275" y="1510"/>
                  </a:lnTo>
                  <a:lnTo>
                    <a:pt x="1292" y="1508"/>
                  </a:lnTo>
                  <a:lnTo>
                    <a:pt x="1307" y="1504"/>
                  </a:lnTo>
                  <a:lnTo>
                    <a:pt x="1322" y="1498"/>
                  </a:lnTo>
                  <a:lnTo>
                    <a:pt x="1337" y="1491"/>
                  </a:lnTo>
                  <a:lnTo>
                    <a:pt x="1350" y="1483"/>
                  </a:lnTo>
                  <a:lnTo>
                    <a:pt x="1363" y="1473"/>
                  </a:lnTo>
                  <a:lnTo>
                    <a:pt x="1374" y="1463"/>
                  </a:lnTo>
                  <a:lnTo>
                    <a:pt x="1385" y="1451"/>
                  </a:lnTo>
                  <a:lnTo>
                    <a:pt x="1394" y="1439"/>
                  </a:lnTo>
                  <a:lnTo>
                    <a:pt x="1403" y="1425"/>
                  </a:lnTo>
                  <a:lnTo>
                    <a:pt x="1410" y="1411"/>
                  </a:lnTo>
                  <a:lnTo>
                    <a:pt x="1415" y="1395"/>
                  </a:lnTo>
                  <a:lnTo>
                    <a:pt x="1419" y="1380"/>
                  </a:lnTo>
                  <a:lnTo>
                    <a:pt x="1422" y="1364"/>
                  </a:lnTo>
                  <a:lnTo>
                    <a:pt x="1423" y="1347"/>
                  </a:lnTo>
                  <a:lnTo>
                    <a:pt x="1423" y="577"/>
                  </a:lnTo>
                  <a:lnTo>
                    <a:pt x="1423" y="577"/>
                  </a:lnTo>
                  <a:lnTo>
                    <a:pt x="1422" y="568"/>
                  </a:lnTo>
                  <a:lnTo>
                    <a:pt x="1419" y="559"/>
                  </a:lnTo>
                  <a:lnTo>
                    <a:pt x="1415" y="552"/>
                  </a:lnTo>
                  <a:lnTo>
                    <a:pt x="1410" y="546"/>
                  </a:lnTo>
                  <a:lnTo>
                    <a:pt x="1404" y="540"/>
                  </a:lnTo>
                  <a:lnTo>
                    <a:pt x="1397" y="535"/>
                  </a:lnTo>
                  <a:lnTo>
                    <a:pt x="1383" y="526"/>
                  </a:lnTo>
                  <a:lnTo>
                    <a:pt x="1367" y="520"/>
                  </a:lnTo>
                  <a:lnTo>
                    <a:pt x="1354" y="516"/>
                  </a:lnTo>
                  <a:lnTo>
                    <a:pt x="1342" y="512"/>
                  </a:lnTo>
                  <a:lnTo>
                    <a:pt x="1342" y="512"/>
                  </a:lnTo>
                  <a:close/>
                  <a:moveTo>
                    <a:pt x="1491" y="145"/>
                  </a:moveTo>
                  <a:lnTo>
                    <a:pt x="1374" y="23"/>
                  </a:lnTo>
                  <a:lnTo>
                    <a:pt x="1374" y="23"/>
                  </a:lnTo>
                  <a:lnTo>
                    <a:pt x="1368" y="16"/>
                  </a:lnTo>
                  <a:lnTo>
                    <a:pt x="1361" y="10"/>
                  </a:lnTo>
                  <a:lnTo>
                    <a:pt x="1352" y="4"/>
                  </a:lnTo>
                  <a:lnTo>
                    <a:pt x="1347" y="2"/>
                  </a:lnTo>
                  <a:lnTo>
                    <a:pt x="1341" y="1"/>
                  </a:lnTo>
                  <a:lnTo>
                    <a:pt x="1334" y="0"/>
                  </a:lnTo>
                  <a:lnTo>
                    <a:pt x="1328" y="0"/>
                  </a:lnTo>
                  <a:lnTo>
                    <a:pt x="1321" y="2"/>
                  </a:lnTo>
                  <a:lnTo>
                    <a:pt x="1314" y="4"/>
                  </a:lnTo>
                  <a:lnTo>
                    <a:pt x="1307" y="9"/>
                  </a:lnTo>
                  <a:lnTo>
                    <a:pt x="1299" y="16"/>
                  </a:lnTo>
                  <a:lnTo>
                    <a:pt x="1207" y="113"/>
                  </a:lnTo>
                  <a:lnTo>
                    <a:pt x="1402" y="303"/>
                  </a:lnTo>
                  <a:lnTo>
                    <a:pt x="1492" y="213"/>
                  </a:lnTo>
                  <a:lnTo>
                    <a:pt x="1492" y="213"/>
                  </a:lnTo>
                  <a:lnTo>
                    <a:pt x="1497" y="207"/>
                  </a:lnTo>
                  <a:lnTo>
                    <a:pt x="1502" y="201"/>
                  </a:lnTo>
                  <a:lnTo>
                    <a:pt x="1507" y="193"/>
                  </a:lnTo>
                  <a:lnTo>
                    <a:pt x="1508" y="188"/>
                  </a:lnTo>
                  <a:lnTo>
                    <a:pt x="1509" y="184"/>
                  </a:lnTo>
                  <a:lnTo>
                    <a:pt x="1509" y="178"/>
                  </a:lnTo>
                  <a:lnTo>
                    <a:pt x="1508" y="172"/>
                  </a:lnTo>
                  <a:lnTo>
                    <a:pt x="1505" y="165"/>
                  </a:lnTo>
                  <a:lnTo>
                    <a:pt x="1502" y="159"/>
                  </a:lnTo>
                  <a:lnTo>
                    <a:pt x="1497" y="152"/>
                  </a:lnTo>
                  <a:lnTo>
                    <a:pt x="1491" y="145"/>
                  </a:lnTo>
                  <a:lnTo>
                    <a:pt x="1491" y="145"/>
                  </a:lnTo>
                  <a:close/>
                  <a:moveTo>
                    <a:pt x="554" y="955"/>
                  </a:moveTo>
                  <a:lnTo>
                    <a:pt x="661" y="940"/>
                  </a:lnTo>
                  <a:lnTo>
                    <a:pt x="577" y="860"/>
                  </a:lnTo>
                  <a:lnTo>
                    <a:pt x="554" y="95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/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defTabSz="1371600"/>
              <a:endParaRPr lang="ja-JP" altLang="en-US" sz="2700" dirty="0">
                <a:solidFill>
                  <a:srgbClr val="4D4D4D"/>
                </a:solidFill>
              </a:endParaRPr>
            </a:p>
          </p:txBody>
        </p:sp>
        <p:sp>
          <p:nvSpPr>
            <p:cNvPr id="33" name="Freeform 14"/>
            <p:cNvSpPr>
              <a:spLocks noChangeAspect="1" noEditPoints="1"/>
            </p:cNvSpPr>
            <p:nvPr/>
          </p:nvSpPr>
          <p:spPr bwMode="auto">
            <a:xfrm>
              <a:off x="5223154" y="3264541"/>
              <a:ext cx="1466618" cy="1620000"/>
            </a:xfrm>
            <a:custGeom>
              <a:avLst/>
              <a:gdLst>
                <a:gd name="T0" fmla="*/ 384 w 851"/>
                <a:gd name="T1" fmla="*/ 850 h 940"/>
                <a:gd name="T2" fmla="*/ 485 w 851"/>
                <a:gd name="T3" fmla="*/ 12 h 940"/>
                <a:gd name="T4" fmla="*/ 522 w 851"/>
                <a:gd name="T5" fmla="*/ 46 h 940"/>
                <a:gd name="T6" fmla="*/ 555 w 851"/>
                <a:gd name="T7" fmla="*/ 42 h 940"/>
                <a:gd name="T8" fmla="*/ 605 w 851"/>
                <a:gd name="T9" fmla="*/ 73 h 940"/>
                <a:gd name="T10" fmla="*/ 615 w 851"/>
                <a:gd name="T11" fmla="*/ 130 h 940"/>
                <a:gd name="T12" fmla="*/ 616 w 851"/>
                <a:gd name="T13" fmla="*/ 205 h 940"/>
                <a:gd name="T14" fmla="*/ 613 w 851"/>
                <a:gd name="T15" fmla="*/ 253 h 940"/>
                <a:gd name="T16" fmla="*/ 620 w 851"/>
                <a:gd name="T17" fmla="*/ 260 h 940"/>
                <a:gd name="T18" fmla="*/ 633 w 851"/>
                <a:gd name="T19" fmla="*/ 263 h 940"/>
                <a:gd name="T20" fmla="*/ 645 w 851"/>
                <a:gd name="T21" fmla="*/ 312 h 940"/>
                <a:gd name="T22" fmla="*/ 641 w 851"/>
                <a:gd name="T23" fmla="*/ 347 h 940"/>
                <a:gd name="T24" fmla="*/ 618 w 851"/>
                <a:gd name="T25" fmla="*/ 383 h 940"/>
                <a:gd name="T26" fmla="*/ 563 w 851"/>
                <a:gd name="T27" fmla="*/ 455 h 940"/>
                <a:gd name="T28" fmla="*/ 527 w 851"/>
                <a:gd name="T29" fmla="*/ 487 h 940"/>
                <a:gd name="T30" fmla="*/ 527 w 851"/>
                <a:gd name="T31" fmla="*/ 532 h 940"/>
                <a:gd name="T32" fmla="*/ 529 w 851"/>
                <a:gd name="T33" fmla="*/ 560 h 940"/>
                <a:gd name="T34" fmla="*/ 564 w 851"/>
                <a:gd name="T35" fmla="*/ 605 h 940"/>
                <a:gd name="T36" fmla="*/ 688 w 851"/>
                <a:gd name="T37" fmla="*/ 641 h 940"/>
                <a:gd name="T38" fmla="*/ 793 w 851"/>
                <a:gd name="T39" fmla="*/ 685 h 940"/>
                <a:gd name="T40" fmla="*/ 835 w 851"/>
                <a:gd name="T41" fmla="*/ 730 h 940"/>
                <a:gd name="T42" fmla="*/ 850 w 851"/>
                <a:gd name="T43" fmla="*/ 815 h 940"/>
                <a:gd name="T44" fmla="*/ 477 w 851"/>
                <a:gd name="T45" fmla="*/ 850 h 940"/>
                <a:gd name="T46" fmla="*/ 459 w 851"/>
                <a:gd name="T47" fmla="*/ 579 h 940"/>
                <a:gd name="T48" fmla="*/ 444 w 851"/>
                <a:gd name="T49" fmla="*/ 588 h 940"/>
                <a:gd name="T50" fmla="*/ 396 w 851"/>
                <a:gd name="T51" fmla="*/ 583 h 940"/>
                <a:gd name="T52" fmla="*/ 389 w 851"/>
                <a:gd name="T53" fmla="*/ 568 h 940"/>
                <a:gd name="T54" fmla="*/ 389 w 851"/>
                <a:gd name="T55" fmla="*/ 560 h 940"/>
                <a:gd name="T56" fmla="*/ 0 w 851"/>
                <a:gd name="T57" fmla="*/ 852 h 940"/>
                <a:gd name="T58" fmla="*/ 6 w 851"/>
                <a:gd name="T59" fmla="*/ 794 h 940"/>
                <a:gd name="T60" fmla="*/ 31 w 851"/>
                <a:gd name="T61" fmla="*/ 719 h 940"/>
                <a:gd name="T62" fmla="*/ 83 w 851"/>
                <a:gd name="T63" fmla="*/ 674 h 940"/>
                <a:gd name="T64" fmla="*/ 214 w 851"/>
                <a:gd name="T65" fmla="*/ 633 h 940"/>
                <a:gd name="T66" fmla="*/ 313 w 851"/>
                <a:gd name="T67" fmla="*/ 592 h 940"/>
                <a:gd name="T68" fmla="*/ 337 w 851"/>
                <a:gd name="T69" fmla="*/ 552 h 940"/>
                <a:gd name="T70" fmla="*/ 339 w 851"/>
                <a:gd name="T71" fmla="*/ 511 h 940"/>
                <a:gd name="T72" fmla="*/ 334 w 851"/>
                <a:gd name="T73" fmla="*/ 480 h 940"/>
                <a:gd name="T74" fmla="*/ 285 w 851"/>
                <a:gd name="T75" fmla="*/ 438 h 940"/>
                <a:gd name="T76" fmla="*/ 234 w 851"/>
                <a:gd name="T77" fmla="*/ 380 h 940"/>
                <a:gd name="T78" fmla="*/ 222 w 851"/>
                <a:gd name="T79" fmla="*/ 346 h 940"/>
                <a:gd name="T80" fmla="*/ 219 w 851"/>
                <a:gd name="T81" fmla="*/ 302 h 940"/>
                <a:gd name="T82" fmla="*/ 237 w 851"/>
                <a:gd name="T83" fmla="*/ 258 h 940"/>
                <a:gd name="T84" fmla="*/ 243 w 851"/>
                <a:gd name="T85" fmla="*/ 257 h 940"/>
                <a:gd name="T86" fmla="*/ 253 w 851"/>
                <a:gd name="T87" fmla="*/ 248 h 940"/>
                <a:gd name="T88" fmla="*/ 250 w 851"/>
                <a:gd name="T89" fmla="*/ 188 h 940"/>
                <a:gd name="T90" fmla="*/ 251 w 851"/>
                <a:gd name="T91" fmla="*/ 109 h 940"/>
                <a:gd name="T92" fmla="*/ 279 w 851"/>
                <a:gd name="T93" fmla="*/ 47 h 940"/>
                <a:gd name="T94" fmla="*/ 337 w 851"/>
                <a:gd name="T95" fmla="*/ 23 h 940"/>
                <a:gd name="T96" fmla="*/ 350 w 851"/>
                <a:gd name="T97" fmla="*/ 21 h 940"/>
                <a:gd name="T98" fmla="*/ 375 w 851"/>
                <a:gd name="T99" fmla="*/ 13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851" h="940">
                  <a:moveTo>
                    <a:pt x="477" y="850"/>
                  </a:moveTo>
                  <a:lnTo>
                    <a:pt x="441" y="940"/>
                  </a:lnTo>
                  <a:lnTo>
                    <a:pt x="420" y="940"/>
                  </a:lnTo>
                  <a:lnTo>
                    <a:pt x="384" y="850"/>
                  </a:lnTo>
                  <a:lnTo>
                    <a:pt x="477" y="850"/>
                  </a:lnTo>
                  <a:close/>
                  <a:moveTo>
                    <a:pt x="457" y="0"/>
                  </a:moveTo>
                  <a:lnTo>
                    <a:pt x="472" y="4"/>
                  </a:lnTo>
                  <a:lnTo>
                    <a:pt x="485" y="12"/>
                  </a:lnTo>
                  <a:lnTo>
                    <a:pt x="495" y="23"/>
                  </a:lnTo>
                  <a:lnTo>
                    <a:pt x="506" y="33"/>
                  </a:lnTo>
                  <a:lnTo>
                    <a:pt x="514" y="42"/>
                  </a:lnTo>
                  <a:lnTo>
                    <a:pt x="522" y="46"/>
                  </a:lnTo>
                  <a:lnTo>
                    <a:pt x="530" y="46"/>
                  </a:lnTo>
                  <a:lnTo>
                    <a:pt x="537" y="46"/>
                  </a:lnTo>
                  <a:lnTo>
                    <a:pt x="545" y="44"/>
                  </a:lnTo>
                  <a:lnTo>
                    <a:pt x="555" y="42"/>
                  </a:lnTo>
                  <a:lnTo>
                    <a:pt x="571" y="46"/>
                  </a:lnTo>
                  <a:lnTo>
                    <a:pt x="587" y="51"/>
                  </a:lnTo>
                  <a:lnTo>
                    <a:pt x="598" y="60"/>
                  </a:lnTo>
                  <a:lnTo>
                    <a:pt x="605" y="73"/>
                  </a:lnTo>
                  <a:lnTo>
                    <a:pt x="610" y="88"/>
                  </a:lnTo>
                  <a:lnTo>
                    <a:pt x="613" y="102"/>
                  </a:lnTo>
                  <a:lnTo>
                    <a:pt x="613" y="117"/>
                  </a:lnTo>
                  <a:lnTo>
                    <a:pt x="615" y="130"/>
                  </a:lnTo>
                  <a:lnTo>
                    <a:pt x="615" y="140"/>
                  </a:lnTo>
                  <a:lnTo>
                    <a:pt x="616" y="158"/>
                  </a:lnTo>
                  <a:lnTo>
                    <a:pt x="616" y="180"/>
                  </a:lnTo>
                  <a:lnTo>
                    <a:pt x="616" y="205"/>
                  </a:lnTo>
                  <a:lnTo>
                    <a:pt x="616" y="226"/>
                  </a:lnTo>
                  <a:lnTo>
                    <a:pt x="615" y="242"/>
                  </a:lnTo>
                  <a:lnTo>
                    <a:pt x="613" y="248"/>
                  </a:lnTo>
                  <a:lnTo>
                    <a:pt x="613" y="253"/>
                  </a:lnTo>
                  <a:lnTo>
                    <a:pt x="615" y="257"/>
                  </a:lnTo>
                  <a:lnTo>
                    <a:pt x="616" y="258"/>
                  </a:lnTo>
                  <a:lnTo>
                    <a:pt x="618" y="260"/>
                  </a:lnTo>
                  <a:lnTo>
                    <a:pt x="620" y="260"/>
                  </a:lnTo>
                  <a:lnTo>
                    <a:pt x="621" y="260"/>
                  </a:lnTo>
                  <a:lnTo>
                    <a:pt x="623" y="260"/>
                  </a:lnTo>
                  <a:lnTo>
                    <a:pt x="624" y="260"/>
                  </a:lnTo>
                  <a:lnTo>
                    <a:pt x="633" y="263"/>
                  </a:lnTo>
                  <a:lnTo>
                    <a:pt x="639" y="271"/>
                  </a:lnTo>
                  <a:lnTo>
                    <a:pt x="644" y="283"/>
                  </a:lnTo>
                  <a:lnTo>
                    <a:pt x="645" y="297"/>
                  </a:lnTo>
                  <a:lnTo>
                    <a:pt x="645" y="312"/>
                  </a:lnTo>
                  <a:lnTo>
                    <a:pt x="644" y="325"/>
                  </a:lnTo>
                  <a:lnTo>
                    <a:pt x="642" y="336"/>
                  </a:lnTo>
                  <a:lnTo>
                    <a:pt x="642" y="344"/>
                  </a:lnTo>
                  <a:lnTo>
                    <a:pt x="641" y="347"/>
                  </a:lnTo>
                  <a:lnTo>
                    <a:pt x="637" y="360"/>
                  </a:lnTo>
                  <a:lnTo>
                    <a:pt x="634" y="369"/>
                  </a:lnTo>
                  <a:lnTo>
                    <a:pt x="628" y="375"/>
                  </a:lnTo>
                  <a:lnTo>
                    <a:pt x="618" y="383"/>
                  </a:lnTo>
                  <a:lnTo>
                    <a:pt x="602" y="394"/>
                  </a:lnTo>
                  <a:lnTo>
                    <a:pt x="590" y="417"/>
                  </a:lnTo>
                  <a:lnTo>
                    <a:pt x="577" y="438"/>
                  </a:lnTo>
                  <a:lnTo>
                    <a:pt x="563" y="455"/>
                  </a:lnTo>
                  <a:lnTo>
                    <a:pt x="550" y="469"/>
                  </a:lnTo>
                  <a:lnTo>
                    <a:pt x="538" y="479"/>
                  </a:lnTo>
                  <a:lnTo>
                    <a:pt x="530" y="485"/>
                  </a:lnTo>
                  <a:lnTo>
                    <a:pt x="527" y="487"/>
                  </a:lnTo>
                  <a:lnTo>
                    <a:pt x="527" y="492"/>
                  </a:lnTo>
                  <a:lnTo>
                    <a:pt x="527" y="503"/>
                  </a:lnTo>
                  <a:lnTo>
                    <a:pt x="527" y="518"/>
                  </a:lnTo>
                  <a:lnTo>
                    <a:pt x="527" y="532"/>
                  </a:lnTo>
                  <a:lnTo>
                    <a:pt x="527" y="540"/>
                  </a:lnTo>
                  <a:lnTo>
                    <a:pt x="527" y="544"/>
                  </a:lnTo>
                  <a:lnTo>
                    <a:pt x="527" y="550"/>
                  </a:lnTo>
                  <a:lnTo>
                    <a:pt x="529" y="560"/>
                  </a:lnTo>
                  <a:lnTo>
                    <a:pt x="532" y="570"/>
                  </a:lnTo>
                  <a:lnTo>
                    <a:pt x="538" y="581"/>
                  </a:lnTo>
                  <a:lnTo>
                    <a:pt x="550" y="594"/>
                  </a:lnTo>
                  <a:lnTo>
                    <a:pt x="564" y="605"/>
                  </a:lnTo>
                  <a:lnTo>
                    <a:pt x="584" y="617"/>
                  </a:lnTo>
                  <a:lnTo>
                    <a:pt x="610" y="625"/>
                  </a:lnTo>
                  <a:lnTo>
                    <a:pt x="644" y="633"/>
                  </a:lnTo>
                  <a:lnTo>
                    <a:pt x="688" y="641"/>
                  </a:lnTo>
                  <a:lnTo>
                    <a:pt x="725" y="651"/>
                  </a:lnTo>
                  <a:lnTo>
                    <a:pt x="753" y="662"/>
                  </a:lnTo>
                  <a:lnTo>
                    <a:pt x="775" y="674"/>
                  </a:lnTo>
                  <a:lnTo>
                    <a:pt x="793" y="685"/>
                  </a:lnTo>
                  <a:lnTo>
                    <a:pt x="806" y="698"/>
                  </a:lnTo>
                  <a:lnTo>
                    <a:pt x="817" y="709"/>
                  </a:lnTo>
                  <a:lnTo>
                    <a:pt x="827" y="719"/>
                  </a:lnTo>
                  <a:lnTo>
                    <a:pt x="835" y="730"/>
                  </a:lnTo>
                  <a:lnTo>
                    <a:pt x="842" y="748"/>
                  </a:lnTo>
                  <a:lnTo>
                    <a:pt x="845" y="771"/>
                  </a:lnTo>
                  <a:lnTo>
                    <a:pt x="848" y="794"/>
                  </a:lnTo>
                  <a:lnTo>
                    <a:pt x="850" y="815"/>
                  </a:lnTo>
                  <a:lnTo>
                    <a:pt x="851" y="832"/>
                  </a:lnTo>
                  <a:lnTo>
                    <a:pt x="851" y="845"/>
                  </a:lnTo>
                  <a:lnTo>
                    <a:pt x="851" y="850"/>
                  </a:lnTo>
                  <a:lnTo>
                    <a:pt x="477" y="850"/>
                  </a:lnTo>
                  <a:lnTo>
                    <a:pt x="514" y="763"/>
                  </a:lnTo>
                  <a:lnTo>
                    <a:pt x="464" y="555"/>
                  </a:lnTo>
                  <a:lnTo>
                    <a:pt x="462" y="571"/>
                  </a:lnTo>
                  <a:lnTo>
                    <a:pt x="459" y="579"/>
                  </a:lnTo>
                  <a:lnTo>
                    <a:pt x="454" y="586"/>
                  </a:lnTo>
                  <a:lnTo>
                    <a:pt x="449" y="588"/>
                  </a:lnTo>
                  <a:lnTo>
                    <a:pt x="446" y="588"/>
                  </a:lnTo>
                  <a:lnTo>
                    <a:pt x="444" y="588"/>
                  </a:lnTo>
                  <a:lnTo>
                    <a:pt x="412" y="588"/>
                  </a:lnTo>
                  <a:lnTo>
                    <a:pt x="405" y="586"/>
                  </a:lnTo>
                  <a:lnTo>
                    <a:pt x="399" y="584"/>
                  </a:lnTo>
                  <a:lnTo>
                    <a:pt x="396" y="583"/>
                  </a:lnTo>
                  <a:lnTo>
                    <a:pt x="392" y="579"/>
                  </a:lnTo>
                  <a:lnTo>
                    <a:pt x="391" y="576"/>
                  </a:lnTo>
                  <a:lnTo>
                    <a:pt x="389" y="571"/>
                  </a:lnTo>
                  <a:lnTo>
                    <a:pt x="389" y="568"/>
                  </a:lnTo>
                  <a:lnTo>
                    <a:pt x="389" y="565"/>
                  </a:lnTo>
                  <a:lnTo>
                    <a:pt x="389" y="563"/>
                  </a:lnTo>
                  <a:lnTo>
                    <a:pt x="389" y="560"/>
                  </a:lnTo>
                  <a:lnTo>
                    <a:pt x="389" y="560"/>
                  </a:lnTo>
                  <a:lnTo>
                    <a:pt x="389" y="563"/>
                  </a:lnTo>
                  <a:lnTo>
                    <a:pt x="350" y="763"/>
                  </a:lnTo>
                  <a:lnTo>
                    <a:pt x="384" y="850"/>
                  </a:lnTo>
                  <a:lnTo>
                    <a:pt x="0" y="852"/>
                  </a:lnTo>
                  <a:lnTo>
                    <a:pt x="0" y="847"/>
                  </a:lnTo>
                  <a:lnTo>
                    <a:pt x="2" y="834"/>
                  </a:lnTo>
                  <a:lnTo>
                    <a:pt x="3" y="816"/>
                  </a:lnTo>
                  <a:lnTo>
                    <a:pt x="6" y="794"/>
                  </a:lnTo>
                  <a:lnTo>
                    <a:pt x="11" y="771"/>
                  </a:lnTo>
                  <a:lnTo>
                    <a:pt x="16" y="750"/>
                  </a:lnTo>
                  <a:lnTo>
                    <a:pt x="23" y="730"/>
                  </a:lnTo>
                  <a:lnTo>
                    <a:pt x="31" y="719"/>
                  </a:lnTo>
                  <a:lnTo>
                    <a:pt x="41" y="709"/>
                  </a:lnTo>
                  <a:lnTo>
                    <a:pt x="52" y="698"/>
                  </a:lnTo>
                  <a:lnTo>
                    <a:pt x="65" y="685"/>
                  </a:lnTo>
                  <a:lnTo>
                    <a:pt x="83" y="674"/>
                  </a:lnTo>
                  <a:lnTo>
                    <a:pt x="104" y="662"/>
                  </a:lnTo>
                  <a:lnTo>
                    <a:pt x="133" y="651"/>
                  </a:lnTo>
                  <a:lnTo>
                    <a:pt x="169" y="641"/>
                  </a:lnTo>
                  <a:lnTo>
                    <a:pt x="214" y="633"/>
                  </a:lnTo>
                  <a:lnTo>
                    <a:pt x="248" y="625"/>
                  </a:lnTo>
                  <a:lnTo>
                    <a:pt x="277" y="615"/>
                  </a:lnTo>
                  <a:lnTo>
                    <a:pt x="298" y="604"/>
                  </a:lnTo>
                  <a:lnTo>
                    <a:pt x="313" y="592"/>
                  </a:lnTo>
                  <a:lnTo>
                    <a:pt x="324" y="581"/>
                  </a:lnTo>
                  <a:lnTo>
                    <a:pt x="331" y="570"/>
                  </a:lnTo>
                  <a:lnTo>
                    <a:pt x="336" y="560"/>
                  </a:lnTo>
                  <a:lnTo>
                    <a:pt x="337" y="552"/>
                  </a:lnTo>
                  <a:lnTo>
                    <a:pt x="339" y="547"/>
                  </a:lnTo>
                  <a:lnTo>
                    <a:pt x="341" y="545"/>
                  </a:lnTo>
                  <a:lnTo>
                    <a:pt x="339" y="529"/>
                  </a:lnTo>
                  <a:lnTo>
                    <a:pt x="339" y="511"/>
                  </a:lnTo>
                  <a:lnTo>
                    <a:pt x="337" y="497"/>
                  </a:lnTo>
                  <a:lnTo>
                    <a:pt x="337" y="487"/>
                  </a:lnTo>
                  <a:lnTo>
                    <a:pt x="337" y="482"/>
                  </a:lnTo>
                  <a:lnTo>
                    <a:pt x="334" y="480"/>
                  </a:lnTo>
                  <a:lnTo>
                    <a:pt x="326" y="476"/>
                  </a:lnTo>
                  <a:lnTo>
                    <a:pt x="313" y="466"/>
                  </a:lnTo>
                  <a:lnTo>
                    <a:pt x="300" y="455"/>
                  </a:lnTo>
                  <a:lnTo>
                    <a:pt x="285" y="438"/>
                  </a:lnTo>
                  <a:lnTo>
                    <a:pt x="272" y="419"/>
                  </a:lnTo>
                  <a:lnTo>
                    <a:pt x="263" y="396"/>
                  </a:lnTo>
                  <a:lnTo>
                    <a:pt x="245" y="388"/>
                  </a:lnTo>
                  <a:lnTo>
                    <a:pt x="234" y="380"/>
                  </a:lnTo>
                  <a:lnTo>
                    <a:pt x="227" y="372"/>
                  </a:lnTo>
                  <a:lnTo>
                    <a:pt x="224" y="365"/>
                  </a:lnTo>
                  <a:lnTo>
                    <a:pt x="224" y="356"/>
                  </a:lnTo>
                  <a:lnTo>
                    <a:pt x="222" y="346"/>
                  </a:lnTo>
                  <a:lnTo>
                    <a:pt x="221" y="343"/>
                  </a:lnTo>
                  <a:lnTo>
                    <a:pt x="221" y="331"/>
                  </a:lnTo>
                  <a:lnTo>
                    <a:pt x="219" y="318"/>
                  </a:lnTo>
                  <a:lnTo>
                    <a:pt x="219" y="302"/>
                  </a:lnTo>
                  <a:lnTo>
                    <a:pt x="221" y="286"/>
                  </a:lnTo>
                  <a:lnTo>
                    <a:pt x="222" y="271"/>
                  </a:lnTo>
                  <a:lnTo>
                    <a:pt x="229" y="261"/>
                  </a:lnTo>
                  <a:lnTo>
                    <a:pt x="237" y="258"/>
                  </a:lnTo>
                  <a:lnTo>
                    <a:pt x="238" y="258"/>
                  </a:lnTo>
                  <a:lnTo>
                    <a:pt x="240" y="258"/>
                  </a:lnTo>
                  <a:lnTo>
                    <a:pt x="242" y="258"/>
                  </a:lnTo>
                  <a:lnTo>
                    <a:pt x="243" y="257"/>
                  </a:lnTo>
                  <a:lnTo>
                    <a:pt x="247" y="255"/>
                  </a:lnTo>
                  <a:lnTo>
                    <a:pt x="250" y="253"/>
                  </a:lnTo>
                  <a:lnTo>
                    <a:pt x="251" y="252"/>
                  </a:lnTo>
                  <a:lnTo>
                    <a:pt x="253" y="248"/>
                  </a:lnTo>
                  <a:lnTo>
                    <a:pt x="253" y="244"/>
                  </a:lnTo>
                  <a:lnTo>
                    <a:pt x="253" y="237"/>
                  </a:lnTo>
                  <a:lnTo>
                    <a:pt x="251" y="214"/>
                  </a:lnTo>
                  <a:lnTo>
                    <a:pt x="250" y="188"/>
                  </a:lnTo>
                  <a:lnTo>
                    <a:pt x="250" y="163"/>
                  </a:lnTo>
                  <a:lnTo>
                    <a:pt x="250" y="140"/>
                  </a:lnTo>
                  <a:lnTo>
                    <a:pt x="250" y="122"/>
                  </a:lnTo>
                  <a:lnTo>
                    <a:pt x="251" y="109"/>
                  </a:lnTo>
                  <a:lnTo>
                    <a:pt x="255" y="94"/>
                  </a:lnTo>
                  <a:lnTo>
                    <a:pt x="259" y="78"/>
                  </a:lnTo>
                  <a:lnTo>
                    <a:pt x="268" y="62"/>
                  </a:lnTo>
                  <a:lnTo>
                    <a:pt x="279" y="47"/>
                  </a:lnTo>
                  <a:lnTo>
                    <a:pt x="292" y="34"/>
                  </a:lnTo>
                  <a:lnTo>
                    <a:pt x="311" y="28"/>
                  </a:lnTo>
                  <a:lnTo>
                    <a:pt x="328" y="25"/>
                  </a:lnTo>
                  <a:lnTo>
                    <a:pt x="337" y="23"/>
                  </a:lnTo>
                  <a:lnTo>
                    <a:pt x="344" y="23"/>
                  </a:lnTo>
                  <a:lnTo>
                    <a:pt x="347" y="21"/>
                  </a:lnTo>
                  <a:lnTo>
                    <a:pt x="349" y="21"/>
                  </a:lnTo>
                  <a:lnTo>
                    <a:pt x="350" y="21"/>
                  </a:lnTo>
                  <a:lnTo>
                    <a:pt x="355" y="21"/>
                  </a:lnTo>
                  <a:lnTo>
                    <a:pt x="363" y="20"/>
                  </a:lnTo>
                  <a:lnTo>
                    <a:pt x="368" y="17"/>
                  </a:lnTo>
                  <a:lnTo>
                    <a:pt x="375" y="13"/>
                  </a:lnTo>
                  <a:lnTo>
                    <a:pt x="383" y="12"/>
                  </a:lnTo>
                  <a:lnTo>
                    <a:pt x="396" y="1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defTabSz="1371600"/>
              <a:endParaRPr lang="ja-JP" altLang="en-US" sz="2700" dirty="0">
                <a:solidFill>
                  <a:srgbClr val="4D4D4D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6690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マルチタスクとは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今回考えるマルチタスクは，</a:t>
            </a:r>
            <a:r>
              <a:rPr kumimoji="1" lang="ja-JP" altLang="en-US" u="sng" dirty="0" smtClean="0"/>
              <a:t>複数の最適化問題</a:t>
            </a:r>
            <a:r>
              <a:rPr kumimoji="1" lang="ja-JP" altLang="en-US" dirty="0" smtClean="0"/>
              <a:t>を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同時に解く</a:t>
            </a:r>
            <a:r>
              <a:rPr kumimoji="1" lang="ja-JP" altLang="en-US" dirty="0" smtClean="0"/>
              <a:t>というものである</a:t>
            </a:r>
            <a:r>
              <a:rPr kumimoji="1" lang="ja-JP" altLang="en-US" b="1" dirty="0" smtClean="0"/>
              <a:t>．</a:t>
            </a:r>
            <a:endParaRPr kumimoji="1" lang="ja-JP" altLang="en-US" b="1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228600" y="2474511"/>
            <a:ext cx="1155894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例</a:t>
            </a:r>
            <a:r>
              <a:rPr kumimoji="1" lang="en-US" altLang="ja-JP" sz="2800" dirty="0" smtClean="0"/>
              <a:t>)</a:t>
            </a:r>
            <a:endParaRPr kumimoji="1" lang="ja-JP" altLang="en-US" sz="2800" dirty="0" smtClean="0"/>
          </a:p>
        </p:txBody>
      </p:sp>
      <p:grpSp>
        <p:nvGrpSpPr>
          <p:cNvPr id="33" name="グループ化 32"/>
          <p:cNvGrpSpPr/>
          <p:nvPr/>
        </p:nvGrpSpPr>
        <p:grpSpPr>
          <a:xfrm>
            <a:off x="657491" y="3690766"/>
            <a:ext cx="7892601" cy="2531906"/>
            <a:chOff x="811870" y="3488884"/>
            <a:chExt cx="7892601" cy="2531906"/>
          </a:xfrm>
        </p:grpSpPr>
        <p:sp>
          <p:nvSpPr>
            <p:cNvPr id="19" name="加算記号 18"/>
            <p:cNvSpPr/>
            <p:nvPr/>
          </p:nvSpPr>
          <p:spPr>
            <a:xfrm>
              <a:off x="4343835" y="4636330"/>
              <a:ext cx="828672" cy="828672"/>
            </a:xfrm>
            <a:prstGeom prst="mathPlus">
              <a:avLst>
                <a:gd name="adj1" fmla="val 12589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grpSp>
          <p:nvGrpSpPr>
            <p:cNvPr id="25" name="グループ化 24"/>
            <p:cNvGrpSpPr/>
            <p:nvPr/>
          </p:nvGrpSpPr>
          <p:grpSpPr>
            <a:xfrm>
              <a:off x="811870" y="3488884"/>
              <a:ext cx="3291840" cy="2531906"/>
              <a:chOff x="811870" y="3488884"/>
              <a:chExt cx="3291840" cy="2531906"/>
            </a:xfrm>
          </p:grpSpPr>
          <p:sp>
            <p:nvSpPr>
              <p:cNvPr id="8" name="テキスト ボックス 7"/>
              <p:cNvSpPr txBox="1"/>
              <p:nvPr/>
            </p:nvSpPr>
            <p:spPr>
              <a:xfrm>
                <a:off x="811870" y="3488884"/>
                <a:ext cx="3291840" cy="9541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2800" dirty="0" smtClean="0"/>
                  <a:t>A</a:t>
                </a:r>
                <a:r>
                  <a:rPr kumimoji="1" lang="ja-JP" altLang="en-US" sz="2800" dirty="0" smtClean="0"/>
                  <a:t>君の履修科目</a:t>
                </a:r>
                <a:r>
                  <a:rPr kumimoji="1" lang="en-US" altLang="ja-JP" sz="2800" dirty="0" smtClean="0"/>
                  <a:t/>
                </a:r>
                <a:br>
                  <a:rPr kumimoji="1" lang="en-US" altLang="ja-JP" sz="2800" dirty="0" smtClean="0"/>
                </a:br>
                <a:r>
                  <a:rPr kumimoji="1" lang="ja-JP" altLang="en-US" sz="2800" dirty="0" smtClean="0"/>
                  <a:t>最適化</a:t>
                </a:r>
              </a:p>
            </p:txBody>
          </p:sp>
          <p:grpSp>
            <p:nvGrpSpPr>
              <p:cNvPr id="24" name="グループ化 23"/>
              <p:cNvGrpSpPr/>
              <p:nvPr/>
            </p:nvGrpSpPr>
            <p:grpSpPr>
              <a:xfrm>
                <a:off x="1349243" y="4617213"/>
                <a:ext cx="2217095" cy="1403577"/>
                <a:chOff x="1748349" y="4617213"/>
                <a:chExt cx="2217095" cy="1403577"/>
              </a:xfrm>
            </p:grpSpPr>
            <p:sp>
              <p:nvSpPr>
                <p:cNvPr id="11" name="Freeform 6"/>
                <p:cNvSpPr>
                  <a:spLocks noChangeAspect="1" noEditPoints="1"/>
                </p:cNvSpPr>
                <p:nvPr/>
              </p:nvSpPr>
              <p:spPr bwMode="auto">
                <a:xfrm>
                  <a:off x="2819604" y="4617213"/>
                  <a:ext cx="1145840" cy="804006"/>
                </a:xfrm>
                <a:custGeom>
                  <a:avLst/>
                  <a:gdLst>
                    <a:gd name="T0" fmla="*/ 251 w 1076"/>
                    <a:gd name="T1" fmla="*/ 683 h 755"/>
                    <a:gd name="T2" fmla="*/ 824 w 1076"/>
                    <a:gd name="T3" fmla="*/ 575 h 755"/>
                    <a:gd name="T4" fmla="*/ 1040 w 1076"/>
                    <a:gd name="T5" fmla="*/ 575 h 755"/>
                    <a:gd name="T6" fmla="*/ 575 w 1076"/>
                    <a:gd name="T7" fmla="*/ 719 h 755"/>
                    <a:gd name="T8" fmla="*/ 573 w 1076"/>
                    <a:gd name="T9" fmla="*/ 575 h 755"/>
                    <a:gd name="T10" fmla="*/ 537 w 1076"/>
                    <a:gd name="T11" fmla="*/ 719 h 755"/>
                    <a:gd name="T12" fmla="*/ 36 w 1076"/>
                    <a:gd name="T13" fmla="*/ 575 h 755"/>
                    <a:gd name="T14" fmla="*/ 287 w 1076"/>
                    <a:gd name="T15" fmla="*/ 575 h 755"/>
                    <a:gd name="T16" fmla="*/ 251 w 1076"/>
                    <a:gd name="T17" fmla="*/ 431 h 755"/>
                    <a:gd name="T18" fmla="*/ 72 w 1076"/>
                    <a:gd name="T19" fmla="*/ 431 h 755"/>
                    <a:gd name="T20" fmla="*/ 1040 w 1076"/>
                    <a:gd name="T21" fmla="*/ 539 h 755"/>
                    <a:gd name="T22" fmla="*/ 573 w 1076"/>
                    <a:gd name="T23" fmla="*/ 395 h 755"/>
                    <a:gd name="T24" fmla="*/ 789 w 1076"/>
                    <a:gd name="T25" fmla="*/ 395 h 755"/>
                    <a:gd name="T26" fmla="*/ 323 w 1076"/>
                    <a:gd name="T27" fmla="*/ 539 h 755"/>
                    <a:gd name="T28" fmla="*/ 323 w 1076"/>
                    <a:gd name="T29" fmla="*/ 395 h 755"/>
                    <a:gd name="T30" fmla="*/ 287 w 1076"/>
                    <a:gd name="T31" fmla="*/ 539 h 755"/>
                    <a:gd name="T32" fmla="*/ 72 w 1076"/>
                    <a:gd name="T33" fmla="*/ 252 h 755"/>
                    <a:gd name="T34" fmla="*/ 72 w 1076"/>
                    <a:gd name="T35" fmla="*/ 323 h 755"/>
                    <a:gd name="T36" fmla="*/ 824 w 1076"/>
                    <a:gd name="T37" fmla="*/ 359 h 755"/>
                    <a:gd name="T38" fmla="*/ 824 w 1076"/>
                    <a:gd name="T39" fmla="*/ 216 h 755"/>
                    <a:gd name="T40" fmla="*/ 789 w 1076"/>
                    <a:gd name="T41" fmla="*/ 359 h 755"/>
                    <a:gd name="T42" fmla="*/ 323 w 1076"/>
                    <a:gd name="T43" fmla="*/ 216 h 755"/>
                    <a:gd name="T44" fmla="*/ 537 w 1076"/>
                    <a:gd name="T45" fmla="*/ 216 h 755"/>
                    <a:gd name="T46" fmla="*/ 36 w 1076"/>
                    <a:gd name="T47" fmla="*/ 359 h 755"/>
                    <a:gd name="T48" fmla="*/ 36 w 1076"/>
                    <a:gd name="T49" fmla="*/ 216 h 755"/>
                    <a:gd name="T50" fmla="*/ 1004 w 1076"/>
                    <a:gd name="T51" fmla="*/ 144 h 755"/>
                    <a:gd name="T52" fmla="*/ 609 w 1076"/>
                    <a:gd name="T53" fmla="*/ 72 h 755"/>
                    <a:gd name="T54" fmla="*/ 609 w 1076"/>
                    <a:gd name="T55" fmla="*/ 144 h 755"/>
                    <a:gd name="T56" fmla="*/ 503 w 1076"/>
                    <a:gd name="T57" fmla="*/ 72 h 755"/>
                    <a:gd name="T58" fmla="*/ 359 w 1076"/>
                    <a:gd name="T59" fmla="*/ 72 h 755"/>
                    <a:gd name="T60" fmla="*/ 251 w 1076"/>
                    <a:gd name="T61" fmla="*/ 144 h 755"/>
                    <a:gd name="T62" fmla="*/ 824 w 1076"/>
                    <a:gd name="T63" fmla="*/ 36 h 755"/>
                    <a:gd name="T64" fmla="*/ 1040 w 1076"/>
                    <a:gd name="T65" fmla="*/ 36 h 755"/>
                    <a:gd name="T66" fmla="*/ 573 w 1076"/>
                    <a:gd name="T67" fmla="*/ 180 h 755"/>
                    <a:gd name="T68" fmla="*/ 573 w 1076"/>
                    <a:gd name="T69" fmla="*/ 36 h 755"/>
                    <a:gd name="T70" fmla="*/ 537 w 1076"/>
                    <a:gd name="T71" fmla="*/ 180 h 755"/>
                    <a:gd name="T72" fmla="*/ 36 w 1076"/>
                    <a:gd name="T73" fmla="*/ 36 h 755"/>
                    <a:gd name="T74" fmla="*/ 287 w 1076"/>
                    <a:gd name="T75" fmla="*/ 36 h 755"/>
                    <a:gd name="T76" fmla="*/ 1040 w 1076"/>
                    <a:gd name="T77" fmla="*/ 0 h 755"/>
                    <a:gd name="T78" fmla="*/ 1076 w 1076"/>
                    <a:gd name="T79" fmla="*/ 36 h 755"/>
                    <a:gd name="T80" fmla="*/ 1074 w 1076"/>
                    <a:gd name="T81" fmla="*/ 728 h 755"/>
                    <a:gd name="T82" fmla="*/ 1055 w 1076"/>
                    <a:gd name="T83" fmla="*/ 751 h 755"/>
                    <a:gd name="T84" fmla="*/ 17 w 1076"/>
                    <a:gd name="T85" fmla="*/ 749 h 755"/>
                    <a:gd name="T86" fmla="*/ 0 w 1076"/>
                    <a:gd name="T87" fmla="*/ 36 h 755"/>
                    <a:gd name="T88" fmla="*/ 36 w 1076"/>
                    <a:gd name="T89" fmla="*/ 0 h 7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076" h="755">
                      <a:moveTo>
                        <a:pt x="72" y="611"/>
                      </a:moveTo>
                      <a:lnTo>
                        <a:pt x="251" y="611"/>
                      </a:lnTo>
                      <a:lnTo>
                        <a:pt x="251" y="683"/>
                      </a:lnTo>
                      <a:lnTo>
                        <a:pt x="72" y="683"/>
                      </a:lnTo>
                      <a:lnTo>
                        <a:pt x="72" y="611"/>
                      </a:lnTo>
                      <a:close/>
                      <a:moveTo>
                        <a:pt x="824" y="575"/>
                      </a:moveTo>
                      <a:lnTo>
                        <a:pt x="824" y="719"/>
                      </a:lnTo>
                      <a:lnTo>
                        <a:pt x="1040" y="719"/>
                      </a:lnTo>
                      <a:lnTo>
                        <a:pt x="1040" y="575"/>
                      </a:lnTo>
                      <a:lnTo>
                        <a:pt x="824" y="575"/>
                      </a:lnTo>
                      <a:close/>
                      <a:moveTo>
                        <a:pt x="573" y="575"/>
                      </a:moveTo>
                      <a:lnTo>
                        <a:pt x="575" y="719"/>
                      </a:lnTo>
                      <a:lnTo>
                        <a:pt x="789" y="719"/>
                      </a:lnTo>
                      <a:lnTo>
                        <a:pt x="789" y="575"/>
                      </a:lnTo>
                      <a:lnTo>
                        <a:pt x="573" y="575"/>
                      </a:lnTo>
                      <a:close/>
                      <a:moveTo>
                        <a:pt x="323" y="575"/>
                      </a:moveTo>
                      <a:lnTo>
                        <a:pt x="323" y="719"/>
                      </a:lnTo>
                      <a:lnTo>
                        <a:pt x="537" y="719"/>
                      </a:lnTo>
                      <a:lnTo>
                        <a:pt x="537" y="575"/>
                      </a:lnTo>
                      <a:lnTo>
                        <a:pt x="323" y="575"/>
                      </a:lnTo>
                      <a:close/>
                      <a:moveTo>
                        <a:pt x="36" y="575"/>
                      </a:moveTo>
                      <a:lnTo>
                        <a:pt x="36" y="719"/>
                      </a:lnTo>
                      <a:lnTo>
                        <a:pt x="287" y="719"/>
                      </a:lnTo>
                      <a:lnTo>
                        <a:pt x="287" y="575"/>
                      </a:lnTo>
                      <a:lnTo>
                        <a:pt x="36" y="575"/>
                      </a:lnTo>
                      <a:close/>
                      <a:moveTo>
                        <a:pt x="72" y="431"/>
                      </a:moveTo>
                      <a:lnTo>
                        <a:pt x="251" y="431"/>
                      </a:lnTo>
                      <a:lnTo>
                        <a:pt x="251" y="503"/>
                      </a:lnTo>
                      <a:lnTo>
                        <a:pt x="72" y="503"/>
                      </a:lnTo>
                      <a:lnTo>
                        <a:pt x="72" y="431"/>
                      </a:lnTo>
                      <a:close/>
                      <a:moveTo>
                        <a:pt x="824" y="395"/>
                      </a:moveTo>
                      <a:lnTo>
                        <a:pt x="824" y="539"/>
                      </a:lnTo>
                      <a:lnTo>
                        <a:pt x="1040" y="539"/>
                      </a:lnTo>
                      <a:lnTo>
                        <a:pt x="1040" y="395"/>
                      </a:lnTo>
                      <a:lnTo>
                        <a:pt x="824" y="395"/>
                      </a:lnTo>
                      <a:close/>
                      <a:moveTo>
                        <a:pt x="573" y="395"/>
                      </a:moveTo>
                      <a:lnTo>
                        <a:pt x="575" y="539"/>
                      </a:lnTo>
                      <a:lnTo>
                        <a:pt x="789" y="539"/>
                      </a:lnTo>
                      <a:lnTo>
                        <a:pt x="789" y="395"/>
                      </a:lnTo>
                      <a:lnTo>
                        <a:pt x="573" y="395"/>
                      </a:lnTo>
                      <a:close/>
                      <a:moveTo>
                        <a:pt x="323" y="395"/>
                      </a:moveTo>
                      <a:lnTo>
                        <a:pt x="323" y="539"/>
                      </a:lnTo>
                      <a:lnTo>
                        <a:pt x="537" y="539"/>
                      </a:lnTo>
                      <a:lnTo>
                        <a:pt x="537" y="395"/>
                      </a:lnTo>
                      <a:lnTo>
                        <a:pt x="323" y="395"/>
                      </a:lnTo>
                      <a:close/>
                      <a:moveTo>
                        <a:pt x="36" y="395"/>
                      </a:moveTo>
                      <a:lnTo>
                        <a:pt x="36" y="539"/>
                      </a:lnTo>
                      <a:lnTo>
                        <a:pt x="287" y="539"/>
                      </a:lnTo>
                      <a:lnTo>
                        <a:pt x="287" y="395"/>
                      </a:lnTo>
                      <a:lnTo>
                        <a:pt x="36" y="395"/>
                      </a:lnTo>
                      <a:close/>
                      <a:moveTo>
                        <a:pt x="72" y="252"/>
                      </a:moveTo>
                      <a:lnTo>
                        <a:pt x="251" y="252"/>
                      </a:lnTo>
                      <a:lnTo>
                        <a:pt x="251" y="323"/>
                      </a:lnTo>
                      <a:lnTo>
                        <a:pt x="72" y="323"/>
                      </a:lnTo>
                      <a:lnTo>
                        <a:pt x="72" y="252"/>
                      </a:lnTo>
                      <a:close/>
                      <a:moveTo>
                        <a:pt x="824" y="216"/>
                      </a:moveTo>
                      <a:lnTo>
                        <a:pt x="824" y="359"/>
                      </a:lnTo>
                      <a:lnTo>
                        <a:pt x="1040" y="359"/>
                      </a:lnTo>
                      <a:lnTo>
                        <a:pt x="1040" y="216"/>
                      </a:lnTo>
                      <a:lnTo>
                        <a:pt x="824" y="216"/>
                      </a:lnTo>
                      <a:close/>
                      <a:moveTo>
                        <a:pt x="573" y="216"/>
                      </a:moveTo>
                      <a:lnTo>
                        <a:pt x="573" y="359"/>
                      </a:lnTo>
                      <a:lnTo>
                        <a:pt x="789" y="359"/>
                      </a:lnTo>
                      <a:lnTo>
                        <a:pt x="789" y="216"/>
                      </a:lnTo>
                      <a:lnTo>
                        <a:pt x="573" y="216"/>
                      </a:lnTo>
                      <a:close/>
                      <a:moveTo>
                        <a:pt x="323" y="216"/>
                      </a:moveTo>
                      <a:lnTo>
                        <a:pt x="323" y="359"/>
                      </a:lnTo>
                      <a:lnTo>
                        <a:pt x="537" y="359"/>
                      </a:lnTo>
                      <a:lnTo>
                        <a:pt x="537" y="216"/>
                      </a:lnTo>
                      <a:lnTo>
                        <a:pt x="323" y="216"/>
                      </a:lnTo>
                      <a:close/>
                      <a:moveTo>
                        <a:pt x="36" y="216"/>
                      </a:moveTo>
                      <a:lnTo>
                        <a:pt x="36" y="359"/>
                      </a:lnTo>
                      <a:lnTo>
                        <a:pt x="287" y="359"/>
                      </a:lnTo>
                      <a:lnTo>
                        <a:pt x="287" y="216"/>
                      </a:lnTo>
                      <a:lnTo>
                        <a:pt x="36" y="216"/>
                      </a:lnTo>
                      <a:close/>
                      <a:moveTo>
                        <a:pt x="860" y="72"/>
                      </a:moveTo>
                      <a:lnTo>
                        <a:pt x="1004" y="72"/>
                      </a:lnTo>
                      <a:lnTo>
                        <a:pt x="1004" y="144"/>
                      </a:lnTo>
                      <a:lnTo>
                        <a:pt x="860" y="144"/>
                      </a:lnTo>
                      <a:lnTo>
                        <a:pt x="860" y="72"/>
                      </a:lnTo>
                      <a:close/>
                      <a:moveTo>
                        <a:pt x="609" y="72"/>
                      </a:moveTo>
                      <a:lnTo>
                        <a:pt x="753" y="72"/>
                      </a:lnTo>
                      <a:lnTo>
                        <a:pt x="753" y="144"/>
                      </a:lnTo>
                      <a:lnTo>
                        <a:pt x="609" y="144"/>
                      </a:lnTo>
                      <a:lnTo>
                        <a:pt x="609" y="72"/>
                      </a:lnTo>
                      <a:close/>
                      <a:moveTo>
                        <a:pt x="359" y="72"/>
                      </a:moveTo>
                      <a:lnTo>
                        <a:pt x="503" y="72"/>
                      </a:lnTo>
                      <a:lnTo>
                        <a:pt x="503" y="144"/>
                      </a:lnTo>
                      <a:lnTo>
                        <a:pt x="359" y="144"/>
                      </a:lnTo>
                      <a:lnTo>
                        <a:pt x="359" y="72"/>
                      </a:lnTo>
                      <a:close/>
                      <a:moveTo>
                        <a:pt x="72" y="72"/>
                      </a:moveTo>
                      <a:lnTo>
                        <a:pt x="251" y="72"/>
                      </a:lnTo>
                      <a:lnTo>
                        <a:pt x="251" y="144"/>
                      </a:lnTo>
                      <a:lnTo>
                        <a:pt x="72" y="144"/>
                      </a:lnTo>
                      <a:lnTo>
                        <a:pt x="72" y="72"/>
                      </a:lnTo>
                      <a:close/>
                      <a:moveTo>
                        <a:pt x="824" y="36"/>
                      </a:moveTo>
                      <a:lnTo>
                        <a:pt x="824" y="180"/>
                      </a:lnTo>
                      <a:lnTo>
                        <a:pt x="1040" y="180"/>
                      </a:lnTo>
                      <a:lnTo>
                        <a:pt x="1040" y="36"/>
                      </a:lnTo>
                      <a:lnTo>
                        <a:pt x="824" y="36"/>
                      </a:lnTo>
                      <a:close/>
                      <a:moveTo>
                        <a:pt x="573" y="36"/>
                      </a:moveTo>
                      <a:lnTo>
                        <a:pt x="573" y="180"/>
                      </a:lnTo>
                      <a:lnTo>
                        <a:pt x="789" y="180"/>
                      </a:lnTo>
                      <a:lnTo>
                        <a:pt x="789" y="36"/>
                      </a:lnTo>
                      <a:lnTo>
                        <a:pt x="573" y="36"/>
                      </a:lnTo>
                      <a:close/>
                      <a:moveTo>
                        <a:pt x="323" y="36"/>
                      </a:moveTo>
                      <a:lnTo>
                        <a:pt x="323" y="180"/>
                      </a:lnTo>
                      <a:lnTo>
                        <a:pt x="537" y="180"/>
                      </a:lnTo>
                      <a:lnTo>
                        <a:pt x="537" y="36"/>
                      </a:lnTo>
                      <a:lnTo>
                        <a:pt x="323" y="36"/>
                      </a:lnTo>
                      <a:close/>
                      <a:moveTo>
                        <a:pt x="36" y="36"/>
                      </a:moveTo>
                      <a:lnTo>
                        <a:pt x="36" y="180"/>
                      </a:lnTo>
                      <a:lnTo>
                        <a:pt x="287" y="180"/>
                      </a:lnTo>
                      <a:lnTo>
                        <a:pt x="287" y="36"/>
                      </a:lnTo>
                      <a:lnTo>
                        <a:pt x="36" y="36"/>
                      </a:lnTo>
                      <a:close/>
                      <a:moveTo>
                        <a:pt x="36" y="0"/>
                      </a:moveTo>
                      <a:lnTo>
                        <a:pt x="1040" y="0"/>
                      </a:lnTo>
                      <a:lnTo>
                        <a:pt x="1059" y="6"/>
                      </a:lnTo>
                      <a:lnTo>
                        <a:pt x="1070" y="19"/>
                      </a:lnTo>
                      <a:lnTo>
                        <a:pt x="1076" y="36"/>
                      </a:lnTo>
                      <a:lnTo>
                        <a:pt x="1076" y="719"/>
                      </a:lnTo>
                      <a:lnTo>
                        <a:pt x="1076" y="721"/>
                      </a:lnTo>
                      <a:lnTo>
                        <a:pt x="1074" y="728"/>
                      </a:lnTo>
                      <a:lnTo>
                        <a:pt x="1072" y="736"/>
                      </a:lnTo>
                      <a:lnTo>
                        <a:pt x="1066" y="745"/>
                      </a:lnTo>
                      <a:lnTo>
                        <a:pt x="1055" y="751"/>
                      </a:lnTo>
                      <a:lnTo>
                        <a:pt x="1040" y="755"/>
                      </a:lnTo>
                      <a:lnTo>
                        <a:pt x="36" y="755"/>
                      </a:lnTo>
                      <a:lnTo>
                        <a:pt x="17" y="749"/>
                      </a:lnTo>
                      <a:lnTo>
                        <a:pt x="6" y="736"/>
                      </a:lnTo>
                      <a:lnTo>
                        <a:pt x="0" y="719"/>
                      </a:lnTo>
                      <a:lnTo>
                        <a:pt x="0" y="36"/>
                      </a:lnTo>
                      <a:lnTo>
                        <a:pt x="6" y="19"/>
                      </a:lnTo>
                      <a:lnTo>
                        <a:pt x="17" y="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371600"/>
                  <a:endParaRPr lang="ja-JP" altLang="en-US" sz="2700" dirty="0">
                    <a:solidFill>
                      <a:srgbClr val="4D4D4D"/>
                    </a:solidFill>
                  </a:endParaRPr>
                </a:p>
              </p:txBody>
            </p:sp>
            <p:grpSp>
              <p:nvGrpSpPr>
                <p:cNvPr id="21" name="グループ化 20"/>
                <p:cNvGrpSpPr/>
                <p:nvPr/>
              </p:nvGrpSpPr>
              <p:grpSpPr>
                <a:xfrm>
                  <a:off x="1748349" y="5116639"/>
                  <a:ext cx="829669" cy="904151"/>
                  <a:chOff x="6399213" y="3455988"/>
                  <a:chExt cx="636588" cy="693737"/>
                </a:xfrm>
              </p:grpSpPr>
              <p:sp>
                <p:nvSpPr>
                  <p:cNvPr id="22" name="Freeform 85"/>
                  <p:cNvSpPr>
                    <a:spLocks noEditPoints="1"/>
                  </p:cNvSpPr>
                  <p:nvPr/>
                </p:nvSpPr>
                <p:spPr bwMode="auto">
                  <a:xfrm>
                    <a:off x="6543675" y="3455988"/>
                    <a:ext cx="347663" cy="347663"/>
                  </a:xfrm>
                  <a:custGeom>
                    <a:avLst/>
                    <a:gdLst>
                      <a:gd name="T0" fmla="*/ 101 w 201"/>
                      <a:gd name="T1" fmla="*/ 200 h 200"/>
                      <a:gd name="T2" fmla="*/ 171 w 201"/>
                      <a:gd name="T3" fmla="*/ 171 h 200"/>
                      <a:gd name="T4" fmla="*/ 201 w 201"/>
                      <a:gd name="T5" fmla="*/ 100 h 200"/>
                      <a:gd name="T6" fmla="*/ 171 w 201"/>
                      <a:gd name="T7" fmla="*/ 29 h 200"/>
                      <a:gd name="T8" fmla="*/ 101 w 201"/>
                      <a:gd name="T9" fmla="*/ 0 h 200"/>
                      <a:gd name="T10" fmla="*/ 30 w 201"/>
                      <a:gd name="T11" fmla="*/ 29 h 200"/>
                      <a:gd name="T12" fmla="*/ 0 w 201"/>
                      <a:gd name="T13" fmla="*/ 100 h 200"/>
                      <a:gd name="T14" fmla="*/ 30 w 201"/>
                      <a:gd name="T15" fmla="*/ 171 h 200"/>
                      <a:gd name="T16" fmla="*/ 101 w 201"/>
                      <a:gd name="T17" fmla="*/ 200 h 200"/>
                      <a:gd name="T18" fmla="*/ 101 w 201"/>
                      <a:gd name="T19" fmla="*/ 200 h 200"/>
                      <a:gd name="T20" fmla="*/ 101 w 201"/>
                      <a:gd name="T21" fmla="*/ 200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01" h="200">
                        <a:moveTo>
                          <a:pt x="101" y="200"/>
                        </a:moveTo>
                        <a:cubicBezTo>
                          <a:pt x="128" y="200"/>
                          <a:pt x="152" y="190"/>
                          <a:pt x="171" y="171"/>
                        </a:cubicBezTo>
                        <a:cubicBezTo>
                          <a:pt x="191" y="151"/>
                          <a:pt x="201" y="128"/>
                          <a:pt x="201" y="100"/>
                        </a:cubicBezTo>
                        <a:cubicBezTo>
                          <a:pt x="201" y="72"/>
                          <a:pt x="191" y="49"/>
                          <a:pt x="171" y="29"/>
                        </a:cubicBezTo>
                        <a:cubicBezTo>
                          <a:pt x="152" y="10"/>
                          <a:pt x="128" y="0"/>
                          <a:pt x="101" y="0"/>
                        </a:cubicBezTo>
                        <a:cubicBezTo>
                          <a:pt x="73" y="0"/>
                          <a:pt x="49" y="10"/>
                          <a:pt x="30" y="29"/>
                        </a:cubicBezTo>
                        <a:cubicBezTo>
                          <a:pt x="10" y="49"/>
                          <a:pt x="0" y="72"/>
                          <a:pt x="0" y="100"/>
                        </a:cubicBezTo>
                        <a:cubicBezTo>
                          <a:pt x="0" y="128"/>
                          <a:pt x="10" y="151"/>
                          <a:pt x="30" y="171"/>
                        </a:cubicBezTo>
                        <a:cubicBezTo>
                          <a:pt x="49" y="190"/>
                          <a:pt x="73" y="200"/>
                          <a:pt x="101" y="200"/>
                        </a:cubicBezTo>
                        <a:close/>
                        <a:moveTo>
                          <a:pt x="101" y="200"/>
                        </a:moveTo>
                        <a:cubicBezTo>
                          <a:pt x="101" y="200"/>
                          <a:pt x="101" y="200"/>
                          <a:pt x="101" y="200"/>
                        </a:cubicBez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182852" tIns="91426" rIns="182852" bIns="9142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1828617"/>
                    <a:endParaRPr lang="ja-JP" altLang="en-US" sz="7199" dirty="0">
                      <a:solidFill>
                        <a:srgbClr val="333333"/>
                      </a:solidFill>
                    </a:endParaRPr>
                  </a:p>
                </p:txBody>
              </p:sp>
              <p:sp>
                <p:nvSpPr>
                  <p:cNvPr id="23" name="Freeform 86"/>
                  <p:cNvSpPr>
                    <a:spLocks noEditPoints="1"/>
                  </p:cNvSpPr>
                  <p:nvPr/>
                </p:nvSpPr>
                <p:spPr bwMode="auto">
                  <a:xfrm>
                    <a:off x="6399213" y="3775075"/>
                    <a:ext cx="636588" cy="374650"/>
                  </a:xfrm>
                  <a:custGeom>
                    <a:avLst/>
                    <a:gdLst>
                      <a:gd name="T0" fmla="*/ 366 w 367"/>
                      <a:gd name="T1" fmla="*/ 122 h 216"/>
                      <a:gd name="T2" fmla="*/ 363 w 367"/>
                      <a:gd name="T3" fmla="*/ 94 h 216"/>
                      <a:gd name="T4" fmla="*/ 356 w 367"/>
                      <a:gd name="T5" fmla="*/ 65 h 216"/>
                      <a:gd name="T6" fmla="*/ 344 w 367"/>
                      <a:gd name="T7" fmla="*/ 40 h 216"/>
                      <a:gd name="T8" fmla="*/ 328 w 367"/>
                      <a:gd name="T9" fmla="*/ 19 h 216"/>
                      <a:gd name="T10" fmla="*/ 306 w 367"/>
                      <a:gd name="T11" fmla="*/ 5 h 216"/>
                      <a:gd name="T12" fmla="*/ 277 w 367"/>
                      <a:gd name="T13" fmla="*/ 0 h 216"/>
                      <a:gd name="T14" fmla="*/ 266 w 367"/>
                      <a:gd name="T15" fmla="*/ 5 h 216"/>
                      <a:gd name="T16" fmla="*/ 247 w 367"/>
                      <a:gd name="T17" fmla="*/ 18 h 216"/>
                      <a:gd name="T18" fmla="*/ 218 w 367"/>
                      <a:gd name="T19" fmla="*/ 30 h 216"/>
                      <a:gd name="T20" fmla="*/ 184 w 367"/>
                      <a:gd name="T21" fmla="*/ 36 h 216"/>
                      <a:gd name="T22" fmla="*/ 149 w 367"/>
                      <a:gd name="T23" fmla="*/ 30 h 216"/>
                      <a:gd name="T24" fmla="*/ 121 w 367"/>
                      <a:gd name="T25" fmla="*/ 18 h 216"/>
                      <a:gd name="T26" fmla="*/ 101 w 367"/>
                      <a:gd name="T27" fmla="*/ 5 h 216"/>
                      <a:gd name="T28" fmla="*/ 90 w 367"/>
                      <a:gd name="T29" fmla="*/ 0 h 216"/>
                      <a:gd name="T30" fmla="*/ 61 w 367"/>
                      <a:gd name="T31" fmla="*/ 5 h 216"/>
                      <a:gd name="T32" fmla="*/ 39 w 367"/>
                      <a:gd name="T33" fmla="*/ 19 h 216"/>
                      <a:gd name="T34" fmla="*/ 23 w 367"/>
                      <a:gd name="T35" fmla="*/ 40 h 216"/>
                      <a:gd name="T36" fmla="*/ 11 w 367"/>
                      <a:gd name="T37" fmla="*/ 65 h 216"/>
                      <a:gd name="T38" fmla="*/ 5 w 367"/>
                      <a:gd name="T39" fmla="*/ 94 h 216"/>
                      <a:gd name="T40" fmla="*/ 1 w 367"/>
                      <a:gd name="T41" fmla="*/ 122 h 216"/>
                      <a:gd name="T42" fmla="*/ 0 w 367"/>
                      <a:gd name="T43" fmla="*/ 149 h 216"/>
                      <a:gd name="T44" fmla="*/ 19 w 367"/>
                      <a:gd name="T45" fmla="*/ 198 h 216"/>
                      <a:gd name="T46" fmla="*/ 70 w 367"/>
                      <a:gd name="T47" fmla="*/ 216 h 216"/>
                      <a:gd name="T48" fmla="*/ 297 w 367"/>
                      <a:gd name="T49" fmla="*/ 216 h 216"/>
                      <a:gd name="T50" fmla="*/ 348 w 367"/>
                      <a:gd name="T51" fmla="*/ 198 h 216"/>
                      <a:gd name="T52" fmla="*/ 367 w 367"/>
                      <a:gd name="T53" fmla="*/ 149 h 216"/>
                      <a:gd name="T54" fmla="*/ 366 w 367"/>
                      <a:gd name="T55" fmla="*/ 122 h 216"/>
                      <a:gd name="T56" fmla="*/ 366 w 367"/>
                      <a:gd name="T57" fmla="*/ 122 h 216"/>
                      <a:gd name="T58" fmla="*/ 366 w 367"/>
                      <a:gd name="T59" fmla="*/ 122 h 2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</a:cxnLst>
                    <a:rect l="0" t="0" r="r" b="b"/>
                    <a:pathLst>
                      <a:path w="367" h="216">
                        <a:moveTo>
                          <a:pt x="366" y="122"/>
                        </a:moveTo>
                        <a:cubicBezTo>
                          <a:pt x="366" y="113"/>
                          <a:pt x="364" y="104"/>
                          <a:pt x="363" y="94"/>
                        </a:cubicBezTo>
                        <a:cubicBezTo>
                          <a:pt x="361" y="83"/>
                          <a:pt x="358" y="74"/>
                          <a:pt x="356" y="65"/>
                        </a:cubicBezTo>
                        <a:cubicBezTo>
                          <a:pt x="353" y="57"/>
                          <a:pt x="349" y="48"/>
                          <a:pt x="344" y="40"/>
                        </a:cubicBezTo>
                        <a:cubicBezTo>
                          <a:pt x="340" y="32"/>
                          <a:pt x="334" y="25"/>
                          <a:pt x="328" y="19"/>
                        </a:cubicBezTo>
                        <a:cubicBezTo>
                          <a:pt x="322" y="13"/>
                          <a:pt x="315" y="8"/>
                          <a:pt x="306" y="5"/>
                        </a:cubicBezTo>
                        <a:cubicBezTo>
                          <a:pt x="297" y="1"/>
                          <a:pt x="287" y="0"/>
                          <a:pt x="277" y="0"/>
                        </a:cubicBezTo>
                        <a:cubicBezTo>
                          <a:pt x="275" y="0"/>
                          <a:pt x="272" y="1"/>
                          <a:pt x="266" y="5"/>
                        </a:cubicBezTo>
                        <a:cubicBezTo>
                          <a:pt x="260" y="9"/>
                          <a:pt x="254" y="13"/>
                          <a:pt x="247" y="18"/>
                        </a:cubicBezTo>
                        <a:cubicBezTo>
                          <a:pt x="239" y="22"/>
                          <a:pt x="230" y="26"/>
                          <a:pt x="218" y="30"/>
                        </a:cubicBezTo>
                        <a:cubicBezTo>
                          <a:pt x="207" y="34"/>
                          <a:pt x="195" y="36"/>
                          <a:pt x="184" y="36"/>
                        </a:cubicBezTo>
                        <a:cubicBezTo>
                          <a:pt x="172" y="36"/>
                          <a:pt x="160" y="34"/>
                          <a:pt x="149" y="30"/>
                        </a:cubicBezTo>
                        <a:cubicBezTo>
                          <a:pt x="137" y="26"/>
                          <a:pt x="128" y="22"/>
                          <a:pt x="121" y="18"/>
                        </a:cubicBezTo>
                        <a:cubicBezTo>
                          <a:pt x="113" y="13"/>
                          <a:pt x="107" y="9"/>
                          <a:pt x="101" y="5"/>
                        </a:cubicBezTo>
                        <a:cubicBezTo>
                          <a:pt x="95" y="1"/>
                          <a:pt x="92" y="0"/>
                          <a:pt x="90" y="0"/>
                        </a:cubicBezTo>
                        <a:cubicBezTo>
                          <a:pt x="80" y="0"/>
                          <a:pt x="70" y="1"/>
                          <a:pt x="61" y="5"/>
                        </a:cubicBezTo>
                        <a:cubicBezTo>
                          <a:pt x="52" y="8"/>
                          <a:pt x="45" y="13"/>
                          <a:pt x="39" y="19"/>
                        </a:cubicBezTo>
                        <a:cubicBezTo>
                          <a:pt x="33" y="25"/>
                          <a:pt x="27" y="32"/>
                          <a:pt x="23" y="40"/>
                        </a:cubicBezTo>
                        <a:cubicBezTo>
                          <a:pt x="18" y="48"/>
                          <a:pt x="14" y="57"/>
                          <a:pt x="11" y="65"/>
                        </a:cubicBezTo>
                        <a:cubicBezTo>
                          <a:pt x="9" y="74"/>
                          <a:pt x="6" y="83"/>
                          <a:pt x="5" y="94"/>
                        </a:cubicBezTo>
                        <a:cubicBezTo>
                          <a:pt x="3" y="104"/>
                          <a:pt x="2" y="113"/>
                          <a:pt x="1" y="122"/>
                        </a:cubicBezTo>
                        <a:cubicBezTo>
                          <a:pt x="0" y="131"/>
                          <a:pt x="0" y="140"/>
                          <a:pt x="0" y="149"/>
                        </a:cubicBezTo>
                        <a:cubicBezTo>
                          <a:pt x="0" y="170"/>
                          <a:pt x="6" y="186"/>
                          <a:pt x="19" y="198"/>
                        </a:cubicBezTo>
                        <a:cubicBezTo>
                          <a:pt x="32" y="210"/>
                          <a:pt x="49" y="216"/>
                          <a:pt x="70" y="216"/>
                        </a:cubicBezTo>
                        <a:cubicBezTo>
                          <a:pt x="297" y="216"/>
                          <a:pt x="297" y="216"/>
                          <a:pt x="297" y="216"/>
                        </a:cubicBezTo>
                        <a:cubicBezTo>
                          <a:pt x="319" y="216"/>
                          <a:pt x="335" y="210"/>
                          <a:pt x="348" y="198"/>
                        </a:cubicBezTo>
                        <a:cubicBezTo>
                          <a:pt x="361" y="186"/>
                          <a:pt x="367" y="170"/>
                          <a:pt x="367" y="149"/>
                        </a:cubicBezTo>
                        <a:cubicBezTo>
                          <a:pt x="367" y="140"/>
                          <a:pt x="367" y="131"/>
                          <a:pt x="366" y="122"/>
                        </a:cubicBezTo>
                        <a:close/>
                        <a:moveTo>
                          <a:pt x="366" y="122"/>
                        </a:moveTo>
                        <a:cubicBezTo>
                          <a:pt x="366" y="122"/>
                          <a:pt x="366" y="122"/>
                          <a:pt x="366" y="122"/>
                        </a:cubicBez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182852" tIns="91426" rIns="182852" bIns="9142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1828617"/>
                    <a:endParaRPr lang="ja-JP" altLang="en-US" sz="7199" dirty="0">
                      <a:solidFill>
                        <a:srgbClr val="333333"/>
                      </a:solidFill>
                    </a:endParaRPr>
                  </a:p>
                </p:txBody>
              </p:sp>
            </p:grpSp>
          </p:grpSp>
        </p:grpSp>
        <p:grpSp>
          <p:nvGrpSpPr>
            <p:cNvPr id="26" name="グループ化 25"/>
            <p:cNvGrpSpPr/>
            <p:nvPr/>
          </p:nvGrpSpPr>
          <p:grpSpPr>
            <a:xfrm>
              <a:off x="5412631" y="3488884"/>
              <a:ext cx="3291840" cy="2531906"/>
              <a:chOff x="811870" y="3488884"/>
              <a:chExt cx="3291840" cy="2531906"/>
            </a:xfrm>
          </p:grpSpPr>
          <p:sp>
            <p:nvSpPr>
              <p:cNvPr id="27" name="テキスト ボックス 26"/>
              <p:cNvSpPr txBox="1"/>
              <p:nvPr/>
            </p:nvSpPr>
            <p:spPr>
              <a:xfrm>
                <a:off x="811870" y="3488884"/>
                <a:ext cx="3291840" cy="9541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2800" dirty="0"/>
                  <a:t>B</a:t>
                </a:r>
                <a:r>
                  <a:rPr kumimoji="1" lang="ja-JP" altLang="en-US" sz="2800" dirty="0" smtClean="0"/>
                  <a:t>君の履修科目</a:t>
                </a:r>
                <a:r>
                  <a:rPr kumimoji="1" lang="en-US" altLang="ja-JP" sz="2800" dirty="0" smtClean="0"/>
                  <a:t/>
                </a:r>
                <a:br>
                  <a:rPr kumimoji="1" lang="en-US" altLang="ja-JP" sz="2800" dirty="0" smtClean="0"/>
                </a:br>
                <a:r>
                  <a:rPr kumimoji="1" lang="ja-JP" altLang="en-US" sz="2800" dirty="0" smtClean="0"/>
                  <a:t>最適化</a:t>
                </a:r>
              </a:p>
            </p:txBody>
          </p:sp>
          <p:grpSp>
            <p:nvGrpSpPr>
              <p:cNvPr id="28" name="グループ化 27"/>
              <p:cNvGrpSpPr/>
              <p:nvPr/>
            </p:nvGrpSpPr>
            <p:grpSpPr>
              <a:xfrm>
                <a:off x="1349243" y="4617213"/>
                <a:ext cx="2217095" cy="1403577"/>
                <a:chOff x="1748349" y="4617213"/>
                <a:chExt cx="2217095" cy="1403577"/>
              </a:xfrm>
            </p:grpSpPr>
            <p:sp>
              <p:nvSpPr>
                <p:cNvPr id="29" name="Freeform 6"/>
                <p:cNvSpPr>
                  <a:spLocks noChangeAspect="1" noEditPoints="1"/>
                </p:cNvSpPr>
                <p:nvPr/>
              </p:nvSpPr>
              <p:spPr bwMode="auto">
                <a:xfrm>
                  <a:off x="2819604" y="4617213"/>
                  <a:ext cx="1145840" cy="804006"/>
                </a:xfrm>
                <a:custGeom>
                  <a:avLst/>
                  <a:gdLst>
                    <a:gd name="T0" fmla="*/ 251 w 1076"/>
                    <a:gd name="T1" fmla="*/ 683 h 755"/>
                    <a:gd name="T2" fmla="*/ 824 w 1076"/>
                    <a:gd name="T3" fmla="*/ 575 h 755"/>
                    <a:gd name="T4" fmla="*/ 1040 w 1076"/>
                    <a:gd name="T5" fmla="*/ 575 h 755"/>
                    <a:gd name="T6" fmla="*/ 575 w 1076"/>
                    <a:gd name="T7" fmla="*/ 719 h 755"/>
                    <a:gd name="T8" fmla="*/ 573 w 1076"/>
                    <a:gd name="T9" fmla="*/ 575 h 755"/>
                    <a:gd name="T10" fmla="*/ 537 w 1076"/>
                    <a:gd name="T11" fmla="*/ 719 h 755"/>
                    <a:gd name="T12" fmla="*/ 36 w 1076"/>
                    <a:gd name="T13" fmla="*/ 575 h 755"/>
                    <a:gd name="T14" fmla="*/ 287 w 1076"/>
                    <a:gd name="T15" fmla="*/ 575 h 755"/>
                    <a:gd name="T16" fmla="*/ 251 w 1076"/>
                    <a:gd name="T17" fmla="*/ 431 h 755"/>
                    <a:gd name="T18" fmla="*/ 72 w 1076"/>
                    <a:gd name="T19" fmla="*/ 431 h 755"/>
                    <a:gd name="T20" fmla="*/ 1040 w 1076"/>
                    <a:gd name="T21" fmla="*/ 539 h 755"/>
                    <a:gd name="T22" fmla="*/ 573 w 1076"/>
                    <a:gd name="T23" fmla="*/ 395 h 755"/>
                    <a:gd name="T24" fmla="*/ 789 w 1076"/>
                    <a:gd name="T25" fmla="*/ 395 h 755"/>
                    <a:gd name="T26" fmla="*/ 323 w 1076"/>
                    <a:gd name="T27" fmla="*/ 539 h 755"/>
                    <a:gd name="T28" fmla="*/ 323 w 1076"/>
                    <a:gd name="T29" fmla="*/ 395 h 755"/>
                    <a:gd name="T30" fmla="*/ 287 w 1076"/>
                    <a:gd name="T31" fmla="*/ 539 h 755"/>
                    <a:gd name="T32" fmla="*/ 72 w 1076"/>
                    <a:gd name="T33" fmla="*/ 252 h 755"/>
                    <a:gd name="T34" fmla="*/ 72 w 1076"/>
                    <a:gd name="T35" fmla="*/ 323 h 755"/>
                    <a:gd name="T36" fmla="*/ 824 w 1076"/>
                    <a:gd name="T37" fmla="*/ 359 h 755"/>
                    <a:gd name="T38" fmla="*/ 824 w 1076"/>
                    <a:gd name="T39" fmla="*/ 216 h 755"/>
                    <a:gd name="T40" fmla="*/ 789 w 1076"/>
                    <a:gd name="T41" fmla="*/ 359 h 755"/>
                    <a:gd name="T42" fmla="*/ 323 w 1076"/>
                    <a:gd name="T43" fmla="*/ 216 h 755"/>
                    <a:gd name="T44" fmla="*/ 537 w 1076"/>
                    <a:gd name="T45" fmla="*/ 216 h 755"/>
                    <a:gd name="T46" fmla="*/ 36 w 1076"/>
                    <a:gd name="T47" fmla="*/ 359 h 755"/>
                    <a:gd name="T48" fmla="*/ 36 w 1076"/>
                    <a:gd name="T49" fmla="*/ 216 h 755"/>
                    <a:gd name="T50" fmla="*/ 1004 w 1076"/>
                    <a:gd name="T51" fmla="*/ 144 h 755"/>
                    <a:gd name="T52" fmla="*/ 609 w 1076"/>
                    <a:gd name="T53" fmla="*/ 72 h 755"/>
                    <a:gd name="T54" fmla="*/ 609 w 1076"/>
                    <a:gd name="T55" fmla="*/ 144 h 755"/>
                    <a:gd name="T56" fmla="*/ 503 w 1076"/>
                    <a:gd name="T57" fmla="*/ 72 h 755"/>
                    <a:gd name="T58" fmla="*/ 359 w 1076"/>
                    <a:gd name="T59" fmla="*/ 72 h 755"/>
                    <a:gd name="T60" fmla="*/ 251 w 1076"/>
                    <a:gd name="T61" fmla="*/ 144 h 755"/>
                    <a:gd name="T62" fmla="*/ 824 w 1076"/>
                    <a:gd name="T63" fmla="*/ 36 h 755"/>
                    <a:gd name="T64" fmla="*/ 1040 w 1076"/>
                    <a:gd name="T65" fmla="*/ 36 h 755"/>
                    <a:gd name="T66" fmla="*/ 573 w 1076"/>
                    <a:gd name="T67" fmla="*/ 180 h 755"/>
                    <a:gd name="T68" fmla="*/ 573 w 1076"/>
                    <a:gd name="T69" fmla="*/ 36 h 755"/>
                    <a:gd name="T70" fmla="*/ 537 w 1076"/>
                    <a:gd name="T71" fmla="*/ 180 h 755"/>
                    <a:gd name="T72" fmla="*/ 36 w 1076"/>
                    <a:gd name="T73" fmla="*/ 36 h 755"/>
                    <a:gd name="T74" fmla="*/ 287 w 1076"/>
                    <a:gd name="T75" fmla="*/ 36 h 755"/>
                    <a:gd name="T76" fmla="*/ 1040 w 1076"/>
                    <a:gd name="T77" fmla="*/ 0 h 755"/>
                    <a:gd name="T78" fmla="*/ 1076 w 1076"/>
                    <a:gd name="T79" fmla="*/ 36 h 755"/>
                    <a:gd name="T80" fmla="*/ 1074 w 1076"/>
                    <a:gd name="T81" fmla="*/ 728 h 755"/>
                    <a:gd name="T82" fmla="*/ 1055 w 1076"/>
                    <a:gd name="T83" fmla="*/ 751 h 755"/>
                    <a:gd name="T84" fmla="*/ 17 w 1076"/>
                    <a:gd name="T85" fmla="*/ 749 h 755"/>
                    <a:gd name="T86" fmla="*/ 0 w 1076"/>
                    <a:gd name="T87" fmla="*/ 36 h 755"/>
                    <a:gd name="T88" fmla="*/ 36 w 1076"/>
                    <a:gd name="T89" fmla="*/ 0 h 7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076" h="755">
                      <a:moveTo>
                        <a:pt x="72" y="611"/>
                      </a:moveTo>
                      <a:lnTo>
                        <a:pt x="251" y="611"/>
                      </a:lnTo>
                      <a:lnTo>
                        <a:pt x="251" y="683"/>
                      </a:lnTo>
                      <a:lnTo>
                        <a:pt x="72" y="683"/>
                      </a:lnTo>
                      <a:lnTo>
                        <a:pt x="72" y="611"/>
                      </a:lnTo>
                      <a:close/>
                      <a:moveTo>
                        <a:pt x="824" y="575"/>
                      </a:moveTo>
                      <a:lnTo>
                        <a:pt x="824" y="719"/>
                      </a:lnTo>
                      <a:lnTo>
                        <a:pt x="1040" y="719"/>
                      </a:lnTo>
                      <a:lnTo>
                        <a:pt x="1040" y="575"/>
                      </a:lnTo>
                      <a:lnTo>
                        <a:pt x="824" y="575"/>
                      </a:lnTo>
                      <a:close/>
                      <a:moveTo>
                        <a:pt x="573" y="575"/>
                      </a:moveTo>
                      <a:lnTo>
                        <a:pt x="575" y="719"/>
                      </a:lnTo>
                      <a:lnTo>
                        <a:pt x="789" y="719"/>
                      </a:lnTo>
                      <a:lnTo>
                        <a:pt x="789" y="575"/>
                      </a:lnTo>
                      <a:lnTo>
                        <a:pt x="573" y="575"/>
                      </a:lnTo>
                      <a:close/>
                      <a:moveTo>
                        <a:pt x="323" y="575"/>
                      </a:moveTo>
                      <a:lnTo>
                        <a:pt x="323" y="719"/>
                      </a:lnTo>
                      <a:lnTo>
                        <a:pt x="537" y="719"/>
                      </a:lnTo>
                      <a:lnTo>
                        <a:pt x="537" y="575"/>
                      </a:lnTo>
                      <a:lnTo>
                        <a:pt x="323" y="575"/>
                      </a:lnTo>
                      <a:close/>
                      <a:moveTo>
                        <a:pt x="36" y="575"/>
                      </a:moveTo>
                      <a:lnTo>
                        <a:pt x="36" y="719"/>
                      </a:lnTo>
                      <a:lnTo>
                        <a:pt x="287" y="719"/>
                      </a:lnTo>
                      <a:lnTo>
                        <a:pt x="287" y="575"/>
                      </a:lnTo>
                      <a:lnTo>
                        <a:pt x="36" y="575"/>
                      </a:lnTo>
                      <a:close/>
                      <a:moveTo>
                        <a:pt x="72" y="431"/>
                      </a:moveTo>
                      <a:lnTo>
                        <a:pt x="251" y="431"/>
                      </a:lnTo>
                      <a:lnTo>
                        <a:pt x="251" y="503"/>
                      </a:lnTo>
                      <a:lnTo>
                        <a:pt x="72" y="503"/>
                      </a:lnTo>
                      <a:lnTo>
                        <a:pt x="72" y="431"/>
                      </a:lnTo>
                      <a:close/>
                      <a:moveTo>
                        <a:pt x="824" y="395"/>
                      </a:moveTo>
                      <a:lnTo>
                        <a:pt x="824" y="539"/>
                      </a:lnTo>
                      <a:lnTo>
                        <a:pt x="1040" y="539"/>
                      </a:lnTo>
                      <a:lnTo>
                        <a:pt x="1040" y="395"/>
                      </a:lnTo>
                      <a:lnTo>
                        <a:pt x="824" y="395"/>
                      </a:lnTo>
                      <a:close/>
                      <a:moveTo>
                        <a:pt x="573" y="395"/>
                      </a:moveTo>
                      <a:lnTo>
                        <a:pt x="575" y="539"/>
                      </a:lnTo>
                      <a:lnTo>
                        <a:pt x="789" y="539"/>
                      </a:lnTo>
                      <a:lnTo>
                        <a:pt x="789" y="395"/>
                      </a:lnTo>
                      <a:lnTo>
                        <a:pt x="573" y="395"/>
                      </a:lnTo>
                      <a:close/>
                      <a:moveTo>
                        <a:pt x="323" y="395"/>
                      </a:moveTo>
                      <a:lnTo>
                        <a:pt x="323" y="539"/>
                      </a:lnTo>
                      <a:lnTo>
                        <a:pt x="537" y="539"/>
                      </a:lnTo>
                      <a:lnTo>
                        <a:pt x="537" y="395"/>
                      </a:lnTo>
                      <a:lnTo>
                        <a:pt x="323" y="395"/>
                      </a:lnTo>
                      <a:close/>
                      <a:moveTo>
                        <a:pt x="36" y="395"/>
                      </a:moveTo>
                      <a:lnTo>
                        <a:pt x="36" y="539"/>
                      </a:lnTo>
                      <a:lnTo>
                        <a:pt x="287" y="539"/>
                      </a:lnTo>
                      <a:lnTo>
                        <a:pt x="287" y="395"/>
                      </a:lnTo>
                      <a:lnTo>
                        <a:pt x="36" y="395"/>
                      </a:lnTo>
                      <a:close/>
                      <a:moveTo>
                        <a:pt x="72" y="252"/>
                      </a:moveTo>
                      <a:lnTo>
                        <a:pt x="251" y="252"/>
                      </a:lnTo>
                      <a:lnTo>
                        <a:pt x="251" y="323"/>
                      </a:lnTo>
                      <a:lnTo>
                        <a:pt x="72" y="323"/>
                      </a:lnTo>
                      <a:lnTo>
                        <a:pt x="72" y="252"/>
                      </a:lnTo>
                      <a:close/>
                      <a:moveTo>
                        <a:pt x="824" y="216"/>
                      </a:moveTo>
                      <a:lnTo>
                        <a:pt x="824" y="359"/>
                      </a:lnTo>
                      <a:lnTo>
                        <a:pt x="1040" y="359"/>
                      </a:lnTo>
                      <a:lnTo>
                        <a:pt x="1040" y="216"/>
                      </a:lnTo>
                      <a:lnTo>
                        <a:pt x="824" y="216"/>
                      </a:lnTo>
                      <a:close/>
                      <a:moveTo>
                        <a:pt x="573" y="216"/>
                      </a:moveTo>
                      <a:lnTo>
                        <a:pt x="573" y="359"/>
                      </a:lnTo>
                      <a:lnTo>
                        <a:pt x="789" y="359"/>
                      </a:lnTo>
                      <a:lnTo>
                        <a:pt x="789" y="216"/>
                      </a:lnTo>
                      <a:lnTo>
                        <a:pt x="573" y="216"/>
                      </a:lnTo>
                      <a:close/>
                      <a:moveTo>
                        <a:pt x="323" y="216"/>
                      </a:moveTo>
                      <a:lnTo>
                        <a:pt x="323" y="359"/>
                      </a:lnTo>
                      <a:lnTo>
                        <a:pt x="537" y="359"/>
                      </a:lnTo>
                      <a:lnTo>
                        <a:pt x="537" y="216"/>
                      </a:lnTo>
                      <a:lnTo>
                        <a:pt x="323" y="216"/>
                      </a:lnTo>
                      <a:close/>
                      <a:moveTo>
                        <a:pt x="36" y="216"/>
                      </a:moveTo>
                      <a:lnTo>
                        <a:pt x="36" y="359"/>
                      </a:lnTo>
                      <a:lnTo>
                        <a:pt x="287" y="359"/>
                      </a:lnTo>
                      <a:lnTo>
                        <a:pt x="287" y="216"/>
                      </a:lnTo>
                      <a:lnTo>
                        <a:pt x="36" y="216"/>
                      </a:lnTo>
                      <a:close/>
                      <a:moveTo>
                        <a:pt x="860" y="72"/>
                      </a:moveTo>
                      <a:lnTo>
                        <a:pt x="1004" y="72"/>
                      </a:lnTo>
                      <a:lnTo>
                        <a:pt x="1004" y="144"/>
                      </a:lnTo>
                      <a:lnTo>
                        <a:pt x="860" y="144"/>
                      </a:lnTo>
                      <a:lnTo>
                        <a:pt x="860" y="72"/>
                      </a:lnTo>
                      <a:close/>
                      <a:moveTo>
                        <a:pt x="609" y="72"/>
                      </a:moveTo>
                      <a:lnTo>
                        <a:pt x="753" y="72"/>
                      </a:lnTo>
                      <a:lnTo>
                        <a:pt x="753" y="144"/>
                      </a:lnTo>
                      <a:lnTo>
                        <a:pt x="609" y="144"/>
                      </a:lnTo>
                      <a:lnTo>
                        <a:pt x="609" y="72"/>
                      </a:lnTo>
                      <a:close/>
                      <a:moveTo>
                        <a:pt x="359" y="72"/>
                      </a:moveTo>
                      <a:lnTo>
                        <a:pt x="503" y="72"/>
                      </a:lnTo>
                      <a:lnTo>
                        <a:pt x="503" y="144"/>
                      </a:lnTo>
                      <a:lnTo>
                        <a:pt x="359" y="144"/>
                      </a:lnTo>
                      <a:lnTo>
                        <a:pt x="359" y="72"/>
                      </a:lnTo>
                      <a:close/>
                      <a:moveTo>
                        <a:pt x="72" y="72"/>
                      </a:moveTo>
                      <a:lnTo>
                        <a:pt x="251" y="72"/>
                      </a:lnTo>
                      <a:lnTo>
                        <a:pt x="251" y="144"/>
                      </a:lnTo>
                      <a:lnTo>
                        <a:pt x="72" y="144"/>
                      </a:lnTo>
                      <a:lnTo>
                        <a:pt x="72" y="72"/>
                      </a:lnTo>
                      <a:close/>
                      <a:moveTo>
                        <a:pt x="824" y="36"/>
                      </a:moveTo>
                      <a:lnTo>
                        <a:pt x="824" y="180"/>
                      </a:lnTo>
                      <a:lnTo>
                        <a:pt x="1040" y="180"/>
                      </a:lnTo>
                      <a:lnTo>
                        <a:pt x="1040" y="36"/>
                      </a:lnTo>
                      <a:lnTo>
                        <a:pt x="824" y="36"/>
                      </a:lnTo>
                      <a:close/>
                      <a:moveTo>
                        <a:pt x="573" y="36"/>
                      </a:moveTo>
                      <a:lnTo>
                        <a:pt x="573" y="180"/>
                      </a:lnTo>
                      <a:lnTo>
                        <a:pt x="789" y="180"/>
                      </a:lnTo>
                      <a:lnTo>
                        <a:pt x="789" y="36"/>
                      </a:lnTo>
                      <a:lnTo>
                        <a:pt x="573" y="36"/>
                      </a:lnTo>
                      <a:close/>
                      <a:moveTo>
                        <a:pt x="323" y="36"/>
                      </a:moveTo>
                      <a:lnTo>
                        <a:pt x="323" y="180"/>
                      </a:lnTo>
                      <a:lnTo>
                        <a:pt x="537" y="180"/>
                      </a:lnTo>
                      <a:lnTo>
                        <a:pt x="537" y="36"/>
                      </a:lnTo>
                      <a:lnTo>
                        <a:pt x="323" y="36"/>
                      </a:lnTo>
                      <a:close/>
                      <a:moveTo>
                        <a:pt x="36" y="36"/>
                      </a:moveTo>
                      <a:lnTo>
                        <a:pt x="36" y="180"/>
                      </a:lnTo>
                      <a:lnTo>
                        <a:pt x="287" y="180"/>
                      </a:lnTo>
                      <a:lnTo>
                        <a:pt x="287" y="36"/>
                      </a:lnTo>
                      <a:lnTo>
                        <a:pt x="36" y="36"/>
                      </a:lnTo>
                      <a:close/>
                      <a:moveTo>
                        <a:pt x="36" y="0"/>
                      </a:moveTo>
                      <a:lnTo>
                        <a:pt x="1040" y="0"/>
                      </a:lnTo>
                      <a:lnTo>
                        <a:pt x="1059" y="6"/>
                      </a:lnTo>
                      <a:lnTo>
                        <a:pt x="1070" y="19"/>
                      </a:lnTo>
                      <a:lnTo>
                        <a:pt x="1076" y="36"/>
                      </a:lnTo>
                      <a:lnTo>
                        <a:pt x="1076" y="719"/>
                      </a:lnTo>
                      <a:lnTo>
                        <a:pt x="1076" y="721"/>
                      </a:lnTo>
                      <a:lnTo>
                        <a:pt x="1074" y="728"/>
                      </a:lnTo>
                      <a:lnTo>
                        <a:pt x="1072" y="736"/>
                      </a:lnTo>
                      <a:lnTo>
                        <a:pt x="1066" y="745"/>
                      </a:lnTo>
                      <a:lnTo>
                        <a:pt x="1055" y="751"/>
                      </a:lnTo>
                      <a:lnTo>
                        <a:pt x="1040" y="755"/>
                      </a:lnTo>
                      <a:lnTo>
                        <a:pt x="36" y="755"/>
                      </a:lnTo>
                      <a:lnTo>
                        <a:pt x="17" y="749"/>
                      </a:lnTo>
                      <a:lnTo>
                        <a:pt x="6" y="736"/>
                      </a:lnTo>
                      <a:lnTo>
                        <a:pt x="0" y="719"/>
                      </a:lnTo>
                      <a:lnTo>
                        <a:pt x="0" y="36"/>
                      </a:lnTo>
                      <a:lnTo>
                        <a:pt x="6" y="19"/>
                      </a:lnTo>
                      <a:lnTo>
                        <a:pt x="17" y="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371600"/>
                  <a:endParaRPr lang="ja-JP" altLang="en-US" sz="2700" dirty="0">
                    <a:solidFill>
                      <a:srgbClr val="4D4D4D"/>
                    </a:solidFill>
                  </a:endParaRPr>
                </a:p>
              </p:txBody>
            </p:sp>
            <p:grpSp>
              <p:nvGrpSpPr>
                <p:cNvPr id="30" name="グループ化 29"/>
                <p:cNvGrpSpPr/>
                <p:nvPr/>
              </p:nvGrpSpPr>
              <p:grpSpPr>
                <a:xfrm>
                  <a:off x="1748349" y="5116639"/>
                  <a:ext cx="829669" cy="904151"/>
                  <a:chOff x="6399213" y="3455988"/>
                  <a:chExt cx="636588" cy="693737"/>
                </a:xfrm>
              </p:grpSpPr>
              <p:sp>
                <p:nvSpPr>
                  <p:cNvPr id="31" name="Freeform 85"/>
                  <p:cNvSpPr>
                    <a:spLocks noEditPoints="1"/>
                  </p:cNvSpPr>
                  <p:nvPr/>
                </p:nvSpPr>
                <p:spPr bwMode="auto">
                  <a:xfrm>
                    <a:off x="6543675" y="3455988"/>
                    <a:ext cx="347663" cy="347663"/>
                  </a:xfrm>
                  <a:custGeom>
                    <a:avLst/>
                    <a:gdLst>
                      <a:gd name="T0" fmla="*/ 101 w 201"/>
                      <a:gd name="T1" fmla="*/ 200 h 200"/>
                      <a:gd name="T2" fmla="*/ 171 w 201"/>
                      <a:gd name="T3" fmla="*/ 171 h 200"/>
                      <a:gd name="T4" fmla="*/ 201 w 201"/>
                      <a:gd name="T5" fmla="*/ 100 h 200"/>
                      <a:gd name="T6" fmla="*/ 171 w 201"/>
                      <a:gd name="T7" fmla="*/ 29 h 200"/>
                      <a:gd name="T8" fmla="*/ 101 w 201"/>
                      <a:gd name="T9" fmla="*/ 0 h 200"/>
                      <a:gd name="T10" fmla="*/ 30 w 201"/>
                      <a:gd name="T11" fmla="*/ 29 h 200"/>
                      <a:gd name="T12" fmla="*/ 0 w 201"/>
                      <a:gd name="T13" fmla="*/ 100 h 200"/>
                      <a:gd name="T14" fmla="*/ 30 w 201"/>
                      <a:gd name="T15" fmla="*/ 171 h 200"/>
                      <a:gd name="T16" fmla="*/ 101 w 201"/>
                      <a:gd name="T17" fmla="*/ 200 h 200"/>
                      <a:gd name="T18" fmla="*/ 101 w 201"/>
                      <a:gd name="T19" fmla="*/ 200 h 200"/>
                      <a:gd name="T20" fmla="*/ 101 w 201"/>
                      <a:gd name="T21" fmla="*/ 200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01" h="200">
                        <a:moveTo>
                          <a:pt x="101" y="200"/>
                        </a:moveTo>
                        <a:cubicBezTo>
                          <a:pt x="128" y="200"/>
                          <a:pt x="152" y="190"/>
                          <a:pt x="171" y="171"/>
                        </a:cubicBezTo>
                        <a:cubicBezTo>
                          <a:pt x="191" y="151"/>
                          <a:pt x="201" y="128"/>
                          <a:pt x="201" y="100"/>
                        </a:cubicBezTo>
                        <a:cubicBezTo>
                          <a:pt x="201" y="72"/>
                          <a:pt x="191" y="49"/>
                          <a:pt x="171" y="29"/>
                        </a:cubicBezTo>
                        <a:cubicBezTo>
                          <a:pt x="152" y="10"/>
                          <a:pt x="128" y="0"/>
                          <a:pt x="101" y="0"/>
                        </a:cubicBezTo>
                        <a:cubicBezTo>
                          <a:pt x="73" y="0"/>
                          <a:pt x="49" y="10"/>
                          <a:pt x="30" y="29"/>
                        </a:cubicBezTo>
                        <a:cubicBezTo>
                          <a:pt x="10" y="49"/>
                          <a:pt x="0" y="72"/>
                          <a:pt x="0" y="100"/>
                        </a:cubicBezTo>
                        <a:cubicBezTo>
                          <a:pt x="0" y="128"/>
                          <a:pt x="10" y="151"/>
                          <a:pt x="30" y="171"/>
                        </a:cubicBezTo>
                        <a:cubicBezTo>
                          <a:pt x="49" y="190"/>
                          <a:pt x="73" y="200"/>
                          <a:pt x="101" y="200"/>
                        </a:cubicBezTo>
                        <a:close/>
                        <a:moveTo>
                          <a:pt x="101" y="200"/>
                        </a:moveTo>
                        <a:cubicBezTo>
                          <a:pt x="101" y="200"/>
                          <a:pt x="101" y="200"/>
                          <a:pt x="101" y="200"/>
                        </a:cubicBez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182852" tIns="91426" rIns="182852" bIns="9142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1828617"/>
                    <a:endParaRPr lang="ja-JP" altLang="en-US" sz="7199" dirty="0">
                      <a:solidFill>
                        <a:srgbClr val="333333"/>
                      </a:solidFill>
                    </a:endParaRPr>
                  </a:p>
                </p:txBody>
              </p:sp>
              <p:sp>
                <p:nvSpPr>
                  <p:cNvPr id="32" name="Freeform 86"/>
                  <p:cNvSpPr>
                    <a:spLocks noEditPoints="1"/>
                  </p:cNvSpPr>
                  <p:nvPr/>
                </p:nvSpPr>
                <p:spPr bwMode="auto">
                  <a:xfrm>
                    <a:off x="6399213" y="3775075"/>
                    <a:ext cx="636588" cy="374650"/>
                  </a:xfrm>
                  <a:custGeom>
                    <a:avLst/>
                    <a:gdLst>
                      <a:gd name="T0" fmla="*/ 366 w 367"/>
                      <a:gd name="T1" fmla="*/ 122 h 216"/>
                      <a:gd name="T2" fmla="*/ 363 w 367"/>
                      <a:gd name="T3" fmla="*/ 94 h 216"/>
                      <a:gd name="T4" fmla="*/ 356 w 367"/>
                      <a:gd name="T5" fmla="*/ 65 h 216"/>
                      <a:gd name="T6" fmla="*/ 344 w 367"/>
                      <a:gd name="T7" fmla="*/ 40 h 216"/>
                      <a:gd name="T8" fmla="*/ 328 w 367"/>
                      <a:gd name="T9" fmla="*/ 19 h 216"/>
                      <a:gd name="T10" fmla="*/ 306 w 367"/>
                      <a:gd name="T11" fmla="*/ 5 h 216"/>
                      <a:gd name="T12" fmla="*/ 277 w 367"/>
                      <a:gd name="T13" fmla="*/ 0 h 216"/>
                      <a:gd name="T14" fmla="*/ 266 w 367"/>
                      <a:gd name="T15" fmla="*/ 5 h 216"/>
                      <a:gd name="T16" fmla="*/ 247 w 367"/>
                      <a:gd name="T17" fmla="*/ 18 h 216"/>
                      <a:gd name="T18" fmla="*/ 218 w 367"/>
                      <a:gd name="T19" fmla="*/ 30 h 216"/>
                      <a:gd name="T20" fmla="*/ 184 w 367"/>
                      <a:gd name="T21" fmla="*/ 36 h 216"/>
                      <a:gd name="T22" fmla="*/ 149 w 367"/>
                      <a:gd name="T23" fmla="*/ 30 h 216"/>
                      <a:gd name="T24" fmla="*/ 121 w 367"/>
                      <a:gd name="T25" fmla="*/ 18 h 216"/>
                      <a:gd name="T26" fmla="*/ 101 w 367"/>
                      <a:gd name="T27" fmla="*/ 5 h 216"/>
                      <a:gd name="T28" fmla="*/ 90 w 367"/>
                      <a:gd name="T29" fmla="*/ 0 h 216"/>
                      <a:gd name="T30" fmla="*/ 61 w 367"/>
                      <a:gd name="T31" fmla="*/ 5 h 216"/>
                      <a:gd name="T32" fmla="*/ 39 w 367"/>
                      <a:gd name="T33" fmla="*/ 19 h 216"/>
                      <a:gd name="T34" fmla="*/ 23 w 367"/>
                      <a:gd name="T35" fmla="*/ 40 h 216"/>
                      <a:gd name="T36" fmla="*/ 11 w 367"/>
                      <a:gd name="T37" fmla="*/ 65 h 216"/>
                      <a:gd name="T38" fmla="*/ 5 w 367"/>
                      <a:gd name="T39" fmla="*/ 94 h 216"/>
                      <a:gd name="T40" fmla="*/ 1 w 367"/>
                      <a:gd name="T41" fmla="*/ 122 h 216"/>
                      <a:gd name="T42" fmla="*/ 0 w 367"/>
                      <a:gd name="T43" fmla="*/ 149 h 216"/>
                      <a:gd name="T44" fmla="*/ 19 w 367"/>
                      <a:gd name="T45" fmla="*/ 198 h 216"/>
                      <a:gd name="T46" fmla="*/ 70 w 367"/>
                      <a:gd name="T47" fmla="*/ 216 h 216"/>
                      <a:gd name="T48" fmla="*/ 297 w 367"/>
                      <a:gd name="T49" fmla="*/ 216 h 216"/>
                      <a:gd name="T50" fmla="*/ 348 w 367"/>
                      <a:gd name="T51" fmla="*/ 198 h 216"/>
                      <a:gd name="T52" fmla="*/ 367 w 367"/>
                      <a:gd name="T53" fmla="*/ 149 h 216"/>
                      <a:gd name="T54" fmla="*/ 366 w 367"/>
                      <a:gd name="T55" fmla="*/ 122 h 216"/>
                      <a:gd name="T56" fmla="*/ 366 w 367"/>
                      <a:gd name="T57" fmla="*/ 122 h 216"/>
                      <a:gd name="T58" fmla="*/ 366 w 367"/>
                      <a:gd name="T59" fmla="*/ 122 h 2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</a:cxnLst>
                    <a:rect l="0" t="0" r="r" b="b"/>
                    <a:pathLst>
                      <a:path w="367" h="216">
                        <a:moveTo>
                          <a:pt x="366" y="122"/>
                        </a:moveTo>
                        <a:cubicBezTo>
                          <a:pt x="366" y="113"/>
                          <a:pt x="364" y="104"/>
                          <a:pt x="363" y="94"/>
                        </a:cubicBezTo>
                        <a:cubicBezTo>
                          <a:pt x="361" y="83"/>
                          <a:pt x="358" y="74"/>
                          <a:pt x="356" y="65"/>
                        </a:cubicBezTo>
                        <a:cubicBezTo>
                          <a:pt x="353" y="57"/>
                          <a:pt x="349" y="48"/>
                          <a:pt x="344" y="40"/>
                        </a:cubicBezTo>
                        <a:cubicBezTo>
                          <a:pt x="340" y="32"/>
                          <a:pt x="334" y="25"/>
                          <a:pt x="328" y="19"/>
                        </a:cubicBezTo>
                        <a:cubicBezTo>
                          <a:pt x="322" y="13"/>
                          <a:pt x="315" y="8"/>
                          <a:pt x="306" y="5"/>
                        </a:cubicBezTo>
                        <a:cubicBezTo>
                          <a:pt x="297" y="1"/>
                          <a:pt x="287" y="0"/>
                          <a:pt x="277" y="0"/>
                        </a:cubicBezTo>
                        <a:cubicBezTo>
                          <a:pt x="275" y="0"/>
                          <a:pt x="272" y="1"/>
                          <a:pt x="266" y="5"/>
                        </a:cubicBezTo>
                        <a:cubicBezTo>
                          <a:pt x="260" y="9"/>
                          <a:pt x="254" y="13"/>
                          <a:pt x="247" y="18"/>
                        </a:cubicBezTo>
                        <a:cubicBezTo>
                          <a:pt x="239" y="22"/>
                          <a:pt x="230" y="26"/>
                          <a:pt x="218" y="30"/>
                        </a:cubicBezTo>
                        <a:cubicBezTo>
                          <a:pt x="207" y="34"/>
                          <a:pt x="195" y="36"/>
                          <a:pt x="184" y="36"/>
                        </a:cubicBezTo>
                        <a:cubicBezTo>
                          <a:pt x="172" y="36"/>
                          <a:pt x="160" y="34"/>
                          <a:pt x="149" y="30"/>
                        </a:cubicBezTo>
                        <a:cubicBezTo>
                          <a:pt x="137" y="26"/>
                          <a:pt x="128" y="22"/>
                          <a:pt x="121" y="18"/>
                        </a:cubicBezTo>
                        <a:cubicBezTo>
                          <a:pt x="113" y="13"/>
                          <a:pt x="107" y="9"/>
                          <a:pt x="101" y="5"/>
                        </a:cubicBezTo>
                        <a:cubicBezTo>
                          <a:pt x="95" y="1"/>
                          <a:pt x="92" y="0"/>
                          <a:pt x="90" y="0"/>
                        </a:cubicBezTo>
                        <a:cubicBezTo>
                          <a:pt x="80" y="0"/>
                          <a:pt x="70" y="1"/>
                          <a:pt x="61" y="5"/>
                        </a:cubicBezTo>
                        <a:cubicBezTo>
                          <a:pt x="52" y="8"/>
                          <a:pt x="45" y="13"/>
                          <a:pt x="39" y="19"/>
                        </a:cubicBezTo>
                        <a:cubicBezTo>
                          <a:pt x="33" y="25"/>
                          <a:pt x="27" y="32"/>
                          <a:pt x="23" y="40"/>
                        </a:cubicBezTo>
                        <a:cubicBezTo>
                          <a:pt x="18" y="48"/>
                          <a:pt x="14" y="57"/>
                          <a:pt x="11" y="65"/>
                        </a:cubicBezTo>
                        <a:cubicBezTo>
                          <a:pt x="9" y="74"/>
                          <a:pt x="6" y="83"/>
                          <a:pt x="5" y="94"/>
                        </a:cubicBezTo>
                        <a:cubicBezTo>
                          <a:pt x="3" y="104"/>
                          <a:pt x="2" y="113"/>
                          <a:pt x="1" y="122"/>
                        </a:cubicBezTo>
                        <a:cubicBezTo>
                          <a:pt x="0" y="131"/>
                          <a:pt x="0" y="140"/>
                          <a:pt x="0" y="149"/>
                        </a:cubicBezTo>
                        <a:cubicBezTo>
                          <a:pt x="0" y="170"/>
                          <a:pt x="6" y="186"/>
                          <a:pt x="19" y="198"/>
                        </a:cubicBezTo>
                        <a:cubicBezTo>
                          <a:pt x="32" y="210"/>
                          <a:pt x="49" y="216"/>
                          <a:pt x="70" y="216"/>
                        </a:cubicBezTo>
                        <a:cubicBezTo>
                          <a:pt x="297" y="216"/>
                          <a:pt x="297" y="216"/>
                          <a:pt x="297" y="216"/>
                        </a:cubicBezTo>
                        <a:cubicBezTo>
                          <a:pt x="319" y="216"/>
                          <a:pt x="335" y="210"/>
                          <a:pt x="348" y="198"/>
                        </a:cubicBezTo>
                        <a:cubicBezTo>
                          <a:pt x="361" y="186"/>
                          <a:pt x="367" y="170"/>
                          <a:pt x="367" y="149"/>
                        </a:cubicBezTo>
                        <a:cubicBezTo>
                          <a:pt x="367" y="140"/>
                          <a:pt x="367" y="131"/>
                          <a:pt x="366" y="122"/>
                        </a:cubicBezTo>
                        <a:close/>
                        <a:moveTo>
                          <a:pt x="366" y="122"/>
                        </a:moveTo>
                        <a:cubicBezTo>
                          <a:pt x="366" y="122"/>
                          <a:pt x="366" y="122"/>
                          <a:pt x="366" y="122"/>
                        </a:cubicBez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182852" tIns="91426" rIns="182852" bIns="9142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1828617"/>
                    <a:endParaRPr lang="ja-JP" altLang="en-US" sz="7199" dirty="0">
                      <a:solidFill>
                        <a:srgbClr val="333333"/>
                      </a:solidFill>
                    </a:endParaRPr>
                  </a:p>
                </p:txBody>
              </p:sp>
            </p:grpSp>
          </p:grpSp>
        </p:grpSp>
      </p:grpSp>
      <p:sp>
        <p:nvSpPr>
          <p:cNvPr id="34" name="テキスト ボックス 33"/>
          <p:cNvSpPr txBox="1"/>
          <p:nvPr/>
        </p:nvSpPr>
        <p:spPr>
          <a:xfrm>
            <a:off x="724986" y="3050983"/>
            <a:ext cx="1626920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1</a:t>
            </a:r>
            <a:endParaRPr kumimoji="1" lang="ja-JP" altLang="en-US" sz="3200" dirty="0" smtClean="0"/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5325747" y="3050983"/>
            <a:ext cx="1626920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lang="en-US" altLang="ja-JP" sz="3200" dirty="0"/>
              <a:t>2</a:t>
            </a:r>
            <a:endParaRPr kumimoji="1" lang="ja-JP" alt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1868530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4" grpId="0" animBg="1"/>
      <p:bldP spid="3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マルチタスクとは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今回考えるマルチタスクは，</a:t>
            </a:r>
            <a:r>
              <a:rPr kumimoji="1" lang="ja-JP" altLang="en-US" u="sng" dirty="0" smtClean="0"/>
              <a:t>複数の最適化問題</a:t>
            </a:r>
            <a:r>
              <a:rPr kumimoji="1" lang="ja-JP" altLang="en-US" dirty="0" smtClean="0"/>
              <a:t>を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同時に解く</a:t>
            </a:r>
            <a:r>
              <a:rPr kumimoji="1" lang="ja-JP" altLang="en-US" dirty="0" smtClean="0"/>
              <a:t>というものである</a:t>
            </a:r>
            <a:r>
              <a:rPr kumimoji="1" lang="ja-JP" altLang="en-US" b="1" dirty="0" smtClean="0"/>
              <a:t>．</a:t>
            </a:r>
            <a:endParaRPr kumimoji="1" lang="en-US" altLang="ja-JP" b="1" dirty="0" smtClean="0"/>
          </a:p>
          <a:p>
            <a:r>
              <a:rPr kumimoji="1" lang="ja-JP" altLang="en-US" dirty="0" smtClean="0"/>
              <a:t>以降，マルチタスクにより複数の最適化問題を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解く手法を，マルチタスク手法と呼ぶ．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33191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マルチタスクの特徴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マルチタスクで問題を解く</a:t>
            </a:r>
            <a:r>
              <a:rPr lang="ja-JP" altLang="en-US" dirty="0" smtClean="0"/>
              <a:t>際，タスク間で適切に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b="1" dirty="0" smtClean="0">
                <a:solidFill>
                  <a:schemeClr val="accent1"/>
                </a:solidFill>
              </a:rPr>
              <a:t>解の情報共有</a:t>
            </a:r>
            <a:r>
              <a:rPr lang="ja-JP" altLang="en-US" dirty="0" smtClean="0"/>
              <a:t>を行うことが重要になる．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  <p:grpSp>
        <p:nvGrpSpPr>
          <p:cNvPr id="5" name="グループ化 4"/>
          <p:cNvGrpSpPr/>
          <p:nvPr/>
        </p:nvGrpSpPr>
        <p:grpSpPr>
          <a:xfrm>
            <a:off x="1194864" y="4819095"/>
            <a:ext cx="6817856" cy="1403577"/>
            <a:chOff x="1349243" y="4617213"/>
            <a:chExt cx="6817856" cy="1403577"/>
          </a:xfrm>
        </p:grpSpPr>
        <p:grpSp>
          <p:nvGrpSpPr>
            <p:cNvPr id="16" name="グループ化 15"/>
            <p:cNvGrpSpPr/>
            <p:nvPr/>
          </p:nvGrpSpPr>
          <p:grpSpPr>
            <a:xfrm>
              <a:off x="1349243" y="4617213"/>
              <a:ext cx="2217095" cy="1403577"/>
              <a:chOff x="1748349" y="4617213"/>
              <a:chExt cx="2217095" cy="1403577"/>
            </a:xfrm>
          </p:grpSpPr>
          <p:sp>
            <p:nvSpPr>
              <p:cNvPr id="17" name="Freeform 6"/>
              <p:cNvSpPr>
                <a:spLocks noChangeAspect="1" noEditPoints="1"/>
              </p:cNvSpPr>
              <p:nvPr/>
            </p:nvSpPr>
            <p:spPr bwMode="auto">
              <a:xfrm>
                <a:off x="2819604" y="4617213"/>
                <a:ext cx="1145840" cy="804006"/>
              </a:xfrm>
              <a:custGeom>
                <a:avLst/>
                <a:gdLst>
                  <a:gd name="T0" fmla="*/ 251 w 1076"/>
                  <a:gd name="T1" fmla="*/ 683 h 755"/>
                  <a:gd name="T2" fmla="*/ 824 w 1076"/>
                  <a:gd name="T3" fmla="*/ 575 h 755"/>
                  <a:gd name="T4" fmla="*/ 1040 w 1076"/>
                  <a:gd name="T5" fmla="*/ 575 h 755"/>
                  <a:gd name="T6" fmla="*/ 575 w 1076"/>
                  <a:gd name="T7" fmla="*/ 719 h 755"/>
                  <a:gd name="T8" fmla="*/ 573 w 1076"/>
                  <a:gd name="T9" fmla="*/ 575 h 755"/>
                  <a:gd name="T10" fmla="*/ 537 w 1076"/>
                  <a:gd name="T11" fmla="*/ 719 h 755"/>
                  <a:gd name="T12" fmla="*/ 36 w 1076"/>
                  <a:gd name="T13" fmla="*/ 575 h 755"/>
                  <a:gd name="T14" fmla="*/ 287 w 1076"/>
                  <a:gd name="T15" fmla="*/ 575 h 755"/>
                  <a:gd name="T16" fmla="*/ 251 w 1076"/>
                  <a:gd name="T17" fmla="*/ 431 h 755"/>
                  <a:gd name="T18" fmla="*/ 72 w 1076"/>
                  <a:gd name="T19" fmla="*/ 431 h 755"/>
                  <a:gd name="T20" fmla="*/ 1040 w 1076"/>
                  <a:gd name="T21" fmla="*/ 539 h 755"/>
                  <a:gd name="T22" fmla="*/ 573 w 1076"/>
                  <a:gd name="T23" fmla="*/ 395 h 755"/>
                  <a:gd name="T24" fmla="*/ 789 w 1076"/>
                  <a:gd name="T25" fmla="*/ 395 h 755"/>
                  <a:gd name="T26" fmla="*/ 323 w 1076"/>
                  <a:gd name="T27" fmla="*/ 539 h 755"/>
                  <a:gd name="T28" fmla="*/ 323 w 1076"/>
                  <a:gd name="T29" fmla="*/ 395 h 755"/>
                  <a:gd name="T30" fmla="*/ 287 w 1076"/>
                  <a:gd name="T31" fmla="*/ 539 h 755"/>
                  <a:gd name="T32" fmla="*/ 72 w 1076"/>
                  <a:gd name="T33" fmla="*/ 252 h 755"/>
                  <a:gd name="T34" fmla="*/ 72 w 1076"/>
                  <a:gd name="T35" fmla="*/ 323 h 755"/>
                  <a:gd name="T36" fmla="*/ 824 w 1076"/>
                  <a:gd name="T37" fmla="*/ 359 h 755"/>
                  <a:gd name="T38" fmla="*/ 824 w 1076"/>
                  <a:gd name="T39" fmla="*/ 216 h 755"/>
                  <a:gd name="T40" fmla="*/ 789 w 1076"/>
                  <a:gd name="T41" fmla="*/ 359 h 755"/>
                  <a:gd name="T42" fmla="*/ 323 w 1076"/>
                  <a:gd name="T43" fmla="*/ 216 h 755"/>
                  <a:gd name="T44" fmla="*/ 537 w 1076"/>
                  <a:gd name="T45" fmla="*/ 216 h 755"/>
                  <a:gd name="T46" fmla="*/ 36 w 1076"/>
                  <a:gd name="T47" fmla="*/ 359 h 755"/>
                  <a:gd name="T48" fmla="*/ 36 w 1076"/>
                  <a:gd name="T49" fmla="*/ 216 h 755"/>
                  <a:gd name="T50" fmla="*/ 1004 w 1076"/>
                  <a:gd name="T51" fmla="*/ 144 h 755"/>
                  <a:gd name="T52" fmla="*/ 609 w 1076"/>
                  <a:gd name="T53" fmla="*/ 72 h 755"/>
                  <a:gd name="T54" fmla="*/ 609 w 1076"/>
                  <a:gd name="T55" fmla="*/ 144 h 755"/>
                  <a:gd name="T56" fmla="*/ 503 w 1076"/>
                  <a:gd name="T57" fmla="*/ 72 h 755"/>
                  <a:gd name="T58" fmla="*/ 359 w 1076"/>
                  <a:gd name="T59" fmla="*/ 72 h 755"/>
                  <a:gd name="T60" fmla="*/ 251 w 1076"/>
                  <a:gd name="T61" fmla="*/ 144 h 755"/>
                  <a:gd name="T62" fmla="*/ 824 w 1076"/>
                  <a:gd name="T63" fmla="*/ 36 h 755"/>
                  <a:gd name="T64" fmla="*/ 1040 w 1076"/>
                  <a:gd name="T65" fmla="*/ 36 h 755"/>
                  <a:gd name="T66" fmla="*/ 573 w 1076"/>
                  <a:gd name="T67" fmla="*/ 180 h 755"/>
                  <a:gd name="T68" fmla="*/ 573 w 1076"/>
                  <a:gd name="T69" fmla="*/ 36 h 755"/>
                  <a:gd name="T70" fmla="*/ 537 w 1076"/>
                  <a:gd name="T71" fmla="*/ 180 h 755"/>
                  <a:gd name="T72" fmla="*/ 36 w 1076"/>
                  <a:gd name="T73" fmla="*/ 36 h 755"/>
                  <a:gd name="T74" fmla="*/ 287 w 1076"/>
                  <a:gd name="T75" fmla="*/ 36 h 755"/>
                  <a:gd name="T76" fmla="*/ 1040 w 1076"/>
                  <a:gd name="T77" fmla="*/ 0 h 755"/>
                  <a:gd name="T78" fmla="*/ 1076 w 1076"/>
                  <a:gd name="T79" fmla="*/ 36 h 755"/>
                  <a:gd name="T80" fmla="*/ 1074 w 1076"/>
                  <a:gd name="T81" fmla="*/ 728 h 755"/>
                  <a:gd name="T82" fmla="*/ 1055 w 1076"/>
                  <a:gd name="T83" fmla="*/ 751 h 755"/>
                  <a:gd name="T84" fmla="*/ 17 w 1076"/>
                  <a:gd name="T85" fmla="*/ 749 h 755"/>
                  <a:gd name="T86" fmla="*/ 0 w 1076"/>
                  <a:gd name="T87" fmla="*/ 36 h 755"/>
                  <a:gd name="T88" fmla="*/ 36 w 1076"/>
                  <a:gd name="T89" fmla="*/ 0 h 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076" h="755">
                    <a:moveTo>
                      <a:pt x="72" y="611"/>
                    </a:moveTo>
                    <a:lnTo>
                      <a:pt x="251" y="611"/>
                    </a:lnTo>
                    <a:lnTo>
                      <a:pt x="251" y="683"/>
                    </a:lnTo>
                    <a:lnTo>
                      <a:pt x="72" y="683"/>
                    </a:lnTo>
                    <a:lnTo>
                      <a:pt x="72" y="611"/>
                    </a:lnTo>
                    <a:close/>
                    <a:moveTo>
                      <a:pt x="824" y="575"/>
                    </a:moveTo>
                    <a:lnTo>
                      <a:pt x="824" y="719"/>
                    </a:lnTo>
                    <a:lnTo>
                      <a:pt x="1040" y="719"/>
                    </a:lnTo>
                    <a:lnTo>
                      <a:pt x="1040" y="575"/>
                    </a:lnTo>
                    <a:lnTo>
                      <a:pt x="824" y="575"/>
                    </a:lnTo>
                    <a:close/>
                    <a:moveTo>
                      <a:pt x="573" y="575"/>
                    </a:moveTo>
                    <a:lnTo>
                      <a:pt x="575" y="719"/>
                    </a:lnTo>
                    <a:lnTo>
                      <a:pt x="789" y="719"/>
                    </a:lnTo>
                    <a:lnTo>
                      <a:pt x="789" y="575"/>
                    </a:lnTo>
                    <a:lnTo>
                      <a:pt x="573" y="575"/>
                    </a:lnTo>
                    <a:close/>
                    <a:moveTo>
                      <a:pt x="323" y="575"/>
                    </a:moveTo>
                    <a:lnTo>
                      <a:pt x="323" y="719"/>
                    </a:lnTo>
                    <a:lnTo>
                      <a:pt x="537" y="719"/>
                    </a:lnTo>
                    <a:lnTo>
                      <a:pt x="537" y="575"/>
                    </a:lnTo>
                    <a:lnTo>
                      <a:pt x="323" y="575"/>
                    </a:lnTo>
                    <a:close/>
                    <a:moveTo>
                      <a:pt x="36" y="575"/>
                    </a:moveTo>
                    <a:lnTo>
                      <a:pt x="36" y="719"/>
                    </a:lnTo>
                    <a:lnTo>
                      <a:pt x="287" y="719"/>
                    </a:lnTo>
                    <a:lnTo>
                      <a:pt x="287" y="575"/>
                    </a:lnTo>
                    <a:lnTo>
                      <a:pt x="36" y="575"/>
                    </a:lnTo>
                    <a:close/>
                    <a:moveTo>
                      <a:pt x="72" y="431"/>
                    </a:moveTo>
                    <a:lnTo>
                      <a:pt x="251" y="431"/>
                    </a:lnTo>
                    <a:lnTo>
                      <a:pt x="251" y="503"/>
                    </a:lnTo>
                    <a:lnTo>
                      <a:pt x="72" y="503"/>
                    </a:lnTo>
                    <a:lnTo>
                      <a:pt x="72" y="431"/>
                    </a:lnTo>
                    <a:close/>
                    <a:moveTo>
                      <a:pt x="824" y="395"/>
                    </a:moveTo>
                    <a:lnTo>
                      <a:pt x="824" y="539"/>
                    </a:lnTo>
                    <a:lnTo>
                      <a:pt x="1040" y="539"/>
                    </a:lnTo>
                    <a:lnTo>
                      <a:pt x="1040" y="395"/>
                    </a:lnTo>
                    <a:lnTo>
                      <a:pt x="824" y="395"/>
                    </a:lnTo>
                    <a:close/>
                    <a:moveTo>
                      <a:pt x="573" y="395"/>
                    </a:moveTo>
                    <a:lnTo>
                      <a:pt x="575" y="539"/>
                    </a:lnTo>
                    <a:lnTo>
                      <a:pt x="789" y="539"/>
                    </a:lnTo>
                    <a:lnTo>
                      <a:pt x="789" y="395"/>
                    </a:lnTo>
                    <a:lnTo>
                      <a:pt x="573" y="395"/>
                    </a:lnTo>
                    <a:close/>
                    <a:moveTo>
                      <a:pt x="323" y="395"/>
                    </a:moveTo>
                    <a:lnTo>
                      <a:pt x="323" y="539"/>
                    </a:lnTo>
                    <a:lnTo>
                      <a:pt x="537" y="539"/>
                    </a:lnTo>
                    <a:lnTo>
                      <a:pt x="537" y="395"/>
                    </a:lnTo>
                    <a:lnTo>
                      <a:pt x="323" y="395"/>
                    </a:lnTo>
                    <a:close/>
                    <a:moveTo>
                      <a:pt x="36" y="395"/>
                    </a:moveTo>
                    <a:lnTo>
                      <a:pt x="36" y="539"/>
                    </a:lnTo>
                    <a:lnTo>
                      <a:pt x="287" y="539"/>
                    </a:lnTo>
                    <a:lnTo>
                      <a:pt x="287" y="395"/>
                    </a:lnTo>
                    <a:lnTo>
                      <a:pt x="36" y="395"/>
                    </a:lnTo>
                    <a:close/>
                    <a:moveTo>
                      <a:pt x="72" y="252"/>
                    </a:moveTo>
                    <a:lnTo>
                      <a:pt x="251" y="252"/>
                    </a:lnTo>
                    <a:lnTo>
                      <a:pt x="251" y="323"/>
                    </a:lnTo>
                    <a:lnTo>
                      <a:pt x="72" y="323"/>
                    </a:lnTo>
                    <a:lnTo>
                      <a:pt x="72" y="252"/>
                    </a:lnTo>
                    <a:close/>
                    <a:moveTo>
                      <a:pt x="824" y="216"/>
                    </a:moveTo>
                    <a:lnTo>
                      <a:pt x="824" y="359"/>
                    </a:lnTo>
                    <a:lnTo>
                      <a:pt x="1040" y="359"/>
                    </a:lnTo>
                    <a:lnTo>
                      <a:pt x="1040" y="216"/>
                    </a:lnTo>
                    <a:lnTo>
                      <a:pt x="824" y="216"/>
                    </a:lnTo>
                    <a:close/>
                    <a:moveTo>
                      <a:pt x="573" y="216"/>
                    </a:moveTo>
                    <a:lnTo>
                      <a:pt x="573" y="359"/>
                    </a:lnTo>
                    <a:lnTo>
                      <a:pt x="789" y="359"/>
                    </a:lnTo>
                    <a:lnTo>
                      <a:pt x="789" y="216"/>
                    </a:lnTo>
                    <a:lnTo>
                      <a:pt x="573" y="216"/>
                    </a:lnTo>
                    <a:close/>
                    <a:moveTo>
                      <a:pt x="323" y="216"/>
                    </a:moveTo>
                    <a:lnTo>
                      <a:pt x="323" y="359"/>
                    </a:lnTo>
                    <a:lnTo>
                      <a:pt x="537" y="359"/>
                    </a:lnTo>
                    <a:lnTo>
                      <a:pt x="537" y="216"/>
                    </a:lnTo>
                    <a:lnTo>
                      <a:pt x="323" y="216"/>
                    </a:lnTo>
                    <a:close/>
                    <a:moveTo>
                      <a:pt x="36" y="216"/>
                    </a:moveTo>
                    <a:lnTo>
                      <a:pt x="36" y="359"/>
                    </a:lnTo>
                    <a:lnTo>
                      <a:pt x="287" y="359"/>
                    </a:lnTo>
                    <a:lnTo>
                      <a:pt x="287" y="216"/>
                    </a:lnTo>
                    <a:lnTo>
                      <a:pt x="36" y="216"/>
                    </a:lnTo>
                    <a:close/>
                    <a:moveTo>
                      <a:pt x="860" y="72"/>
                    </a:moveTo>
                    <a:lnTo>
                      <a:pt x="1004" y="72"/>
                    </a:lnTo>
                    <a:lnTo>
                      <a:pt x="1004" y="144"/>
                    </a:lnTo>
                    <a:lnTo>
                      <a:pt x="860" y="144"/>
                    </a:lnTo>
                    <a:lnTo>
                      <a:pt x="860" y="72"/>
                    </a:lnTo>
                    <a:close/>
                    <a:moveTo>
                      <a:pt x="609" y="72"/>
                    </a:moveTo>
                    <a:lnTo>
                      <a:pt x="753" y="72"/>
                    </a:lnTo>
                    <a:lnTo>
                      <a:pt x="753" y="144"/>
                    </a:lnTo>
                    <a:lnTo>
                      <a:pt x="609" y="144"/>
                    </a:lnTo>
                    <a:lnTo>
                      <a:pt x="609" y="72"/>
                    </a:lnTo>
                    <a:close/>
                    <a:moveTo>
                      <a:pt x="359" y="72"/>
                    </a:moveTo>
                    <a:lnTo>
                      <a:pt x="503" y="72"/>
                    </a:lnTo>
                    <a:lnTo>
                      <a:pt x="503" y="144"/>
                    </a:lnTo>
                    <a:lnTo>
                      <a:pt x="359" y="144"/>
                    </a:lnTo>
                    <a:lnTo>
                      <a:pt x="359" y="72"/>
                    </a:lnTo>
                    <a:close/>
                    <a:moveTo>
                      <a:pt x="72" y="72"/>
                    </a:moveTo>
                    <a:lnTo>
                      <a:pt x="251" y="72"/>
                    </a:lnTo>
                    <a:lnTo>
                      <a:pt x="251" y="144"/>
                    </a:lnTo>
                    <a:lnTo>
                      <a:pt x="72" y="144"/>
                    </a:lnTo>
                    <a:lnTo>
                      <a:pt x="72" y="72"/>
                    </a:lnTo>
                    <a:close/>
                    <a:moveTo>
                      <a:pt x="824" y="36"/>
                    </a:moveTo>
                    <a:lnTo>
                      <a:pt x="824" y="180"/>
                    </a:lnTo>
                    <a:lnTo>
                      <a:pt x="1040" y="180"/>
                    </a:lnTo>
                    <a:lnTo>
                      <a:pt x="1040" y="36"/>
                    </a:lnTo>
                    <a:lnTo>
                      <a:pt x="824" y="36"/>
                    </a:lnTo>
                    <a:close/>
                    <a:moveTo>
                      <a:pt x="573" y="36"/>
                    </a:moveTo>
                    <a:lnTo>
                      <a:pt x="573" y="180"/>
                    </a:lnTo>
                    <a:lnTo>
                      <a:pt x="789" y="180"/>
                    </a:lnTo>
                    <a:lnTo>
                      <a:pt x="789" y="36"/>
                    </a:lnTo>
                    <a:lnTo>
                      <a:pt x="573" y="36"/>
                    </a:lnTo>
                    <a:close/>
                    <a:moveTo>
                      <a:pt x="323" y="36"/>
                    </a:moveTo>
                    <a:lnTo>
                      <a:pt x="323" y="180"/>
                    </a:lnTo>
                    <a:lnTo>
                      <a:pt x="537" y="180"/>
                    </a:lnTo>
                    <a:lnTo>
                      <a:pt x="537" y="36"/>
                    </a:lnTo>
                    <a:lnTo>
                      <a:pt x="323" y="36"/>
                    </a:lnTo>
                    <a:close/>
                    <a:moveTo>
                      <a:pt x="36" y="36"/>
                    </a:moveTo>
                    <a:lnTo>
                      <a:pt x="36" y="180"/>
                    </a:lnTo>
                    <a:lnTo>
                      <a:pt x="287" y="180"/>
                    </a:lnTo>
                    <a:lnTo>
                      <a:pt x="287" y="36"/>
                    </a:lnTo>
                    <a:lnTo>
                      <a:pt x="36" y="36"/>
                    </a:lnTo>
                    <a:close/>
                    <a:moveTo>
                      <a:pt x="36" y="0"/>
                    </a:moveTo>
                    <a:lnTo>
                      <a:pt x="1040" y="0"/>
                    </a:lnTo>
                    <a:lnTo>
                      <a:pt x="1059" y="6"/>
                    </a:lnTo>
                    <a:lnTo>
                      <a:pt x="1070" y="19"/>
                    </a:lnTo>
                    <a:lnTo>
                      <a:pt x="1076" y="36"/>
                    </a:lnTo>
                    <a:lnTo>
                      <a:pt x="1076" y="719"/>
                    </a:lnTo>
                    <a:lnTo>
                      <a:pt x="1076" y="721"/>
                    </a:lnTo>
                    <a:lnTo>
                      <a:pt x="1074" y="728"/>
                    </a:lnTo>
                    <a:lnTo>
                      <a:pt x="1072" y="736"/>
                    </a:lnTo>
                    <a:lnTo>
                      <a:pt x="1066" y="745"/>
                    </a:lnTo>
                    <a:lnTo>
                      <a:pt x="1055" y="751"/>
                    </a:lnTo>
                    <a:lnTo>
                      <a:pt x="1040" y="755"/>
                    </a:lnTo>
                    <a:lnTo>
                      <a:pt x="36" y="755"/>
                    </a:lnTo>
                    <a:lnTo>
                      <a:pt x="17" y="749"/>
                    </a:lnTo>
                    <a:lnTo>
                      <a:pt x="6" y="736"/>
                    </a:lnTo>
                    <a:lnTo>
                      <a:pt x="0" y="719"/>
                    </a:lnTo>
                    <a:lnTo>
                      <a:pt x="0" y="36"/>
                    </a:lnTo>
                    <a:lnTo>
                      <a:pt x="6" y="19"/>
                    </a:lnTo>
                    <a:lnTo>
                      <a:pt x="17" y="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tx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defTabSz="1371600"/>
                <a:endParaRPr lang="ja-JP" altLang="en-US" sz="2700" dirty="0">
                  <a:solidFill>
                    <a:srgbClr val="4D4D4D"/>
                  </a:solidFill>
                </a:endParaRPr>
              </a:p>
            </p:txBody>
          </p:sp>
          <p:grpSp>
            <p:nvGrpSpPr>
              <p:cNvPr id="18" name="グループ化 17"/>
              <p:cNvGrpSpPr/>
              <p:nvPr/>
            </p:nvGrpSpPr>
            <p:grpSpPr>
              <a:xfrm>
                <a:off x="1748349" y="5116639"/>
                <a:ext cx="829669" cy="904151"/>
                <a:chOff x="6399213" y="3455988"/>
                <a:chExt cx="636588" cy="693737"/>
              </a:xfrm>
            </p:grpSpPr>
            <p:sp>
              <p:nvSpPr>
                <p:cNvPr id="19" name="Freeform 85"/>
                <p:cNvSpPr>
                  <a:spLocks noEditPoints="1"/>
                </p:cNvSpPr>
                <p:nvPr/>
              </p:nvSpPr>
              <p:spPr bwMode="auto">
                <a:xfrm>
                  <a:off x="6543675" y="3455988"/>
                  <a:ext cx="347663" cy="347663"/>
                </a:xfrm>
                <a:custGeom>
                  <a:avLst/>
                  <a:gdLst>
                    <a:gd name="T0" fmla="*/ 101 w 201"/>
                    <a:gd name="T1" fmla="*/ 200 h 200"/>
                    <a:gd name="T2" fmla="*/ 171 w 201"/>
                    <a:gd name="T3" fmla="*/ 171 h 200"/>
                    <a:gd name="T4" fmla="*/ 201 w 201"/>
                    <a:gd name="T5" fmla="*/ 100 h 200"/>
                    <a:gd name="T6" fmla="*/ 171 w 201"/>
                    <a:gd name="T7" fmla="*/ 29 h 200"/>
                    <a:gd name="T8" fmla="*/ 101 w 201"/>
                    <a:gd name="T9" fmla="*/ 0 h 200"/>
                    <a:gd name="T10" fmla="*/ 30 w 201"/>
                    <a:gd name="T11" fmla="*/ 29 h 200"/>
                    <a:gd name="T12" fmla="*/ 0 w 201"/>
                    <a:gd name="T13" fmla="*/ 100 h 200"/>
                    <a:gd name="T14" fmla="*/ 30 w 201"/>
                    <a:gd name="T15" fmla="*/ 171 h 200"/>
                    <a:gd name="T16" fmla="*/ 101 w 201"/>
                    <a:gd name="T17" fmla="*/ 200 h 200"/>
                    <a:gd name="T18" fmla="*/ 101 w 201"/>
                    <a:gd name="T19" fmla="*/ 200 h 200"/>
                    <a:gd name="T20" fmla="*/ 101 w 201"/>
                    <a:gd name="T21" fmla="*/ 200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01" h="200">
                      <a:moveTo>
                        <a:pt x="101" y="200"/>
                      </a:moveTo>
                      <a:cubicBezTo>
                        <a:pt x="128" y="200"/>
                        <a:pt x="152" y="190"/>
                        <a:pt x="171" y="171"/>
                      </a:cubicBezTo>
                      <a:cubicBezTo>
                        <a:pt x="191" y="151"/>
                        <a:pt x="201" y="128"/>
                        <a:pt x="201" y="100"/>
                      </a:cubicBezTo>
                      <a:cubicBezTo>
                        <a:pt x="201" y="72"/>
                        <a:pt x="191" y="49"/>
                        <a:pt x="171" y="29"/>
                      </a:cubicBezTo>
                      <a:cubicBezTo>
                        <a:pt x="152" y="10"/>
                        <a:pt x="128" y="0"/>
                        <a:pt x="101" y="0"/>
                      </a:cubicBezTo>
                      <a:cubicBezTo>
                        <a:pt x="73" y="0"/>
                        <a:pt x="49" y="10"/>
                        <a:pt x="30" y="29"/>
                      </a:cubicBezTo>
                      <a:cubicBezTo>
                        <a:pt x="10" y="49"/>
                        <a:pt x="0" y="72"/>
                        <a:pt x="0" y="100"/>
                      </a:cubicBezTo>
                      <a:cubicBezTo>
                        <a:pt x="0" y="128"/>
                        <a:pt x="10" y="151"/>
                        <a:pt x="30" y="171"/>
                      </a:cubicBezTo>
                      <a:cubicBezTo>
                        <a:pt x="49" y="190"/>
                        <a:pt x="73" y="200"/>
                        <a:pt x="101" y="200"/>
                      </a:cubicBezTo>
                      <a:close/>
                      <a:moveTo>
                        <a:pt x="101" y="200"/>
                      </a:moveTo>
                      <a:cubicBezTo>
                        <a:pt x="101" y="200"/>
                        <a:pt x="101" y="200"/>
                        <a:pt x="101" y="200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82852" tIns="91426" rIns="182852" bIns="91426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828617"/>
                  <a:endParaRPr lang="ja-JP" altLang="en-US" sz="7199" dirty="0">
                    <a:solidFill>
                      <a:srgbClr val="333333"/>
                    </a:solidFill>
                  </a:endParaRPr>
                </a:p>
              </p:txBody>
            </p:sp>
            <p:sp>
              <p:nvSpPr>
                <p:cNvPr id="20" name="Freeform 86"/>
                <p:cNvSpPr>
                  <a:spLocks noEditPoints="1"/>
                </p:cNvSpPr>
                <p:nvPr/>
              </p:nvSpPr>
              <p:spPr bwMode="auto">
                <a:xfrm>
                  <a:off x="6399213" y="3775075"/>
                  <a:ext cx="636588" cy="374650"/>
                </a:xfrm>
                <a:custGeom>
                  <a:avLst/>
                  <a:gdLst>
                    <a:gd name="T0" fmla="*/ 366 w 367"/>
                    <a:gd name="T1" fmla="*/ 122 h 216"/>
                    <a:gd name="T2" fmla="*/ 363 w 367"/>
                    <a:gd name="T3" fmla="*/ 94 h 216"/>
                    <a:gd name="T4" fmla="*/ 356 w 367"/>
                    <a:gd name="T5" fmla="*/ 65 h 216"/>
                    <a:gd name="T6" fmla="*/ 344 w 367"/>
                    <a:gd name="T7" fmla="*/ 40 h 216"/>
                    <a:gd name="T8" fmla="*/ 328 w 367"/>
                    <a:gd name="T9" fmla="*/ 19 h 216"/>
                    <a:gd name="T10" fmla="*/ 306 w 367"/>
                    <a:gd name="T11" fmla="*/ 5 h 216"/>
                    <a:gd name="T12" fmla="*/ 277 w 367"/>
                    <a:gd name="T13" fmla="*/ 0 h 216"/>
                    <a:gd name="T14" fmla="*/ 266 w 367"/>
                    <a:gd name="T15" fmla="*/ 5 h 216"/>
                    <a:gd name="T16" fmla="*/ 247 w 367"/>
                    <a:gd name="T17" fmla="*/ 18 h 216"/>
                    <a:gd name="T18" fmla="*/ 218 w 367"/>
                    <a:gd name="T19" fmla="*/ 30 h 216"/>
                    <a:gd name="T20" fmla="*/ 184 w 367"/>
                    <a:gd name="T21" fmla="*/ 36 h 216"/>
                    <a:gd name="T22" fmla="*/ 149 w 367"/>
                    <a:gd name="T23" fmla="*/ 30 h 216"/>
                    <a:gd name="T24" fmla="*/ 121 w 367"/>
                    <a:gd name="T25" fmla="*/ 18 h 216"/>
                    <a:gd name="T26" fmla="*/ 101 w 367"/>
                    <a:gd name="T27" fmla="*/ 5 h 216"/>
                    <a:gd name="T28" fmla="*/ 90 w 367"/>
                    <a:gd name="T29" fmla="*/ 0 h 216"/>
                    <a:gd name="T30" fmla="*/ 61 w 367"/>
                    <a:gd name="T31" fmla="*/ 5 h 216"/>
                    <a:gd name="T32" fmla="*/ 39 w 367"/>
                    <a:gd name="T33" fmla="*/ 19 h 216"/>
                    <a:gd name="T34" fmla="*/ 23 w 367"/>
                    <a:gd name="T35" fmla="*/ 40 h 216"/>
                    <a:gd name="T36" fmla="*/ 11 w 367"/>
                    <a:gd name="T37" fmla="*/ 65 h 216"/>
                    <a:gd name="T38" fmla="*/ 5 w 367"/>
                    <a:gd name="T39" fmla="*/ 94 h 216"/>
                    <a:gd name="T40" fmla="*/ 1 w 367"/>
                    <a:gd name="T41" fmla="*/ 122 h 216"/>
                    <a:gd name="T42" fmla="*/ 0 w 367"/>
                    <a:gd name="T43" fmla="*/ 149 h 216"/>
                    <a:gd name="T44" fmla="*/ 19 w 367"/>
                    <a:gd name="T45" fmla="*/ 198 h 216"/>
                    <a:gd name="T46" fmla="*/ 70 w 367"/>
                    <a:gd name="T47" fmla="*/ 216 h 216"/>
                    <a:gd name="T48" fmla="*/ 297 w 367"/>
                    <a:gd name="T49" fmla="*/ 216 h 216"/>
                    <a:gd name="T50" fmla="*/ 348 w 367"/>
                    <a:gd name="T51" fmla="*/ 198 h 216"/>
                    <a:gd name="T52" fmla="*/ 367 w 367"/>
                    <a:gd name="T53" fmla="*/ 149 h 216"/>
                    <a:gd name="T54" fmla="*/ 366 w 367"/>
                    <a:gd name="T55" fmla="*/ 122 h 216"/>
                    <a:gd name="T56" fmla="*/ 366 w 367"/>
                    <a:gd name="T57" fmla="*/ 122 h 216"/>
                    <a:gd name="T58" fmla="*/ 366 w 367"/>
                    <a:gd name="T59" fmla="*/ 122 h 2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367" h="216">
                      <a:moveTo>
                        <a:pt x="366" y="122"/>
                      </a:moveTo>
                      <a:cubicBezTo>
                        <a:pt x="366" y="113"/>
                        <a:pt x="364" y="104"/>
                        <a:pt x="363" y="94"/>
                      </a:cubicBezTo>
                      <a:cubicBezTo>
                        <a:pt x="361" y="83"/>
                        <a:pt x="358" y="74"/>
                        <a:pt x="356" y="65"/>
                      </a:cubicBezTo>
                      <a:cubicBezTo>
                        <a:pt x="353" y="57"/>
                        <a:pt x="349" y="48"/>
                        <a:pt x="344" y="40"/>
                      </a:cubicBezTo>
                      <a:cubicBezTo>
                        <a:pt x="340" y="32"/>
                        <a:pt x="334" y="25"/>
                        <a:pt x="328" y="19"/>
                      </a:cubicBezTo>
                      <a:cubicBezTo>
                        <a:pt x="322" y="13"/>
                        <a:pt x="315" y="8"/>
                        <a:pt x="306" y="5"/>
                      </a:cubicBezTo>
                      <a:cubicBezTo>
                        <a:pt x="297" y="1"/>
                        <a:pt x="287" y="0"/>
                        <a:pt x="277" y="0"/>
                      </a:cubicBezTo>
                      <a:cubicBezTo>
                        <a:pt x="275" y="0"/>
                        <a:pt x="272" y="1"/>
                        <a:pt x="266" y="5"/>
                      </a:cubicBezTo>
                      <a:cubicBezTo>
                        <a:pt x="260" y="9"/>
                        <a:pt x="254" y="13"/>
                        <a:pt x="247" y="18"/>
                      </a:cubicBezTo>
                      <a:cubicBezTo>
                        <a:pt x="239" y="22"/>
                        <a:pt x="230" y="26"/>
                        <a:pt x="218" y="30"/>
                      </a:cubicBezTo>
                      <a:cubicBezTo>
                        <a:pt x="207" y="34"/>
                        <a:pt x="195" y="36"/>
                        <a:pt x="184" y="36"/>
                      </a:cubicBezTo>
                      <a:cubicBezTo>
                        <a:pt x="172" y="36"/>
                        <a:pt x="160" y="34"/>
                        <a:pt x="149" y="30"/>
                      </a:cubicBezTo>
                      <a:cubicBezTo>
                        <a:pt x="137" y="26"/>
                        <a:pt x="128" y="22"/>
                        <a:pt x="121" y="18"/>
                      </a:cubicBezTo>
                      <a:cubicBezTo>
                        <a:pt x="113" y="13"/>
                        <a:pt x="107" y="9"/>
                        <a:pt x="101" y="5"/>
                      </a:cubicBezTo>
                      <a:cubicBezTo>
                        <a:pt x="95" y="1"/>
                        <a:pt x="92" y="0"/>
                        <a:pt x="90" y="0"/>
                      </a:cubicBezTo>
                      <a:cubicBezTo>
                        <a:pt x="80" y="0"/>
                        <a:pt x="70" y="1"/>
                        <a:pt x="61" y="5"/>
                      </a:cubicBezTo>
                      <a:cubicBezTo>
                        <a:pt x="52" y="8"/>
                        <a:pt x="45" y="13"/>
                        <a:pt x="39" y="19"/>
                      </a:cubicBezTo>
                      <a:cubicBezTo>
                        <a:pt x="33" y="25"/>
                        <a:pt x="27" y="32"/>
                        <a:pt x="23" y="40"/>
                      </a:cubicBezTo>
                      <a:cubicBezTo>
                        <a:pt x="18" y="48"/>
                        <a:pt x="14" y="57"/>
                        <a:pt x="11" y="65"/>
                      </a:cubicBezTo>
                      <a:cubicBezTo>
                        <a:pt x="9" y="74"/>
                        <a:pt x="6" y="83"/>
                        <a:pt x="5" y="94"/>
                      </a:cubicBezTo>
                      <a:cubicBezTo>
                        <a:pt x="3" y="104"/>
                        <a:pt x="2" y="113"/>
                        <a:pt x="1" y="122"/>
                      </a:cubicBezTo>
                      <a:cubicBezTo>
                        <a:pt x="0" y="131"/>
                        <a:pt x="0" y="140"/>
                        <a:pt x="0" y="149"/>
                      </a:cubicBezTo>
                      <a:cubicBezTo>
                        <a:pt x="0" y="170"/>
                        <a:pt x="6" y="186"/>
                        <a:pt x="19" y="198"/>
                      </a:cubicBezTo>
                      <a:cubicBezTo>
                        <a:pt x="32" y="210"/>
                        <a:pt x="49" y="216"/>
                        <a:pt x="70" y="216"/>
                      </a:cubicBezTo>
                      <a:cubicBezTo>
                        <a:pt x="297" y="216"/>
                        <a:pt x="297" y="216"/>
                        <a:pt x="297" y="216"/>
                      </a:cubicBezTo>
                      <a:cubicBezTo>
                        <a:pt x="319" y="216"/>
                        <a:pt x="335" y="210"/>
                        <a:pt x="348" y="198"/>
                      </a:cubicBezTo>
                      <a:cubicBezTo>
                        <a:pt x="361" y="186"/>
                        <a:pt x="367" y="170"/>
                        <a:pt x="367" y="149"/>
                      </a:cubicBezTo>
                      <a:cubicBezTo>
                        <a:pt x="367" y="140"/>
                        <a:pt x="367" y="131"/>
                        <a:pt x="366" y="122"/>
                      </a:cubicBezTo>
                      <a:close/>
                      <a:moveTo>
                        <a:pt x="366" y="122"/>
                      </a:moveTo>
                      <a:cubicBezTo>
                        <a:pt x="366" y="122"/>
                        <a:pt x="366" y="122"/>
                        <a:pt x="366" y="122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82852" tIns="91426" rIns="182852" bIns="91426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828617"/>
                  <a:endParaRPr lang="ja-JP" altLang="en-US" sz="7199" dirty="0">
                    <a:solidFill>
                      <a:srgbClr val="333333"/>
                    </a:solidFill>
                  </a:endParaRPr>
                </a:p>
              </p:txBody>
            </p:sp>
          </p:grpSp>
        </p:grpSp>
        <p:grpSp>
          <p:nvGrpSpPr>
            <p:cNvPr id="10" name="グループ化 9"/>
            <p:cNvGrpSpPr/>
            <p:nvPr/>
          </p:nvGrpSpPr>
          <p:grpSpPr>
            <a:xfrm>
              <a:off x="5950004" y="4617213"/>
              <a:ext cx="2217095" cy="1403577"/>
              <a:chOff x="1748349" y="4617213"/>
              <a:chExt cx="2217095" cy="1403577"/>
            </a:xfrm>
          </p:grpSpPr>
          <p:sp>
            <p:nvSpPr>
              <p:cNvPr id="11" name="Freeform 6"/>
              <p:cNvSpPr>
                <a:spLocks noChangeAspect="1" noEditPoints="1"/>
              </p:cNvSpPr>
              <p:nvPr/>
            </p:nvSpPr>
            <p:spPr bwMode="auto">
              <a:xfrm>
                <a:off x="2819604" y="4617213"/>
                <a:ext cx="1145840" cy="804006"/>
              </a:xfrm>
              <a:custGeom>
                <a:avLst/>
                <a:gdLst>
                  <a:gd name="T0" fmla="*/ 251 w 1076"/>
                  <a:gd name="T1" fmla="*/ 683 h 755"/>
                  <a:gd name="T2" fmla="*/ 824 w 1076"/>
                  <a:gd name="T3" fmla="*/ 575 h 755"/>
                  <a:gd name="T4" fmla="*/ 1040 w 1076"/>
                  <a:gd name="T5" fmla="*/ 575 h 755"/>
                  <a:gd name="T6" fmla="*/ 575 w 1076"/>
                  <a:gd name="T7" fmla="*/ 719 h 755"/>
                  <a:gd name="T8" fmla="*/ 573 w 1076"/>
                  <a:gd name="T9" fmla="*/ 575 h 755"/>
                  <a:gd name="T10" fmla="*/ 537 w 1076"/>
                  <a:gd name="T11" fmla="*/ 719 h 755"/>
                  <a:gd name="T12" fmla="*/ 36 w 1076"/>
                  <a:gd name="T13" fmla="*/ 575 h 755"/>
                  <a:gd name="T14" fmla="*/ 287 w 1076"/>
                  <a:gd name="T15" fmla="*/ 575 h 755"/>
                  <a:gd name="T16" fmla="*/ 251 w 1076"/>
                  <a:gd name="T17" fmla="*/ 431 h 755"/>
                  <a:gd name="T18" fmla="*/ 72 w 1076"/>
                  <a:gd name="T19" fmla="*/ 431 h 755"/>
                  <a:gd name="T20" fmla="*/ 1040 w 1076"/>
                  <a:gd name="T21" fmla="*/ 539 h 755"/>
                  <a:gd name="T22" fmla="*/ 573 w 1076"/>
                  <a:gd name="T23" fmla="*/ 395 h 755"/>
                  <a:gd name="T24" fmla="*/ 789 w 1076"/>
                  <a:gd name="T25" fmla="*/ 395 h 755"/>
                  <a:gd name="T26" fmla="*/ 323 w 1076"/>
                  <a:gd name="T27" fmla="*/ 539 h 755"/>
                  <a:gd name="T28" fmla="*/ 323 w 1076"/>
                  <a:gd name="T29" fmla="*/ 395 h 755"/>
                  <a:gd name="T30" fmla="*/ 287 w 1076"/>
                  <a:gd name="T31" fmla="*/ 539 h 755"/>
                  <a:gd name="T32" fmla="*/ 72 w 1076"/>
                  <a:gd name="T33" fmla="*/ 252 h 755"/>
                  <a:gd name="T34" fmla="*/ 72 w 1076"/>
                  <a:gd name="T35" fmla="*/ 323 h 755"/>
                  <a:gd name="T36" fmla="*/ 824 w 1076"/>
                  <a:gd name="T37" fmla="*/ 359 h 755"/>
                  <a:gd name="T38" fmla="*/ 824 w 1076"/>
                  <a:gd name="T39" fmla="*/ 216 h 755"/>
                  <a:gd name="T40" fmla="*/ 789 w 1076"/>
                  <a:gd name="T41" fmla="*/ 359 h 755"/>
                  <a:gd name="T42" fmla="*/ 323 w 1076"/>
                  <a:gd name="T43" fmla="*/ 216 h 755"/>
                  <a:gd name="T44" fmla="*/ 537 w 1076"/>
                  <a:gd name="T45" fmla="*/ 216 h 755"/>
                  <a:gd name="T46" fmla="*/ 36 w 1076"/>
                  <a:gd name="T47" fmla="*/ 359 h 755"/>
                  <a:gd name="T48" fmla="*/ 36 w 1076"/>
                  <a:gd name="T49" fmla="*/ 216 h 755"/>
                  <a:gd name="T50" fmla="*/ 1004 w 1076"/>
                  <a:gd name="T51" fmla="*/ 144 h 755"/>
                  <a:gd name="T52" fmla="*/ 609 w 1076"/>
                  <a:gd name="T53" fmla="*/ 72 h 755"/>
                  <a:gd name="T54" fmla="*/ 609 w 1076"/>
                  <a:gd name="T55" fmla="*/ 144 h 755"/>
                  <a:gd name="T56" fmla="*/ 503 w 1076"/>
                  <a:gd name="T57" fmla="*/ 72 h 755"/>
                  <a:gd name="T58" fmla="*/ 359 w 1076"/>
                  <a:gd name="T59" fmla="*/ 72 h 755"/>
                  <a:gd name="T60" fmla="*/ 251 w 1076"/>
                  <a:gd name="T61" fmla="*/ 144 h 755"/>
                  <a:gd name="T62" fmla="*/ 824 w 1076"/>
                  <a:gd name="T63" fmla="*/ 36 h 755"/>
                  <a:gd name="T64" fmla="*/ 1040 w 1076"/>
                  <a:gd name="T65" fmla="*/ 36 h 755"/>
                  <a:gd name="T66" fmla="*/ 573 w 1076"/>
                  <a:gd name="T67" fmla="*/ 180 h 755"/>
                  <a:gd name="T68" fmla="*/ 573 w 1076"/>
                  <a:gd name="T69" fmla="*/ 36 h 755"/>
                  <a:gd name="T70" fmla="*/ 537 w 1076"/>
                  <a:gd name="T71" fmla="*/ 180 h 755"/>
                  <a:gd name="T72" fmla="*/ 36 w 1076"/>
                  <a:gd name="T73" fmla="*/ 36 h 755"/>
                  <a:gd name="T74" fmla="*/ 287 w 1076"/>
                  <a:gd name="T75" fmla="*/ 36 h 755"/>
                  <a:gd name="T76" fmla="*/ 1040 w 1076"/>
                  <a:gd name="T77" fmla="*/ 0 h 755"/>
                  <a:gd name="T78" fmla="*/ 1076 w 1076"/>
                  <a:gd name="T79" fmla="*/ 36 h 755"/>
                  <a:gd name="T80" fmla="*/ 1074 w 1076"/>
                  <a:gd name="T81" fmla="*/ 728 h 755"/>
                  <a:gd name="T82" fmla="*/ 1055 w 1076"/>
                  <a:gd name="T83" fmla="*/ 751 h 755"/>
                  <a:gd name="T84" fmla="*/ 17 w 1076"/>
                  <a:gd name="T85" fmla="*/ 749 h 755"/>
                  <a:gd name="T86" fmla="*/ 0 w 1076"/>
                  <a:gd name="T87" fmla="*/ 36 h 755"/>
                  <a:gd name="T88" fmla="*/ 36 w 1076"/>
                  <a:gd name="T89" fmla="*/ 0 h 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076" h="755">
                    <a:moveTo>
                      <a:pt x="72" y="611"/>
                    </a:moveTo>
                    <a:lnTo>
                      <a:pt x="251" y="611"/>
                    </a:lnTo>
                    <a:lnTo>
                      <a:pt x="251" y="683"/>
                    </a:lnTo>
                    <a:lnTo>
                      <a:pt x="72" y="683"/>
                    </a:lnTo>
                    <a:lnTo>
                      <a:pt x="72" y="611"/>
                    </a:lnTo>
                    <a:close/>
                    <a:moveTo>
                      <a:pt x="824" y="575"/>
                    </a:moveTo>
                    <a:lnTo>
                      <a:pt x="824" y="719"/>
                    </a:lnTo>
                    <a:lnTo>
                      <a:pt x="1040" y="719"/>
                    </a:lnTo>
                    <a:lnTo>
                      <a:pt x="1040" y="575"/>
                    </a:lnTo>
                    <a:lnTo>
                      <a:pt x="824" y="575"/>
                    </a:lnTo>
                    <a:close/>
                    <a:moveTo>
                      <a:pt x="573" y="575"/>
                    </a:moveTo>
                    <a:lnTo>
                      <a:pt x="575" y="719"/>
                    </a:lnTo>
                    <a:lnTo>
                      <a:pt x="789" y="719"/>
                    </a:lnTo>
                    <a:lnTo>
                      <a:pt x="789" y="575"/>
                    </a:lnTo>
                    <a:lnTo>
                      <a:pt x="573" y="575"/>
                    </a:lnTo>
                    <a:close/>
                    <a:moveTo>
                      <a:pt x="323" y="575"/>
                    </a:moveTo>
                    <a:lnTo>
                      <a:pt x="323" y="719"/>
                    </a:lnTo>
                    <a:lnTo>
                      <a:pt x="537" y="719"/>
                    </a:lnTo>
                    <a:lnTo>
                      <a:pt x="537" y="575"/>
                    </a:lnTo>
                    <a:lnTo>
                      <a:pt x="323" y="575"/>
                    </a:lnTo>
                    <a:close/>
                    <a:moveTo>
                      <a:pt x="36" y="575"/>
                    </a:moveTo>
                    <a:lnTo>
                      <a:pt x="36" y="719"/>
                    </a:lnTo>
                    <a:lnTo>
                      <a:pt x="287" y="719"/>
                    </a:lnTo>
                    <a:lnTo>
                      <a:pt x="287" y="575"/>
                    </a:lnTo>
                    <a:lnTo>
                      <a:pt x="36" y="575"/>
                    </a:lnTo>
                    <a:close/>
                    <a:moveTo>
                      <a:pt x="72" y="431"/>
                    </a:moveTo>
                    <a:lnTo>
                      <a:pt x="251" y="431"/>
                    </a:lnTo>
                    <a:lnTo>
                      <a:pt x="251" y="503"/>
                    </a:lnTo>
                    <a:lnTo>
                      <a:pt x="72" y="503"/>
                    </a:lnTo>
                    <a:lnTo>
                      <a:pt x="72" y="431"/>
                    </a:lnTo>
                    <a:close/>
                    <a:moveTo>
                      <a:pt x="824" y="395"/>
                    </a:moveTo>
                    <a:lnTo>
                      <a:pt x="824" y="539"/>
                    </a:lnTo>
                    <a:lnTo>
                      <a:pt x="1040" y="539"/>
                    </a:lnTo>
                    <a:lnTo>
                      <a:pt x="1040" y="395"/>
                    </a:lnTo>
                    <a:lnTo>
                      <a:pt x="824" y="395"/>
                    </a:lnTo>
                    <a:close/>
                    <a:moveTo>
                      <a:pt x="573" y="395"/>
                    </a:moveTo>
                    <a:lnTo>
                      <a:pt x="575" y="539"/>
                    </a:lnTo>
                    <a:lnTo>
                      <a:pt x="789" y="539"/>
                    </a:lnTo>
                    <a:lnTo>
                      <a:pt x="789" y="395"/>
                    </a:lnTo>
                    <a:lnTo>
                      <a:pt x="573" y="395"/>
                    </a:lnTo>
                    <a:close/>
                    <a:moveTo>
                      <a:pt x="323" y="395"/>
                    </a:moveTo>
                    <a:lnTo>
                      <a:pt x="323" y="539"/>
                    </a:lnTo>
                    <a:lnTo>
                      <a:pt x="537" y="539"/>
                    </a:lnTo>
                    <a:lnTo>
                      <a:pt x="537" y="395"/>
                    </a:lnTo>
                    <a:lnTo>
                      <a:pt x="323" y="395"/>
                    </a:lnTo>
                    <a:close/>
                    <a:moveTo>
                      <a:pt x="36" y="395"/>
                    </a:moveTo>
                    <a:lnTo>
                      <a:pt x="36" y="539"/>
                    </a:lnTo>
                    <a:lnTo>
                      <a:pt x="287" y="539"/>
                    </a:lnTo>
                    <a:lnTo>
                      <a:pt x="287" y="395"/>
                    </a:lnTo>
                    <a:lnTo>
                      <a:pt x="36" y="395"/>
                    </a:lnTo>
                    <a:close/>
                    <a:moveTo>
                      <a:pt x="72" y="252"/>
                    </a:moveTo>
                    <a:lnTo>
                      <a:pt x="251" y="252"/>
                    </a:lnTo>
                    <a:lnTo>
                      <a:pt x="251" y="323"/>
                    </a:lnTo>
                    <a:lnTo>
                      <a:pt x="72" y="323"/>
                    </a:lnTo>
                    <a:lnTo>
                      <a:pt x="72" y="252"/>
                    </a:lnTo>
                    <a:close/>
                    <a:moveTo>
                      <a:pt x="824" y="216"/>
                    </a:moveTo>
                    <a:lnTo>
                      <a:pt x="824" y="359"/>
                    </a:lnTo>
                    <a:lnTo>
                      <a:pt x="1040" y="359"/>
                    </a:lnTo>
                    <a:lnTo>
                      <a:pt x="1040" y="216"/>
                    </a:lnTo>
                    <a:lnTo>
                      <a:pt x="824" y="216"/>
                    </a:lnTo>
                    <a:close/>
                    <a:moveTo>
                      <a:pt x="573" y="216"/>
                    </a:moveTo>
                    <a:lnTo>
                      <a:pt x="573" y="359"/>
                    </a:lnTo>
                    <a:lnTo>
                      <a:pt x="789" y="359"/>
                    </a:lnTo>
                    <a:lnTo>
                      <a:pt x="789" y="216"/>
                    </a:lnTo>
                    <a:lnTo>
                      <a:pt x="573" y="216"/>
                    </a:lnTo>
                    <a:close/>
                    <a:moveTo>
                      <a:pt x="323" y="216"/>
                    </a:moveTo>
                    <a:lnTo>
                      <a:pt x="323" y="359"/>
                    </a:lnTo>
                    <a:lnTo>
                      <a:pt x="537" y="359"/>
                    </a:lnTo>
                    <a:lnTo>
                      <a:pt x="537" y="216"/>
                    </a:lnTo>
                    <a:lnTo>
                      <a:pt x="323" y="216"/>
                    </a:lnTo>
                    <a:close/>
                    <a:moveTo>
                      <a:pt x="36" y="216"/>
                    </a:moveTo>
                    <a:lnTo>
                      <a:pt x="36" y="359"/>
                    </a:lnTo>
                    <a:lnTo>
                      <a:pt x="287" y="359"/>
                    </a:lnTo>
                    <a:lnTo>
                      <a:pt x="287" y="216"/>
                    </a:lnTo>
                    <a:lnTo>
                      <a:pt x="36" y="216"/>
                    </a:lnTo>
                    <a:close/>
                    <a:moveTo>
                      <a:pt x="860" y="72"/>
                    </a:moveTo>
                    <a:lnTo>
                      <a:pt x="1004" y="72"/>
                    </a:lnTo>
                    <a:lnTo>
                      <a:pt x="1004" y="144"/>
                    </a:lnTo>
                    <a:lnTo>
                      <a:pt x="860" y="144"/>
                    </a:lnTo>
                    <a:lnTo>
                      <a:pt x="860" y="72"/>
                    </a:lnTo>
                    <a:close/>
                    <a:moveTo>
                      <a:pt x="609" y="72"/>
                    </a:moveTo>
                    <a:lnTo>
                      <a:pt x="753" y="72"/>
                    </a:lnTo>
                    <a:lnTo>
                      <a:pt x="753" y="144"/>
                    </a:lnTo>
                    <a:lnTo>
                      <a:pt x="609" y="144"/>
                    </a:lnTo>
                    <a:lnTo>
                      <a:pt x="609" y="72"/>
                    </a:lnTo>
                    <a:close/>
                    <a:moveTo>
                      <a:pt x="359" y="72"/>
                    </a:moveTo>
                    <a:lnTo>
                      <a:pt x="503" y="72"/>
                    </a:lnTo>
                    <a:lnTo>
                      <a:pt x="503" y="144"/>
                    </a:lnTo>
                    <a:lnTo>
                      <a:pt x="359" y="144"/>
                    </a:lnTo>
                    <a:lnTo>
                      <a:pt x="359" y="72"/>
                    </a:lnTo>
                    <a:close/>
                    <a:moveTo>
                      <a:pt x="72" y="72"/>
                    </a:moveTo>
                    <a:lnTo>
                      <a:pt x="251" y="72"/>
                    </a:lnTo>
                    <a:lnTo>
                      <a:pt x="251" y="144"/>
                    </a:lnTo>
                    <a:lnTo>
                      <a:pt x="72" y="144"/>
                    </a:lnTo>
                    <a:lnTo>
                      <a:pt x="72" y="72"/>
                    </a:lnTo>
                    <a:close/>
                    <a:moveTo>
                      <a:pt x="824" y="36"/>
                    </a:moveTo>
                    <a:lnTo>
                      <a:pt x="824" y="180"/>
                    </a:lnTo>
                    <a:lnTo>
                      <a:pt x="1040" y="180"/>
                    </a:lnTo>
                    <a:lnTo>
                      <a:pt x="1040" y="36"/>
                    </a:lnTo>
                    <a:lnTo>
                      <a:pt x="824" y="36"/>
                    </a:lnTo>
                    <a:close/>
                    <a:moveTo>
                      <a:pt x="573" y="36"/>
                    </a:moveTo>
                    <a:lnTo>
                      <a:pt x="573" y="180"/>
                    </a:lnTo>
                    <a:lnTo>
                      <a:pt x="789" y="180"/>
                    </a:lnTo>
                    <a:lnTo>
                      <a:pt x="789" y="36"/>
                    </a:lnTo>
                    <a:lnTo>
                      <a:pt x="573" y="36"/>
                    </a:lnTo>
                    <a:close/>
                    <a:moveTo>
                      <a:pt x="323" y="36"/>
                    </a:moveTo>
                    <a:lnTo>
                      <a:pt x="323" y="180"/>
                    </a:lnTo>
                    <a:lnTo>
                      <a:pt x="537" y="180"/>
                    </a:lnTo>
                    <a:lnTo>
                      <a:pt x="537" y="36"/>
                    </a:lnTo>
                    <a:lnTo>
                      <a:pt x="323" y="36"/>
                    </a:lnTo>
                    <a:close/>
                    <a:moveTo>
                      <a:pt x="36" y="36"/>
                    </a:moveTo>
                    <a:lnTo>
                      <a:pt x="36" y="180"/>
                    </a:lnTo>
                    <a:lnTo>
                      <a:pt x="287" y="180"/>
                    </a:lnTo>
                    <a:lnTo>
                      <a:pt x="287" y="36"/>
                    </a:lnTo>
                    <a:lnTo>
                      <a:pt x="36" y="36"/>
                    </a:lnTo>
                    <a:close/>
                    <a:moveTo>
                      <a:pt x="36" y="0"/>
                    </a:moveTo>
                    <a:lnTo>
                      <a:pt x="1040" y="0"/>
                    </a:lnTo>
                    <a:lnTo>
                      <a:pt x="1059" y="6"/>
                    </a:lnTo>
                    <a:lnTo>
                      <a:pt x="1070" y="19"/>
                    </a:lnTo>
                    <a:lnTo>
                      <a:pt x="1076" y="36"/>
                    </a:lnTo>
                    <a:lnTo>
                      <a:pt x="1076" y="719"/>
                    </a:lnTo>
                    <a:lnTo>
                      <a:pt x="1076" y="721"/>
                    </a:lnTo>
                    <a:lnTo>
                      <a:pt x="1074" y="728"/>
                    </a:lnTo>
                    <a:lnTo>
                      <a:pt x="1072" y="736"/>
                    </a:lnTo>
                    <a:lnTo>
                      <a:pt x="1066" y="745"/>
                    </a:lnTo>
                    <a:lnTo>
                      <a:pt x="1055" y="751"/>
                    </a:lnTo>
                    <a:lnTo>
                      <a:pt x="1040" y="755"/>
                    </a:lnTo>
                    <a:lnTo>
                      <a:pt x="36" y="755"/>
                    </a:lnTo>
                    <a:lnTo>
                      <a:pt x="17" y="749"/>
                    </a:lnTo>
                    <a:lnTo>
                      <a:pt x="6" y="736"/>
                    </a:lnTo>
                    <a:lnTo>
                      <a:pt x="0" y="719"/>
                    </a:lnTo>
                    <a:lnTo>
                      <a:pt x="0" y="36"/>
                    </a:lnTo>
                    <a:lnTo>
                      <a:pt x="6" y="19"/>
                    </a:lnTo>
                    <a:lnTo>
                      <a:pt x="17" y="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tx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defTabSz="1371600"/>
                <a:endParaRPr lang="ja-JP" altLang="en-US" sz="2700" dirty="0">
                  <a:solidFill>
                    <a:srgbClr val="4D4D4D"/>
                  </a:solidFill>
                </a:endParaRPr>
              </a:p>
            </p:txBody>
          </p:sp>
          <p:grpSp>
            <p:nvGrpSpPr>
              <p:cNvPr id="12" name="グループ化 11"/>
              <p:cNvGrpSpPr/>
              <p:nvPr/>
            </p:nvGrpSpPr>
            <p:grpSpPr>
              <a:xfrm>
                <a:off x="1748349" y="5116639"/>
                <a:ext cx="829669" cy="904151"/>
                <a:chOff x="6399213" y="3455988"/>
                <a:chExt cx="636588" cy="693737"/>
              </a:xfrm>
            </p:grpSpPr>
            <p:sp>
              <p:nvSpPr>
                <p:cNvPr id="13" name="Freeform 85"/>
                <p:cNvSpPr>
                  <a:spLocks noEditPoints="1"/>
                </p:cNvSpPr>
                <p:nvPr/>
              </p:nvSpPr>
              <p:spPr bwMode="auto">
                <a:xfrm>
                  <a:off x="6543675" y="3455988"/>
                  <a:ext cx="347663" cy="347663"/>
                </a:xfrm>
                <a:custGeom>
                  <a:avLst/>
                  <a:gdLst>
                    <a:gd name="T0" fmla="*/ 101 w 201"/>
                    <a:gd name="T1" fmla="*/ 200 h 200"/>
                    <a:gd name="T2" fmla="*/ 171 w 201"/>
                    <a:gd name="T3" fmla="*/ 171 h 200"/>
                    <a:gd name="T4" fmla="*/ 201 w 201"/>
                    <a:gd name="T5" fmla="*/ 100 h 200"/>
                    <a:gd name="T6" fmla="*/ 171 w 201"/>
                    <a:gd name="T7" fmla="*/ 29 h 200"/>
                    <a:gd name="T8" fmla="*/ 101 w 201"/>
                    <a:gd name="T9" fmla="*/ 0 h 200"/>
                    <a:gd name="T10" fmla="*/ 30 w 201"/>
                    <a:gd name="T11" fmla="*/ 29 h 200"/>
                    <a:gd name="T12" fmla="*/ 0 w 201"/>
                    <a:gd name="T13" fmla="*/ 100 h 200"/>
                    <a:gd name="T14" fmla="*/ 30 w 201"/>
                    <a:gd name="T15" fmla="*/ 171 h 200"/>
                    <a:gd name="T16" fmla="*/ 101 w 201"/>
                    <a:gd name="T17" fmla="*/ 200 h 200"/>
                    <a:gd name="T18" fmla="*/ 101 w 201"/>
                    <a:gd name="T19" fmla="*/ 200 h 200"/>
                    <a:gd name="T20" fmla="*/ 101 w 201"/>
                    <a:gd name="T21" fmla="*/ 200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01" h="200">
                      <a:moveTo>
                        <a:pt x="101" y="200"/>
                      </a:moveTo>
                      <a:cubicBezTo>
                        <a:pt x="128" y="200"/>
                        <a:pt x="152" y="190"/>
                        <a:pt x="171" y="171"/>
                      </a:cubicBezTo>
                      <a:cubicBezTo>
                        <a:pt x="191" y="151"/>
                        <a:pt x="201" y="128"/>
                        <a:pt x="201" y="100"/>
                      </a:cubicBezTo>
                      <a:cubicBezTo>
                        <a:pt x="201" y="72"/>
                        <a:pt x="191" y="49"/>
                        <a:pt x="171" y="29"/>
                      </a:cubicBezTo>
                      <a:cubicBezTo>
                        <a:pt x="152" y="10"/>
                        <a:pt x="128" y="0"/>
                        <a:pt x="101" y="0"/>
                      </a:cubicBezTo>
                      <a:cubicBezTo>
                        <a:pt x="73" y="0"/>
                        <a:pt x="49" y="10"/>
                        <a:pt x="30" y="29"/>
                      </a:cubicBezTo>
                      <a:cubicBezTo>
                        <a:pt x="10" y="49"/>
                        <a:pt x="0" y="72"/>
                        <a:pt x="0" y="100"/>
                      </a:cubicBezTo>
                      <a:cubicBezTo>
                        <a:pt x="0" y="128"/>
                        <a:pt x="10" y="151"/>
                        <a:pt x="30" y="171"/>
                      </a:cubicBezTo>
                      <a:cubicBezTo>
                        <a:pt x="49" y="190"/>
                        <a:pt x="73" y="200"/>
                        <a:pt x="101" y="200"/>
                      </a:cubicBezTo>
                      <a:close/>
                      <a:moveTo>
                        <a:pt x="101" y="200"/>
                      </a:moveTo>
                      <a:cubicBezTo>
                        <a:pt x="101" y="200"/>
                        <a:pt x="101" y="200"/>
                        <a:pt x="101" y="200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82852" tIns="91426" rIns="182852" bIns="91426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828617"/>
                  <a:endParaRPr lang="ja-JP" altLang="en-US" sz="7199" dirty="0">
                    <a:solidFill>
                      <a:srgbClr val="333333"/>
                    </a:solidFill>
                  </a:endParaRPr>
                </a:p>
              </p:txBody>
            </p:sp>
            <p:sp>
              <p:nvSpPr>
                <p:cNvPr id="14" name="Freeform 86"/>
                <p:cNvSpPr>
                  <a:spLocks noEditPoints="1"/>
                </p:cNvSpPr>
                <p:nvPr/>
              </p:nvSpPr>
              <p:spPr bwMode="auto">
                <a:xfrm>
                  <a:off x="6399213" y="3775075"/>
                  <a:ext cx="636588" cy="374650"/>
                </a:xfrm>
                <a:custGeom>
                  <a:avLst/>
                  <a:gdLst>
                    <a:gd name="T0" fmla="*/ 366 w 367"/>
                    <a:gd name="T1" fmla="*/ 122 h 216"/>
                    <a:gd name="T2" fmla="*/ 363 w 367"/>
                    <a:gd name="T3" fmla="*/ 94 h 216"/>
                    <a:gd name="T4" fmla="*/ 356 w 367"/>
                    <a:gd name="T5" fmla="*/ 65 h 216"/>
                    <a:gd name="T6" fmla="*/ 344 w 367"/>
                    <a:gd name="T7" fmla="*/ 40 h 216"/>
                    <a:gd name="T8" fmla="*/ 328 w 367"/>
                    <a:gd name="T9" fmla="*/ 19 h 216"/>
                    <a:gd name="T10" fmla="*/ 306 w 367"/>
                    <a:gd name="T11" fmla="*/ 5 h 216"/>
                    <a:gd name="T12" fmla="*/ 277 w 367"/>
                    <a:gd name="T13" fmla="*/ 0 h 216"/>
                    <a:gd name="T14" fmla="*/ 266 w 367"/>
                    <a:gd name="T15" fmla="*/ 5 h 216"/>
                    <a:gd name="T16" fmla="*/ 247 w 367"/>
                    <a:gd name="T17" fmla="*/ 18 h 216"/>
                    <a:gd name="T18" fmla="*/ 218 w 367"/>
                    <a:gd name="T19" fmla="*/ 30 h 216"/>
                    <a:gd name="T20" fmla="*/ 184 w 367"/>
                    <a:gd name="T21" fmla="*/ 36 h 216"/>
                    <a:gd name="T22" fmla="*/ 149 w 367"/>
                    <a:gd name="T23" fmla="*/ 30 h 216"/>
                    <a:gd name="T24" fmla="*/ 121 w 367"/>
                    <a:gd name="T25" fmla="*/ 18 h 216"/>
                    <a:gd name="T26" fmla="*/ 101 w 367"/>
                    <a:gd name="T27" fmla="*/ 5 h 216"/>
                    <a:gd name="T28" fmla="*/ 90 w 367"/>
                    <a:gd name="T29" fmla="*/ 0 h 216"/>
                    <a:gd name="T30" fmla="*/ 61 w 367"/>
                    <a:gd name="T31" fmla="*/ 5 h 216"/>
                    <a:gd name="T32" fmla="*/ 39 w 367"/>
                    <a:gd name="T33" fmla="*/ 19 h 216"/>
                    <a:gd name="T34" fmla="*/ 23 w 367"/>
                    <a:gd name="T35" fmla="*/ 40 h 216"/>
                    <a:gd name="T36" fmla="*/ 11 w 367"/>
                    <a:gd name="T37" fmla="*/ 65 h 216"/>
                    <a:gd name="T38" fmla="*/ 5 w 367"/>
                    <a:gd name="T39" fmla="*/ 94 h 216"/>
                    <a:gd name="T40" fmla="*/ 1 w 367"/>
                    <a:gd name="T41" fmla="*/ 122 h 216"/>
                    <a:gd name="T42" fmla="*/ 0 w 367"/>
                    <a:gd name="T43" fmla="*/ 149 h 216"/>
                    <a:gd name="T44" fmla="*/ 19 w 367"/>
                    <a:gd name="T45" fmla="*/ 198 h 216"/>
                    <a:gd name="T46" fmla="*/ 70 w 367"/>
                    <a:gd name="T47" fmla="*/ 216 h 216"/>
                    <a:gd name="T48" fmla="*/ 297 w 367"/>
                    <a:gd name="T49" fmla="*/ 216 h 216"/>
                    <a:gd name="T50" fmla="*/ 348 w 367"/>
                    <a:gd name="T51" fmla="*/ 198 h 216"/>
                    <a:gd name="T52" fmla="*/ 367 w 367"/>
                    <a:gd name="T53" fmla="*/ 149 h 216"/>
                    <a:gd name="T54" fmla="*/ 366 w 367"/>
                    <a:gd name="T55" fmla="*/ 122 h 216"/>
                    <a:gd name="T56" fmla="*/ 366 w 367"/>
                    <a:gd name="T57" fmla="*/ 122 h 216"/>
                    <a:gd name="T58" fmla="*/ 366 w 367"/>
                    <a:gd name="T59" fmla="*/ 122 h 2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367" h="216">
                      <a:moveTo>
                        <a:pt x="366" y="122"/>
                      </a:moveTo>
                      <a:cubicBezTo>
                        <a:pt x="366" y="113"/>
                        <a:pt x="364" y="104"/>
                        <a:pt x="363" y="94"/>
                      </a:cubicBezTo>
                      <a:cubicBezTo>
                        <a:pt x="361" y="83"/>
                        <a:pt x="358" y="74"/>
                        <a:pt x="356" y="65"/>
                      </a:cubicBezTo>
                      <a:cubicBezTo>
                        <a:pt x="353" y="57"/>
                        <a:pt x="349" y="48"/>
                        <a:pt x="344" y="40"/>
                      </a:cubicBezTo>
                      <a:cubicBezTo>
                        <a:pt x="340" y="32"/>
                        <a:pt x="334" y="25"/>
                        <a:pt x="328" y="19"/>
                      </a:cubicBezTo>
                      <a:cubicBezTo>
                        <a:pt x="322" y="13"/>
                        <a:pt x="315" y="8"/>
                        <a:pt x="306" y="5"/>
                      </a:cubicBezTo>
                      <a:cubicBezTo>
                        <a:pt x="297" y="1"/>
                        <a:pt x="287" y="0"/>
                        <a:pt x="277" y="0"/>
                      </a:cubicBezTo>
                      <a:cubicBezTo>
                        <a:pt x="275" y="0"/>
                        <a:pt x="272" y="1"/>
                        <a:pt x="266" y="5"/>
                      </a:cubicBezTo>
                      <a:cubicBezTo>
                        <a:pt x="260" y="9"/>
                        <a:pt x="254" y="13"/>
                        <a:pt x="247" y="18"/>
                      </a:cubicBezTo>
                      <a:cubicBezTo>
                        <a:pt x="239" y="22"/>
                        <a:pt x="230" y="26"/>
                        <a:pt x="218" y="30"/>
                      </a:cubicBezTo>
                      <a:cubicBezTo>
                        <a:pt x="207" y="34"/>
                        <a:pt x="195" y="36"/>
                        <a:pt x="184" y="36"/>
                      </a:cubicBezTo>
                      <a:cubicBezTo>
                        <a:pt x="172" y="36"/>
                        <a:pt x="160" y="34"/>
                        <a:pt x="149" y="30"/>
                      </a:cubicBezTo>
                      <a:cubicBezTo>
                        <a:pt x="137" y="26"/>
                        <a:pt x="128" y="22"/>
                        <a:pt x="121" y="18"/>
                      </a:cubicBezTo>
                      <a:cubicBezTo>
                        <a:pt x="113" y="13"/>
                        <a:pt x="107" y="9"/>
                        <a:pt x="101" y="5"/>
                      </a:cubicBezTo>
                      <a:cubicBezTo>
                        <a:pt x="95" y="1"/>
                        <a:pt x="92" y="0"/>
                        <a:pt x="90" y="0"/>
                      </a:cubicBezTo>
                      <a:cubicBezTo>
                        <a:pt x="80" y="0"/>
                        <a:pt x="70" y="1"/>
                        <a:pt x="61" y="5"/>
                      </a:cubicBezTo>
                      <a:cubicBezTo>
                        <a:pt x="52" y="8"/>
                        <a:pt x="45" y="13"/>
                        <a:pt x="39" y="19"/>
                      </a:cubicBezTo>
                      <a:cubicBezTo>
                        <a:pt x="33" y="25"/>
                        <a:pt x="27" y="32"/>
                        <a:pt x="23" y="40"/>
                      </a:cubicBezTo>
                      <a:cubicBezTo>
                        <a:pt x="18" y="48"/>
                        <a:pt x="14" y="57"/>
                        <a:pt x="11" y="65"/>
                      </a:cubicBezTo>
                      <a:cubicBezTo>
                        <a:pt x="9" y="74"/>
                        <a:pt x="6" y="83"/>
                        <a:pt x="5" y="94"/>
                      </a:cubicBezTo>
                      <a:cubicBezTo>
                        <a:pt x="3" y="104"/>
                        <a:pt x="2" y="113"/>
                        <a:pt x="1" y="122"/>
                      </a:cubicBezTo>
                      <a:cubicBezTo>
                        <a:pt x="0" y="131"/>
                        <a:pt x="0" y="140"/>
                        <a:pt x="0" y="149"/>
                      </a:cubicBezTo>
                      <a:cubicBezTo>
                        <a:pt x="0" y="170"/>
                        <a:pt x="6" y="186"/>
                        <a:pt x="19" y="198"/>
                      </a:cubicBezTo>
                      <a:cubicBezTo>
                        <a:pt x="32" y="210"/>
                        <a:pt x="49" y="216"/>
                        <a:pt x="70" y="216"/>
                      </a:cubicBezTo>
                      <a:cubicBezTo>
                        <a:pt x="297" y="216"/>
                        <a:pt x="297" y="216"/>
                        <a:pt x="297" y="216"/>
                      </a:cubicBezTo>
                      <a:cubicBezTo>
                        <a:pt x="319" y="216"/>
                        <a:pt x="335" y="210"/>
                        <a:pt x="348" y="198"/>
                      </a:cubicBezTo>
                      <a:cubicBezTo>
                        <a:pt x="361" y="186"/>
                        <a:pt x="367" y="170"/>
                        <a:pt x="367" y="149"/>
                      </a:cubicBezTo>
                      <a:cubicBezTo>
                        <a:pt x="367" y="140"/>
                        <a:pt x="367" y="131"/>
                        <a:pt x="366" y="122"/>
                      </a:cubicBezTo>
                      <a:close/>
                      <a:moveTo>
                        <a:pt x="366" y="122"/>
                      </a:moveTo>
                      <a:cubicBezTo>
                        <a:pt x="366" y="122"/>
                        <a:pt x="366" y="122"/>
                        <a:pt x="366" y="122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82852" tIns="91426" rIns="182852" bIns="91426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828617"/>
                  <a:endParaRPr lang="ja-JP" altLang="en-US" sz="7199" dirty="0">
                    <a:solidFill>
                      <a:srgbClr val="333333"/>
                    </a:solidFill>
                  </a:endParaRPr>
                </a:p>
              </p:txBody>
            </p:sp>
          </p:grpSp>
        </p:grpSp>
      </p:grpSp>
      <p:grpSp>
        <p:nvGrpSpPr>
          <p:cNvPr id="24" name="グループ化 23"/>
          <p:cNvGrpSpPr>
            <a:grpSpLocks noChangeAspect="1"/>
          </p:cNvGrpSpPr>
          <p:nvPr/>
        </p:nvGrpSpPr>
        <p:grpSpPr>
          <a:xfrm>
            <a:off x="4572000" y="3263706"/>
            <a:ext cx="3224499" cy="1587889"/>
            <a:chOff x="1246527" y="3598135"/>
            <a:chExt cx="3224499" cy="1443535"/>
          </a:xfrm>
        </p:grpSpPr>
        <p:sp>
          <p:nvSpPr>
            <p:cNvPr id="21" name="円形吹き出し 20"/>
            <p:cNvSpPr/>
            <p:nvPr/>
          </p:nvSpPr>
          <p:spPr>
            <a:xfrm>
              <a:off x="1246527" y="3598135"/>
              <a:ext cx="3224499" cy="1443535"/>
            </a:xfrm>
            <a:custGeom>
              <a:avLst/>
              <a:gdLst>
                <a:gd name="connsiteX0" fmla="*/ 564047 w 3222757"/>
                <a:gd name="connsiteY0" fmla="*/ 1081435 h 926275"/>
                <a:gd name="connsiteX1" fmla="*/ 642541 w 3222757"/>
                <a:gd name="connsiteY1" fmla="*/ 833213 h 926275"/>
                <a:gd name="connsiteX2" fmla="*/ 1373420 w 3222757"/>
                <a:gd name="connsiteY2" fmla="*/ 5077 h 926275"/>
                <a:gd name="connsiteX3" fmla="*/ 2243106 w 3222757"/>
                <a:gd name="connsiteY3" fmla="*/ 37074 h 926275"/>
                <a:gd name="connsiteX4" fmla="*/ 1996083 w 3222757"/>
                <a:gd name="connsiteY4" fmla="*/ 912882 h 926275"/>
                <a:gd name="connsiteX5" fmla="*/ 1195428 w 3222757"/>
                <a:gd name="connsiteY5" fmla="*/ 910579 h 926275"/>
                <a:gd name="connsiteX6" fmla="*/ 564047 w 3222757"/>
                <a:gd name="connsiteY6" fmla="*/ 1081435 h 926275"/>
                <a:gd name="connsiteX0" fmla="*/ 565557 w 3224499"/>
                <a:gd name="connsiteY0" fmla="*/ 1081435 h 1081435"/>
                <a:gd name="connsiteX1" fmla="*/ 644051 w 3224499"/>
                <a:gd name="connsiteY1" fmla="*/ 833213 h 1081435"/>
                <a:gd name="connsiteX2" fmla="*/ 1374930 w 3224499"/>
                <a:gd name="connsiteY2" fmla="*/ 5077 h 1081435"/>
                <a:gd name="connsiteX3" fmla="*/ 2244616 w 3224499"/>
                <a:gd name="connsiteY3" fmla="*/ 37074 h 1081435"/>
                <a:gd name="connsiteX4" fmla="*/ 1997593 w 3224499"/>
                <a:gd name="connsiteY4" fmla="*/ 912882 h 1081435"/>
                <a:gd name="connsiteX5" fmla="*/ 944525 w 3224499"/>
                <a:gd name="connsiteY5" fmla="*/ 901054 h 1081435"/>
                <a:gd name="connsiteX6" fmla="*/ 565557 w 3224499"/>
                <a:gd name="connsiteY6" fmla="*/ 1081435 h 1081435"/>
                <a:gd name="connsiteX0" fmla="*/ 924332 w 3224499"/>
                <a:gd name="connsiteY0" fmla="*/ 1120057 h 1120057"/>
                <a:gd name="connsiteX1" fmla="*/ 644051 w 3224499"/>
                <a:gd name="connsiteY1" fmla="*/ 833213 h 1120057"/>
                <a:gd name="connsiteX2" fmla="*/ 1374930 w 3224499"/>
                <a:gd name="connsiteY2" fmla="*/ 5077 h 1120057"/>
                <a:gd name="connsiteX3" fmla="*/ 2244616 w 3224499"/>
                <a:gd name="connsiteY3" fmla="*/ 37074 h 1120057"/>
                <a:gd name="connsiteX4" fmla="*/ 1997593 w 3224499"/>
                <a:gd name="connsiteY4" fmla="*/ 912882 h 1120057"/>
                <a:gd name="connsiteX5" fmla="*/ 944525 w 3224499"/>
                <a:gd name="connsiteY5" fmla="*/ 901054 h 1120057"/>
                <a:gd name="connsiteX6" fmla="*/ 924332 w 3224499"/>
                <a:gd name="connsiteY6" fmla="*/ 1120057 h 1120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24499" h="1120057">
                  <a:moveTo>
                    <a:pt x="924332" y="1120057"/>
                  </a:moveTo>
                  <a:lnTo>
                    <a:pt x="644051" y="833213"/>
                  </a:lnTo>
                  <a:cubicBezTo>
                    <a:pt x="-498185" y="586188"/>
                    <a:pt x="-38868" y="65749"/>
                    <a:pt x="1374930" y="5077"/>
                  </a:cubicBezTo>
                  <a:cubicBezTo>
                    <a:pt x="1669543" y="-7566"/>
                    <a:pt x="1970583" y="3510"/>
                    <a:pt x="2244616" y="37074"/>
                  </a:cubicBezTo>
                  <a:cubicBezTo>
                    <a:pt x="3668891" y="211526"/>
                    <a:pt x="3501036" y="806646"/>
                    <a:pt x="1997593" y="912882"/>
                  </a:cubicBezTo>
                  <a:cubicBezTo>
                    <a:pt x="1734284" y="931488"/>
                    <a:pt x="1206485" y="921171"/>
                    <a:pt x="944525" y="901054"/>
                  </a:cubicBezTo>
                  <a:lnTo>
                    <a:pt x="924332" y="1120057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23" name="テキスト ボックス 22"/>
            <p:cNvSpPr txBox="1"/>
            <p:nvPr/>
          </p:nvSpPr>
          <p:spPr>
            <a:xfrm>
              <a:off x="1294028" y="3952175"/>
              <a:ext cx="3129496" cy="4756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覚えておきます！</a:t>
              </a:r>
              <a:endParaRPr lang="ja-JP" altLang="en-US" sz="2800" dirty="0"/>
            </a:p>
          </p:txBody>
        </p:sp>
      </p:grpSp>
      <p:sp>
        <p:nvSpPr>
          <p:cNvPr id="25" name="テキスト ボックス 24"/>
          <p:cNvSpPr txBox="1"/>
          <p:nvPr/>
        </p:nvSpPr>
        <p:spPr>
          <a:xfrm>
            <a:off x="2024533" y="5959411"/>
            <a:ext cx="1414493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/>
              <a:t>4</a:t>
            </a:r>
            <a:r>
              <a:rPr kumimoji="1" lang="ja-JP" altLang="en-US" sz="2800" dirty="0" smtClean="0"/>
              <a:t>回生</a:t>
            </a:r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6781800" y="5959411"/>
            <a:ext cx="1414493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 smtClean="0"/>
              <a:t>1</a:t>
            </a:r>
            <a:r>
              <a:rPr kumimoji="1" lang="ja-JP" altLang="en-US" sz="2800" dirty="0" smtClean="0"/>
              <a:t>回生</a:t>
            </a:r>
          </a:p>
        </p:txBody>
      </p:sp>
      <p:grpSp>
        <p:nvGrpSpPr>
          <p:cNvPr id="30" name="グループ化 29"/>
          <p:cNvGrpSpPr>
            <a:grpSpLocks noChangeAspect="1"/>
          </p:cNvGrpSpPr>
          <p:nvPr/>
        </p:nvGrpSpPr>
        <p:grpSpPr>
          <a:xfrm>
            <a:off x="637367" y="3231206"/>
            <a:ext cx="3224499" cy="1587889"/>
            <a:chOff x="1246527" y="3598135"/>
            <a:chExt cx="3224499" cy="1443535"/>
          </a:xfrm>
        </p:grpSpPr>
        <p:sp>
          <p:nvSpPr>
            <p:cNvPr id="31" name="円形吹き出し 20"/>
            <p:cNvSpPr/>
            <p:nvPr/>
          </p:nvSpPr>
          <p:spPr>
            <a:xfrm>
              <a:off x="1246527" y="3598135"/>
              <a:ext cx="3224499" cy="1443535"/>
            </a:xfrm>
            <a:custGeom>
              <a:avLst/>
              <a:gdLst>
                <a:gd name="connsiteX0" fmla="*/ 564047 w 3222757"/>
                <a:gd name="connsiteY0" fmla="*/ 1081435 h 926275"/>
                <a:gd name="connsiteX1" fmla="*/ 642541 w 3222757"/>
                <a:gd name="connsiteY1" fmla="*/ 833213 h 926275"/>
                <a:gd name="connsiteX2" fmla="*/ 1373420 w 3222757"/>
                <a:gd name="connsiteY2" fmla="*/ 5077 h 926275"/>
                <a:gd name="connsiteX3" fmla="*/ 2243106 w 3222757"/>
                <a:gd name="connsiteY3" fmla="*/ 37074 h 926275"/>
                <a:gd name="connsiteX4" fmla="*/ 1996083 w 3222757"/>
                <a:gd name="connsiteY4" fmla="*/ 912882 h 926275"/>
                <a:gd name="connsiteX5" fmla="*/ 1195428 w 3222757"/>
                <a:gd name="connsiteY5" fmla="*/ 910579 h 926275"/>
                <a:gd name="connsiteX6" fmla="*/ 564047 w 3222757"/>
                <a:gd name="connsiteY6" fmla="*/ 1081435 h 926275"/>
                <a:gd name="connsiteX0" fmla="*/ 565557 w 3224499"/>
                <a:gd name="connsiteY0" fmla="*/ 1081435 h 1081435"/>
                <a:gd name="connsiteX1" fmla="*/ 644051 w 3224499"/>
                <a:gd name="connsiteY1" fmla="*/ 833213 h 1081435"/>
                <a:gd name="connsiteX2" fmla="*/ 1374930 w 3224499"/>
                <a:gd name="connsiteY2" fmla="*/ 5077 h 1081435"/>
                <a:gd name="connsiteX3" fmla="*/ 2244616 w 3224499"/>
                <a:gd name="connsiteY3" fmla="*/ 37074 h 1081435"/>
                <a:gd name="connsiteX4" fmla="*/ 1997593 w 3224499"/>
                <a:gd name="connsiteY4" fmla="*/ 912882 h 1081435"/>
                <a:gd name="connsiteX5" fmla="*/ 944525 w 3224499"/>
                <a:gd name="connsiteY5" fmla="*/ 901054 h 1081435"/>
                <a:gd name="connsiteX6" fmla="*/ 565557 w 3224499"/>
                <a:gd name="connsiteY6" fmla="*/ 1081435 h 1081435"/>
                <a:gd name="connsiteX0" fmla="*/ 924332 w 3224499"/>
                <a:gd name="connsiteY0" fmla="*/ 1120057 h 1120057"/>
                <a:gd name="connsiteX1" fmla="*/ 644051 w 3224499"/>
                <a:gd name="connsiteY1" fmla="*/ 833213 h 1120057"/>
                <a:gd name="connsiteX2" fmla="*/ 1374930 w 3224499"/>
                <a:gd name="connsiteY2" fmla="*/ 5077 h 1120057"/>
                <a:gd name="connsiteX3" fmla="*/ 2244616 w 3224499"/>
                <a:gd name="connsiteY3" fmla="*/ 37074 h 1120057"/>
                <a:gd name="connsiteX4" fmla="*/ 1997593 w 3224499"/>
                <a:gd name="connsiteY4" fmla="*/ 912882 h 1120057"/>
                <a:gd name="connsiteX5" fmla="*/ 944525 w 3224499"/>
                <a:gd name="connsiteY5" fmla="*/ 901054 h 1120057"/>
                <a:gd name="connsiteX6" fmla="*/ 924332 w 3224499"/>
                <a:gd name="connsiteY6" fmla="*/ 1120057 h 1120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24499" h="1120057">
                  <a:moveTo>
                    <a:pt x="924332" y="1120057"/>
                  </a:moveTo>
                  <a:lnTo>
                    <a:pt x="644051" y="833213"/>
                  </a:lnTo>
                  <a:cubicBezTo>
                    <a:pt x="-498185" y="586188"/>
                    <a:pt x="-38868" y="65749"/>
                    <a:pt x="1374930" y="5077"/>
                  </a:cubicBezTo>
                  <a:cubicBezTo>
                    <a:pt x="1669543" y="-7566"/>
                    <a:pt x="1970583" y="3510"/>
                    <a:pt x="2244616" y="37074"/>
                  </a:cubicBezTo>
                  <a:cubicBezTo>
                    <a:pt x="3668891" y="211526"/>
                    <a:pt x="3501036" y="806646"/>
                    <a:pt x="1997593" y="912882"/>
                  </a:cubicBezTo>
                  <a:cubicBezTo>
                    <a:pt x="1734284" y="931488"/>
                    <a:pt x="1206485" y="921171"/>
                    <a:pt x="944525" y="901054"/>
                  </a:cubicBezTo>
                  <a:lnTo>
                    <a:pt x="924332" y="1120057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32" name="テキスト ボックス 31"/>
            <p:cNvSpPr txBox="1"/>
            <p:nvPr/>
          </p:nvSpPr>
          <p:spPr>
            <a:xfrm>
              <a:off x="1294028" y="3718923"/>
              <a:ext cx="3129496" cy="86737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/>
                <a:t>〇〇って</a:t>
              </a:r>
              <a:r>
                <a:rPr lang="ja-JP" altLang="en-US" sz="2800" dirty="0" smtClean="0"/>
                <a:t>科目が</a:t>
              </a:r>
              <a:r>
                <a:rPr lang="en-US" altLang="ja-JP" sz="2800" dirty="0" smtClean="0"/>
                <a:t/>
              </a:r>
              <a:br>
                <a:rPr lang="en-US" altLang="ja-JP" sz="2800" dirty="0" smtClean="0"/>
              </a:br>
              <a:r>
                <a:rPr lang="ja-JP" altLang="en-US" sz="2800" dirty="0" smtClean="0"/>
                <a:t>楽に単位取れるよ</a:t>
              </a:r>
              <a:endParaRPr lang="ja-JP" alt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70104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マルチタスクの特徴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マルチタスクで問題を解く</a:t>
            </a:r>
            <a:r>
              <a:rPr lang="ja-JP" altLang="en-US" dirty="0" smtClean="0"/>
              <a:t>際，タスク間で適切に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b="1" dirty="0" smtClean="0">
                <a:solidFill>
                  <a:schemeClr val="accent1"/>
                </a:solidFill>
              </a:rPr>
              <a:t>解の情報共有</a:t>
            </a:r>
            <a:r>
              <a:rPr lang="ja-JP" altLang="en-US" dirty="0" smtClean="0"/>
              <a:t>を行うことが重要になる．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  <p:grpSp>
        <p:nvGrpSpPr>
          <p:cNvPr id="5" name="グループ化 4"/>
          <p:cNvGrpSpPr/>
          <p:nvPr/>
        </p:nvGrpSpPr>
        <p:grpSpPr>
          <a:xfrm>
            <a:off x="1194864" y="4819095"/>
            <a:ext cx="6817856" cy="1403577"/>
            <a:chOff x="1349243" y="4617213"/>
            <a:chExt cx="6817856" cy="1403577"/>
          </a:xfrm>
        </p:grpSpPr>
        <p:grpSp>
          <p:nvGrpSpPr>
            <p:cNvPr id="16" name="グループ化 15"/>
            <p:cNvGrpSpPr/>
            <p:nvPr/>
          </p:nvGrpSpPr>
          <p:grpSpPr>
            <a:xfrm>
              <a:off x="1349243" y="4617213"/>
              <a:ext cx="2217095" cy="1403577"/>
              <a:chOff x="1748349" y="4617213"/>
              <a:chExt cx="2217095" cy="1403577"/>
            </a:xfrm>
          </p:grpSpPr>
          <p:sp>
            <p:nvSpPr>
              <p:cNvPr id="17" name="Freeform 6"/>
              <p:cNvSpPr>
                <a:spLocks noChangeAspect="1" noEditPoints="1"/>
              </p:cNvSpPr>
              <p:nvPr/>
            </p:nvSpPr>
            <p:spPr bwMode="auto">
              <a:xfrm>
                <a:off x="2819604" y="4617213"/>
                <a:ext cx="1145840" cy="804006"/>
              </a:xfrm>
              <a:custGeom>
                <a:avLst/>
                <a:gdLst>
                  <a:gd name="T0" fmla="*/ 251 w 1076"/>
                  <a:gd name="T1" fmla="*/ 683 h 755"/>
                  <a:gd name="T2" fmla="*/ 824 w 1076"/>
                  <a:gd name="T3" fmla="*/ 575 h 755"/>
                  <a:gd name="T4" fmla="*/ 1040 w 1076"/>
                  <a:gd name="T5" fmla="*/ 575 h 755"/>
                  <a:gd name="T6" fmla="*/ 575 w 1076"/>
                  <a:gd name="T7" fmla="*/ 719 h 755"/>
                  <a:gd name="T8" fmla="*/ 573 w 1076"/>
                  <a:gd name="T9" fmla="*/ 575 h 755"/>
                  <a:gd name="T10" fmla="*/ 537 w 1076"/>
                  <a:gd name="T11" fmla="*/ 719 h 755"/>
                  <a:gd name="T12" fmla="*/ 36 w 1076"/>
                  <a:gd name="T13" fmla="*/ 575 h 755"/>
                  <a:gd name="T14" fmla="*/ 287 w 1076"/>
                  <a:gd name="T15" fmla="*/ 575 h 755"/>
                  <a:gd name="T16" fmla="*/ 251 w 1076"/>
                  <a:gd name="T17" fmla="*/ 431 h 755"/>
                  <a:gd name="T18" fmla="*/ 72 w 1076"/>
                  <a:gd name="T19" fmla="*/ 431 h 755"/>
                  <a:gd name="T20" fmla="*/ 1040 w 1076"/>
                  <a:gd name="T21" fmla="*/ 539 h 755"/>
                  <a:gd name="T22" fmla="*/ 573 w 1076"/>
                  <a:gd name="T23" fmla="*/ 395 h 755"/>
                  <a:gd name="T24" fmla="*/ 789 w 1076"/>
                  <a:gd name="T25" fmla="*/ 395 h 755"/>
                  <a:gd name="T26" fmla="*/ 323 w 1076"/>
                  <a:gd name="T27" fmla="*/ 539 h 755"/>
                  <a:gd name="T28" fmla="*/ 323 w 1076"/>
                  <a:gd name="T29" fmla="*/ 395 h 755"/>
                  <a:gd name="T30" fmla="*/ 287 w 1076"/>
                  <a:gd name="T31" fmla="*/ 539 h 755"/>
                  <a:gd name="T32" fmla="*/ 72 w 1076"/>
                  <a:gd name="T33" fmla="*/ 252 h 755"/>
                  <a:gd name="T34" fmla="*/ 72 w 1076"/>
                  <a:gd name="T35" fmla="*/ 323 h 755"/>
                  <a:gd name="T36" fmla="*/ 824 w 1076"/>
                  <a:gd name="T37" fmla="*/ 359 h 755"/>
                  <a:gd name="T38" fmla="*/ 824 w 1076"/>
                  <a:gd name="T39" fmla="*/ 216 h 755"/>
                  <a:gd name="T40" fmla="*/ 789 w 1076"/>
                  <a:gd name="T41" fmla="*/ 359 h 755"/>
                  <a:gd name="T42" fmla="*/ 323 w 1076"/>
                  <a:gd name="T43" fmla="*/ 216 h 755"/>
                  <a:gd name="T44" fmla="*/ 537 w 1076"/>
                  <a:gd name="T45" fmla="*/ 216 h 755"/>
                  <a:gd name="T46" fmla="*/ 36 w 1076"/>
                  <a:gd name="T47" fmla="*/ 359 h 755"/>
                  <a:gd name="T48" fmla="*/ 36 w 1076"/>
                  <a:gd name="T49" fmla="*/ 216 h 755"/>
                  <a:gd name="T50" fmla="*/ 1004 w 1076"/>
                  <a:gd name="T51" fmla="*/ 144 h 755"/>
                  <a:gd name="T52" fmla="*/ 609 w 1076"/>
                  <a:gd name="T53" fmla="*/ 72 h 755"/>
                  <a:gd name="T54" fmla="*/ 609 w 1076"/>
                  <a:gd name="T55" fmla="*/ 144 h 755"/>
                  <a:gd name="T56" fmla="*/ 503 w 1076"/>
                  <a:gd name="T57" fmla="*/ 72 h 755"/>
                  <a:gd name="T58" fmla="*/ 359 w 1076"/>
                  <a:gd name="T59" fmla="*/ 72 h 755"/>
                  <a:gd name="T60" fmla="*/ 251 w 1076"/>
                  <a:gd name="T61" fmla="*/ 144 h 755"/>
                  <a:gd name="T62" fmla="*/ 824 w 1076"/>
                  <a:gd name="T63" fmla="*/ 36 h 755"/>
                  <a:gd name="T64" fmla="*/ 1040 w 1076"/>
                  <a:gd name="T65" fmla="*/ 36 h 755"/>
                  <a:gd name="T66" fmla="*/ 573 w 1076"/>
                  <a:gd name="T67" fmla="*/ 180 h 755"/>
                  <a:gd name="T68" fmla="*/ 573 w 1076"/>
                  <a:gd name="T69" fmla="*/ 36 h 755"/>
                  <a:gd name="T70" fmla="*/ 537 w 1076"/>
                  <a:gd name="T71" fmla="*/ 180 h 755"/>
                  <a:gd name="T72" fmla="*/ 36 w 1076"/>
                  <a:gd name="T73" fmla="*/ 36 h 755"/>
                  <a:gd name="T74" fmla="*/ 287 w 1076"/>
                  <a:gd name="T75" fmla="*/ 36 h 755"/>
                  <a:gd name="T76" fmla="*/ 1040 w 1076"/>
                  <a:gd name="T77" fmla="*/ 0 h 755"/>
                  <a:gd name="T78" fmla="*/ 1076 w 1076"/>
                  <a:gd name="T79" fmla="*/ 36 h 755"/>
                  <a:gd name="T80" fmla="*/ 1074 w 1076"/>
                  <a:gd name="T81" fmla="*/ 728 h 755"/>
                  <a:gd name="T82" fmla="*/ 1055 w 1076"/>
                  <a:gd name="T83" fmla="*/ 751 h 755"/>
                  <a:gd name="T84" fmla="*/ 17 w 1076"/>
                  <a:gd name="T85" fmla="*/ 749 h 755"/>
                  <a:gd name="T86" fmla="*/ 0 w 1076"/>
                  <a:gd name="T87" fmla="*/ 36 h 755"/>
                  <a:gd name="T88" fmla="*/ 36 w 1076"/>
                  <a:gd name="T89" fmla="*/ 0 h 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076" h="755">
                    <a:moveTo>
                      <a:pt x="72" y="611"/>
                    </a:moveTo>
                    <a:lnTo>
                      <a:pt x="251" y="611"/>
                    </a:lnTo>
                    <a:lnTo>
                      <a:pt x="251" y="683"/>
                    </a:lnTo>
                    <a:lnTo>
                      <a:pt x="72" y="683"/>
                    </a:lnTo>
                    <a:lnTo>
                      <a:pt x="72" y="611"/>
                    </a:lnTo>
                    <a:close/>
                    <a:moveTo>
                      <a:pt x="824" y="575"/>
                    </a:moveTo>
                    <a:lnTo>
                      <a:pt x="824" y="719"/>
                    </a:lnTo>
                    <a:lnTo>
                      <a:pt x="1040" y="719"/>
                    </a:lnTo>
                    <a:lnTo>
                      <a:pt x="1040" y="575"/>
                    </a:lnTo>
                    <a:lnTo>
                      <a:pt x="824" y="575"/>
                    </a:lnTo>
                    <a:close/>
                    <a:moveTo>
                      <a:pt x="573" y="575"/>
                    </a:moveTo>
                    <a:lnTo>
                      <a:pt x="575" y="719"/>
                    </a:lnTo>
                    <a:lnTo>
                      <a:pt x="789" y="719"/>
                    </a:lnTo>
                    <a:lnTo>
                      <a:pt x="789" y="575"/>
                    </a:lnTo>
                    <a:lnTo>
                      <a:pt x="573" y="575"/>
                    </a:lnTo>
                    <a:close/>
                    <a:moveTo>
                      <a:pt x="323" y="575"/>
                    </a:moveTo>
                    <a:lnTo>
                      <a:pt x="323" y="719"/>
                    </a:lnTo>
                    <a:lnTo>
                      <a:pt x="537" y="719"/>
                    </a:lnTo>
                    <a:lnTo>
                      <a:pt x="537" y="575"/>
                    </a:lnTo>
                    <a:lnTo>
                      <a:pt x="323" y="575"/>
                    </a:lnTo>
                    <a:close/>
                    <a:moveTo>
                      <a:pt x="36" y="575"/>
                    </a:moveTo>
                    <a:lnTo>
                      <a:pt x="36" y="719"/>
                    </a:lnTo>
                    <a:lnTo>
                      <a:pt x="287" y="719"/>
                    </a:lnTo>
                    <a:lnTo>
                      <a:pt x="287" y="575"/>
                    </a:lnTo>
                    <a:lnTo>
                      <a:pt x="36" y="575"/>
                    </a:lnTo>
                    <a:close/>
                    <a:moveTo>
                      <a:pt x="72" y="431"/>
                    </a:moveTo>
                    <a:lnTo>
                      <a:pt x="251" y="431"/>
                    </a:lnTo>
                    <a:lnTo>
                      <a:pt x="251" y="503"/>
                    </a:lnTo>
                    <a:lnTo>
                      <a:pt x="72" y="503"/>
                    </a:lnTo>
                    <a:lnTo>
                      <a:pt x="72" y="431"/>
                    </a:lnTo>
                    <a:close/>
                    <a:moveTo>
                      <a:pt x="824" y="395"/>
                    </a:moveTo>
                    <a:lnTo>
                      <a:pt x="824" y="539"/>
                    </a:lnTo>
                    <a:lnTo>
                      <a:pt x="1040" y="539"/>
                    </a:lnTo>
                    <a:lnTo>
                      <a:pt x="1040" y="395"/>
                    </a:lnTo>
                    <a:lnTo>
                      <a:pt x="824" y="395"/>
                    </a:lnTo>
                    <a:close/>
                    <a:moveTo>
                      <a:pt x="573" y="395"/>
                    </a:moveTo>
                    <a:lnTo>
                      <a:pt x="575" y="539"/>
                    </a:lnTo>
                    <a:lnTo>
                      <a:pt x="789" y="539"/>
                    </a:lnTo>
                    <a:lnTo>
                      <a:pt x="789" y="395"/>
                    </a:lnTo>
                    <a:lnTo>
                      <a:pt x="573" y="395"/>
                    </a:lnTo>
                    <a:close/>
                    <a:moveTo>
                      <a:pt x="323" y="395"/>
                    </a:moveTo>
                    <a:lnTo>
                      <a:pt x="323" y="539"/>
                    </a:lnTo>
                    <a:lnTo>
                      <a:pt x="537" y="539"/>
                    </a:lnTo>
                    <a:lnTo>
                      <a:pt x="537" y="395"/>
                    </a:lnTo>
                    <a:lnTo>
                      <a:pt x="323" y="395"/>
                    </a:lnTo>
                    <a:close/>
                    <a:moveTo>
                      <a:pt x="36" y="395"/>
                    </a:moveTo>
                    <a:lnTo>
                      <a:pt x="36" y="539"/>
                    </a:lnTo>
                    <a:lnTo>
                      <a:pt x="287" y="539"/>
                    </a:lnTo>
                    <a:lnTo>
                      <a:pt x="287" y="395"/>
                    </a:lnTo>
                    <a:lnTo>
                      <a:pt x="36" y="395"/>
                    </a:lnTo>
                    <a:close/>
                    <a:moveTo>
                      <a:pt x="72" y="252"/>
                    </a:moveTo>
                    <a:lnTo>
                      <a:pt x="251" y="252"/>
                    </a:lnTo>
                    <a:lnTo>
                      <a:pt x="251" y="323"/>
                    </a:lnTo>
                    <a:lnTo>
                      <a:pt x="72" y="323"/>
                    </a:lnTo>
                    <a:lnTo>
                      <a:pt x="72" y="252"/>
                    </a:lnTo>
                    <a:close/>
                    <a:moveTo>
                      <a:pt x="824" y="216"/>
                    </a:moveTo>
                    <a:lnTo>
                      <a:pt x="824" y="359"/>
                    </a:lnTo>
                    <a:lnTo>
                      <a:pt x="1040" y="359"/>
                    </a:lnTo>
                    <a:lnTo>
                      <a:pt x="1040" y="216"/>
                    </a:lnTo>
                    <a:lnTo>
                      <a:pt x="824" y="216"/>
                    </a:lnTo>
                    <a:close/>
                    <a:moveTo>
                      <a:pt x="573" y="216"/>
                    </a:moveTo>
                    <a:lnTo>
                      <a:pt x="573" y="359"/>
                    </a:lnTo>
                    <a:lnTo>
                      <a:pt x="789" y="359"/>
                    </a:lnTo>
                    <a:lnTo>
                      <a:pt x="789" y="216"/>
                    </a:lnTo>
                    <a:lnTo>
                      <a:pt x="573" y="216"/>
                    </a:lnTo>
                    <a:close/>
                    <a:moveTo>
                      <a:pt x="323" y="216"/>
                    </a:moveTo>
                    <a:lnTo>
                      <a:pt x="323" y="359"/>
                    </a:lnTo>
                    <a:lnTo>
                      <a:pt x="537" y="359"/>
                    </a:lnTo>
                    <a:lnTo>
                      <a:pt x="537" y="216"/>
                    </a:lnTo>
                    <a:lnTo>
                      <a:pt x="323" y="216"/>
                    </a:lnTo>
                    <a:close/>
                    <a:moveTo>
                      <a:pt x="36" y="216"/>
                    </a:moveTo>
                    <a:lnTo>
                      <a:pt x="36" y="359"/>
                    </a:lnTo>
                    <a:lnTo>
                      <a:pt x="287" y="359"/>
                    </a:lnTo>
                    <a:lnTo>
                      <a:pt x="287" y="216"/>
                    </a:lnTo>
                    <a:lnTo>
                      <a:pt x="36" y="216"/>
                    </a:lnTo>
                    <a:close/>
                    <a:moveTo>
                      <a:pt x="860" y="72"/>
                    </a:moveTo>
                    <a:lnTo>
                      <a:pt x="1004" y="72"/>
                    </a:lnTo>
                    <a:lnTo>
                      <a:pt x="1004" y="144"/>
                    </a:lnTo>
                    <a:lnTo>
                      <a:pt x="860" y="144"/>
                    </a:lnTo>
                    <a:lnTo>
                      <a:pt x="860" y="72"/>
                    </a:lnTo>
                    <a:close/>
                    <a:moveTo>
                      <a:pt x="609" y="72"/>
                    </a:moveTo>
                    <a:lnTo>
                      <a:pt x="753" y="72"/>
                    </a:lnTo>
                    <a:lnTo>
                      <a:pt x="753" y="144"/>
                    </a:lnTo>
                    <a:lnTo>
                      <a:pt x="609" y="144"/>
                    </a:lnTo>
                    <a:lnTo>
                      <a:pt x="609" y="72"/>
                    </a:lnTo>
                    <a:close/>
                    <a:moveTo>
                      <a:pt x="359" y="72"/>
                    </a:moveTo>
                    <a:lnTo>
                      <a:pt x="503" y="72"/>
                    </a:lnTo>
                    <a:lnTo>
                      <a:pt x="503" y="144"/>
                    </a:lnTo>
                    <a:lnTo>
                      <a:pt x="359" y="144"/>
                    </a:lnTo>
                    <a:lnTo>
                      <a:pt x="359" y="72"/>
                    </a:lnTo>
                    <a:close/>
                    <a:moveTo>
                      <a:pt x="72" y="72"/>
                    </a:moveTo>
                    <a:lnTo>
                      <a:pt x="251" y="72"/>
                    </a:lnTo>
                    <a:lnTo>
                      <a:pt x="251" y="144"/>
                    </a:lnTo>
                    <a:lnTo>
                      <a:pt x="72" y="144"/>
                    </a:lnTo>
                    <a:lnTo>
                      <a:pt x="72" y="72"/>
                    </a:lnTo>
                    <a:close/>
                    <a:moveTo>
                      <a:pt x="824" y="36"/>
                    </a:moveTo>
                    <a:lnTo>
                      <a:pt x="824" y="180"/>
                    </a:lnTo>
                    <a:lnTo>
                      <a:pt x="1040" y="180"/>
                    </a:lnTo>
                    <a:lnTo>
                      <a:pt x="1040" y="36"/>
                    </a:lnTo>
                    <a:lnTo>
                      <a:pt x="824" y="36"/>
                    </a:lnTo>
                    <a:close/>
                    <a:moveTo>
                      <a:pt x="573" y="36"/>
                    </a:moveTo>
                    <a:lnTo>
                      <a:pt x="573" y="180"/>
                    </a:lnTo>
                    <a:lnTo>
                      <a:pt x="789" y="180"/>
                    </a:lnTo>
                    <a:lnTo>
                      <a:pt x="789" y="36"/>
                    </a:lnTo>
                    <a:lnTo>
                      <a:pt x="573" y="36"/>
                    </a:lnTo>
                    <a:close/>
                    <a:moveTo>
                      <a:pt x="323" y="36"/>
                    </a:moveTo>
                    <a:lnTo>
                      <a:pt x="323" y="180"/>
                    </a:lnTo>
                    <a:lnTo>
                      <a:pt x="537" y="180"/>
                    </a:lnTo>
                    <a:lnTo>
                      <a:pt x="537" y="36"/>
                    </a:lnTo>
                    <a:lnTo>
                      <a:pt x="323" y="36"/>
                    </a:lnTo>
                    <a:close/>
                    <a:moveTo>
                      <a:pt x="36" y="36"/>
                    </a:moveTo>
                    <a:lnTo>
                      <a:pt x="36" y="180"/>
                    </a:lnTo>
                    <a:lnTo>
                      <a:pt x="287" y="180"/>
                    </a:lnTo>
                    <a:lnTo>
                      <a:pt x="287" y="36"/>
                    </a:lnTo>
                    <a:lnTo>
                      <a:pt x="36" y="36"/>
                    </a:lnTo>
                    <a:close/>
                    <a:moveTo>
                      <a:pt x="36" y="0"/>
                    </a:moveTo>
                    <a:lnTo>
                      <a:pt x="1040" y="0"/>
                    </a:lnTo>
                    <a:lnTo>
                      <a:pt x="1059" y="6"/>
                    </a:lnTo>
                    <a:lnTo>
                      <a:pt x="1070" y="19"/>
                    </a:lnTo>
                    <a:lnTo>
                      <a:pt x="1076" y="36"/>
                    </a:lnTo>
                    <a:lnTo>
                      <a:pt x="1076" y="719"/>
                    </a:lnTo>
                    <a:lnTo>
                      <a:pt x="1076" y="721"/>
                    </a:lnTo>
                    <a:lnTo>
                      <a:pt x="1074" y="728"/>
                    </a:lnTo>
                    <a:lnTo>
                      <a:pt x="1072" y="736"/>
                    </a:lnTo>
                    <a:lnTo>
                      <a:pt x="1066" y="745"/>
                    </a:lnTo>
                    <a:lnTo>
                      <a:pt x="1055" y="751"/>
                    </a:lnTo>
                    <a:lnTo>
                      <a:pt x="1040" y="755"/>
                    </a:lnTo>
                    <a:lnTo>
                      <a:pt x="36" y="755"/>
                    </a:lnTo>
                    <a:lnTo>
                      <a:pt x="17" y="749"/>
                    </a:lnTo>
                    <a:lnTo>
                      <a:pt x="6" y="736"/>
                    </a:lnTo>
                    <a:lnTo>
                      <a:pt x="0" y="719"/>
                    </a:lnTo>
                    <a:lnTo>
                      <a:pt x="0" y="36"/>
                    </a:lnTo>
                    <a:lnTo>
                      <a:pt x="6" y="19"/>
                    </a:lnTo>
                    <a:lnTo>
                      <a:pt x="17" y="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tx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defTabSz="1371600"/>
                <a:endParaRPr lang="ja-JP" altLang="en-US" sz="2700" dirty="0">
                  <a:solidFill>
                    <a:srgbClr val="4D4D4D"/>
                  </a:solidFill>
                </a:endParaRPr>
              </a:p>
            </p:txBody>
          </p:sp>
          <p:grpSp>
            <p:nvGrpSpPr>
              <p:cNvPr id="18" name="グループ化 17"/>
              <p:cNvGrpSpPr/>
              <p:nvPr/>
            </p:nvGrpSpPr>
            <p:grpSpPr>
              <a:xfrm>
                <a:off x="1748349" y="5116639"/>
                <a:ext cx="829669" cy="904151"/>
                <a:chOff x="6399213" y="3455988"/>
                <a:chExt cx="636588" cy="693737"/>
              </a:xfrm>
            </p:grpSpPr>
            <p:sp>
              <p:nvSpPr>
                <p:cNvPr id="19" name="Freeform 85"/>
                <p:cNvSpPr>
                  <a:spLocks noEditPoints="1"/>
                </p:cNvSpPr>
                <p:nvPr/>
              </p:nvSpPr>
              <p:spPr bwMode="auto">
                <a:xfrm>
                  <a:off x="6543675" y="3455988"/>
                  <a:ext cx="347663" cy="347663"/>
                </a:xfrm>
                <a:custGeom>
                  <a:avLst/>
                  <a:gdLst>
                    <a:gd name="T0" fmla="*/ 101 w 201"/>
                    <a:gd name="T1" fmla="*/ 200 h 200"/>
                    <a:gd name="T2" fmla="*/ 171 w 201"/>
                    <a:gd name="T3" fmla="*/ 171 h 200"/>
                    <a:gd name="T4" fmla="*/ 201 w 201"/>
                    <a:gd name="T5" fmla="*/ 100 h 200"/>
                    <a:gd name="T6" fmla="*/ 171 w 201"/>
                    <a:gd name="T7" fmla="*/ 29 h 200"/>
                    <a:gd name="T8" fmla="*/ 101 w 201"/>
                    <a:gd name="T9" fmla="*/ 0 h 200"/>
                    <a:gd name="T10" fmla="*/ 30 w 201"/>
                    <a:gd name="T11" fmla="*/ 29 h 200"/>
                    <a:gd name="T12" fmla="*/ 0 w 201"/>
                    <a:gd name="T13" fmla="*/ 100 h 200"/>
                    <a:gd name="T14" fmla="*/ 30 w 201"/>
                    <a:gd name="T15" fmla="*/ 171 h 200"/>
                    <a:gd name="T16" fmla="*/ 101 w 201"/>
                    <a:gd name="T17" fmla="*/ 200 h 200"/>
                    <a:gd name="T18" fmla="*/ 101 w 201"/>
                    <a:gd name="T19" fmla="*/ 200 h 200"/>
                    <a:gd name="T20" fmla="*/ 101 w 201"/>
                    <a:gd name="T21" fmla="*/ 200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01" h="200">
                      <a:moveTo>
                        <a:pt x="101" y="200"/>
                      </a:moveTo>
                      <a:cubicBezTo>
                        <a:pt x="128" y="200"/>
                        <a:pt x="152" y="190"/>
                        <a:pt x="171" y="171"/>
                      </a:cubicBezTo>
                      <a:cubicBezTo>
                        <a:pt x="191" y="151"/>
                        <a:pt x="201" y="128"/>
                        <a:pt x="201" y="100"/>
                      </a:cubicBezTo>
                      <a:cubicBezTo>
                        <a:pt x="201" y="72"/>
                        <a:pt x="191" y="49"/>
                        <a:pt x="171" y="29"/>
                      </a:cubicBezTo>
                      <a:cubicBezTo>
                        <a:pt x="152" y="10"/>
                        <a:pt x="128" y="0"/>
                        <a:pt x="101" y="0"/>
                      </a:cubicBezTo>
                      <a:cubicBezTo>
                        <a:pt x="73" y="0"/>
                        <a:pt x="49" y="10"/>
                        <a:pt x="30" y="29"/>
                      </a:cubicBezTo>
                      <a:cubicBezTo>
                        <a:pt x="10" y="49"/>
                        <a:pt x="0" y="72"/>
                        <a:pt x="0" y="100"/>
                      </a:cubicBezTo>
                      <a:cubicBezTo>
                        <a:pt x="0" y="128"/>
                        <a:pt x="10" y="151"/>
                        <a:pt x="30" y="171"/>
                      </a:cubicBezTo>
                      <a:cubicBezTo>
                        <a:pt x="49" y="190"/>
                        <a:pt x="73" y="200"/>
                        <a:pt x="101" y="200"/>
                      </a:cubicBezTo>
                      <a:close/>
                      <a:moveTo>
                        <a:pt x="101" y="200"/>
                      </a:moveTo>
                      <a:cubicBezTo>
                        <a:pt x="101" y="200"/>
                        <a:pt x="101" y="200"/>
                        <a:pt x="101" y="200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82852" tIns="91426" rIns="182852" bIns="91426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828617"/>
                  <a:endParaRPr lang="ja-JP" altLang="en-US" sz="7199" dirty="0">
                    <a:solidFill>
                      <a:srgbClr val="333333"/>
                    </a:solidFill>
                  </a:endParaRPr>
                </a:p>
              </p:txBody>
            </p:sp>
            <p:sp>
              <p:nvSpPr>
                <p:cNvPr id="20" name="Freeform 86"/>
                <p:cNvSpPr>
                  <a:spLocks noEditPoints="1"/>
                </p:cNvSpPr>
                <p:nvPr/>
              </p:nvSpPr>
              <p:spPr bwMode="auto">
                <a:xfrm>
                  <a:off x="6399213" y="3775075"/>
                  <a:ext cx="636588" cy="374650"/>
                </a:xfrm>
                <a:custGeom>
                  <a:avLst/>
                  <a:gdLst>
                    <a:gd name="T0" fmla="*/ 366 w 367"/>
                    <a:gd name="T1" fmla="*/ 122 h 216"/>
                    <a:gd name="T2" fmla="*/ 363 w 367"/>
                    <a:gd name="T3" fmla="*/ 94 h 216"/>
                    <a:gd name="T4" fmla="*/ 356 w 367"/>
                    <a:gd name="T5" fmla="*/ 65 h 216"/>
                    <a:gd name="T6" fmla="*/ 344 w 367"/>
                    <a:gd name="T7" fmla="*/ 40 h 216"/>
                    <a:gd name="T8" fmla="*/ 328 w 367"/>
                    <a:gd name="T9" fmla="*/ 19 h 216"/>
                    <a:gd name="T10" fmla="*/ 306 w 367"/>
                    <a:gd name="T11" fmla="*/ 5 h 216"/>
                    <a:gd name="T12" fmla="*/ 277 w 367"/>
                    <a:gd name="T13" fmla="*/ 0 h 216"/>
                    <a:gd name="T14" fmla="*/ 266 w 367"/>
                    <a:gd name="T15" fmla="*/ 5 h 216"/>
                    <a:gd name="T16" fmla="*/ 247 w 367"/>
                    <a:gd name="T17" fmla="*/ 18 h 216"/>
                    <a:gd name="T18" fmla="*/ 218 w 367"/>
                    <a:gd name="T19" fmla="*/ 30 h 216"/>
                    <a:gd name="T20" fmla="*/ 184 w 367"/>
                    <a:gd name="T21" fmla="*/ 36 h 216"/>
                    <a:gd name="T22" fmla="*/ 149 w 367"/>
                    <a:gd name="T23" fmla="*/ 30 h 216"/>
                    <a:gd name="T24" fmla="*/ 121 w 367"/>
                    <a:gd name="T25" fmla="*/ 18 h 216"/>
                    <a:gd name="T26" fmla="*/ 101 w 367"/>
                    <a:gd name="T27" fmla="*/ 5 h 216"/>
                    <a:gd name="T28" fmla="*/ 90 w 367"/>
                    <a:gd name="T29" fmla="*/ 0 h 216"/>
                    <a:gd name="T30" fmla="*/ 61 w 367"/>
                    <a:gd name="T31" fmla="*/ 5 h 216"/>
                    <a:gd name="T32" fmla="*/ 39 w 367"/>
                    <a:gd name="T33" fmla="*/ 19 h 216"/>
                    <a:gd name="T34" fmla="*/ 23 w 367"/>
                    <a:gd name="T35" fmla="*/ 40 h 216"/>
                    <a:gd name="T36" fmla="*/ 11 w 367"/>
                    <a:gd name="T37" fmla="*/ 65 h 216"/>
                    <a:gd name="T38" fmla="*/ 5 w 367"/>
                    <a:gd name="T39" fmla="*/ 94 h 216"/>
                    <a:gd name="T40" fmla="*/ 1 w 367"/>
                    <a:gd name="T41" fmla="*/ 122 h 216"/>
                    <a:gd name="T42" fmla="*/ 0 w 367"/>
                    <a:gd name="T43" fmla="*/ 149 h 216"/>
                    <a:gd name="T44" fmla="*/ 19 w 367"/>
                    <a:gd name="T45" fmla="*/ 198 h 216"/>
                    <a:gd name="T46" fmla="*/ 70 w 367"/>
                    <a:gd name="T47" fmla="*/ 216 h 216"/>
                    <a:gd name="T48" fmla="*/ 297 w 367"/>
                    <a:gd name="T49" fmla="*/ 216 h 216"/>
                    <a:gd name="T50" fmla="*/ 348 w 367"/>
                    <a:gd name="T51" fmla="*/ 198 h 216"/>
                    <a:gd name="T52" fmla="*/ 367 w 367"/>
                    <a:gd name="T53" fmla="*/ 149 h 216"/>
                    <a:gd name="T54" fmla="*/ 366 w 367"/>
                    <a:gd name="T55" fmla="*/ 122 h 216"/>
                    <a:gd name="T56" fmla="*/ 366 w 367"/>
                    <a:gd name="T57" fmla="*/ 122 h 216"/>
                    <a:gd name="T58" fmla="*/ 366 w 367"/>
                    <a:gd name="T59" fmla="*/ 122 h 2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367" h="216">
                      <a:moveTo>
                        <a:pt x="366" y="122"/>
                      </a:moveTo>
                      <a:cubicBezTo>
                        <a:pt x="366" y="113"/>
                        <a:pt x="364" y="104"/>
                        <a:pt x="363" y="94"/>
                      </a:cubicBezTo>
                      <a:cubicBezTo>
                        <a:pt x="361" y="83"/>
                        <a:pt x="358" y="74"/>
                        <a:pt x="356" y="65"/>
                      </a:cubicBezTo>
                      <a:cubicBezTo>
                        <a:pt x="353" y="57"/>
                        <a:pt x="349" y="48"/>
                        <a:pt x="344" y="40"/>
                      </a:cubicBezTo>
                      <a:cubicBezTo>
                        <a:pt x="340" y="32"/>
                        <a:pt x="334" y="25"/>
                        <a:pt x="328" y="19"/>
                      </a:cubicBezTo>
                      <a:cubicBezTo>
                        <a:pt x="322" y="13"/>
                        <a:pt x="315" y="8"/>
                        <a:pt x="306" y="5"/>
                      </a:cubicBezTo>
                      <a:cubicBezTo>
                        <a:pt x="297" y="1"/>
                        <a:pt x="287" y="0"/>
                        <a:pt x="277" y="0"/>
                      </a:cubicBezTo>
                      <a:cubicBezTo>
                        <a:pt x="275" y="0"/>
                        <a:pt x="272" y="1"/>
                        <a:pt x="266" y="5"/>
                      </a:cubicBezTo>
                      <a:cubicBezTo>
                        <a:pt x="260" y="9"/>
                        <a:pt x="254" y="13"/>
                        <a:pt x="247" y="18"/>
                      </a:cubicBezTo>
                      <a:cubicBezTo>
                        <a:pt x="239" y="22"/>
                        <a:pt x="230" y="26"/>
                        <a:pt x="218" y="30"/>
                      </a:cubicBezTo>
                      <a:cubicBezTo>
                        <a:pt x="207" y="34"/>
                        <a:pt x="195" y="36"/>
                        <a:pt x="184" y="36"/>
                      </a:cubicBezTo>
                      <a:cubicBezTo>
                        <a:pt x="172" y="36"/>
                        <a:pt x="160" y="34"/>
                        <a:pt x="149" y="30"/>
                      </a:cubicBezTo>
                      <a:cubicBezTo>
                        <a:pt x="137" y="26"/>
                        <a:pt x="128" y="22"/>
                        <a:pt x="121" y="18"/>
                      </a:cubicBezTo>
                      <a:cubicBezTo>
                        <a:pt x="113" y="13"/>
                        <a:pt x="107" y="9"/>
                        <a:pt x="101" y="5"/>
                      </a:cubicBezTo>
                      <a:cubicBezTo>
                        <a:pt x="95" y="1"/>
                        <a:pt x="92" y="0"/>
                        <a:pt x="90" y="0"/>
                      </a:cubicBezTo>
                      <a:cubicBezTo>
                        <a:pt x="80" y="0"/>
                        <a:pt x="70" y="1"/>
                        <a:pt x="61" y="5"/>
                      </a:cubicBezTo>
                      <a:cubicBezTo>
                        <a:pt x="52" y="8"/>
                        <a:pt x="45" y="13"/>
                        <a:pt x="39" y="19"/>
                      </a:cubicBezTo>
                      <a:cubicBezTo>
                        <a:pt x="33" y="25"/>
                        <a:pt x="27" y="32"/>
                        <a:pt x="23" y="40"/>
                      </a:cubicBezTo>
                      <a:cubicBezTo>
                        <a:pt x="18" y="48"/>
                        <a:pt x="14" y="57"/>
                        <a:pt x="11" y="65"/>
                      </a:cubicBezTo>
                      <a:cubicBezTo>
                        <a:pt x="9" y="74"/>
                        <a:pt x="6" y="83"/>
                        <a:pt x="5" y="94"/>
                      </a:cubicBezTo>
                      <a:cubicBezTo>
                        <a:pt x="3" y="104"/>
                        <a:pt x="2" y="113"/>
                        <a:pt x="1" y="122"/>
                      </a:cubicBezTo>
                      <a:cubicBezTo>
                        <a:pt x="0" y="131"/>
                        <a:pt x="0" y="140"/>
                        <a:pt x="0" y="149"/>
                      </a:cubicBezTo>
                      <a:cubicBezTo>
                        <a:pt x="0" y="170"/>
                        <a:pt x="6" y="186"/>
                        <a:pt x="19" y="198"/>
                      </a:cubicBezTo>
                      <a:cubicBezTo>
                        <a:pt x="32" y="210"/>
                        <a:pt x="49" y="216"/>
                        <a:pt x="70" y="216"/>
                      </a:cubicBezTo>
                      <a:cubicBezTo>
                        <a:pt x="297" y="216"/>
                        <a:pt x="297" y="216"/>
                        <a:pt x="297" y="216"/>
                      </a:cubicBezTo>
                      <a:cubicBezTo>
                        <a:pt x="319" y="216"/>
                        <a:pt x="335" y="210"/>
                        <a:pt x="348" y="198"/>
                      </a:cubicBezTo>
                      <a:cubicBezTo>
                        <a:pt x="361" y="186"/>
                        <a:pt x="367" y="170"/>
                        <a:pt x="367" y="149"/>
                      </a:cubicBezTo>
                      <a:cubicBezTo>
                        <a:pt x="367" y="140"/>
                        <a:pt x="367" y="131"/>
                        <a:pt x="366" y="122"/>
                      </a:cubicBezTo>
                      <a:close/>
                      <a:moveTo>
                        <a:pt x="366" y="122"/>
                      </a:moveTo>
                      <a:cubicBezTo>
                        <a:pt x="366" y="122"/>
                        <a:pt x="366" y="122"/>
                        <a:pt x="366" y="122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82852" tIns="91426" rIns="182852" bIns="91426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828617"/>
                  <a:endParaRPr lang="ja-JP" altLang="en-US" sz="7199" dirty="0">
                    <a:solidFill>
                      <a:srgbClr val="333333"/>
                    </a:solidFill>
                  </a:endParaRPr>
                </a:p>
              </p:txBody>
            </p:sp>
          </p:grpSp>
        </p:grpSp>
        <p:grpSp>
          <p:nvGrpSpPr>
            <p:cNvPr id="10" name="グループ化 9"/>
            <p:cNvGrpSpPr/>
            <p:nvPr/>
          </p:nvGrpSpPr>
          <p:grpSpPr>
            <a:xfrm>
              <a:off x="5950004" y="4617213"/>
              <a:ext cx="2217095" cy="1403577"/>
              <a:chOff x="1748349" y="4617213"/>
              <a:chExt cx="2217095" cy="1403577"/>
            </a:xfrm>
          </p:grpSpPr>
          <p:sp>
            <p:nvSpPr>
              <p:cNvPr id="11" name="Freeform 6"/>
              <p:cNvSpPr>
                <a:spLocks noChangeAspect="1" noEditPoints="1"/>
              </p:cNvSpPr>
              <p:nvPr/>
            </p:nvSpPr>
            <p:spPr bwMode="auto">
              <a:xfrm>
                <a:off x="2819604" y="4617213"/>
                <a:ext cx="1145840" cy="804006"/>
              </a:xfrm>
              <a:custGeom>
                <a:avLst/>
                <a:gdLst>
                  <a:gd name="T0" fmla="*/ 251 w 1076"/>
                  <a:gd name="T1" fmla="*/ 683 h 755"/>
                  <a:gd name="T2" fmla="*/ 824 w 1076"/>
                  <a:gd name="T3" fmla="*/ 575 h 755"/>
                  <a:gd name="T4" fmla="*/ 1040 w 1076"/>
                  <a:gd name="T5" fmla="*/ 575 h 755"/>
                  <a:gd name="T6" fmla="*/ 575 w 1076"/>
                  <a:gd name="T7" fmla="*/ 719 h 755"/>
                  <a:gd name="T8" fmla="*/ 573 w 1076"/>
                  <a:gd name="T9" fmla="*/ 575 h 755"/>
                  <a:gd name="T10" fmla="*/ 537 w 1076"/>
                  <a:gd name="T11" fmla="*/ 719 h 755"/>
                  <a:gd name="T12" fmla="*/ 36 w 1076"/>
                  <a:gd name="T13" fmla="*/ 575 h 755"/>
                  <a:gd name="T14" fmla="*/ 287 w 1076"/>
                  <a:gd name="T15" fmla="*/ 575 h 755"/>
                  <a:gd name="T16" fmla="*/ 251 w 1076"/>
                  <a:gd name="T17" fmla="*/ 431 h 755"/>
                  <a:gd name="T18" fmla="*/ 72 w 1076"/>
                  <a:gd name="T19" fmla="*/ 431 h 755"/>
                  <a:gd name="T20" fmla="*/ 1040 w 1076"/>
                  <a:gd name="T21" fmla="*/ 539 h 755"/>
                  <a:gd name="T22" fmla="*/ 573 w 1076"/>
                  <a:gd name="T23" fmla="*/ 395 h 755"/>
                  <a:gd name="T24" fmla="*/ 789 w 1076"/>
                  <a:gd name="T25" fmla="*/ 395 h 755"/>
                  <a:gd name="T26" fmla="*/ 323 w 1076"/>
                  <a:gd name="T27" fmla="*/ 539 h 755"/>
                  <a:gd name="T28" fmla="*/ 323 w 1076"/>
                  <a:gd name="T29" fmla="*/ 395 h 755"/>
                  <a:gd name="T30" fmla="*/ 287 w 1076"/>
                  <a:gd name="T31" fmla="*/ 539 h 755"/>
                  <a:gd name="T32" fmla="*/ 72 w 1076"/>
                  <a:gd name="T33" fmla="*/ 252 h 755"/>
                  <a:gd name="T34" fmla="*/ 72 w 1076"/>
                  <a:gd name="T35" fmla="*/ 323 h 755"/>
                  <a:gd name="T36" fmla="*/ 824 w 1076"/>
                  <a:gd name="T37" fmla="*/ 359 h 755"/>
                  <a:gd name="T38" fmla="*/ 824 w 1076"/>
                  <a:gd name="T39" fmla="*/ 216 h 755"/>
                  <a:gd name="T40" fmla="*/ 789 w 1076"/>
                  <a:gd name="T41" fmla="*/ 359 h 755"/>
                  <a:gd name="T42" fmla="*/ 323 w 1076"/>
                  <a:gd name="T43" fmla="*/ 216 h 755"/>
                  <a:gd name="T44" fmla="*/ 537 w 1076"/>
                  <a:gd name="T45" fmla="*/ 216 h 755"/>
                  <a:gd name="T46" fmla="*/ 36 w 1076"/>
                  <a:gd name="T47" fmla="*/ 359 h 755"/>
                  <a:gd name="T48" fmla="*/ 36 w 1076"/>
                  <a:gd name="T49" fmla="*/ 216 h 755"/>
                  <a:gd name="T50" fmla="*/ 1004 w 1076"/>
                  <a:gd name="T51" fmla="*/ 144 h 755"/>
                  <a:gd name="T52" fmla="*/ 609 w 1076"/>
                  <a:gd name="T53" fmla="*/ 72 h 755"/>
                  <a:gd name="T54" fmla="*/ 609 w 1076"/>
                  <a:gd name="T55" fmla="*/ 144 h 755"/>
                  <a:gd name="T56" fmla="*/ 503 w 1076"/>
                  <a:gd name="T57" fmla="*/ 72 h 755"/>
                  <a:gd name="T58" fmla="*/ 359 w 1076"/>
                  <a:gd name="T59" fmla="*/ 72 h 755"/>
                  <a:gd name="T60" fmla="*/ 251 w 1076"/>
                  <a:gd name="T61" fmla="*/ 144 h 755"/>
                  <a:gd name="T62" fmla="*/ 824 w 1076"/>
                  <a:gd name="T63" fmla="*/ 36 h 755"/>
                  <a:gd name="T64" fmla="*/ 1040 w 1076"/>
                  <a:gd name="T65" fmla="*/ 36 h 755"/>
                  <a:gd name="T66" fmla="*/ 573 w 1076"/>
                  <a:gd name="T67" fmla="*/ 180 h 755"/>
                  <a:gd name="T68" fmla="*/ 573 w 1076"/>
                  <a:gd name="T69" fmla="*/ 36 h 755"/>
                  <a:gd name="T70" fmla="*/ 537 w 1076"/>
                  <a:gd name="T71" fmla="*/ 180 h 755"/>
                  <a:gd name="T72" fmla="*/ 36 w 1076"/>
                  <a:gd name="T73" fmla="*/ 36 h 755"/>
                  <a:gd name="T74" fmla="*/ 287 w 1076"/>
                  <a:gd name="T75" fmla="*/ 36 h 755"/>
                  <a:gd name="T76" fmla="*/ 1040 w 1076"/>
                  <a:gd name="T77" fmla="*/ 0 h 755"/>
                  <a:gd name="T78" fmla="*/ 1076 w 1076"/>
                  <a:gd name="T79" fmla="*/ 36 h 755"/>
                  <a:gd name="T80" fmla="*/ 1074 w 1076"/>
                  <a:gd name="T81" fmla="*/ 728 h 755"/>
                  <a:gd name="T82" fmla="*/ 1055 w 1076"/>
                  <a:gd name="T83" fmla="*/ 751 h 755"/>
                  <a:gd name="T84" fmla="*/ 17 w 1076"/>
                  <a:gd name="T85" fmla="*/ 749 h 755"/>
                  <a:gd name="T86" fmla="*/ 0 w 1076"/>
                  <a:gd name="T87" fmla="*/ 36 h 755"/>
                  <a:gd name="T88" fmla="*/ 36 w 1076"/>
                  <a:gd name="T89" fmla="*/ 0 h 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076" h="755">
                    <a:moveTo>
                      <a:pt x="72" y="611"/>
                    </a:moveTo>
                    <a:lnTo>
                      <a:pt x="251" y="611"/>
                    </a:lnTo>
                    <a:lnTo>
                      <a:pt x="251" y="683"/>
                    </a:lnTo>
                    <a:lnTo>
                      <a:pt x="72" y="683"/>
                    </a:lnTo>
                    <a:lnTo>
                      <a:pt x="72" y="611"/>
                    </a:lnTo>
                    <a:close/>
                    <a:moveTo>
                      <a:pt x="824" y="575"/>
                    </a:moveTo>
                    <a:lnTo>
                      <a:pt x="824" y="719"/>
                    </a:lnTo>
                    <a:lnTo>
                      <a:pt x="1040" y="719"/>
                    </a:lnTo>
                    <a:lnTo>
                      <a:pt x="1040" y="575"/>
                    </a:lnTo>
                    <a:lnTo>
                      <a:pt x="824" y="575"/>
                    </a:lnTo>
                    <a:close/>
                    <a:moveTo>
                      <a:pt x="573" y="575"/>
                    </a:moveTo>
                    <a:lnTo>
                      <a:pt x="575" y="719"/>
                    </a:lnTo>
                    <a:lnTo>
                      <a:pt x="789" y="719"/>
                    </a:lnTo>
                    <a:lnTo>
                      <a:pt x="789" y="575"/>
                    </a:lnTo>
                    <a:lnTo>
                      <a:pt x="573" y="575"/>
                    </a:lnTo>
                    <a:close/>
                    <a:moveTo>
                      <a:pt x="323" y="575"/>
                    </a:moveTo>
                    <a:lnTo>
                      <a:pt x="323" y="719"/>
                    </a:lnTo>
                    <a:lnTo>
                      <a:pt x="537" y="719"/>
                    </a:lnTo>
                    <a:lnTo>
                      <a:pt x="537" y="575"/>
                    </a:lnTo>
                    <a:lnTo>
                      <a:pt x="323" y="575"/>
                    </a:lnTo>
                    <a:close/>
                    <a:moveTo>
                      <a:pt x="36" y="575"/>
                    </a:moveTo>
                    <a:lnTo>
                      <a:pt x="36" y="719"/>
                    </a:lnTo>
                    <a:lnTo>
                      <a:pt x="287" y="719"/>
                    </a:lnTo>
                    <a:lnTo>
                      <a:pt x="287" y="575"/>
                    </a:lnTo>
                    <a:lnTo>
                      <a:pt x="36" y="575"/>
                    </a:lnTo>
                    <a:close/>
                    <a:moveTo>
                      <a:pt x="72" y="431"/>
                    </a:moveTo>
                    <a:lnTo>
                      <a:pt x="251" y="431"/>
                    </a:lnTo>
                    <a:lnTo>
                      <a:pt x="251" y="503"/>
                    </a:lnTo>
                    <a:lnTo>
                      <a:pt x="72" y="503"/>
                    </a:lnTo>
                    <a:lnTo>
                      <a:pt x="72" y="431"/>
                    </a:lnTo>
                    <a:close/>
                    <a:moveTo>
                      <a:pt x="824" y="395"/>
                    </a:moveTo>
                    <a:lnTo>
                      <a:pt x="824" y="539"/>
                    </a:lnTo>
                    <a:lnTo>
                      <a:pt x="1040" y="539"/>
                    </a:lnTo>
                    <a:lnTo>
                      <a:pt x="1040" y="395"/>
                    </a:lnTo>
                    <a:lnTo>
                      <a:pt x="824" y="395"/>
                    </a:lnTo>
                    <a:close/>
                    <a:moveTo>
                      <a:pt x="573" y="395"/>
                    </a:moveTo>
                    <a:lnTo>
                      <a:pt x="575" y="539"/>
                    </a:lnTo>
                    <a:lnTo>
                      <a:pt x="789" y="539"/>
                    </a:lnTo>
                    <a:lnTo>
                      <a:pt x="789" y="395"/>
                    </a:lnTo>
                    <a:lnTo>
                      <a:pt x="573" y="395"/>
                    </a:lnTo>
                    <a:close/>
                    <a:moveTo>
                      <a:pt x="323" y="395"/>
                    </a:moveTo>
                    <a:lnTo>
                      <a:pt x="323" y="539"/>
                    </a:lnTo>
                    <a:lnTo>
                      <a:pt x="537" y="539"/>
                    </a:lnTo>
                    <a:lnTo>
                      <a:pt x="537" y="395"/>
                    </a:lnTo>
                    <a:lnTo>
                      <a:pt x="323" y="395"/>
                    </a:lnTo>
                    <a:close/>
                    <a:moveTo>
                      <a:pt x="36" y="395"/>
                    </a:moveTo>
                    <a:lnTo>
                      <a:pt x="36" y="539"/>
                    </a:lnTo>
                    <a:lnTo>
                      <a:pt x="287" y="539"/>
                    </a:lnTo>
                    <a:lnTo>
                      <a:pt x="287" y="395"/>
                    </a:lnTo>
                    <a:lnTo>
                      <a:pt x="36" y="395"/>
                    </a:lnTo>
                    <a:close/>
                    <a:moveTo>
                      <a:pt x="72" y="252"/>
                    </a:moveTo>
                    <a:lnTo>
                      <a:pt x="251" y="252"/>
                    </a:lnTo>
                    <a:lnTo>
                      <a:pt x="251" y="323"/>
                    </a:lnTo>
                    <a:lnTo>
                      <a:pt x="72" y="323"/>
                    </a:lnTo>
                    <a:lnTo>
                      <a:pt x="72" y="252"/>
                    </a:lnTo>
                    <a:close/>
                    <a:moveTo>
                      <a:pt x="824" y="216"/>
                    </a:moveTo>
                    <a:lnTo>
                      <a:pt x="824" y="359"/>
                    </a:lnTo>
                    <a:lnTo>
                      <a:pt x="1040" y="359"/>
                    </a:lnTo>
                    <a:lnTo>
                      <a:pt x="1040" y="216"/>
                    </a:lnTo>
                    <a:lnTo>
                      <a:pt x="824" y="216"/>
                    </a:lnTo>
                    <a:close/>
                    <a:moveTo>
                      <a:pt x="573" y="216"/>
                    </a:moveTo>
                    <a:lnTo>
                      <a:pt x="573" y="359"/>
                    </a:lnTo>
                    <a:lnTo>
                      <a:pt x="789" y="359"/>
                    </a:lnTo>
                    <a:lnTo>
                      <a:pt x="789" y="216"/>
                    </a:lnTo>
                    <a:lnTo>
                      <a:pt x="573" y="216"/>
                    </a:lnTo>
                    <a:close/>
                    <a:moveTo>
                      <a:pt x="323" y="216"/>
                    </a:moveTo>
                    <a:lnTo>
                      <a:pt x="323" y="359"/>
                    </a:lnTo>
                    <a:lnTo>
                      <a:pt x="537" y="359"/>
                    </a:lnTo>
                    <a:lnTo>
                      <a:pt x="537" y="216"/>
                    </a:lnTo>
                    <a:lnTo>
                      <a:pt x="323" y="216"/>
                    </a:lnTo>
                    <a:close/>
                    <a:moveTo>
                      <a:pt x="36" y="216"/>
                    </a:moveTo>
                    <a:lnTo>
                      <a:pt x="36" y="359"/>
                    </a:lnTo>
                    <a:lnTo>
                      <a:pt x="287" y="359"/>
                    </a:lnTo>
                    <a:lnTo>
                      <a:pt x="287" y="216"/>
                    </a:lnTo>
                    <a:lnTo>
                      <a:pt x="36" y="216"/>
                    </a:lnTo>
                    <a:close/>
                    <a:moveTo>
                      <a:pt x="860" y="72"/>
                    </a:moveTo>
                    <a:lnTo>
                      <a:pt x="1004" y="72"/>
                    </a:lnTo>
                    <a:lnTo>
                      <a:pt x="1004" y="144"/>
                    </a:lnTo>
                    <a:lnTo>
                      <a:pt x="860" y="144"/>
                    </a:lnTo>
                    <a:lnTo>
                      <a:pt x="860" y="72"/>
                    </a:lnTo>
                    <a:close/>
                    <a:moveTo>
                      <a:pt x="609" y="72"/>
                    </a:moveTo>
                    <a:lnTo>
                      <a:pt x="753" y="72"/>
                    </a:lnTo>
                    <a:lnTo>
                      <a:pt x="753" y="144"/>
                    </a:lnTo>
                    <a:lnTo>
                      <a:pt x="609" y="144"/>
                    </a:lnTo>
                    <a:lnTo>
                      <a:pt x="609" y="72"/>
                    </a:lnTo>
                    <a:close/>
                    <a:moveTo>
                      <a:pt x="359" y="72"/>
                    </a:moveTo>
                    <a:lnTo>
                      <a:pt x="503" y="72"/>
                    </a:lnTo>
                    <a:lnTo>
                      <a:pt x="503" y="144"/>
                    </a:lnTo>
                    <a:lnTo>
                      <a:pt x="359" y="144"/>
                    </a:lnTo>
                    <a:lnTo>
                      <a:pt x="359" y="72"/>
                    </a:lnTo>
                    <a:close/>
                    <a:moveTo>
                      <a:pt x="72" y="72"/>
                    </a:moveTo>
                    <a:lnTo>
                      <a:pt x="251" y="72"/>
                    </a:lnTo>
                    <a:lnTo>
                      <a:pt x="251" y="144"/>
                    </a:lnTo>
                    <a:lnTo>
                      <a:pt x="72" y="144"/>
                    </a:lnTo>
                    <a:lnTo>
                      <a:pt x="72" y="72"/>
                    </a:lnTo>
                    <a:close/>
                    <a:moveTo>
                      <a:pt x="824" y="36"/>
                    </a:moveTo>
                    <a:lnTo>
                      <a:pt x="824" y="180"/>
                    </a:lnTo>
                    <a:lnTo>
                      <a:pt x="1040" y="180"/>
                    </a:lnTo>
                    <a:lnTo>
                      <a:pt x="1040" y="36"/>
                    </a:lnTo>
                    <a:lnTo>
                      <a:pt x="824" y="36"/>
                    </a:lnTo>
                    <a:close/>
                    <a:moveTo>
                      <a:pt x="573" y="36"/>
                    </a:moveTo>
                    <a:lnTo>
                      <a:pt x="573" y="180"/>
                    </a:lnTo>
                    <a:lnTo>
                      <a:pt x="789" y="180"/>
                    </a:lnTo>
                    <a:lnTo>
                      <a:pt x="789" y="36"/>
                    </a:lnTo>
                    <a:lnTo>
                      <a:pt x="573" y="36"/>
                    </a:lnTo>
                    <a:close/>
                    <a:moveTo>
                      <a:pt x="323" y="36"/>
                    </a:moveTo>
                    <a:lnTo>
                      <a:pt x="323" y="180"/>
                    </a:lnTo>
                    <a:lnTo>
                      <a:pt x="537" y="180"/>
                    </a:lnTo>
                    <a:lnTo>
                      <a:pt x="537" y="36"/>
                    </a:lnTo>
                    <a:lnTo>
                      <a:pt x="323" y="36"/>
                    </a:lnTo>
                    <a:close/>
                    <a:moveTo>
                      <a:pt x="36" y="36"/>
                    </a:moveTo>
                    <a:lnTo>
                      <a:pt x="36" y="180"/>
                    </a:lnTo>
                    <a:lnTo>
                      <a:pt x="287" y="180"/>
                    </a:lnTo>
                    <a:lnTo>
                      <a:pt x="287" y="36"/>
                    </a:lnTo>
                    <a:lnTo>
                      <a:pt x="36" y="36"/>
                    </a:lnTo>
                    <a:close/>
                    <a:moveTo>
                      <a:pt x="36" y="0"/>
                    </a:moveTo>
                    <a:lnTo>
                      <a:pt x="1040" y="0"/>
                    </a:lnTo>
                    <a:lnTo>
                      <a:pt x="1059" y="6"/>
                    </a:lnTo>
                    <a:lnTo>
                      <a:pt x="1070" y="19"/>
                    </a:lnTo>
                    <a:lnTo>
                      <a:pt x="1076" y="36"/>
                    </a:lnTo>
                    <a:lnTo>
                      <a:pt x="1076" y="719"/>
                    </a:lnTo>
                    <a:lnTo>
                      <a:pt x="1076" y="721"/>
                    </a:lnTo>
                    <a:lnTo>
                      <a:pt x="1074" y="728"/>
                    </a:lnTo>
                    <a:lnTo>
                      <a:pt x="1072" y="736"/>
                    </a:lnTo>
                    <a:lnTo>
                      <a:pt x="1066" y="745"/>
                    </a:lnTo>
                    <a:lnTo>
                      <a:pt x="1055" y="751"/>
                    </a:lnTo>
                    <a:lnTo>
                      <a:pt x="1040" y="755"/>
                    </a:lnTo>
                    <a:lnTo>
                      <a:pt x="36" y="755"/>
                    </a:lnTo>
                    <a:lnTo>
                      <a:pt x="17" y="749"/>
                    </a:lnTo>
                    <a:lnTo>
                      <a:pt x="6" y="736"/>
                    </a:lnTo>
                    <a:lnTo>
                      <a:pt x="0" y="719"/>
                    </a:lnTo>
                    <a:lnTo>
                      <a:pt x="0" y="36"/>
                    </a:lnTo>
                    <a:lnTo>
                      <a:pt x="6" y="19"/>
                    </a:lnTo>
                    <a:lnTo>
                      <a:pt x="17" y="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tx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defTabSz="1371600"/>
                <a:endParaRPr lang="ja-JP" altLang="en-US" sz="2700" dirty="0">
                  <a:solidFill>
                    <a:srgbClr val="4D4D4D"/>
                  </a:solidFill>
                </a:endParaRPr>
              </a:p>
            </p:txBody>
          </p:sp>
          <p:grpSp>
            <p:nvGrpSpPr>
              <p:cNvPr id="12" name="グループ化 11"/>
              <p:cNvGrpSpPr/>
              <p:nvPr/>
            </p:nvGrpSpPr>
            <p:grpSpPr>
              <a:xfrm>
                <a:off x="1748349" y="5116639"/>
                <a:ext cx="829669" cy="904151"/>
                <a:chOff x="6399213" y="3455988"/>
                <a:chExt cx="636588" cy="693737"/>
              </a:xfrm>
            </p:grpSpPr>
            <p:sp>
              <p:nvSpPr>
                <p:cNvPr id="13" name="Freeform 85"/>
                <p:cNvSpPr>
                  <a:spLocks noEditPoints="1"/>
                </p:cNvSpPr>
                <p:nvPr/>
              </p:nvSpPr>
              <p:spPr bwMode="auto">
                <a:xfrm>
                  <a:off x="6543675" y="3455988"/>
                  <a:ext cx="347663" cy="347663"/>
                </a:xfrm>
                <a:custGeom>
                  <a:avLst/>
                  <a:gdLst>
                    <a:gd name="T0" fmla="*/ 101 w 201"/>
                    <a:gd name="T1" fmla="*/ 200 h 200"/>
                    <a:gd name="T2" fmla="*/ 171 w 201"/>
                    <a:gd name="T3" fmla="*/ 171 h 200"/>
                    <a:gd name="T4" fmla="*/ 201 w 201"/>
                    <a:gd name="T5" fmla="*/ 100 h 200"/>
                    <a:gd name="T6" fmla="*/ 171 w 201"/>
                    <a:gd name="T7" fmla="*/ 29 h 200"/>
                    <a:gd name="T8" fmla="*/ 101 w 201"/>
                    <a:gd name="T9" fmla="*/ 0 h 200"/>
                    <a:gd name="T10" fmla="*/ 30 w 201"/>
                    <a:gd name="T11" fmla="*/ 29 h 200"/>
                    <a:gd name="T12" fmla="*/ 0 w 201"/>
                    <a:gd name="T13" fmla="*/ 100 h 200"/>
                    <a:gd name="T14" fmla="*/ 30 w 201"/>
                    <a:gd name="T15" fmla="*/ 171 h 200"/>
                    <a:gd name="T16" fmla="*/ 101 w 201"/>
                    <a:gd name="T17" fmla="*/ 200 h 200"/>
                    <a:gd name="T18" fmla="*/ 101 w 201"/>
                    <a:gd name="T19" fmla="*/ 200 h 200"/>
                    <a:gd name="T20" fmla="*/ 101 w 201"/>
                    <a:gd name="T21" fmla="*/ 200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01" h="200">
                      <a:moveTo>
                        <a:pt x="101" y="200"/>
                      </a:moveTo>
                      <a:cubicBezTo>
                        <a:pt x="128" y="200"/>
                        <a:pt x="152" y="190"/>
                        <a:pt x="171" y="171"/>
                      </a:cubicBezTo>
                      <a:cubicBezTo>
                        <a:pt x="191" y="151"/>
                        <a:pt x="201" y="128"/>
                        <a:pt x="201" y="100"/>
                      </a:cubicBezTo>
                      <a:cubicBezTo>
                        <a:pt x="201" y="72"/>
                        <a:pt x="191" y="49"/>
                        <a:pt x="171" y="29"/>
                      </a:cubicBezTo>
                      <a:cubicBezTo>
                        <a:pt x="152" y="10"/>
                        <a:pt x="128" y="0"/>
                        <a:pt x="101" y="0"/>
                      </a:cubicBezTo>
                      <a:cubicBezTo>
                        <a:pt x="73" y="0"/>
                        <a:pt x="49" y="10"/>
                        <a:pt x="30" y="29"/>
                      </a:cubicBezTo>
                      <a:cubicBezTo>
                        <a:pt x="10" y="49"/>
                        <a:pt x="0" y="72"/>
                        <a:pt x="0" y="100"/>
                      </a:cubicBezTo>
                      <a:cubicBezTo>
                        <a:pt x="0" y="128"/>
                        <a:pt x="10" y="151"/>
                        <a:pt x="30" y="171"/>
                      </a:cubicBezTo>
                      <a:cubicBezTo>
                        <a:pt x="49" y="190"/>
                        <a:pt x="73" y="200"/>
                        <a:pt x="101" y="200"/>
                      </a:cubicBezTo>
                      <a:close/>
                      <a:moveTo>
                        <a:pt x="101" y="200"/>
                      </a:moveTo>
                      <a:cubicBezTo>
                        <a:pt x="101" y="200"/>
                        <a:pt x="101" y="200"/>
                        <a:pt x="101" y="200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82852" tIns="91426" rIns="182852" bIns="91426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828617"/>
                  <a:endParaRPr lang="ja-JP" altLang="en-US" sz="7199" dirty="0">
                    <a:solidFill>
                      <a:srgbClr val="333333"/>
                    </a:solidFill>
                  </a:endParaRPr>
                </a:p>
              </p:txBody>
            </p:sp>
            <p:sp>
              <p:nvSpPr>
                <p:cNvPr id="14" name="Freeform 86"/>
                <p:cNvSpPr>
                  <a:spLocks noEditPoints="1"/>
                </p:cNvSpPr>
                <p:nvPr/>
              </p:nvSpPr>
              <p:spPr bwMode="auto">
                <a:xfrm>
                  <a:off x="6399213" y="3775075"/>
                  <a:ext cx="636588" cy="374650"/>
                </a:xfrm>
                <a:custGeom>
                  <a:avLst/>
                  <a:gdLst>
                    <a:gd name="T0" fmla="*/ 366 w 367"/>
                    <a:gd name="T1" fmla="*/ 122 h 216"/>
                    <a:gd name="T2" fmla="*/ 363 w 367"/>
                    <a:gd name="T3" fmla="*/ 94 h 216"/>
                    <a:gd name="T4" fmla="*/ 356 w 367"/>
                    <a:gd name="T5" fmla="*/ 65 h 216"/>
                    <a:gd name="T6" fmla="*/ 344 w 367"/>
                    <a:gd name="T7" fmla="*/ 40 h 216"/>
                    <a:gd name="T8" fmla="*/ 328 w 367"/>
                    <a:gd name="T9" fmla="*/ 19 h 216"/>
                    <a:gd name="T10" fmla="*/ 306 w 367"/>
                    <a:gd name="T11" fmla="*/ 5 h 216"/>
                    <a:gd name="T12" fmla="*/ 277 w 367"/>
                    <a:gd name="T13" fmla="*/ 0 h 216"/>
                    <a:gd name="T14" fmla="*/ 266 w 367"/>
                    <a:gd name="T15" fmla="*/ 5 h 216"/>
                    <a:gd name="T16" fmla="*/ 247 w 367"/>
                    <a:gd name="T17" fmla="*/ 18 h 216"/>
                    <a:gd name="T18" fmla="*/ 218 w 367"/>
                    <a:gd name="T19" fmla="*/ 30 h 216"/>
                    <a:gd name="T20" fmla="*/ 184 w 367"/>
                    <a:gd name="T21" fmla="*/ 36 h 216"/>
                    <a:gd name="T22" fmla="*/ 149 w 367"/>
                    <a:gd name="T23" fmla="*/ 30 h 216"/>
                    <a:gd name="T24" fmla="*/ 121 w 367"/>
                    <a:gd name="T25" fmla="*/ 18 h 216"/>
                    <a:gd name="T26" fmla="*/ 101 w 367"/>
                    <a:gd name="T27" fmla="*/ 5 h 216"/>
                    <a:gd name="T28" fmla="*/ 90 w 367"/>
                    <a:gd name="T29" fmla="*/ 0 h 216"/>
                    <a:gd name="T30" fmla="*/ 61 w 367"/>
                    <a:gd name="T31" fmla="*/ 5 h 216"/>
                    <a:gd name="T32" fmla="*/ 39 w 367"/>
                    <a:gd name="T33" fmla="*/ 19 h 216"/>
                    <a:gd name="T34" fmla="*/ 23 w 367"/>
                    <a:gd name="T35" fmla="*/ 40 h 216"/>
                    <a:gd name="T36" fmla="*/ 11 w 367"/>
                    <a:gd name="T37" fmla="*/ 65 h 216"/>
                    <a:gd name="T38" fmla="*/ 5 w 367"/>
                    <a:gd name="T39" fmla="*/ 94 h 216"/>
                    <a:gd name="T40" fmla="*/ 1 w 367"/>
                    <a:gd name="T41" fmla="*/ 122 h 216"/>
                    <a:gd name="T42" fmla="*/ 0 w 367"/>
                    <a:gd name="T43" fmla="*/ 149 h 216"/>
                    <a:gd name="T44" fmla="*/ 19 w 367"/>
                    <a:gd name="T45" fmla="*/ 198 h 216"/>
                    <a:gd name="T46" fmla="*/ 70 w 367"/>
                    <a:gd name="T47" fmla="*/ 216 h 216"/>
                    <a:gd name="T48" fmla="*/ 297 w 367"/>
                    <a:gd name="T49" fmla="*/ 216 h 216"/>
                    <a:gd name="T50" fmla="*/ 348 w 367"/>
                    <a:gd name="T51" fmla="*/ 198 h 216"/>
                    <a:gd name="T52" fmla="*/ 367 w 367"/>
                    <a:gd name="T53" fmla="*/ 149 h 216"/>
                    <a:gd name="T54" fmla="*/ 366 w 367"/>
                    <a:gd name="T55" fmla="*/ 122 h 216"/>
                    <a:gd name="T56" fmla="*/ 366 w 367"/>
                    <a:gd name="T57" fmla="*/ 122 h 216"/>
                    <a:gd name="T58" fmla="*/ 366 w 367"/>
                    <a:gd name="T59" fmla="*/ 122 h 2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367" h="216">
                      <a:moveTo>
                        <a:pt x="366" y="122"/>
                      </a:moveTo>
                      <a:cubicBezTo>
                        <a:pt x="366" y="113"/>
                        <a:pt x="364" y="104"/>
                        <a:pt x="363" y="94"/>
                      </a:cubicBezTo>
                      <a:cubicBezTo>
                        <a:pt x="361" y="83"/>
                        <a:pt x="358" y="74"/>
                        <a:pt x="356" y="65"/>
                      </a:cubicBezTo>
                      <a:cubicBezTo>
                        <a:pt x="353" y="57"/>
                        <a:pt x="349" y="48"/>
                        <a:pt x="344" y="40"/>
                      </a:cubicBezTo>
                      <a:cubicBezTo>
                        <a:pt x="340" y="32"/>
                        <a:pt x="334" y="25"/>
                        <a:pt x="328" y="19"/>
                      </a:cubicBezTo>
                      <a:cubicBezTo>
                        <a:pt x="322" y="13"/>
                        <a:pt x="315" y="8"/>
                        <a:pt x="306" y="5"/>
                      </a:cubicBezTo>
                      <a:cubicBezTo>
                        <a:pt x="297" y="1"/>
                        <a:pt x="287" y="0"/>
                        <a:pt x="277" y="0"/>
                      </a:cubicBezTo>
                      <a:cubicBezTo>
                        <a:pt x="275" y="0"/>
                        <a:pt x="272" y="1"/>
                        <a:pt x="266" y="5"/>
                      </a:cubicBezTo>
                      <a:cubicBezTo>
                        <a:pt x="260" y="9"/>
                        <a:pt x="254" y="13"/>
                        <a:pt x="247" y="18"/>
                      </a:cubicBezTo>
                      <a:cubicBezTo>
                        <a:pt x="239" y="22"/>
                        <a:pt x="230" y="26"/>
                        <a:pt x="218" y="30"/>
                      </a:cubicBezTo>
                      <a:cubicBezTo>
                        <a:pt x="207" y="34"/>
                        <a:pt x="195" y="36"/>
                        <a:pt x="184" y="36"/>
                      </a:cubicBezTo>
                      <a:cubicBezTo>
                        <a:pt x="172" y="36"/>
                        <a:pt x="160" y="34"/>
                        <a:pt x="149" y="30"/>
                      </a:cubicBezTo>
                      <a:cubicBezTo>
                        <a:pt x="137" y="26"/>
                        <a:pt x="128" y="22"/>
                        <a:pt x="121" y="18"/>
                      </a:cubicBezTo>
                      <a:cubicBezTo>
                        <a:pt x="113" y="13"/>
                        <a:pt x="107" y="9"/>
                        <a:pt x="101" y="5"/>
                      </a:cubicBezTo>
                      <a:cubicBezTo>
                        <a:pt x="95" y="1"/>
                        <a:pt x="92" y="0"/>
                        <a:pt x="90" y="0"/>
                      </a:cubicBezTo>
                      <a:cubicBezTo>
                        <a:pt x="80" y="0"/>
                        <a:pt x="70" y="1"/>
                        <a:pt x="61" y="5"/>
                      </a:cubicBezTo>
                      <a:cubicBezTo>
                        <a:pt x="52" y="8"/>
                        <a:pt x="45" y="13"/>
                        <a:pt x="39" y="19"/>
                      </a:cubicBezTo>
                      <a:cubicBezTo>
                        <a:pt x="33" y="25"/>
                        <a:pt x="27" y="32"/>
                        <a:pt x="23" y="40"/>
                      </a:cubicBezTo>
                      <a:cubicBezTo>
                        <a:pt x="18" y="48"/>
                        <a:pt x="14" y="57"/>
                        <a:pt x="11" y="65"/>
                      </a:cubicBezTo>
                      <a:cubicBezTo>
                        <a:pt x="9" y="74"/>
                        <a:pt x="6" y="83"/>
                        <a:pt x="5" y="94"/>
                      </a:cubicBezTo>
                      <a:cubicBezTo>
                        <a:pt x="3" y="104"/>
                        <a:pt x="2" y="113"/>
                        <a:pt x="1" y="122"/>
                      </a:cubicBezTo>
                      <a:cubicBezTo>
                        <a:pt x="0" y="131"/>
                        <a:pt x="0" y="140"/>
                        <a:pt x="0" y="149"/>
                      </a:cubicBezTo>
                      <a:cubicBezTo>
                        <a:pt x="0" y="170"/>
                        <a:pt x="6" y="186"/>
                        <a:pt x="19" y="198"/>
                      </a:cubicBezTo>
                      <a:cubicBezTo>
                        <a:pt x="32" y="210"/>
                        <a:pt x="49" y="216"/>
                        <a:pt x="70" y="216"/>
                      </a:cubicBezTo>
                      <a:cubicBezTo>
                        <a:pt x="297" y="216"/>
                        <a:pt x="297" y="216"/>
                        <a:pt x="297" y="216"/>
                      </a:cubicBezTo>
                      <a:cubicBezTo>
                        <a:pt x="319" y="216"/>
                        <a:pt x="335" y="210"/>
                        <a:pt x="348" y="198"/>
                      </a:cubicBezTo>
                      <a:cubicBezTo>
                        <a:pt x="361" y="186"/>
                        <a:pt x="367" y="170"/>
                        <a:pt x="367" y="149"/>
                      </a:cubicBezTo>
                      <a:cubicBezTo>
                        <a:pt x="367" y="140"/>
                        <a:pt x="367" y="131"/>
                        <a:pt x="366" y="122"/>
                      </a:cubicBezTo>
                      <a:close/>
                      <a:moveTo>
                        <a:pt x="366" y="122"/>
                      </a:moveTo>
                      <a:cubicBezTo>
                        <a:pt x="366" y="122"/>
                        <a:pt x="366" y="122"/>
                        <a:pt x="366" y="122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82852" tIns="91426" rIns="182852" bIns="91426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828617"/>
                  <a:endParaRPr lang="ja-JP" altLang="en-US" sz="7199" dirty="0">
                    <a:solidFill>
                      <a:srgbClr val="333333"/>
                    </a:solidFill>
                  </a:endParaRPr>
                </a:p>
              </p:txBody>
            </p:sp>
          </p:grpSp>
        </p:grpSp>
      </p:grpSp>
      <p:grpSp>
        <p:nvGrpSpPr>
          <p:cNvPr id="24" name="グループ化 23"/>
          <p:cNvGrpSpPr>
            <a:grpSpLocks noChangeAspect="1"/>
          </p:cNvGrpSpPr>
          <p:nvPr/>
        </p:nvGrpSpPr>
        <p:grpSpPr>
          <a:xfrm>
            <a:off x="4572000" y="3263706"/>
            <a:ext cx="3224499" cy="1587889"/>
            <a:chOff x="1246527" y="3598135"/>
            <a:chExt cx="3224499" cy="1443535"/>
          </a:xfrm>
        </p:grpSpPr>
        <p:sp>
          <p:nvSpPr>
            <p:cNvPr id="21" name="円形吹き出し 20"/>
            <p:cNvSpPr/>
            <p:nvPr/>
          </p:nvSpPr>
          <p:spPr>
            <a:xfrm>
              <a:off x="1246527" y="3598135"/>
              <a:ext cx="3224499" cy="1443535"/>
            </a:xfrm>
            <a:custGeom>
              <a:avLst/>
              <a:gdLst>
                <a:gd name="connsiteX0" fmla="*/ 564047 w 3222757"/>
                <a:gd name="connsiteY0" fmla="*/ 1081435 h 926275"/>
                <a:gd name="connsiteX1" fmla="*/ 642541 w 3222757"/>
                <a:gd name="connsiteY1" fmla="*/ 833213 h 926275"/>
                <a:gd name="connsiteX2" fmla="*/ 1373420 w 3222757"/>
                <a:gd name="connsiteY2" fmla="*/ 5077 h 926275"/>
                <a:gd name="connsiteX3" fmla="*/ 2243106 w 3222757"/>
                <a:gd name="connsiteY3" fmla="*/ 37074 h 926275"/>
                <a:gd name="connsiteX4" fmla="*/ 1996083 w 3222757"/>
                <a:gd name="connsiteY4" fmla="*/ 912882 h 926275"/>
                <a:gd name="connsiteX5" fmla="*/ 1195428 w 3222757"/>
                <a:gd name="connsiteY5" fmla="*/ 910579 h 926275"/>
                <a:gd name="connsiteX6" fmla="*/ 564047 w 3222757"/>
                <a:gd name="connsiteY6" fmla="*/ 1081435 h 926275"/>
                <a:gd name="connsiteX0" fmla="*/ 565557 w 3224499"/>
                <a:gd name="connsiteY0" fmla="*/ 1081435 h 1081435"/>
                <a:gd name="connsiteX1" fmla="*/ 644051 w 3224499"/>
                <a:gd name="connsiteY1" fmla="*/ 833213 h 1081435"/>
                <a:gd name="connsiteX2" fmla="*/ 1374930 w 3224499"/>
                <a:gd name="connsiteY2" fmla="*/ 5077 h 1081435"/>
                <a:gd name="connsiteX3" fmla="*/ 2244616 w 3224499"/>
                <a:gd name="connsiteY3" fmla="*/ 37074 h 1081435"/>
                <a:gd name="connsiteX4" fmla="*/ 1997593 w 3224499"/>
                <a:gd name="connsiteY4" fmla="*/ 912882 h 1081435"/>
                <a:gd name="connsiteX5" fmla="*/ 944525 w 3224499"/>
                <a:gd name="connsiteY5" fmla="*/ 901054 h 1081435"/>
                <a:gd name="connsiteX6" fmla="*/ 565557 w 3224499"/>
                <a:gd name="connsiteY6" fmla="*/ 1081435 h 1081435"/>
                <a:gd name="connsiteX0" fmla="*/ 924332 w 3224499"/>
                <a:gd name="connsiteY0" fmla="*/ 1120057 h 1120057"/>
                <a:gd name="connsiteX1" fmla="*/ 644051 w 3224499"/>
                <a:gd name="connsiteY1" fmla="*/ 833213 h 1120057"/>
                <a:gd name="connsiteX2" fmla="*/ 1374930 w 3224499"/>
                <a:gd name="connsiteY2" fmla="*/ 5077 h 1120057"/>
                <a:gd name="connsiteX3" fmla="*/ 2244616 w 3224499"/>
                <a:gd name="connsiteY3" fmla="*/ 37074 h 1120057"/>
                <a:gd name="connsiteX4" fmla="*/ 1997593 w 3224499"/>
                <a:gd name="connsiteY4" fmla="*/ 912882 h 1120057"/>
                <a:gd name="connsiteX5" fmla="*/ 944525 w 3224499"/>
                <a:gd name="connsiteY5" fmla="*/ 901054 h 1120057"/>
                <a:gd name="connsiteX6" fmla="*/ 924332 w 3224499"/>
                <a:gd name="connsiteY6" fmla="*/ 1120057 h 1120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24499" h="1120057">
                  <a:moveTo>
                    <a:pt x="924332" y="1120057"/>
                  </a:moveTo>
                  <a:lnTo>
                    <a:pt x="644051" y="833213"/>
                  </a:lnTo>
                  <a:cubicBezTo>
                    <a:pt x="-498185" y="586188"/>
                    <a:pt x="-38868" y="65749"/>
                    <a:pt x="1374930" y="5077"/>
                  </a:cubicBezTo>
                  <a:cubicBezTo>
                    <a:pt x="1669543" y="-7566"/>
                    <a:pt x="1970583" y="3510"/>
                    <a:pt x="2244616" y="37074"/>
                  </a:cubicBezTo>
                  <a:cubicBezTo>
                    <a:pt x="3668891" y="211526"/>
                    <a:pt x="3501036" y="806646"/>
                    <a:pt x="1997593" y="912882"/>
                  </a:cubicBezTo>
                  <a:cubicBezTo>
                    <a:pt x="1734284" y="931488"/>
                    <a:pt x="1206485" y="921171"/>
                    <a:pt x="944525" y="901054"/>
                  </a:cubicBezTo>
                  <a:lnTo>
                    <a:pt x="924332" y="1120057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23" name="テキスト ボックス 22"/>
            <p:cNvSpPr txBox="1"/>
            <p:nvPr/>
          </p:nvSpPr>
          <p:spPr>
            <a:xfrm>
              <a:off x="1294028" y="3727745"/>
              <a:ext cx="3129496" cy="95410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一般教養科目は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ja-JP" altLang="en-US" sz="2800" dirty="0" smtClean="0"/>
                <a:t>○○がいいですよ</a:t>
              </a:r>
              <a:endParaRPr lang="ja-JP" altLang="en-US" sz="2800" dirty="0"/>
            </a:p>
          </p:txBody>
        </p:sp>
      </p:grpSp>
      <p:sp>
        <p:nvSpPr>
          <p:cNvPr id="25" name="テキスト ボックス 24"/>
          <p:cNvSpPr txBox="1"/>
          <p:nvPr/>
        </p:nvSpPr>
        <p:spPr>
          <a:xfrm>
            <a:off x="2024533" y="5959411"/>
            <a:ext cx="1414493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/>
              <a:t>4</a:t>
            </a:r>
            <a:r>
              <a:rPr kumimoji="1" lang="ja-JP" altLang="en-US" sz="2800" dirty="0" smtClean="0"/>
              <a:t>回生</a:t>
            </a:r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6781800" y="5959411"/>
            <a:ext cx="1414493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 smtClean="0"/>
              <a:t>1</a:t>
            </a:r>
            <a:r>
              <a:rPr kumimoji="1" lang="ja-JP" altLang="en-US" sz="2800" dirty="0" smtClean="0"/>
              <a:t>回生</a:t>
            </a:r>
          </a:p>
        </p:txBody>
      </p:sp>
      <p:grpSp>
        <p:nvGrpSpPr>
          <p:cNvPr id="30" name="グループ化 29"/>
          <p:cNvGrpSpPr>
            <a:grpSpLocks noChangeAspect="1"/>
          </p:cNvGrpSpPr>
          <p:nvPr/>
        </p:nvGrpSpPr>
        <p:grpSpPr>
          <a:xfrm>
            <a:off x="637367" y="3231206"/>
            <a:ext cx="3224499" cy="1587889"/>
            <a:chOff x="1246527" y="3598135"/>
            <a:chExt cx="3224499" cy="1443535"/>
          </a:xfrm>
        </p:grpSpPr>
        <p:sp>
          <p:nvSpPr>
            <p:cNvPr id="31" name="円形吹き出し 20"/>
            <p:cNvSpPr/>
            <p:nvPr/>
          </p:nvSpPr>
          <p:spPr>
            <a:xfrm>
              <a:off x="1246527" y="3598135"/>
              <a:ext cx="3224499" cy="1443535"/>
            </a:xfrm>
            <a:custGeom>
              <a:avLst/>
              <a:gdLst>
                <a:gd name="connsiteX0" fmla="*/ 564047 w 3222757"/>
                <a:gd name="connsiteY0" fmla="*/ 1081435 h 926275"/>
                <a:gd name="connsiteX1" fmla="*/ 642541 w 3222757"/>
                <a:gd name="connsiteY1" fmla="*/ 833213 h 926275"/>
                <a:gd name="connsiteX2" fmla="*/ 1373420 w 3222757"/>
                <a:gd name="connsiteY2" fmla="*/ 5077 h 926275"/>
                <a:gd name="connsiteX3" fmla="*/ 2243106 w 3222757"/>
                <a:gd name="connsiteY3" fmla="*/ 37074 h 926275"/>
                <a:gd name="connsiteX4" fmla="*/ 1996083 w 3222757"/>
                <a:gd name="connsiteY4" fmla="*/ 912882 h 926275"/>
                <a:gd name="connsiteX5" fmla="*/ 1195428 w 3222757"/>
                <a:gd name="connsiteY5" fmla="*/ 910579 h 926275"/>
                <a:gd name="connsiteX6" fmla="*/ 564047 w 3222757"/>
                <a:gd name="connsiteY6" fmla="*/ 1081435 h 926275"/>
                <a:gd name="connsiteX0" fmla="*/ 565557 w 3224499"/>
                <a:gd name="connsiteY0" fmla="*/ 1081435 h 1081435"/>
                <a:gd name="connsiteX1" fmla="*/ 644051 w 3224499"/>
                <a:gd name="connsiteY1" fmla="*/ 833213 h 1081435"/>
                <a:gd name="connsiteX2" fmla="*/ 1374930 w 3224499"/>
                <a:gd name="connsiteY2" fmla="*/ 5077 h 1081435"/>
                <a:gd name="connsiteX3" fmla="*/ 2244616 w 3224499"/>
                <a:gd name="connsiteY3" fmla="*/ 37074 h 1081435"/>
                <a:gd name="connsiteX4" fmla="*/ 1997593 w 3224499"/>
                <a:gd name="connsiteY4" fmla="*/ 912882 h 1081435"/>
                <a:gd name="connsiteX5" fmla="*/ 944525 w 3224499"/>
                <a:gd name="connsiteY5" fmla="*/ 901054 h 1081435"/>
                <a:gd name="connsiteX6" fmla="*/ 565557 w 3224499"/>
                <a:gd name="connsiteY6" fmla="*/ 1081435 h 1081435"/>
                <a:gd name="connsiteX0" fmla="*/ 924332 w 3224499"/>
                <a:gd name="connsiteY0" fmla="*/ 1120057 h 1120057"/>
                <a:gd name="connsiteX1" fmla="*/ 644051 w 3224499"/>
                <a:gd name="connsiteY1" fmla="*/ 833213 h 1120057"/>
                <a:gd name="connsiteX2" fmla="*/ 1374930 w 3224499"/>
                <a:gd name="connsiteY2" fmla="*/ 5077 h 1120057"/>
                <a:gd name="connsiteX3" fmla="*/ 2244616 w 3224499"/>
                <a:gd name="connsiteY3" fmla="*/ 37074 h 1120057"/>
                <a:gd name="connsiteX4" fmla="*/ 1997593 w 3224499"/>
                <a:gd name="connsiteY4" fmla="*/ 912882 h 1120057"/>
                <a:gd name="connsiteX5" fmla="*/ 944525 w 3224499"/>
                <a:gd name="connsiteY5" fmla="*/ 901054 h 1120057"/>
                <a:gd name="connsiteX6" fmla="*/ 924332 w 3224499"/>
                <a:gd name="connsiteY6" fmla="*/ 1120057 h 1120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24499" h="1120057">
                  <a:moveTo>
                    <a:pt x="924332" y="1120057"/>
                  </a:moveTo>
                  <a:lnTo>
                    <a:pt x="644051" y="833213"/>
                  </a:lnTo>
                  <a:cubicBezTo>
                    <a:pt x="-498185" y="586188"/>
                    <a:pt x="-38868" y="65749"/>
                    <a:pt x="1374930" y="5077"/>
                  </a:cubicBezTo>
                  <a:cubicBezTo>
                    <a:pt x="1669543" y="-7566"/>
                    <a:pt x="1970583" y="3510"/>
                    <a:pt x="2244616" y="37074"/>
                  </a:cubicBezTo>
                  <a:cubicBezTo>
                    <a:pt x="3668891" y="211526"/>
                    <a:pt x="3501036" y="806646"/>
                    <a:pt x="1997593" y="912882"/>
                  </a:cubicBezTo>
                  <a:cubicBezTo>
                    <a:pt x="1734284" y="931488"/>
                    <a:pt x="1206485" y="921171"/>
                    <a:pt x="944525" y="901054"/>
                  </a:cubicBezTo>
                  <a:lnTo>
                    <a:pt x="924332" y="1120057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32" name="テキスト ボックス 31"/>
            <p:cNvSpPr txBox="1"/>
            <p:nvPr/>
          </p:nvSpPr>
          <p:spPr>
            <a:xfrm>
              <a:off x="1294028" y="3941399"/>
              <a:ext cx="3129496" cy="4756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今更言われても</a:t>
              </a:r>
              <a:r>
                <a:rPr lang="en-US" altLang="ja-JP" sz="2800" dirty="0" smtClean="0"/>
                <a:t>…</a:t>
              </a:r>
              <a:endParaRPr lang="ja-JP" alt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55124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本研究の目的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マルチタスク手法の性能は，</a:t>
            </a:r>
            <a:r>
              <a:rPr lang="ja-JP" altLang="en-US" dirty="0"/>
              <a:t>テスト</a:t>
            </a:r>
            <a:r>
              <a:rPr kumimoji="1" lang="ja-JP" altLang="en-US" dirty="0" smtClean="0"/>
              <a:t>問題に対する探索性能で評価する</a:t>
            </a:r>
            <a:r>
              <a:rPr lang="ja-JP" altLang="en-US" dirty="0"/>
              <a:t>．</a:t>
            </a:r>
            <a:endParaRPr kumimoji="1" lang="en-US" altLang="ja-JP" dirty="0" smtClean="0"/>
          </a:p>
          <a:p>
            <a:r>
              <a:rPr kumimoji="1" lang="ja-JP" altLang="en-US" dirty="0" smtClean="0"/>
              <a:t>しかし，既存の</a:t>
            </a:r>
            <a:r>
              <a:rPr lang="ja-JP" altLang="en-US" dirty="0"/>
              <a:t>テスト</a:t>
            </a:r>
            <a:r>
              <a:rPr kumimoji="1" lang="ja-JP" altLang="en-US" dirty="0" smtClean="0"/>
              <a:t>問題</a:t>
            </a:r>
            <a:r>
              <a:rPr kumimoji="1" lang="en-US" altLang="ja-JP" sz="2400" dirty="0" smtClean="0"/>
              <a:t>[Yuan et al., 2017]</a:t>
            </a:r>
            <a:r>
              <a:rPr kumimoji="1" lang="ja-JP" altLang="en-US" dirty="0" smtClean="0"/>
              <a:t>で</a:t>
            </a:r>
            <a:r>
              <a:rPr lang="ja-JP" altLang="en-US" dirty="0" smtClean="0"/>
              <a:t>は，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kumimoji="1" lang="ja-JP" altLang="en-US" dirty="0" smtClean="0"/>
              <a:t>評価</a:t>
            </a:r>
            <a:r>
              <a:rPr kumimoji="1" lang="ja-JP" altLang="en-US" dirty="0"/>
              <a:t>関数</a:t>
            </a:r>
            <a:r>
              <a:rPr kumimoji="1" lang="ja-JP" altLang="en-US" dirty="0" smtClean="0"/>
              <a:t>が複雑な高次方程式である．</a:t>
            </a:r>
            <a:r>
              <a:rPr lang="ja-JP" altLang="en-US" dirty="0" smtClean="0"/>
              <a:t>そのため，タスク間の</a:t>
            </a:r>
            <a:r>
              <a:rPr lang="ja-JP" altLang="en-US" b="1" dirty="0" smtClean="0">
                <a:solidFill>
                  <a:schemeClr val="accent2"/>
                </a:solidFill>
              </a:rPr>
              <a:t>関係性がわかりにくい</a:t>
            </a:r>
            <a:r>
              <a:rPr lang="ja-JP" altLang="en-US" dirty="0" smtClean="0"/>
              <a:t>．</a:t>
            </a:r>
            <a:endParaRPr lang="en-US" altLang="ja-JP" dirty="0" smtClean="0"/>
          </a:p>
          <a:p>
            <a:r>
              <a:rPr kumimoji="1" lang="ja-JP" altLang="en-US" dirty="0" smtClean="0"/>
              <a:t>本研究では，</a:t>
            </a:r>
            <a:r>
              <a:rPr lang="ja-JP" altLang="en-US" dirty="0" smtClean="0"/>
              <a:t>評価関数が単純で，タスク間の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b="1" dirty="0" smtClean="0">
                <a:solidFill>
                  <a:schemeClr val="accent1"/>
                </a:solidFill>
              </a:rPr>
              <a:t>関係性が明確</a:t>
            </a:r>
            <a:r>
              <a:rPr lang="ja-JP" altLang="en-US" dirty="0" smtClean="0"/>
              <a:t>な新たなテスト問題を提案する．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30229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提案するテスト問題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評価関数が一次関数である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多目的ナップサック</a:t>
            </a:r>
            <a:r>
              <a:rPr kumimoji="1" lang="en-US" altLang="ja-JP" b="1" dirty="0" smtClean="0">
                <a:solidFill>
                  <a:schemeClr val="accent1"/>
                </a:solidFill>
              </a:rPr>
              <a:t/>
            </a:r>
            <a:br>
              <a:rPr kumimoji="1" lang="en-US" altLang="ja-JP" b="1" dirty="0" smtClean="0">
                <a:solidFill>
                  <a:schemeClr val="accent1"/>
                </a:solidFill>
              </a:rPr>
            </a:br>
            <a:r>
              <a:rPr kumimoji="1" lang="ja-JP" altLang="en-US" b="1" dirty="0" smtClean="0">
                <a:solidFill>
                  <a:schemeClr val="accent1"/>
                </a:solidFill>
              </a:rPr>
              <a:t>問題</a:t>
            </a:r>
            <a:r>
              <a:rPr kumimoji="1" lang="ja-JP" altLang="en-US" dirty="0" smtClean="0"/>
              <a:t>を，</a:t>
            </a: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つ組み合わせた問題を提案する．</a:t>
            </a:r>
            <a:endParaRPr kumimoji="1" lang="en-US" altLang="ja-JP" dirty="0" smtClean="0"/>
          </a:p>
          <a:p>
            <a:r>
              <a:rPr kumimoji="1" lang="en-US" altLang="ja-JP" dirty="0" smtClean="0"/>
              <a:t>2</a:t>
            </a:r>
            <a:r>
              <a:rPr kumimoji="1" lang="ja-JP" altLang="en-US" dirty="0" smtClean="0"/>
              <a:t>つ目のタスクは，</a:t>
            </a:r>
            <a:r>
              <a:rPr kumimoji="1" lang="en-US" altLang="ja-JP" dirty="0" smtClean="0"/>
              <a:t>1</a:t>
            </a:r>
            <a:r>
              <a:rPr kumimoji="1" lang="ja-JP" altLang="en-US" dirty="0" smtClean="0"/>
              <a:t>つ目のタスクに変更を加えた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 smtClean="0"/>
              <a:t>問題</a:t>
            </a:r>
            <a:r>
              <a:rPr kumimoji="1" lang="ja-JP" altLang="en-US" dirty="0" smtClean="0"/>
              <a:t>とする．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  <p:grpSp>
        <p:nvGrpSpPr>
          <p:cNvPr id="11" name="グループ化 10"/>
          <p:cNvGrpSpPr/>
          <p:nvPr/>
        </p:nvGrpSpPr>
        <p:grpSpPr>
          <a:xfrm>
            <a:off x="364382" y="3660281"/>
            <a:ext cx="8415237" cy="2348635"/>
            <a:chOff x="301252" y="3969039"/>
            <a:chExt cx="8415237" cy="2348635"/>
          </a:xfrm>
        </p:grpSpPr>
        <p:grpSp>
          <p:nvGrpSpPr>
            <p:cNvPr id="5" name="グループ化 4"/>
            <p:cNvGrpSpPr/>
            <p:nvPr/>
          </p:nvGrpSpPr>
          <p:grpSpPr>
            <a:xfrm>
              <a:off x="301252" y="3969039"/>
              <a:ext cx="3878862" cy="2348634"/>
              <a:chOff x="728763" y="2306493"/>
              <a:chExt cx="3732771" cy="2348634"/>
            </a:xfrm>
          </p:grpSpPr>
          <p:sp>
            <p:nvSpPr>
              <p:cNvPr id="6" name="角丸四角形 5"/>
              <p:cNvSpPr/>
              <p:nvPr/>
            </p:nvSpPr>
            <p:spPr>
              <a:xfrm>
                <a:off x="728763" y="2548648"/>
                <a:ext cx="3732771" cy="2106479"/>
              </a:xfrm>
              <a:prstGeom prst="roundRect">
                <a:avLst/>
              </a:prstGeom>
              <a:noFill/>
              <a:ln w="571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kumimoji="1" lang="ja-JP" altLang="en-US" sz="2800" dirty="0" smtClean="0">
                    <a:solidFill>
                      <a:schemeClr val="tx1"/>
                    </a:solidFill>
                  </a:rPr>
                  <a:t>決定変数が連続値</a:t>
                </a:r>
                <a:endParaRPr kumimoji="1" lang="en-US" altLang="ja-JP" sz="2800" dirty="0" smtClean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kumimoji="1" lang="ja-JP" altLang="en-US" sz="2800" dirty="0" smtClean="0">
                    <a:solidFill>
                      <a:schemeClr val="tx1"/>
                    </a:solidFill>
                  </a:rPr>
                  <a:t>評価関数が複雑</a:t>
                </a:r>
                <a:endParaRPr kumimoji="1" lang="en-US" altLang="ja-JP" sz="2800" dirty="0" smtClean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ja-JP" altLang="en-US" sz="2800" dirty="0">
                    <a:solidFill>
                      <a:schemeClr val="tx1"/>
                    </a:solidFill>
                  </a:rPr>
                  <a:t>タスク間の</a:t>
                </a:r>
                <a:r>
                  <a:rPr lang="ja-JP" altLang="en-US" sz="2800" dirty="0" smtClean="0">
                    <a:solidFill>
                      <a:schemeClr val="tx1"/>
                    </a:solidFill>
                  </a:rPr>
                  <a:t>関係性が不明瞭</a:t>
                </a:r>
                <a:endParaRPr kumimoji="1" lang="en-US" altLang="ja-JP" sz="2800" dirty="0" smtClean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テキスト ボックス 6"/>
              <p:cNvSpPr txBox="1"/>
              <p:nvPr/>
            </p:nvSpPr>
            <p:spPr>
              <a:xfrm>
                <a:off x="1223253" y="2306493"/>
                <a:ext cx="2892357" cy="523220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既存のテスト問題</a:t>
                </a:r>
              </a:p>
            </p:txBody>
          </p:sp>
        </p:grpSp>
        <p:grpSp>
          <p:nvGrpSpPr>
            <p:cNvPr id="8" name="グループ化 7"/>
            <p:cNvGrpSpPr/>
            <p:nvPr/>
          </p:nvGrpSpPr>
          <p:grpSpPr>
            <a:xfrm>
              <a:off x="4835152" y="3969039"/>
              <a:ext cx="3881337" cy="2348635"/>
              <a:chOff x="5262663" y="2427569"/>
              <a:chExt cx="3881337" cy="2348635"/>
            </a:xfrm>
          </p:grpSpPr>
          <p:sp>
            <p:nvSpPr>
              <p:cNvPr id="9" name="角丸四角形 8"/>
              <p:cNvSpPr/>
              <p:nvPr/>
            </p:nvSpPr>
            <p:spPr>
              <a:xfrm>
                <a:off x="5262663" y="2669724"/>
                <a:ext cx="3881337" cy="2106480"/>
              </a:xfrm>
              <a:prstGeom prst="roundRect">
                <a:avLst/>
              </a:prstGeom>
              <a:noFill/>
              <a:ln w="571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kumimoji="1" lang="ja-JP" altLang="en-US" sz="2800" dirty="0" smtClean="0">
                    <a:solidFill>
                      <a:schemeClr val="tx1"/>
                    </a:solidFill>
                  </a:rPr>
                  <a:t>決定変数が離散値</a:t>
                </a:r>
                <a:endParaRPr kumimoji="1" lang="en-US" altLang="ja-JP" sz="2800" dirty="0" smtClean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kumimoji="1" lang="ja-JP" altLang="en-US" sz="2800" dirty="0" smtClean="0">
                    <a:solidFill>
                      <a:schemeClr val="tx1"/>
                    </a:solidFill>
                  </a:rPr>
                  <a:t>評価関数が単純</a:t>
                </a:r>
                <a:endParaRPr kumimoji="1" lang="en-US" altLang="ja-JP" sz="2800" dirty="0" smtClean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ja-JP" altLang="en-US" sz="2800" dirty="0" smtClean="0">
                    <a:solidFill>
                      <a:schemeClr val="tx1"/>
                    </a:solidFill>
                  </a:rPr>
                  <a:t>タスク間の関係性が明瞭</a:t>
                </a:r>
                <a:endParaRPr kumimoji="1" lang="ja-JP" alt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テキスト ボックス 9"/>
              <p:cNvSpPr txBox="1"/>
              <p:nvPr/>
            </p:nvSpPr>
            <p:spPr>
              <a:xfrm>
                <a:off x="5584487" y="2427569"/>
                <a:ext cx="3237688" cy="523220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2800" dirty="0"/>
                  <a:t>提案</a:t>
                </a:r>
                <a:r>
                  <a:rPr lang="ja-JP" altLang="en-US" sz="2800" dirty="0" smtClean="0"/>
                  <a:t>する</a:t>
                </a:r>
                <a:r>
                  <a:rPr kumimoji="1" lang="ja-JP" altLang="en-US" sz="2800" dirty="0" smtClean="0"/>
                  <a:t>テスト問題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71342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多目的ナップサック問題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(</a:t>
            </a:r>
            <a:r>
              <a:rPr lang="ja-JP" altLang="en-US" dirty="0"/>
              <a:t>単</a:t>
            </a:r>
            <a:r>
              <a:rPr lang="ja-JP" altLang="en-US" dirty="0" smtClean="0"/>
              <a:t>目的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ナップサック問題を多目的化した問題</a:t>
            </a:r>
            <a:endParaRPr kumimoji="1" lang="en-US" altLang="ja-JP" dirty="0" smtClean="0"/>
          </a:p>
          <a:p>
            <a:pPr algn="r"/>
            <a:r>
              <a:rPr lang="ja-JP" altLang="en-US" sz="2800" dirty="0" smtClean="0"/>
              <a:t>ナップサック問題： ナップサック内にアイテムを詰め込み，アイテムの価値の総和を最大化する．</a:t>
            </a:r>
            <a:endParaRPr kumimoji="1" lang="ja-JP" altLang="en-US" sz="28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  <p:grpSp>
        <p:nvGrpSpPr>
          <p:cNvPr id="31" name="グループ化 30"/>
          <p:cNvGrpSpPr/>
          <p:nvPr/>
        </p:nvGrpSpPr>
        <p:grpSpPr>
          <a:xfrm>
            <a:off x="1837217" y="3412792"/>
            <a:ext cx="6677507" cy="1432412"/>
            <a:chOff x="970319" y="3412792"/>
            <a:chExt cx="6677507" cy="1432412"/>
          </a:xfrm>
        </p:grpSpPr>
        <p:pic>
          <p:nvPicPr>
            <p:cNvPr id="5" name="図 4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332" b="26611"/>
            <a:stretch/>
          </p:blipFill>
          <p:spPr>
            <a:xfrm>
              <a:off x="970319" y="3653863"/>
              <a:ext cx="899281" cy="1191341"/>
            </a:xfrm>
            <a:prstGeom prst="rect">
              <a:avLst/>
            </a:prstGeom>
          </p:spPr>
        </p:pic>
        <p:grpSp>
          <p:nvGrpSpPr>
            <p:cNvPr id="6" name="グループ化 5"/>
            <p:cNvGrpSpPr/>
            <p:nvPr/>
          </p:nvGrpSpPr>
          <p:grpSpPr>
            <a:xfrm>
              <a:off x="3609226" y="3412792"/>
              <a:ext cx="4038600" cy="1432412"/>
              <a:chOff x="2400301" y="1802131"/>
              <a:chExt cx="4038600" cy="1432412"/>
            </a:xfrm>
          </p:grpSpPr>
          <p:grpSp>
            <p:nvGrpSpPr>
              <p:cNvPr id="7" name="グループ化 6"/>
              <p:cNvGrpSpPr/>
              <p:nvPr/>
            </p:nvGrpSpPr>
            <p:grpSpPr>
              <a:xfrm>
                <a:off x="2400301" y="1802131"/>
                <a:ext cx="4038600" cy="1432412"/>
                <a:chOff x="2400301" y="1802131"/>
                <a:chExt cx="4038600" cy="1432412"/>
              </a:xfrm>
            </p:grpSpPr>
            <p:sp>
              <p:nvSpPr>
                <p:cNvPr id="12" name="テキスト ボックス 11"/>
                <p:cNvSpPr txBox="1"/>
                <p:nvPr/>
              </p:nvSpPr>
              <p:spPr>
                <a:xfrm>
                  <a:off x="2400301" y="2156607"/>
                  <a:ext cx="4038600" cy="1077936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kumimoji="1" lang="ja-JP" altLang="en-US" sz="2800" dirty="0" smtClean="0"/>
                </a:p>
              </p:txBody>
            </p:sp>
            <p:sp>
              <p:nvSpPr>
                <p:cNvPr id="13" name="テキスト ボックス 12"/>
                <p:cNvSpPr txBox="1"/>
                <p:nvPr/>
              </p:nvSpPr>
              <p:spPr>
                <a:xfrm>
                  <a:off x="2666595" y="1802131"/>
                  <a:ext cx="2403086" cy="52322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800" dirty="0" smtClean="0"/>
                    <a:t>アイテム集合</a:t>
                  </a:r>
                  <a:r>
                    <a:rPr kumimoji="1" lang="en-US" altLang="ja-JP" sz="2800" dirty="0" smtClean="0"/>
                    <a:t>1</a:t>
                  </a:r>
                  <a:endParaRPr kumimoji="1" lang="ja-JP" altLang="en-US" sz="2800" dirty="0" smtClean="0"/>
                </a:p>
              </p:txBody>
            </p:sp>
          </p:grpSp>
          <p:grpSp>
            <p:nvGrpSpPr>
              <p:cNvPr id="8" name="グループ化 7"/>
              <p:cNvGrpSpPr/>
              <p:nvPr/>
            </p:nvGrpSpPr>
            <p:grpSpPr>
              <a:xfrm>
                <a:off x="2663704" y="2290762"/>
                <a:ext cx="2596513" cy="809626"/>
                <a:chOff x="2663704" y="2290762"/>
                <a:chExt cx="2596513" cy="809626"/>
              </a:xfrm>
            </p:grpSpPr>
            <p:pic>
              <p:nvPicPr>
                <p:cNvPr id="9" name="図 8"/>
                <p:cNvPicPr>
                  <a:picLocks noChangeAspect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9965" t="3726" r="14240" b="24760"/>
                <a:stretch/>
              </p:blipFill>
              <p:spPr>
                <a:xfrm>
                  <a:off x="3615531" y="2290762"/>
                  <a:ext cx="663350" cy="809626"/>
                </a:xfrm>
                <a:prstGeom prst="rect">
                  <a:avLst/>
                </a:prstGeom>
              </p:spPr>
            </p:pic>
            <p:pic>
              <p:nvPicPr>
                <p:cNvPr id="10" name="図 9"/>
                <p:cNvPicPr>
                  <a:picLocks noChangeAspect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2063" r="4202" b="23007"/>
                <a:stretch/>
              </p:blipFill>
              <p:spPr>
                <a:xfrm>
                  <a:off x="2663704" y="2290762"/>
                  <a:ext cx="827773" cy="809626"/>
                </a:xfrm>
                <a:prstGeom prst="rect">
                  <a:avLst/>
                </a:prstGeom>
              </p:spPr>
            </p:pic>
            <p:sp>
              <p:nvSpPr>
                <p:cNvPr id="11" name="テキスト ボックス 10"/>
                <p:cNvSpPr txBox="1"/>
                <p:nvPr/>
              </p:nvSpPr>
              <p:spPr>
                <a:xfrm>
                  <a:off x="3999970" y="2433965"/>
                  <a:ext cx="1260247" cy="52322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800" dirty="0" smtClean="0"/>
                    <a:t>･･･</a:t>
                  </a:r>
                </a:p>
              </p:txBody>
            </p:sp>
          </p:grpSp>
        </p:grpSp>
        <p:sp>
          <p:nvSpPr>
            <p:cNvPr id="14" name="円弧 13"/>
            <p:cNvSpPr/>
            <p:nvPr/>
          </p:nvSpPr>
          <p:spPr>
            <a:xfrm flipH="1">
              <a:off x="1770789" y="3499379"/>
              <a:ext cx="1883584" cy="1124832"/>
            </a:xfrm>
            <a:prstGeom prst="arc">
              <a:avLst>
                <a:gd name="adj1" fmla="val 11755284"/>
                <a:gd name="adj2" fmla="val 20753704"/>
              </a:avLst>
            </a:prstGeom>
            <a:ln w="762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</p:grpSp>
      <p:grpSp>
        <p:nvGrpSpPr>
          <p:cNvPr id="32" name="グループ化 31"/>
          <p:cNvGrpSpPr/>
          <p:nvPr/>
        </p:nvGrpSpPr>
        <p:grpSpPr>
          <a:xfrm>
            <a:off x="1837217" y="5236258"/>
            <a:ext cx="6677507" cy="1432412"/>
            <a:chOff x="970319" y="5010628"/>
            <a:chExt cx="6677507" cy="1432412"/>
          </a:xfrm>
        </p:grpSpPr>
        <p:pic>
          <p:nvPicPr>
            <p:cNvPr id="18" name="図 17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332" b="26611"/>
            <a:stretch/>
          </p:blipFill>
          <p:spPr>
            <a:xfrm>
              <a:off x="970319" y="5206436"/>
              <a:ext cx="899281" cy="1191341"/>
            </a:xfrm>
            <a:prstGeom prst="rect">
              <a:avLst/>
            </a:prstGeom>
          </p:spPr>
        </p:pic>
        <p:grpSp>
          <p:nvGrpSpPr>
            <p:cNvPr id="26" name="グループ化 25"/>
            <p:cNvGrpSpPr/>
            <p:nvPr/>
          </p:nvGrpSpPr>
          <p:grpSpPr>
            <a:xfrm>
              <a:off x="3609226" y="5010628"/>
              <a:ext cx="4038600" cy="1432412"/>
              <a:chOff x="4211280" y="5010628"/>
              <a:chExt cx="4038600" cy="1432412"/>
            </a:xfrm>
          </p:grpSpPr>
          <p:grpSp>
            <p:nvGrpSpPr>
              <p:cNvPr id="25" name="グループ化 24"/>
              <p:cNvGrpSpPr/>
              <p:nvPr/>
            </p:nvGrpSpPr>
            <p:grpSpPr>
              <a:xfrm>
                <a:off x="4211280" y="5010628"/>
                <a:ext cx="4038600" cy="1432412"/>
                <a:chOff x="4211280" y="5010628"/>
                <a:chExt cx="4038600" cy="1432412"/>
              </a:xfrm>
            </p:grpSpPr>
            <p:sp>
              <p:nvSpPr>
                <p:cNvPr id="20" name="テキスト ボックス 19"/>
                <p:cNvSpPr txBox="1"/>
                <p:nvPr/>
              </p:nvSpPr>
              <p:spPr>
                <a:xfrm>
                  <a:off x="4211280" y="5365104"/>
                  <a:ext cx="4038600" cy="1077936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kumimoji="1" lang="ja-JP" altLang="en-US" sz="2800" dirty="0" smtClean="0"/>
                </a:p>
              </p:txBody>
            </p:sp>
            <p:sp>
              <p:nvSpPr>
                <p:cNvPr id="21" name="テキスト ボックス 20"/>
                <p:cNvSpPr txBox="1"/>
                <p:nvPr/>
              </p:nvSpPr>
              <p:spPr>
                <a:xfrm>
                  <a:off x="4477574" y="5010628"/>
                  <a:ext cx="2403086" cy="52322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800" dirty="0" smtClean="0"/>
                    <a:t>アイテム集合</a:t>
                  </a:r>
                  <a:r>
                    <a:rPr lang="en-US" altLang="ja-JP" sz="2800" dirty="0"/>
                    <a:t>2</a:t>
                  </a:r>
                  <a:endParaRPr kumimoji="1" lang="ja-JP" altLang="en-US" sz="2800" dirty="0" smtClean="0"/>
                </a:p>
              </p:txBody>
            </p:sp>
          </p:grpSp>
          <p:grpSp>
            <p:nvGrpSpPr>
              <p:cNvPr id="24" name="グループ化 23"/>
              <p:cNvGrpSpPr/>
              <p:nvPr/>
            </p:nvGrpSpPr>
            <p:grpSpPr>
              <a:xfrm>
                <a:off x="4435313" y="5530209"/>
                <a:ext cx="2968389" cy="747727"/>
                <a:chOff x="4435313" y="5530209"/>
                <a:chExt cx="2968389" cy="747727"/>
              </a:xfrm>
            </p:grpSpPr>
            <p:pic>
              <p:nvPicPr>
                <p:cNvPr id="17" name="コンテンツ プレースホルダー 6"/>
                <p:cNvPicPr>
                  <a:picLocks noChangeAspect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16245"/>
                <a:stretch/>
              </p:blipFill>
              <p:spPr bwMode="auto">
                <a:xfrm>
                  <a:off x="5371916" y="5740508"/>
                  <a:ext cx="1019359" cy="4993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9" name="図 18"/>
                <p:cNvPicPr>
                  <a:picLocks noChangeAspect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-198" t="6421" r="2853" b="25476"/>
                <a:stretch/>
              </p:blipFill>
              <p:spPr>
                <a:xfrm>
                  <a:off x="4435313" y="5530209"/>
                  <a:ext cx="855833" cy="747727"/>
                </a:xfrm>
                <a:prstGeom prst="rect">
                  <a:avLst/>
                </a:prstGeom>
              </p:spPr>
            </p:pic>
            <p:sp>
              <p:nvSpPr>
                <p:cNvPr id="22" name="テキスト ボックス 21"/>
                <p:cNvSpPr txBox="1"/>
                <p:nvPr/>
              </p:nvSpPr>
              <p:spPr>
                <a:xfrm>
                  <a:off x="6143455" y="5642462"/>
                  <a:ext cx="1260247" cy="52322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800" dirty="0" smtClean="0"/>
                    <a:t>･･･</a:t>
                  </a:r>
                </a:p>
              </p:txBody>
            </p:sp>
          </p:grpSp>
        </p:grpSp>
        <p:sp>
          <p:nvSpPr>
            <p:cNvPr id="28" name="円弧 27"/>
            <p:cNvSpPr/>
            <p:nvPr/>
          </p:nvSpPr>
          <p:spPr>
            <a:xfrm flipH="1">
              <a:off x="1770789" y="5073804"/>
              <a:ext cx="1883584" cy="1124832"/>
            </a:xfrm>
            <a:prstGeom prst="arc">
              <a:avLst>
                <a:gd name="adj1" fmla="val 11755284"/>
                <a:gd name="adj2" fmla="val 20753704"/>
              </a:avLst>
            </a:prstGeom>
            <a:ln w="762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</p:grpSp>
      <p:sp>
        <p:nvSpPr>
          <p:cNvPr id="29" name="テキスト ボックス 28"/>
          <p:cNvSpPr txBox="1"/>
          <p:nvPr/>
        </p:nvSpPr>
        <p:spPr>
          <a:xfrm>
            <a:off x="228600" y="3050983"/>
            <a:ext cx="1305695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目的</a:t>
            </a:r>
            <a:r>
              <a:rPr kumimoji="1" lang="en-US" altLang="ja-JP" sz="3200" dirty="0" smtClean="0"/>
              <a:t>1</a:t>
            </a:r>
            <a:endParaRPr kumimoji="1" lang="ja-JP" altLang="en-US" sz="3200" dirty="0" smtClean="0"/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228600" y="4936679"/>
            <a:ext cx="1305695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 smtClean="0"/>
              <a:t>目的</a:t>
            </a:r>
            <a:r>
              <a:rPr lang="en-US" altLang="ja-JP" sz="3200" dirty="0"/>
              <a:t>2</a:t>
            </a:r>
            <a:endParaRPr kumimoji="1" lang="ja-JP" alt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704935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提案するテスト問題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タスク</a:t>
            </a: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の作成方法が異なる，以下の</a:t>
            </a:r>
            <a:r>
              <a:rPr kumimoji="1" lang="en-US" altLang="ja-JP" dirty="0" smtClean="0"/>
              <a:t>2</a:t>
            </a:r>
            <a:r>
              <a:rPr kumimoji="1" lang="ja-JP" altLang="en-US" dirty="0" err="1" smtClean="0"/>
              <a:t>つの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テスト問題を提案する．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9</a:t>
            </a:fld>
            <a:endParaRPr kumimoji="1" lang="ja-JP" alt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69587"/>
              </p:ext>
            </p:extLst>
          </p:nvPr>
        </p:nvGraphicFramePr>
        <p:xfrm>
          <a:off x="282893" y="2849880"/>
          <a:ext cx="8578215" cy="18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0942">
                  <a:extLst>
                    <a:ext uri="{9D8B030D-6E8A-4147-A177-3AD203B41FA5}">
                      <a16:colId xmlns:a16="http://schemas.microsoft.com/office/drawing/2014/main" val="1744851688"/>
                    </a:ext>
                  </a:extLst>
                </a:gridCol>
                <a:gridCol w="3921443">
                  <a:extLst>
                    <a:ext uri="{9D8B030D-6E8A-4147-A177-3AD203B41FA5}">
                      <a16:colId xmlns:a16="http://schemas.microsoft.com/office/drawing/2014/main" val="3122415878"/>
                    </a:ext>
                  </a:extLst>
                </a:gridCol>
                <a:gridCol w="3465830">
                  <a:extLst>
                    <a:ext uri="{9D8B030D-6E8A-4147-A177-3AD203B41FA5}">
                      <a16:colId xmlns:a16="http://schemas.microsoft.com/office/drawing/2014/main" val="17281219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2800" b="0" dirty="0" smtClean="0">
                          <a:solidFill>
                            <a:schemeClr val="tx1"/>
                          </a:solidFill>
                        </a:rPr>
                        <a:t>Scaling</a:t>
                      </a:r>
                      <a:r>
                        <a:rPr lang="ja-JP" altLang="en-US" sz="28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ja-JP" sz="2800" b="0" dirty="0" smtClean="0">
                          <a:solidFill>
                            <a:schemeClr val="tx1"/>
                          </a:solidFill>
                        </a:rPr>
                        <a:t>Knapsack </a:t>
                      </a:r>
                      <a:r>
                        <a:rPr lang="ja-JP" altLang="en-US" sz="2800" b="0" dirty="0" smtClean="0">
                          <a:solidFill>
                            <a:schemeClr val="tx1"/>
                          </a:solidFill>
                        </a:rPr>
                        <a:t>問題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2800" b="0" dirty="0" smtClean="0">
                          <a:solidFill>
                            <a:schemeClr val="tx1"/>
                          </a:solidFill>
                        </a:rPr>
                        <a:t>Inversion Profit </a:t>
                      </a:r>
                      <a:r>
                        <a:rPr lang="ja-JP" altLang="en-US" sz="2800" b="0" dirty="0" smtClean="0">
                          <a:solidFill>
                            <a:schemeClr val="tx1"/>
                          </a:solidFill>
                        </a:rPr>
                        <a:t>問題</a:t>
                      </a:r>
                      <a:endParaRPr lang="en-US" altLang="ja-JP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2413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dirty="0" smtClean="0">
                          <a:solidFill>
                            <a:schemeClr val="tx1"/>
                          </a:solidFill>
                        </a:rPr>
                        <a:t>タスク</a:t>
                      </a: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多目的ナップサック問題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630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dirty="0" smtClean="0">
                          <a:solidFill>
                            <a:schemeClr val="tx1"/>
                          </a:solidFill>
                        </a:rPr>
                        <a:t>タスク</a:t>
                      </a: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dirty="0" smtClean="0">
                          <a:solidFill>
                            <a:schemeClr val="tx1"/>
                          </a:solidFill>
                        </a:rPr>
                        <a:t>タスク</a:t>
                      </a: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kumimoji="1" lang="ja-JP" altLang="en-US" sz="2400" b="0" dirty="0" smtClean="0">
                          <a:solidFill>
                            <a:schemeClr val="tx1"/>
                          </a:solidFill>
                        </a:rPr>
                        <a:t>のナップサックの</a:t>
                      </a: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kumimoji="1" lang="ja-JP" altLang="en-US" sz="2400" b="1" dirty="0" smtClean="0">
                          <a:solidFill>
                            <a:schemeClr val="accent1"/>
                          </a:solidFill>
                        </a:rPr>
                        <a:t>容量を変更</a:t>
                      </a:r>
                      <a:endParaRPr kumimoji="1" lang="ja-JP" altLang="en-US" sz="2400" b="1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dirty="0" smtClean="0">
                          <a:solidFill>
                            <a:schemeClr val="tx1"/>
                          </a:solidFill>
                        </a:rPr>
                        <a:t>タスク</a:t>
                      </a: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kumimoji="1" lang="ja-JP" altLang="en-US" sz="2400" b="0" dirty="0" smtClean="0">
                          <a:solidFill>
                            <a:schemeClr val="tx1"/>
                          </a:solidFill>
                        </a:rPr>
                        <a:t>の一部の</a:t>
                      </a: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kumimoji="1" lang="ja-JP" altLang="en-US" sz="2400" b="1" dirty="0" smtClean="0">
                          <a:solidFill>
                            <a:schemeClr val="accent1"/>
                          </a:solidFill>
                        </a:rPr>
                        <a:t>アイテムの価値を変更</a:t>
                      </a:r>
                      <a:endParaRPr kumimoji="1" lang="ja-JP" altLang="en-US" sz="2400" b="1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13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8927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提案するテスト問題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元のタスクのナップサックの容量を</a:t>
            </a:r>
            <a:r>
              <a:rPr kumimoji="1" lang="en-US" altLang="ja-JP" i="1" dirty="0" smtClean="0">
                <a:latin typeface="Symbol" panose="05050102010706020507" pitchFamily="18" charset="2"/>
              </a:rPr>
              <a:t>a</a:t>
            </a:r>
            <a:r>
              <a:rPr kumimoji="1" lang="ja-JP" altLang="en-US" dirty="0" smtClean="0"/>
              <a:t>倍する．</a:t>
            </a:r>
            <a:endParaRPr kumimoji="1"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10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Scaling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Knapsack 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82977" y="2626525"/>
            <a:ext cx="1469571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1</a:t>
            </a:r>
            <a:endParaRPr kumimoji="1" lang="ja-JP" altLang="en-US" sz="3200" dirty="0" smtClean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4841890" y="2626525"/>
            <a:ext cx="1479018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lang="en-US" altLang="ja-JP" sz="3200" dirty="0"/>
              <a:t>2</a:t>
            </a:r>
            <a:endParaRPr kumimoji="1" lang="ja-JP" altLang="en-US" sz="3200" dirty="0" smtClean="0"/>
          </a:p>
        </p:txBody>
      </p:sp>
      <p:grpSp>
        <p:nvGrpSpPr>
          <p:cNvPr id="2" name="グループ化 1"/>
          <p:cNvGrpSpPr/>
          <p:nvPr/>
        </p:nvGrpSpPr>
        <p:grpSpPr>
          <a:xfrm>
            <a:off x="5857606" y="3451459"/>
            <a:ext cx="1168988" cy="3264430"/>
            <a:chOff x="5275719" y="3439584"/>
            <a:chExt cx="1168988" cy="3264430"/>
          </a:xfrm>
        </p:grpSpPr>
        <p:pic>
          <p:nvPicPr>
            <p:cNvPr id="14" name="図 13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332" b="26611"/>
            <a:stretch/>
          </p:blipFill>
          <p:spPr>
            <a:xfrm>
              <a:off x="5275719" y="3439584"/>
              <a:ext cx="1168988" cy="1548641"/>
            </a:xfrm>
            <a:prstGeom prst="rect">
              <a:avLst/>
            </a:prstGeom>
          </p:spPr>
        </p:pic>
        <p:pic>
          <p:nvPicPr>
            <p:cNvPr id="15" name="図 14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332" b="26611"/>
            <a:stretch/>
          </p:blipFill>
          <p:spPr>
            <a:xfrm>
              <a:off x="5275719" y="5155373"/>
              <a:ext cx="1168988" cy="1548641"/>
            </a:xfrm>
            <a:prstGeom prst="rect">
              <a:avLst/>
            </a:prstGeom>
          </p:spPr>
        </p:pic>
      </p:grpSp>
      <p:pic>
        <p:nvPicPr>
          <p:cNvPr id="16" name="図 1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332" b="26611"/>
          <a:stretch/>
        </p:blipFill>
        <p:spPr>
          <a:xfrm>
            <a:off x="1429692" y="3808759"/>
            <a:ext cx="899281" cy="1191341"/>
          </a:xfrm>
          <a:prstGeom prst="rect">
            <a:avLst/>
          </a:prstGeom>
        </p:spPr>
      </p:pic>
      <p:pic>
        <p:nvPicPr>
          <p:cNvPr id="17" name="図 1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332" b="26611"/>
          <a:stretch/>
        </p:blipFill>
        <p:spPr>
          <a:xfrm>
            <a:off x="1429692" y="5524548"/>
            <a:ext cx="899281" cy="1191341"/>
          </a:xfrm>
          <a:prstGeom prst="rect">
            <a:avLst/>
          </a:prstGeom>
        </p:spPr>
      </p:pic>
      <p:grpSp>
        <p:nvGrpSpPr>
          <p:cNvPr id="12" name="グループ化 11"/>
          <p:cNvGrpSpPr/>
          <p:nvPr/>
        </p:nvGrpSpPr>
        <p:grpSpPr>
          <a:xfrm>
            <a:off x="3046656" y="4249694"/>
            <a:ext cx="2338168" cy="1152810"/>
            <a:chOff x="3046656" y="4237819"/>
            <a:chExt cx="2338168" cy="1152810"/>
          </a:xfrm>
        </p:grpSpPr>
        <p:sp>
          <p:nvSpPr>
            <p:cNvPr id="13" name="右矢印 12"/>
            <p:cNvSpPr/>
            <p:nvPr/>
          </p:nvSpPr>
          <p:spPr>
            <a:xfrm>
              <a:off x="3046656" y="4752969"/>
              <a:ext cx="2338168" cy="63766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テキスト ボックス 2"/>
            <p:cNvSpPr txBox="1"/>
            <p:nvPr/>
          </p:nvSpPr>
          <p:spPr>
            <a:xfrm>
              <a:off x="3414156" y="4237819"/>
              <a:ext cx="1603169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i="1" dirty="0">
                  <a:latin typeface="Symbol" panose="05050102010706020507" pitchFamily="18" charset="2"/>
                </a:rPr>
                <a:t>a</a:t>
              </a:r>
              <a:r>
                <a:rPr lang="ja-JP" altLang="en-US" sz="2800" dirty="0" smtClean="0"/>
                <a:t>倍</a:t>
              </a:r>
              <a:endParaRPr kumimoji="1" lang="ja-JP" altLang="en-US" sz="28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846970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提案するテスト問題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元のタスクのナップサックの容量を</a:t>
            </a:r>
            <a:r>
              <a:rPr lang="en-US" altLang="ja-JP" i="1" dirty="0">
                <a:latin typeface="Symbol" panose="05050102010706020507" pitchFamily="18" charset="2"/>
              </a:rPr>
              <a:t>a</a:t>
            </a:r>
            <a:r>
              <a:rPr lang="ja-JP" altLang="en-US" dirty="0"/>
              <a:t>倍する．</a:t>
            </a:r>
            <a:endParaRPr lang="en-US" altLang="ja-JP" dirty="0"/>
          </a:p>
          <a:p>
            <a:r>
              <a:rPr lang="ja-JP" altLang="en-US" dirty="0"/>
              <a:t>異なるタスクの解の情報は，直接利用できない．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11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Scaling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Knapsack 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grpSp>
        <p:nvGrpSpPr>
          <p:cNvPr id="25" name="グループ化 24"/>
          <p:cNvGrpSpPr/>
          <p:nvPr/>
        </p:nvGrpSpPr>
        <p:grpSpPr>
          <a:xfrm>
            <a:off x="793554" y="4031820"/>
            <a:ext cx="2121560" cy="957600"/>
            <a:chOff x="971687" y="4031820"/>
            <a:chExt cx="2121560" cy="957600"/>
          </a:xfrm>
        </p:grpSpPr>
        <p:sp>
          <p:nvSpPr>
            <p:cNvPr id="59" name="正方形/長方形 58"/>
            <p:cNvSpPr/>
            <p:nvPr/>
          </p:nvSpPr>
          <p:spPr>
            <a:xfrm>
              <a:off x="971687" y="4031820"/>
              <a:ext cx="2121560" cy="9576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60" name="グループ化 59"/>
            <p:cNvGrpSpPr/>
            <p:nvPr/>
          </p:nvGrpSpPr>
          <p:grpSpPr>
            <a:xfrm>
              <a:off x="1070687" y="4139001"/>
              <a:ext cx="1923561" cy="307392"/>
              <a:chOff x="1839788" y="4259580"/>
              <a:chExt cx="1923561" cy="308121"/>
            </a:xfrm>
          </p:grpSpPr>
          <p:sp>
            <p:nvSpPr>
              <p:cNvPr id="61" name="楕円 60"/>
              <p:cNvSpPr/>
              <p:nvPr/>
            </p:nvSpPr>
            <p:spPr>
              <a:xfrm>
                <a:off x="1839788" y="4259580"/>
                <a:ext cx="308121" cy="30812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2" name="楕円 61"/>
              <p:cNvSpPr/>
              <p:nvPr/>
            </p:nvSpPr>
            <p:spPr>
              <a:xfrm>
                <a:off x="2378268" y="4259580"/>
                <a:ext cx="308121" cy="30812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3" name="楕円 62"/>
              <p:cNvSpPr/>
              <p:nvPr/>
            </p:nvSpPr>
            <p:spPr>
              <a:xfrm>
                <a:off x="2916748" y="4259580"/>
                <a:ext cx="308121" cy="30812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4" name="楕円 63"/>
              <p:cNvSpPr/>
              <p:nvPr/>
            </p:nvSpPr>
            <p:spPr>
              <a:xfrm>
                <a:off x="3455228" y="4259580"/>
                <a:ext cx="308121" cy="30812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10" name="グループ化 9"/>
          <p:cNvGrpSpPr/>
          <p:nvPr/>
        </p:nvGrpSpPr>
        <p:grpSpPr>
          <a:xfrm>
            <a:off x="892554" y="4574118"/>
            <a:ext cx="1923561" cy="308121"/>
            <a:chOff x="6581080" y="5119033"/>
            <a:chExt cx="1923561" cy="308121"/>
          </a:xfrm>
          <a:solidFill>
            <a:schemeClr val="accent1"/>
          </a:solidFill>
        </p:grpSpPr>
        <p:sp>
          <p:nvSpPr>
            <p:cNvPr id="73" name="楕円 72"/>
            <p:cNvSpPr/>
            <p:nvPr/>
          </p:nvSpPr>
          <p:spPr>
            <a:xfrm>
              <a:off x="6581080" y="5119033"/>
              <a:ext cx="308121" cy="30812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" name="楕円 73"/>
            <p:cNvSpPr/>
            <p:nvPr/>
          </p:nvSpPr>
          <p:spPr>
            <a:xfrm>
              <a:off x="7119560" y="5119033"/>
              <a:ext cx="308121" cy="30812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" name="楕円 74"/>
            <p:cNvSpPr/>
            <p:nvPr/>
          </p:nvSpPr>
          <p:spPr>
            <a:xfrm>
              <a:off x="7658040" y="5119033"/>
              <a:ext cx="308121" cy="30812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" name="楕円 75"/>
            <p:cNvSpPr/>
            <p:nvPr/>
          </p:nvSpPr>
          <p:spPr>
            <a:xfrm>
              <a:off x="8196520" y="5119033"/>
              <a:ext cx="308121" cy="30812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7" name="グループ化 26"/>
          <p:cNvGrpSpPr/>
          <p:nvPr/>
        </p:nvGrpSpPr>
        <p:grpSpPr>
          <a:xfrm>
            <a:off x="5345966" y="4031820"/>
            <a:ext cx="2121560" cy="957600"/>
            <a:chOff x="6034735" y="4031820"/>
            <a:chExt cx="2121560" cy="957600"/>
          </a:xfrm>
        </p:grpSpPr>
        <p:sp>
          <p:nvSpPr>
            <p:cNvPr id="85" name="正方形/長方形 84"/>
            <p:cNvSpPr/>
            <p:nvPr/>
          </p:nvSpPr>
          <p:spPr>
            <a:xfrm>
              <a:off x="6034735" y="4031820"/>
              <a:ext cx="2121560" cy="9576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87" name="グループ化 86"/>
            <p:cNvGrpSpPr/>
            <p:nvPr/>
          </p:nvGrpSpPr>
          <p:grpSpPr>
            <a:xfrm>
              <a:off x="6133735" y="4139001"/>
              <a:ext cx="1923561" cy="307392"/>
              <a:chOff x="1839788" y="4259580"/>
              <a:chExt cx="1923561" cy="308121"/>
            </a:xfrm>
          </p:grpSpPr>
          <p:sp>
            <p:nvSpPr>
              <p:cNvPr id="93" name="楕円 92"/>
              <p:cNvSpPr/>
              <p:nvPr/>
            </p:nvSpPr>
            <p:spPr>
              <a:xfrm>
                <a:off x="1839788" y="4259580"/>
                <a:ext cx="308121" cy="3081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4" name="楕円 93"/>
              <p:cNvSpPr/>
              <p:nvPr/>
            </p:nvSpPr>
            <p:spPr>
              <a:xfrm>
                <a:off x="2378268" y="4259580"/>
                <a:ext cx="308121" cy="3081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5" name="楕円 94"/>
              <p:cNvSpPr/>
              <p:nvPr/>
            </p:nvSpPr>
            <p:spPr>
              <a:xfrm>
                <a:off x="2916748" y="4259580"/>
                <a:ext cx="308121" cy="3081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6" name="楕円 95"/>
              <p:cNvSpPr/>
              <p:nvPr/>
            </p:nvSpPr>
            <p:spPr>
              <a:xfrm>
                <a:off x="3455228" y="4259580"/>
                <a:ext cx="308121" cy="3081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88" name="グループ化 87"/>
          <p:cNvGrpSpPr/>
          <p:nvPr/>
        </p:nvGrpSpPr>
        <p:grpSpPr>
          <a:xfrm>
            <a:off x="5444966" y="4574118"/>
            <a:ext cx="1923561" cy="308121"/>
            <a:chOff x="6581080" y="5119033"/>
            <a:chExt cx="1923561" cy="308121"/>
          </a:xfrm>
          <a:solidFill>
            <a:schemeClr val="accent3"/>
          </a:solidFill>
        </p:grpSpPr>
        <p:sp>
          <p:nvSpPr>
            <p:cNvPr id="89" name="楕円 88"/>
            <p:cNvSpPr/>
            <p:nvPr/>
          </p:nvSpPr>
          <p:spPr>
            <a:xfrm>
              <a:off x="6581080" y="5119033"/>
              <a:ext cx="308121" cy="30812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0" name="楕円 89"/>
            <p:cNvSpPr/>
            <p:nvPr/>
          </p:nvSpPr>
          <p:spPr>
            <a:xfrm>
              <a:off x="7119560" y="5119033"/>
              <a:ext cx="308121" cy="30812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1" name="楕円 90"/>
            <p:cNvSpPr/>
            <p:nvPr/>
          </p:nvSpPr>
          <p:spPr>
            <a:xfrm>
              <a:off x="7658040" y="5119033"/>
              <a:ext cx="308121" cy="30812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2" name="楕円 91"/>
            <p:cNvSpPr/>
            <p:nvPr/>
          </p:nvSpPr>
          <p:spPr>
            <a:xfrm>
              <a:off x="8196520" y="5119033"/>
              <a:ext cx="308121" cy="30812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" name="乗算 2"/>
          <p:cNvSpPr/>
          <p:nvPr/>
        </p:nvSpPr>
        <p:spPr>
          <a:xfrm>
            <a:off x="4521528" y="4319989"/>
            <a:ext cx="3770435" cy="785270"/>
          </a:xfrm>
          <a:prstGeom prst="mathMultiply">
            <a:avLst>
              <a:gd name="adj1" fmla="val 660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7" name="乗算 96"/>
          <p:cNvSpPr/>
          <p:nvPr/>
        </p:nvSpPr>
        <p:spPr>
          <a:xfrm>
            <a:off x="-30884" y="4319989"/>
            <a:ext cx="3770435" cy="785270"/>
          </a:xfrm>
          <a:prstGeom prst="mathMultiply">
            <a:avLst>
              <a:gd name="adj1" fmla="val 660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5" name="グループ化 14"/>
          <p:cNvGrpSpPr/>
          <p:nvPr/>
        </p:nvGrpSpPr>
        <p:grpSpPr>
          <a:xfrm>
            <a:off x="2545341" y="3696533"/>
            <a:ext cx="3212857" cy="691171"/>
            <a:chOff x="3455710" y="4695893"/>
            <a:chExt cx="3212857" cy="691171"/>
          </a:xfrm>
        </p:grpSpPr>
        <p:cxnSp>
          <p:nvCxnSpPr>
            <p:cNvPr id="12" name="直線矢印コネクタ 11"/>
            <p:cNvCxnSpPr/>
            <p:nvPr/>
          </p:nvCxnSpPr>
          <p:spPr>
            <a:xfrm>
              <a:off x="4171489" y="5387064"/>
              <a:ext cx="1781299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テキスト ボックス 12"/>
            <p:cNvSpPr txBox="1"/>
            <p:nvPr/>
          </p:nvSpPr>
          <p:spPr>
            <a:xfrm>
              <a:off x="3455710" y="4695893"/>
              <a:ext cx="3212857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800" dirty="0" smtClean="0"/>
                <a:t>アイテム数：少</a:t>
              </a:r>
            </a:p>
          </p:txBody>
        </p:sp>
      </p:grpSp>
      <p:grpSp>
        <p:nvGrpSpPr>
          <p:cNvPr id="16" name="グループ化 15"/>
          <p:cNvGrpSpPr/>
          <p:nvPr/>
        </p:nvGrpSpPr>
        <p:grpSpPr>
          <a:xfrm>
            <a:off x="2545341" y="4646429"/>
            <a:ext cx="3212857" cy="678278"/>
            <a:chOff x="1069127" y="5396961"/>
            <a:chExt cx="3212857" cy="678278"/>
          </a:xfrm>
        </p:grpSpPr>
        <p:cxnSp>
          <p:nvCxnSpPr>
            <p:cNvPr id="40" name="直線矢印コネクタ 39"/>
            <p:cNvCxnSpPr/>
            <p:nvPr/>
          </p:nvCxnSpPr>
          <p:spPr>
            <a:xfrm flipH="1">
              <a:off x="1784907" y="5396961"/>
              <a:ext cx="1781299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テキスト ボックス 41"/>
            <p:cNvSpPr txBox="1"/>
            <p:nvPr/>
          </p:nvSpPr>
          <p:spPr>
            <a:xfrm>
              <a:off x="1069127" y="5552019"/>
              <a:ext cx="3212857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800" dirty="0" smtClean="0"/>
                <a:t>アイテム数：多</a:t>
              </a:r>
            </a:p>
          </p:txBody>
        </p:sp>
      </p:grpSp>
      <p:sp>
        <p:nvSpPr>
          <p:cNvPr id="45" name="テキスト ボックス 44"/>
          <p:cNvSpPr txBox="1"/>
          <p:nvPr/>
        </p:nvSpPr>
        <p:spPr>
          <a:xfrm>
            <a:off x="382977" y="2626525"/>
            <a:ext cx="1469571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1</a:t>
            </a:r>
            <a:endParaRPr kumimoji="1" lang="ja-JP" altLang="en-US" sz="3200" dirty="0" smtClean="0"/>
          </a:p>
        </p:txBody>
      </p:sp>
      <p:grpSp>
        <p:nvGrpSpPr>
          <p:cNvPr id="24" name="グループ化 23"/>
          <p:cNvGrpSpPr/>
          <p:nvPr/>
        </p:nvGrpSpPr>
        <p:grpSpPr>
          <a:xfrm>
            <a:off x="6830652" y="5637933"/>
            <a:ext cx="2084748" cy="915267"/>
            <a:chOff x="-2169204" y="2467875"/>
            <a:chExt cx="2084748" cy="915267"/>
          </a:xfrm>
        </p:grpSpPr>
        <p:grpSp>
          <p:nvGrpSpPr>
            <p:cNvPr id="21" name="グループ化 20"/>
            <p:cNvGrpSpPr/>
            <p:nvPr/>
          </p:nvGrpSpPr>
          <p:grpSpPr>
            <a:xfrm>
              <a:off x="-2102493" y="2485308"/>
              <a:ext cx="1951327" cy="880400"/>
              <a:chOff x="-1153240" y="3422852"/>
              <a:chExt cx="1951327" cy="880400"/>
            </a:xfrm>
          </p:grpSpPr>
          <p:grpSp>
            <p:nvGrpSpPr>
              <p:cNvPr id="18" name="グループ化 17"/>
              <p:cNvGrpSpPr/>
              <p:nvPr/>
            </p:nvGrpSpPr>
            <p:grpSpPr>
              <a:xfrm>
                <a:off x="-1153240" y="3422852"/>
                <a:ext cx="1951326" cy="430887"/>
                <a:chOff x="-1153240" y="3422852"/>
                <a:chExt cx="1951326" cy="430887"/>
              </a:xfrm>
            </p:grpSpPr>
            <p:sp>
              <p:nvSpPr>
                <p:cNvPr id="57" name="テキスト ボックス 56"/>
                <p:cNvSpPr txBox="1"/>
                <p:nvPr/>
              </p:nvSpPr>
              <p:spPr>
                <a:xfrm>
                  <a:off x="-1019777" y="3422852"/>
                  <a:ext cx="1817863" cy="43088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kumimoji="1" lang="ja-JP" altLang="en-US" sz="2200" dirty="0" smtClean="0"/>
                    <a:t>：タスク</a:t>
                  </a:r>
                  <a:r>
                    <a:rPr kumimoji="1" lang="en-US" altLang="ja-JP" sz="2200" dirty="0" smtClean="0"/>
                    <a:t>1</a:t>
                  </a:r>
                  <a:r>
                    <a:rPr kumimoji="1" lang="ja-JP" altLang="en-US" sz="2200" dirty="0" smtClean="0"/>
                    <a:t>の解</a:t>
                  </a:r>
                </a:p>
              </p:txBody>
            </p:sp>
            <p:sp>
              <p:nvSpPr>
                <p:cNvPr id="48" name="楕円 60"/>
                <p:cNvSpPr/>
                <p:nvPr/>
              </p:nvSpPr>
              <p:spPr>
                <a:xfrm>
                  <a:off x="-1153240" y="3499988"/>
                  <a:ext cx="308121" cy="307392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grpSp>
            <p:nvGrpSpPr>
              <p:cNvPr id="19" name="グループ化 18"/>
              <p:cNvGrpSpPr/>
              <p:nvPr/>
            </p:nvGrpSpPr>
            <p:grpSpPr>
              <a:xfrm>
                <a:off x="-1153240" y="3872365"/>
                <a:ext cx="1951327" cy="430887"/>
                <a:chOff x="-1153240" y="3872365"/>
                <a:chExt cx="1951327" cy="430887"/>
              </a:xfrm>
            </p:grpSpPr>
            <p:sp>
              <p:nvSpPr>
                <p:cNvPr id="47" name="テキスト ボックス 46"/>
                <p:cNvSpPr txBox="1"/>
                <p:nvPr/>
              </p:nvSpPr>
              <p:spPr>
                <a:xfrm>
                  <a:off x="-1019777" y="3872365"/>
                  <a:ext cx="1817864" cy="43088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kumimoji="1" lang="ja-JP" altLang="en-US" sz="2200" dirty="0" smtClean="0"/>
                    <a:t>：タスク</a:t>
                  </a:r>
                  <a:r>
                    <a:rPr kumimoji="1" lang="en-US" altLang="ja-JP" sz="2200" dirty="0" smtClean="0"/>
                    <a:t>2</a:t>
                  </a:r>
                  <a:r>
                    <a:rPr kumimoji="1" lang="ja-JP" altLang="en-US" sz="2200" dirty="0" smtClean="0"/>
                    <a:t>の解</a:t>
                  </a:r>
                </a:p>
              </p:txBody>
            </p:sp>
            <p:sp>
              <p:nvSpPr>
                <p:cNvPr id="49" name="楕円 72"/>
                <p:cNvSpPr/>
                <p:nvPr/>
              </p:nvSpPr>
              <p:spPr>
                <a:xfrm>
                  <a:off x="-1153240" y="3979288"/>
                  <a:ext cx="308121" cy="308121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  <p:sp>
          <p:nvSpPr>
            <p:cNvPr id="20" name="正方形/長方形 19"/>
            <p:cNvSpPr/>
            <p:nvPr/>
          </p:nvSpPr>
          <p:spPr>
            <a:xfrm>
              <a:off x="-2169204" y="2467875"/>
              <a:ext cx="2084748" cy="915267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66" name="テキスト ボックス 65"/>
          <p:cNvSpPr txBox="1"/>
          <p:nvPr/>
        </p:nvSpPr>
        <p:spPr>
          <a:xfrm>
            <a:off x="4841890" y="2626525"/>
            <a:ext cx="1479018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lang="en-US" altLang="ja-JP" sz="3200" dirty="0"/>
              <a:t>2</a:t>
            </a:r>
            <a:endParaRPr kumimoji="1" lang="ja-JP" altLang="en-US" sz="3200" dirty="0" smtClean="0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5487929" y="5054147"/>
            <a:ext cx="1837635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淘汰される</a:t>
            </a:r>
          </a:p>
        </p:txBody>
      </p:sp>
      <p:sp>
        <p:nvSpPr>
          <p:cNvPr id="50" name="テキスト ボックス 49"/>
          <p:cNvSpPr txBox="1"/>
          <p:nvPr/>
        </p:nvSpPr>
        <p:spPr>
          <a:xfrm>
            <a:off x="933730" y="5054147"/>
            <a:ext cx="1837635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淘汰される</a:t>
            </a:r>
          </a:p>
        </p:txBody>
      </p:sp>
    </p:spTree>
    <p:extLst>
      <p:ext uri="{BB962C8B-B14F-4D97-AF65-F5344CB8AC3E}">
        <p14:creationId xmlns:p14="http://schemas.microsoft.com/office/powerpoint/2010/main" val="3756174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7" grpId="0" animBg="1"/>
      <p:bldP spid="2" grpId="0"/>
      <p:bldP spid="5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提案するテスト問題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アイテム集合</a:t>
            </a: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の，</a:t>
            </a:r>
            <a:r>
              <a:rPr lang="en-US" altLang="ja-JP" i="1" dirty="0" smtClean="0">
                <a:latin typeface="Symbol" panose="05050102010706020507" pitchFamily="18" charset="2"/>
              </a:rPr>
              <a:t>b </a:t>
            </a:r>
            <a:r>
              <a:rPr lang="en-US" altLang="ja-JP" dirty="0" smtClean="0"/>
              <a:t>%</a:t>
            </a:r>
            <a:r>
              <a:rPr lang="ja-JP" altLang="en-US" dirty="0" smtClean="0">
                <a:latin typeface="Symbol" panose="05050102010706020507" pitchFamily="18" charset="2"/>
              </a:rPr>
              <a:t>の</a:t>
            </a:r>
            <a:r>
              <a:rPr kumimoji="1" lang="ja-JP" altLang="en-US" dirty="0" smtClean="0"/>
              <a:t>価値</a:t>
            </a:r>
            <a:r>
              <a:rPr kumimoji="1" lang="ja-JP" altLang="en-US" dirty="0" smtClean="0"/>
              <a:t>を</a:t>
            </a:r>
            <a:r>
              <a:rPr lang="ja-JP" altLang="en-US" dirty="0" smtClean="0"/>
              <a:t>反転する．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12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Inversion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Profit 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graphicFrame>
        <p:nvGraphicFramePr>
          <p:cNvPr id="10" name="表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991241"/>
              </p:ext>
            </p:extLst>
          </p:nvPr>
        </p:nvGraphicFramePr>
        <p:xfrm>
          <a:off x="819900" y="4077929"/>
          <a:ext cx="288036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graphicFrame>
        <p:nvGraphicFramePr>
          <p:cNvPr id="11" name="表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577343"/>
              </p:ext>
            </p:extLst>
          </p:nvPr>
        </p:nvGraphicFramePr>
        <p:xfrm>
          <a:off x="819900" y="5576202"/>
          <a:ext cx="2880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graphicFrame>
        <p:nvGraphicFramePr>
          <p:cNvPr id="12" name="表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279578"/>
              </p:ext>
            </p:extLst>
          </p:nvPr>
        </p:nvGraphicFramePr>
        <p:xfrm>
          <a:off x="5453117" y="4077929"/>
          <a:ext cx="288036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graphicFrame>
        <p:nvGraphicFramePr>
          <p:cNvPr id="13" name="表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417758"/>
              </p:ext>
            </p:extLst>
          </p:nvPr>
        </p:nvGraphicFramePr>
        <p:xfrm>
          <a:off x="5453117" y="5576202"/>
          <a:ext cx="2880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grpSp>
        <p:nvGrpSpPr>
          <p:cNvPr id="2" name="グループ化 1"/>
          <p:cNvGrpSpPr/>
          <p:nvPr/>
        </p:nvGrpSpPr>
        <p:grpSpPr>
          <a:xfrm>
            <a:off x="3775104" y="3512953"/>
            <a:ext cx="1603169" cy="1011026"/>
            <a:chOff x="3909318" y="3180445"/>
            <a:chExt cx="1603169" cy="1011026"/>
          </a:xfrm>
        </p:grpSpPr>
        <p:sp>
          <p:nvSpPr>
            <p:cNvPr id="14" name="右矢印 13"/>
            <p:cNvSpPr/>
            <p:nvPr/>
          </p:nvSpPr>
          <p:spPr>
            <a:xfrm>
              <a:off x="4286677" y="3817531"/>
              <a:ext cx="848450" cy="37394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テキスト ボックス 14"/>
            <p:cNvSpPr txBox="1"/>
            <p:nvPr/>
          </p:nvSpPr>
          <p:spPr>
            <a:xfrm>
              <a:off x="3909318" y="3180445"/>
              <a:ext cx="1603169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>
                  <a:latin typeface="Symbol" panose="05050102010706020507" pitchFamily="18" charset="2"/>
                </a:rPr>
                <a:t>反転なし</a:t>
              </a:r>
              <a:endParaRPr kumimoji="1" lang="ja-JP" altLang="en-US" sz="2800" dirty="0" smtClean="0"/>
            </a:p>
          </p:txBody>
        </p:sp>
      </p:grpSp>
      <p:grpSp>
        <p:nvGrpSpPr>
          <p:cNvPr id="16" name="グループ化 15"/>
          <p:cNvGrpSpPr/>
          <p:nvPr/>
        </p:nvGrpSpPr>
        <p:grpSpPr>
          <a:xfrm>
            <a:off x="3760888" y="4998579"/>
            <a:ext cx="1631601" cy="1011026"/>
            <a:chOff x="3880886" y="3180445"/>
            <a:chExt cx="1631601" cy="1011026"/>
          </a:xfrm>
        </p:grpSpPr>
        <p:sp>
          <p:nvSpPr>
            <p:cNvPr id="17" name="右矢印 16"/>
            <p:cNvSpPr/>
            <p:nvPr/>
          </p:nvSpPr>
          <p:spPr>
            <a:xfrm>
              <a:off x="4272461" y="3817531"/>
              <a:ext cx="848450" cy="37394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テキスト ボックス 17"/>
            <p:cNvSpPr txBox="1"/>
            <p:nvPr/>
          </p:nvSpPr>
          <p:spPr>
            <a:xfrm>
              <a:off x="3880886" y="3180445"/>
              <a:ext cx="1631601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dirty="0" smtClean="0"/>
                <a:t>6</a:t>
              </a:r>
              <a:r>
                <a:rPr lang="en-US" altLang="ja-JP" sz="2800" dirty="0"/>
                <a:t>0</a:t>
              </a:r>
              <a:r>
                <a:rPr lang="en-US" altLang="ja-JP" sz="2800" dirty="0" smtClean="0"/>
                <a:t>%</a:t>
              </a:r>
              <a:r>
                <a:rPr lang="ja-JP" altLang="en-US" sz="2800" dirty="0" smtClean="0">
                  <a:latin typeface="Symbol" panose="05050102010706020507" pitchFamily="18" charset="2"/>
                </a:rPr>
                <a:t>反転</a:t>
              </a:r>
              <a:endParaRPr kumimoji="1" lang="ja-JP" altLang="en-US" sz="2800" dirty="0" smtClean="0"/>
            </a:p>
          </p:txBody>
        </p:sp>
      </p:grpSp>
      <p:sp>
        <p:nvSpPr>
          <p:cNvPr id="19" name="テキスト ボックス 18"/>
          <p:cNvSpPr txBox="1"/>
          <p:nvPr/>
        </p:nvSpPr>
        <p:spPr>
          <a:xfrm>
            <a:off x="382977" y="2626525"/>
            <a:ext cx="1469571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1</a:t>
            </a:r>
            <a:endParaRPr kumimoji="1" lang="ja-JP" altLang="en-US" sz="3200" dirty="0" smtClean="0"/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4841890" y="2626525"/>
            <a:ext cx="1479018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lang="en-US" altLang="ja-JP" sz="3200" dirty="0"/>
              <a:t>2</a:t>
            </a:r>
            <a:endParaRPr kumimoji="1" lang="ja-JP" altLang="en-US" sz="3200" dirty="0" smtClean="0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314893" y="3577437"/>
            <a:ext cx="3075309" cy="46166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アイテム集合</a:t>
            </a:r>
            <a:r>
              <a:rPr lang="en-US" altLang="ja-JP" sz="2400" dirty="0" smtClean="0"/>
              <a:t>1</a:t>
            </a:r>
            <a:r>
              <a:rPr lang="ja-JP" altLang="en-US" sz="2400" dirty="0" smtClean="0"/>
              <a:t>の価値</a:t>
            </a:r>
            <a:endParaRPr kumimoji="1" lang="ja-JP" altLang="en-US" sz="2400" dirty="0" smtClean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314893" y="5056087"/>
            <a:ext cx="3075309" cy="46166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アイテム集合</a:t>
            </a:r>
            <a:r>
              <a:rPr lang="en-US" altLang="ja-JP" sz="2400" dirty="0"/>
              <a:t>2</a:t>
            </a:r>
            <a:r>
              <a:rPr lang="ja-JP" altLang="en-US" sz="2400" dirty="0" smtClean="0"/>
              <a:t>の価値</a:t>
            </a:r>
            <a:endParaRPr kumimoji="1" lang="ja-JP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517224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提案するテスト問題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ja-JP" altLang="en-US" dirty="0"/>
              <a:t>アイテム集合</a:t>
            </a:r>
            <a:r>
              <a:rPr lang="en-US" altLang="ja-JP" dirty="0"/>
              <a:t>2</a:t>
            </a:r>
            <a:r>
              <a:rPr lang="ja-JP" altLang="en-US" dirty="0" smtClean="0"/>
              <a:t>の，</a:t>
            </a:r>
            <a:r>
              <a:rPr lang="en-US" altLang="ja-JP" i="1" dirty="0">
                <a:latin typeface="Symbol" panose="05050102010706020507" pitchFamily="18" charset="2"/>
              </a:rPr>
              <a:t>b </a:t>
            </a:r>
            <a:r>
              <a:rPr lang="en-US" altLang="ja-JP" dirty="0"/>
              <a:t>%</a:t>
            </a:r>
            <a:r>
              <a:rPr lang="ja-JP" altLang="en-US" dirty="0">
                <a:latin typeface="Symbol" panose="05050102010706020507" pitchFamily="18" charset="2"/>
              </a:rPr>
              <a:t>の</a:t>
            </a:r>
            <a:r>
              <a:rPr lang="ja-JP" altLang="en-US" dirty="0"/>
              <a:t>価値を反転する</a:t>
            </a:r>
            <a:r>
              <a:rPr lang="ja-JP" altLang="en-US" dirty="0" smtClean="0"/>
              <a:t>．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有効利用できる解とできない解がある．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13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Inversion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Profit 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382977" y="3227549"/>
            <a:ext cx="1469571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1</a:t>
            </a:r>
            <a:endParaRPr kumimoji="1" lang="ja-JP" altLang="en-US" sz="3200" dirty="0" smtClean="0"/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4841890" y="3227549"/>
            <a:ext cx="1479018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lang="en-US" altLang="ja-JP" sz="3200" dirty="0"/>
              <a:t>2</a:t>
            </a:r>
            <a:endParaRPr kumimoji="1" lang="ja-JP" altLang="en-US" sz="3200" dirty="0" smtClean="0"/>
          </a:p>
        </p:txBody>
      </p:sp>
      <p:grpSp>
        <p:nvGrpSpPr>
          <p:cNvPr id="51" name="グループ化 50"/>
          <p:cNvGrpSpPr/>
          <p:nvPr/>
        </p:nvGrpSpPr>
        <p:grpSpPr>
          <a:xfrm>
            <a:off x="793554" y="4229082"/>
            <a:ext cx="2121560" cy="957600"/>
            <a:chOff x="971687" y="4031820"/>
            <a:chExt cx="2121560" cy="957600"/>
          </a:xfrm>
        </p:grpSpPr>
        <p:sp>
          <p:nvSpPr>
            <p:cNvPr id="52" name="正方形/長方形 51"/>
            <p:cNvSpPr/>
            <p:nvPr/>
          </p:nvSpPr>
          <p:spPr>
            <a:xfrm>
              <a:off x="971687" y="4031820"/>
              <a:ext cx="2121560" cy="9576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53" name="グループ化 52"/>
            <p:cNvGrpSpPr/>
            <p:nvPr/>
          </p:nvGrpSpPr>
          <p:grpSpPr>
            <a:xfrm>
              <a:off x="1070687" y="4139001"/>
              <a:ext cx="1923561" cy="307392"/>
              <a:chOff x="1839788" y="4259580"/>
              <a:chExt cx="1923561" cy="308121"/>
            </a:xfrm>
          </p:grpSpPr>
          <p:sp>
            <p:nvSpPr>
              <p:cNvPr id="54" name="楕円 60"/>
              <p:cNvSpPr/>
              <p:nvPr/>
            </p:nvSpPr>
            <p:spPr>
              <a:xfrm>
                <a:off x="1839788" y="4259580"/>
                <a:ext cx="308121" cy="30812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5" name="楕円 61"/>
              <p:cNvSpPr/>
              <p:nvPr/>
            </p:nvSpPr>
            <p:spPr>
              <a:xfrm>
                <a:off x="2378268" y="4259580"/>
                <a:ext cx="308121" cy="30812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6" name="楕円 62"/>
              <p:cNvSpPr/>
              <p:nvPr/>
            </p:nvSpPr>
            <p:spPr>
              <a:xfrm>
                <a:off x="2916748" y="4259580"/>
                <a:ext cx="308121" cy="30812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7" name="楕円 63"/>
              <p:cNvSpPr/>
              <p:nvPr/>
            </p:nvSpPr>
            <p:spPr>
              <a:xfrm>
                <a:off x="3455228" y="4259580"/>
                <a:ext cx="308121" cy="30812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3" name="グループ化 2"/>
          <p:cNvGrpSpPr/>
          <p:nvPr/>
        </p:nvGrpSpPr>
        <p:grpSpPr>
          <a:xfrm>
            <a:off x="892554" y="4771380"/>
            <a:ext cx="846601" cy="308121"/>
            <a:chOff x="892554" y="4574118"/>
            <a:chExt cx="846601" cy="308121"/>
          </a:xfrm>
        </p:grpSpPr>
        <p:sp>
          <p:nvSpPr>
            <p:cNvPr id="59" name="楕円 72"/>
            <p:cNvSpPr/>
            <p:nvPr/>
          </p:nvSpPr>
          <p:spPr>
            <a:xfrm>
              <a:off x="892554" y="4574118"/>
              <a:ext cx="308121" cy="30812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楕円 73"/>
            <p:cNvSpPr/>
            <p:nvPr/>
          </p:nvSpPr>
          <p:spPr>
            <a:xfrm>
              <a:off x="1431034" y="4574118"/>
              <a:ext cx="308121" cy="30812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63" name="グループ化 62"/>
          <p:cNvGrpSpPr/>
          <p:nvPr/>
        </p:nvGrpSpPr>
        <p:grpSpPr>
          <a:xfrm>
            <a:off x="5345966" y="4229082"/>
            <a:ext cx="2121560" cy="957600"/>
            <a:chOff x="6034735" y="4031820"/>
            <a:chExt cx="2121560" cy="957600"/>
          </a:xfrm>
        </p:grpSpPr>
        <p:sp>
          <p:nvSpPr>
            <p:cNvPr id="64" name="正方形/長方形 63"/>
            <p:cNvSpPr/>
            <p:nvPr/>
          </p:nvSpPr>
          <p:spPr>
            <a:xfrm>
              <a:off x="6034735" y="4031820"/>
              <a:ext cx="2121560" cy="9576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65" name="グループ化 64"/>
            <p:cNvGrpSpPr/>
            <p:nvPr/>
          </p:nvGrpSpPr>
          <p:grpSpPr>
            <a:xfrm>
              <a:off x="6133735" y="4139001"/>
              <a:ext cx="1923561" cy="307392"/>
              <a:chOff x="1839788" y="4259580"/>
              <a:chExt cx="1923561" cy="308121"/>
            </a:xfrm>
          </p:grpSpPr>
          <p:sp>
            <p:nvSpPr>
              <p:cNvPr id="66" name="楕円 92"/>
              <p:cNvSpPr/>
              <p:nvPr/>
            </p:nvSpPr>
            <p:spPr>
              <a:xfrm>
                <a:off x="1839788" y="4259580"/>
                <a:ext cx="308121" cy="3081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7" name="楕円 93"/>
              <p:cNvSpPr/>
              <p:nvPr/>
            </p:nvSpPr>
            <p:spPr>
              <a:xfrm>
                <a:off x="2378268" y="4259580"/>
                <a:ext cx="308121" cy="3081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8" name="楕円 94"/>
              <p:cNvSpPr/>
              <p:nvPr/>
            </p:nvSpPr>
            <p:spPr>
              <a:xfrm>
                <a:off x="2916748" y="4259580"/>
                <a:ext cx="308121" cy="3081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9" name="楕円 95"/>
              <p:cNvSpPr/>
              <p:nvPr/>
            </p:nvSpPr>
            <p:spPr>
              <a:xfrm>
                <a:off x="3455228" y="4259580"/>
                <a:ext cx="308121" cy="3081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9" name="グループ化 8"/>
          <p:cNvGrpSpPr/>
          <p:nvPr/>
        </p:nvGrpSpPr>
        <p:grpSpPr>
          <a:xfrm>
            <a:off x="5444966" y="4771380"/>
            <a:ext cx="846601" cy="308121"/>
            <a:chOff x="5444966" y="4574118"/>
            <a:chExt cx="846601" cy="308121"/>
          </a:xfrm>
        </p:grpSpPr>
        <p:sp>
          <p:nvSpPr>
            <p:cNvPr id="71" name="楕円 88"/>
            <p:cNvSpPr/>
            <p:nvPr/>
          </p:nvSpPr>
          <p:spPr>
            <a:xfrm>
              <a:off x="5444966" y="4574118"/>
              <a:ext cx="308121" cy="30812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楕円 89"/>
            <p:cNvSpPr/>
            <p:nvPr/>
          </p:nvSpPr>
          <p:spPr>
            <a:xfrm>
              <a:off x="5983446" y="4574118"/>
              <a:ext cx="308121" cy="30812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3" name="テキスト ボックス 82"/>
          <p:cNvSpPr txBox="1"/>
          <p:nvPr/>
        </p:nvSpPr>
        <p:spPr>
          <a:xfrm>
            <a:off x="228600" y="2445605"/>
            <a:ext cx="5117366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3200" b="1" dirty="0" smtClean="0">
                <a:solidFill>
                  <a:schemeClr val="accent1"/>
                </a:solidFill>
              </a:rPr>
              <a:t>目的</a:t>
            </a:r>
            <a:r>
              <a:rPr lang="en-US" altLang="ja-JP" sz="3200" b="1" dirty="0" smtClean="0">
                <a:solidFill>
                  <a:schemeClr val="accent1"/>
                </a:solidFill>
              </a:rPr>
              <a:t>1</a:t>
            </a:r>
            <a:r>
              <a:rPr lang="ja-JP" altLang="en-US" sz="3200" dirty="0" smtClean="0"/>
              <a:t>を重視した解の場合</a:t>
            </a:r>
            <a:endParaRPr kumimoji="1" lang="ja-JP" altLang="en-US" sz="3200" dirty="0" smtClean="0"/>
          </a:p>
        </p:txBody>
      </p:sp>
      <p:grpSp>
        <p:nvGrpSpPr>
          <p:cNvPr id="2" name="グループ化 1"/>
          <p:cNvGrpSpPr/>
          <p:nvPr/>
        </p:nvGrpSpPr>
        <p:grpSpPr>
          <a:xfrm>
            <a:off x="3261120" y="4584966"/>
            <a:ext cx="1781300" cy="258725"/>
            <a:chOff x="3261120" y="4387704"/>
            <a:chExt cx="1781300" cy="258725"/>
          </a:xfrm>
        </p:grpSpPr>
        <p:cxnSp>
          <p:nvCxnSpPr>
            <p:cNvPr id="82" name="直線矢印コネクタ 81"/>
            <p:cNvCxnSpPr/>
            <p:nvPr/>
          </p:nvCxnSpPr>
          <p:spPr>
            <a:xfrm>
              <a:off x="3261120" y="4387704"/>
              <a:ext cx="1781299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線矢印コネクタ 79"/>
            <p:cNvCxnSpPr/>
            <p:nvPr/>
          </p:nvCxnSpPr>
          <p:spPr>
            <a:xfrm flipH="1">
              <a:off x="3261121" y="4646429"/>
              <a:ext cx="1781299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グループ化 83"/>
          <p:cNvGrpSpPr/>
          <p:nvPr/>
        </p:nvGrpSpPr>
        <p:grpSpPr>
          <a:xfrm>
            <a:off x="6830652" y="5701433"/>
            <a:ext cx="2084748" cy="915267"/>
            <a:chOff x="-2169204" y="2467875"/>
            <a:chExt cx="2084748" cy="915267"/>
          </a:xfrm>
        </p:grpSpPr>
        <p:grpSp>
          <p:nvGrpSpPr>
            <p:cNvPr id="85" name="グループ化 84"/>
            <p:cNvGrpSpPr/>
            <p:nvPr/>
          </p:nvGrpSpPr>
          <p:grpSpPr>
            <a:xfrm>
              <a:off x="-2102493" y="2485308"/>
              <a:ext cx="1951327" cy="880400"/>
              <a:chOff x="-1153240" y="3422852"/>
              <a:chExt cx="1951327" cy="880400"/>
            </a:xfrm>
          </p:grpSpPr>
          <p:grpSp>
            <p:nvGrpSpPr>
              <p:cNvPr id="87" name="グループ化 86"/>
              <p:cNvGrpSpPr/>
              <p:nvPr/>
            </p:nvGrpSpPr>
            <p:grpSpPr>
              <a:xfrm>
                <a:off x="-1153240" y="3422852"/>
                <a:ext cx="1951326" cy="430887"/>
                <a:chOff x="-1153240" y="3422852"/>
                <a:chExt cx="1951326" cy="430887"/>
              </a:xfrm>
            </p:grpSpPr>
            <p:sp>
              <p:nvSpPr>
                <p:cNvPr id="91" name="テキスト ボックス 90"/>
                <p:cNvSpPr txBox="1"/>
                <p:nvPr/>
              </p:nvSpPr>
              <p:spPr>
                <a:xfrm>
                  <a:off x="-1019777" y="3422852"/>
                  <a:ext cx="1817863" cy="43088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kumimoji="1" lang="ja-JP" altLang="en-US" sz="2200" dirty="0" smtClean="0"/>
                    <a:t>：タスク</a:t>
                  </a:r>
                  <a:r>
                    <a:rPr kumimoji="1" lang="en-US" altLang="ja-JP" sz="2200" dirty="0" smtClean="0"/>
                    <a:t>1</a:t>
                  </a:r>
                  <a:r>
                    <a:rPr kumimoji="1" lang="ja-JP" altLang="en-US" sz="2200" dirty="0" smtClean="0"/>
                    <a:t>の解</a:t>
                  </a:r>
                </a:p>
              </p:txBody>
            </p:sp>
            <p:sp>
              <p:nvSpPr>
                <p:cNvPr id="92" name="楕円 60"/>
                <p:cNvSpPr/>
                <p:nvPr/>
              </p:nvSpPr>
              <p:spPr>
                <a:xfrm>
                  <a:off x="-1153240" y="3499988"/>
                  <a:ext cx="308121" cy="307392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grpSp>
            <p:nvGrpSpPr>
              <p:cNvPr id="88" name="グループ化 87"/>
              <p:cNvGrpSpPr/>
              <p:nvPr/>
            </p:nvGrpSpPr>
            <p:grpSpPr>
              <a:xfrm>
                <a:off x="-1153240" y="3872365"/>
                <a:ext cx="1951327" cy="430887"/>
                <a:chOff x="-1153240" y="3872365"/>
                <a:chExt cx="1951327" cy="430887"/>
              </a:xfrm>
            </p:grpSpPr>
            <p:sp>
              <p:nvSpPr>
                <p:cNvPr id="89" name="テキスト ボックス 88"/>
                <p:cNvSpPr txBox="1"/>
                <p:nvPr/>
              </p:nvSpPr>
              <p:spPr>
                <a:xfrm>
                  <a:off x="-1019777" y="3872365"/>
                  <a:ext cx="1817864" cy="43088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kumimoji="1" lang="ja-JP" altLang="en-US" sz="2200" dirty="0" smtClean="0"/>
                    <a:t>：タスク</a:t>
                  </a:r>
                  <a:r>
                    <a:rPr kumimoji="1" lang="en-US" altLang="ja-JP" sz="2200" dirty="0" smtClean="0"/>
                    <a:t>2</a:t>
                  </a:r>
                  <a:r>
                    <a:rPr kumimoji="1" lang="ja-JP" altLang="en-US" sz="2200" dirty="0" smtClean="0"/>
                    <a:t>の解</a:t>
                  </a:r>
                </a:p>
              </p:txBody>
            </p:sp>
            <p:sp>
              <p:nvSpPr>
                <p:cNvPr id="90" name="楕円 72"/>
                <p:cNvSpPr/>
                <p:nvPr/>
              </p:nvSpPr>
              <p:spPr>
                <a:xfrm>
                  <a:off x="-1153240" y="3979288"/>
                  <a:ext cx="308121" cy="308121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  <p:sp>
          <p:nvSpPr>
            <p:cNvPr id="86" name="正方形/長方形 85"/>
            <p:cNvSpPr/>
            <p:nvPr/>
          </p:nvSpPr>
          <p:spPr>
            <a:xfrm>
              <a:off x="-2169204" y="2467875"/>
              <a:ext cx="2084748" cy="915267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1" name="テキスト ボックス 40"/>
          <p:cNvSpPr txBox="1"/>
          <p:nvPr/>
        </p:nvSpPr>
        <p:spPr>
          <a:xfrm>
            <a:off x="5183800" y="5189221"/>
            <a:ext cx="2445893" cy="95410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淘汰されない</a:t>
            </a:r>
          </a:p>
        </p:txBody>
      </p:sp>
      <p:sp>
        <p:nvSpPr>
          <p:cNvPr id="42" name="テキスト ボックス 41"/>
          <p:cNvSpPr txBox="1"/>
          <p:nvPr/>
        </p:nvSpPr>
        <p:spPr>
          <a:xfrm>
            <a:off x="740778" y="5189221"/>
            <a:ext cx="2223539" cy="95410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淘汰されない</a:t>
            </a:r>
          </a:p>
        </p:txBody>
      </p:sp>
    </p:spTree>
    <p:extLst>
      <p:ext uri="{BB962C8B-B14F-4D97-AF65-F5344CB8AC3E}">
        <p14:creationId xmlns:p14="http://schemas.microsoft.com/office/powerpoint/2010/main" val="2476552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提案するテスト問題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ja-JP" altLang="en-US" dirty="0"/>
              <a:t>アイテム集合</a:t>
            </a:r>
            <a:r>
              <a:rPr lang="en-US" altLang="ja-JP" dirty="0"/>
              <a:t>2</a:t>
            </a:r>
            <a:r>
              <a:rPr lang="ja-JP" altLang="en-US" dirty="0" smtClean="0"/>
              <a:t>の，</a:t>
            </a:r>
            <a:r>
              <a:rPr lang="en-US" altLang="ja-JP" i="1" dirty="0">
                <a:latin typeface="Symbol" panose="05050102010706020507" pitchFamily="18" charset="2"/>
              </a:rPr>
              <a:t>b </a:t>
            </a:r>
            <a:r>
              <a:rPr lang="en-US" altLang="ja-JP" dirty="0"/>
              <a:t>%</a:t>
            </a:r>
            <a:r>
              <a:rPr lang="ja-JP" altLang="en-US" dirty="0">
                <a:latin typeface="Symbol" panose="05050102010706020507" pitchFamily="18" charset="2"/>
              </a:rPr>
              <a:t>の</a:t>
            </a:r>
            <a:r>
              <a:rPr lang="ja-JP" altLang="en-US" dirty="0"/>
              <a:t>価値を反転する</a:t>
            </a:r>
            <a:r>
              <a:rPr lang="ja-JP" altLang="en-US" dirty="0" smtClean="0"/>
              <a:t>．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有効利用できる解とできない解がある．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14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Inversion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Profit 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grpSp>
        <p:nvGrpSpPr>
          <p:cNvPr id="50" name="グループ化 49"/>
          <p:cNvGrpSpPr/>
          <p:nvPr/>
        </p:nvGrpSpPr>
        <p:grpSpPr>
          <a:xfrm>
            <a:off x="6830652" y="5701433"/>
            <a:ext cx="2084748" cy="915267"/>
            <a:chOff x="-2169204" y="2467875"/>
            <a:chExt cx="2084748" cy="915267"/>
          </a:xfrm>
        </p:grpSpPr>
        <p:grpSp>
          <p:nvGrpSpPr>
            <p:cNvPr id="58" name="グループ化 57"/>
            <p:cNvGrpSpPr/>
            <p:nvPr/>
          </p:nvGrpSpPr>
          <p:grpSpPr>
            <a:xfrm>
              <a:off x="-2102493" y="2485308"/>
              <a:ext cx="1951327" cy="880400"/>
              <a:chOff x="-1153240" y="3422852"/>
              <a:chExt cx="1951327" cy="880400"/>
            </a:xfrm>
          </p:grpSpPr>
          <p:grpSp>
            <p:nvGrpSpPr>
              <p:cNvPr id="62" name="グループ化 61"/>
              <p:cNvGrpSpPr/>
              <p:nvPr/>
            </p:nvGrpSpPr>
            <p:grpSpPr>
              <a:xfrm>
                <a:off x="-1153240" y="3422852"/>
                <a:ext cx="1951326" cy="430887"/>
                <a:chOff x="-1153240" y="3422852"/>
                <a:chExt cx="1951326" cy="430887"/>
              </a:xfrm>
            </p:grpSpPr>
            <p:sp>
              <p:nvSpPr>
                <p:cNvPr id="75" name="テキスト ボックス 74"/>
                <p:cNvSpPr txBox="1"/>
                <p:nvPr/>
              </p:nvSpPr>
              <p:spPr>
                <a:xfrm>
                  <a:off x="-1019777" y="3422852"/>
                  <a:ext cx="1817863" cy="43088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kumimoji="1" lang="ja-JP" altLang="en-US" sz="2200" dirty="0" smtClean="0"/>
                    <a:t>：タスク</a:t>
                  </a:r>
                  <a:r>
                    <a:rPr kumimoji="1" lang="en-US" altLang="ja-JP" sz="2200" dirty="0" smtClean="0"/>
                    <a:t>1</a:t>
                  </a:r>
                  <a:r>
                    <a:rPr kumimoji="1" lang="ja-JP" altLang="en-US" sz="2200" dirty="0" smtClean="0"/>
                    <a:t>の解</a:t>
                  </a:r>
                </a:p>
              </p:txBody>
            </p:sp>
            <p:sp>
              <p:nvSpPr>
                <p:cNvPr id="76" name="楕円 60"/>
                <p:cNvSpPr/>
                <p:nvPr/>
              </p:nvSpPr>
              <p:spPr>
                <a:xfrm>
                  <a:off x="-1153240" y="3499988"/>
                  <a:ext cx="308121" cy="307392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grpSp>
            <p:nvGrpSpPr>
              <p:cNvPr id="70" name="グループ化 69"/>
              <p:cNvGrpSpPr/>
              <p:nvPr/>
            </p:nvGrpSpPr>
            <p:grpSpPr>
              <a:xfrm>
                <a:off x="-1153240" y="3872365"/>
                <a:ext cx="1951327" cy="430887"/>
                <a:chOff x="-1153240" y="3872365"/>
                <a:chExt cx="1951327" cy="430887"/>
              </a:xfrm>
            </p:grpSpPr>
            <p:sp>
              <p:nvSpPr>
                <p:cNvPr id="73" name="テキスト ボックス 72"/>
                <p:cNvSpPr txBox="1"/>
                <p:nvPr/>
              </p:nvSpPr>
              <p:spPr>
                <a:xfrm>
                  <a:off x="-1019777" y="3872365"/>
                  <a:ext cx="1817864" cy="43088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kumimoji="1" lang="ja-JP" altLang="en-US" sz="2200" dirty="0" smtClean="0"/>
                    <a:t>：タスク</a:t>
                  </a:r>
                  <a:r>
                    <a:rPr kumimoji="1" lang="en-US" altLang="ja-JP" sz="2200" dirty="0" smtClean="0"/>
                    <a:t>2</a:t>
                  </a:r>
                  <a:r>
                    <a:rPr kumimoji="1" lang="ja-JP" altLang="en-US" sz="2200" dirty="0" smtClean="0"/>
                    <a:t>の解</a:t>
                  </a:r>
                </a:p>
              </p:txBody>
            </p:sp>
            <p:sp>
              <p:nvSpPr>
                <p:cNvPr id="74" name="楕円 72"/>
                <p:cNvSpPr/>
                <p:nvPr/>
              </p:nvSpPr>
              <p:spPr>
                <a:xfrm>
                  <a:off x="-1153240" y="3979288"/>
                  <a:ext cx="308121" cy="308121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  <p:sp>
          <p:nvSpPr>
            <p:cNvPr id="61" name="正方形/長方形 60"/>
            <p:cNvSpPr/>
            <p:nvPr/>
          </p:nvSpPr>
          <p:spPr>
            <a:xfrm>
              <a:off x="-2169204" y="2467875"/>
              <a:ext cx="2084748" cy="915267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7" name="グループ化 76"/>
          <p:cNvGrpSpPr/>
          <p:nvPr/>
        </p:nvGrpSpPr>
        <p:grpSpPr>
          <a:xfrm>
            <a:off x="1969514" y="4764842"/>
            <a:ext cx="846601" cy="308121"/>
            <a:chOff x="892554" y="4574118"/>
            <a:chExt cx="846601" cy="308121"/>
          </a:xfrm>
        </p:grpSpPr>
        <p:sp>
          <p:nvSpPr>
            <p:cNvPr id="78" name="楕円 72"/>
            <p:cNvSpPr/>
            <p:nvPr/>
          </p:nvSpPr>
          <p:spPr>
            <a:xfrm>
              <a:off x="892554" y="4574118"/>
              <a:ext cx="308121" cy="30812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" name="楕円 73"/>
            <p:cNvSpPr/>
            <p:nvPr/>
          </p:nvSpPr>
          <p:spPr>
            <a:xfrm>
              <a:off x="1431034" y="4574118"/>
              <a:ext cx="308121" cy="30812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81" name="グループ化 80"/>
          <p:cNvGrpSpPr/>
          <p:nvPr/>
        </p:nvGrpSpPr>
        <p:grpSpPr>
          <a:xfrm>
            <a:off x="6521926" y="4764594"/>
            <a:ext cx="846601" cy="308121"/>
            <a:chOff x="5444966" y="4574118"/>
            <a:chExt cx="846601" cy="308121"/>
          </a:xfrm>
        </p:grpSpPr>
        <p:sp>
          <p:nvSpPr>
            <p:cNvPr id="93" name="楕円 88"/>
            <p:cNvSpPr/>
            <p:nvPr/>
          </p:nvSpPr>
          <p:spPr>
            <a:xfrm>
              <a:off x="5444966" y="4574118"/>
              <a:ext cx="308121" cy="30812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4" name="楕円 89"/>
            <p:cNvSpPr/>
            <p:nvPr/>
          </p:nvSpPr>
          <p:spPr>
            <a:xfrm>
              <a:off x="5983446" y="4574118"/>
              <a:ext cx="308121" cy="30812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95" name="乗算 2"/>
          <p:cNvSpPr/>
          <p:nvPr/>
        </p:nvSpPr>
        <p:spPr>
          <a:xfrm>
            <a:off x="6004682" y="4522534"/>
            <a:ext cx="1854570" cy="785270"/>
          </a:xfrm>
          <a:prstGeom prst="mathMultiply">
            <a:avLst>
              <a:gd name="adj1" fmla="val 660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6" name="乗算 96"/>
          <p:cNvSpPr/>
          <p:nvPr/>
        </p:nvSpPr>
        <p:spPr>
          <a:xfrm>
            <a:off x="1452270" y="4522534"/>
            <a:ext cx="1854570" cy="785270"/>
          </a:xfrm>
          <a:prstGeom prst="mathMultiply">
            <a:avLst>
              <a:gd name="adj1" fmla="val 660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7" name="テキスト ボックス 96"/>
          <p:cNvSpPr txBox="1"/>
          <p:nvPr/>
        </p:nvSpPr>
        <p:spPr>
          <a:xfrm>
            <a:off x="382977" y="3227549"/>
            <a:ext cx="1469571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1</a:t>
            </a:r>
            <a:endParaRPr kumimoji="1" lang="ja-JP" altLang="en-US" sz="3200" dirty="0" smtClean="0"/>
          </a:p>
        </p:txBody>
      </p:sp>
      <p:sp>
        <p:nvSpPr>
          <p:cNvPr id="98" name="テキスト ボックス 97"/>
          <p:cNvSpPr txBox="1"/>
          <p:nvPr/>
        </p:nvSpPr>
        <p:spPr>
          <a:xfrm>
            <a:off x="4841890" y="3227549"/>
            <a:ext cx="1479018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lang="en-US" altLang="ja-JP" sz="3200" dirty="0"/>
              <a:t>2</a:t>
            </a:r>
            <a:endParaRPr kumimoji="1" lang="ja-JP" altLang="en-US" sz="3200" dirty="0" smtClean="0"/>
          </a:p>
        </p:txBody>
      </p:sp>
      <p:grpSp>
        <p:nvGrpSpPr>
          <p:cNvPr id="99" name="グループ化 98"/>
          <p:cNvGrpSpPr/>
          <p:nvPr/>
        </p:nvGrpSpPr>
        <p:grpSpPr>
          <a:xfrm>
            <a:off x="793554" y="4229082"/>
            <a:ext cx="2121560" cy="957600"/>
            <a:chOff x="971687" y="4031820"/>
            <a:chExt cx="2121560" cy="957600"/>
          </a:xfrm>
        </p:grpSpPr>
        <p:sp>
          <p:nvSpPr>
            <p:cNvPr id="100" name="正方形/長方形 99"/>
            <p:cNvSpPr/>
            <p:nvPr/>
          </p:nvSpPr>
          <p:spPr>
            <a:xfrm>
              <a:off x="971687" y="4031820"/>
              <a:ext cx="2121560" cy="9576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01" name="グループ化 100"/>
            <p:cNvGrpSpPr/>
            <p:nvPr/>
          </p:nvGrpSpPr>
          <p:grpSpPr>
            <a:xfrm>
              <a:off x="1070687" y="4139001"/>
              <a:ext cx="1923561" cy="307392"/>
              <a:chOff x="1839788" y="4259580"/>
              <a:chExt cx="1923561" cy="308121"/>
            </a:xfrm>
          </p:grpSpPr>
          <p:sp>
            <p:nvSpPr>
              <p:cNvPr id="102" name="楕円 60"/>
              <p:cNvSpPr/>
              <p:nvPr/>
            </p:nvSpPr>
            <p:spPr>
              <a:xfrm>
                <a:off x="1839788" y="4259580"/>
                <a:ext cx="308121" cy="30812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3" name="楕円 61"/>
              <p:cNvSpPr/>
              <p:nvPr/>
            </p:nvSpPr>
            <p:spPr>
              <a:xfrm>
                <a:off x="2378268" y="4259580"/>
                <a:ext cx="308121" cy="30812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4" name="楕円 62"/>
              <p:cNvSpPr/>
              <p:nvPr/>
            </p:nvSpPr>
            <p:spPr>
              <a:xfrm>
                <a:off x="2916748" y="4259580"/>
                <a:ext cx="308121" cy="30812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5" name="楕円 63"/>
              <p:cNvSpPr/>
              <p:nvPr/>
            </p:nvSpPr>
            <p:spPr>
              <a:xfrm>
                <a:off x="3455228" y="4259580"/>
                <a:ext cx="308121" cy="30812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106" name="グループ化 105"/>
          <p:cNvGrpSpPr/>
          <p:nvPr/>
        </p:nvGrpSpPr>
        <p:grpSpPr>
          <a:xfrm>
            <a:off x="892554" y="4771380"/>
            <a:ext cx="846601" cy="308121"/>
            <a:chOff x="892554" y="4574118"/>
            <a:chExt cx="846601" cy="308121"/>
          </a:xfrm>
        </p:grpSpPr>
        <p:sp>
          <p:nvSpPr>
            <p:cNvPr id="107" name="楕円 72"/>
            <p:cNvSpPr/>
            <p:nvPr/>
          </p:nvSpPr>
          <p:spPr>
            <a:xfrm>
              <a:off x="892554" y="4574118"/>
              <a:ext cx="308121" cy="30812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8" name="楕円 73"/>
            <p:cNvSpPr/>
            <p:nvPr/>
          </p:nvSpPr>
          <p:spPr>
            <a:xfrm>
              <a:off x="1431034" y="4574118"/>
              <a:ext cx="308121" cy="30812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09" name="グループ化 108"/>
          <p:cNvGrpSpPr/>
          <p:nvPr/>
        </p:nvGrpSpPr>
        <p:grpSpPr>
          <a:xfrm>
            <a:off x="5345966" y="4229082"/>
            <a:ext cx="2121560" cy="957600"/>
            <a:chOff x="6034735" y="4031820"/>
            <a:chExt cx="2121560" cy="957600"/>
          </a:xfrm>
        </p:grpSpPr>
        <p:sp>
          <p:nvSpPr>
            <p:cNvPr id="110" name="正方形/長方形 109"/>
            <p:cNvSpPr/>
            <p:nvPr/>
          </p:nvSpPr>
          <p:spPr>
            <a:xfrm>
              <a:off x="6034735" y="4031820"/>
              <a:ext cx="2121560" cy="9576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11" name="グループ化 110"/>
            <p:cNvGrpSpPr/>
            <p:nvPr/>
          </p:nvGrpSpPr>
          <p:grpSpPr>
            <a:xfrm>
              <a:off x="6133735" y="4139001"/>
              <a:ext cx="1923561" cy="307392"/>
              <a:chOff x="1839788" y="4259580"/>
              <a:chExt cx="1923561" cy="308121"/>
            </a:xfrm>
          </p:grpSpPr>
          <p:sp>
            <p:nvSpPr>
              <p:cNvPr id="112" name="楕円 92"/>
              <p:cNvSpPr/>
              <p:nvPr/>
            </p:nvSpPr>
            <p:spPr>
              <a:xfrm>
                <a:off x="1839788" y="4259580"/>
                <a:ext cx="308121" cy="3081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3" name="楕円 93"/>
              <p:cNvSpPr/>
              <p:nvPr/>
            </p:nvSpPr>
            <p:spPr>
              <a:xfrm>
                <a:off x="2378268" y="4259580"/>
                <a:ext cx="308121" cy="3081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4" name="楕円 94"/>
              <p:cNvSpPr/>
              <p:nvPr/>
            </p:nvSpPr>
            <p:spPr>
              <a:xfrm>
                <a:off x="2916748" y="4259580"/>
                <a:ext cx="308121" cy="3081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5" name="楕円 95"/>
              <p:cNvSpPr/>
              <p:nvPr/>
            </p:nvSpPr>
            <p:spPr>
              <a:xfrm>
                <a:off x="3455228" y="4259580"/>
                <a:ext cx="308121" cy="3081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116" name="グループ化 115"/>
          <p:cNvGrpSpPr/>
          <p:nvPr/>
        </p:nvGrpSpPr>
        <p:grpSpPr>
          <a:xfrm>
            <a:off x="5444966" y="4771380"/>
            <a:ext cx="846601" cy="308121"/>
            <a:chOff x="5444966" y="4574118"/>
            <a:chExt cx="846601" cy="308121"/>
          </a:xfrm>
        </p:grpSpPr>
        <p:sp>
          <p:nvSpPr>
            <p:cNvPr id="117" name="楕円 88"/>
            <p:cNvSpPr/>
            <p:nvPr/>
          </p:nvSpPr>
          <p:spPr>
            <a:xfrm>
              <a:off x="5444966" y="4574118"/>
              <a:ext cx="308121" cy="30812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8" name="楕円 89"/>
            <p:cNvSpPr/>
            <p:nvPr/>
          </p:nvSpPr>
          <p:spPr>
            <a:xfrm>
              <a:off x="5983446" y="4574118"/>
              <a:ext cx="308121" cy="30812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19" name="テキスト ボックス 118"/>
          <p:cNvSpPr txBox="1"/>
          <p:nvPr/>
        </p:nvSpPr>
        <p:spPr>
          <a:xfrm>
            <a:off x="228600" y="2445605"/>
            <a:ext cx="5117366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3200" b="1" dirty="0" smtClean="0">
                <a:solidFill>
                  <a:schemeClr val="accent1"/>
                </a:solidFill>
              </a:rPr>
              <a:t>目的</a:t>
            </a:r>
            <a:r>
              <a:rPr lang="en-US" altLang="ja-JP" sz="3200" b="1" dirty="0">
                <a:solidFill>
                  <a:schemeClr val="accent1"/>
                </a:solidFill>
              </a:rPr>
              <a:t>2</a:t>
            </a:r>
            <a:r>
              <a:rPr lang="ja-JP" altLang="en-US" sz="3200" dirty="0" smtClean="0"/>
              <a:t>を重視した解の場合</a:t>
            </a:r>
            <a:endParaRPr kumimoji="1" lang="ja-JP" altLang="en-US" sz="3200" dirty="0" smtClean="0"/>
          </a:p>
        </p:txBody>
      </p:sp>
      <p:grpSp>
        <p:nvGrpSpPr>
          <p:cNvPr id="120" name="グループ化 119"/>
          <p:cNvGrpSpPr/>
          <p:nvPr/>
        </p:nvGrpSpPr>
        <p:grpSpPr>
          <a:xfrm>
            <a:off x="3261120" y="4584966"/>
            <a:ext cx="1781300" cy="258725"/>
            <a:chOff x="3261120" y="4387704"/>
            <a:chExt cx="1781300" cy="258725"/>
          </a:xfrm>
        </p:grpSpPr>
        <p:cxnSp>
          <p:nvCxnSpPr>
            <p:cNvPr id="121" name="直線矢印コネクタ 120"/>
            <p:cNvCxnSpPr/>
            <p:nvPr/>
          </p:nvCxnSpPr>
          <p:spPr>
            <a:xfrm>
              <a:off x="3261120" y="4387704"/>
              <a:ext cx="1781299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矢印コネクタ 121"/>
            <p:cNvCxnSpPr/>
            <p:nvPr/>
          </p:nvCxnSpPr>
          <p:spPr>
            <a:xfrm flipH="1">
              <a:off x="3261121" y="4646429"/>
              <a:ext cx="1781299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3" name="テキスト ボックス 122"/>
          <p:cNvSpPr txBox="1"/>
          <p:nvPr/>
        </p:nvSpPr>
        <p:spPr>
          <a:xfrm>
            <a:off x="5183800" y="5189221"/>
            <a:ext cx="2445893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淘汰される</a:t>
            </a:r>
          </a:p>
        </p:txBody>
      </p:sp>
      <p:sp>
        <p:nvSpPr>
          <p:cNvPr id="124" name="テキスト ボックス 123"/>
          <p:cNvSpPr txBox="1"/>
          <p:nvPr/>
        </p:nvSpPr>
        <p:spPr>
          <a:xfrm>
            <a:off x="740778" y="5189221"/>
            <a:ext cx="2223539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淘汰される</a:t>
            </a:r>
          </a:p>
        </p:txBody>
      </p:sp>
    </p:spTree>
    <p:extLst>
      <p:ext uri="{BB962C8B-B14F-4D97-AF65-F5344CB8AC3E}">
        <p14:creationId xmlns:p14="http://schemas.microsoft.com/office/powerpoint/2010/main" val="3197267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animBg="1"/>
      <p:bldP spid="96" grpId="0" animBg="1"/>
      <p:bldP spid="123" grpId="0"/>
      <p:bldP spid="12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独立探索手法とマルチタスク手法の間で，探索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性能を比較する．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15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アルゴリズム設定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28600" y="2681332"/>
            <a:ext cx="2669967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 smtClean="0"/>
              <a:t>独立探索</a:t>
            </a:r>
            <a:r>
              <a:rPr lang="ja-JP" altLang="en-US" sz="3200" dirty="0"/>
              <a:t>手法</a:t>
            </a:r>
            <a:endParaRPr kumimoji="1" lang="ja-JP" altLang="en-US" sz="32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228600" y="4088481"/>
            <a:ext cx="3217959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 smtClean="0"/>
              <a:t>マルチ</a:t>
            </a:r>
            <a:r>
              <a:rPr lang="ja-JP" altLang="en-US" sz="3200" dirty="0"/>
              <a:t>タスク</a:t>
            </a:r>
            <a:r>
              <a:rPr lang="ja-JP" altLang="en-US" sz="3200" dirty="0" smtClean="0"/>
              <a:t>手法</a:t>
            </a:r>
            <a:endParaRPr kumimoji="1" lang="ja-JP" altLang="en-US" sz="3200" dirty="0" smtClean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28600" y="3415684"/>
            <a:ext cx="4357992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2800" b="1" dirty="0" smtClean="0"/>
              <a:t>・</a:t>
            </a:r>
            <a:r>
              <a:rPr lang="ja-JP" altLang="en-US" sz="2800" b="1" dirty="0" smtClean="0">
                <a:solidFill>
                  <a:schemeClr val="accent2"/>
                </a:solidFill>
              </a:rPr>
              <a:t> </a:t>
            </a:r>
            <a:r>
              <a:rPr kumimoji="1" lang="en-US" altLang="ja-JP" sz="2800" b="1" dirty="0" smtClean="0">
                <a:solidFill>
                  <a:schemeClr val="accent2"/>
                </a:solidFill>
              </a:rPr>
              <a:t>NSGA-II</a:t>
            </a:r>
            <a:endParaRPr kumimoji="1" lang="ja-JP" altLang="en-US" sz="2800" b="1" dirty="0" smtClean="0">
              <a:solidFill>
                <a:schemeClr val="accent2"/>
              </a:solidFill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228600" y="4822834"/>
            <a:ext cx="8915400" cy="95410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2800" b="1" dirty="0"/>
              <a:t>・</a:t>
            </a:r>
            <a:r>
              <a:rPr lang="ja-JP" altLang="en-US" sz="2800" b="1" dirty="0">
                <a:solidFill>
                  <a:schemeClr val="accent2"/>
                </a:solidFill>
              </a:rPr>
              <a:t> </a:t>
            </a:r>
            <a:r>
              <a:rPr kumimoji="1" lang="en-US" altLang="ja-JP" sz="2800" b="1" dirty="0" smtClean="0">
                <a:solidFill>
                  <a:schemeClr val="accent2"/>
                </a:solidFill>
              </a:rPr>
              <a:t>MO-MFEA</a:t>
            </a:r>
            <a:r>
              <a:rPr kumimoji="1" lang="ja-JP" altLang="en-US" sz="2800" dirty="0" smtClean="0"/>
              <a:t>：他タスクの個体を自タスクで評価せず活用</a:t>
            </a:r>
            <a:endParaRPr kumimoji="1" lang="en-US" altLang="ja-JP" sz="2800" dirty="0" smtClean="0"/>
          </a:p>
          <a:p>
            <a:r>
              <a:rPr lang="ja-JP" altLang="en-US" sz="2800" b="1" dirty="0" smtClean="0"/>
              <a:t>・ </a:t>
            </a:r>
            <a:r>
              <a:rPr lang="ja-JP" altLang="en-US" sz="2800" b="1" dirty="0" smtClean="0">
                <a:solidFill>
                  <a:schemeClr val="accent2"/>
                </a:solidFill>
              </a:rPr>
              <a:t>島モデル</a:t>
            </a:r>
            <a:r>
              <a:rPr lang="ja-JP" altLang="en-US" sz="2800" dirty="0" smtClean="0"/>
              <a:t>：他タスクの個体を自タスクで評価してから活用</a:t>
            </a:r>
            <a:endParaRPr kumimoji="1" lang="ja-JP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13684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独立探索手法とマルチタスク手法の間で，探索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性能を比較する．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16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アルゴリズム設定</a:t>
            </a:r>
            <a:endParaRPr kumimoji="1" lang="ja-JP" altLang="en-US" dirty="0"/>
          </a:p>
        </p:txBody>
      </p:sp>
      <p:grpSp>
        <p:nvGrpSpPr>
          <p:cNvPr id="10" name="グループ化 9"/>
          <p:cNvGrpSpPr/>
          <p:nvPr/>
        </p:nvGrpSpPr>
        <p:grpSpPr>
          <a:xfrm>
            <a:off x="228601" y="3382806"/>
            <a:ext cx="8915399" cy="2246769"/>
            <a:chOff x="228600" y="1536970"/>
            <a:chExt cx="8915399" cy="2277583"/>
          </a:xfrm>
        </p:grpSpPr>
        <p:sp>
          <p:nvSpPr>
            <p:cNvPr id="12" name="テキスト ボックス 11"/>
            <p:cNvSpPr txBox="1"/>
            <p:nvPr/>
          </p:nvSpPr>
          <p:spPr>
            <a:xfrm>
              <a:off x="2611872" y="1536970"/>
              <a:ext cx="6532127" cy="227758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endParaRPr lang="en-US" altLang="ja-JP" sz="2800" dirty="0"/>
            </a:p>
            <a:p>
              <a:r>
                <a:rPr lang="en-US" altLang="ja-JP" sz="2800" dirty="0" smtClean="0"/>
                <a:t>0.9</a:t>
              </a:r>
            </a:p>
            <a:p>
              <a:endParaRPr lang="en-US" altLang="ja-JP" sz="2800" dirty="0" smtClean="0"/>
            </a:p>
            <a:p>
              <a:r>
                <a:rPr lang="en-US" altLang="ja-JP" sz="2800" dirty="0" smtClean="0"/>
                <a:t>5</a:t>
              </a:r>
              <a:r>
                <a:rPr lang="ja-JP" altLang="en-US" sz="2800" dirty="0" smtClean="0"/>
                <a:t>世代</a:t>
              </a:r>
              <a:endParaRPr lang="en-US" altLang="ja-JP" sz="2800" dirty="0" smtClean="0"/>
            </a:p>
            <a:p>
              <a:r>
                <a:rPr kumimoji="1" lang="en-US" altLang="ja-JP" sz="2800" dirty="0" smtClean="0"/>
                <a:t>10</a:t>
              </a:r>
              <a:r>
                <a:rPr kumimoji="1" lang="ja-JP" altLang="en-US" sz="2800" dirty="0" smtClean="0"/>
                <a:t>個体</a:t>
              </a:r>
            </a:p>
          </p:txBody>
        </p:sp>
        <p:sp>
          <p:nvSpPr>
            <p:cNvPr id="11" name="テキスト ボックス 10"/>
            <p:cNvSpPr txBox="1"/>
            <p:nvPr/>
          </p:nvSpPr>
          <p:spPr>
            <a:xfrm>
              <a:off x="228600" y="1536970"/>
              <a:ext cx="2558375" cy="227758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ja-JP" altLang="en-US" sz="2800" b="1" dirty="0"/>
                <a:t>・</a:t>
              </a:r>
              <a:r>
                <a:rPr lang="ja-JP" altLang="en-US" sz="2800" b="1" dirty="0">
                  <a:solidFill>
                    <a:schemeClr val="accent2"/>
                  </a:solidFill>
                </a:rPr>
                <a:t> </a:t>
              </a:r>
              <a:r>
                <a:rPr lang="en-US" altLang="ja-JP" sz="2800" b="1" dirty="0" smtClean="0">
                  <a:solidFill>
                    <a:schemeClr val="accent2"/>
                  </a:solidFill>
                </a:rPr>
                <a:t>MO-MFEA</a:t>
              </a:r>
            </a:p>
            <a:p>
              <a:pPr algn="r"/>
              <a:r>
                <a:rPr lang="en-US" altLang="ja-JP" sz="2800" b="1" i="1" dirty="0" err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rmp</a:t>
              </a:r>
              <a:r>
                <a:rPr lang="ja-JP" altLang="en-US" sz="2800" b="1" dirty="0" smtClean="0">
                  <a:solidFill>
                    <a:schemeClr val="accent2"/>
                  </a:solidFill>
                </a:rPr>
                <a:t>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r>
                <a:rPr lang="ja-JP" altLang="en-US" sz="2800" b="1" dirty="0" smtClean="0"/>
                <a:t>・ </a:t>
              </a:r>
              <a:r>
                <a:rPr lang="ja-JP" altLang="en-US" sz="2800" b="1" dirty="0" smtClean="0">
                  <a:solidFill>
                    <a:schemeClr val="accent2"/>
                  </a:solidFill>
                </a:rPr>
                <a:t>島モデル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移住間隔：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移住個体数：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</p:txBody>
        </p:sp>
      </p:grpSp>
      <p:sp>
        <p:nvSpPr>
          <p:cNvPr id="13" name="テキスト ボックス 12"/>
          <p:cNvSpPr txBox="1"/>
          <p:nvPr/>
        </p:nvSpPr>
        <p:spPr>
          <a:xfrm>
            <a:off x="228601" y="2681332"/>
            <a:ext cx="2728913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パラメータ</a:t>
            </a:r>
            <a:r>
              <a:rPr lang="ja-JP" altLang="en-US" sz="3200" dirty="0" smtClean="0"/>
              <a:t>設定</a:t>
            </a:r>
            <a:endParaRPr kumimoji="1" lang="ja-JP" alt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908297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ja-JP" dirty="0" smtClean="0"/>
          </a:p>
          <a:p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endParaRPr lang="en-US" altLang="ja-JP" dirty="0"/>
          </a:p>
          <a:p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/>
              <a:t/>
            </a:r>
            <a:br>
              <a:rPr lang="en-US" altLang="ja-JP" dirty="0"/>
            </a:br>
            <a:endParaRPr lang="en-US" altLang="ja-JP" dirty="0" smtClean="0"/>
          </a:p>
          <a:p>
            <a:r>
              <a:rPr lang="ja-JP" altLang="en-US" dirty="0" smtClean="0"/>
              <a:t>アルゴリズムの性能は，</a:t>
            </a:r>
            <a:r>
              <a:rPr lang="en-US" altLang="ja-JP" dirty="0" smtClean="0"/>
              <a:t>(0.0</a:t>
            </a:r>
            <a:r>
              <a:rPr lang="ja-JP" altLang="en-US" dirty="0" err="1" smtClean="0"/>
              <a:t>，</a:t>
            </a:r>
            <a:r>
              <a:rPr lang="en-US" altLang="ja-JP" dirty="0" smtClean="0"/>
              <a:t>0.0)</a:t>
            </a:r>
            <a:r>
              <a:rPr lang="ja-JP" altLang="en-US" dirty="0" smtClean="0"/>
              <a:t>を参照点とする</a:t>
            </a:r>
            <a:r>
              <a:rPr lang="en-US" altLang="ja-JP" dirty="0" err="1" smtClean="0"/>
              <a:t>Hypervolume</a:t>
            </a:r>
            <a:r>
              <a:rPr lang="ja-JP" altLang="en-US" dirty="0" smtClean="0"/>
              <a:t>で評価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17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実験条件設定</a:t>
            </a:r>
            <a:endParaRPr kumimoji="1" lang="ja-JP" altLang="en-US" dirty="0"/>
          </a:p>
        </p:txBody>
      </p:sp>
      <p:grpSp>
        <p:nvGrpSpPr>
          <p:cNvPr id="8" name="グループ化 7"/>
          <p:cNvGrpSpPr/>
          <p:nvPr/>
        </p:nvGrpSpPr>
        <p:grpSpPr>
          <a:xfrm>
            <a:off x="228600" y="2073074"/>
            <a:ext cx="8915399" cy="3970318"/>
            <a:chOff x="228600" y="1536970"/>
            <a:chExt cx="8915399" cy="4024768"/>
          </a:xfrm>
        </p:grpSpPr>
        <p:sp>
          <p:nvSpPr>
            <p:cNvPr id="6" name="テキスト ボックス 5"/>
            <p:cNvSpPr txBox="1"/>
            <p:nvPr/>
          </p:nvSpPr>
          <p:spPr>
            <a:xfrm>
              <a:off x="228600" y="1536970"/>
              <a:ext cx="2558375" cy="402476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アイテム数：</a:t>
              </a:r>
              <a:endParaRPr lang="en-US" altLang="ja-JP" sz="2800" b="1" dirty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交叉</a:t>
              </a:r>
              <a:r>
                <a:rPr lang="ja-JP" altLang="en-US" sz="2800" b="1" dirty="0">
                  <a:solidFill>
                    <a:schemeClr val="accent2"/>
                  </a:solidFill>
                </a:rPr>
                <a:t>操作</a:t>
              </a:r>
              <a:r>
                <a:rPr lang="ja-JP" altLang="en-US" sz="2800" b="1" dirty="0" smtClean="0">
                  <a:solidFill>
                    <a:schemeClr val="accent2"/>
                  </a:solidFill>
                </a:rPr>
                <a:t>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突然</a:t>
              </a:r>
              <a:r>
                <a:rPr lang="ja-JP" altLang="en-US" sz="2800" b="1" dirty="0">
                  <a:solidFill>
                    <a:schemeClr val="accent2"/>
                  </a:solidFill>
                </a:rPr>
                <a:t>変異</a:t>
              </a:r>
              <a:r>
                <a:rPr lang="ja-JP" altLang="en-US" sz="2800" b="1" dirty="0" smtClean="0">
                  <a:solidFill>
                    <a:schemeClr val="accent2"/>
                  </a:solidFill>
                </a:rPr>
                <a:t>操作：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個体群サイズ：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評価回数：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試行回数：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en-US" altLang="ja-JP" sz="2800" b="1" i="1" dirty="0">
                  <a:solidFill>
                    <a:schemeClr val="accent2"/>
                  </a:solidFill>
                  <a:latin typeface="Symbol" panose="05050102010706020507" pitchFamily="18" charset="2"/>
                </a:rPr>
                <a:t>a</a:t>
              </a:r>
              <a:r>
                <a:rPr lang="ja-JP" altLang="en-US" sz="2800" b="1" dirty="0">
                  <a:solidFill>
                    <a:schemeClr val="accent2"/>
                  </a:solidFill>
                </a:rPr>
                <a:t>：</a:t>
              </a:r>
              <a:endParaRPr lang="en-US" altLang="ja-JP" sz="2800" b="1" dirty="0">
                <a:solidFill>
                  <a:schemeClr val="accent2"/>
                </a:solidFill>
              </a:endParaRPr>
            </a:p>
            <a:p>
              <a:pPr algn="r"/>
              <a:r>
                <a:rPr lang="en-US" altLang="ja-JP" sz="2800" b="1" i="1" dirty="0">
                  <a:solidFill>
                    <a:schemeClr val="accent2"/>
                  </a:solidFill>
                  <a:latin typeface="Symbol" panose="05050102010706020507" pitchFamily="18" charset="2"/>
                </a:rPr>
                <a:t>b</a:t>
              </a:r>
              <a:r>
                <a:rPr lang="ja-JP" altLang="en-US" sz="2800" b="1" dirty="0">
                  <a:solidFill>
                    <a:schemeClr val="accent2"/>
                  </a:solidFill>
                </a:rPr>
                <a:t>：</a:t>
              </a:r>
              <a:endParaRPr lang="en-US" altLang="ja-JP" sz="2800" b="1" dirty="0">
                <a:solidFill>
                  <a:schemeClr val="accent2"/>
                </a:solidFill>
              </a:endParaRPr>
            </a:p>
            <a:p>
              <a:pPr algn="r"/>
              <a:endParaRPr lang="en-US" altLang="ja-JP" sz="2800" b="1" dirty="0">
                <a:solidFill>
                  <a:schemeClr val="accent2"/>
                </a:solidFill>
              </a:endParaRPr>
            </a:p>
          </p:txBody>
        </p:sp>
        <p:sp>
          <p:nvSpPr>
            <p:cNvPr id="7" name="テキスト ボックス 6"/>
            <p:cNvSpPr txBox="1"/>
            <p:nvPr/>
          </p:nvSpPr>
          <p:spPr>
            <a:xfrm>
              <a:off x="2611872" y="1536970"/>
              <a:ext cx="6532127" cy="358797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ja-JP" sz="2800" dirty="0" smtClean="0"/>
                <a:t>500</a:t>
              </a:r>
            </a:p>
            <a:p>
              <a:r>
                <a:rPr lang="en-US" altLang="ja-JP" sz="2800" dirty="0" smtClean="0"/>
                <a:t>Uniform</a:t>
              </a:r>
              <a:r>
                <a:rPr lang="ja-JP" altLang="en-US" sz="2800" dirty="0" smtClean="0"/>
                <a:t> </a:t>
              </a:r>
              <a:r>
                <a:rPr lang="en-US" altLang="ja-JP" sz="2800" dirty="0" smtClean="0"/>
                <a:t>Crossover (</a:t>
              </a:r>
              <a:r>
                <a:rPr lang="ja-JP" altLang="en-US" sz="2800" dirty="0" smtClean="0"/>
                <a:t>適用確率：</a:t>
              </a:r>
              <a:r>
                <a:rPr lang="en-US" altLang="ja-JP" sz="2800" dirty="0" smtClean="0"/>
                <a:t>0.9</a:t>
              </a:r>
              <a:r>
                <a:rPr lang="en-US" altLang="ja-JP" sz="2800" dirty="0"/>
                <a:t>)</a:t>
              </a:r>
            </a:p>
            <a:p>
              <a:r>
                <a:rPr lang="en-US" altLang="ja-JP" sz="2800" dirty="0" err="1" smtClean="0"/>
                <a:t>Bitflip</a:t>
              </a:r>
              <a:r>
                <a:rPr lang="ja-JP" altLang="en-US" sz="2800" dirty="0" smtClean="0"/>
                <a:t> </a:t>
              </a:r>
              <a:r>
                <a:rPr lang="en-US" altLang="ja-JP" sz="2800" dirty="0" smtClean="0"/>
                <a:t>Mutation (</a:t>
              </a:r>
              <a:r>
                <a:rPr lang="ja-JP" altLang="en-US" sz="2800" dirty="0" smtClean="0"/>
                <a:t>適用確率：</a:t>
              </a:r>
              <a:r>
                <a:rPr lang="en-US" altLang="ja-JP" sz="2800" dirty="0" smtClean="0"/>
                <a:t>1/(</a:t>
              </a:r>
              <a:r>
                <a:rPr lang="ja-JP" altLang="en-US" sz="2400" dirty="0" smtClean="0"/>
                <a:t>アイテム数</a:t>
              </a:r>
              <a:r>
                <a:rPr lang="en-US" altLang="ja-JP" sz="2800" dirty="0" smtClean="0"/>
                <a:t>))</a:t>
              </a:r>
              <a:endParaRPr lang="en-US" altLang="ja-JP" sz="2800" dirty="0"/>
            </a:p>
            <a:p>
              <a:r>
                <a:rPr lang="en-US" altLang="ja-JP" sz="2800" dirty="0" smtClean="0"/>
                <a:t>100 (</a:t>
              </a:r>
              <a:r>
                <a:rPr lang="ja-JP" altLang="en-US" sz="2800" dirty="0" smtClean="0"/>
                <a:t>各タスク</a:t>
              </a:r>
              <a:r>
                <a:rPr lang="en-US" altLang="ja-JP" sz="2800" dirty="0" smtClean="0"/>
                <a:t>)</a:t>
              </a:r>
            </a:p>
            <a:p>
              <a:r>
                <a:rPr lang="en-US" altLang="ja-JP" sz="2800" dirty="0" smtClean="0"/>
                <a:t>100,000</a:t>
              </a:r>
              <a:r>
                <a:rPr kumimoji="1" lang="ja-JP" altLang="en-US" sz="2400" dirty="0" smtClean="0"/>
                <a:t>回</a:t>
              </a:r>
              <a:endParaRPr kumimoji="1" lang="en-US" altLang="ja-JP" sz="2400" dirty="0" smtClean="0"/>
            </a:p>
            <a:p>
              <a:r>
                <a:rPr lang="en-US" altLang="ja-JP" sz="2800" dirty="0" smtClean="0"/>
                <a:t>31</a:t>
              </a:r>
              <a:r>
                <a:rPr lang="ja-JP" altLang="en-US" sz="2400" dirty="0" smtClean="0"/>
                <a:t>回</a:t>
              </a:r>
              <a:endParaRPr kumimoji="1" lang="en-US" altLang="ja-JP" sz="2400" dirty="0" smtClean="0"/>
            </a:p>
            <a:p>
              <a:r>
                <a:rPr lang="en-US" altLang="ja-JP" sz="2800" dirty="0" smtClean="0"/>
                <a:t>1.1</a:t>
              </a:r>
              <a:r>
                <a:rPr lang="ja-JP" altLang="en-US" sz="2400" dirty="0" smtClean="0"/>
                <a:t>倍</a:t>
              </a:r>
              <a:endParaRPr lang="en-US" altLang="ja-JP" sz="2400" dirty="0" smtClean="0"/>
            </a:p>
            <a:p>
              <a:r>
                <a:rPr lang="en-US" altLang="ja-JP" sz="2800" dirty="0" smtClean="0"/>
                <a:t>10 </a:t>
              </a:r>
              <a:r>
                <a:rPr lang="en-US" altLang="ja-JP" sz="2400" dirty="0" smtClean="0"/>
                <a:t>%</a:t>
              </a:r>
              <a:endParaRPr lang="en-US" altLang="ja-JP" sz="2400" dirty="0"/>
            </a:p>
          </p:txBody>
        </p:sp>
      </p:grpSp>
      <p:sp>
        <p:nvSpPr>
          <p:cNvPr id="9" name="テキスト ボックス 8"/>
          <p:cNvSpPr txBox="1"/>
          <p:nvPr/>
        </p:nvSpPr>
        <p:spPr>
          <a:xfrm>
            <a:off x="228600" y="1371600"/>
            <a:ext cx="2669967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 smtClean="0"/>
              <a:t>共通実験設定</a:t>
            </a:r>
            <a:endParaRPr kumimoji="1" lang="ja-JP" alt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610620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57" name="コンテンツ プレースホルダー 56"/>
          <p:cNvSpPr>
            <a:spLocks noGrp="1"/>
          </p:cNvSpPr>
          <p:nvPr>
            <p:ph idx="1"/>
          </p:nvPr>
        </p:nvSpPr>
        <p:spPr/>
        <p:txBody>
          <a:bodyPr anchor="b"/>
          <a:lstStyle/>
          <a:p>
            <a:r>
              <a:rPr kumimoji="1" lang="ja-JP" altLang="en-US" dirty="0" smtClean="0"/>
              <a:t>両方のタスクで，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独立探索</a:t>
            </a:r>
            <a:r>
              <a:rPr lang="ja-JP" altLang="en-US" b="1" dirty="0">
                <a:solidFill>
                  <a:schemeClr val="accent1"/>
                </a:solidFill>
              </a:rPr>
              <a:t>手法</a:t>
            </a:r>
            <a:r>
              <a:rPr kumimoji="1" lang="ja-JP" altLang="en-US" dirty="0" smtClean="0"/>
              <a:t>が優れている．</a:t>
            </a:r>
            <a:endParaRPr kumimoji="1" lang="en-US" altLang="ja-JP" dirty="0" smtClean="0"/>
          </a:p>
          <a:p>
            <a:r>
              <a:rPr lang="en-US" altLang="ja-JP" dirty="0" smtClean="0"/>
              <a:t>MO-MFEA</a:t>
            </a:r>
            <a:r>
              <a:rPr lang="ja-JP" altLang="en-US" dirty="0" smtClean="0"/>
              <a:t>の方が，島モデルより優れている．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18</a:t>
            </a:fld>
            <a:endParaRPr kumimoji="1" lang="ja-JP" altLang="en-US" dirty="0"/>
          </a:p>
        </p:txBody>
      </p:sp>
      <p:sp>
        <p:nvSpPr>
          <p:cNvPr id="32" name="テキスト プレースホルダー 3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Scaling Knapsack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grpSp>
        <p:nvGrpSpPr>
          <p:cNvPr id="59" name="グループ化 58"/>
          <p:cNvGrpSpPr/>
          <p:nvPr/>
        </p:nvGrpSpPr>
        <p:grpSpPr>
          <a:xfrm>
            <a:off x="35048" y="1425641"/>
            <a:ext cx="9367082" cy="3895542"/>
            <a:chOff x="35048" y="1425641"/>
            <a:chExt cx="9367082" cy="3895542"/>
          </a:xfrm>
        </p:grpSpPr>
        <p:grpSp>
          <p:nvGrpSpPr>
            <p:cNvPr id="45" name="グループ化 44"/>
            <p:cNvGrpSpPr/>
            <p:nvPr/>
          </p:nvGrpSpPr>
          <p:grpSpPr>
            <a:xfrm>
              <a:off x="498626" y="1425641"/>
              <a:ext cx="4636325" cy="3895542"/>
              <a:chOff x="470051" y="1971906"/>
              <a:chExt cx="4636325" cy="3895542"/>
            </a:xfrm>
          </p:grpSpPr>
          <p:grpSp>
            <p:nvGrpSpPr>
              <p:cNvPr id="22" name="グループ化 21"/>
              <p:cNvGrpSpPr/>
              <p:nvPr/>
            </p:nvGrpSpPr>
            <p:grpSpPr>
              <a:xfrm>
                <a:off x="470051" y="2349704"/>
                <a:ext cx="4636325" cy="3517744"/>
                <a:chOff x="246344" y="2133819"/>
                <a:chExt cx="4636325" cy="3517744"/>
              </a:xfrm>
            </p:grpSpPr>
            <p:grpSp>
              <p:nvGrpSpPr>
                <p:cNvPr id="18" name="グループ化 17"/>
                <p:cNvGrpSpPr/>
                <p:nvPr/>
              </p:nvGrpSpPr>
              <p:grpSpPr>
                <a:xfrm>
                  <a:off x="246344" y="2133819"/>
                  <a:ext cx="4636325" cy="3469840"/>
                  <a:chOff x="246344" y="2133819"/>
                  <a:chExt cx="4636325" cy="3469840"/>
                </a:xfrm>
              </p:grpSpPr>
              <p:grpSp>
                <p:nvGrpSpPr>
                  <p:cNvPr id="12" name="グループ化 11"/>
                  <p:cNvGrpSpPr/>
                  <p:nvPr/>
                </p:nvGrpSpPr>
                <p:grpSpPr>
                  <a:xfrm>
                    <a:off x="246344" y="2133819"/>
                    <a:ext cx="4636325" cy="3469840"/>
                    <a:chOff x="246344" y="2133819"/>
                    <a:chExt cx="4636325" cy="3469840"/>
                  </a:xfrm>
                </p:grpSpPr>
                <p:pic>
                  <p:nvPicPr>
                    <p:cNvPr id="6" name="図 5"/>
                    <p:cNvPicPr>
                      <a:picLocks noChangeAspect="1"/>
                    </p:cNvPicPr>
                    <p:nvPr/>
                  </p:nvPicPr>
                  <p:blipFill>
                    <a:blip r:embed="rId2" cstate="print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46344" y="2133819"/>
                      <a:ext cx="4636325" cy="346984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9" name="正方形/長方形 8"/>
                    <p:cNvSpPr/>
                    <p:nvPr/>
                  </p:nvSpPr>
                  <p:spPr>
                    <a:xfrm>
                      <a:off x="818368" y="2349704"/>
                      <a:ext cx="369734" cy="18736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7" name="テキスト ボックス 6"/>
                  <p:cNvSpPr txBox="1"/>
                  <p:nvPr/>
                </p:nvSpPr>
                <p:spPr>
                  <a:xfrm>
                    <a:off x="710367" y="2195374"/>
                    <a:ext cx="1175657" cy="400110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 anchor="b">
                    <a:spAutoFit/>
                  </a:bodyPr>
                  <a:lstStyle/>
                  <a:p>
                    <a:r>
                      <a:rPr kumimoji="1" lang="en-US" altLang="ja-JP" sz="2000" dirty="0" smtClean="0"/>
                      <a:t>×10</a:t>
                    </a:r>
                    <a:r>
                      <a:rPr kumimoji="1" lang="en-US" altLang="ja-JP" sz="2000" baseline="30000" dirty="0" smtClean="0"/>
                      <a:t>8</a:t>
                    </a:r>
                    <a:endParaRPr kumimoji="1" lang="ja-JP" altLang="en-US" sz="2000" baseline="30000" dirty="0" smtClean="0"/>
                  </a:p>
                </p:txBody>
              </p:sp>
            </p:grpSp>
            <p:sp>
              <p:nvSpPr>
                <p:cNvPr id="19" name="テキスト ボックス 18"/>
                <p:cNvSpPr txBox="1"/>
                <p:nvPr/>
              </p:nvSpPr>
              <p:spPr>
                <a:xfrm>
                  <a:off x="811725" y="5266842"/>
                  <a:ext cx="1132149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NSGA-II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20" name="テキスト ボックス 19"/>
                <p:cNvSpPr txBox="1"/>
                <p:nvPr/>
              </p:nvSpPr>
              <p:spPr>
                <a:xfrm>
                  <a:off x="1946708" y="5266842"/>
                  <a:ext cx="1416570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MO-MFEA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21" name="テキスト ボックス 20"/>
                <p:cNvSpPr txBox="1"/>
                <p:nvPr/>
              </p:nvSpPr>
              <p:spPr>
                <a:xfrm>
                  <a:off x="3391864" y="5266842"/>
                  <a:ext cx="1186285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ja-JP" altLang="en-US" sz="2150" dirty="0" smtClean="0"/>
                    <a:t>島モデル</a:t>
                  </a:r>
                </a:p>
              </p:txBody>
            </p:sp>
          </p:grpSp>
          <p:sp>
            <p:nvSpPr>
              <p:cNvPr id="33" name="テキスト ボックス 32"/>
              <p:cNvSpPr txBox="1"/>
              <p:nvPr/>
            </p:nvSpPr>
            <p:spPr>
              <a:xfrm>
                <a:off x="2135145" y="1971906"/>
                <a:ext cx="1300442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kumimoji="1" lang="en-US" altLang="ja-JP" sz="2800" dirty="0" smtClean="0"/>
                  <a:t>1</a:t>
                </a:r>
                <a:endParaRPr kumimoji="1" lang="ja-JP" altLang="en-US" sz="2800" dirty="0" smtClean="0"/>
              </a:p>
            </p:txBody>
          </p:sp>
        </p:grpSp>
        <p:sp>
          <p:nvSpPr>
            <p:cNvPr id="44" name="テキスト ボックス 43"/>
            <p:cNvSpPr txBox="1"/>
            <p:nvPr/>
          </p:nvSpPr>
          <p:spPr>
            <a:xfrm rot="16200000">
              <a:off x="-1194784" y="3365268"/>
              <a:ext cx="2921330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400" dirty="0" err="1" smtClean="0"/>
                <a:t>Hypaevolume</a:t>
              </a:r>
              <a:r>
                <a:rPr kumimoji="1" lang="ja-JP" altLang="en-US" sz="2400" dirty="0" smtClean="0"/>
                <a:t>値</a:t>
              </a:r>
            </a:p>
          </p:txBody>
        </p:sp>
        <p:grpSp>
          <p:nvGrpSpPr>
            <p:cNvPr id="46" name="グループ化 45"/>
            <p:cNvGrpSpPr/>
            <p:nvPr/>
          </p:nvGrpSpPr>
          <p:grpSpPr>
            <a:xfrm>
              <a:off x="4765806" y="1425641"/>
              <a:ext cx="4636324" cy="3895542"/>
              <a:chOff x="470051" y="1971906"/>
              <a:chExt cx="4636324" cy="3895542"/>
            </a:xfrm>
          </p:grpSpPr>
          <p:grpSp>
            <p:nvGrpSpPr>
              <p:cNvPr id="47" name="グループ化 46"/>
              <p:cNvGrpSpPr/>
              <p:nvPr/>
            </p:nvGrpSpPr>
            <p:grpSpPr>
              <a:xfrm>
                <a:off x="470051" y="2349704"/>
                <a:ext cx="4636324" cy="3517744"/>
                <a:chOff x="246344" y="2133819"/>
                <a:chExt cx="4636324" cy="3517744"/>
              </a:xfrm>
            </p:grpSpPr>
            <p:grpSp>
              <p:nvGrpSpPr>
                <p:cNvPr id="49" name="グループ化 48"/>
                <p:cNvGrpSpPr/>
                <p:nvPr/>
              </p:nvGrpSpPr>
              <p:grpSpPr>
                <a:xfrm>
                  <a:off x="246344" y="2133819"/>
                  <a:ext cx="4636324" cy="3469840"/>
                  <a:chOff x="246344" y="2133819"/>
                  <a:chExt cx="4636324" cy="3469840"/>
                </a:xfrm>
              </p:grpSpPr>
              <p:grpSp>
                <p:nvGrpSpPr>
                  <p:cNvPr id="53" name="グループ化 52"/>
                  <p:cNvGrpSpPr/>
                  <p:nvPr/>
                </p:nvGrpSpPr>
                <p:grpSpPr>
                  <a:xfrm>
                    <a:off x="246344" y="2133819"/>
                    <a:ext cx="4636324" cy="3469840"/>
                    <a:chOff x="246344" y="2133819"/>
                    <a:chExt cx="4636324" cy="3469840"/>
                  </a:xfrm>
                </p:grpSpPr>
                <p:pic>
                  <p:nvPicPr>
                    <p:cNvPr id="55" name="図 54"/>
                    <p:cNvPicPr>
                      <a:picLocks noChangeAspect="1"/>
                    </p:cNvPicPr>
                    <p:nvPr/>
                  </p:nvPicPr>
                  <p:blipFill>
                    <a:blip r:embed="rId3" cstate="print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46344" y="2133819"/>
                      <a:ext cx="4636324" cy="346984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56" name="正方形/長方形 55"/>
                    <p:cNvSpPr/>
                    <p:nvPr/>
                  </p:nvSpPr>
                  <p:spPr>
                    <a:xfrm>
                      <a:off x="818368" y="2349704"/>
                      <a:ext cx="369734" cy="18736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54" name="テキスト ボックス 53"/>
                  <p:cNvSpPr txBox="1"/>
                  <p:nvPr/>
                </p:nvSpPr>
                <p:spPr>
                  <a:xfrm>
                    <a:off x="710367" y="2195374"/>
                    <a:ext cx="1175657" cy="400110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 anchor="b">
                    <a:spAutoFit/>
                  </a:bodyPr>
                  <a:lstStyle/>
                  <a:p>
                    <a:r>
                      <a:rPr kumimoji="1" lang="en-US" altLang="ja-JP" sz="2000" dirty="0" smtClean="0"/>
                      <a:t>×10</a:t>
                    </a:r>
                    <a:r>
                      <a:rPr kumimoji="1" lang="en-US" altLang="ja-JP" sz="2000" baseline="30000" dirty="0" smtClean="0"/>
                      <a:t>8</a:t>
                    </a:r>
                    <a:endParaRPr kumimoji="1" lang="ja-JP" altLang="en-US" sz="2000" baseline="30000" dirty="0" smtClean="0"/>
                  </a:p>
                </p:txBody>
              </p:sp>
            </p:grpSp>
            <p:sp>
              <p:nvSpPr>
                <p:cNvPr id="50" name="テキスト ボックス 49"/>
                <p:cNvSpPr txBox="1"/>
                <p:nvPr/>
              </p:nvSpPr>
              <p:spPr>
                <a:xfrm>
                  <a:off x="811725" y="5266842"/>
                  <a:ext cx="1132149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NSGA-II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51" name="テキスト ボックス 50"/>
                <p:cNvSpPr txBox="1"/>
                <p:nvPr/>
              </p:nvSpPr>
              <p:spPr>
                <a:xfrm>
                  <a:off x="1946708" y="5266842"/>
                  <a:ext cx="1416570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MO-MFEA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52" name="テキスト ボックス 51"/>
                <p:cNvSpPr txBox="1"/>
                <p:nvPr/>
              </p:nvSpPr>
              <p:spPr>
                <a:xfrm>
                  <a:off x="3391864" y="5266842"/>
                  <a:ext cx="1186285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ja-JP" altLang="en-US" sz="2150" dirty="0" smtClean="0"/>
                    <a:t>島モデル</a:t>
                  </a:r>
                </a:p>
              </p:txBody>
            </p:sp>
          </p:grpSp>
          <p:sp>
            <p:nvSpPr>
              <p:cNvPr id="48" name="テキスト ボックス 47"/>
              <p:cNvSpPr txBox="1"/>
              <p:nvPr/>
            </p:nvSpPr>
            <p:spPr>
              <a:xfrm>
                <a:off x="2135145" y="1971906"/>
                <a:ext cx="1300442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lang="en-US" altLang="ja-JP" sz="2800" dirty="0"/>
                  <a:t>2</a:t>
                </a:r>
                <a:endParaRPr kumimoji="1" lang="ja-JP" altLang="en-US" sz="2800" dirty="0" smtClean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42046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57" name="コンテンツ プレースホルダー 56"/>
          <p:cNvSpPr>
            <a:spLocks noGrp="1"/>
          </p:cNvSpPr>
          <p:nvPr>
            <p:ph idx="1"/>
          </p:nvPr>
        </p:nvSpPr>
        <p:spPr/>
        <p:txBody>
          <a:bodyPr anchor="b"/>
          <a:lstStyle/>
          <a:p>
            <a:r>
              <a:rPr kumimoji="1" lang="ja-JP" altLang="en-US" dirty="0" smtClean="0"/>
              <a:t>両方のタスクで，</a:t>
            </a:r>
            <a:r>
              <a:rPr lang="ja-JP" altLang="en-US" b="1" dirty="0" smtClean="0">
                <a:solidFill>
                  <a:schemeClr val="accent1"/>
                </a:solidFill>
              </a:rPr>
              <a:t>マルチタスク手法</a:t>
            </a:r>
            <a:r>
              <a:rPr kumimoji="1" lang="ja-JP" altLang="en-US" dirty="0" smtClean="0"/>
              <a:t>が優れている．</a:t>
            </a:r>
            <a:endParaRPr kumimoji="1" lang="en-US" altLang="ja-JP" dirty="0" smtClean="0"/>
          </a:p>
          <a:p>
            <a:r>
              <a:rPr lang="en-US" altLang="ja-JP" dirty="0" smtClean="0"/>
              <a:t>MO-MFEA</a:t>
            </a:r>
            <a:r>
              <a:rPr lang="ja-JP" altLang="en-US" dirty="0" smtClean="0"/>
              <a:t>の方が，島モデルより優れている．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19</a:t>
            </a:fld>
            <a:endParaRPr kumimoji="1" lang="ja-JP" altLang="en-US" dirty="0"/>
          </a:p>
        </p:txBody>
      </p:sp>
      <p:sp>
        <p:nvSpPr>
          <p:cNvPr id="32" name="テキスト プレースホルダー 3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Inversion</a:t>
            </a:r>
            <a:r>
              <a:rPr lang="ja-JP" altLang="en-US" dirty="0"/>
              <a:t> </a:t>
            </a:r>
            <a:r>
              <a:rPr lang="en-US" altLang="ja-JP" dirty="0" smtClean="0"/>
              <a:t>Profi</a:t>
            </a:r>
            <a:r>
              <a:rPr lang="en-US" altLang="ja-JP" dirty="0"/>
              <a:t>t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grpSp>
        <p:nvGrpSpPr>
          <p:cNvPr id="3" name="グループ化 2"/>
          <p:cNvGrpSpPr/>
          <p:nvPr/>
        </p:nvGrpSpPr>
        <p:grpSpPr>
          <a:xfrm>
            <a:off x="35048" y="1425641"/>
            <a:ext cx="9367082" cy="3895542"/>
            <a:chOff x="35048" y="1425641"/>
            <a:chExt cx="9367082" cy="3895542"/>
          </a:xfrm>
        </p:grpSpPr>
        <p:grpSp>
          <p:nvGrpSpPr>
            <p:cNvPr id="45" name="グループ化 44"/>
            <p:cNvGrpSpPr/>
            <p:nvPr/>
          </p:nvGrpSpPr>
          <p:grpSpPr>
            <a:xfrm>
              <a:off x="498626" y="1425641"/>
              <a:ext cx="4636324" cy="3895542"/>
              <a:chOff x="470051" y="1971906"/>
              <a:chExt cx="4636324" cy="3895542"/>
            </a:xfrm>
          </p:grpSpPr>
          <p:grpSp>
            <p:nvGrpSpPr>
              <p:cNvPr id="22" name="グループ化 21"/>
              <p:cNvGrpSpPr/>
              <p:nvPr/>
            </p:nvGrpSpPr>
            <p:grpSpPr>
              <a:xfrm>
                <a:off x="470051" y="2349704"/>
                <a:ext cx="4636324" cy="3517744"/>
                <a:chOff x="246344" y="2133819"/>
                <a:chExt cx="4636324" cy="3517744"/>
              </a:xfrm>
            </p:grpSpPr>
            <p:grpSp>
              <p:nvGrpSpPr>
                <p:cNvPr id="18" name="グループ化 17"/>
                <p:cNvGrpSpPr/>
                <p:nvPr/>
              </p:nvGrpSpPr>
              <p:grpSpPr>
                <a:xfrm>
                  <a:off x="246344" y="2133819"/>
                  <a:ext cx="4636324" cy="3469840"/>
                  <a:chOff x="246344" y="2133819"/>
                  <a:chExt cx="4636324" cy="3469840"/>
                </a:xfrm>
              </p:grpSpPr>
              <p:grpSp>
                <p:nvGrpSpPr>
                  <p:cNvPr id="12" name="グループ化 11"/>
                  <p:cNvGrpSpPr/>
                  <p:nvPr/>
                </p:nvGrpSpPr>
                <p:grpSpPr>
                  <a:xfrm>
                    <a:off x="246344" y="2133819"/>
                    <a:ext cx="4636324" cy="3469840"/>
                    <a:chOff x="246344" y="2133819"/>
                    <a:chExt cx="4636324" cy="3469840"/>
                  </a:xfrm>
                </p:grpSpPr>
                <p:pic>
                  <p:nvPicPr>
                    <p:cNvPr id="6" name="図 5"/>
                    <p:cNvPicPr>
                      <a:picLocks noChangeAspect="1"/>
                    </p:cNvPicPr>
                    <p:nvPr/>
                  </p:nvPicPr>
                  <p:blipFill>
                    <a:blip r:embed="rId2" cstate="print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46344" y="2133819"/>
                      <a:ext cx="4636324" cy="346984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9" name="正方形/長方形 8"/>
                    <p:cNvSpPr/>
                    <p:nvPr/>
                  </p:nvSpPr>
                  <p:spPr>
                    <a:xfrm>
                      <a:off x="818368" y="2349704"/>
                      <a:ext cx="369734" cy="18736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7" name="テキスト ボックス 6"/>
                  <p:cNvSpPr txBox="1"/>
                  <p:nvPr/>
                </p:nvSpPr>
                <p:spPr>
                  <a:xfrm>
                    <a:off x="710367" y="2195374"/>
                    <a:ext cx="1175657" cy="400110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 anchor="b">
                    <a:spAutoFit/>
                  </a:bodyPr>
                  <a:lstStyle/>
                  <a:p>
                    <a:r>
                      <a:rPr kumimoji="1" lang="en-US" altLang="ja-JP" sz="2000" dirty="0" smtClean="0"/>
                      <a:t>×10</a:t>
                    </a:r>
                    <a:r>
                      <a:rPr kumimoji="1" lang="en-US" altLang="ja-JP" sz="2000" baseline="30000" dirty="0" smtClean="0"/>
                      <a:t>8</a:t>
                    </a:r>
                    <a:endParaRPr kumimoji="1" lang="ja-JP" altLang="en-US" sz="2000" baseline="30000" dirty="0" smtClean="0"/>
                  </a:p>
                </p:txBody>
              </p:sp>
            </p:grpSp>
            <p:sp>
              <p:nvSpPr>
                <p:cNvPr id="19" name="テキスト ボックス 18"/>
                <p:cNvSpPr txBox="1"/>
                <p:nvPr/>
              </p:nvSpPr>
              <p:spPr>
                <a:xfrm>
                  <a:off x="811725" y="5266842"/>
                  <a:ext cx="1132149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NSGA-II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20" name="テキスト ボックス 19"/>
                <p:cNvSpPr txBox="1"/>
                <p:nvPr/>
              </p:nvSpPr>
              <p:spPr>
                <a:xfrm>
                  <a:off x="1946708" y="5266842"/>
                  <a:ext cx="1416570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MO-MFEA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21" name="テキスト ボックス 20"/>
                <p:cNvSpPr txBox="1"/>
                <p:nvPr/>
              </p:nvSpPr>
              <p:spPr>
                <a:xfrm>
                  <a:off x="3391864" y="5266842"/>
                  <a:ext cx="1186285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ja-JP" altLang="en-US" sz="2150" dirty="0" smtClean="0"/>
                    <a:t>島モデル</a:t>
                  </a:r>
                </a:p>
              </p:txBody>
            </p:sp>
          </p:grpSp>
          <p:sp>
            <p:nvSpPr>
              <p:cNvPr id="33" name="テキスト ボックス 32"/>
              <p:cNvSpPr txBox="1"/>
              <p:nvPr/>
            </p:nvSpPr>
            <p:spPr>
              <a:xfrm>
                <a:off x="2135145" y="1971906"/>
                <a:ext cx="1300442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kumimoji="1" lang="en-US" altLang="ja-JP" sz="2800" dirty="0" smtClean="0"/>
                  <a:t>1</a:t>
                </a:r>
                <a:endParaRPr kumimoji="1" lang="ja-JP" altLang="en-US" sz="2800" dirty="0" smtClean="0"/>
              </a:p>
            </p:txBody>
          </p:sp>
        </p:grpSp>
        <p:sp>
          <p:nvSpPr>
            <p:cNvPr id="44" name="テキスト ボックス 43"/>
            <p:cNvSpPr txBox="1"/>
            <p:nvPr/>
          </p:nvSpPr>
          <p:spPr>
            <a:xfrm rot="16200000">
              <a:off x="-1194784" y="3365268"/>
              <a:ext cx="2921330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400" dirty="0" err="1" smtClean="0"/>
                <a:t>Hypaevolume</a:t>
              </a:r>
              <a:r>
                <a:rPr kumimoji="1" lang="ja-JP" altLang="en-US" sz="2400" dirty="0" smtClean="0"/>
                <a:t>値</a:t>
              </a:r>
            </a:p>
          </p:txBody>
        </p:sp>
        <p:grpSp>
          <p:nvGrpSpPr>
            <p:cNvPr id="46" name="グループ化 45"/>
            <p:cNvGrpSpPr/>
            <p:nvPr/>
          </p:nvGrpSpPr>
          <p:grpSpPr>
            <a:xfrm>
              <a:off x="4765806" y="1425641"/>
              <a:ext cx="4636324" cy="3895542"/>
              <a:chOff x="470051" y="1971906"/>
              <a:chExt cx="4636324" cy="3895542"/>
            </a:xfrm>
          </p:grpSpPr>
          <p:grpSp>
            <p:nvGrpSpPr>
              <p:cNvPr id="47" name="グループ化 46"/>
              <p:cNvGrpSpPr/>
              <p:nvPr/>
            </p:nvGrpSpPr>
            <p:grpSpPr>
              <a:xfrm>
                <a:off x="470051" y="2349704"/>
                <a:ext cx="4636324" cy="3517744"/>
                <a:chOff x="246344" y="2133819"/>
                <a:chExt cx="4636324" cy="3517744"/>
              </a:xfrm>
            </p:grpSpPr>
            <p:grpSp>
              <p:nvGrpSpPr>
                <p:cNvPr id="49" name="グループ化 48"/>
                <p:cNvGrpSpPr/>
                <p:nvPr/>
              </p:nvGrpSpPr>
              <p:grpSpPr>
                <a:xfrm>
                  <a:off x="246344" y="2133819"/>
                  <a:ext cx="4636324" cy="3469839"/>
                  <a:chOff x="246344" y="2133819"/>
                  <a:chExt cx="4636324" cy="3469839"/>
                </a:xfrm>
              </p:grpSpPr>
              <p:grpSp>
                <p:nvGrpSpPr>
                  <p:cNvPr id="53" name="グループ化 52"/>
                  <p:cNvGrpSpPr/>
                  <p:nvPr/>
                </p:nvGrpSpPr>
                <p:grpSpPr>
                  <a:xfrm>
                    <a:off x="246344" y="2133819"/>
                    <a:ext cx="4636324" cy="3469839"/>
                    <a:chOff x="246344" y="2133819"/>
                    <a:chExt cx="4636324" cy="3469839"/>
                  </a:xfrm>
                </p:grpSpPr>
                <p:pic>
                  <p:nvPicPr>
                    <p:cNvPr id="55" name="図 54"/>
                    <p:cNvPicPr>
                      <a:picLocks noChangeAspect="1"/>
                    </p:cNvPicPr>
                    <p:nvPr/>
                  </p:nvPicPr>
                  <p:blipFill>
                    <a:blip r:embed="rId3" cstate="print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46344" y="2133819"/>
                      <a:ext cx="4636324" cy="3469839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56" name="正方形/長方形 55"/>
                    <p:cNvSpPr/>
                    <p:nvPr/>
                  </p:nvSpPr>
                  <p:spPr>
                    <a:xfrm>
                      <a:off x="818368" y="2349704"/>
                      <a:ext cx="369734" cy="18736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54" name="テキスト ボックス 53"/>
                  <p:cNvSpPr txBox="1"/>
                  <p:nvPr/>
                </p:nvSpPr>
                <p:spPr>
                  <a:xfrm>
                    <a:off x="710367" y="2195374"/>
                    <a:ext cx="1175657" cy="400110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 anchor="b">
                    <a:spAutoFit/>
                  </a:bodyPr>
                  <a:lstStyle/>
                  <a:p>
                    <a:r>
                      <a:rPr kumimoji="1" lang="en-US" altLang="ja-JP" sz="2000" dirty="0" smtClean="0"/>
                      <a:t>×10</a:t>
                    </a:r>
                    <a:r>
                      <a:rPr kumimoji="1" lang="en-US" altLang="ja-JP" sz="2000" baseline="30000" dirty="0" smtClean="0"/>
                      <a:t>8</a:t>
                    </a:r>
                    <a:endParaRPr kumimoji="1" lang="ja-JP" altLang="en-US" sz="2000" baseline="30000" dirty="0" smtClean="0"/>
                  </a:p>
                </p:txBody>
              </p:sp>
            </p:grpSp>
            <p:sp>
              <p:nvSpPr>
                <p:cNvPr id="50" name="テキスト ボックス 49"/>
                <p:cNvSpPr txBox="1"/>
                <p:nvPr/>
              </p:nvSpPr>
              <p:spPr>
                <a:xfrm>
                  <a:off x="811725" y="5266842"/>
                  <a:ext cx="1132149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NSGA-II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51" name="テキスト ボックス 50"/>
                <p:cNvSpPr txBox="1"/>
                <p:nvPr/>
              </p:nvSpPr>
              <p:spPr>
                <a:xfrm>
                  <a:off x="1946708" y="5266842"/>
                  <a:ext cx="1416570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MO-MFEA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52" name="テキスト ボックス 51"/>
                <p:cNvSpPr txBox="1"/>
                <p:nvPr/>
              </p:nvSpPr>
              <p:spPr>
                <a:xfrm>
                  <a:off x="3391864" y="5266842"/>
                  <a:ext cx="1186285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ja-JP" altLang="en-US" sz="2150" dirty="0" smtClean="0"/>
                    <a:t>島モデル</a:t>
                  </a:r>
                </a:p>
              </p:txBody>
            </p:sp>
          </p:grpSp>
          <p:sp>
            <p:nvSpPr>
              <p:cNvPr id="48" name="テキスト ボックス 47"/>
              <p:cNvSpPr txBox="1"/>
              <p:nvPr/>
            </p:nvSpPr>
            <p:spPr>
              <a:xfrm>
                <a:off x="2135145" y="1971906"/>
                <a:ext cx="1300442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lang="en-US" altLang="ja-JP" sz="2800" dirty="0"/>
                  <a:t>2</a:t>
                </a:r>
                <a:endParaRPr kumimoji="1" lang="ja-JP" altLang="en-US" sz="2800" dirty="0" smtClean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02635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まとめ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sz="2800" dirty="0" smtClean="0"/>
              <a:t>情報共有の難易度</a:t>
            </a:r>
            <a:r>
              <a:rPr lang="ja-JP" altLang="en-US" sz="2800" dirty="0" smtClean="0"/>
              <a:t>の解析が容易な</a:t>
            </a:r>
            <a:r>
              <a:rPr kumimoji="1" lang="ja-JP" altLang="en-US" sz="2800" dirty="0" smtClean="0"/>
              <a:t>，新たなマルチタスク</a:t>
            </a:r>
            <a:r>
              <a:rPr kumimoji="1" lang="en-US" altLang="ja-JP" sz="2800" dirty="0" smtClean="0"/>
              <a:t/>
            </a:r>
            <a:br>
              <a:rPr kumimoji="1" lang="en-US" altLang="ja-JP" sz="2800" dirty="0" smtClean="0"/>
            </a:br>
            <a:r>
              <a:rPr kumimoji="1" lang="ja-JP" altLang="en-US" sz="2800" dirty="0" smtClean="0"/>
              <a:t>ベンチマーク問題を</a:t>
            </a:r>
            <a:r>
              <a:rPr lang="ja-JP" altLang="en-US" sz="2800" dirty="0"/>
              <a:t>提案</a:t>
            </a:r>
            <a:r>
              <a:rPr lang="ja-JP" altLang="en-US" sz="2800" dirty="0" smtClean="0"/>
              <a:t>した．</a:t>
            </a:r>
            <a:endParaRPr lang="en-US" altLang="ja-JP" sz="2800" dirty="0" smtClean="0"/>
          </a:p>
          <a:p>
            <a:r>
              <a:rPr kumimoji="1" lang="ja-JP" altLang="en-US" sz="2800" dirty="0" smtClean="0"/>
              <a:t>数値実験では，情報共有の難易度により，マルチタスク手法の性能が変化することを示した．</a:t>
            </a:r>
            <a:endParaRPr kumimoji="1" lang="en-US" altLang="ja-JP" sz="2800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20</a:t>
            </a:fld>
            <a:endParaRPr kumimoji="1" lang="ja-JP" altLang="en-US" dirty="0"/>
          </a:p>
        </p:txBody>
      </p:sp>
      <p:sp>
        <p:nvSpPr>
          <p:cNvPr id="16" name="テキスト ボックス 15"/>
          <p:cNvSpPr txBox="1"/>
          <p:nvPr/>
        </p:nvSpPr>
        <p:spPr>
          <a:xfrm rot="16200000">
            <a:off x="-967587" y="5023527"/>
            <a:ext cx="2921330" cy="43088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200" dirty="0" err="1" smtClean="0"/>
              <a:t>Hypaevolume</a:t>
            </a:r>
            <a:r>
              <a:rPr kumimoji="1" lang="ja-JP" altLang="en-US" sz="2200" dirty="0" smtClean="0"/>
              <a:t>値</a:t>
            </a:r>
          </a:p>
        </p:txBody>
      </p:sp>
      <p:grpSp>
        <p:nvGrpSpPr>
          <p:cNvPr id="30" name="グループ化 29"/>
          <p:cNvGrpSpPr/>
          <p:nvPr/>
        </p:nvGrpSpPr>
        <p:grpSpPr>
          <a:xfrm>
            <a:off x="813081" y="3244282"/>
            <a:ext cx="4108136" cy="3531419"/>
            <a:chOff x="4851633" y="3305094"/>
            <a:chExt cx="4108136" cy="3531419"/>
          </a:xfrm>
        </p:grpSpPr>
        <p:grpSp>
          <p:nvGrpSpPr>
            <p:cNvPr id="18" name="グループ化 17"/>
            <p:cNvGrpSpPr/>
            <p:nvPr/>
          </p:nvGrpSpPr>
          <p:grpSpPr>
            <a:xfrm>
              <a:off x="4851633" y="3726886"/>
              <a:ext cx="4108136" cy="3109627"/>
              <a:chOff x="246344" y="2133819"/>
              <a:chExt cx="4108136" cy="3109627"/>
            </a:xfrm>
          </p:grpSpPr>
          <p:grpSp>
            <p:nvGrpSpPr>
              <p:cNvPr id="20" name="グループ化 19"/>
              <p:cNvGrpSpPr/>
              <p:nvPr/>
            </p:nvGrpSpPr>
            <p:grpSpPr>
              <a:xfrm>
                <a:off x="246344" y="2133819"/>
                <a:ext cx="4108136" cy="3074541"/>
                <a:chOff x="246344" y="2133819"/>
                <a:chExt cx="4108136" cy="3074541"/>
              </a:xfrm>
            </p:grpSpPr>
            <p:grpSp>
              <p:nvGrpSpPr>
                <p:cNvPr id="24" name="グループ化 23"/>
                <p:cNvGrpSpPr/>
                <p:nvPr/>
              </p:nvGrpSpPr>
              <p:grpSpPr>
                <a:xfrm>
                  <a:off x="246344" y="2133819"/>
                  <a:ext cx="4108136" cy="3074541"/>
                  <a:chOff x="246344" y="2133819"/>
                  <a:chExt cx="4108136" cy="3074541"/>
                </a:xfrm>
              </p:grpSpPr>
              <p:pic>
                <p:nvPicPr>
                  <p:cNvPr id="26" name="図 25"/>
                  <p:cNvPicPr>
                    <a:picLocks noChangeAspect="1"/>
                  </p:cNvPicPr>
                  <p:nvPr/>
                </p:nvPicPr>
                <p:blipFill>
                  <a:blip r:embed="rId2" cstate="print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46344" y="2133819"/>
                    <a:ext cx="4108136" cy="3074541"/>
                  </a:xfrm>
                  <a:prstGeom prst="rect">
                    <a:avLst/>
                  </a:prstGeom>
                </p:spPr>
              </p:pic>
              <p:sp>
                <p:nvSpPr>
                  <p:cNvPr id="27" name="正方形/長方形 26"/>
                  <p:cNvSpPr/>
                  <p:nvPr/>
                </p:nvSpPr>
                <p:spPr>
                  <a:xfrm>
                    <a:off x="770743" y="2292554"/>
                    <a:ext cx="369734" cy="18736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sp>
              <p:nvSpPr>
                <p:cNvPr id="25" name="テキスト ボックス 24"/>
                <p:cNvSpPr txBox="1"/>
                <p:nvPr/>
              </p:nvSpPr>
              <p:spPr>
                <a:xfrm>
                  <a:off x="649717" y="2133819"/>
                  <a:ext cx="1175657" cy="36933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 anchor="b">
                  <a:spAutoFit/>
                </a:bodyPr>
                <a:lstStyle/>
                <a:p>
                  <a:r>
                    <a:rPr kumimoji="1" lang="en-US" altLang="ja-JP" dirty="0" smtClean="0"/>
                    <a:t>×10</a:t>
                  </a:r>
                  <a:r>
                    <a:rPr kumimoji="1" lang="en-US" altLang="ja-JP" baseline="30000" dirty="0" smtClean="0"/>
                    <a:t>8</a:t>
                  </a:r>
                  <a:endParaRPr kumimoji="1" lang="ja-JP" altLang="en-US" baseline="30000" dirty="0" smtClean="0"/>
                </a:p>
              </p:txBody>
            </p:sp>
          </p:grpSp>
          <p:sp>
            <p:nvSpPr>
              <p:cNvPr id="21" name="テキスト ボックス 20"/>
              <p:cNvSpPr txBox="1"/>
              <p:nvPr/>
            </p:nvSpPr>
            <p:spPr>
              <a:xfrm>
                <a:off x="828424" y="4904892"/>
                <a:ext cx="1132149" cy="338554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lIns="0" tIns="0" rtlCol="0">
                <a:spAutoFit/>
              </a:bodyPr>
              <a:lstStyle/>
              <a:p>
                <a:r>
                  <a:rPr kumimoji="1" lang="en-US" altLang="ja-JP" sz="1900" dirty="0" smtClean="0"/>
                  <a:t>NSGA-II</a:t>
                </a:r>
                <a:endParaRPr kumimoji="1" lang="ja-JP" altLang="en-US" sz="1900" dirty="0" smtClean="0"/>
              </a:p>
            </p:txBody>
          </p:sp>
          <p:sp>
            <p:nvSpPr>
              <p:cNvPr id="22" name="テキスト ボックス 21"/>
              <p:cNvSpPr txBox="1"/>
              <p:nvPr/>
            </p:nvSpPr>
            <p:spPr>
              <a:xfrm>
                <a:off x="1797378" y="4904892"/>
                <a:ext cx="1416570" cy="338554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lIns="0" tIns="0" rtlCol="0">
                <a:spAutoFit/>
              </a:bodyPr>
              <a:lstStyle/>
              <a:p>
                <a:r>
                  <a:rPr kumimoji="1" lang="en-US" altLang="ja-JP" sz="1900" dirty="0" smtClean="0"/>
                  <a:t>MO-MFEA</a:t>
                </a:r>
                <a:endParaRPr kumimoji="1" lang="ja-JP" altLang="en-US" sz="1900" dirty="0" smtClean="0"/>
              </a:p>
            </p:txBody>
          </p:sp>
          <p:sp>
            <p:nvSpPr>
              <p:cNvPr id="23" name="テキスト ボックス 22"/>
              <p:cNvSpPr txBox="1"/>
              <p:nvPr/>
            </p:nvSpPr>
            <p:spPr>
              <a:xfrm>
                <a:off x="3016724" y="4904892"/>
                <a:ext cx="1186285" cy="338554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lIns="0" tIns="0" rtlCol="0">
                <a:spAutoFit/>
              </a:bodyPr>
              <a:lstStyle/>
              <a:p>
                <a:r>
                  <a:rPr kumimoji="1" lang="ja-JP" altLang="en-US" sz="1900" dirty="0" smtClean="0"/>
                  <a:t>島モデル</a:t>
                </a:r>
              </a:p>
            </p:txBody>
          </p:sp>
        </p:grpSp>
        <p:sp>
          <p:nvSpPr>
            <p:cNvPr id="29" name="テキスト ボックス 28"/>
            <p:cNvSpPr txBox="1"/>
            <p:nvPr/>
          </p:nvSpPr>
          <p:spPr>
            <a:xfrm>
              <a:off x="4991240" y="3305094"/>
              <a:ext cx="3777603" cy="80021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300" dirty="0" smtClean="0"/>
                <a:t>Scaling</a:t>
              </a:r>
              <a:r>
                <a:rPr lang="ja-JP" altLang="en-US" sz="2300" dirty="0"/>
                <a:t> </a:t>
              </a:r>
              <a:r>
                <a:rPr lang="en-US" altLang="ja-JP" sz="2300" dirty="0"/>
                <a:t>Knapsack</a:t>
              </a:r>
              <a:r>
                <a:rPr lang="en-US" altLang="ja-JP" sz="2300" dirty="0" smtClean="0"/>
                <a:t> </a:t>
              </a:r>
              <a:r>
                <a:rPr lang="ja-JP" altLang="en-US" sz="2300" dirty="0" smtClean="0"/>
                <a:t>問題</a:t>
              </a:r>
              <a:r>
                <a:rPr lang="en-US" altLang="ja-JP" sz="2300" dirty="0" smtClean="0"/>
                <a:t/>
              </a:r>
              <a:br>
                <a:rPr lang="en-US" altLang="ja-JP" sz="2300" dirty="0" smtClean="0"/>
              </a:br>
              <a:r>
                <a:rPr kumimoji="1" lang="ja-JP" altLang="en-US" sz="2300" dirty="0" smtClean="0"/>
                <a:t>タスク</a:t>
              </a:r>
              <a:r>
                <a:rPr kumimoji="1" lang="en-US" altLang="ja-JP" sz="2300" dirty="0" smtClean="0"/>
                <a:t>1</a:t>
              </a:r>
              <a:endParaRPr kumimoji="1" lang="ja-JP" altLang="en-US" sz="2300" dirty="0" smtClean="0"/>
            </a:p>
          </p:txBody>
        </p:sp>
      </p:grpSp>
      <p:grpSp>
        <p:nvGrpSpPr>
          <p:cNvPr id="31" name="グループ化 30"/>
          <p:cNvGrpSpPr/>
          <p:nvPr/>
        </p:nvGrpSpPr>
        <p:grpSpPr>
          <a:xfrm>
            <a:off x="4766525" y="3244282"/>
            <a:ext cx="4108136" cy="3531419"/>
            <a:chOff x="4851633" y="3305094"/>
            <a:chExt cx="4108136" cy="3531419"/>
          </a:xfrm>
        </p:grpSpPr>
        <p:grpSp>
          <p:nvGrpSpPr>
            <p:cNvPr id="32" name="グループ化 31"/>
            <p:cNvGrpSpPr/>
            <p:nvPr/>
          </p:nvGrpSpPr>
          <p:grpSpPr>
            <a:xfrm>
              <a:off x="4851633" y="3726886"/>
              <a:ext cx="4108136" cy="3109627"/>
              <a:chOff x="246344" y="2133819"/>
              <a:chExt cx="4108136" cy="3109627"/>
            </a:xfrm>
          </p:grpSpPr>
          <p:grpSp>
            <p:nvGrpSpPr>
              <p:cNvPr id="34" name="グループ化 33"/>
              <p:cNvGrpSpPr/>
              <p:nvPr/>
            </p:nvGrpSpPr>
            <p:grpSpPr>
              <a:xfrm>
                <a:off x="246344" y="2133819"/>
                <a:ext cx="4108136" cy="3074542"/>
                <a:chOff x="246344" y="2133819"/>
                <a:chExt cx="4108136" cy="3074542"/>
              </a:xfrm>
            </p:grpSpPr>
            <p:grpSp>
              <p:nvGrpSpPr>
                <p:cNvPr id="38" name="グループ化 37"/>
                <p:cNvGrpSpPr/>
                <p:nvPr/>
              </p:nvGrpSpPr>
              <p:grpSpPr>
                <a:xfrm>
                  <a:off x="246344" y="2133819"/>
                  <a:ext cx="4108136" cy="3074542"/>
                  <a:chOff x="246344" y="2133819"/>
                  <a:chExt cx="4108136" cy="3074542"/>
                </a:xfrm>
              </p:grpSpPr>
              <p:pic>
                <p:nvPicPr>
                  <p:cNvPr id="40" name="図 39"/>
                  <p:cNvPicPr>
                    <a:picLocks noChangeAspect="1"/>
                  </p:cNvPicPr>
                  <p:nvPr/>
                </p:nvPicPr>
                <p:blipFill>
                  <a:blip r:embed="rId3" cstate="print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46344" y="2133819"/>
                    <a:ext cx="4108136" cy="3074542"/>
                  </a:xfrm>
                  <a:prstGeom prst="rect">
                    <a:avLst/>
                  </a:prstGeom>
                </p:spPr>
              </p:pic>
              <p:sp>
                <p:nvSpPr>
                  <p:cNvPr id="41" name="正方形/長方形 40"/>
                  <p:cNvSpPr/>
                  <p:nvPr/>
                </p:nvSpPr>
                <p:spPr>
                  <a:xfrm>
                    <a:off x="770743" y="2292554"/>
                    <a:ext cx="369734" cy="18736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sp>
              <p:nvSpPr>
                <p:cNvPr id="39" name="テキスト ボックス 38"/>
                <p:cNvSpPr txBox="1"/>
                <p:nvPr/>
              </p:nvSpPr>
              <p:spPr>
                <a:xfrm>
                  <a:off x="649717" y="2133819"/>
                  <a:ext cx="1175657" cy="36933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 anchor="b">
                  <a:spAutoFit/>
                </a:bodyPr>
                <a:lstStyle/>
                <a:p>
                  <a:r>
                    <a:rPr kumimoji="1" lang="en-US" altLang="ja-JP" dirty="0" smtClean="0"/>
                    <a:t>×10</a:t>
                  </a:r>
                  <a:r>
                    <a:rPr kumimoji="1" lang="en-US" altLang="ja-JP" baseline="30000" dirty="0" smtClean="0"/>
                    <a:t>8</a:t>
                  </a:r>
                  <a:endParaRPr kumimoji="1" lang="ja-JP" altLang="en-US" baseline="30000" dirty="0" smtClean="0"/>
                </a:p>
              </p:txBody>
            </p:sp>
          </p:grpSp>
          <p:sp>
            <p:nvSpPr>
              <p:cNvPr id="35" name="テキスト ボックス 34"/>
              <p:cNvSpPr txBox="1"/>
              <p:nvPr/>
            </p:nvSpPr>
            <p:spPr>
              <a:xfrm>
                <a:off x="828424" y="4904892"/>
                <a:ext cx="1132149" cy="338554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lIns="0" tIns="0" rtlCol="0">
                <a:spAutoFit/>
              </a:bodyPr>
              <a:lstStyle/>
              <a:p>
                <a:r>
                  <a:rPr kumimoji="1" lang="en-US" altLang="ja-JP" sz="1900" dirty="0" smtClean="0"/>
                  <a:t>NSGA-II</a:t>
                </a:r>
                <a:endParaRPr kumimoji="1" lang="ja-JP" altLang="en-US" sz="1900" dirty="0" smtClean="0"/>
              </a:p>
            </p:txBody>
          </p:sp>
          <p:sp>
            <p:nvSpPr>
              <p:cNvPr id="36" name="テキスト ボックス 35"/>
              <p:cNvSpPr txBox="1"/>
              <p:nvPr/>
            </p:nvSpPr>
            <p:spPr>
              <a:xfrm>
                <a:off x="1797378" y="4904892"/>
                <a:ext cx="1416570" cy="338554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lIns="0" tIns="0" rtlCol="0">
                <a:spAutoFit/>
              </a:bodyPr>
              <a:lstStyle/>
              <a:p>
                <a:r>
                  <a:rPr kumimoji="1" lang="en-US" altLang="ja-JP" sz="1900" dirty="0" smtClean="0"/>
                  <a:t>MO-MFEA</a:t>
                </a:r>
                <a:endParaRPr kumimoji="1" lang="ja-JP" altLang="en-US" sz="1900" dirty="0" smtClean="0"/>
              </a:p>
            </p:txBody>
          </p:sp>
          <p:sp>
            <p:nvSpPr>
              <p:cNvPr id="37" name="テキスト ボックス 36"/>
              <p:cNvSpPr txBox="1"/>
              <p:nvPr/>
            </p:nvSpPr>
            <p:spPr>
              <a:xfrm>
                <a:off x="3016724" y="4904892"/>
                <a:ext cx="1186285" cy="338554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lIns="0" tIns="0" rtlCol="0">
                <a:spAutoFit/>
              </a:bodyPr>
              <a:lstStyle/>
              <a:p>
                <a:r>
                  <a:rPr kumimoji="1" lang="ja-JP" altLang="en-US" sz="1900" dirty="0" smtClean="0"/>
                  <a:t>島モデル</a:t>
                </a:r>
              </a:p>
            </p:txBody>
          </p:sp>
        </p:grpSp>
        <p:sp>
          <p:nvSpPr>
            <p:cNvPr id="33" name="テキスト ボックス 32"/>
            <p:cNvSpPr txBox="1"/>
            <p:nvPr/>
          </p:nvSpPr>
          <p:spPr>
            <a:xfrm>
              <a:off x="4991240" y="3305094"/>
              <a:ext cx="3777603" cy="80021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300" dirty="0" smtClean="0"/>
                <a:t>Inversion Profit </a:t>
              </a:r>
              <a:r>
                <a:rPr lang="ja-JP" altLang="en-US" sz="2300" dirty="0" smtClean="0"/>
                <a:t>問題</a:t>
              </a:r>
              <a:r>
                <a:rPr lang="en-US" altLang="ja-JP" sz="2300" dirty="0" smtClean="0"/>
                <a:t/>
              </a:r>
              <a:br>
                <a:rPr lang="en-US" altLang="ja-JP" sz="2300" dirty="0" smtClean="0"/>
              </a:br>
              <a:r>
                <a:rPr kumimoji="1" lang="ja-JP" altLang="en-US" sz="2300" dirty="0" smtClean="0"/>
                <a:t>タスク</a:t>
              </a:r>
              <a:r>
                <a:rPr kumimoji="1" lang="en-US" altLang="ja-JP" sz="2300" dirty="0" smtClean="0"/>
                <a:t>1</a:t>
              </a:r>
              <a:endParaRPr kumimoji="1" lang="ja-JP" altLang="en-US" sz="23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1146520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4294967295"/>
          </p:nvPr>
        </p:nvSpPr>
        <p:spPr>
          <a:xfrm>
            <a:off x="7010400" y="333375"/>
            <a:ext cx="2133600" cy="476250"/>
          </a:xfrm>
          <a:prstGeom prst="rect">
            <a:avLst/>
          </a:prstGeom>
        </p:spPr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21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93604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3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762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9050">
          <a:noFill/>
        </a:ln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1BF3D9E7-0E3F-405E-A7C2-9287BF6F8045}" vid="{44580BCE-2164-458F-848B-E0E027AD84CB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7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3F53A37-5EBE-431E-ABB7-703102CA6FAC}">
  <we:reference id="wa104381063" version="1.0.0.1" store="ja-JP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846</TotalTime>
  <Words>819</Words>
  <Application>Microsoft Office PowerPoint</Application>
  <PresentationFormat>画面に合わせる (4:3)</PresentationFormat>
  <Paragraphs>237</Paragraphs>
  <Slides>22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28" baseType="lpstr">
      <vt:lpstr>ＭＳ Ｐゴシック</vt:lpstr>
      <vt:lpstr>游ゴシック</vt:lpstr>
      <vt:lpstr>Arial</vt:lpstr>
      <vt:lpstr>Symbol</vt:lpstr>
      <vt:lpstr>Times New Roman</vt:lpstr>
      <vt:lpstr>Theme_Lab</vt:lpstr>
      <vt:lpstr>多目的マルチタスク ナップサック問題の提案</vt:lpstr>
      <vt:lpstr>マルチタスクとは</vt:lpstr>
      <vt:lpstr>マルチタスクとは</vt:lpstr>
      <vt:lpstr>マルチタスクとは</vt:lpstr>
      <vt:lpstr>マルチタスクの特徴</vt:lpstr>
      <vt:lpstr>マルチタスクの特徴</vt:lpstr>
      <vt:lpstr>本研究の目的</vt:lpstr>
      <vt:lpstr>提案するテスト問題</vt:lpstr>
      <vt:lpstr>多目的ナップサック問題</vt:lpstr>
      <vt:lpstr>提案するテスト問題</vt:lpstr>
      <vt:lpstr>提案するテスト問題</vt:lpstr>
      <vt:lpstr>提案するテスト問題</vt:lpstr>
      <vt:lpstr>提案するテスト問題</vt:lpstr>
      <vt:lpstr>提案するテスト問題</vt:lpstr>
      <vt:lpstr>提案するテスト問題</vt:lpstr>
      <vt:lpstr>数値実験</vt:lpstr>
      <vt:lpstr>数値実験</vt:lpstr>
      <vt:lpstr>数値実験</vt:lpstr>
      <vt:lpstr>実験結果</vt:lpstr>
      <vt:lpstr>実験結果</vt:lpstr>
      <vt:lpstr>まとめ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瓜田 俊貴</dc:creator>
  <cp:lastModifiedBy>俊貴 瓜田</cp:lastModifiedBy>
  <cp:revision>70</cp:revision>
  <dcterms:created xsi:type="dcterms:W3CDTF">2020-02-09T12:48:10Z</dcterms:created>
  <dcterms:modified xsi:type="dcterms:W3CDTF">2020-02-12T07:22:08Z</dcterms:modified>
</cp:coreProperties>
</file>