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6" r:id="rId1"/>
    <p:sldMasterId id="2147483675" r:id="rId2"/>
  </p:sldMasterIdLst>
  <p:notesMasterIdLst>
    <p:notesMasterId r:id="rId32"/>
  </p:notesMasterIdLst>
  <p:handoutMasterIdLst>
    <p:handoutMasterId r:id="rId33"/>
  </p:handoutMasterIdLst>
  <p:sldIdLst>
    <p:sldId id="256" r:id="rId3"/>
    <p:sldId id="257" r:id="rId4"/>
    <p:sldId id="284" r:id="rId5"/>
    <p:sldId id="260" r:id="rId6"/>
    <p:sldId id="277" r:id="rId7"/>
    <p:sldId id="276" r:id="rId8"/>
    <p:sldId id="288" r:id="rId9"/>
    <p:sldId id="287" r:id="rId10"/>
    <p:sldId id="269" r:id="rId11"/>
    <p:sldId id="270" r:id="rId12"/>
    <p:sldId id="289" r:id="rId13"/>
    <p:sldId id="261" r:id="rId14"/>
    <p:sldId id="303" r:id="rId15"/>
    <p:sldId id="292" r:id="rId16"/>
    <p:sldId id="291" r:id="rId17"/>
    <p:sldId id="294" r:id="rId18"/>
    <p:sldId id="304" r:id="rId19"/>
    <p:sldId id="296" r:id="rId20"/>
    <p:sldId id="297" r:id="rId21"/>
    <p:sldId id="305" r:id="rId22"/>
    <p:sldId id="298" r:id="rId23"/>
    <p:sldId id="300" r:id="rId24"/>
    <p:sldId id="301" r:id="rId25"/>
    <p:sldId id="302" r:id="rId26"/>
    <p:sldId id="299" r:id="rId27"/>
    <p:sldId id="265" r:id="rId28"/>
    <p:sldId id="274" r:id="rId29"/>
    <p:sldId id="262" r:id="rId30"/>
    <p:sldId id="283" r:id="rId31"/>
  </p:sldIdLst>
  <p:sldSz cx="9144000" cy="6858000" type="screen4x3"/>
  <p:notesSz cx="9926638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瓜田 俊貴" initials="瓜田" lastIdx="0" clrIdx="0">
    <p:extLst>
      <p:ext uri="{19B8F6BF-5375-455C-9EA6-DF929625EA0E}">
        <p15:presenceInfo xmlns:p15="http://schemas.microsoft.com/office/powerpoint/2012/main" userId="6da0c281fe3edd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65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CB2CA-71B5-47D1-A5B4-C2504A41E5ED}" type="datetimeFigureOut">
              <a:rPr kumimoji="1" lang="ja-JP" altLang="en-US" smtClean="0"/>
              <a:t>2020/2/14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C1A647-2415-4E54-8B53-C8FE09DEA4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444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7171E-D003-4928-A895-08BB84F8FF99}" type="datetimeFigureOut">
              <a:rPr kumimoji="1" lang="ja-JP" altLang="en-US" smtClean="0"/>
              <a:t>2020/2/14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448EF-D49C-48B3-BF1D-D5E1470A8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34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-1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0720"/>
            <a:ext cx="7772400" cy="3434079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799"/>
            <a:ext cx="6400800" cy="2743201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 baseline="0">
                <a:latin typeface="+mn-lt"/>
                <a:ea typeface="+mn-ea"/>
              </a:defRPr>
            </a:lvl1pPr>
            <a:lvl2pPr marL="342900" indent="0" algn="just">
              <a:buNone/>
              <a:defRPr sz="2400" baseline="0">
                <a:latin typeface="+mn-lt"/>
                <a:ea typeface="+mn-ea"/>
              </a:defRPr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504499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15085957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6526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129949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263011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24447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3794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772988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44391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ja-JP" dirty="0" smtClean="0"/>
              <a:t>多目的マルチタスク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ja-JP" dirty="0" smtClean="0"/>
              <a:t>ナップサック</a:t>
            </a:r>
            <a:r>
              <a:rPr lang="ja-JP" altLang="ja-JP" dirty="0"/>
              <a:t>問題の</a:t>
            </a:r>
            <a:r>
              <a:rPr lang="ja-JP" altLang="ja-JP" dirty="0" smtClean="0"/>
              <a:t>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685491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en-US" altLang="ja-JP" dirty="0" smtClean="0"/>
          </a:p>
          <a:p>
            <a:r>
              <a:rPr lang="ja-JP" altLang="en-US" dirty="0" smtClean="0"/>
              <a:t>計算知能</a:t>
            </a:r>
            <a:r>
              <a:rPr lang="ja-JP" altLang="en-US" dirty="0"/>
              <a:t>工</a:t>
            </a:r>
            <a:r>
              <a:rPr lang="ja-JP" altLang="en-US" dirty="0" smtClean="0"/>
              <a:t>学</a:t>
            </a:r>
            <a:r>
              <a:rPr lang="ja-JP" altLang="en-US" dirty="0"/>
              <a:t>研究室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5873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マルチタスク最適化とは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マルチタスク最適化とは，</a:t>
            </a:r>
            <a:r>
              <a:rPr kumimoji="1" lang="ja-JP" altLang="en-US" u="sng" dirty="0" smtClean="0"/>
              <a:t>複数の最適化問題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同時に解く</a:t>
            </a:r>
            <a:r>
              <a:rPr kumimoji="1" lang="ja-JP" altLang="en-US" dirty="0" smtClean="0"/>
              <a:t>というものである</a:t>
            </a:r>
            <a:r>
              <a:rPr kumimoji="1" lang="ja-JP" altLang="en-US" b="1" dirty="0" smtClean="0"/>
              <a:t>．</a:t>
            </a:r>
            <a:endParaRPr kumimoji="1" lang="ja-JP" altLang="en-US" b="1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2474511"/>
            <a:ext cx="115589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例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724986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325747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8" name="グループ化 7"/>
          <p:cNvGrpSpPr/>
          <p:nvPr/>
        </p:nvGrpSpPr>
        <p:grpSpPr>
          <a:xfrm>
            <a:off x="1176399" y="3704389"/>
            <a:ext cx="2551813" cy="2650562"/>
            <a:chOff x="1176399" y="3704389"/>
            <a:chExt cx="2551813" cy="2650562"/>
          </a:xfrm>
        </p:grpSpPr>
        <p:pic>
          <p:nvPicPr>
            <p:cNvPr id="2" name="図 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858"/>
            <a:stretch/>
          </p:blipFill>
          <p:spPr>
            <a:xfrm rot="10800000" flipV="1">
              <a:off x="1250939" y="4658496"/>
              <a:ext cx="2402734" cy="1696455"/>
            </a:xfrm>
            <a:prstGeom prst="rect">
              <a:avLst/>
            </a:prstGeom>
          </p:spPr>
        </p:pic>
        <p:sp>
          <p:nvSpPr>
            <p:cNvPr id="10" name="テキスト ボックス 9"/>
            <p:cNvSpPr txBox="1"/>
            <p:nvPr/>
          </p:nvSpPr>
          <p:spPr>
            <a:xfrm>
              <a:off x="1176399" y="3704389"/>
              <a:ext cx="2551813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車両の</a:t>
              </a:r>
              <a:r>
                <a:rPr kumimoji="1" lang="en-US" altLang="ja-JP" sz="2800" dirty="0" smtClean="0"/>
                <a:t/>
              </a:r>
              <a:br>
                <a:rPr kumimoji="1" lang="en-US" altLang="ja-JP" sz="2800" dirty="0" smtClean="0"/>
              </a:br>
              <a:r>
                <a:rPr kumimoji="1" lang="ja-JP" altLang="en-US" sz="2800" dirty="0" smtClean="0"/>
                <a:t>構造最適化</a:t>
              </a:r>
            </a:p>
          </p:txBody>
        </p:sp>
      </p:grpSp>
      <p:grpSp>
        <p:nvGrpSpPr>
          <p:cNvPr id="11" name="グループ化 10"/>
          <p:cNvGrpSpPr/>
          <p:nvPr/>
        </p:nvGrpSpPr>
        <p:grpSpPr>
          <a:xfrm>
            <a:off x="5540194" y="3635758"/>
            <a:ext cx="3079769" cy="2811750"/>
            <a:chOff x="3876760" y="3635758"/>
            <a:chExt cx="3079769" cy="2811750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4140738" y="3635758"/>
              <a:ext cx="2551813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トラック</a:t>
              </a:r>
              <a:r>
                <a:rPr kumimoji="1" lang="ja-JP" altLang="en-US" sz="2800" dirty="0" smtClean="0"/>
                <a:t>の</a:t>
              </a:r>
              <a:r>
                <a:rPr kumimoji="1" lang="en-US" altLang="ja-JP" sz="2800" dirty="0" smtClean="0"/>
                <a:t/>
              </a:r>
              <a:br>
                <a:rPr kumimoji="1" lang="en-US" altLang="ja-JP" sz="2800" dirty="0" smtClean="0"/>
              </a:br>
              <a:r>
                <a:rPr kumimoji="1" lang="ja-JP" altLang="en-US" sz="2800" dirty="0" smtClean="0"/>
                <a:t>構造最適化</a:t>
              </a:r>
            </a:p>
          </p:txBody>
        </p:sp>
        <p:pic>
          <p:nvPicPr>
            <p:cNvPr id="4" name="図 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759" b="38014"/>
            <a:stretch/>
          </p:blipFill>
          <p:spPr>
            <a:xfrm>
              <a:off x="3876760" y="4575195"/>
              <a:ext cx="3079769" cy="18723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853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マルチタスクの特徴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マルチタスクで問題を解く</a:t>
            </a:r>
            <a:r>
              <a:rPr lang="ja-JP" altLang="en-US" dirty="0" smtClean="0"/>
              <a:t>際，タスク間で適切に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解の情報共有</a:t>
            </a:r>
            <a:r>
              <a:rPr lang="ja-JP" altLang="en-US" dirty="0" smtClean="0"/>
              <a:t>を行うことが重要になる．</a:t>
            </a:r>
            <a:endParaRPr lang="en-US" altLang="ja-JP" dirty="0" smtClean="0"/>
          </a:p>
          <a:p>
            <a:r>
              <a:rPr kumimoji="1" lang="ja-JP" altLang="en-US" dirty="0" smtClean="0"/>
              <a:t>情報共有は</a:t>
            </a:r>
            <a:r>
              <a:rPr lang="ja-JP" altLang="en-US" dirty="0" smtClean="0"/>
              <a:t>，以下のような方法で行う．</a:t>
            </a:r>
            <a:endParaRPr lang="en-US" altLang="ja-JP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ja-JP" altLang="en-US" dirty="0" smtClean="0"/>
              <a:t>個体の移住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あるタスクに割り当てられた個体を，別タスクに使用する．</a:t>
            </a:r>
            <a:endParaRPr lang="en-US" altLang="ja-JP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ja-JP" altLang="en-US" dirty="0" smtClean="0"/>
              <a:t>タスク間交叉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異なるタスクに割り当てられた個体間で交叉を適用する．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5512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本研究の目的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マルチタスク手法</a:t>
            </a:r>
            <a:r>
              <a:rPr lang="en-US" altLang="ja-JP" dirty="0"/>
              <a:t>(</a:t>
            </a:r>
            <a:r>
              <a:rPr lang="ja-JP" altLang="en-US" dirty="0"/>
              <a:t>＝情報共有</a:t>
            </a:r>
            <a:r>
              <a:rPr lang="en-US" altLang="ja-JP" dirty="0"/>
              <a:t>)</a:t>
            </a:r>
            <a:r>
              <a:rPr kumimoji="1" lang="ja-JP" altLang="en-US" dirty="0" smtClean="0"/>
              <a:t>の性能は，</a:t>
            </a:r>
            <a:r>
              <a:rPr lang="ja-JP" altLang="en-US" dirty="0" smtClean="0"/>
              <a:t>テスト</a:t>
            </a:r>
            <a:r>
              <a:rPr kumimoji="1" lang="ja-JP" altLang="en-US" dirty="0" smtClean="0"/>
              <a:t>問題に対する探索性能で</a:t>
            </a:r>
            <a:r>
              <a:rPr lang="ja-JP" altLang="en-US" dirty="0"/>
              <a:t>評価</a:t>
            </a:r>
            <a:r>
              <a:rPr lang="ja-JP" altLang="en-US" dirty="0" smtClean="0"/>
              <a:t>される．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しかし，既存の</a:t>
            </a:r>
            <a:r>
              <a:rPr lang="ja-JP" altLang="en-US" dirty="0"/>
              <a:t>テスト</a:t>
            </a:r>
            <a:r>
              <a:rPr kumimoji="1" lang="ja-JP" altLang="en-US" dirty="0" smtClean="0"/>
              <a:t>問題</a:t>
            </a:r>
            <a:r>
              <a:rPr kumimoji="1" lang="en-US" altLang="ja-JP" sz="2400" dirty="0" smtClean="0"/>
              <a:t>[Yuan et al., 2017]</a:t>
            </a:r>
            <a:r>
              <a:rPr kumimoji="1" lang="ja-JP" altLang="en-US" dirty="0" smtClean="0"/>
              <a:t>で</a:t>
            </a:r>
            <a:r>
              <a:rPr lang="ja-JP" altLang="en-US" dirty="0" smtClean="0"/>
              <a:t>は，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評価</a:t>
            </a:r>
            <a:r>
              <a:rPr kumimoji="1" lang="ja-JP" altLang="en-US" dirty="0"/>
              <a:t>関数</a:t>
            </a:r>
            <a:r>
              <a:rPr kumimoji="1" lang="ja-JP" altLang="en-US" dirty="0" smtClean="0"/>
              <a:t>が複雑な高次方程式である．</a:t>
            </a:r>
            <a:r>
              <a:rPr lang="ja-JP" altLang="en-US" dirty="0" smtClean="0"/>
              <a:t>そのため，タスク間の</a:t>
            </a:r>
            <a:r>
              <a:rPr lang="ja-JP" altLang="en-US" b="1" dirty="0" smtClean="0">
                <a:solidFill>
                  <a:schemeClr val="accent2"/>
                </a:solidFill>
              </a:rPr>
              <a:t>関係性がわかりにくい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r>
              <a:rPr kumimoji="1" lang="ja-JP" altLang="en-US" dirty="0" smtClean="0"/>
              <a:t>本研究では，</a:t>
            </a:r>
            <a:r>
              <a:rPr lang="ja-JP" altLang="en-US" dirty="0" smtClean="0"/>
              <a:t>評価関数が単純で，タスク間の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関係性が明確</a:t>
            </a:r>
            <a:r>
              <a:rPr lang="ja-JP" altLang="en-US" dirty="0" smtClean="0"/>
              <a:t>な新たなテスト問題を提案する．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022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評価関数が一次関数である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多目的ナップサック</a:t>
            </a:r>
            <a:r>
              <a:rPr kumimoji="1" lang="en-US" altLang="ja-JP" b="1" dirty="0" smtClean="0">
                <a:solidFill>
                  <a:schemeClr val="accent1"/>
                </a:solidFill>
              </a:rPr>
              <a:t/>
            </a:r>
            <a:br>
              <a:rPr kumimoji="1" lang="en-US" altLang="ja-JP" b="1" dirty="0" smtClean="0">
                <a:solidFill>
                  <a:schemeClr val="accent1"/>
                </a:solidFill>
              </a:rPr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問題</a:t>
            </a:r>
            <a:r>
              <a:rPr kumimoji="1" lang="ja-JP" altLang="en-US" dirty="0" smtClean="0"/>
              <a:t>を，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つ組み合わせた問題を提案する．</a:t>
            </a:r>
            <a:endParaRPr kumimoji="1" lang="en-US" altLang="ja-JP" dirty="0" smtClean="0"/>
          </a:p>
          <a:p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つ目のタスクは，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つ目のタスクに変更を加えた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問題</a:t>
            </a:r>
            <a:r>
              <a:rPr kumimoji="1" lang="ja-JP" altLang="en-US" dirty="0" smtClean="0"/>
              <a:t>とする．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364382" y="3660281"/>
            <a:ext cx="8415237" cy="2348635"/>
            <a:chOff x="301252" y="3969039"/>
            <a:chExt cx="8415237" cy="2348635"/>
          </a:xfrm>
        </p:grpSpPr>
        <p:grpSp>
          <p:nvGrpSpPr>
            <p:cNvPr id="5" name="グループ化 4"/>
            <p:cNvGrpSpPr/>
            <p:nvPr/>
          </p:nvGrpSpPr>
          <p:grpSpPr>
            <a:xfrm>
              <a:off x="301252" y="3969039"/>
              <a:ext cx="3878862" cy="2348634"/>
              <a:chOff x="728763" y="2306493"/>
              <a:chExt cx="3732771" cy="2348634"/>
            </a:xfrm>
          </p:grpSpPr>
          <p:sp>
            <p:nvSpPr>
              <p:cNvPr id="6" name="角丸四角形 5"/>
              <p:cNvSpPr/>
              <p:nvPr/>
            </p:nvSpPr>
            <p:spPr>
              <a:xfrm>
                <a:off x="728763" y="2548648"/>
                <a:ext cx="3732771" cy="2106479"/>
              </a:xfrm>
              <a:prstGeom prst="roundRect">
                <a:avLst/>
              </a:prstGeom>
              <a:noFill/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決定変数が連続値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評価関数が複雑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ja-JP" altLang="en-US" sz="2800" dirty="0">
                    <a:solidFill>
                      <a:schemeClr val="tx1"/>
                    </a:solidFill>
                  </a:rPr>
                  <a:t>タスク間の</a:t>
                </a:r>
                <a:r>
                  <a:rPr lang="ja-JP" altLang="en-US" sz="2800" dirty="0" smtClean="0">
                    <a:solidFill>
                      <a:schemeClr val="tx1"/>
                    </a:solidFill>
                  </a:rPr>
                  <a:t>関係性が不明瞭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テキスト ボックス 6"/>
              <p:cNvSpPr txBox="1"/>
              <p:nvPr/>
            </p:nvSpPr>
            <p:spPr>
              <a:xfrm>
                <a:off x="1223253" y="2306493"/>
                <a:ext cx="2892357" cy="523220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既存のテスト問題</a:t>
                </a:r>
              </a:p>
            </p:txBody>
          </p:sp>
        </p:grpSp>
        <p:grpSp>
          <p:nvGrpSpPr>
            <p:cNvPr id="8" name="グループ化 7"/>
            <p:cNvGrpSpPr/>
            <p:nvPr/>
          </p:nvGrpSpPr>
          <p:grpSpPr>
            <a:xfrm>
              <a:off x="4835152" y="3969039"/>
              <a:ext cx="3881337" cy="2348635"/>
              <a:chOff x="5262663" y="2427569"/>
              <a:chExt cx="3881337" cy="2348635"/>
            </a:xfrm>
          </p:grpSpPr>
          <p:sp>
            <p:nvSpPr>
              <p:cNvPr id="9" name="角丸四角形 8"/>
              <p:cNvSpPr/>
              <p:nvPr/>
            </p:nvSpPr>
            <p:spPr>
              <a:xfrm>
                <a:off x="5262663" y="2669724"/>
                <a:ext cx="3881337" cy="2106480"/>
              </a:xfrm>
              <a:prstGeom prst="roundRect">
                <a:avLst/>
              </a:prstGeom>
              <a:noFill/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決定変数が離散値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評価関数が単純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ja-JP" altLang="en-US" sz="2800" dirty="0" smtClean="0">
                    <a:solidFill>
                      <a:schemeClr val="tx1"/>
                    </a:solidFill>
                  </a:rPr>
                  <a:t>タスク間の関係性が明瞭</a:t>
                </a:r>
                <a:endParaRPr kumimoji="1" lang="ja-JP" alt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テキスト ボックス 9"/>
              <p:cNvSpPr txBox="1"/>
              <p:nvPr/>
            </p:nvSpPr>
            <p:spPr>
              <a:xfrm>
                <a:off x="5584487" y="2427569"/>
                <a:ext cx="3237688" cy="523220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800" dirty="0"/>
                  <a:t>提案</a:t>
                </a:r>
                <a:r>
                  <a:rPr lang="ja-JP" altLang="en-US" sz="2800" dirty="0" smtClean="0"/>
                  <a:t>する</a:t>
                </a:r>
                <a:r>
                  <a:rPr kumimoji="1" lang="ja-JP" altLang="en-US" sz="2800" dirty="0" smtClean="0"/>
                  <a:t>テスト問題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134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多目的ナップサック問題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(</a:t>
            </a:r>
            <a:r>
              <a:rPr lang="ja-JP" altLang="en-US" dirty="0"/>
              <a:t>単</a:t>
            </a:r>
            <a:r>
              <a:rPr lang="ja-JP" altLang="en-US" dirty="0" smtClean="0"/>
              <a:t>目的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ナップサック問題を多目的化した問題</a:t>
            </a:r>
            <a:endParaRPr kumimoji="1" lang="en-US" altLang="ja-JP" dirty="0" smtClean="0"/>
          </a:p>
          <a:p>
            <a:pPr algn="r"/>
            <a:r>
              <a:rPr lang="ja-JP" altLang="en-US" sz="2800" dirty="0" smtClean="0"/>
              <a:t>ナップサック問題： ナップサック内にアイテムを詰め込み，アイテムの価値の総和を最大化する．</a:t>
            </a:r>
            <a:endParaRPr kumimoji="1" lang="ja-JP" altLang="en-US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pSp>
        <p:nvGrpSpPr>
          <p:cNvPr id="15" name="グループ化 14"/>
          <p:cNvGrpSpPr/>
          <p:nvPr/>
        </p:nvGrpSpPr>
        <p:grpSpPr>
          <a:xfrm>
            <a:off x="1837217" y="3412792"/>
            <a:ext cx="6677507" cy="1432412"/>
            <a:chOff x="1837217" y="3412792"/>
            <a:chExt cx="6677507" cy="1432412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837217" y="3653863"/>
              <a:ext cx="899281" cy="1191341"/>
            </a:xfrm>
            <a:prstGeom prst="rect">
              <a:avLst/>
            </a:prstGeom>
          </p:spPr>
        </p:pic>
        <p:grpSp>
          <p:nvGrpSpPr>
            <p:cNvPr id="6" name="グループ化 5"/>
            <p:cNvGrpSpPr/>
            <p:nvPr/>
          </p:nvGrpSpPr>
          <p:grpSpPr>
            <a:xfrm>
              <a:off x="4476124" y="3412792"/>
              <a:ext cx="4038600" cy="1432412"/>
              <a:chOff x="2400301" y="1802131"/>
              <a:chExt cx="4038600" cy="1432412"/>
            </a:xfrm>
          </p:grpSpPr>
          <p:grpSp>
            <p:nvGrpSpPr>
              <p:cNvPr id="7" name="グループ化 6"/>
              <p:cNvGrpSpPr/>
              <p:nvPr/>
            </p:nvGrpSpPr>
            <p:grpSpPr>
              <a:xfrm>
                <a:off x="2400301" y="1802131"/>
                <a:ext cx="4038600" cy="1432412"/>
                <a:chOff x="2400301" y="1802131"/>
                <a:chExt cx="4038600" cy="1432412"/>
              </a:xfrm>
            </p:grpSpPr>
            <p:sp>
              <p:nvSpPr>
                <p:cNvPr id="12" name="テキスト ボックス 11"/>
                <p:cNvSpPr txBox="1"/>
                <p:nvPr/>
              </p:nvSpPr>
              <p:spPr>
                <a:xfrm>
                  <a:off x="2400301" y="2156607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13" name="テキスト ボックス 12"/>
                <p:cNvSpPr txBox="1"/>
                <p:nvPr/>
              </p:nvSpPr>
              <p:spPr>
                <a:xfrm>
                  <a:off x="2666595" y="1802131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kumimoji="1" lang="en-US" altLang="ja-JP" sz="2800" dirty="0" smtClean="0"/>
                    <a:t>1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8" name="グループ化 7"/>
              <p:cNvGrpSpPr/>
              <p:nvPr/>
            </p:nvGrpSpPr>
            <p:grpSpPr>
              <a:xfrm>
                <a:off x="2663704" y="2290762"/>
                <a:ext cx="2596513" cy="809626"/>
                <a:chOff x="2663704" y="2290762"/>
                <a:chExt cx="2596513" cy="809626"/>
              </a:xfrm>
            </p:grpSpPr>
            <p:pic>
              <p:nvPicPr>
                <p:cNvPr id="9" name="図 8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965" t="3726" r="14240" b="24760"/>
                <a:stretch/>
              </p:blipFill>
              <p:spPr>
                <a:xfrm>
                  <a:off x="3615531" y="2290762"/>
                  <a:ext cx="663350" cy="809626"/>
                </a:xfrm>
                <a:prstGeom prst="rect">
                  <a:avLst/>
                </a:prstGeom>
              </p:spPr>
            </p:pic>
            <p:pic>
              <p:nvPicPr>
                <p:cNvPr id="10" name="図 9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063" r="4202" b="23007"/>
                <a:stretch/>
              </p:blipFill>
              <p:spPr>
                <a:xfrm>
                  <a:off x="2663704" y="2290762"/>
                  <a:ext cx="827773" cy="809626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/>
                <p:cNvSpPr txBox="1"/>
                <p:nvPr/>
              </p:nvSpPr>
              <p:spPr>
                <a:xfrm>
                  <a:off x="3999970" y="2433965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14" name="円弧 13"/>
            <p:cNvSpPr/>
            <p:nvPr/>
          </p:nvSpPr>
          <p:spPr>
            <a:xfrm flipH="1">
              <a:off x="2637687" y="3499379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1837217" y="5236258"/>
            <a:ext cx="6677507" cy="1432412"/>
            <a:chOff x="1837217" y="5236258"/>
            <a:chExt cx="6677507" cy="1432412"/>
          </a:xfrm>
        </p:grpSpPr>
        <p:pic>
          <p:nvPicPr>
            <p:cNvPr id="18" name="図 1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837217" y="5432066"/>
              <a:ext cx="899281" cy="1191341"/>
            </a:xfrm>
            <a:prstGeom prst="rect">
              <a:avLst/>
            </a:prstGeom>
          </p:spPr>
        </p:pic>
        <p:grpSp>
          <p:nvGrpSpPr>
            <p:cNvPr id="26" name="グループ化 25"/>
            <p:cNvGrpSpPr/>
            <p:nvPr/>
          </p:nvGrpSpPr>
          <p:grpSpPr>
            <a:xfrm>
              <a:off x="4476124" y="5236258"/>
              <a:ext cx="4038600" cy="1432412"/>
              <a:chOff x="4211280" y="5010628"/>
              <a:chExt cx="4038600" cy="1432412"/>
            </a:xfrm>
          </p:grpSpPr>
          <p:grpSp>
            <p:nvGrpSpPr>
              <p:cNvPr id="25" name="グループ化 24"/>
              <p:cNvGrpSpPr/>
              <p:nvPr/>
            </p:nvGrpSpPr>
            <p:grpSpPr>
              <a:xfrm>
                <a:off x="4211280" y="5010628"/>
                <a:ext cx="4038600" cy="1432412"/>
                <a:chOff x="4211280" y="5010628"/>
                <a:chExt cx="4038600" cy="1432412"/>
              </a:xfrm>
            </p:grpSpPr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4211280" y="5365104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4477574" y="5010628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lang="en-US" altLang="ja-JP" sz="2800" dirty="0"/>
                    <a:t>2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24" name="グループ化 23"/>
              <p:cNvGrpSpPr/>
              <p:nvPr/>
            </p:nvGrpSpPr>
            <p:grpSpPr>
              <a:xfrm>
                <a:off x="4435313" y="5530209"/>
                <a:ext cx="2968389" cy="747727"/>
                <a:chOff x="4435313" y="5530209"/>
                <a:chExt cx="2968389" cy="747727"/>
              </a:xfrm>
            </p:grpSpPr>
            <p:pic>
              <p:nvPicPr>
                <p:cNvPr id="17" name="コンテンツ プレースホルダー 6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16245"/>
                <a:stretch/>
              </p:blipFill>
              <p:spPr bwMode="auto">
                <a:xfrm>
                  <a:off x="5371916" y="5740508"/>
                  <a:ext cx="1019359" cy="499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9" name="図 18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98" t="6421" r="2853" b="25476"/>
                <a:stretch/>
              </p:blipFill>
              <p:spPr>
                <a:xfrm>
                  <a:off x="4435313" y="5530209"/>
                  <a:ext cx="855833" cy="747727"/>
                </a:xfrm>
                <a:prstGeom prst="rect">
                  <a:avLst/>
                </a:prstGeom>
              </p:spPr>
            </p:pic>
            <p:sp>
              <p:nvSpPr>
                <p:cNvPr id="22" name="テキスト ボックス 21"/>
                <p:cNvSpPr txBox="1"/>
                <p:nvPr/>
              </p:nvSpPr>
              <p:spPr>
                <a:xfrm>
                  <a:off x="6143455" y="5642462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28" name="円弧 27"/>
            <p:cNvSpPr/>
            <p:nvPr/>
          </p:nvSpPr>
          <p:spPr>
            <a:xfrm flipH="1">
              <a:off x="2637687" y="5299434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sp>
        <p:nvSpPr>
          <p:cNvPr id="29" name="テキスト ボックス 28"/>
          <p:cNvSpPr txBox="1"/>
          <p:nvPr/>
        </p:nvSpPr>
        <p:spPr>
          <a:xfrm>
            <a:off x="228600" y="3050983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目的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28600" y="4936679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目的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7049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評価関数が一次関数である多目的ナップサック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問題を，</a:t>
            </a:r>
            <a:r>
              <a:rPr lang="en-US" altLang="ja-JP" dirty="0"/>
              <a:t>2</a:t>
            </a:r>
            <a:r>
              <a:rPr lang="ja-JP" altLang="en-US" dirty="0"/>
              <a:t>つ組み合わせた問題を提案する．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715623" y="3495383"/>
            <a:ext cx="2733530" cy="2990568"/>
            <a:chOff x="786742" y="3546987"/>
            <a:chExt cx="2733530" cy="2990568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2620991" y="3635887"/>
              <a:ext cx="899281" cy="1191341"/>
            </a:xfrm>
            <a:prstGeom prst="rect">
              <a:avLst/>
            </a:prstGeom>
          </p:spPr>
        </p:pic>
        <p:pic>
          <p:nvPicPr>
            <p:cNvPr id="6" name="図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2620991" y="5346214"/>
              <a:ext cx="899281" cy="1191341"/>
            </a:xfrm>
            <a:prstGeom prst="rect">
              <a:avLst/>
            </a:prstGeom>
          </p:spPr>
        </p:pic>
        <p:sp>
          <p:nvSpPr>
            <p:cNvPr id="7" name="テキスト ボックス 6"/>
            <p:cNvSpPr txBox="1"/>
            <p:nvPr/>
          </p:nvSpPr>
          <p:spPr>
            <a:xfrm>
              <a:off x="786742" y="3546987"/>
              <a:ext cx="1305695" cy="584775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3200" dirty="0"/>
                <a:t>目的</a:t>
              </a:r>
              <a:r>
                <a:rPr kumimoji="1" lang="en-US" altLang="ja-JP" sz="3200" dirty="0" smtClean="0"/>
                <a:t>1</a:t>
              </a:r>
              <a:endParaRPr kumimoji="1" lang="ja-JP" altLang="en-US" sz="3200" dirty="0" smtClean="0"/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786742" y="5257314"/>
              <a:ext cx="1305695" cy="584775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3200" dirty="0" smtClean="0"/>
                <a:t>目的</a:t>
              </a:r>
              <a:r>
                <a:rPr lang="en-US" altLang="ja-JP" sz="3200" dirty="0"/>
                <a:t>2</a:t>
              </a:r>
              <a:endParaRPr kumimoji="1" lang="ja-JP" altLang="en-US" sz="3200" dirty="0" smtClean="0"/>
            </a:p>
          </p:txBody>
        </p:sp>
      </p:grpSp>
      <p:sp>
        <p:nvSpPr>
          <p:cNvPr id="9" name="角丸四角形 8"/>
          <p:cNvSpPr/>
          <p:nvPr/>
        </p:nvSpPr>
        <p:spPr>
          <a:xfrm>
            <a:off x="352507" y="3031528"/>
            <a:ext cx="3878862" cy="359187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kumimoji="1" lang="en-US" altLang="ja-JP" sz="2800" dirty="0" smtClean="0">
              <a:solidFill>
                <a:schemeClr val="tx1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162879" y="2789373"/>
            <a:ext cx="2258119" cy="52322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/>
              <a:t>タスク</a:t>
            </a:r>
            <a:r>
              <a:rPr lang="en-US" altLang="ja-JP" sz="2800" dirty="0" smtClean="0"/>
              <a:t>1</a:t>
            </a:r>
            <a:endParaRPr kumimoji="1" lang="ja-JP" altLang="en-US" sz="2800" dirty="0" smtClean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5" t="1746" r="19123" b="26198"/>
          <a:stretch/>
        </p:blipFill>
        <p:spPr>
          <a:xfrm>
            <a:off x="7206900" y="3495383"/>
            <a:ext cx="958488" cy="1191600"/>
          </a:xfrm>
          <a:prstGeom prst="rect">
            <a:avLst/>
          </a:prstGeom>
        </p:spPr>
      </p:pic>
      <p:grpSp>
        <p:nvGrpSpPr>
          <p:cNvPr id="14" name="グループ化 13"/>
          <p:cNvGrpSpPr/>
          <p:nvPr/>
        </p:nvGrpSpPr>
        <p:grpSpPr>
          <a:xfrm>
            <a:off x="5039139" y="2789373"/>
            <a:ext cx="3878862" cy="3834034"/>
            <a:chOff x="352507" y="2789373"/>
            <a:chExt cx="3878862" cy="3834034"/>
          </a:xfrm>
        </p:grpSpPr>
        <p:grpSp>
          <p:nvGrpSpPr>
            <p:cNvPr id="15" name="グループ化 14"/>
            <p:cNvGrpSpPr/>
            <p:nvPr/>
          </p:nvGrpSpPr>
          <p:grpSpPr>
            <a:xfrm>
              <a:off x="715623" y="3495383"/>
              <a:ext cx="1305695" cy="2295102"/>
              <a:chOff x="786742" y="3546987"/>
              <a:chExt cx="1305695" cy="2295102"/>
            </a:xfrm>
          </p:grpSpPr>
          <p:sp>
            <p:nvSpPr>
              <p:cNvPr id="20" name="テキスト ボックス 19"/>
              <p:cNvSpPr txBox="1"/>
              <p:nvPr/>
            </p:nvSpPr>
            <p:spPr>
              <a:xfrm>
                <a:off x="786742" y="3546987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/>
                  <a:t>目的</a:t>
                </a:r>
                <a:r>
                  <a:rPr kumimoji="1" lang="en-US" altLang="ja-JP" sz="3200" dirty="0" smtClean="0"/>
                  <a:t>1</a:t>
                </a:r>
                <a:endParaRPr kumimoji="1" lang="ja-JP" altLang="en-US" sz="3200" dirty="0" smtClean="0"/>
              </a:p>
            </p:txBody>
          </p:sp>
          <p:sp>
            <p:nvSpPr>
              <p:cNvPr id="21" name="テキスト ボックス 20"/>
              <p:cNvSpPr txBox="1"/>
              <p:nvPr/>
            </p:nvSpPr>
            <p:spPr>
              <a:xfrm>
                <a:off x="786742" y="5257314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 smtClean="0"/>
                  <a:t>目的</a:t>
                </a:r>
                <a:r>
                  <a:rPr lang="en-US" altLang="ja-JP" sz="3200" dirty="0"/>
                  <a:t>2</a:t>
                </a:r>
                <a:endParaRPr kumimoji="1" lang="ja-JP" altLang="en-US" sz="3200" dirty="0" smtClean="0"/>
              </a:p>
            </p:txBody>
          </p:sp>
        </p:grpSp>
        <p:sp>
          <p:nvSpPr>
            <p:cNvPr id="16" name="角丸四角形 15"/>
            <p:cNvSpPr/>
            <p:nvPr/>
          </p:nvSpPr>
          <p:spPr>
            <a:xfrm>
              <a:off x="352507" y="3031528"/>
              <a:ext cx="3878862" cy="3591879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kumimoji="1" lang="en-US" altLang="ja-JP" sz="2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162879" y="2789373"/>
              <a:ext cx="2258119" cy="523220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タスク</a:t>
              </a:r>
              <a:r>
                <a:rPr lang="en-US" altLang="ja-JP" sz="2800" dirty="0"/>
                <a:t>2</a:t>
              </a:r>
              <a:endParaRPr kumimoji="1" lang="ja-JP" altLang="en-US" sz="2800" dirty="0" smtClean="0"/>
            </a:p>
          </p:txBody>
        </p:sp>
      </p:grpSp>
      <p:pic>
        <p:nvPicPr>
          <p:cNvPr id="22" name="図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5" t="1746" r="19123" b="26198"/>
          <a:stretch/>
        </p:blipFill>
        <p:spPr>
          <a:xfrm>
            <a:off x="7206900" y="5205580"/>
            <a:ext cx="958488" cy="11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4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関数が一次関数である多目的ナップサック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問題を，</a:t>
            </a:r>
            <a:r>
              <a:rPr lang="en-US" altLang="ja-JP" dirty="0"/>
              <a:t>2</a:t>
            </a:r>
            <a:r>
              <a:rPr lang="ja-JP" altLang="en-US" dirty="0"/>
              <a:t>つ組み合わせた問題を提案する．</a:t>
            </a:r>
            <a:endParaRPr lang="en-US" altLang="ja-JP" dirty="0"/>
          </a:p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の作成方法が異なる，以下の</a:t>
            </a:r>
            <a:r>
              <a:rPr kumimoji="1" lang="en-US" altLang="ja-JP" dirty="0" smtClean="0"/>
              <a:t>2</a:t>
            </a:r>
            <a:r>
              <a:rPr kumimoji="1" lang="ja-JP" altLang="en-US" dirty="0" err="1" smtClean="0"/>
              <a:t>つの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テスト問題を提案する．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913131"/>
              </p:ext>
            </p:extLst>
          </p:nvPr>
        </p:nvGraphicFramePr>
        <p:xfrm>
          <a:off x="282893" y="3840480"/>
          <a:ext cx="8578215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942">
                  <a:extLst>
                    <a:ext uri="{9D8B030D-6E8A-4147-A177-3AD203B41FA5}">
                      <a16:colId xmlns:a16="http://schemas.microsoft.com/office/drawing/2014/main" val="1744851688"/>
                    </a:ext>
                  </a:extLst>
                </a:gridCol>
                <a:gridCol w="3921443">
                  <a:extLst>
                    <a:ext uri="{9D8B030D-6E8A-4147-A177-3AD203B41FA5}">
                      <a16:colId xmlns:a16="http://schemas.microsoft.com/office/drawing/2014/main" val="3122415878"/>
                    </a:ext>
                  </a:extLst>
                </a:gridCol>
                <a:gridCol w="3465830">
                  <a:extLst>
                    <a:ext uri="{9D8B030D-6E8A-4147-A177-3AD203B41FA5}">
                      <a16:colId xmlns:a16="http://schemas.microsoft.com/office/drawing/2014/main" val="1728121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b="0" dirty="0" smtClean="0">
                          <a:solidFill>
                            <a:schemeClr val="tx1"/>
                          </a:solidFill>
                        </a:rPr>
                        <a:t>Scaling</a:t>
                      </a:r>
                      <a:r>
                        <a:rPr lang="ja-JP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ja-JP" sz="2800" b="0" dirty="0" smtClean="0">
                          <a:solidFill>
                            <a:schemeClr val="tx1"/>
                          </a:solidFill>
                        </a:rPr>
                        <a:t>Knapsack </a:t>
                      </a:r>
                      <a:r>
                        <a:rPr lang="ja-JP" altLang="en-US" sz="2800" b="0" dirty="0" smtClean="0">
                          <a:solidFill>
                            <a:schemeClr val="tx1"/>
                          </a:solidFill>
                        </a:rPr>
                        <a:t>問題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b="0" dirty="0" smtClean="0">
                          <a:solidFill>
                            <a:schemeClr val="tx1"/>
                          </a:solidFill>
                        </a:rPr>
                        <a:t>Inversion Profit </a:t>
                      </a:r>
                      <a:r>
                        <a:rPr lang="ja-JP" altLang="en-US" sz="2800" b="0" dirty="0" smtClean="0">
                          <a:solidFill>
                            <a:schemeClr val="tx1"/>
                          </a:solidFill>
                        </a:rPr>
                        <a:t>問題</a:t>
                      </a:r>
                      <a:endParaRPr lang="en-US" altLang="ja-JP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41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多目的ナップサック問題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630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のナップサックの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2400" b="1" dirty="0" smtClean="0">
                          <a:solidFill>
                            <a:schemeClr val="accent1"/>
                          </a:solidFill>
                        </a:rPr>
                        <a:t>容量を変更</a:t>
                      </a:r>
                      <a:endParaRPr kumimoji="1" lang="ja-JP" altLang="en-US" sz="2400" b="1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タスク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sz="2400" b="0" dirty="0" smtClean="0">
                          <a:solidFill>
                            <a:schemeClr val="tx1"/>
                          </a:solidFill>
                        </a:rPr>
                        <a:t>の一部の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2400" b="1" dirty="0" smtClean="0">
                          <a:solidFill>
                            <a:schemeClr val="accent1"/>
                          </a:solidFill>
                        </a:rPr>
                        <a:t>アイテムの価値を変更</a:t>
                      </a:r>
                      <a:endParaRPr kumimoji="1" lang="ja-JP" altLang="en-US" sz="2400" b="1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13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92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のナップサックの容量を</a:t>
            </a:r>
            <a:r>
              <a:rPr kumimoji="1" lang="en-US" altLang="ja-JP" i="1" dirty="0" smtClean="0">
                <a:latin typeface="Symbol" panose="05050102010706020507" pitchFamily="18" charset="2"/>
              </a:rPr>
              <a:t>a</a:t>
            </a:r>
            <a:r>
              <a:rPr kumimoji="1" lang="ja-JP" altLang="en-US" dirty="0" smtClean="0"/>
              <a:t>倍に拡張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5857606" y="3451459"/>
            <a:ext cx="1168988" cy="3264430"/>
            <a:chOff x="5275719" y="3439584"/>
            <a:chExt cx="1168988" cy="3264430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275719" y="3439584"/>
              <a:ext cx="1168988" cy="1548641"/>
            </a:xfrm>
            <a:prstGeom prst="rect">
              <a:avLst/>
            </a:prstGeom>
          </p:spPr>
        </p:pic>
        <p:pic>
          <p:nvPicPr>
            <p:cNvPr id="15" name="図 1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275719" y="5155373"/>
              <a:ext cx="1168988" cy="1548641"/>
            </a:xfrm>
            <a:prstGeom prst="rect">
              <a:avLst/>
            </a:prstGeom>
          </p:spPr>
        </p:pic>
      </p:grpSp>
      <p:pic>
        <p:nvPicPr>
          <p:cNvPr id="16" name="図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2" b="26611"/>
          <a:stretch/>
        </p:blipFill>
        <p:spPr>
          <a:xfrm>
            <a:off x="1429693" y="4057489"/>
            <a:ext cx="711528" cy="942611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2" b="26611"/>
          <a:stretch/>
        </p:blipFill>
        <p:spPr>
          <a:xfrm>
            <a:off x="1429693" y="5773278"/>
            <a:ext cx="711528" cy="942611"/>
          </a:xfrm>
          <a:prstGeom prst="rect">
            <a:avLst/>
          </a:prstGeom>
        </p:spPr>
      </p:pic>
      <p:grpSp>
        <p:nvGrpSpPr>
          <p:cNvPr id="12" name="グループ化 11"/>
          <p:cNvGrpSpPr/>
          <p:nvPr/>
        </p:nvGrpSpPr>
        <p:grpSpPr>
          <a:xfrm>
            <a:off x="3046656" y="4249694"/>
            <a:ext cx="2338168" cy="1152810"/>
            <a:chOff x="3046656" y="4237819"/>
            <a:chExt cx="2338168" cy="1152810"/>
          </a:xfrm>
        </p:grpSpPr>
        <p:sp>
          <p:nvSpPr>
            <p:cNvPr id="13" name="右矢印 12"/>
            <p:cNvSpPr/>
            <p:nvPr/>
          </p:nvSpPr>
          <p:spPr>
            <a:xfrm>
              <a:off x="3046656" y="4752969"/>
              <a:ext cx="2338168" cy="63766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/>
            <p:cNvSpPr txBox="1"/>
            <p:nvPr/>
          </p:nvSpPr>
          <p:spPr>
            <a:xfrm>
              <a:off x="3414156" y="4237819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i="1" dirty="0">
                  <a:latin typeface="Symbol" panose="05050102010706020507" pitchFamily="18" charset="2"/>
                </a:rPr>
                <a:t>a</a:t>
              </a:r>
              <a:r>
                <a:rPr lang="ja-JP" altLang="en-US" sz="2800" dirty="0" smtClean="0"/>
                <a:t>倍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84697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の，</a:t>
            </a:r>
            <a:r>
              <a:rPr lang="en-US" altLang="ja-JP" i="1" dirty="0" smtClean="0">
                <a:latin typeface="Symbol" panose="05050102010706020507" pitchFamily="18" charset="2"/>
              </a:rPr>
              <a:t>b </a:t>
            </a:r>
            <a:r>
              <a:rPr lang="en-US" altLang="ja-JP" dirty="0" smtClean="0"/>
              <a:t>%</a:t>
            </a:r>
            <a:r>
              <a:rPr lang="ja-JP" altLang="en-US" dirty="0" smtClean="0">
                <a:latin typeface="Symbol" panose="05050102010706020507" pitchFamily="18" charset="2"/>
              </a:rPr>
              <a:t>のアイテムの</a:t>
            </a:r>
            <a:r>
              <a:rPr kumimoji="1" lang="ja-JP" altLang="en-US" dirty="0" smtClean="0"/>
              <a:t>価値を</a:t>
            </a:r>
            <a:r>
              <a:rPr lang="ja-JP" altLang="en-US" dirty="0" smtClean="0"/>
              <a:t>反転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991241"/>
              </p:ext>
            </p:extLst>
          </p:nvPr>
        </p:nvGraphicFramePr>
        <p:xfrm>
          <a:off x="819900" y="40779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577343"/>
              </p:ext>
            </p:extLst>
          </p:nvPr>
        </p:nvGraphicFramePr>
        <p:xfrm>
          <a:off x="819900" y="5576202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79578"/>
              </p:ext>
            </p:extLst>
          </p:nvPr>
        </p:nvGraphicFramePr>
        <p:xfrm>
          <a:off x="5453117" y="40779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17758"/>
              </p:ext>
            </p:extLst>
          </p:nvPr>
        </p:nvGraphicFramePr>
        <p:xfrm>
          <a:off x="5453117" y="5576202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pSp>
        <p:nvGrpSpPr>
          <p:cNvPr id="2" name="グループ化 1"/>
          <p:cNvGrpSpPr/>
          <p:nvPr/>
        </p:nvGrpSpPr>
        <p:grpSpPr>
          <a:xfrm>
            <a:off x="3775104" y="3512953"/>
            <a:ext cx="1603169" cy="1011026"/>
            <a:chOff x="3909318" y="3180445"/>
            <a:chExt cx="1603169" cy="1011026"/>
          </a:xfrm>
        </p:grpSpPr>
        <p:sp>
          <p:nvSpPr>
            <p:cNvPr id="14" name="右矢印 13"/>
            <p:cNvSpPr/>
            <p:nvPr/>
          </p:nvSpPr>
          <p:spPr>
            <a:xfrm>
              <a:off x="4286677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3909318" y="3180445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>
                  <a:latin typeface="Symbol" panose="05050102010706020507" pitchFamily="18" charset="2"/>
                </a:rPr>
                <a:t>反転なし</a:t>
              </a:r>
              <a:endParaRPr kumimoji="1" lang="ja-JP" altLang="en-US" sz="2800" dirty="0" smtClean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3760888" y="4998579"/>
            <a:ext cx="1631601" cy="1011026"/>
            <a:chOff x="3880886" y="3180445"/>
            <a:chExt cx="1631601" cy="1011026"/>
          </a:xfrm>
        </p:grpSpPr>
        <p:sp>
          <p:nvSpPr>
            <p:cNvPr id="17" name="右矢印 16"/>
            <p:cNvSpPr/>
            <p:nvPr/>
          </p:nvSpPr>
          <p:spPr>
            <a:xfrm>
              <a:off x="4272461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3880886" y="3180445"/>
              <a:ext cx="163160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6</a:t>
              </a:r>
              <a:r>
                <a:rPr lang="en-US" altLang="ja-JP" sz="2800" dirty="0"/>
                <a:t>0</a:t>
              </a:r>
              <a:r>
                <a:rPr lang="en-US" altLang="ja-JP" sz="2800" dirty="0" smtClean="0"/>
                <a:t>%</a:t>
              </a:r>
              <a:r>
                <a:rPr lang="ja-JP" altLang="en-US" sz="2800" dirty="0" smtClean="0">
                  <a:latin typeface="Symbol" panose="05050102010706020507" pitchFamily="18" charset="2"/>
                </a:rPr>
                <a:t>反転</a:t>
              </a:r>
              <a:endParaRPr kumimoji="1" lang="ja-JP" altLang="en-US" sz="2800" dirty="0" smtClean="0"/>
            </a:p>
          </p:txBody>
        </p:sp>
      </p:grpSp>
      <p:sp>
        <p:nvSpPr>
          <p:cNvPr id="19" name="テキスト ボックス 18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314893" y="357743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14893" y="505608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/>
              <a:t>2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51722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タスク間の関係性の調査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タスク間の関係性を示すために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lphaLcPeriod"/>
            </a:pPr>
            <a:r>
              <a:rPr kumimoji="1" lang="ja-JP" altLang="en-US" sz="2800" dirty="0" smtClean="0"/>
              <a:t>各タスク間で，最適解にどのような違いがあるか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lphaLcPeriod"/>
            </a:pPr>
            <a:r>
              <a:rPr lang="ja-JP" altLang="en-US" sz="2800" dirty="0" smtClean="0"/>
              <a:t>解</a:t>
            </a:r>
            <a:r>
              <a:rPr kumimoji="1" lang="ja-JP" altLang="en-US" sz="2800" dirty="0" smtClean="0"/>
              <a:t>の情報共有</a:t>
            </a:r>
            <a:r>
              <a:rPr lang="ja-JP" altLang="en-US" sz="2800" dirty="0" smtClean="0"/>
              <a:t>が，探索にどのような影響を与えるか</a:t>
            </a:r>
            <a:endParaRPr lang="en-US" altLang="ja-JP" sz="2800" dirty="0" smtClean="0"/>
          </a:p>
          <a:p>
            <a:r>
              <a:rPr lang="ja-JP" altLang="en-US" dirty="0" smtClean="0"/>
              <a:t>の</a:t>
            </a:r>
            <a:r>
              <a:rPr lang="en-US" altLang="ja-JP" dirty="0"/>
              <a:t>2</a:t>
            </a:r>
            <a:r>
              <a:rPr lang="ja-JP" altLang="en-US" dirty="0" err="1" smtClean="0"/>
              <a:t>つを</a:t>
            </a:r>
            <a:r>
              <a:rPr lang="ja-JP" altLang="en-US" dirty="0" smtClean="0"/>
              <a:t>調査する．</a:t>
            </a:r>
            <a:endParaRPr lang="en-US" altLang="ja-JP" dirty="0" smtClean="0"/>
          </a:p>
          <a:p>
            <a:r>
              <a:rPr lang="ja-JP" altLang="en-US" dirty="0"/>
              <a:t>上記</a:t>
            </a:r>
            <a:r>
              <a:rPr lang="ja-JP" altLang="en-US" dirty="0" smtClean="0"/>
              <a:t>の調査は，独立探索手法により得られた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近似最適解を用いて行う．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01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タスク</a:t>
            </a:r>
            <a:r>
              <a:rPr lang="ja-JP" altLang="en-US" dirty="0"/>
              <a:t>間</a:t>
            </a:r>
            <a:r>
              <a:rPr lang="ja-JP" altLang="en-US" dirty="0" smtClean="0"/>
              <a:t>の関係性の調査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ja-JP" b="1" dirty="0" smtClean="0"/>
              <a:t>&lt;</a:t>
            </a:r>
            <a:r>
              <a:rPr lang="ja-JP" altLang="en-US" b="1" dirty="0" smtClean="0"/>
              <a:t>テスト問題設定</a:t>
            </a:r>
            <a:r>
              <a:rPr lang="en-US" altLang="ja-JP" b="1" dirty="0" smtClean="0"/>
              <a:t>&gt;</a:t>
            </a:r>
          </a:p>
          <a:p>
            <a:pPr algn="l"/>
            <a:r>
              <a:rPr lang="ja-JP" altLang="en-US" sz="2800" b="1" dirty="0" smtClean="0">
                <a:solidFill>
                  <a:schemeClr val="accent2"/>
                </a:solidFill>
              </a:rPr>
              <a:t>目的数： </a:t>
            </a:r>
            <a:r>
              <a:rPr lang="en-US" altLang="ja-JP" sz="2800" dirty="0" smtClean="0"/>
              <a:t>2</a:t>
            </a:r>
            <a:r>
              <a:rPr lang="en-US" altLang="ja-JP" sz="2800" b="1" dirty="0" smtClean="0">
                <a:solidFill>
                  <a:schemeClr val="accent2"/>
                </a:solidFill>
              </a:rPr>
              <a:t/>
            </a:r>
            <a:br>
              <a:rPr lang="en-US" altLang="ja-JP" sz="2800" b="1" dirty="0" smtClean="0">
                <a:solidFill>
                  <a:schemeClr val="accent2"/>
                </a:solidFill>
              </a:rPr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アイテム数： </a:t>
            </a:r>
            <a:r>
              <a:rPr lang="en-US" altLang="ja-JP" sz="2800" dirty="0" smtClean="0"/>
              <a:t>500</a:t>
            </a:r>
            <a:r>
              <a:rPr lang="en-US" altLang="ja-JP" sz="2800" b="1" dirty="0" smtClean="0">
                <a:solidFill>
                  <a:schemeClr val="accent2"/>
                </a:solidFill>
              </a:rPr>
              <a:t/>
            </a:r>
            <a:br>
              <a:rPr lang="en-US" altLang="ja-JP" sz="2800" b="1" dirty="0" smtClean="0">
                <a:solidFill>
                  <a:schemeClr val="accent2"/>
                </a:solidFill>
              </a:rPr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容量倍率</a:t>
            </a:r>
            <a:r>
              <a:rPr lang="en-US" altLang="ja-JP" sz="2800" b="1" i="1" dirty="0" smtClean="0">
                <a:solidFill>
                  <a:schemeClr val="accent2"/>
                </a:solidFill>
                <a:latin typeface="Symbol" panose="05050102010706020507" pitchFamily="18" charset="2"/>
              </a:rPr>
              <a:t>a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ja-JP" altLang="en-US" sz="2800" dirty="0" smtClean="0"/>
              <a:t>｛</a:t>
            </a:r>
            <a:r>
              <a:rPr lang="en-US" altLang="ja-JP" sz="2800" dirty="0" smtClean="0"/>
              <a:t>1.05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1.1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1.15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1.2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1.25</a:t>
            </a:r>
            <a:r>
              <a:rPr lang="ja-JP" altLang="en-US" sz="2800" dirty="0" smtClean="0"/>
              <a:t>｝倍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価値</a:t>
            </a:r>
            <a:r>
              <a:rPr lang="ja-JP" altLang="en-US" sz="2800" b="1" dirty="0">
                <a:solidFill>
                  <a:schemeClr val="accent2"/>
                </a:solidFill>
              </a:rPr>
              <a:t>変更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割合</a:t>
            </a:r>
            <a:r>
              <a:rPr lang="en-US" altLang="ja-JP" sz="2800" b="1" i="1" dirty="0" smtClean="0">
                <a:solidFill>
                  <a:schemeClr val="accent2"/>
                </a:solidFill>
                <a:latin typeface="Symbol" panose="05050102010706020507" pitchFamily="18" charset="2"/>
              </a:rPr>
              <a:t>b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ja-JP" altLang="en-US" sz="2800" dirty="0" smtClean="0"/>
              <a:t>｛</a:t>
            </a:r>
            <a:r>
              <a:rPr lang="en-US" altLang="ja-JP" sz="2800" dirty="0" smtClean="0"/>
              <a:t>5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10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15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20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25</a:t>
            </a:r>
            <a:r>
              <a:rPr lang="ja-JP" altLang="en-US" sz="2800" dirty="0" smtClean="0"/>
              <a:t>｝</a:t>
            </a:r>
            <a:r>
              <a:rPr lang="en-US" altLang="ja-JP" sz="2800" dirty="0" smtClean="0"/>
              <a:t>%</a:t>
            </a:r>
            <a:endParaRPr lang="en-US" altLang="ja-JP" sz="2800" dirty="0"/>
          </a:p>
          <a:p>
            <a:pPr algn="l"/>
            <a:endParaRPr lang="en-US" altLang="ja-JP" b="1" dirty="0">
              <a:solidFill>
                <a:schemeClr val="accent2"/>
              </a:solidFill>
            </a:endParaRPr>
          </a:p>
          <a:p>
            <a:pPr algn="l"/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8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タスク</a:t>
            </a:r>
            <a:r>
              <a:rPr lang="ja-JP" altLang="en-US" dirty="0"/>
              <a:t>間</a:t>
            </a:r>
            <a:r>
              <a:rPr lang="ja-JP" altLang="en-US" dirty="0" smtClean="0"/>
              <a:t>の関係性の調査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ja-JP" b="1" dirty="0" smtClean="0"/>
              <a:t>&lt;</a:t>
            </a:r>
            <a:r>
              <a:rPr lang="ja-JP" altLang="en-US" b="1" dirty="0" smtClean="0"/>
              <a:t>アルゴリズム設定</a:t>
            </a:r>
            <a:r>
              <a:rPr lang="en-US" altLang="ja-JP" b="1" dirty="0" smtClean="0"/>
              <a:t>&gt;</a:t>
            </a:r>
          </a:p>
          <a:p>
            <a:pPr algn="l"/>
            <a:r>
              <a:rPr lang="en-US" altLang="ja-JP" sz="2800" b="1" dirty="0" smtClean="0">
                <a:solidFill>
                  <a:schemeClr val="accent2"/>
                </a:solidFill>
              </a:rPr>
              <a:t>EMOA</a:t>
            </a:r>
            <a:r>
              <a:rPr lang="ja-JP" altLang="en-US" sz="2800" b="1" dirty="0">
                <a:solidFill>
                  <a:schemeClr val="accent2"/>
                </a:solidFill>
              </a:rPr>
              <a:t>： </a:t>
            </a:r>
            <a:r>
              <a:rPr lang="en-US" altLang="ja-JP" sz="2800" dirty="0"/>
              <a:t>MOEA/D</a:t>
            </a:r>
            <a:br>
              <a:rPr lang="en-US" altLang="ja-JP" sz="2800" dirty="0"/>
            </a:br>
            <a:r>
              <a:rPr lang="ja-JP" altLang="en-US" sz="2800" b="1" dirty="0">
                <a:solidFill>
                  <a:schemeClr val="accent2"/>
                </a:solidFill>
              </a:rPr>
              <a:t>スカラー化関数： </a:t>
            </a:r>
            <a:r>
              <a:rPr lang="en-US" altLang="ja-JP" sz="2800" dirty="0" err="1"/>
              <a:t>Tchebycheff</a:t>
            </a:r>
            <a:r>
              <a:rPr lang="ja-JP" altLang="en-US" sz="2800" dirty="0"/>
              <a:t>関数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b="1" dirty="0">
                <a:solidFill>
                  <a:schemeClr val="accent2"/>
                </a:solidFill>
              </a:rPr>
              <a:t>個体数： </a:t>
            </a:r>
            <a:r>
              <a:rPr lang="en-US" altLang="ja-JP" sz="2800" dirty="0"/>
              <a:t>200</a:t>
            </a:r>
            <a:br>
              <a:rPr lang="en-US" altLang="ja-JP" sz="2800" dirty="0"/>
            </a:br>
            <a:r>
              <a:rPr lang="ja-JP" altLang="en-US" sz="2800" b="1" dirty="0">
                <a:solidFill>
                  <a:schemeClr val="accent2"/>
                </a:solidFill>
              </a:rPr>
              <a:t>近傍サイズ： </a:t>
            </a:r>
            <a:r>
              <a:rPr lang="ja-JP" altLang="en-US" sz="2800" dirty="0"/>
              <a:t>個体数</a:t>
            </a:r>
            <a:r>
              <a:rPr lang="en-US" altLang="ja-JP" sz="2800" dirty="0"/>
              <a:t>/</a:t>
            </a:r>
            <a:r>
              <a:rPr lang="en-US" altLang="ja-JP" sz="2800" dirty="0" smtClean="0"/>
              <a:t>10</a:t>
            </a:r>
            <a:br>
              <a:rPr lang="en-US" altLang="ja-JP" sz="2800" dirty="0" smtClean="0"/>
            </a:br>
            <a:r>
              <a:rPr lang="ja-JP" altLang="en-US" sz="2800" b="1" dirty="0">
                <a:solidFill>
                  <a:schemeClr val="accent2"/>
                </a:solidFill>
              </a:rPr>
              <a:t>交叉操作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Uniform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Crossover (</a:t>
            </a:r>
            <a:r>
              <a:rPr lang="ja-JP" altLang="en-US" sz="2800" dirty="0" smtClean="0"/>
              <a:t>適用確率：</a:t>
            </a:r>
            <a:r>
              <a:rPr lang="en-US" altLang="ja-JP" sz="2800" dirty="0" smtClean="0"/>
              <a:t>0.9)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b="1" dirty="0">
                <a:solidFill>
                  <a:schemeClr val="accent2"/>
                </a:solidFill>
              </a:rPr>
              <a:t>突然変異操作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err="1" smtClean="0"/>
              <a:t>Bitflip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Mutation (</a:t>
            </a:r>
            <a:r>
              <a:rPr lang="ja-JP" altLang="en-US" sz="2800" dirty="0" smtClean="0"/>
              <a:t>適用確率：</a:t>
            </a:r>
            <a:r>
              <a:rPr lang="en-US" altLang="ja-JP" sz="2800" dirty="0" smtClean="0"/>
              <a:t>1/</a:t>
            </a:r>
            <a:r>
              <a:rPr lang="en-US" altLang="ja-JP" sz="2200" dirty="0" smtClean="0"/>
              <a:t>(</a:t>
            </a:r>
            <a:r>
              <a:rPr lang="ja-JP" altLang="en-US" sz="2200" dirty="0" smtClean="0"/>
              <a:t>アイテム数</a:t>
            </a:r>
            <a:r>
              <a:rPr lang="en-US" altLang="ja-JP" sz="2200" dirty="0" smtClean="0"/>
              <a:t>)</a:t>
            </a:r>
            <a:r>
              <a:rPr lang="en-US" altLang="ja-JP" sz="2800" dirty="0" smtClean="0"/>
              <a:t>)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b="1" dirty="0">
                <a:solidFill>
                  <a:schemeClr val="accent2"/>
                </a:solidFill>
              </a:rPr>
              <a:t>評価回数： </a:t>
            </a:r>
            <a:r>
              <a:rPr lang="en-US" altLang="ja-JP" sz="2800" dirty="0" smtClean="0"/>
              <a:t>100,000</a:t>
            </a:r>
            <a:r>
              <a:rPr lang="ja-JP" altLang="en-US" sz="2800" dirty="0" smtClean="0"/>
              <a:t>回</a:t>
            </a:r>
            <a:endParaRPr lang="en-US" altLang="ja-JP" dirty="0" smtClean="0"/>
          </a:p>
          <a:p>
            <a:pPr algn="l"/>
            <a:endParaRPr lang="en-US" altLang="ja-JP" dirty="0"/>
          </a:p>
          <a:p>
            <a:pPr algn="l"/>
            <a:endParaRPr lang="en-US" altLang="ja-JP" b="1" dirty="0">
              <a:solidFill>
                <a:schemeClr val="accent2"/>
              </a:solidFill>
            </a:endParaRPr>
          </a:p>
          <a:p>
            <a:pPr algn="l"/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36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実験方法</a:t>
            </a:r>
            <a:r>
              <a:rPr kumimoji="1" lang="en-US" altLang="ja-JP" b="1" dirty="0" smtClean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各タスクで独立探索を行い，最適解集合を探索する．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得られた最適解集合の間で，選択されるアイテム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dirty="0" smtClean="0"/>
              <a:t>集合がどのように異なるか比較する．</a:t>
            </a:r>
            <a:endParaRPr lang="en-US" altLang="ja-JP" sz="2800" dirty="0" smtClean="0"/>
          </a:p>
          <a:p>
            <a:endParaRPr kumimoji="1" lang="en-US" altLang="ja-JP" sz="2800" dirty="0"/>
          </a:p>
          <a:p>
            <a:r>
              <a:rPr lang="ja-JP" altLang="en-US" dirty="0" smtClean="0"/>
              <a:t>本実験では，タスク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の各解について，最も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類似するタスク</a:t>
            </a:r>
            <a:r>
              <a:rPr lang="en-US" altLang="ja-JP" dirty="0" smtClean="0"/>
              <a:t>1</a:t>
            </a:r>
            <a:r>
              <a:rPr lang="ja-JP" altLang="en-US" dirty="0" smtClean="0"/>
              <a:t>の解との差異を調査する．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1605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1"/>
          <a:stretch/>
        </p:blipFill>
        <p:spPr>
          <a:xfrm>
            <a:off x="1316063" y="2050905"/>
            <a:ext cx="5018062" cy="4356389"/>
          </a:xfrm>
          <a:prstGeom prst="rect">
            <a:avLst/>
          </a:prstGeom>
        </p:spPr>
      </p:pic>
      <p:grpSp>
        <p:nvGrpSpPr>
          <p:cNvPr id="22" name="グループ化 21"/>
          <p:cNvGrpSpPr/>
          <p:nvPr/>
        </p:nvGrpSpPr>
        <p:grpSpPr>
          <a:xfrm>
            <a:off x="6229349" y="2050905"/>
            <a:ext cx="1899085" cy="4356389"/>
            <a:chOff x="6229349" y="2050905"/>
            <a:chExt cx="1899085" cy="4356389"/>
          </a:xfrm>
        </p:grpSpPr>
        <p:pic>
          <p:nvPicPr>
            <p:cNvPr id="23" name="図 22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79"/>
            <a:stretch/>
          </p:blipFill>
          <p:spPr>
            <a:xfrm>
              <a:off x="6229349" y="2050905"/>
              <a:ext cx="1674787" cy="4356389"/>
            </a:xfrm>
            <a:prstGeom prst="rect">
              <a:avLst/>
            </a:prstGeom>
          </p:spPr>
        </p:pic>
        <p:grpSp>
          <p:nvGrpSpPr>
            <p:cNvPr id="24" name="グループ化 23"/>
            <p:cNvGrpSpPr/>
            <p:nvPr/>
          </p:nvGrpSpPr>
          <p:grpSpPr>
            <a:xfrm>
              <a:off x="6551617" y="2402710"/>
              <a:ext cx="604298" cy="1489695"/>
              <a:chOff x="6363657" y="2225032"/>
              <a:chExt cx="604298" cy="1489695"/>
            </a:xfrm>
          </p:grpSpPr>
          <p:sp>
            <p:nvSpPr>
              <p:cNvPr id="31" name="テキスト ボックス 30"/>
              <p:cNvSpPr txBox="1"/>
              <p:nvPr/>
            </p:nvSpPr>
            <p:spPr>
              <a:xfrm>
                <a:off x="6363657" y="2225032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2" name="テキスト ボックス 31"/>
              <p:cNvSpPr txBox="1"/>
              <p:nvPr/>
            </p:nvSpPr>
            <p:spPr>
              <a:xfrm>
                <a:off x="6363657" y="2497428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3" name="テキスト ボックス 32"/>
              <p:cNvSpPr txBox="1"/>
              <p:nvPr/>
            </p:nvSpPr>
            <p:spPr>
              <a:xfrm>
                <a:off x="6363657" y="2769824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4" name="テキスト ボックス 33"/>
              <p:cNvSpPr txBox="1"/>
              <p:nvPr/>
            </p:nvSpPr>
            <p:spPr>
              <a:xfrm>
                <a:off x="6363657" y="3042220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5" name="テキスト ボックス 34"/>
              <p:cNvSpPr txBox="1"/>
              <p:nvPr/>
            </p:nvSpPr>
            <p:spPr>
              <a:xfrm>
                <a:off x="6363657" y="3314617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</p:grpSp>
        <p:grpSp>
          <p:nvGrpSpPr>
            <p:cNvPr id="25" name="グループ化 24"/>
            <p:cNvGrpSpPr/>
            <p:nvPr/>
          </p:nvGrpSpPr>
          <p:grpSpPr>
            <a:xfrm>
              <a:off x="7182585" y="2448430"/>
              <a:ext cx="945849" cy="1428139"/>
              <a:chOff x="6363657" y="2225032"/>
              <a:chExt cx="604298" cy="1428139"/>
            </a:xfrm>
          </p:grpSpPr>
          <p:sp>
            <p:nvSpPr>
              <p:cNvPr id="26" name="テキスト ボックス 25"/>
              <p:cNvSpPr txBox="1"/>
              <p:nvPr/>
            </p:nvSpPr>
            <p:spPr>
              <a:xfrm>
                <a:off x="6363657" y="2225032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600" dirty="0" smtClean="0"/>
                  <a:t>1.05 </a:t>
                </a:r>
                <a:endParaRPr kumimoji="1" lang="ja-JP" altLang="en-US" sz="1600" dirty="0" smtClean="0"/>
              </a:p>
            </p:txBody>
          </p:sp>
          <p:sp>
            <p:nvSpPr>
              <p:cNvPr id="27" name="テキスト ボックス 26"/>
              <p:cNvSpPr txBox="1"/>
              <p:nvPr/>
            </p:nvSpPr>
            <p:spPr>
              <a:xfrm>
                <a:off x="6363657" y="2497428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600" dirty="0" smtClean="0"/>
                  <a:t>1.1 </a:t>
                </a:r>
                <a:endParaRPr kumimoji="1" lang="ja-JP" altLang="en-US" sz="1600" dirty="0" smtClean="0"/>
              </a:p>
            </p:txBody>
          </p:sp>
          <p:sp>
            <p:nvSpPr>
              <p:cNvPr id="28" name="テキスト ボックス 27"/>
              <p:cNvSpPr txBox="1"/>
              <p:nvPr/>
            </p:nvSpPr>
            <p:spPr>
              <a:xfrm>
                <a:off x="6363657" y="2769824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1.15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  <p:sp>
            <p:nvSpPr>
              <p:cNvPr id="29" name="テキスト ボックス 28"/>
              <p:cNvSpPr txBox="1"/>
              <p:nvPr/>
            </p:nvSpPr>
            <p:spPr>
              <a:xfrm>
                <a:off x="6363657" y="3042220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</a:t>
                </a:r>
                <a:r>
                  <a:rPr lang="en-US" altLang="ja-JP" sz="1600" dirty="0">
                    <a:cs typeface="Times New Roman" panose="02020603050405020304" pitchFamily="18" charset="0"/>
                  </a:rPr>
                  <a:t>2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  <p:sp>
            <p:nvSpPr>
              <p:cNvPr id="30" name="テキスト ボックス 29"/>
              <p:cNvSpPr txBox="1"/>
              <p:nvPr/>
            </p:nvSpPr>
            <p:spPr>
              <a:xfrm>
                <a:off x="6363657" y="3314617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1.2</a:t>
                </a:r>
                <a:r>
                  <a:rPr lang="en-US" altLang="ja-JP" sz="1600" dirty="0">
                    <a:cs typeface="Times New Roman" panose="02020603050405020304" pitchFamily="18" charset="0"/>
                  </a:rPr>
                  <a:t>5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</p:grpSp>
      </p:grpSp>
      <p:sp>
        <p:nvSpPr>
          <p:cNvPr id="37" name="テキスト ボックス 36"/>
          <p:cNvSpPr txBox="1"/>
          <p:nvPr/>
        </p:nvSpPr>
        <p:spPr>
          <a:xfrm>
            <a:off x="1955678" y="6102321"/>
            <a:ext cx="5041615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kumimoji="1" lang="en-US" altLang="ja-JP" sz="2200" dirty="0" smtClean="0"/>
              <a:t>1</a:t>
            </a:r>
            <a:r>
              <a:rPr lang="ja-JP" altLang="en-US" sz="2200" dirty="0" smtClean="0"/>
              <a:t>にのみ含まれているアイテム数</a:t>
            </a:r>
            <a:endParaRPr lang="en-US" altLang="ja-JP" sz="2200" dirty="0" smtClean="0"/>
          </a:p>
        </p:txBody>
      </p:sp>
      <p:sp>
        <p:nvSpPr>
          <p:cNvPr id="38" name="テキスト ボックス 37"/>
          <p:cNvSpPr txBox="1"/>
          <p:nvPr/>
        </p:nvSpPr>
        <p:spPr>
          <a:xfrm rot="16200000">
            <a:off x="-602716" y="4053635"/>
            <a:ext cx="5077320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lang="en-US" altLang="ja-JP" sz="2200" dirty="0"/>
              <a:t>2</a:t>
            </a:r>
            <a:r>
              <a:rPr lang="ja-JP" altLang="en-US" sz="2200" dirty="0" smtClean="0"/>
              <a:t>にのみ含まれているアイテム数</a:t>
            </a:r>
            <a:endParaRPr lang="en-US" altLang="ja-JP" sz="2200" dirty="0" smtClean="0"/>
          </a:p>
        </p:txBody>
      </p:sp>
    </p:spTree>
    <p:extLst>
      <p:ext uri="{BB962C8B-B14F-4D97-AF65-F5344CB8AC3E}">
        <p14:creationId xmlns:p14="http://schemas.microsoft.com/office/powerpoint/2010/main" val="236595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Inversion 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57"/>
          <a:stretch/>
        </p:blipFill>
        <p:spPr>
          <a:xfrm>
            <a:off x="6267449" y="2050905"/>
            <a:ext cx="1636687" cy="4356389"/>
          </a:xfrm>
          <a:prstGeom prst="rect">
            <a:avLst/>
          </a:prstGeom>
        </p:spPr>
      </p:pic>
      <p:grpSp>
        <p:nvGrpSpPr>
          <p:cNvPr id="7" name="グループ化 6"/>
          <p:cNvGrpSpPr/>
          <p:nvPr/>
        </p:nvGrpSpPr>
        <p:grpSpPr>
          <a:xfrm>
            <a:off x="6551617" y="2402710"/>
            <a:ext cx="604298" cy="1489695"/>
            <a:chOff x="6363657" y="2225032"/>
            <a:chExt cx="604298" cy="1489695"/>
          </a:xfrm>
        </p:grpSpPr>
        <p:sp>
          <p:nvSpPr>
            <p:cNvPr id="8" name="テキスト ボックス 7"/>
            <p:cNvSpPr txBox="1"/>
            <p:nvPr/>
          </p:nvSpPr>
          <p:spPr>
            <a:xfrm>
              <a:off x="6363657" y="2225032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6363657" y="2497428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6363657" y="2769824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6363657" y="3042220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endParaRPr kumimoji="1" lang="ja-JP" altLang="en-US" sz="2000" dirty="0" smtClean="0"/>
            </a:p>
          </p:txBody>
        </p:sp>
        <p:sp>
          <p:nvSpPr>
            <p:cNvPr id="12" name="テキスト ボックス 11"/>
            <p:cNvSpPr txBox="1"/>
            <p:nvPr/>
          </p:nvSpPr>
          <p:spPr>
            <a:xfrm>
              <a:off x="6363657" y="3314617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7182585" y="2448430"/>
            <a:ext cx="945849" cy="1428139"/>
            <a:chOff x="6363657" y="2225032"/>
            <a:chExt cx="604298" cy="1428139"/>
          </a:xfrm>
        </p:grpSpPr>
        <p:sp>
          <p:nvSpPr>
            <p:cNvPr id="14" name="テキスト ボックス 13"/>
            <p:cNvSpPr txBox="1"/>
            <p:nvPr/>
          </p:nvSpPr>
          <p:spPr>
            <a:xfrm>
              <a:off x="6363657" y="2225032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/>
                <a:t>0</a:t>
              </a:r>
              <a:r>
                <a:rPr kumimoji="1" lang="en-US" altLang="ja-JP" sz="1600" dirty="0" smtClean="0"/>
                <a:t>.05 </a:t>
              </a:r>
              <a:endParaRPr kumimoji="1" lang="ja-JP" altLang="en-US" sz="1600" dirty="0" smtClean="0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6363657" y="2497428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 smtClean="0"/>
                <a:t>0.1 </a:t>
              </a:r>
              <a:endParaRPr kumimoji="1" lang="ja-JP" altLang="en-US" sz="1600" dirty="0" smtClean="0"/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6363657" y="2769824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0.15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6363657" y="3042220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0.2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6363657" y="3314617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0.25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</p:grpSp>
      <p:pic>
        <p:nvPicPr>
          <p:cNvPr id="20" name="図 19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92"/>
          <a:stretch/>
        </p:blipFill>
        <p:spPr>
          <a:xfrm>
            <a:off x="1209107" y="1974705"/>
            <a:ext cx="5125833" cy="4446000"/>
          </a:xfrm>
          <a:prstGeom prst="rect">
            <a:avLst/>
          </a:prstGeom>
        </p:spPr>
      </p:pic>
      <p:sp>
        <p:nvSpPr>
          <p:cNvPr id="23" name="テキスト ボックス 22"/>
          <p:cNvSpPr txBox="1"/>
          <p:nvPr/>
        </p:nvSpPr>
        <p:spPr>
          <a:xfrm>
            <a:off x="1955678" y="6102321"/>
            <a:ext cx="5041615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kumimoji="1" lang="en-US" altLang="ja-JP" sz="2200" dirty="0" smtClean="0"/>
              <a:t>1</a:t>
            </a:r>
            <a:r>
              <a:rPr lang="ja-JP" altLang="en-US" sz="2200" dirty="0" smtClean="0"/>
              <a:t>にのみ含まれているアイテム数</a:t>
            </a:r>
            <a:endParaRPr lang="en-US" altLang="ja-JP" sz="2200" dirty="0" smtClean="0"/>
          </a:p>
        </p:txBody>
      </p:sp>
      <p:sp>
        <p:nvSpPr>
          <p:cNvPr id="24" name="テキスト ボックス 23"/>
          <p:cNvSpPr txBox="1"/>
          <p:nvPr/>
        </p:nvSpPr>
        <p:spPr>
          <a:xfrm rot="16200000">
            <a:off x="-602716" y="4053635"/>
            <a:ext cx="5077320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lang="en-US" altLang="ja-JP" sz="2200" dirty="0"/>
              <a:t>2</a:t>
            </a:r>
            <a:r>
              <a:rPr lang="ja-JP" altLang="en-US" sz="2200" dirty="0" smtClean="0"/>
              <a:t>にのみ含まれているアイテム数</a:t>
            </a:r>
            <a:endParaRPr lang="en-US" altLang="ja-JP" sz="2200" dirty="0" smtClean="0"/>
          </a:p>
        </p:txBody>
      </p:sp>
    </p:spTree>
    <p:extLst>
      <p:ext uri="{BB962C8B-B14F-4D97-AF65-F5344CB8AC3E}">
        <p14:creationId xmlns:p14="http://schemas.microsoft.com/office/powerpoint/2010/main" val="145385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情報共有の影響調査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(1) </a:t>
            </a:r>
            <a:r>
              <a:rPr kumimoji="1" lang="ja-JP" altLang="en-US" dirty="0" smtClean="0"/>
              <a:t>個体の移住の影響調査</a:t>
            </a:r>
            <a:endParaRPr kumimoji="1" lang="en-US" altLang="ja-JP" dirty="0" smtClean="0"/>
          </a:p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実験方法</a:t>
            </a:r>
            <a:r>
              <a:rPr kumimoji="1" lang="en-US" altLang="ja-JP" b="1" dirty="0" smtClean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各タスクで独立探索を行い，最適解集合を探索する．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得られた最適解集合を別タスクで評価し，元タスクの解との関係性を調査する．</a:t>
            </a:r>
            <a:endParaRPr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883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情報共有の影響調査</a:t>
            </a:r>
            <a:endParaRPr kumimoji="1" lang="ja-JP" altLang="en-US" dirty="0"/>
          </a:p>
        </p:txBody>
      </p:sp>
      <p:sp>
        <p:nvSpPr>
          <p:cNvPr id="9" name="コンテンツ プレースホルダー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Scaling Knapsack </a:t>
            </a:r>
            <a:r>
              <a:rPr kumimoji="1" lang="ja-JP" altLang="en-US" dirty="0" smtClean="0"/>
              <a:t>問題</a:t>
            </a:r>
            <a:r>
              <a:rPr kumimoji="1" lang="en-US" altLang="ja-JP" dirty="0" smtClean="0"/>
              <a:t>(</a:t>
            </a:r>
            <a:r>
              <a:rPr lang="en-US" altLang="ja-JP" i="1" dirty="0">
                <a:latin typeface="Symbol" panose="05050102010706020507" pitchFamily="18" charset="2"/>
              </a:rPr>
              <a:t>a</a:t>
            </a:r>
            <a:r>
              <a:rPr lang="en-US" altLang="ja-JP" b="1" i="1" dirty="0">
                <a:solidFill>
                  <a:schemeClr val="accent2"/>
                </a:solidFill>
                <a:latin typeface="Symbol" panose="05050102010706020507" pitchFamily="18" charset="2"/>
              </a:rPr>
              <a:t> </a:t>
            </a:r>
            <a:r>
              <a:rPr kumimoji="1" lang="ja-JP" altLang="en-US" dirty="0" smtClean="0"/>
              <a:t>＝</a:t>
            </a:r>
            <a:r>
              <a:rPr kumimoji="1" lang="en-US" altLang="ja-JP" dirty="0" smtClean="0"/>
              <a:t>1.25)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個体の移住の影響調査</a:t>
            </a:r>
            <a:endParaRPr kumimoji="1" lang="ja-JP" altLang="en-US" dirty="0"/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74" t="8087" r="135" b="75124"/>
          <a:stretch/>
        </p:blipFill>
        <p:spPr>
          <a:xfrm>
            <a:off x="7483887" y="1687747"/>
            <a:ext cx="1612900" cy="817390"/>
          </a:xfrm>
          <a:prstGeom prst="rect">
            <a:avLst/>
          </a:prstGeom>
        </p:spPr>
      </p:pic>
      <p:sp>
        <p:nvSpPr>
          <p:cNvPr id="25" name="テキスト ボックス 24"/>
          <p:cNvSpPr txBox="1"/>
          <p:nvPr/>
        </p:nvSpPr>
        <p:spPr>
          <a:xfrm>
            <a:off x="1581729" y="5915896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6031056" y="5915896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27" name="テキスト ボックス 26"/>
          <p:cNvSpPr txBox="1"/>
          <p:nvPr/>
        </p:nvSpPr>
        <p:spPr>
          <a:xfrm rot="16200000">
            <a:off x="-940450" y="4087817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/>
              <a:t>2</a:t>
            </a:r>
            <a:endParaRPr kumimoji="1" lang="ja-JP" altLang="en-US" sz="2400" dirty="0" smtClean="0"/>
          </a:p>
        </p:txBody>
      </p:sp>
      <p:sp>
        <p:nvSpPr>
          <p:cNvPr id="28" name="テキスト ボックス 27"/>
          <p:cNvSpPr txBox="1"/>
          <p:nvPr/>
        </p:nvSpPr>
        <p:spPr>
          <a:xfrm rot="16200000">
            <a:off x="3633831" y="4087817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/>
              <a:t>2</a:t>
            </a:r>
            <a:endParaRPr kumimoji="1" lang="ja-JP" altLang="en-US" sz="2400" dirty="0" smtClean="0"/>
          </a:p>
        </p:txBody>
      </p:sp>
      <p:pic>
        <p:nvPicPr>
          <p:cNvPr id="32" name="図 31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193" y="2858442"/>
            <a:ext cx="4170932" cy="3369600"/>
          </a:xfrm>
          <a:prstGeom prst="rect">
            <a:avLst/>
          </a:prstGeom>
        </p:spPr>
      </p:pic>
      <p:grpSp>
        <p:nvGrpSpPr>
          <p:cNvPr id="33" name="グループ化 32"/>
          <p:cNvGrpSpPr/>
          <p:nvPr/>
        </p:nvGrpSpPr>
        <p:grpSpPr>
          <a:xfrm>
            <a:off x="281231" y="2852621"/>
            <a:ext cx="4585622" cy="3368287"/>
            <a:chOff x="-383540" y="2032000"/>
            <a:chExt cx="4254500" cy="3125067"/>
          </a:xfrm>
        </p:grpSpPr>
        <p:pic>
          <p:nvPicPr>
            <p:cNvPr id="34" name="図 33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394"/>
            <a:stretch/>
          </p:blipFill>
          <p:spPr>
            <a:xfrm>
              <a:off x="-383540" y="2032000"/>
              <a:ext cx="4163060" cy="3125067"/>
            </a:xfrm>
            <a:prstGeom prst="rect">
              <a:avLst/>
            </a:prstGeom>
          </p:spPr>
        </p:pic>
        <p:sp>
          <p:nvSpPr>
            <p:cNvPr id="35" name="正方形/長方形 34"/>
            <p:cNvSpPr/>
            <p:nvPr/>
          </p:nvSpPr>
          <p:spPr>
            <a:xfrm>
              <a:off x="3581400" y="2255519"/>
              <a:ext cx="289560" cy="7467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テキスト ボックス 37"/>
          <p:cNvSpPr txBox="1"/>
          <p:nvPr/>
        </p:nvSpPr>
        <p:spPr>
          <a:xfrm>
            <a:off x="1303748" y="2363278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err="1" smtClean="0"/>
              <a:t>への</a:t>
            </a:r>
            <a:r>
              <a:rPr kumimoji="1" lang="ja-JP" altLang="en-US" sz="2800" dirty="0" smtClean="0"/>
              <a:t>移住</a:t>
            </a:r>
            <a:endParaRPr kumimoji="1" lang="en-US" altLang="ja-JP" sz="2800" dirty="0" smtClean="0"/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5753956" y="2367061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</a:t>
            </a:r>
            <a:r>
              <a:rPr lang="en-US" altLang="ja-JP" sz="2800" dirty="0"/>
              <a:t>2</a:t>
            </a:r>
            <a:r>
              <a:rPr kumimoji="1" lang="ja-JP" altLang="en-US" sz="2800" dirty="0" err="1" smtClean="0"/>
              <a:t>への</a:t>
            </a:r>
            <a:r>
              <a:rPr kumimoji="1" lang="ja-JP" altLang="en-US" sz="2800" dirty="0" smtClean="0"/>
              <a:t>移住</a:t>
            </a:r>
            <a:endParaRPr kumimoji="1" lang="en-US" altLang="ja-JP" sz="2800" dirty="0" smtClean="0"/>
          </a:p>
        </p:txBody>
      </p:sp>
      <p:grpSp>
        <p:nvGrpSpPr>
          <p:cNvPr id="7" name="グループ化 6"/>
          <p:cNvGrpSpPr/>
          <p:nvPr/>
        </p:nvGrpSpPr>
        <p:grpSpPr>
          <a:xfrm>
            <a:off x="2479054" y="3114231"/>
            <a:ext cx="1620002" cy="642274"/>
            <a:chOff x="2479054" y="3114231"/>
            <a:chExt cx="1620002" cy="642274"/>
          </a:xfrm>
        </p:grpSpPr>
        <p:sp>
          <p:nvSpPr>
            <p:cNvPr id="2" name="右矢印 1"/>
            <p:cNvSpPr/>
            <p:nvPr/>
          </p:nvSpPr>
          <p:spPr>
            <a:xfrm rot="19800000">
              <a:off x="3425292" y="3360449"/>
              <a:ext cx="673764" cy="396056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/>
            <p:cNvSpPr txBox="1"/>
            <p:nvPr/>
          </p:nvSpPr>
          <p:spPr>
            <a:xfrm>
              <a:off x="2479054" y="3114231"/>
              <a:ext cx="1482993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" dirty="0" smtClean="0"/>
                <a:t>探索方向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584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411411" y="2850140"/>
            <a:ext cx="4365272" cy="3425450"/>
            <a:chOff x="533331" y="2493890"/>
            <a:chExt cx="4365272" cy="3425450"/>
          </a:xfrm>
        </p:grpSpPr>
        <p:pic>
          <p:nvPicPr>
            <p:cNvPr id="24" name="図 23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8627" b="-1770"/>
            <a:stretch/>
          </p:blipFill>
          <p:spPr>
            <a:xfrm>
              <a:off x="533331" y="2493890"/>
              <a:ext cx="4252423" cy="3425450"/>
            </a:xfrm>
            <a:prstGeom prst="rect">
              <a:avLst/>
            </a:prstGeom>
          </p:spPr>
        </p:pic>
        <p:sp>
          <p:nvSpPr>
            <p:cNvPr id="25" name="正方形/長方形 24"/>
            <p:cNvSpPr/>
            <p:nvPr/>
          </p:nvSpPr>
          <p:spPr>
            <a:xfrm>
              <a:off x="4586507" y="2727761"/>
              <a:ext cx="312096" cy="80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情報共有の影響調査</a:t>
            </a:r>
            <a:endParaRPr kumimoji="1" lang="ja-JP" altLang="en-US" dirty="0"/>
          </a:p>
        </p:txBody>
      </p:sp>
      <p:sp>
        <p:nvSpPr>
          <p:cNvPr id="9" name="コンテンツ プレースホルダー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Inversion Profit </a:t>
            </a:r>
            <a:r>
              <a:rPr kumimoji="1" lang="ja-JP" altLang="en-US" dirty="0" smtClean="0"/>
              <a:t>問題</a:t>
            </a:r>
            <a:r>
              <a:rPr kumimoji="1" lang="en-US" altLang="ja-JP" dirty="0" smtClean="0"/>
              <a:t>(</a:t>
            </a:r>
            <a:r>
              <a:rPr lang="en-US" altLang="ja-JP" i="1" dirty="0" smtClean="0">
                <a:latin typeface="Symbol" panose="05050102010706020507" pitchFamily="18" charset="2"/>
              </a:rPr>
              <a:t>b</a:t>
            </a:r>
            <a:r>
              <a:rPr lang="en-US" altLang="ja-JP" b="1" i="1" dirty="0" smtClean="0">
                <a:solidFill>
                  <a:schemeClr val="accent2"/>
                </a:solidFill>
                <a:latin typeface="Symbol" panose="05050102010706020507" pitchFamily="18" charset="2"/>
              </a:rPr>
              <a:t> </a:t>
            </a:r>
            <a:r>
              <a:rPr kumimoji="1" lang="ja-JP" altLang="en-US" dirty="0" smtClean="0"/>
              <a:t>＝</a:t>
            </a:r>
            <a:r>
              <a:rPr lang="en-US" altLang="ja-JP" dirty="0"/>
              <a:t>0</a:t>
            </a:r>
            <a:r>
              <a:rPr kumimoji="1" lang="en-US" altLang="ja-JP" dirty="0" smtClean="0"/>
              <a:t>.25)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個体の移住の影響調査</a:t>
            </a:r>
            <a:endParaRPr kumimoji="1" lang="ja-JP" altLang="en-US" dirty="0"/>
          </a:p>
        </p:txBody>
      </p:sp>
      <p:grpSp>
        <p:nvGrpSpPr>
          <p:cNvPr id="23" name="グループ化 22"/>
          <p:cNvGrpSpPr/>
          <p:nvPr/>
        </p:nvGrpSpPr>
        <p:grpSpPr>
          <a:xfrm>
            <a:off x="-41642" y="3084010"/>
            <a:ext cx="8331979" cy="3293551"/>
            <a:chOff x="63929" y="2727760"/>
            <a:chExt cx="8331979" cy="3293551"/>
          </a:xfrm>
        </p:grpSpPr>
        <p:grpSp>
          <p:nvGrpSpPr>
            <p:cNvPr id="21" name="グループ化 20"/>
            <p:cNvGrpSpPr/>
            <p:nvPr/>
          </p:nvGrpSpPr>
          <p:grpSpPr>
            <a:xfrm>
              <a:off x="63929" y="2727760"/>
              <a:ext cx="5041844" cy="3293551"/>
              <a:chOff x="25829" y="2727760"/>
              <a:chExt cx="5041844" cy="3293551"/>
            </a:xfrm>
          </p:grpSpPr>
          <p:sp>
            <p:nvSpPr>
              <p:cNvPr id="14" name="正方形/長方形 13"/>
              <p:cNvSpPr/>
              <p:nvPr/>
            </p:nvSpPr>
            <p:spPr>
              <a:xfrm>
                <a:off x="4755577" y="2727760"/>
                <a:ext cx="312096" cy="8048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テキスト ボックス 16"/>
              <p:cNvSpPr txBox="1"/>
              <p:nvPr/>
            </p:nvSpPr>
            <p:spPr>
              <a:xfrm>
                <a:off x="1649200" y="5559646"/>
                <a:ext cx="2259281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400" dirty="0" smtClean="0"/>
                  <a:t>目的</a:t>
                </a:r>
                <a:r>
                  <a:rPr lang="en-US" altLang="ja-JP" sz="2400" dirty="0" smtClean="0"/>
                  <a:t>1</a:t>
                </a:r>
                <a:endParaRPr kumimoji="1" lang="ja-JP" altLang="en-US" sz="2400" dirty="0" smtClean="0"/>
              </a:p>
            </p:txBody>
          </p:sp>
          <p:sp>
            <p:nvSpPr>
              <p:cNvPr id="18" name="テキスト ボックス 17"/>
              <p:cNvSpPr txBox="1"/>
              <p:nvPr/>
            </p:nvSpPr>
            <p:spPr>
              <a:xfrm rot="16200000">
                <a:off x="-872979" y="3731567"/>
                <a:ext cx="2259281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400" dirty="0" smtClean="0"/>
                  <a:t>目的</a:t>
                </a:r>
                <a:r>
                  <a:rPr lang="en-US" altLang="ja-JP" sz="2400" dirty="0"/>
                  <a:t>2</a:t>
                </a:r>
                <a:endParaRPr kumimoji="1" lang="ja-JP" altLang="en-US" sz="2400" dirty="0" smtClean="0"/>
              </a:p>
            </p:txBody>
          </p:sp>
        </p:grpSp>
        <p:grpSp>
          <p:nvGrpSpPr>
            <p:cNvPr id="22" name="グループ化 21"/>
            <p:cNvGrpSpPr/>
            <p:nvPr/>
          </p:nvGrpSpPr>
          <p:grpSpPr>
            <a:xfrm>
              <a:off x="4638210" y="2832759"/>
              <a:ext cx="3757698" cy="3188552"/>
              <a:chOff x="4762035" y="2832759"/>
              <a:chExt cx="3757698" cy="3188552"/>
            </a:xfrm>
          </p:grpSpPr>
          <p:sp>
            <p:nvSpPr>
              <p:cNvPr id="19" name="テキスト ボックス 18"/>
              <p:cNvSpPr txBox="1"/>
              <p:nvPr/>
            </p:nvSpPr>
            <p:spPr>
              <a:xfrm>
                <a:off x="6260452" y="5559646"/>
                <a:ext cx="2259281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400" dirty="0" smtClean="0"/>
                  <a:t>目的</a:t>
                </a:r>
                <a:r>
                  <a:rPr lang="en-US" altLang="ja-JP" sz="2400" dirty="0" smtClean="0"/>
                  <a:t>1</a:t>
                </a:r>
                <a:endParaRPr kumimoji="1" lang="ja-JP" altLang="en-US" sz="2400" dirty="0" smtClean="0"/>
              </a:p>
            </p:txBody>
          </p:sp>
          <p:sp>
            <p:nvSpPr>
              <p:cNvPr id="20" name="テキスト ボックス 19"/>
              <p:cNvSpPr txBox="1"/>
              <p:nvPr/>
            </p:nvSpPr>
            <p:spPr>
              <a:xfrm rot="16200000">
                <a:off x="3863227" y="3731567"/>
                <a:ext cx="2259281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400" dirty="0" smtClean="0"/>
                  <a:t>目的</a:t>
                </a:r>
                <a:r>
                  <a:rPr lang="en-US" altLang="ja-JP" sz="2400" dirty="0"/>
                  <a:t>2</a:t>
                </a:r>
                <a:endParaRPr kumimoji="1" lang="ja-JP" altLang="en-US" sz="2400" dirty="0" smtClean="0"/>
              </a:p>
            </p:txBody>
          </p:sp>
        </p:grpSp>
      </p:grpSp>
      <p:pic>
        <p:nvPicPr>
          <p:cNvPr id="36" name="図 35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368" y="2856720"/>
            <a:ext cx="4363842" cy="3369600"/>
          </a:xfrm>
          <a:prstGeom prst="rect">
            <a:avLst/>
          </a:prstGeom>
        </p:spPr>
      </p:pic>
      <p:pic>
        <p:nvPicPr>
          <p:cNvPr id="37" name="図 36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74" t="8087" r="135" b="75124"/>
          <a:stretch/>
        </p:blipFill>
        <p:spPr>
          <a:xfrm>
            <a:off x="7483887" y="1687747"/>
            <a:ext cx="1612900" cy="817390"/>
          </a:xfrm>
          <a:prstGeom prst="rect">
            <a:avLst/>
          </a:prstGeom>
        </p:spPr>
      </p:pic>
      <p:sp>
        <p:nvSpPr>
          <p:cNvPr id="38" name="テキスト ボックス 37"/>
          <p:cNvSpPr txBox="1"/>
          <p:nvPr/>
        </p:nvSpPr>
        <p:spPr>
          <a:xfrm>
            <a:off x="1303748" y="2363278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err="1" smtClean="0"/>
              <a:t>への</a:t>
            </a:r>
            <a:r>
              <a:rPr kumimoji="1" lang="ja-JP" altLang="en-US" sz="2800" dirty="0" smtClean="0"/>
              <a:t>移住</a:t>
            </a:r>
            <a:endParaRPr kumimoji="1" lang="en-US" altLang="ja-JP" sz="2800" dirty="0" smtClean="0"/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5753956" y="2367061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</a:t>
            </a:r>
            <a:r>
              <a:rPr lang="en-US" altLang="ja-JP" sz="2800" dirty="0"/>
              <a:t>2</a:t>
            </a:r>
            <a:r>
              <a:rPr kumimoji="1" lang="ja-JP" altLang="en-US" sz="2800" dirty="0" err="1" smtClean="0"/>
              <a:t>への</a:t>
            </a:r>
            <a:r>
              <a:rPr kumimoji="1" lang="ja-JP" altLang="en-US" sz="2800" dirty="0" smtClean="0"/>
              <a:t>移住</a:t>
            </a:r>
            <a:endParaRPr kumimoji="1"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75580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情報共有の影響調査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(2)</a:t>
            </a:r>
            <a:r>
              <a:rPr lang="ja-JP" altLang="en-US" dirty="0"/>
              <a:t> </a:t>
            </a:r>
            <a:r>
              <a:rPr lang="ja-JP" altLang="en-US" dirty="0" smtClean="0"/>
              <a:t>タスク間交叉の</a:t>
            </a:r>
            <a:r>
              <a:rPr lang="ja-JP" altLang="en-US" dirty="0"/>
              <a:t>影響調査</a:t>
            </a:r>
            <a:endParaRPr lang="en-US" altLang="ja-JP" dirty="0"/>
          </a:p>
          <a:p>
            <a:r>
              <a:rPr lang="en-US" altLang="ja-JP" b="1" dirty="0"/>
              <a:t>&lt;</a:t>
            </a:r>
            <a:r>
              <a:rPr lang="ja-JP" altLang="en-US" b="1" dirty="0"/>
              <a:t>実験方法</a:t>
            </a:r>
            <a:r>
              <a:rPr lang="en-US" altLang="ja-JP" b="1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各タスクで独立探索を行い，最適解集合を探索する．</a:t>
            </a:r>
            <a:endParaRPr lang="en-US" altLang="ja-JP" sz="28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得られた最適解集合</a:t>
            </a:r>
            <a:r>
              <a:rPr lang="ja-JP" altLang="en-US" sz="2800" dirty="0" smtClean="0"/>
              <a:t>を利用してタスク間交叉を行い，タスク内交叉で生成される解と比較する．</a:t>
            </a:r>
            <a:endParaRPr kumimoji="1" lang="en-US" altLang="ja-JP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267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情報共有の影響調査</a:t>
            </a:r>
            <a:endParaRPr kumimoji="1" lang="ja-JP" altLang="en-US" dirty="0"/>
          </a:p>
        </p:txBody>
      </p:sp>
      <p:sp>
        <p:nvSpPr>
          <p:cNvPr id="21" name="コンテンツ プレースホルダー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Scaling Knapsack </a:t>
            </a:r>
            <a:r>
              <a:rPr lang="ja-JP" altLang="en-US" dirty="0"/>
              <a:t>問題</a:t>
            </a:r>
            <a:r>
              <a:rPr lang="en-US" altLang="ja-JP" dirty="0"/>
              <a:t>(</a:t>
            </a:r>
            <a:r>
              <a:rPr lang="en-US" altLang="ja-JP" i="1" dirty="0">
                <a:latin typeface="Symbol" panose="05050102010706020507" pitchFamily="18" charset="2"/>
              </a:rPr>
              <a:t>a</a:t>
            </a:r>
            <a:r>
              <a:rPr lang="en-US" altLang="ja-JP" b="1" i="1" dirty="0">
                <a:solidFill>
                  <a:schemeClr val="accent2"/>
                </a:solidFill>
                <a:latin typeface="Symbol" panose="05050102010706020507" pitchFamily="18" charset="2"/>
              </a:rPr>
              <a:t> </a:t>
            </a:r>
            <a:r>
              <a:rPr lang="ja-JP" altLang="en-US" dirty="0"/>
              <a:t>＝</a:t>
            </a:r>
            <a:r>
              <a:rPr lang="en-US" altLang="ja-JP" dirty="0"/>
              <a:t>1.25</a:t>
            </a:r>
            <a:r>
              <a:rPr lang="en-US" altLang="ja-JP" dirty="0" smtClean="0"/>
              <a:t>)</a:t>
            </a:r>
          </a:p>
          <a:p>
            <a:r>
              <a:rPr lang="en-US" altLang="ja-JP" dirty="0"/>
              <a:t>&lt;</a:t>
            </a:r>
            <a:r>
              <a:rPr lang="ja-JP" altLang="en-US" dirty="0" smtClean="0"/>
              <a:t>タスク</a:t>
            </a:r>
            <a:r>
              <a:rPr lang="en-US" altLang="ja-JP" dirty="0" smtClean="0"/>
              <a:t>1&gt;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タスク間交叉の影響調査</a:t>
            </a:r>
            <a:endParaRPr kumimoji="1" lang="ja-JP" altLang="en-US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581729" y="6189026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25" name="テキスト ボックス 24"/>
          <p:cNvSpPr txBox="1"/>
          <p:nvPr/>
        </p:nvSpPr>
        <p:spPr>
          <a:xfrm rot="16200000">
            <a:off x="-940450" y="4360947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/>
              <a:t>2</a:t>
            </a:r>
            <a:endParaRPr kumimoji="1" lang="ja-JP" altLang="en-US" sz="2400" dirty="0" smtClean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6031056" y="6189026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27" name="テキスト ボックス 26"/>
          <p:cNvSpPr txBox="1"/>
          <p:nvPr/>
        </p:nvSpPr>
        <p:spPr>
          <a:xfrm rot="16200000">
            <a:off x="3633831" y="4360947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/>
              <a:t>2</a:t>
            </a:r>
            <a:endParaRPr kumimoji="1" lang="ja-JP" altLang="en-US" sz="2400" dirty="0" smtClean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303748" y="2636408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タスク内交叉</a:t>
            </a:r>
            <a:endParaRPr kumimoji="1" lang="en-US" altLang="ja-JP" sz="2800" dirty="0" smtClean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5753956" y="2640191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タスク間交叉</a:t>
            </a:r>
            <a:endParaRPr kumimoji="1" lang="en-US" altLang="ja-JP" sz="2800" dirty="0" smtClean="0"/>
          </a:p>
        </p:txBody>
      </p:sp>
      <p:grpSp>
        <p:nvGrpSpPr>
          <p:cNvPr id="7" name="グループ化 6"/>
          <p:cNvGrpSpPr/>
          <p:nvPr/>
        </p:nvGrpSpPr>
        <p:grpSpPr>
          <a:xfrm>
            <a:off x="7132320" y="1636457"/>
            <a:ext cx="1951787" cy="1077481"/>
            <a:chOff x="1527567" y="1069453"/>
            <a:chExt cx="1951787" cy="1077481"/>
          </a:xfrm>
        </p:grpSpPr>
        <p:pic>
          <p:nvPicPr>
            <p:cNvPr id="3" name="図 2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39" t="12338" r="71333" b="76022"/>
            <a:stretch/>
          </p:blipFill>
          <p:spPr>
            <a:xfrm>
              <a:off x="1527567" y="1069453"/>
              <a:ext cx="1947153" cy="1077481"/>
            </a:xfrm>
            <a:prstGeom prst="rect">
              <a:avLst/>
            </a:prstGeom>
          </p:spPr>
        </p:pic>
        <p:sp>
          <p:nvSpPr>
            <p:cNvPr id="6" name="テキスト ボックス 5"/>
            <p:cNvSpPr txBox="1"/>
            <p:nvPr/>
          </p:nvSpPr>
          <p:spPr>
            <a:xfrm>
              <a:off x="2001560" y="1199896"/>
              <a:ext cx="1477794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1950" dirty="0" smtClean="0"/>
                <a:t>近似最適解</a:t>
              </a:r>
              <a:endParaRPr kumimoji="1" lang="en-US" altLang="ja-JP" sz="1950" dirty="0" smtClean="0"/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2001560" y="1596747"/>
              <a:ext cx="1477794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dirty="0" smtClean="0"/>
                <a:t>子個体</a:t>
              </a:r>
              <a:endParaRPr kumimoji="1" lang="en-US" altLang="ja-JP" sz="2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48047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情報共有の影響調査</a:t>
            </a:r>
            <a:endParaRPr kumimoji="1" lang="ja-JP" altLang="en-US" dirty="0"/>
          </a:p>
        </p:txBody>
      </p:sp>
      <p:sp>
        <p:nvSpPr>
          <p:cNvPr id="21" name="コンテンツ プレースホルダー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Scaling Knapsack </a:t>
            </a:r>
            <a:r>
              <a:rPr lang="ja-JP" altLang="en-US" dirty="0"/>
              <a:t>問題</a:t>
            </a:r>
            <a:r>
              <a:rPr lang="en-US" altLang="ja-JP" dirty="0"/>
              <a:t>(</a:t>
            </a:r>
            <a:r>
              <a:rPr lang="en-US" altLang="ja-JP" i="1" dirty="0">
                <a:latin typeface="Symbol" panose="05050102010706020507" pitchFamily="18" charset="2"/>
              </a:rPr>
              <a:t>a</a:t>
            </a:r>
            <a:r>
              <a:rPr lang="en-US" altLang="ja-JP" b="1" i="1" dirty="0">
                <a:solidFill>
                  <a:schemeClr val="accent2"/>
                </a:solidFill>
                <a:latin typeface="Symbol" panose="05050102010706020507" pitchFamily="18" charset="2"/>
              </a:rPr>
              <a:t> </a:t>
            </a:r>
            <a:r>
              <a:rPr lang="ja-JP" altLang="en-US" dirty="0"/>
              <a:t>＝</a:t>
            </a:r>
            <a:r>
              <a:rPr lang="en-US" altLang="ja-JP" dirty="0"/>
              <a:t>1.25</a:t>
            </a:r>
            <a:r>
              <a:rPr lang="en-US" altLang="ja-JP" dirty="0" smtClean="0"/>
              <a:t>)</a:t>
            </a:r>
          </a:p>
          <a:p>
            <a:r>
              <a:rPr lang="en-US" altLang="ja-JP" dirty="0"/>
              <a:t>&lt;</a:t>
            </a:r>
            <a:r>
              <a:rPr lang="ja-JP" altLang="en-US" dirty="0" smtClean="0"/>
              <a:t>タスク</a:t>
            </a:r>
            <a:r>
              <a:rPr lang="en-US" altLang="ja-JP" dirty="0"/>
              <a:t>2</a:t>
            </a:r>
            <a:r>
              <a:rPr lang="en-US" altLang="ja-JP" dirty="0" smtClean="0"/>
              <a:t>&gt;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タスク間交叉の影響調査</a:t>
            </a:r>
            <a:endParaRPr kumimoji="1" lang="ja-JP" altLang="en-US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581729" y="6189026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25" name="テキスト ボックス 24"/>
          <p:cNvSpPr txBox="1"/>
          <p:nvPr/>
        </p:nvSpPr>
        <p:spPr>
          <a:xfrm rot="16200000">
            <a:off x="-940450" y="4360947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/>
              <a:t>2</a:t>
            </a:r>
            <a:endParaRPr kumimoji="1" lang="ja-JP" altLang="en-US" sz="2400" dirty="0" smtClean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6031056" y="6189026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27" name="テキスト ボックス 26"/>
          <p:cNvSpPr txBox="1"/>
          <p:nvPr/>
        </p:nvSpPr>
        <p:spPr>
          <a:xfrm rot="16200000">
            <a:off x="3633831" y="4360947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/>
              <a:t>2</a:t>
            </a:r>
            <a:endParaRPr kumimoji="1" lang="ja-JP" altLang="en-US" sz="2400" dirty="0" smtClean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303748" y="2636408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タスク内交叉</a:t>
            </a:r>
            <a:endParaRPr kumimoji="1" lang="en-US" altLang="ja-JP" sz="2800" dirty="0" smtClean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5753956" y="2640191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タスク間交叉</a:t>
            </a:r>
            <a:endParaRPr kumimoji="1" lang="en-US" altLang="ja-JP" sz="2800" dirty="0" smtClean="0"/>
          </a:p>
        </p:txBody>
      </p:sp>
      <p:grpSp>
        <p:nvGrpSpPr>
          <p:cNvPr id="18" name="グループ化 17"/>
          <p:cNvGrpSpPr/>
          <p:nvPr/>
        </p:nvGrpSpPr>
        <p:grpSpPr>
          <a:xfrm>
            <a:off x="7132320" y="1636457"/>
            <a:ext cx="1951787" cy="1077481"/>
            <a:chOff x="1527567" y="1069453"/>
            <a:chExt cx="1951787" cy="1077481"/>
          </a:xfrm>
        </p:grpSpPr>
        <p:pic>
          <p:nvPicPr>
            <p:cNvPr id="19" name="図 18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39" t="12338" r="71333" b="76022"/>
            <a:stretch/>
          </p:blipFill>
          <p:spPr>
            <a:xfrm>
              <a:off x="1527567" y="1069453"/>
              <a:ext cx="1947153" cy="1077481"/>
            </a:xfrm>
            <a:prstGeom prst="rect">
              <a:avLst/>
            </a:prstGeom>
          </p:spPr>
        </p:pic>
        <p:sp>
          <p:nvSpPr>
            <p:cNvPr id="20" name="テキスト ボックス 19"/>
            <p:cNvSpPr txBox="1"/>
            <p:nvPr/>
          </p:nvSpPr>
          <p:spPr>
            <a:xfrm>
              <a:off x="2001560" y="1199896"/>
              <a:ext cx="1477794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1950" dirty="0" smtClean="0"/>
                <a:t>近似最適解</a:t>
              </a:r>
              <a:endParaRPr kumimoji="1" lang="en-US" altLang="ja-JP" sz="1950" dirty="0" smtClean="0"/>
            </a:p>
          </p:txBody>
        </p:sp>
        <p:sp>
          <p:nvSpPr>
            <p:cNvPr id="30" name="テキスト ボックス 29"/>
            <p:cNvSpPr txBox="1"/>
            <p:nvPr/>
          </p:nvSpPr>
          <p:spPr>
            <a:xfrm>
              <a:off x="2001560" y="1596747"/>
              <a:ext cx="1477794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dirty="0" smtClean="0"/>
                <a:t>子個体</a:t>
              </a:r>
              <a:endParaRPr kumimoji="1" lang="en-US" altLang="ja-JP" sz="2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4506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情報共有の影響調査</a:t>
            </a:r>
            <a:endParaRPr kumimoji="1" lang="ja-JP" altLang="en-US" dirty="0"/>
          </a:p>
        </p:txBody>
      </p:sp>
      <p:sp>
        <p:nvSpPr>
          <p:cNvPr id="21" name="コンテンツ プレースホルダー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Inversion Profit </a:t>
            </a:r>
            <a:r>
              <a:rPr lang="ja-JP" altLang="en-US" dirty="0"/>
              <a:t>問題</a:t>
            </a:r>
            <a:r>
              <a:rPr lang="en-US" altLang="ja-JP" dirty="0"/>
              <a:t>(</a:t>
            </a:r>
            <a:r>
              <a:rPr lang="en-US" altLang="ja-JP" i="1" dirty="0">
                <a:latin typeface="Symbol" panose="05050102010706020507" pitchFamily="18" charset="2"/>
              </a:rPr>
              <a:t>b</a:t>
            </a:r>
            <a:r>
              <a:rPr lang="en-US" altLang="ja-JP" b="1" i="1" dirty="0">
                <a:solidFill>
                  <a:schemeClr val="accent2"/>
                </a:solidFill>
                <a:latin typeface="Symbol" panose="05050102010706020507" pitchFamily="18" charset="2"/>
              </a:rPr>
              <a:t> </a:t>
            </a:r>
            <a:r>
              <a:rPr lang="ja-JP" altLang="en-US" dirty="0"/>
              <a:t>＝</a:t>
            </a:r>
            <a:r>
              <a:rPr lang="en-US" altLang="ja-JP" dirty="0"/>
              <a:t>0.25)</a:t>
            </a:r>
            <a:endParaRPr lang="ja-JP" altLang="en-US" dirty="0"/>
          </a:p>
          <a:p>
            <a:r>
              <a:rPr lang="en-US" altLang="ja-JP" dirty="0" smtClean="0"/>
              <a:t>&lt;</a:t>
            </a:r>
            <a:r>
              <a:rPr lang="ja-JP" altLang="en-US" dirty="0" smtClean="0"/>
              <a:t>タスク</a:t>
            </a:r>
            <a:r>
              <a:rPr lang="en-US" altLang="ja-JP" dirty="0" smtClean="0"/>
              <a:t>1&gt;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タスク間交叉の影響調査</a:t>
            </a:r>
            <a:endParaRPr kumimoji="1" lang="ja-JP" altLang="en-US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581729" y="6189026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25" name="テキスト ボックス 24"/>
          <p:cNvSpPr txBox="1"/>
          <p:nvPr/>
        </p:nvSpPr>
        <p:spPr>
          <a:xfrm rot="16200000">
            <a:off x="-940450" y="4360947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/>
              <a:t>2</a:t>
            </a:r>
            <a:endParaRPr kumimoji="1" lang="ja-JP" altLang="en-US" sz="2400" dirty="0" smtClean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6031056" y="6189026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27" name="テキスト ボックス 26"/>
          <p:cNvSpPr txBox="1"/>
          <p:nvPr/>
        </p:nvSpPr>
        <p:spPr>
          <a:xfrm rot="16200000">
            <a:off x="3633831" y="4360947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/>
              <a:t>2</a:t>
            </a:r>
            <a:endParaRPr kumimoji="1" lang="ja-JP" altLang="en-US" sz="2400" dirty="0" smtClean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303748" y="2636408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タスク内交叉</a:t>
            </a:r>
            <a:endParaRPr kumimoji="1" lang="en-US" altLang="ja-JP" sz="2800" dirty="0" smtClean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5753956" y="2640191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タスク間交叉</a:t>
            </a:r>
            <a:endParaRPr kumimoji="1" lang="en-US" altLang="ja-JP" sz="2800" dirty="0" smtClean="0"/>
          </a:p>
        </p:txBody>
      </p:sp>
      <p:grpSp>
        <p:nvGrpSpPr>
          <p:cNvPr id="18" name="グループ化 17"/>
          <p:cNvGrpSpPr/>
          <p:nvPr/>
        </p:nvGrpSpPr>
        <p:grpSpPr>
          <a:xfrm>
            <a:off x="7132320" y="1636457"/>
            <a:ext cx="1951787" cy="1077481"/>
            <a:chOff x="1527567" y="1069453"/>
            <a:chExt cx="1951787" cy="1077481"/>
          </a:xfrm>
        </p:grpSpPr>
        <p:pic>
          <p:nvPicPr>
            <p:cNvPr id="19" name="図 18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39" t="12338" r="71333" b="76022"/>
            <a:stretch/>
          </p:blipFill>
          <p:spPr>
            <a:xfrm>
              <a:off x="1527567" y="1069453"/>
              <a:ext cx="1947153" cy="1077481"/>
            </a:xfrm>
            <a:prstGeom prst="rect">
              <a:avLst/>
            </a:prstGeom>
          </p:spPr>
        </p:pic>
        <p:sp>
          <p:nvSpPr>
            <p:cNvPr id="20" name="テキスト ボックス 19"/>
            <p:cNvSpPr txBox="1"/>
            <p:nvPr/>
          </p:nvSpPr>
          <p:spPr>
            <a:xfrm>
              <a:off x="2001560" y="1199896"/>
              <a:ext cx="1477794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1950" dirty="0" smtClean="0"/>
                <a:t>近似最適解</a:t>
              </a:r>
              <a:endParaRPr kumimoji="1" lang="en-US" altLang="ja-JP" sz="1950" dirty="0" smtClean="0"/>
            </a:p>
          </p:txBody>
        </p:sp>
        <p:sp>
          <p:nvSpPr>
            <p:cNvPr id="30" name="テキスト ボックス 29"/>
            <p:cNvSpPr txBox="1"/>
            <p:nvPr/>
          </p:nvSpPr>
          <p:spPr>
            <a:xfrm>
              <a:off x="2001560" y="1596747"/>
              <a:ext cx="1477794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dirty="0" smtClean="0"/>
                <a:t>子個体</a:t>
              </a:r>
              <a:endParaRPr kumimoji="1" lang="en-US" altLang="ja-JP" sz="2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03249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情報共有の影響調査</a:t>
            </a:r>
            <a:endParaRPr kumimoji="1" lang="ja-JP" altLang="en-US" dirty="0"/>
          </a:p>
        </p:txBody>
      </p:sp>
      <p:sp>
        <p:nvSpPr>
          <p:cNvPr id="21" name="コンテンツ プレースホルダー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Inversion Profit </a:t>
            </a:r>
            <a:r>
              <a:rPr lang="ja-JP" altLang="en-US" dirty="0"/>
              <a:t>問題</a:t>
            </a:r>
            <a:r>
              <a:rPr lang="en-US" altLang="ja-JP" dirty="0"/>
              <a:t>(</a:t>
            </a:r>
            <a:r>
              <a:rPr lang="en-US" altLang="ja-JP" i="1" dirty="0">
                <a:latin typeface="Symbol" panose="05050102010706020507" pitchFamily="18" charset="2"/>
              </a:rPr>
              <a:t>b</a:t>
            </a:r>
            <a:r>
              <a:rPr lang="en-US" altLang="ja-JP" b="1" i="1" dirty="0">
                <a:solidFill>
                  <a:schemeClr val="accent2"/>
                </a:solidFill>
                <a:latin typeface="Symbol" panose="05050102010706020507" pitchFamily="18" charset="2"/>
              </a:rPr>
              <a:t> </a:t>
            </a:r>
            <a:r>
              <a:rPr lang="ja-JP" altLang="en-US" dirty="0"/>
              <a:t>＝</a:t>
            </a:r>
            <a:r>
              <a:rPr lang="en-US" altLang="ja-JP" dirty="0"/>
              <a:t>0.25)</a:t>
            </a:r>
            <a:endParaRPr lang="ja-JP" altLang="en-US" dirty="0"/>
          </a:p>
          <a:p>
            <a:r>
              <a:rPr lang="en-US" altLang="ja-JP" dirty="0" smtClean="0"/>
              <a:t>&lt;</a:t>
            </a:r>
            <a:r>
              <a:rPr lang="ja-JP" altLang="en-US" dirty="0" smtClean="0"/>
              <a:t>タスク</a:t>
            </a:r>
            <a:r>
              <a:rPr lang="en-US" altLang="ja-JP" dirty="0"/>
              <a:t>2</a:t>
            </a:r>
            <a:r>
              <a:rPr lang="en-US" altLang="ja-JP" dirty="0" smtClean="0"/>
              <a:t>&gt;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タスク間交叉の影響調査</a:t>
            </a:r>
            <a:endParaRPr kumimoji="1" lang="ja-JP" altLang="en-US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581729" y="6189026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25" name="テキスト ボックス 24"/>
          <p:cNvSpPr txBox="1"/>
          <p:nvPr/>
        </p:nvSpPr>
        <p:spPr>
          <a:xfrm rot="16200000">
            <a:off x="-940450" y="4360947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/>
              <a:t>2</a:t>
            </a:r>
            <a:endParaRPr kumimoji="1" lang="ja-JP" altLang="en-US" sz="2400" dirty="0" smtClean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6031056" y="6189026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 smtClean="0"/>
              <a:t>1</a:t>
            </a:r>
            <a:endParaRPr kumimoji="1" lang="ja-JP" altLang="en-US" sz="2400" dirty="0" smtClean="0"/>
          </a:p>
        </p:txBody>
      </p:sp>
      <p:sp>
        <p:nvSpPr>
          <p:cNvPr id="27" name="テキスト ボックス 26"/>
          <p:cNvSpPr txBox="1"/>
          <p:nvPr/>
        </p:nvSpPr>
        <p:spPr>
          <a:xfrm rot="16200000">
            <a:off x="3633831" y="4360947"/>
            <a:ext cx="225928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 smtClean="0"/>
              <a:t>目的</a:t>
            </a:r>
            <a:r>
              <a:rPr lang="en-US" altLang="ja-JP" sz="2400" dirty="0"/>
              <a:t>2</a:t>
            </a:r>
            <a:endParaRPr kumimoji="1" lang="ja-JP" altLang="en-US" sz="2400" dirty="0" smtClean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303748" y="2636408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タスク内交叉</a:t>
            </a:r>
            <a:endParaRPr kumimoji="1" lang="en-US" altLang="ja-JP" sz="2800" dirty="0" smtClean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5753956" y="2640191"/>
            <a:ext cx="2813479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タスク間交叉</a:t>
            </a:r>
            <a:endParaRPr kumimoji="1" lang="en-US" altLang="ja-JP" sz="2800" dirty="0" smtClean="0"/>
          </a:p>
        </p:txBody>
      </p:sp>
      <p:grpSp>
        <p:nvGrpSpPr>
          <p:cNvPr id="18" name="グループ化 17"/>
          <p:cNvGrpSpPr/>
          <p:nvPr/>
        </p:nvGrpSpPr>
        <p:grpSpPr>
          <a:xfrm>
            <a:off x="7132320" y="1636457"/>
            <a:ext cx="1951787" cy="1077481"/>
            <a:chOff x="1527567" y="1069453"/>
            <a:chExt cx="1951787" cy="1077481"/>
          </a:xfrm>
        </p:grpSpPr>
        <p:pic>
          <p:nvPicPr>
            <p:cNvPr id="19" name="図 18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39" t="12338" r="71333" b="76022"/>
            <a:stretch/>
          </p:blipFill>
          <p:spPr>
            <a:xfrm>
              <a:off x="1527567" y="1069453"/>
              <a:ext cx="1947153" cy="1077481"/>
            </a:xfrm>
            <a:prstGeom prst="rect">
              <a:avLst/>
            </a:prstGeom>
          </p:spPr>
        </p:pic>
        <p:sp>
          <p:nvSpPr>
            <p:cNvPr id="20" name="テキスト ボックス 19"/>
            <p:cNvSpPr txBox="1"/>
            <p:nvPr/>
          </p:nvSpPr>
          <p:spPr>
            <a:xfrm>
              <a:off x="2001560" y="1199896"/>
              <a:ext cx="1477794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1950" dirty="0" smtClean="0"/>
                <a:t>近似最適解</a:t>
              </a:r>
              <a:endParaRPr kumimoji="1" lang="en-US" altLang="ja-JP" sz="1950" dirty="0" smtClean="0"/>
            </a:p>
          </p:txBody>
        </p:sp>
        <p:sp>
          <p:nvSpPr>
            <p:cNvPr id="30" name="テキスト ボックス 29"/>
            <p:cNvSpPr txBox="1"/>
            <p:nvPr/>
          </p:nvSpPr>
          <p:spPr>
            <a:xfrm>
              <a:off x="2001560" y="1596747"/>
              <a:ext cx="1477794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dirty="0" smtClean="0"/>
                <a:t>子個体</a:t>
              </a:r>
              <a:endParaRPr kumimoji="1" lang="en-US" altLang="ja-JP" sz="2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414977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まと</a:t>
            </a:r>
            <a:r>
              <a:rPr lang="ja-JP" altLang="en-US" dirty="0"/>
              <a:t>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情報共有の難易度が異なる，新たなマルチタスクテスト問題を提案した．</a:t>
            </a:r>
            <a:endParaRPr kumimoji="1" lang="en-US" altLang="ja-JP" dirty="0" smtClean="0"/>
          </a:p>
          <a:p>
            <a:r>
              <a:rPr lang="ja-JP" altLang="en-US" dirty="0" smtClean="0"/>
              <a:t>提案</a:t>
            </a:r>
            <a:r>
              <a:rPr lang="ja-JP" altLang="en-US" dirty="0"/>
              <a:t>問題</a:t>
            </a:r>
            <a:r>
              <a:rPr lang="ja-JP" altLang="en-US" dirty="0" smtClean="0"/>
              <a:t>は，タスク間の最適解の類似度を調整可能である．</a:t>
            </a:r>
            <a:endParaRPr lang="en-US" altLang="ja-JP" dirty="0" smtClean="0"/>
          </a:p>
          <a:p>
            <a:r>
              <a:rPr kumimoji="1" lang="en-US" altLang="ja-JP" dirty="0" smtClean="0"/>
              <a:t>Scaling Knapsack </a:t>
            </a:r>
            <a:r>
              <a:rPr kumimoji="1" lang="ja-JP" altLang="en-US" dirty="0" smtClean="0"/>
              <a:t>問題は情報共有が難しい，</a:t>
            </a:r>
            <a:r>
              <a:rPr kumimoji="1" lang="en-US" altLang="ja-JP" dirty="0" smtClean="0"/>
              <a:t>Inversion Profit </a:t>
            </a:r>
            <a:r>
              <a:rPr kumimoji="1" lang="ja-JP" altLang="en-US" dirty="0" smtClean="0"/>
              <a:t>問題は情報共有が比較的容易な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問題であることを示した．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074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3604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 smtClean="0"/>
          </a:p>
          <a:p>
            <a:r>
              <a:rPr lang="ja-JP" altLang="en-US" dirty="0" smtClean="0"/>
              <a:t>アルゴリズムの性能は，</a:t>
            </a:r>
            <a:r>
              <a:rPr lang="en-US" altLang="ja-JP" dirty="0" smtClean="0"/>
              <a:t>(0.0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0.0)</a:t>
            </a:r>
            <a:r>
              <a:rPr lang="ja-JP" altLang="en-US" dirty="0" smtClean="0"/>
              <a:t>を参照点とする</a:t>
            </a:r>
            <a:r>
              <a:rPr lang="en-US" altLang="ja-JP" dirty="0" err="1" smtClean="0"/>
              <a:t>Hypervolume</a:t>
            </a:r>
            <a:r>
              <a:rPr lang="ja-JP" altLang="en-US" dirty="0" smtClean="0"/>
              <a:t>で評価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実験条件設定</a:t>
            </a:r>
            <a:endParaRPr kumimoji="1" lang="ja-JP" altLang="en-US" dirty="0"/>
          </a:p>
        </p:txBody>
      </p:sp>
      <p:grpSp>
        <p:nvGrpSpPr>
          <p:cNvPr id="8" name="グループ化 7"/>
          <p:cNvGrpSpPr/>
          <p:nvPr/>
        </p:nvGrpSpPr>
        <p:grpSpPr>
          <a:xfrm>
            <a:off x="228600" y="2073074"/>
            <a:ext cx="8915399" cy="3970318"/>
            <a:chOff x="228600" y="1536970"/>
            <a:chExt cx="8915399" cy="4024768"/>
          </a:xfrm>
        </p:grpSpPr>
        <p:sp>
          <p:nvSpPr>
            <p:cNvPr id="6" name="テキスト ボックス 5"/>
            <p:cNvSpPr txBox="1"/>
            <p:nvPr/>
          </p:nvSpPr>
          <p:spPr>
            <a:xfrm>
              <a:off x="228600" y="1536970"/>
              <a:ext cx="2558375" cy="402476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アイテム数：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交叉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突然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変異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操作：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個体群サイズ：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評価回数：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試行回数：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a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b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2611872" y="1536970"/>
              <a:ext cx="6532127" cy="358797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500</a:t>
              </a:r>
            </a:p>
            <a:p>
              <a:r>
                <a:rPr lang="en-US" altLang="ja-JP" sz="2800" dirty="0" smtClean="0"/>
                <a:t>Uniform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Crossover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0.9</a:t>
              </a:r>
              <a:r>
                <a:rPr lang="en-US" altLang="ja-JP" sz="2800" dirty="0"/>
                <a:t>)</a:t>
              </a:r>
            </a:p>
            <a:p>
              <a:r>
                <a:rPr lang="en-US" altLang="ja-JP" sz="2800" dirty="0" err="1" smtClean="0"/>
                <a:t>Bitflip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Mutation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1/(</a:t>
              </a:r>
              <a:r>
                <a:rPr lang="ja-JP" altLang="en-US" sz="2400" dirty="0" smtClean="0"/>
                <a:t>アイテム数</a:t>
              </a:r>
              <a:r>
                <a:rPr lang="en-US" altLang="ja-JP" sz="2800" dirty="0" smtClean="0"/>
                <a:t>))</a:t>
              </a:r>
              <a:endParaRPr lang="en-US" altLang="ja-JP" sz="2800" dirty="0"/>
            </a:p>
            <a:p>
              <a:r>
                <a:rPr lang="en-US" altLang="ja-JP" sz="2800" dirty="0" smtClean="0"/>
                <a:t>100 (</a:t>
              </a:r>
              <a:r>
                <a:rPr lang="ja-JP" altLang="en-US" sz="2800" dirty="0" smtClean="0"/>
                <a:t>各タスク</a:t>
              </a:r>
              <a:r>
                <a:rPr lang="en-US" altLang="ja-JP" sz="2800" dirty="0" smtClean="0"/>
                <a:t>)</a:t>
              </a:r>
            </a:p>
            <a:p>
              <a:r>
                <a:rPr lang="en-US" altLang="ja-JP" sz="2800" dirty="0" smtClean="0"/>
                <a:t>100,000</a:t>
              </a:r>
              <a:r>
                <a:rPr kumimoji="1"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31</a:t>
              </a:r>
              <a:r>
                <a:rPr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1.1</a:t>
              </a:r>
              <a:r>
                <a:rPr lang="ja-JP" altLang="en-US" sz="2400" dirty="0" smtClean="0"/>
                <a:t>倍</a:t>
              </a:r>
              <a:endParaRPr lang="en-US" altLang="ja-JP" sz="2400" dirty="0" smtClean="0"/>
            </a:p>
            <a:p>
              <a:r>
                <a:rPr lang="en-US" altLang="ja-JP" sz="2800" dirty="0" smtClean="0"/>
                <a:t>10 </a:t>
              </a:r>
              <a:r>
                <a:rPr lang="en-US" altLang="ja-JP" sz="2400" dirty="0" smtClean="0"/>
                <a:t>%</a:t>
              </a:r>
              <a:endParaRPr lang="en-US" altLang="ja-JP" sz="2400" dirty="0"/>
            </a:p>
          </p:txBody>
        </p:sp>
      </p:grpSp>
      <p:sp>
        <p:nvSpPr>
          <p:cNvPr id="9" name="テキスト ボックス 8"/>
          <p:cNvSpPr txBox="1"/>
          <p:nvPr/>
        </p:nvSpPr>
        <p:spPr>
          <a:xfrm>
            <a:off x="228600" y="1371600"/>
            <a:ext cx="266996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共通実験設定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610620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独立探索</a:t>
            </a:r>
            <a:r>
              <a:rPr lang="ja-JP" altLang="en-US" b="1" dirty="0">
                <a:solidFill>
                  <a:schemeClr val="accent1"/>
                </a:solidFill>
              </a:rPr>
              <a:t>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27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 Knapsack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59" name="グループ化 58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5" cy="3895542"/>
              <a:chOff x="470051" y="1971906"/>
              <a:chExt cx="4636325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5" cy="3517744"/>
                <a:chOff x="246344" y="2133819"/>
                <a:chExt cx="4636325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5" cy="3469840"/>
                  <a:chOff x="246344" y="2133819"/>
                  <a:chExt cx="4636325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5" cy="3469840"/>
                    <a:chOff x="246344" y="2133819"/>
                    <a:chExt cx="4636325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5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Hypaevolume</a:t>
              </a:r>
              <a:r>
                <a:rPr kumimoji="1" lang="ja-JP" altLang="en-US" sz="2400" dirty="0" smtClean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2046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lang="ja-JP" altLang="en-US" b="1" dirty="0" smtClean="0">
                <a:solidFill>
                  <a:schemeClr val="accent1"/>
                </a:solidFill>
              </a:rPr>
              <a:t>マルチタスク手法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28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Inversion</a:t>
            </a:r>
            <a:r>
              <a:rPr lang="ja-JP" altLang="en-US" dirty="0"/>
              <a:t> </a:t>
            </a:r>
            <a:r>
              <a:rPr lang="en-US" altLang="ja-JP" dirty="0" smtClean="0"/>
              <a:t>Profi</a:t>
            </a:r>
            <a:r>
              <a:rPr lang="en-US" altLang="ja-JP" dirty="0"/>
              <a:t>t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3" name="グループ化 2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Hypaevolume</a:t>
              </a:r>
              <a:r>
                <a:rPr kumimoji="1" lang="ja-JP" altLang="en-US" sz="2400" dirty="0" smtClean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39"/>
                  <a:chOff x="246344" y="2133819"/>
                  <a:chExt cx="4636324" cy="3469839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39"/>
                    <a:chOff x="246344" y="2133819"/>
                    <a:chExt cx="4636324" cy="3469839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3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2635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3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1BF3D9E7-0E3F-405E-A7C2-9287BF6F8045}" vid="{44580BCE-2164-458F-848B-E0E027AD84CB}"/>
    </a:ext>
  </a:extLst>
</a:theme>
</file>

<file path=ppt/theme/theme2.xml><?xml version="1.0" encoding="utf-8"?>
<a:theme xmlns:a="http://schemas.openxmlformats.org/drawingml/2006/main" name="Theme_lab_print">
  <a:themeElements>
    <a:clrScheme name="ユーザー定義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_print" id="{2F87EB5A-B1E3-47F6-875A-D57E4EAE0036}" vid="{95719935-9901-4FDD-8BC5-3E37A2EBB270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F53A37-5EBE-431E-ABB7-703102CA6FAC}">
  <we:reference id="wa104381063" version="1.0.0.1" store="ja-JP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1314</TotalTime>
  <Words>1070</Words>
  <Application>Microsoft Office PowerPoint</Application>
  <PresentationFormat>画面に合わせる (4:3)</PresentationFormat>
  <Paragraphs>305</Paragraphs>
  <Slides>29</Slides>
  <Notes>0</Notes>
  <HiddenSlides>5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29</vt:i4>
      </vt:variant>
    </vt:vector>
  </HeadingPairs>
  <TitlesOfParts>
    <vt:vector size="37" baseType="lpstr">
      <vt:lpstr>ＭＳ P ゴシック</vt:lpstr>
      <vt:lpstr>ＭＳ Ｐゴシック</vt:lpstr>
      <vt:lpstr>游ゴシック</vt:lpstr>
      <vt:lpstr>Arial</vt:lpstr>
      <vt:lpstr>Symbol</vt:lpstr>
      <vt:lpstr>Times New Roman</vt:lpstr>
      <vt:lpstr>Theme_Lab</vt:lpstr>
      <vt:lpstr>Theme_lab_print</vt:lpstr>
      <vt:lpstr>多目的マルチタスク ナップサック問題の提案</vt:lpstr>
      <vt:lpstr>マルチタスク最適化とは</vt:lpstr>
      <vt:lpstr>マルチタスクの特徴</vt:lpstr>
      <vt:lpstr>本研究の目的</vt:lpstr>
      <vt:lpstr>提案するテスト問題</vt:lpstr>
      <vt:lpstr>多目的ナップサック問題</vt:lpstr>
      <vt:lpstr>提案するテスト問題</vt:lpstr>
      <vt:lpstr>提案するテスト問題</vt:lpstr>
      <vt:lpstr>提案するテスト問題</vt:lpstr>
      <vt:lpstr>提案するテスト問題</vt:lpstr>
      <vt:lpstr>タスク間の関係性の調査</vt:lpstr>
      <vt:lpstr>タスク間の関係性の調査</vt:lpstr>
      <vt:lpstr>タスク間の関係性の調査</vt:lpstr>
      <vt:lpstr>最適解の類似性調査</vt:lpstr>
      <vt:lpstr>最適解の類似性調査</vt:lpstr>
      <vt:lpstr>最適解の類似性調査</vt:lpstr>
      <vt:lpstr>情報共有の影響調査</vt:lpstr>
      <vt:lpstr>情報共有の影響調査</vt:lpstr>
      <vt:lpstr>情報共有の影響調査</vt:lpstr>
      <vt:lpstr>情報共有の影響調査</vt:lpstr>
      <vt:lpstr>情報共有の影響調査</vt:lpstr>
      <vt:lpstr>情報共有の影響調査</vt:lpstr>
      <vt:lpstr>情報共有の影響調査</vt:lpstr>
      <vt:lpstr>情報共有の影響調査</vt:lpstr>
      <vt:lpstr>まとめ</vt:lpstr>
      <vt:lpstr>PowerPoint プレゼンテーション</vt:lpstr>
      <vt:lpstr>数値実験</vt:lpstr>
      <vt:lpstr>実験結果</vt:lpstr>
      <vt:lpstr>実験結果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100</cp:revision>
  <cp:lastPrinted>2020-02-14T07:01:49Z</cp:lastPrinted>
  <dcterms:created xsi:type="dcterms:W3CDTF">2020-02-09T12:48:10Z</dcterms:created>
  <dcterms:modified xsi:type="dcterms:W3CDTF">2020-02-14T07:04:15Z</dcterms:modified>
</cp:coreProperties>
</file>