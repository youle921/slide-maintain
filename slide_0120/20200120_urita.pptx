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sldIdLst>
    <p:sldId id="256" r:id="rId2"/>
    <p:sldId id="262" r:id="rId3"/>
    <p:sldId id="259" r:id="rId4"/>
    <p:sldId id="263" r:id="rId5"/>
    <p:sldId id="258" r:id="rId6"/>
    <p:sldId id="264" r:id="rId7"/>
    <p:sldId id="261" r:id="rId8"/>
    <p:sldId id="257" r:id="rId9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7" y="-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163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kumimoji="1" lang="ja-JP" altLang="en-US" dirty="0" smtClean="0"/>
              <a:t>論文情報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28600" y="1323977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23977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</p:spTree>
    <p:extLst>
      <p:ext uri="{BB962C8B-B14F-4D97-AF65-F5344CB8AC3E}">
        <p14:creationId xmlns:p14="http://schemas.microsoft.com/office/powerpoint/2010/main" val="3941812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6694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8042690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55071551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025294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877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932991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68950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4" r:id="rId2"/>
    <p:sldLayoutId id="2147483668" r:id="rId3"/>
    <p:sldLayoutId id="2147483669" r:id="rId4"/>
    <p:sldLayoutId id="2147483673" r:id="rId5"/>
    <p:sldLayoutId id="2147483670" r:id="rId6"/>
    <p:sldLayoutId id="2147483671" r:id="rId7"/>
    <p:sldLayoutId id="2147483672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多目的マルチタスク</a:t>
            </a:r>
            <a:r>
              <a:rPr lang="ja-JP" altLang="en-US" dirty="0" smtClean="0"/>
              <a:t>最適化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ナップサック</a:t>
            </a:r>
            <a:r>
              <a:rPr kumimoji="1" lang="ja-JP" altLang="en-US" dirty="0" smtClean="0"/>
              <a:t>問題の提案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 smtClean="0"/>
              <a:t>瓜田　俊貴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40880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タイトル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提案する問題</a:t>
            </a:r>
            <a:endParaRPr lang="ja-JP" altLang="en-US" dirty="0" smtClean="0"/>
          </a:p>
        </p:txBody>
      </p:sp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下記のパラメータを</a:t>
            </a:r>
            <a:r>
              <a:rPr lang="ja-JP" altLang="en-US" dirty="0" smtClean="0"/>
              <a:t>用いてナップサック</a:t>
            </a:r>
            <a:r>
              <a:rPr lang="ja-JP" altLang="en-US" dirty="0"/>
              <a:t>問題</a:t>
            </a:r>
            <a:r>
              <a:rPr lang="ja-JP" altLang="en-US" dirty="0" smtClean="0"/>
              <a:t>を作成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6147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fld id="{B3E09C8F-164A-4527-82A3-08940CF398CC}" type="slidenum">
              <a:rPr kumimoji="0" lang="en-US" altLang="ja-JP" smtClean="0">
                <a:solidFill>
                  <a:srgbClr val="FFFF00"/>
                </a:solidFill>
              </a:rPr>
              <a:pPr/>
              <a:t>2</a:t>
            </a:fld>
            <a:endParaRPr kumimoji="0" lang="en-US" altLang="ja-JP" smtClean="0">
              <a:solidFill>
                <a:srgbClr val="FFFF00"/>
              </a:solidFill>
            </a:endParaRPr>
          </a:p>
        </p:txBody>
      </p:sp>
      <p:sp>
        <p:nvSpPr>
          <p:cNvPr id="6149" name="テキスト ボックス 1"/>
          <p:cNvSpPr txBox="1">
            <a:spLocks noChangeArrowheads="1"/>
          </p:cNvSpPr>
          <p:nvPr/>
        </p:nvSpPr>
        <p:spPr bwMode="auto">
          <a:xfrm>
            <a:off x="342900" y="2036616"/>
            <a:ext cx="8275806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r>
              <a:rPr lang="ja-JP" altLang="en-US" sz="2800" dirty="0" smtClean="0"/>
              <a:t>重さ </a:t>
            </a:r>
            <a:r>
              <a:rPr lang="en-US" altLang="ja-JP" sz="2800" dirty="0" smtClean="0"/>
              <a:t>: </a:t>
            </a:r>
            <a:r>
              <a:rPr lang="en-US" altLang="ja-JP" sz="2800" dirty="0"/>
              <a:t>[10, 100]</a:t>
            </a:r>
            <a:r>
              <a:rPr lang="ja-JP" altLang="en-US" sz="2800" dirty="0" err="1"/>
              <a:t>の整</a:t>
            </a:r>
            <a:r>
              <a:rPr lang="ja-JP" altLang="en-US" sz="2800" dirty="0"/>
              <a:t>数値</a:t>
            </a:r>
            <a:endParaRPr lang="en-US" altLang="ja-JP" sz="2800" dirty="0"/>
          </a:p>
          <a:p>
            <a:r>
              <a:rPr lang="ja-JP" altLang="en-US" sz="2800" dirty="0" smtClean="0"/>
              <a:t>価値 </a:t>
            </a:r>
            <a:r>
              <a:rPr lang="en-US" altLang="ja-JP" sz="2800" dirty="0" smtClean="0"/>
              <a:t>:  </a:t>
            </a:r>
            <a:r>
              <a:rPr lang="en-US" altLang="ja-JP" sz="2800" dirty="0"/>
              <a:t>[10, 100]</a:t>
            </a:r>
            <a:r>
              <a:rPr lang="ja-JP" altLang="en-US" sz="2800" dirty="0" err="1"/>
              <a:t>の整</a:t>
            </a:r>
            <a:r>
              <a:rPr lang="ja-JP" altLang="en-US" sz="2800" dirty="0"/>
              <a:t>数値</a:t>
            </a:r>
            <a:endParaRPr lang="en-US" altLang="ja-JP" sz="2800" dirty="0"/>
          </a:p>
          <a:p>
            <a:r>
              <a:rPr lang="ja-JP" altLang="en-US" sz="2800" dirty="0"/>
              <a:t>ナップサック許容量</a:t>
            </a:r>
            <a:r>
              <a:rPr lang="en-US" altLang="ja-JP" sz="2800" dirty="0">
                <a:sym typeface="Wingdings" panose="05000000000000000000" pitchFamily="2" charset="2"/>
              </a:rPr>
              <a:t>: (</a:t>
            </a:r>
            <a:r>
              <a:rPr lang="ja-JP" altLang="en-US" sz="2800" dirty="0">
                <a:sym typeface="Wingdings" panose="05000000000000000000" pitchFamily="2" charset="2"/>
              </a:rPr>
              <a:t>アイテムの総重量</a:t>
            </a:r>
            <a:r>
              <a:rPr lang="en-US" altLang="ja-JP" sz="2800" dirty="0">
                <a:sym typeface="Wingdings" panose="05000000000000000000" pitchFamily="2" charset="2"/>
              </a:rPr>
              <a:t>)/</a:t>
            </a:r>
            <a:r>
              <a:rPr lang="en-US" altLang="ja-JP" sz="2800" dirty="0" smtClean="0">
                <a:sym typeface="Wingdings" panose="05000000000000000000" pitchFamily="2" charset="2"/>
              </a:rPr>
              <a:t>2 ×</a:t>
            </a:r>
            <a:r>
              <a:rPr lang="en-US" altLang="ja-JP" sz="2800" i="1" dirty="0" smtClean="0">
                <a:solidFill>
                  <a:srgbClr val="FF0000"/>
                </a:solidFill>
                <a:latin typeface="Symbol" panose="05050102010706020507" pitchFamily="18" charset="2"/>
                <a:sym typeface="Wingdings" panose="05000000000000000000" pitchFamily="2" charset="2"/>
              </a:rPr>
              <a:t>a</a:t>
            </a:r>
            <a:endParaRPr lang="en-US" altLang="ja-JP" sz="2800" i="1" dirty="0">
              <a:solidFill>
                <a:srgbClr val="FF0000"/>
              </a:solidFill>
              <a:latin typeface="Symbol" panose="05050102010706020507" pitchFamily="18" charset="2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5924676" y="3409358"/>
            <a:ext cx="2990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ja-JP" sz="2400" i="1" dirty="0" smtClean="0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sz="2400" dirty="0" smtClean="0"/>
              <a:t>: </a:t>
            </a:r>
            <a:r>
              <a:rPr kumimoji="1" lang="ja-JP" altLang="en-US" sz="2400" dirty="0" smtClean="0"/>
              <a:t>縮小率</a:t>
            </a:r>
            <a:r>
              <a:rPr kumimoji="1" lang="en-US" altLang="ja-JP" sz="2400" dirty="0" smtClean="0"/>
              <a:t>(0.0, 2.0)</a:t>
            </a:r>
            <a:endParaRPr kumimoji="1" lang="ja-JP" alt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133759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予備実験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異なる縮小率において，</a:t>
            </a:r>
            <a:r>
              <a:rPr kumimoji="1" lang="en-US" altLang="ja-JP" dirty="0" smtClean="0"/>
              <a:t>(</a:t>
            </a:r>
            <a:r>
              <a:rPr kumimoji="1" lang="ja-JP" altLang="en-US" dirty="0" smtClean="0"/>
              <a:t>独立</a:t>
            </a:r>
            <a:r>
              <a:rPr kumimoji="1" lang="en-US" altLang="ja-JP" dirty="0" smtClean="0"/>
              <a:t>)</a:t>
            </a:r>
            <a:r>
              <a:rPr kumimoji="1" lang="ja-JP" altLang="en-US" dirty="0" smtClean="0"/>
              <a:t>探索中の個体が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どのように異なるか調査</a:t>
            </a:r>
            <a:r>
              <a:rPr lang="ja-JP" altLang="en-US" dirty="0" smtClean="0"/>
              <a:t>する．</a:t>
            </a:r>
            <a:endParaRPr kumimoji="1" lang="en-US" altLang="ja-JP" dirty="0" smtClean="0"/>
          </a:p>
          <a:p>
            <a:pPr algn="l"/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sz="2800" b="1" dirty="0" smtClean="0">
                <a:solidFill>
                  <a:schemeClr val="accent2"/>
                </a:solidFill>
              </a:rPr>
              <a:t>目的数</a:t>
            </a:r>
            <a:r>
              <a:rPr lang="ja-JP" altLang="en-US" sz="2800" b="1" dirty="0" smtClean="0">
                <a:solidFill>
                  <a:schemeClr val="accent2"/>
                </a:solidFill>
              </a:rPr>
              <a:t>： </a:t>
            </a:r>
            <a:r>
              <a:rPr lang="en-US" altLang="ja-JP" sz="2800" dirty="0" smtClean="0"/>
              <a:t>2</a:t>
            </a:r>
            <a:r>
              <a:rPr lang="en-US" altLang="ja-JP" sz="2800" dirty="0" smtClean="0"/>
              <a:t/>
            </a:r>
            <a:br>
              <a:rPr lang="en-US" altLang="ja-JP" sz="2800" dirty="0" smtClean="0"/>
            </a:br>
            <a:r>
              <a:rPr lang="ja-JP" altLang="en-US" sz="2800" b="1" dirty="0" smtClean="0">
                <a:solidFill>
                  <a:schemeClr val="accent2"/>
                </a:solidFill>
              </a:rPr>
              <a:t>アイテム数</a:t>
            </a:r>
            <a:r>
              <a:rPr lang="ja-JP" altLang="en-US" sz="2800" b="1" dirty="0" smtClean="0">
                <a:solidFill>
                  <a:schemeClr val="accent2"/>
                </a:solidFill>
              </a:rPr>
              <a:t>： </a:t>
            </a:r>
            <a:r>
              <a:rPr lang="en-US" altLang="ja-JP" sz="2800" dirty="0" smtClean="0"/>
              <a:t>500</a:t>
            </a:r>
            <a:r>
              <a:rPr lang="en-US" altLang="ja-JP" sz="2800" dirty="0" smtClean="0"/>
              <a:t/>
            </a:r>
            <a:br>
              <a:rPr lang="en-US" altLang="ja-JP" sz="2800" dirty="0" smtClean="0"/>
            </a:br>
            <a:r>
              <a:rPr lang="ja-JP" altLang="en-US" sz="2800" b="1" dirty="0" smtClean="0">
                <a:solidFill>
                  <a:schemeClr val="accent2"/>
                </a:solidFill>
              </a:rPr>
              <a:t>縮小率</a:t>
            </a:r>
            <a:r>
              <a:rPr lang="ja-JP" altLang="en-US" sz="2800" b="1" dirty="0" smtClean="0">
                <a:solidFill>
                  <a:schemeClr val="accent2"/>
                </a:solidFill>
              </a:rPr>
              <a:t>： </a:t>
            </a:r>
            <a:r>
              <a:rPr lang="en-US" altLang="ja-JP" sz="2800" dirty="0" smtClean="0"/>
              <a:t>[</a:t>
            </a:r>
            <a:r>
              <a:rPr lang="en-US" altLang="ja-JP" sz="2800" dirty="0" smtClean="0"/>
              <a:t>0.6, 0.8, 1.0, 1.2, 1.4]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修復操作は，</a:t>
            </a:r>
            <a:r>
              <a:rPr lang="en-US" altLang="ja-JP" dirty="0" smtClean="0"/>
              <a:t>Greedy</a:t>
            </a:r>
            <a:r>
              <a:rPr lang="ja-JP" altLang="en-US" dirty="0" smtClean="0"/>
              <a:t> </a:t>
            </a:r>
            <a:r>
              <a:rPr lang="en-US" altLang="ja-JP" dirty="0" smtClean="0"/>
              <a:t>Repair</a:t>
            </a:r>
            <a:r>
              <a:rPr lang="ja-JP" altLang="en-US" dirty="0" smtClean="0"/>
              <a:t>を使用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2771339"/>
            <a:ext cx="1899138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実験設定</a:t>
            </a:r>
          </a:p>
        </p:txBody>
      </p:sp>
    </p:spTree>
    <p:extLst>
      <p:ext uri="{BB962C8B-B14F-4D97-AF65-F5344CB8AC3E}">
        <p14:creationId xmlns:p14="http://schemas.microsoft.com/office/powerpoint/2010/main" val="2911259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予備実験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異なる縮小率において，</a:t>
            </a:r>
            <a:r>
              <a:rPr kumimoji="1" lang="en-US" altLang="ja-JP" dirty="0" smtClean="0"/>
              <a:t>(</a:t>
            </a:r>
            <a:r>
              <a:rPr kumimoji="1" lang="ja-JP" altLang="en-US" dirty="0" smtClean="0"/>
              <a:t>独立</a:t>
            </a:r>
            <a:r>
              <a:rPr kumimoji="1" lang="en-US" altLang="ja-JP" dirty="0" smtClean="0"/>
              <a:t>)</a:t>
            </a:r>
            <a:r>
              <a:rPr kumimoji="1" lang="ja-JP" altLang="en-US" dirty="0" smtClean="0"/>
              <a:t>探索中の個体が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どのように異なるか調査</a:t>
            </a:r>
            <a:endParaRPr kumimoji="1" lang="en-US" altLang="ja-JP" dirty="0" smtClean="0"/>
          </a:p>
          <a:p>
            <a:pPr algn="l"/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sz="2800" b="1" dirty="0" smtClean="0">
                <a:solidFill>
                  <a:schemeClr val="accent2"/>
                </a:solidFill>
              </a:rPr>
              <a:t>EMO</a:t>
            </a:r>
            <a:r>
              <a:rPr lang="en-US" altLang="ja-JP" sz="2800" b="1" dirty="0">
                <a:solidFill>
                  <a:schemeClr val="accent2"/>
                </a:solidFill>
              </a:rPr>
              <a:t>A</a:t>
            </a:r>
            <a:r>
              <a:rPr lang="ja-JP" altLang="en-US" sz="2800" b="1" dirty="0" smtClean="0">
                <a:solidFill>
                  <a:schemeClr val="accent2"/>
                </a:solidFill>
              </a:rPr>
              <a:t>： </a:t>
            </a:r>
            <a:r>
              <a:rPr lang="en-US" altLang="ja-JP" sz="2800" dirty="0" smtClean="0"/>
              <a:t>MOEA/D</a:t>
            </a:r>
            <a:r>
              <a:rPr lang="en-US" altLang="ja-JP" sz="2800" dirty="0" smtClean="0"/>
              <a:t/>
            </a:r>
            <a:br>
              <a:rPr lang="en-US" altLang="ja-JP" sz="2800" dirty="0" smtClean="0"/>
            </a:br>
            <a:r>
              <a:rPr lang="ja-JP" altLang="en-US" sz="2800" b="1" dirty="0" smtClean="0">
                <a:solidFill>
                  <a:schemeClr val="accent2"/>
                </a:solidFill>
              </a:rPr>
              <a:t>スカラー化</a:t>
            </a:r>
            <a:r>
              <a:rPr lang="ja-JP" altLang="en-US" sz="2800" b="1" dirty="0">
                <a:solidFill>
                  <a:schemeClr val="accent2"/>
                </a:solidFill>
              </a:rPr>
              <a:t>関数</a:t>
            </a:r>
            <a:r>
              <a:rPr lang="ja-JP" altLang="en-US" sz="2800" b="1" dirty="0" smtClean="0">
                <a:solidFill>
                  <a:schemeClr val="accent2"/>
                </a:solidFill>
              </a:rPr>
              <a:t>： </a:t>
            </a:r>
            <a:r>
              <a:rPr lang="en-US" altLang="ja-JP" sz="2800" dirty="0" err="1" smtClean="0"/>
              <a:t>Tchebycheff</a:t>
            </a:r>
            <a:r>
              <a:rPr lang="ja-JP" altLang="en-US" sz="2800" dirty="0" smtClean="0"/>
              <a:t>関数</a:t>
            </a:r>
            <a:r>
              <a:rPr lang="en-US" altLang="ja-JP" sz="2800" dirty="0" smtClean="0"/>
              <a:t/>
            </a:r>
            <a:br>
              <a:rPr lang="en-US" altLang="ja-JP" sz="2800" dirty="0" smtClean="0"/>
            </a:br>
            <a:r>
              <a:rPr lang="ja-JP" altLang="en-US" sz="2800" b="1" dirty="0">
                <a:solidFill>
                  <a:schemeClr val="accent2"/>
                </a:solidFill>
              </a:rPr>
              <a:t>個体数</a:t>
            </a:r>
            <a:r>
              <a:rPr lang="ja-JP" altLang="en-US" sz="2800" b="1" dirty="0" smtClean="0">
                <a:solidFill>
                  <a:schemeClr val="accent2"/>
                </a:solidFill>
              </a:rPr>
              <a:t>： </a:t>
            </a:r>
            <a:r>
              <a:rPr lang="en-US" altLang="ja-JP" sz="2800" dirty="0" smtClean="0"/>
              <a:t>200</a:t>
            </a:r>
            <a:r>
              <a:rPr lang="en-US" altLang="ja-JP" sz="2800" dirty="0" smtClean="0"/>
              <a:t/>
            </a:r>
            <a:br>
              <a:rPr lang="en-US" altLang="ja-JP" sz="2800" dirty="0" smtClean="0"/>
            </a:br>
            <a:r>
              <a:rPr lang="ja-JP" altLang="en-US" sz="2800" b="1" dirty="0" smtClean="0">
                <a:solidFill>
                  <a:schemeClr val="accent2"/>
                </a:solidFill>
              </a:rPr>
              <a:t>近傍サイズ： </a:t>
            </a:r>
            <a:r>
              <a:rPr lang="ja-JP" altLang="en-US" sz="2800" dirty="0" smtClean="0"/>
              <a:t>個体数</a:t>
            </a:r>
            <a:r>
              <a:rPr lang="en-US" altLang="ja-JP" sz="2800" dirty="0" smtClean="0"/>
              <a:t>/10</a:t>
            </a:r>
            <a:r>
              <a:rPr lang="en-US" altLang="ja-JP" sz="2800" dirty="0" smtClean="0"/>
              <a:t/>
            </a:r>
            <a:br>
              <a:rPr lang="en-US" altLang="ja-JP" sz="2800" dirty="0" smtClean="0"/>
            </a:br>
            <a:r>
              <a:rPr lang="ja-JP" altLang="en-US" sz="2800" b="1" dirty="0" smtClean="0">
                <a:solidFill>
                  <a:schemeClr val="accent2"/>
                </a:solidFill>
              </a:rPr>
              <a:t>評価回数： </a:t>
            </a:r>
            <a:r>
              <a:rPr lang="en-US" altLang="ja-JP" sz="2800" dirty="0" smtClean="0"/>
              <a:t>100,000</a:t>
            </a:r>
            <a:r>
              <a:rPr lang="ja-JP" altLang="en-US" sz="2800" dirty="0" smtClean="0"/>
              <a:t>回</a:t>
            </a:r>
            <a:endParaRPr lang="en-US" altLang="ja-JP" sz="2800" dirty="0" smtClean="0"/>
          </a:p>
          <a:p>
            <a:pPr algn="l"/>
            <a:r>
              <a:rPr lang="ja-JP" altLang="en-US" sz="2800" dirty="0"/>
              <a:t>個体群間の距離は，</a:t>
            </a:r>
            <a:r>
              <a:rPr lang="en-US" altLang="ja-JP" sz="2800" dirty="0"/>
              <a:t>IGD</a:t>
            </a:r>
            <a:r>
              <a:rPr lang="ja-JP" altLang="en-US" sz="2800" dirty="0"/>
              <a:t>と同様</a:t>
            </a:r>
            <a:r>
              <a:rPr lang="ja-JP" altLang="en-US" sz="2800" dirty="0" smtClean="0"/>
              <a:t>の手法で計算</a:t>
            </a:r>
            <a:endParaRPr lang="en-US" altLang="ja-JP" sz="2800" dirty="0" smtClean="0"/>
          </a:p>
          <a:p>
            <a:pPr algn="l"/>
            <a:r>
              <a:rPr lang="en-US" altLang="ja-JP" sz="2800" dirty="0" err="1" smtClean="0">
                <a:cs typeface="Times New Roman" panose="02020603050405020304" pitchFamily="18" charset="0"/>
              </a:rPr>
              <a:t>dist</a:t>
            </a:r>
            <a:r>
              <a:rPr lang="en-US" altLang="ja-JP" sz="2800" dirty="0" smtClean="0"/>
              <a:t>(</a:t>
            </a:r>
            <a:r>
              <a:rPr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800" dirty="0" smtClean="0"/>
              <a:t>, </a:t>
            </a:r>
            <a:r>
              <a:rPr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ja-JP" sz="2800" dirty="0" smtClean="0"/>
              <a:t>): </a:t>
            </a:r>
            <a:r>
              <a:rPr lang="en-US" altLang="ja-JP" sz="2800" i="1" dirty="0" smtClean="0">
                <a:latin typeface="Symbol" panose="05050102010706020507" pitchFamily="18" charset="2"/>
              </a:rPr>
              <a:t>a</a:t>
            </a:r>
            <a:r>
              <a:rPr lang="en-US" altLang="ja-JP" sz="2800" dirty="0" smtClean="0"/>
              <a:t> = </a:t>
            </a:r>
            <a:r>
              <a:rPr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ja-JP" altLang="en-US" sz="2800" dirty="0" smtClean="0"/>
              <a:t>の個体群を基準とした</a:t>
            </a:r>
            <a:r>
              <a:rPr lang="en-US" altLang="ja-JP" sz="2800" i="1" dirty="0" smtClean="0">
                <a:latin typeface="Symbol" panose="05050102010706020507" pitchFamily="18" charset="2"/>
              </a:rPr>
              <a:t>a</a:t>
            </a:r>
            <a:r>
              <a:rPr lang="en-US" altLang="ja-JP" sz="2800" dirty="0" smtClean="0"/>
              <a:t> = </a:t>
            </a:r>
            <a:r>
              <a:rPr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ja-JP" altLang="en-US" sz="2800" dirty="0" smtClean="0"/>
              <a:t>との距離</a:t>
            </a:r>
            <a:endParaRPr lang="en-US" altLang="ja-JP" sz="2800" dirty="0"/>
          </a:p>
          <a:p>
            <a:pPr algn="l"/>
            <a:endParaRPr lang="en-US" altLang="ja-JP" sz="28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599" y="2771339"/>
            <a:ext cx="3234447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アルゴリズム</a:t>
            </a:r>
            <a:r>
              <a:rPr kumimoji="1" lang="ja-JP" altLang="en-US" sz="3200" dirty="0" smtClean="0"/>
              <a:t>設定</a:t>
            </a:r>
            <a:endParaRPr kumimoji="1" lang="ja-JP" alt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1188295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予備</a:t>
            </a:r>
            <a:r>
              <a:rPr lang="ja-JP" altLang="en-US" dirty="0"/>
              <a:t>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  <p:pic>
        <p:nvPicPr>
          <p:cNvPr id="12" name="図 11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525" y="2023897"/>
            <a:ext cx="6002949" cy="4359506"/>
          </a:xfrm>
          <a:prstGeom prst="rect">
            <a:avLst/>
          </a:prstGeom>
        </p:spPr>
      </p:pic>
      <p:sp>
        <p:nvSpPr>
          <p:cNvPr id="18" name="テキスト ボックス 17"/>
          <p:cNvSpPr txBox="1"/>
          <p:nvPr/>
        </p:nvSpPr>
        <p:spPr>
          <a:xfrm>
            <a:off x="3834678" y="6237469"/>
            <a:ext cx="1474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世</a:t>
            </a:r>
            <a:r>
              <a:rPr lang="ja-JP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代</a:t>
            </a:r>
            <a:r>
              <a:rPr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</a:t>
            </a:r>
            <a:endParaRPr kumimoji="1" lang="ja-JP" altLang="en-US" sz="2400" dirty="0" smtClean="0"/>
          </a:p>
        </p:txBody>
      </p:sp>
      <p:sp>
        <p:nvSpPr>
          <p:cNvPr id="19" name="テキスト ボックス 18"/>
          <p:cNvSpPr txBox="1"/>
          <p:nvPr/>
        </p:nvSpPr>
        <p:spPr>
          <a:xfrm rot="16200000">
            <a:off x="-281205" y="3972818"/>
            <a:ext cx="2995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 smtClean="0"/>
              <a:t>個体群間の距離</a:t>
            </a:r>
            <a:endParaRPr kumimoji="1" lang="ja-JP" alt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036826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予備</a:t>
            </a:r>
            <a:r>
              <a:rPr lang="ja-JP" altLang="en-US" dirty="0"/>
              <a:t>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乱数を変更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  <p:pic>
        <p:nvPicPr>
          <p:cNvPr id="12" name="図 11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525" y="2023897"/>
            <a:ext cx="6002949" cy="4359505"/>
          </a:xfrm>
          <a:prstGeom prst="rect">
            <a:avLst/>
          </a:prstGeom>
        </p:spPr>
      </p:pic>
      <p:sp>
        <p:nvSpPr>
          <p:cNvPr id="18" name="テキスト ボックス 17"/>
          <p:cNvSpPr txBox="1"/>
          <p:nvPr/>
        </p:nvSpPr>
        <p:spPr>
          <a:xfrm>
            <a:off x="3834678" y="6237469"/>
            <a:ext cx="1474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世</a:t>
            </a:r>
            <a:r>
              <a:rPr lang="ja-JP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代</a:t>
            </a:r>
            <a:r>
              <a:rPr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</a:t>
            </a:r>
            <a:endParaRPr kumimoji="1" lang="ja-JP" altLang="en-US" sz="2400" dirty="0" smtClean="0"/>
          </a:p>
        </p:txBody>
      </p:sp>
      <p:sp>
        <p:nvSpPr>
          <p:cNvPr id="19" name="テキスト ボックス 18"/>
          <p:cNvSpPr txBox="1"/>
          <p:nvPr/>
        </p:nvSpPr>
        <p:spPr>
          <a:xfrm rot="16200000">
            <a:off x="-281205" y="3972818"/>
            <a:ext cx="2995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 smtClean="0"/>
              <a:t>個体群間の距離</a:t>
            </a:r>
            <a:endParaRPr kumimoji="1" lang="ja-JP" alt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677288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4294967295"/>
          </p:nvPr>
        </p:nvSpPr>
        <p:spPr>
          <a:xfrm>
            <a:off x="7010400" y="333375"/>
            <a:ext cx="2133600" cy="476250"/>
          </a:xfrm>
          <a:prstGeom prst="rect">
            <a:avLst/>
          </a:prstGeom>
        </p:spPr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83606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</a:t>
            </a:r>
            <a:r>
              <a:rPr lang="ja-JP" altLang="en-US" dirty="0" smtClean="0"/>
              <a:t>する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アイテム集合には</a:t>
            </a:r>
            <a:r>
              <a:rPr lang="ja-JP" altLang="en-US" dirty="0"/>
              <a:t>変化</a:t>
            </a:r>
            <a:r>
              <a:rPr lang="ja-JP" altLang="en-US" dirty="0" smtClean="0"/>
              <a:t>を加えず，制約のみを変化させたタスクを作成する</a:t>
            </a:r>
            <a:endParaRPr kumimoji="1" lang="ja-JP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テキスト ボックス 1"/>
              <p:cNvSpPr txBox="1"/>
              <p:nvPr/>
            </p:nvSpPr>
            <p:spPr>
              <a:xfrm>
                <a:off x="3267129" y="2560320"/>
                <a:ext cx="2113271" cy="12547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 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n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w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ij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xi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&lt;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j</m:t>
                          </m:r>
                        </m:e>
                      </m:nary>
                    </m:oMath>
                  </m:oMathPara>
                </a14:m>
                <a:endParaRPr kumimoji="1" lang="ja-JP" altLang="en-US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テキスト ボックス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129" y="2560320"/>
                <a:ext cx="2113271" cy="12547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テキスト ボックス 9"/>
              <p:cNvSpPr txBox="1"/>
              <p:nvPr/>
            </p:nvSpPr>
            <p:spPr>
              <a:xfrm>
                <a:off x="3101218" y="4719930"/>
                <a:ext cx="2445093" cy="12547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 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n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w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ij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xi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&lt;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solidFill>
                                <a:srgbClr val="FF0000"/>
                              </a:solidFill>
                              <a:latin typeface="Symbol" panose="05050102010706020507" pitchFamily="18" charset="2"/>
                              <a:cs typeface="Times New Roman" panose="02020603050405020304" pitchFamily="18" charset="0"/>
                            </a:rPr>
                            <m:t>a</m:t>
                          </m:r>
                          <m:r>
                            <a:rPr kumimoji="1" lang="en-US" altLang="ja-JP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j</m:t>
                          </m:r>
                        </m:e>
                      </m:nary>
                    </m:oMath>
                  </m:oMathPara>
                </a14:m>
                <a:endParaRPr kumimoji="1" lang="ja-JP" altLang="en-US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テキスト ボックス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1218" y="4719930"/>
                <a:ext cx="2445093" cy="12547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グループ化 4"/>
          <p:cNvGrpSpPr/>
          <p:nvPr/>
        </p:nvGrpSpPr>
        <p:grpSpPr>
          <a:xfrm>
            <a:off x="5896540" y="4408155"/>
            <a:ext cx="3131401" cy="2126740"/>
            <a:chOff x="6752494" y="5188013"/>
            <a:chExt cx="3131401" cy="1154036"/>
          </a:xfrm>
        </p:grpSpPr>
        <p:sp>
          <p:nvSpPr>
            <p:cNvPr id="3" name="テキスト ボックス 2"/>
            <p:cNvSpPr txBox="1"/>
            <p:nvPr/>
          </p:nvSpPr>
          <p:spPr>
            <a:xfrm>
              <a:off x="6752494" y="5188013"/>
              <a:ext cx="2990724" cy="4509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r>
                <a:rPr kumimoji="1" lang="en-US" altLang="ja-JP" sz="2400" i="1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ij</a:t>
              </a:r>
              <a:r>
                <a:rPr lang="ja-JP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ja-JP" sz="2400" dirty="0" smtClean="0"/>
                <a:t>: </a:t>
              </a:r>
              <a:r>
                <a:rPr kumimoji="1" lang="ja-JP" altLang="en-US" sz="2400" dirty="0" smtClean="0"/>
                <a:t>タスク</a:t>
              </a:r>
              <a:r>
                <a:rPr kumimoji="1"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kumimoji="1" lang="ja-JP" altLang="en-US" sz="2400" dirty="0" smtClean="0"/>
                <a:t>における</a:t>
              </a:r>
              <a:endParaRPr lang="en-US" altLang="ja-JP" sz="2400" dirty="0"/>
            </a:p>
            <a:p>
              <a:pPr indent="536575"/>
              <a:r>
                <a:rPr kumimoji="1" lang="ja-JP" altLang="en-US" sz="2400" dirty="0" smtClean="0"/>
                <a:t>アイテム</a:t>
              </a:r>
              <a:r>
                <a:rPr kumimoji="1"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1" lang="ja-JP" altLang="en-US" sz="2400" dirty="0" smtClean="0"/>
                <a:t>の重み</a:t>
              </a:r>
            </a:p>
          </p:txBody>
        </p:sp>
        <p:sp>
          <p:nvSpPr>
            <p:cNvPr id="9" name="テキスト ボックス 8"/>
            <p:cNvSpPr txBox="1"/>
            <p:nvPr/>
          </p:nvSpPr>
          <p:spPr>
            <a:xfrm>
              <a:off x="6752494" y="5639774"/>
              <a:ext cx="3131401" cy="4509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kumimoji="1" lang="en-US" altLang="ja-JP" sz="2400" i="1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ja-JP" alt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ja-JP" sz="2400" dirty="0" smtClean="0"/>
                <a:t>: </a:t>
              </a:r>
              <a:r>
                <a:rPr kumimoji="1" lang="ja-JP" altLang="en-US" sz="2400" dirty="0" smtClean="0"/>
                <a:t>タスク</a:t>
              </a:r>
              <a:r>
                <a:rPr kumimoji="1"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kumimoji="1" lang="ja-JP" alt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における</a:t>
              </a:r>
              <a:endPara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indent="450850"/>
              <a:r>
                <a:rPr kumimoji="1" lang="ja-JP" altLang="en-US" sz="2400" dirty="0" smtClean="0"/>
                <a:t>ナップサックの容量</a:t>
              </a:r>
            </a:p>
          </p:txBody>
        </p:sp>
        <p:sp>
          <p:nvSpPr>
            <p:cNvPr id="11" name="テキスト ボックス 10"/>
            <p:cNvSpPr txBox="1"/>
            <p:nvPr/>
          </p:nvSpPr>
          <p:spPr>
            <a:xfrm>
              <a:off x="6752494" y="6091535"/>
              <a:ext cx="2990724" cy="2505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 smtClean="0">
                  <a:latin typeface="Symbol" panose="05050102010706020507" pitchFamily="18" charset="2"/>
                  <a:cs typeface="Times New Roman" panose="02020603050405020304" pitchFamily="18" charset="0"/>
                </a:rPr>
                <a:t>a</a:t>
              </a:r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ja-JP" sz="2400" dirty="0" smtClean="0"/>
                <a:t>: </a:t>
              </a:r>
              <a:r>
                <a:rPr kumimoji="1" lang="ja-JP" altLang="en-US" sz="2400" dirty="0" smtClean="0"/>
                <a:t>縮小率</a:t>
              </a:r>
              <a:r>
                <a:rPr kumimoji="1" lang="en-US" altLang="ja-JP" sz="2400" dirty="0" smtClean="0"/>
                <a:t>(0.0, 2.0)</a:t>
              </a:r>
              <a:endParaRPr kumimoji="1" lang="ja-JP" altLang="en-US" sz="2400" dirty="0" smtClean="0"/>
            </a:p>
          </p:txBody>
        </p:sp>
      </p:grpSp>
      <p:sp>
        <p:nvSpPr>
          <p:cNvPr id="4" name="下矢印 3"/>
          <p:cNvSpPr/>
          <p:nvPr/>
        </p:nvSpPr>
        <p:spPr>
          <a:xfrm>
            <a:off x="4112749" y="4046332"/>
            <a:ext cx="422031" cy="695511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2207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240EDE69-6004-490A-8851-241177012245}" vid="{3655978B-9A6C-48D2-A3CA-A8F52A96FD4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259</TotalTime>
  <Words>159</Words>
  <Application>Microsoft Office PowerPoint</Application>
  <PresentationFormat>画面に合わせる (4:3)</PresentationFormat>
  <Paragraphs>40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6" baseType="lpstr">
      <vt:lpstr>ＭＳ P ゴシック</vt:lpstr>
      <vt:lpstr>ＭＳ Ｐゴシック</vt:lpstr>
      <vt:lpstr>Arial</vt:lpstr>
      <vt:lpstr>Cambria Math</vt:lpstr>
      <vt:lpstr>Symbol</vt:lpstr>
      <vt:lpstr>Times New Roman</vt:lpstr>
      <vt:lpstr>Wingdings</vt:lpstr>
      <vt:lpstr>Theme_Lab</vt:lpstr>
      <vt:lpstr>多目的マルチタスク最適化 ナップサック問題の提案</vt:lpstr>
      <vt:lpstr>提案する問題</vt:lpstr>
      <vt:lpstr>予備実験</vt:lpstr>
      <vt:lpstr>予備実験</vt:lpstr>
      <vt:lpstr>予備実験</vt:lpstr>
      <vt:lpstr>予備実験</vt:lpstr>
      <vt:lpstr>PowerPoint プレゼンテーション</vt:lpstr>
      <vt:lpstr>提案する問題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Multitask</dc:title>
  <dc:creator>瓜田 俊貴</dc:creator>
  <cp:lastModifiedBy>俊貴 瓜田</cp:lastModifiedBy>
  <cp:revision>21</cp:revision>
  <dcterms:created xsi:type="dcterms:W3CDTF">2019-12-22T18:07:24Z</dcterms:created>
  <dcterms:modified xsi:type="dcterms:W3CDTF">2020-01-20T07:20:02Z</dcterms:modified>
</cp:coreProperties>
</file>